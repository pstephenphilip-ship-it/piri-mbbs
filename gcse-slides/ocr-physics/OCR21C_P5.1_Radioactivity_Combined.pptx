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P5.1 What is radioactivity? is Part 1 of 2 in J260 Chapter P5 (P5.1 and P5.2). P5.3 (energy from radioactive materials: fission and fusion) is in the separate-science Physics B (J259) only.
Spec wording and numbering in this deck were reconstructed from search extracts and memory because ocr.org.uk could not be fetched: see SPEC_P5_1.md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8 (P5.1.9) is Higher tier only (bold in the OCR specification). All other objectives are for both tiers.
Numbering P5.1.1–P5.1.9 is reconstructed (see SPEC_P5_1.md): check against the OCR J260 specification before using codes with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P5 has two sub-topics in Combined Science: P5.1 and P5.2. P5.3 is separate science (J259) only.
Where things go: penetration (P5.2.1), contamination vs irradiation, hazards and half-life, medical uses (tracers, radiotherapy) and any dose work are P5.2. This deck only previews penetration on the bridge slide.
Assessment: J260 physics content is examined in the physics paper and the combined paper of each tier (check the current OCR assessment overview for paper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Ultraviolet (UV), X-rays and gamma rays.
2. Ionising: able to remove electrons from atoms, making ions. It can damage cells/DNA, causing mutations, cancer or cell death.
3. Proton +1, mass 1; neutron 0, mass 1; electron −1, mass very small (about 1/1840, accept ≈ 0).
4. A ball of positive charge with negative electrons dotted through it; replaced by the nuclear (Rutherford) model (then Bohr energy levels).
5. The number of protons in the nucleus of each atom (= number of electrons in a neutral atom).
6. 1 × 10⁻¹⁰ m; 1/8 (0.125).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m ÷ 10 000 = 0.01 m = 1 cm (about the size of a marble).
If the drawn atom (radius 1.75 in) were to scale, its nucleus would be only 0.0089 mm across – which is why the nucleus is shown in a zoomed inset.
P5.1.2 (size of atoms and small molecules) – wording medium confidence; the nucleus size is given here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Both the alpha particle and the nucleus are positively charged, so they repel.
Spec note: the history of atomic models is taught in C2.1; P5.1.1 asks students to describe the nuclear model, so this slide gives the evidence as context. (Medium confidence that alpha scattering is examined in J260 physics: see SPEC_P5_1.md.)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[3]: Small/tiny nucleus at the centre (1); nucleus is positive / contains (almost) all the mass (1); negative electrons outside the nucleus / at different distances; mostly empty space (1).
Q2 [1]: 1 × 10⁻¹⁰ m (1).
Q3 [3]: Most pass straight through → atom is mostly empty space (1); a few bounce back → nucleus is (very) small and contains most of the mass/is dense (1); and is positively charged, repelling the positive alpha particles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Same: one proton each (same charge, same element). Different: number of neutrons (0, 1 and 2), so different masses.
The particle table is retrieval from C2.1.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17 protons, 37 − 17 = 20 neutrons, 17 electrons (neutral atom).
Common error: giving A as the number of neutrons.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Atoms of the same element / same number of protons (1); with different numbers of neutrons (1).
Q2 [3]: protons 26 (1); neutrons 56 − 26 = 30 (1); electrons 26 (1).
Q3 [2]: Both have 17 protons / same atomic number, so same element (1); different numbers of neutrons (18 and 20), so different mass numbers/masses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No – decay is random. You can predict the overall behaviour, e.g. about how many will decay in a given time / how long until half have decayed (the half-life).
The grid uses a fixed random seed with exactly 50 of 100 decayed; in reality about half decay in one half-life (the number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Alpha particle: 2 protons and 2 neutrons (a helium nucleus).
Notation used in OCR papers: alpha ⁴₂He (or ⁴₂α), beta ⁰₋₁e (or ⁰₋₁β), gamma ⁰₀γ, neutron ¹₀n.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Yes – the number of protons (Z) does not change, so it is the same element; only the mass number falls by 1, so it becomes a different isotope.
Z–A grid drawn to scale: U-238 (92, 238) → α (90, 234), β (93, 238), n (92, 237). Students do not need to learn element names: they are given 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[3]: (i) gamma (1); (ii) alpha (1); (iii) beta (1).
Q2 [2]: Cannot predict which nucleus will decay (1); or when a nucleus will decay (1).
Q3 [3]: Beta: a neutron changes into a proton (1); so the atomic number/number of protons increases by 1 → new element (1); gamma: no change to the number of protons (or neutrons) – only energy is lost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²²⁶₈₈Ra → ²²²₈₆Rn + ⁴₂He (1 mark for 222, 1 mark for 86).
All 16 nuclear equations in this deck are checked in node: A and Z balance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¹³¹₅₃I → ¹³¹₅₄Xe + ⁰₋₁e.
Be-13 is very neutron-rich and decays by neutron emission (used as a clear textbook example). Mark schemes accept β or e for the beta particle, provided 0 and −1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X is an alpha particle / helium nucleus (1); A = 4, Z = 2 (1).
Q2 [3]: ⁴⁰₁₉K → ⁴⁰₂₀Ca + ⁰₋₁e: correct calcium A = 40 (1); Z = 20 (1); beta particle written as ⁰₋₁e or ⁰₋₁β (1).
Q3 [2]: ¹₀n (1); neutron (1).
Q4 [1]: Gamma ray has no mass and no charge / is electromagnetic radiation, so no protons or neutrons are lost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Bq after 9 h (3 half-lives); 50 Bq after 12 h (4 half-lives: 800 → 400 → 200 → 100 → 50).
Graph: A = 800 × 0.5^(t/3), plotted from the equation in node (to scale). Becquerel usage is UNVERIFIED as a J260 statement but is standard and used in OCR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six = one nucleus decaying. Many dice make the random pattern smoother/more predictable, as in a real sample with huge numbers of nuclei.
Limitations (for discussion): real samples have far more nuclei; decay happens continuously, not in throws; each isotope has its own probability. Equipment: 120 dice or cubes, tray, results table. "Suggested practical": OCR does not list a PAG for P5.1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47–48 dice after 5 throws (data 47; model 48.2); 15 dice is 3 half-lives (120 → 60 → 30 → 15), about 11–12 throws (3 × 3.8 = 11.4) – beyond this data, so extrapolate or keep throwing.
Model curve N = 120 × (5/6)^throws; half-life = ln 2 / ln 1.2 = 3.80 throws, checked in node. Sample data within ±3.5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[1]: The time taken for the number of undecayed nuclei / the activity (count rate) to halve (1).
Q2 [2]: 500 nuclei decay (1); every second (1).
Q3 [3]: half-life = 40 s (1); 80 s = 2 more half-lives (1); 300 → 150 → 75 Bq (1).
Q4 [2]: Like: random – cannot predict which die/nucleus; fixed chance each throw/same probability per unit time; numbers halve in a fixed time (1). Unlike: far fewer dice than nuclei; decay is continuous not in steps; real probability set by isotope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24 ÷ 8 = 3 half-lives; 2000 → 1000 → 500 → 250 Bq.
Foundation students should use repeated halving; Higher students can also divide by 2ⁿ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(½)⁶ = 1/64 remains (ratio 1 : 64); 63/64 has decayed.
P5.1.9 is HIGHER TIER only (bold in the OCR spec). Wording reconstructed: "calculate the net decline, expressed as a ratio, during radioactive emission after a given (integral) number of half-lives".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[2]: (½)³ = 1/8 (1); ratio 1 : 8 (1).
Q2 [3]: 10 ÷ 2 = 5 half-lives (1); 8.0 × 10⁶ ÷ 2⁵ or ÷ 32 (1); = 2.5 × 10⁵ (1).
Q3 [3]: 4800 → 2400 → 1200 → 600 → 300 (1); 4 half-lives (1); 20 ÷ 4 = 5 minutes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Alpha (stopped by the paper) and gamma (passes through the aluminium). No beta, because the aluminium causes no further drop.
WHERE THIS GOES: penetration properties are P5.2.1 (P5.2 deck). This slide is a short bridge so students can link each emission to its properties; the P5.2 deck should recap it rather than re-teach it, then cover irradiation vs contamination, hazards and half-life, and medical uses. Not examined in this deck's recaps, full question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"Net decline" is Higher tier (P5.1.9).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protons 86 (1); neutrons 222 − 86 = 136 (1).
(b) [2]: Same number of protons / same atomic number 86 (1); different numbers of neutrons (134 and 136) / different mass numbers (1).
(c) [2]: A = 218 (1); Z = 84 (1).
(d) [3]: 1600 → 800 → 400 → 200 (1); = 3 half-lives (1); 11.4 ÷ 3 = 3.8 days (1).
(e) [2]: Decay is random (for each nucleus) (1); with very large numbers of nuclei the overall pattern/average rate is predictable, so half-life is constant (1).
(f) [2]: 19 ÷ 3.8 = 5 half-lives (1); (½)⁵ → ratio 1 : 32 (1). ECF from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1 × 10⁻¹⁰ m (1). Accept 10⁻¹⁰ m.
2 [2]: ³₁H → ³₂He + ⁰₋₁e: helium 3 and 2 (1); beta particle ⁰₋₁e (1).
3 [2]: Number of protons / atomic number does not change (1); only the mass number falls by 1 – it becomes a different isotope (1).
4 [2]: 20 ÷ 5 = 4 half-lives (1); 960 → 480 → 240 → 120 → 60 Bq (1).
5 [2]: 1/8 remains, 7/8 decayed (1); ratio decayed : undecayed = 7 : 1 (1).
6 [2]: ²¹⁰₈₄Po → ²⁰⁶₈₂Pb + ⁴₂He: lead 206 and 82 (1); alpha ⁴₂He (1).
7 [6]: OCR level-of-response mark scheme (6 marks). Read the whole answer, decide the level from the content descriptor, then the mark within the level from the quality of the line of reasoning. Use the indicative scientific points below.
Level 3 (5–6 marks): Describes how the model works AND how to find the half-life from a graph AND explains at least one similarity and one difference. There is a well-developed line of reasoning which is clear and logically structured. The information presented is relevant and substantiated.
Level 2 (3–4 marks): Describes how the model works AND EITHER how to find the half-life OR gives a similarity or difference. There is a line of reasoning presented with some structure. The information presented is relevant and supported by some evidence.
Level 1 (1–2 marks): Gives a simple description of the model OR states a similarity or difference. There is an attempt at a logical structure with a line of reasoning. The information is in the most part relevant.
0 marks: no response or no response worthy of credit.
Indicative scientific points may include:
 • Each die represents an unstable nucleus; rolling a six (or chosen number) represents decay.
 • Throw all dice; remove the sixes; count and record the number left; repeat for many throws.
 • Each throw represents a fixed interval of time.
 • Plot number of dice left against number of throws; draw a smooth curve.
 • Half-life = number of throws for the number left to halve (e.g. 100 → 50); check with 50 → 25; about 3.8 throws.
 • Like real decay: random – cannot predict which die/when; each die has the same fixed probability each throw; the number left halves in a constant "time".
 • Like real decay: large numbers give a predictable pattern / decay curve of the same shape.
 • Different: far fewer dice than nuclei, so more scatter; decay happens continuously, not in steps; probability for real nuclei depends on the isotope; no radiation is emitted.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P5.1  What is radioactivity?</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The nuclear atom, isotopes, radioactive decay, nuclear equations and half-life</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Nucleus  •  Isotope  •  Alpha  •  Beta  •  Gamma  •  Neutron  •  Half-life  •  Activity</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P5.1.1–P5.1.9 • suggested practical: modelling random decay with dice</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HT pill = Higher tier only (bold in the OCR specification)</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½</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Atoms and nuclei • isotopes • alpha, beta, gamma and neutron emission • half-life</a:t>
            </a:r>
            <a:endParaRPr lang="en-US" sz="1400" dirty="0"/>
          </a:p>
        </p:txBody>
      </p:sp>
      <p:sp>
        <p:nvSpPr>
          <p:cNvPr id="19" name="Shape 17"/>
          <p:cNvSpPr/>
          <p:nvPr/>
        </p:nvSpPr>
        <p:spPr>
          <a:xfrm>
            <a:off x="731520" y="5769864"/>
            <a:ext cx="4626864" cy="365760"/>
          </a:xfrm>
          <a:prstGeom prst="roundRect">
            <a:avLst>
              <a:gd name="adj" fmla="val 50000"/>
            </a:avLst>
          </a:prstGeom>
          <a:solidFill>
            <a:srgbClr val="16213E"/>
          </a:solidFill>
          <a:ln w="15875">
            <a:solidFill>
              <a:srgbClr val="F5A742"/>
            </a:solidFill>
            <a:prstDash val="solid"/>
          </a:ln>
        </p:spPr>
      </p:sp>
      <p:sp>
        <p:nvSpPr>
          <p:cNvPr id="20" name="Text 18"/>
          <p:cNvSpPr/>
          <p:nvPr/>
        </p:nvSpPr>
        <p:spPr>
          <a:xfrm>
            <a:off x="731520" y="5769864"/>
            <a:ext cx="462686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2 in Chapter P5: Radioactive materials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OCR J260 Combined Science B • P5.1 What is radioactivity?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P5.1.1–P5.1.9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nuclear model</a:t>
            </a:r>
            <a:r>
              <a:rPr lang="en-US" sz="1200" dirty="0">
                <a:solidFill>
                  <a:srgbClr val="262B3A"/>
                </a:solidFill>
                <a:latin typeface="Calibri" pitchFamily="34" charset="0"/>
                <a:ea typeface="Calibri" pitchFamily="34" charset="-122"/>
                <a:cs typeface="Calibri" pitchFamily="34" charset="-120"/>
              </a:rPr>
              <a:t>: a tiny positive nucleus, containing almost all the mass, surrounded by electrons.</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P5.1.2   </a:t>
            </a:r>
            <a:r>
              <a:rPr lang="en-US" sz="1200" dirty="0">
                <a:solidFill>
                  <a:srgbClr val="262B3A"/>
                </a:solidFill>
                <a:latin typeface="Calibri" pitchFamily="34" charset="0"/>
                <a:ea typeface="Calibri" pitchFamily="34" charset="-122"/>
                <a:cs typeface="Calibri" pitchFamily="34" charset="-120"/>
              </a:rPr>
              <a:t>Recall the typical size of </a:t>
            </a:r>
            <a:r>
              <a:rPr lang="en-US" sz="1200" b="1" dirty="0">
                <a:solidFill>
                  <a:srgbClr val="262B3A"/>
                </a:solidFill>
                <a:latin typeface="Calibri" pitchFamily="34" charset="0"/>
                <a:ea typeface="Calibri" pitchFamily="34" charset="-122"/>
                <a:cs typeface="Calibri" pitchFamily="34" charset="-120"/>
              </a:rPr>
              <a:t>atoms</a:t>
            </a:r>
            <a:r>
              <a:rPr lang="en-US" sz="1200" dirty="0">
                <a:solidFill>
                  <a:srgbClr val="262B3A"/>
                </a:solidFill>
                <a:latin typeface="Calibri" pitchFamily="34" charset="0"/>
                <a:ea typeface="Calibri" pitchFamily="34" charset="-122"/>
                <a:cs typeface="Calibri" pitchFamily="34" charset="-120"/>
              </a:rPr>
              <a:t> (about 1 × 10</a:t>
            </a:r>
            <a:r>
              <a:rPr lang="en-US" sz="1200" baseline="30000" dirty="0">
                <a:solidFill>
                  <a:srgbClr val="262B3A"/>
                </a:solidFill>
                <a:latin typeface="Calibri" pitchFamily="34" charset="0"/>
                <a:ea typeface="Calibri" pitchFamily="34" charset="-122"/>
                <a:cs typeface="Calibri" pitchFamily="34" charset="-120"/>
              </a:rPr>
              <a:t>−10</a:t>
            </a:r>
            <a:r>
              <a:rPr lang="en-US" sz="1200" dirty="0">
                <a:solidFill>
                  <a:srgbClr val="262B3A"/>
                </a:solidFill>
                <a:latin typeface="Calibri" pitchFamily="34" charset="0"/>
                <a:ea typeface="Calibri" pitchFamily="34" charset="-122"/>
                <a:cs typeface="Calibri" pitchFamily="34" charset="-120"/>
              </a:rPr>
              <a:t> m) and compare it with the size of the </a:t>
            </a:r>
            <a:r>
              <a:rPr lang="en-US" sz="1200" b="1" dirty="0">
                <a:solidFill>
                  <a:srgbClr val="262B3A"/>
                </a:solidFill>
                <a:latin typeface="Calibri" pitchFamily="34" charset="0"/>
                <a:ea typeface="Calibri" pitchFamily="34" charset="-122"/>
                <a:cs typeface="Calibri" pitchFamily="34" charset="-120"/>
              </a:rPr>
              <a:t>nucleus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P5.1.3   </a:t>
            </a:r>
            <a:r>
              <a:rPr lang="en-US" sz="1200" dirty="0">
                <a:solidFill>
                  <a:srgbClr val="262B3A"/>
                </a:solidFill>
                <a:latin typeface="Calibri" pitchFamily="34" charset="0"/>
                <a:ea typeface="Calibri" pitchFamily="34" charset="-122"/>
                <a:cs typeface="Calibri" pitchFamily="34" charset="-120"/>
              </a:rPr>
              <a:t>Recall that nuclei contain </a:t>
            </a:r>
            <a:r>
              <a:rPr lang="en-US" sz="1200" b="1" dirty="0">
                <a:solidFill>
                  <a:srgbClr val="262B3A"/>
                </a:solidFill>
                <a:latin typeface="Calibri" pitchFamily="34" charset="0"/>
                <a:ea typeface="Calibri" pitchFamily="34" charset="-122"/>
                <a:cs typeface="Calibri" pitchFamily="34" charset="-120"/>
              </a:rPr>
              <a:t>protons and neutrons</a:t>
            </a:r>
            <a:r>
              <a:rPr lang="en-US" sz="1200" dirty="0">
                <a:solidFill>
                  <a:srgbClr val="262B3A"/>
                </a:solidFill>
                <a:latin typeface="Calibri" pitchFamily="34" charset="0"/>
                <a:ea typeface="Calibri" pitchFamily="34" charset="-122"/>
                <a:cs typeface="Calibri" pitchFamily="34" charset="-120"/>
              </a:rPr>
              <a:t>, and that </a:t>
            </a:r>
            <a:r>
              <a:rPr lang="en-US" sz="1200" b="1" dirty="0">
                <a:solidFill>
                  <a:srgbClr val="262B3A"/>
                </a:solidFill>
                <a:latin typeface="Calibri" pitchFamily="34" charset="0"/>
                <a:ea typeface="Calibri" pitchFamily="34" charset="-122"/>
                <a:cs typeface="Calibri" pitchFamily="34" charset="-120"/>
              </a:rPr>
              <a:t>isotopes</a:t>
            </a:r>
            <a:r>
              <a:rPr lang="en-US" sz="1200" dirty="0">
                <a:solidFill>
                  <a:srgbClr val="262B3A"/>
                </a:solidFill>
                <a:latin typeface="Calibri" pitchFamily="34" charset="0"/>
                <a:ea typeface="Calibri" pitchFamily="34" charset="-122"/>
                <a:cs typeface="Calibri" pitchFamily="34" charset="-120"/>
              </a:rPr>
              <a:t> have different numbers of neutrons.</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P5.1.4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nuclear notation</a:t>
            </a:r>
            <a:r>
              <a:rPr lang="en-US" sz="1200" dirty="0">
                <a:solidFill>
                  <a:srgbClr val="262B3A"/>
                </a:solidFill>
                <a:latin typeface="Calibri" pitchFamily="34" charset="0"/>
                <a:ea typeface="Calibri" pitchFamily="34" charset="-122"/>
                <a:cs typeface="Calibri" pitchFamily="34" charset="-120"/>
              </a:rPr>
              <a:t> (mass number and atomic number) to show the differences between isotopes.</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P5.1.5–P5.1.6   </a:t>
            </a:r>
            <a:r>
              <a:rPr lang="en-US" sz="1200" dirty="0">
                <a:solidFill>
                  <a:srgbClr val="262B3A"/>
                </a:solidFill>
                <a:latin typeface="Calibri" pitchFamily="34" charset="0"/>
                <a:ea typeface="Calibri" pitchFamily="34" charset="-122"/>
                <a:cs typeface="Calibri" pitchFamily="34" charset="-120"/>
              </a:rPr>
              <a:t>Recall that unstable nuclei emit </a:t>
            </a:r>
            <a:r>
              <a:rPr lang="en-US" sz="1200" b="1" dirty="0">
                <a:solidFill>
                  <a:srgbClr val="262B3A"/>
                </a:solidFill>
                <a:latin typeface="Calibri" pitchFamily="34" charset="0"/>
                <a:ea typeface="Calibri" pitchFamily="34" charset="-122"/>
                <a:cs typeface="Calibri" pitchFamily="34" charset="-120"/>
              </a:rPr>
              <a:t>alpha, beta, gamma or neutrons</a:t>
            </a:r>
            <a:r>
              <a:rPr lang="en-US" sz="1200" dirty="0">
                <a:solidFill>
                  <a:srgbClr val="262B3A"/>
                </a:solidFill>
                <a:latin typeface="Calibri" pitchFamily="34" charset="0"/>
                <a:ea typeface="Calibri" pitchFamily="34" charset="-122"/>
                <a:cs typeface="Calibri" pitchFamily="34" charset="-120"/>
              </a:rPr>
              <a:t>, and how each changes the nucleus.</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P5.1.7   </a:t>
            </a:r>
            <a:r>
              <a:rPr lang="en-US" sz="1200" dirty="0">
                <a:solidFill>
                  <a:srgbClr val="262B3A"/>
                </a:solidFill>
                <a:latin typeface="Calibri" pitchFamily="34" charset="0"/>
                <a:ea typeface="Calibri" pitchFamily="34" charset="-122"/>
                <a:cs typeface="Calibri" pitchFamily="34" charset="-120"/>
              </a:rPr>
              <a:t>Write </a:t>
            </a:r>
            <a:r>
              <a:rPr lang="en-US" sz="1200" b="1" dirty="0">
                <a:solidFill>
                  <a:srgbClr val="262B3A"/>
                </a:solidFill>
                <a:latin typeface="Calibri" pitchFamily="34" charset="0"/>
                <a:ea typeface="Calibri" pitchFamily="34" charset="-122"/>
                <a:cs typeface="Calibri" pitchFamily="34" charset="-120"/>
              </a:rPr>
              <a:t>balanced nuclear equations</a:t>
            </a:r>
            <a:r>
              <a:rPr lang="en-US" sz="1200" dirty="0">
                <a:solidFill>
                  <a:srgbClr val="262B3A"/>
                </a:solidFill>
                <a:latin typeface="Calibri" pitchFamily="34" charset="0"/>
                <a:ea typeface="Calibri" pitchFamily="34" charset="-122"/>
                <a:cs typeface="Calibri" pitchFamily="34" charset="-120"/>
              </a:rPr>
              <a:t> for alpha, beta, gamma and neutron emission.</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P5.1.8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half-life</a:t>
            </a:r>
            <a:r>
              <a:rPr lang="en-US" sz="1200" dirty="0">
                <a:solidFill>
                  <a:srgbClr val="262B3A"/>
                </a:solidFill>
                <a:latin typeface="Calibri" pitchFamily="34" charset="0"/>
                <a:ea typeface="Calibri" pitchFamily="34" charset="-122"/>
                <a:cs typeface="Calibri" pitchFamily="34" charset="-120"/>
              </a:rPr>
              <a:t> and how it relates to the </a:t>
            </a:r>
            <a:r>
              <a:rPr lang="en-US" sz="1200" b="1" dirty="0">
                <a:solidFill>
                  <a:srgbClr val="262B3A"/>
                </a:solidFill>
                <a:latin typeface="Calibri" pitchFamily="34" charset="0"/>
                <a:ea typeface="Calibri" pitchFamily="34" charset="-122"/>
                <a:cs typeface="Calibri" pitchFamily="34" charset="-120"/>
              </a:rPr>
              <a:t>random</a:t>
            </a:r>
            <a:r>
              <a:rPr lang="en-US" sz="1200" dirty="0">
                <a:solidFill>
                  <a:srgbClr val="262B3A"/>
                </a:solidFill>
                <a:latin typeface="Calibri" pitchFamily="34" charset="0"/>
                <a:ea typeface="Calibri" pitchFamily="34" charset="-122"/>
                <a:cs typeface="Calibri" pitchFamily="34" charset="-120"/>
              </a:rPr>
              <a:t> nature of decay; use activity in becquerels.</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P5.1.9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net decline</a:t>
            </a:r>
            <a:r>
              <a:rPr lang="en-US" sz="1200" dirty="0">
                <a:solidFill>
                  <a:srgbClr val="262B3A"/>
                </a:solidFill>
                <a:latin typeface="Calibri" pitchFamily="34" charset="0"/>
                <a:ea typeface="Calibri" pitchFamily="34" charset="-122"/>
                <a:cs typeface="Calibri" pitchFamily="34" charset="-120"/>
              </a:rPr>
              <a:t>, as a ratio, after a whole number of half-lives.</a:t>
            </a:r>
            <a:endParaRPr lang="en-US" sz="1100" dirty="0"/>
          </a:p>
        </p:txBody>
      </p:sp>
      <p:sp>
        <p:nvSpPr>
          <p:cNvPr id="32" name="Shape 30"/>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33" name="Text 31"/>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Chapter P5 Radioactive materials • P5.1 is Part 1 of 2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P5.1</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What is radioactivity?</a:t>
            </a:r>
            <a:endParaRPr lang="en-US" sz="1250" dirty="0"/>
          </a:p>
        </p:txBody>
      </p:sp>
      <p:sp>
        <p:nvSpPr>
          <p:cNvPr id="10" name="Shape 8"/>
          <p:cNvSpPr/>
          <p:nvPr/>
        </p:nvSpPr>
        <p:spPr>
          <a:xfrm>
            <a:off x="914400" y="1920240"/>
            <a:ext cx="91" cy="3758184"/>
          </a:xfrm>
          <a:prstGeom prst="line">
            <a:avLst/>
          </a:prstGeom>
          <a:noFill/>
          <a:ln w="19050">
            <a:solidFill>
              <a:srgbClr val="2E5BD8"/>
            </a:solidFill>
            <a:prstDash val="solid"/>
          </a:ln>
        </p:spPr>
      </p:sp>
      <p:sp>
        <p:nvSpPr>
          <p:cNvPr id="11" name="Shape 9"/>
          <p:cNvSpPr/>
          <p:nvPr/>
        </p:nvSpPr>
        <p:spPr>
          <a:xfrm>
            <a:off x="914400" y="2386584"/>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P5.1.1–P5.1.2   </a:t>
            </a:r>
            <a:r>
              <a:rPr lang="en-US" sz="1100" dirty="0">
                <a:solidFill>
                  <a:srgbClr val="262B3A"/>
                </a:solidFill>
                <a:latin typeface="Calibri" pitchFamily="34" charset="0"/>
                <a:ea typeface="Calibri" pitchFamily="34" charset="-122"/>
                <a:cs typeface="Calibri" pitchFamily="34" charset="-120"/>
              </a:rPr>
              <a:t>The nuclear model of the atom; sizes of atoms and nuclei</a:t>
            </a:r>
            <a:endParaRPr lang="en-US" sz="1100" dirty="0"/>
          </a:p>
        </p:txBody>
      </p:sp>
      <p:sp>
        <p:nvSpPr>
          <p:cNvPr id="14" name="Shape 12"/>
          <p:cNvSpPr/>
          <p:nvPr/>
        </p:nvSpPr>
        <p:spPr>
          <a:xfrm>
            <a:off x="5257800" y="2249424"/>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2E5BD8"/>
            </a:solidFill>
            <a:prstDash val="solid"/>
          </a:ln>
        </p:spPr>
      </p:sp>
      <p:sp>
        <p:nvSpPr>
          <p:cNvPr id="17" name="Shape 15"/>
          <p:cNvSpPr/>
          <p:nvPr/>
        </p:nvSpPr>
        <p:spPr>
          <a:xfrm>
            <a:off x="1325880" y="2761488"/>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P5.1.3–P5.1.4   </a:t>
            </a:r>
            <a:r>
              <a:rPr lang="en-US" sz="1100" dirty="0">
                <a:solidFill>
                  <a:srgbClr val="262B3A"/>
                </a:solidFill>
                <a:latin typeface="Calibri" pitchFamily="34" charset="0"/>
                <a:ea typeface="Calibri" pitchFamily="34" charset="-122"/>
                <a:cs typeface="Calibri" pitchFamily="34" charset="-120"/>
              </a:rPr>
              <a:t>Protons, neutrons, isotopes and nuclear notation</a:t>
            </a:r>
            <a:endParaRPr lang="en-US" sz="1100" dirty="0"/>
          </a:p>
        </p:txBody>
      </p:sp>
      <p:sp>
        <p:nvSpPr>
          <p:cNvPr id="19" name="Shape 17"/>
          <p:cNvSpPr/>
          <p:nvPr/>
        </p:nvSpPr>
        <p:spPr>
          <a:xfrm>
            <a:off x="5257800" y="2907792"/>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2E5BD8"/>
            </a:solidFill>
            <a:prstDash val="solid"/>
          </a:ln>
        </p:spPr>
      </p:sp>
      <p:sp>
        <p:nvSpPr>
          <p:cNvPr id="22" name="Shape 20"/>
          <p:cNvSpPr/>
          <p:nvPr/>
        </p:nvSpPr>
        <p:spPr>
          <a:xfrm>
            <a:off x="1325880" y="3419856"/>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P5.1.5–P5.1.6   </a:t>
            </a:r>
            <a:r>
              <a:rPr lang="en-US" sz="1100" dirty="0">
                <a:solidFill>
                  <a:srgbClr val="262B3A"/>
                </a:solidFill>
                <a:latin typeface="Calibri" pitchFamily="34" charset="0"/>
                <a:ea typeface="Calibri" pitchFamily="34" charset="-122"/>
                <a:cs typeface="Calibri" pitchFamily="34" charset="-120"/>
              </a:rPr>
              <a:t>Unstable nuclei: alpha, beta, gamma and neutron emission</a:t>
            </a:r>
            <a:endParaRPr lang="en-US" sz="1100" dirty="0"/>
          </a:p>
        </p:txBody>
      </p:sp>
      <p:sp>
        <p:nvSpPr>
          <p:cNvPr id="24" name="Shape 22"/>
          <p:cNvSpPr/>
          <p:nvPr/>
        </p:nvSpPr>
        <p:spPr>
          <a:xfrm>
            <a:off x="5257800" y="3566160"/>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2E5BD8"/>
            </a:solidFill>
            <a:prstDash val="solid"/>
          </a:ln>
        </p:spPr>
      </p:sp>
      <p:sp>
        <p:nvSpPr>
          <p:cNvPr id="27" name="Shape 25"/>
          <p:cNvSpPr/>
          <p:nvPr/>
        </p:nvSpPr>
        <p:spPr>
          <a:xfrm>
            <a:off x="1325880" y="4078224"/>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P5.1.7   </a:t>
            </a:r>
            <a:r>
              <a:rPr lang="en-US" sz="1100" dirty="0">
                <a:solidFill>
                  <a:srgbClr val="262B3A"/>
                </a:solidFill>
                <a:latin typeface="Calibri" pitchFamily="34" charset="0"/>
                <a:ea typeface="Calibri" pitchFamily="34" charset="-122"/>
                <a:cs typeface="Calibri" pitchFamily="34" charset="-120"/>
              </a:rPr>
              <a:t>Balanced nuclear equations</a:t>
            </a:r>
            <a:endParaRPr lang="en-US" sz="1100" dirty="0"/>
          </a:p>
        </p:txBody>
      </p:sp>
      <p:sp>
        <p:nvSpPr>
          <p:cNvPr id="29" name="Shape 27"/>
          <p:cNvSpPr/>
          <p:nvPr/>
        </p:nvSpPr>
        <p:spPr>
          <a:xfrm>
            <a:off x="5257800" y="4224528"/>
            <a:ext cx="109728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2E5BD8"/>
            </a:solidFill>
            <a:prstDash val="solid"/>
          </a:ln>
        </p:spPr>
      </p:sp>
      <p:sp>
        <p:nvSpPr>
          <p:cNvPr id="32" name="Shape 30"/>
          <p:cNvSpPr/>
          <p:nvPr/>
        </p:nvSpPr>
        <p:spPr>
          <a:xfrm>
            <a:off x="1325880" y="4736592"/>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P5.1.8   </a:t>
            </a:r>
            <a:r>
              <a:rPr lang="en-US" sz="1100" dirty="0">
                <a:solidFill>
                  <a:srgbClr val="262B3A"/>
                </a:solidFill>
                <a:latin typeface="Calibri" pitchFamily="34" charset="0"/>
                <a:ea typeface="Calibri" pitchFamily="34" charset="-122"/>
                <a:cs typeface="Calibri" pitchFamily="34" charset="-120"/>
              </a:rPr>
              <a:t>Random decay, activity (Bq) and half-life</a:t>
            </a:r>
            <a:endParaRPr lang="en-US" sz="1100" dirty="0"/>
          </a:p>
        </p:txBody>
      </p:sp>
      <p:sp>
        <p:nvSpPr>
          <p:cNvPr id="34" name="Shape 32"/>
          <p:cNvSpPr/>
          <p:nvPr/>
        </p:nvSpPr>
        <p:spPr>
          <a:xfrm>
            <a:off x="5257800" y="4882896"/>
            <a:ext cx="1097280" cy="274320"/>
          </a:xfrm>
          <a:prstGeom prst="roundRect">
            <a:avLst>
              <a:gd name="adj" fmla="val 50000"/>
            </a:avLst>
          </a:prstGeom>
          <a:solidFill>
            <a:srgbClr val="2E5BD8"/>
          </a:solidFill>
          <a:ln w="12700">
            <a:solidFill>
              <a:srgbClr val="2E5BD8"/>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2E5BD8"/>
            </a:solidFill>
            <a:prstDash val="solid"/>
          </a:ln>
        </p:spPr>
      </p:sp>
      <p:sp>
        <p:nvSpPr>
          <p:cNvPr id="37" name="Shape 35"/>
          <p:cNvSpPr/>
          <p:nvPr/>
        </p:nvSpPr>
        <p:spPr>
          <a:xfrm>
            <a:off x="1325880" y="5394960"/>
            <a:ext cx="5120640" cy="566928"/>
          </a:xfrm>
          <a:prstGeom prst="roundRect">
            <a:avLst>
              <a:gd name="adj" fmla="val 8065"/>
            </a:avLst>
          </a:prstGeom>
          <a:solidFill>
            <a:srgbClr val="F5F8FE"/>
          </a:solidFill>
          <a:ln w="12700">
            <a:solidFill>
              <a:srgbClr val="D5DCEB"/>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P5.1.9   </a:t>
            </a:r>
            <a:r>
              <a:rPr lang="en-US" sz="1100" dirty="0">
                <a:solidFill>
                  <a:srgbClr val="262B3A"/>
                </a:solidFill>
                <a:latin typeface="Calibri" pitchFamily="34" charset="0"/>
                <a:ea typeface="Calibri" pitchFamily="34" charset="-122"/>
                <a:cs typeface="Calibri" pitchFamily="34" charset="-120"/>
              </a:rPr>
              <a:t>Net decline as a ratio after n half-lives</a:t>
            </a:r>
            <a:endParaRPr lang="en-US" sz="1100" dirty="0"/>
          </a:p>
        </p:txBody>
      </p:sp>
      <p:sp>
        <p:nvSpPr>
          <p:cNvPr id="39" name="Shape 37"/>
          <p:cNvSpPr/>
          <p:nvPr/>
        </p:nvSpPr>
        <p:spPr>
          <a:xfrm>
            <a:off x="5257800" y="5541264"/>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HIGHER ONLY</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P1.1 ionising radiation • C2.1 models of the atom • maths: standard form, ratios</a:t>
            </a:r>
            <a:endParaRPr lang="en-US" sz="1050" dirty="0"/>
          </a:p>
        </p:txBody>
      </p:sp>
      <p:sp>
        <p:nvSpPr>
          <p:cNvPr id="42" name="Shape 40"/>
          <p:cNvSpPr/>
          <p:nvPr/>
        </p:nvSpPr>
        <p:spPr>
          <a:xfrm>
            <a:off x="6720840" y="1234440"/>
            <a:ext cx="5056632" cy="2514600"/>
          </a:xfrm>
          <a:prstGeom prst="roundRect">
            <a:avLst>
              <a:gd name="adj" fmla="val 2182"/>
            </a:avLst>
          </a:prstGeom>
          <a:solidFill>
            <a:srgbClr val="1F2A4A"/>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P5 in J260</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P5.1 What is radioactivity?</a:t>
            </a:r>
            <a:r>
              <a:rPr lang="en-US" sz="1150" dirty="0">
                <a:solidFill>
                  <a:srgbClr val="E6ECFA"/>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P5.2 How can radioactive materials be used safely?</a:t>
            </a:r>
            <a:r>
              <a:rPr lang="en-US" sz="1150" dirty="0">
                <a:solidFill>
                  <a:srgbClr val="E6ECFA"/>
                </a:solidFill>
                <a:latin typeface="Calibri" pitchFamily="34" charset="0"/>
                <a:ea typeface="Calibri" pitchFamily="34" charset="-122"/>
                <a:cs typeface="Calibri" pitchFamily="34" charset="-120"/>
              </a:rPr>
              <a:t> Penetration, irradiation and contamination, hazards and half-life, uses in medicine.</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P5.3 (fission and fusion) is in </a:t>
            </a:r>
            <a:r>
              <a:rPr lang="en-US" sz="1150" b="1" dirty="0">
                <a:solidFill>
                  <a:srgbClr val="E6ECFA"/>
                </a:solidFill>
                <a:latin typeface="Calibri" pitchFamily="34" charset="0"/>
                <a:ea typeface="Calibri" pitchFamily="34" charset="-122"/>
                <a:cs typeface="Calibri" pitchFamily="34" charset="-120"/>
              </a:rPr>
              <a:t>Physics B J259 only</a:t>
            </a:r>
            <a:r>
              <a:rPr lang="en-US" sz="1150" dirty="0">
                <a:solidFill>
                  <a:srgbClr val="E6ECFA"/>
                </a:solidFill>
                <a:latin typeface="Calibri" pitchFamily="34" charset="0"/>
                <a:ea typeface="Calibri" pitchFamily="34" charset="-122"/>
                <a:cs typeface="Calibri" pitchFamily="34" charset="-120"/>
              </a:rPr>
              <a:t>, not Combined Science.</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No P5.1 equations are on the J260 equation sheet: half-life questions test </a:t>
            </a:r>
            <a:r>
              <a:rPr lang="en-US" sz="1150" b="1" dirty="0">
                <a:solidFill>
                  <a:srgbClr val="E6ECFA"/>
                </a:solidFill>
                <a:latin typeface="Calibri" pitchFamily="34" charset="0"/>
                <a:ea typeface="Calibri" pitchFamily="34" charset="-122"/>
                <a:cs typeface="Calibri" pitchFamily="34" charset="-120"/>
              </a:rPr>
              <a:t>halving and ratios</a:t>
            </a:r>
            <a:r>
              <a:rPr lang="en-US" sz="1150" dirty="0">
                <a:solidFill>
                  <a:srgbClr val="E6ECFA"/>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Teach every slide to both tiers; the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 marks Higher-only content (P5.1.9, slides 23–24).</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Slide 25 is a </a:t>
            </a:r>
            <a:r>
              <a:rPr lang="en-US" sz="1150" b="1" dirty="0">
                <a:solidFill>
                  <a:srgbClr val="262B3A"/>
                </a:solidFill>
                <a:latin typeface="Calibri" pitchFamily="34" charset="0"/>
                <a:ea typeface="Calibri" pitchFamily="34" charset="-122"/>
                <a:cs typeface="Calibri" pitchFamily="34" charset="-120"/>
              </a:rPr>
              <a:t>bridge to P5.2</a:t>
            </a:r>
            <a:r>
              <a:rPr lang="en-US" sz="1150" dirty="0">
                <a:solidFill>
                  <a:srgbClr val="262B3A"/>
                </a:solidFill>
                <a:latin typeface="Calibri" pitchFamily="34" charset="0"/>
                <a:ea typeface="Calibri" pitchFamily="34" charset="-122"/>
                <a:cs typeface="Calibri" pitchFamily="34" charset="-120"/>
              </a:rPr>
              <a:t>: penetration of alpha, beta and gamma (P5.2.1). It is taught in full and examined in the next deck.</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Foundation homework: Q1–Q4, Q6 and Q7 (15 marks).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P1.1, C2.1 and maths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P1.1 • ionising radiation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parts of the electromagnetic spectrum that are </a:t>
            </a:r>
            <a:r>
              <a:rPr lang="en-US" sz="1250" b="1" dirty="0">
                <a:solidFill>
                  <a:srgbClr val="262B3A"/>
                </a:solidFill>
                <a:latin typeface="Calibri" pitchFamily="34" charset="0"/>
                <a:ea typeface="Calibri" pitchFamily="34" charset="-122"/>
                <a:cs typeface="Calibri" pitchFamily="34" charset="-120"/>
              </a:rPr>
              <a:t>ionising</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P1.1 • ionising radiation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does </a:t>
            </a:r>
            <a:r>
              <a:rPr lang="en-US" sz="1250" b="1" dirty="0">
                <a:solidFill>
                  <a:srgbClr val="262B3A"/>
                </a:solidFill>
                <a:latin typeface="Calibri" pitchFamily="34" charset="0"/>
                <a:ea typeface="Calibri" pitchFamily="34" charset="-122"/>
                <a:cs typeface="Calibri" pitchFamily="34" charset="-120"/>
              </a:rPr>
              <a:t>ionising</a:t>
            </a:r>
            <a:r>
              <a:rPr lang="en-US" sz="1250" dirty="0">
                <a:solidFill>
                  <a:srgbClr val="262B3A"/>
                </a:solidFill>
                <a:latin typeface="Calibri" pitchFamily="34" charset="0"/>
                <a:ea typeface="Calibri" pitchFamily="34" charset="-122"/>
                <a:cs typeface="Calibri" pitchFamily="34" charset="-120"/>
              </a:rPr>
              <a:t> mean? Why is ionising radiation harmful to living cells?</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C2.1 • atomic models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the </a:t>
            </a:r>
            <a:r>
              <a:rPr lang="en-US" sz="1250" b="1" dirty="0">
                <a:solidFill>
                  <a:srgbClr val="262B3A"/>
                </a:solidFill>
                <a:latin typeface="Calibri" pitchFamily="34" charset="0"/>
                <a:ea typeface="Calibri" pitchFamily="34" charset="-122"/>
                <a:cs typeface="Calibri" pitchFamily="34" charset="-120"/>
              </a:rPr>
              <a:t>relative charge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relative mass</a:t>
            </a:r>
            <a:r>
              <a:rPr lang="en-US" sz="1250" dirty="0">
                <a:solidFill>
                  <a:srgbClr val="262B3A"/>
                </a:solidFill>
                <a:latin typeface="Calibri" pitchFamily="34" charset="0"/>
                <a:ea typeface="Calibri" pitchFamily="34" charset="-122"/>
                <a:cs typeface="Calibri" pitchFamily="34" charset="-120"/>
              </a:rPr>
              <a:t> of a proton, a neutron and an electron.</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C2.1 • atomic models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a:t>
            </a:r>
            <a:r>
              <a:rPr lang="en-US" sz="1250" b="1" dirty="0">
                <a:solidFill>
                  <a:srgbClr val="262B3A"/>
                </a:solidFill>
                <a:latin typeface="Calibri" pitchFamily="34" charset="0"/>
                <a:ea typeface="Calibri" pitchFamily="34" charset="-122"/>
                <a:cs typeface="Calibri" pitchFamily="34" charset="-120"/>
              </a:rPr>
              <a:t>plum pudding</a:t>
            </a:r>
            <a:r>
              <a:rPr lang="en-US" sz="1250" dirty="0">
                <a:solidFill>
                  <a:srgbClr val="262B3A"/>
                </a:solidFill>
                <a:latin typeface="Calibri" pitchFamily="34" charset="0"/>
                <a:ea typeface="Calibri" pitchFamily="34" charset="-122"/>
                <a:cs typeface="Calibri" pitchFamily="34" charset="-120"/>
              </a:rPr>
              <a:t> model of the atom. Which model replaced it?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C2.1 • atoms and elements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does the </a:t>
            </a:r>
            <a:r>
              <a:rPr lang="en-US" sz="1250" b="1" dirty="0">
                <a:solidFill>
                  <a:srgbClr val="262B3A"/>
                </a:solidFill>
                <a:latin typeface="Calibri" pitchFamily="34" charset="0"/>
                <a:ea typeface="Calibri" pitchFamily="34" charset="-122"/>
                <a:cs typeface="Calibri" pitchFamily="34" charset="-120"/>
              </a:rPr>
              <a:t>atomic number</a:t>
            </a:r>
            <a:r>
              <a:rPr lang="en-US" sz="1250" dirty="0">
                <a:solidFill>
                  <a:srgbClr val="262B3A"/>
                </a:solidFill>
                <a:latin typeface="Calibri" pitchFamily="34" charset="0"/>
                <a:ea typeface="Calibri" pitchFamily="34" charset="-122"/>
                <a:cs typeface="Calibri" pitchFamily="34" charset="-120"/>
              </a:rPr>
              <a:t> of an element tell you about its atoms?</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Maths • fractions and standard form</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t>
            </a:r>
            <a:r>
              <a:rPr lang="en-US" sz="1250" b="1" dirty="0">
                <a:solidFill>
                  <a:srgbClr val="262B3A"/>
                </a:solidFill>
                <a:latin typeface="Calibri" pitchFamily="34" charset="0"/>
                <a:ea typeface="Calibri" pitchFamily="34" charset="-122"/>
                <a:cs typeface="Calibri" pitchFamily="34" charset="-120"/>
              </a:rPr>
              <a:t>0.0000000001 m</a:t>
            </a:r>
            <a:r>
              <a:rPr lang="en-US" sz="1250" dirty="0">
                <a:solidFill>
                  <a:srgbClr val="262B3A"/>
                </a:solidFill>
                <a:latin typeface="Calibri" pitchFamily="34" charset="0"/>
                <a:ea typeface="Calibri" pitchFamily="34" charset="-122"/>
                <a:cs typeface="Calibri" pitchFamily="34" charset="-120"/>
              </a:rPr>
              <a:t> in standard form. What is </a:t>
            </a:r>
            <a:r>
              <a:rPr lang="en-US" sz="1250" b="1" dirty="0">
                <a:solidFill>
                  <a:srgbClr val="262B3A"/>
                </a:solidFill>
                <a:latin typeface="Calibri" pitchFamily="34" charset="0"/>
                <a:ea typeface="Calibri" pitchFamily="34" charset="-122"/>
                <a:cs typeface="Calibri" pitchFamily="34" charset="-120"/>
              </a:rPr>
              <a:t>½ of ½ of ½</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nuclear model of the atom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P5.1.1, P5.1.2 • a tiny, dense, positive nucleus surrounded by electrons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NOT to scale: the nucleus is drawn enlarged in the inset</a:t>
            </a:r>
            <a:endParaRPr lang="en-US" sz="1000" dirty="0"/>
          </a:p>
        </p:txBody>
      </p:sp>
      <p:sp>
        <p:nvSpPr>
          <p:cNvPr id="10" name="Shape 8"/>
          <p:cNvSpPr/>
          <p:nvPr/>
        </p:nvSpPr>
        <p:spPr>
          <a:xfrm>
            <a:off x="685800" y="1645920"/>
            <a:ext cx="3200400" cy="3200400"/>
          </a:xfrm>
          <a:prstGeom prst="ellipse">
            <a:avLst/>
          </a:prstGeom>
          <a:solidFill>
            <a:srgbClr val="E4EBF8"/>
          </a:solidFill>
          <a:ln w="12700">
            <a:solidFill>
              <a:srgbClr val="2E5BD8"/>
            </a:solidFill>
            <a:prstDash val="dash"/>
          </a:ln>
        </p:spPr>
      </p:sp>
      <p:sp>
        <p:nvSpPr>
          <p:cNvPr id="11" name="Shape 9"/>
          <p:cNvSpPr/>
          <p:nvPr/>
        </p:nvSpPr>
        <p:spPr>
          <a:xfrm>
            <a:off x="1600200" y="2560320"/>
            <a:ext cx="1371600" cy="1371600"/>
          </a:xfrm>
          <a:prstGeom prst="ellipse">
            <a:avLst/>
          </a:prstGeom>
          <a:ln w="9525">
            <a:solidFill>
              <a:srgbClr val="9FB2DA"/>
            </a:solidFill>
            <a:prstDash val="solid"/>
          </a:ln>
        </p:spPr>
      </p:sp>
      <p:sp>
        <p:nvSpPr>
          <p:cNvPr id="12" name="Shape 10"/>
          <p:cNvSpPr/>
          <p:nvPr/>
        </p:nvSpPr>
        <p:spPr>
          <a:xfrm>
            <a:off x="1051560" y="2011680"/>
            <a:ext cx="2468880" cy="2468880"/>
          </a:xfrm>
          <a:prstGeom prst="ellipse">
            <a:avLst/>
          </a:prstGeom>
          <a:ln w="9525">
            <a:solidFill>
              <a:srgbClr val="9FB2DA"/>
            </a:solidFill>
            <a:prstDash val="solid"/>
          </a:ln>
        </p:spPr>
      </p:sp>
      <p:sp>
        <p:nvSpPr>
          <p:cNvPr id="13" name="Shape 11"/>
          <p:cNvSpPr/>
          <p:nvPr/>
        </p:nvSpPr>
        <p:spPr>
          <a:xfrm>
            <a:off x="2797624" y="2820924"/>
            <a:ext cx="164592" cy="164592"/>
          </a:xfrm>
          <a:prstGeom prst="ellipse">
            <a:avLst/>
          </a:prstGeom>
          <a:solidFill>
            <a:srgbClr val="2E5BD8"/>
          </a:solidFill>
          <a:ln w="9525">
            <a:solidFill>
              <a:srgbClr val="1F3F9E"/>
            </a:solidFill>
            <a:prstDash val="solid"/>
          </a:ln>
        </p:spPr>
      </p:sp>
      <p:sp>
        <p:nvSpPr>
          <p:cNvPr id="14" name="Text 12"/>
          <p:cNvSpPr/>
          <p:nvPr/>
        </p:nvSpPr>
        <p:spPr>
          <a:xfrm>
            <a:off x="2797624" y="2811780"/>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5" name="Shape 13"/>
          <p:cNvSpPr/>
          <p:nvPr/>
        </p:nvSpPr>
        <p:spPr>
          <a:xfrm>
            <a:off x="1609784" y="3506724"/>
            <a:ext cx="164592" cy="164592"/>
          </a:xfrm>
          <a:prstGeom prst="ellipse">
            <a:avLst/>
          </a:prstGeom>
          <a:solidFill>
            <a:srgbClr val="2E5BD8"/>
          </a:solidFill>
          <a:ln w="9525">
            <a:solidFill>
              <a:srgbClr val="1F3F9E"/>
            </a:solidFill>
            <a:prstDash val="solid"/>
          </a:ln>
        </p:spPr>
      </p:sp>
      <p:sp>
        <p:nvSpPr>
          <p:cNvPr id="16" name="Text 14"/>
          <p:cNvSpPr/>
          <p:nvPr/>
        </p:nvSpPr>
        <p:spPr>
          <a:xfrm>
            <a:off x="1609784" y="3497580"/>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1989346" y="1948138"/>
            <a:ext cx="164592" cy="164592"/>
          </a:xfrm>
          <a:prstGeom prst="ellipse">
            <a:avLst/>
          </a:prstGeom>
          <a:solidFill>
            <a:srgbClr val="2E5BD8"/>
          </a:solidFill>
          <a:ln w="9525">
            <a:solidFill>
              <a:srgbClr val="1F3F9E"/>
            </a:solidFill>
            <a:prstDash val="solid"/>
          </a:ln>
        </p:spPr>
      </p:sp>
      <p:sp>
        <p:nvSpPr>
          <p:cNvPr id="18" name="Text 16"/>
          <p:cNvSpPr/>
          <p:nvPr/>
        </p:nvSpPr>
        <p:spPr>
          <a:xfrm>
            <a:off x="1989346" y="1938994"/>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1410221" y="4109460"/>
            <a:ext cx="164592" cy="164592"/>
          </a:xfrm>
          <a:prstGeom prst="ellipse">
            <a:avLst/>
          </a:prstGeom>
          <a:solidFill>
            <a:srgbClr val="2E5BD8"/>
          </a:solidFill>
          <a:ln w="9525">
            <a:solidFill>
              <a:srgbClr val="1F3F9E"/>
            </a:solidFill>
            <a:prstDash val="solid"/>
          </a:ln>
        </p:spPr>
      </p:sp>
      <p:sp>
        <p:nvSpPr>
          <p:cNvPr id="20" name="Text 18"/>
          <p:cNvSpPr/>
          <p:nvPr/>
        </p:nvSpPr>
        <p:spPr>
          <a:xfrm>
            <a:off x="1410221" y="4100316"/>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1" name="Shape 19"/>
          <p:cNvSpPr/>
          <p:nvPr/>
        </p:nvSpPr>
        <p:spPr>
          <a:xfrm>
            <a:off x="3363698" y="3586027"/>
            <a:ext cx="164592" cy="164592"/>
          </a:xfrm>
          <a:prstGeom prst="ellipse">
            <a:avLst/>
          </a:prstGeom>
          <a:solidFill>
            <a:srgbClr val="2E5BD8"/>
          </a:solidFill>
          <a:ln w="9525">
            <a:solidFill>
              <a:srgbClr val="1F3F9E"/>
            </a:solidFill>
            <a:prstDash val="solid"/>
          </a:ln>
        </p:spPr>
      </p:sp>
      <p:sp>
        <p:nvSpPr>
          <p:cNvPr id="22" name="Text 20"/>
          <p:cNvSpPr/>
          <p:nvPr/>
        </p:nvSpPr>
        <p:spPr>
          <a:xfrm>
            <a:off x="3363698" y="3576883"/>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1011327" y="2844327"/>
            <a:ext cx="164592" cy="164592"/>
          </a:xfrm>
          <a:prstGeom prst="ellipse">
            <a:avLst/>
          </a:prstGeom>
          <a:solidFill>
            <a:srgbClr val="2E5BD8"/>
          </a:solidFill>
          <a:ln w="9525">
            <a:solidFill>
              <a:srgbClr val="1F3F9E"/>
            </a:solidFill>
            <a:prstDash val="solid"/>
          </a:ln>
        </p:spPr>
      </p:sp>
      <p:sp>
        <p:nvSpPr>
          <p:cNvPr id="24" name="Text 22"/>
          <p:cNvSpPr/>
          <p:nvPr/>
        </p:nvSpPr>
        <p:spPr>
          <a:xfrm>
            <a:off x="1011327" y="2835183"/>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2240280" y="3200400"/>
            <a:ext cx="91440" cy="91440"/>
          </a:xfrm>
          <a:prstGeom prst="ellipse">
            <a:avLst/>
          </a:prstGeom>
          <a:solidFill>
            <a:srgbClr val="C8414C"/>
          </a:solidFill>
          <a:ln w="9525">
            <a:solidFill>
              <a:srgbClr val="C8414C"/>
            </a:solidFill>
            <a:prstDash val="solid"/>
          </a:ln>
        </p:spPr>
      </p:sp>
      <p:sp>
        <p:nvSpPr>
          <p:cNvPr id="26" name="Shape 24"/>
          <p:cNvSpPr/>
          <p:nvPr/>
        </p:nvSpPr>
        <p:spPr>
          <a:xfrm flipV="1">
            <a:off x="2331720" y="2673706"/>
            <a:ext cx="2035454" cy="544982"/>
          </a:xfrm>
          <a:prstGeom prst="line">
            <a:avLst/>
          </a:prstGeom>
          <a:noFill/>
          <a:ln w="9525">
            <a:solidFill>
              <a:srgbClr val="6B7385"/>
            </a:solidFill>
            <a:prstDash val="dash"/>
          </a:ln>
        </p:spPr>
      </p:sp>
      <p:sp>
        <p:nvSpPr>
          <p:cNvPr id="27" name="Shape 25"/>
          <p:cNvSpPr/>
          <p:nvPr/>
        </p:nvSpPr>
        <p:spPr>
          <a:xfrm>
            <a:off x="4142232" y="1399032"/>
            <a:ext cx="1499616" cy="1499616"/>
          </a:xfrm>
          <a:prstGeom prst="ellipse">
            <a:avLst/>
          </a:prstGeom>
          <a:solidFill>
            <a:srgbClr val="FFFFFF"/>
          </a:solidFill>
          <a:ln w="12700">
            <a:solidFill>
              <a:srgbClr val="6B7385"/>
            </a:solidFill>
            <a:prstDash val="solid"/>
          </a:ln>
        </p:spPr>
      </p:sp>
      <p:sp>
        <p:nvSpPr>
          <p:cNvPr id="28" name="Shape 26"/>
          <p:cNvSpPr/>
          <p:nvPr/>
        </p:nvSpPr>
        <p:spPr>
          <a:xfrm>
            <a:off x="4927888" y="1828400"/>
            <a:ext cx="155448" cy="155448"/>
          </a:xfrm>
          <a:prstGeom prst="ellipse">
            <a:avLst/>
          </a:prstGeom>
          <a:solidFill>
            <a:srgbClr val="C8414C"/>
          </a:solidFill>
          <a:ln w="6350">
            <a:solidFill>
              <a:srgbClr val="8E2A33"/>
            </a:solidFill>
            <a:prstDash val="solid"/>
          </a:ln>
        </p:spPr>
      </p:sp>
      <p:sp>
        <p:nvSpPr>
          <p:cNvPr id="29" name="Shape 27"/>
          <p:cNvSpPr/>
          <p:nvPr/>
        </p:nvSpPr>
        <p:spPr>
          <a:xfrm>
            <a:off x="4709926" y="1870130"/>
            <a:ext cx="155448" cy="155448"/>
          </a:xfrm>
          <a:prstGeom prst="ellipse">
            <a:avLst/>
          </a:prstGeom>
          <a:solidFill>
            <a:srgbClr val="8C96A8"/>
          </a:solidFill>
          <a:ln w="6350">
            <a:solidFill>
              <a:srgbClr val="5A6275"/>
            </a:solidFill>
            <a:prstDash val="solid"/>
          </a:ln>
        </p:spPr>
      </p:sp>
      <p:sp>
        <p:nvSpPr>
          <p:cNvPr id="30" name="Shape 28"/>
          <p:cNvSpPr/>
          <p:nvPr/>
        </p:nvSpPr>
        <p:spPr>
          <a:xfrm>
            <a:off x="4825747" y="1940859"/>
            <a:ext cx="155448" cy="155448"/>
          </a:xfrm>
          <a:prstGeom prst="ellipse">
            <a:avLst/>
          </a:prstGeom>
          <a:solidFill>
            <a:srgbClr val="C8414C"/>
          </a:solidFill>
          <a:ln w="6350">
            <a:solidFill>
              <a:srgbClr val="8E2A33"/>
            </a:solidFill>
            <a:prstDash val="solid"/>
          </a:ln>
        </p:spPr>
      </p:sp>
      <p:sp>
        <p:nvSpPr>
          <p:cNvPr id="31" name="Shape 29"/>
          <p:cNvSpPr/>
          <p:nvPr/>
        </p:nvSpPr>
        <p:spPr>
          <a:xfrm>
            <a:off x="4977956" y="1967018"/>
            <a:ext cx="155448" cy="155448"/>
          </a:xfrm>
          <a:prstGeom prst="ellipse">
            <a:avLst/>
          </a:prstGeom>
          <a:solidFill>
            <a:srgbClr val="8C96A8"/>
          </a:solidFill>
          <a:ln w="6350">
            <a:solidFill>
              <a:srgbClr val="5A6275"/>
            </a:solidFill>
            <a:prstDash val="solid"/>
          </a:ln>
        </p:spPr>
      </p:sp>
      <p:sp>
        <p:nvSpPr>
          <p:cNvPr id="32" name="Shape 30"/>
          <p:cNvSpPr/>
          <p:nvPr/>
        </p:nvSpPr>
        <p:spPr>
          <a:xfrm>
            <a:off x="4641568" y="2040562"/>
            <a:ext cx="155448" cy="155448"/>
          </a:xfrm>
          <a:prstGeom prst="ellipse">
            <a:avLst/>
          </a:prstGeom>
          <a:solidFill>
            <a:srgbClr val="C8414C"/>
          </a:solidFill>
          <a:ln w="6350">
            <a:solidFill>
              <a:srgbClr val="8E2A33"/>
            </a:solidFill>
            <a:prstDash val="solid"/>
          </a:ln>
        </p:spPr>
      </p:sp>
      <p:sp>
        <p:nvSpPr>
          <p:cNvPr id="33" name="Shape 31"/>
          <p:cNvSpPr/>
          <p:nvPr/>
        </p:nvSpPr>
        <p:spPr>
          <a:xfrm>
            <a:off x="4872793" y="2071116"/>
            <a:ext cx="155448" cy="155448"/>
          </a:xfrm>
          <a:prstGeom prst="ellipse">
            <a:avLst/>
          </a:prstGeom>
          <a:solidFill>
            <a:srgbClr val="C8414C"/>
          </a:solidFill>
          <a:ln w="6350">
            <a:solidFill>
              <a:srgbClr val="8E2A33"/>
            </a:solidFill>
            <a:prstDash val="solid"/>
          </a:ln>
        </p:spPr>
      </p:sp>
      <p:sp>
        <p:nvSpPr>
          <p:cNvPr id="34" name="Shape 32"/>
          <p:cNvSpPr/>
          <p:nvPr/>
        </p:nvSpPr>
        <p:spPr>
          <a:xfrm>
            <a:off x="4739632" y="2139533"/>
            <a:ext cx="155448" cy="155448"/>
          </a:xfrm>
          <a:prstGeom prst="ellipse">
            <a:avLst/>
          </a:prstGeom>
          <a:solidFill>
            <a:srgbClr val="8C96A8"/>
          </a:solidFill>
          <a:ln w="6350">
            <a:solidFill>
              <a:srgbClr val="5A6275"/>
            </a:solidFill>
            <a:prstDash val="solid"/>
          </a:ln>
        </p:spPr>
      </p:sp>
      <p:sp>
        <p:nvSpPr>
          <p:cNvPr id="35" name="Shape 33"/>
          <p:cNvSpPr/>
          <p:nvPr/>
        </p:nvSpPr>
        <p:spPr>
          <a:xfrm>
            <a:off x="5040793" y="2153818"/>
            <a:ext cx="155448" cy="155448"/>
          </a:xfrm>
          <a:prstGeom prst="ellipse">
            <a:avLst/>
          </a:prstGeom>
          <a:solidFill>
            <a:srgbClr val="C8414C"/>
          </a:solidFill>
          <a:ln w="6350">
            <a:solidFill>
              <a:srgbClr val="8E2A33"/>
            </a:solidFill>
            <a:prstDash val="solid"/>
          </a:ln>
        </p:spPr>
      </p:sp>
      <p:sp>
        <p:nvSpPr>
          <p:cNvPr id="36" name="Shape 34"/>
          <p:cNvSpPr/>
          <p:nvPr/>
        </p:nvSpPr>
        <p:spPr>
          <a:xfrm>
            <a:off x="4578709" y="2168379"/>
            <a:ext cx="155448" cy="155448"/>
          </a:xfrm>
          <a:prstGeom prst="ellipse">
            <a:avLst/>
          </a:prstGeom>
          <a:solidFill>
            <a:srgbClr val="8C96A8"/>
          </a:solidFill>
          <a:ln w="6350">
            <a:solidFill>
              <a:srgbClr val="5A6275"/>
            </a:solidFill>
            <a:prstDash val="solid"/>
          </a:ln>
        </p:spPr>
      </p:sp>
      <p:sp>
        <p:nvSpPr>
          <p:cNvPr id="37" name="Shape 35"/>
          <p:cNvSpPr/>
          <p:nvPr/>
        </p:nvSpPr>
        <p:spPr>
          <a:xfrm>
            <a:off x="4908451" y="2193897"/>
            <a:ext cx="155448" cy="155448"/>
          </a:xfrm>
          <a:prstGeom prst="ellipse">
            <a:avLst/>
          </a:prstGeom>
          <a:solidFill>
            <a:srgbClr val="8C96A8"/>
          </a:solidFill>
          <a:ln w="6350">
            <a:solidFill>
              <a:srgbClr val="5A6275"/>
            </a:solidFill>
            <a:prstDash val="solid"/>
          </a:ln>
        </p:spPr>
      </p:sp>
      <p:sp>
        <p:nvSpPr>
          <p:cNvPr id="38" name="Shape 36"/>
          <p:cNvSpPr/>
          <p:nvPr/>
        </p:nvSpPr>
        <p:spPr>
          <a:xfrm>
            <a:off x="4759585" y="2274729"/>
            <a:ext cx="155448" cy="155448"/>
          </a:xfrm>
          <a:prstGeom prst="ellipse">
            <a:avLst/>
          </a:prstGeom>
          <a:solidFill>
            <a:srgbClr val="C8414C"/>
          </a:solidFill>
          <a:ln w="6350">
            <a:solidFill>
              <a:srgbClr val="8E2A33"/>
            </a:solidFill>
            <a:prstDash val="solid"/>
          </a:ln>
        </p:spPr>
      </p:sp>
      <p:sp>
        <p:nvSpPr>
          <p:cNvPr id="39" name="Shape 37"/>
          <p:cNvSpPr/>
          <p:nvPr/>
        </p:nvSpPr>
        <p:spPr>
          <a:xfrm>
            <a:off x="4898258" y="2338702"/>
            <a:ext cx="155448" cy="155448"/>
          </a:xfrm>
          <a:prstGeom prst="ellipse">
            <a:avLst/>
          </a:prstGeom>
          <a:solidFill>
            <a:srgbClr val="8C96A8"/>
          </a:solidFill>
          <a:ln w="6350">
            <a:solidFill>
              <a:srgbClr val="5A6275"/>
            </a:solidFill>
            <a:prstDash val="solid"/>
          </a:ln>
        </p:spPr>
      </p:sp>
      <p:sp>
        <p:nvSpPr>
          <p:cNvPr id="40" name="Text 38"/>
          <p:cNvSpPr/>
          <p:nvPr/>
        </p:nvSpPr>
        <p:spPr>
          <a:xfrm>
            <a:off x="3977640" y="2926080"/>
            <a:ext cx="182880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nucleus (zoomed in)</a:t>
            </a:r>
            <a:endParaRPr lang="en-US" sz="1050" dirty="0"/>
          </a:p>
        </p:txBody>
      </p:sp>
      <p:sp>
        <p:nvSpPr>
          <p:cNvPr id="41" name="Text 39"/>
          <p:cNvSpPr/>
          <p:nvPr/>
        </p:nvSpPr>
        <p:spPr>
          <a:xfrm>
            <a:off x="3977640" y="3154680"/>
            <a:ext cx="182880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radius ≈ 1 × 10</a:t>
            </a:r>
            <a:r>
              <a:rPr lang="en-US" sz="1050" b="1" baseline="30000" dirty="0">
                <a:solidFill>
                  <a:srgbClr val="C8414C"/>
                </a:solidFill>
                <a:latin typeface="Calibri" pitchFamily="34" charset="0"/>
                <a:ea typeface="Calibri" pitchFamily="34" charset="-122"/>
                <a:cs typeface="Calibri" pitchFamily="34" charset="-120"/>
              </a:rPr>
              <a:t>−14</a:t>
            </a:r>
            <a:r>
              <a:rPr lang="en-US" sz="1050" b="1" dirty="0">
                <a:solidFill>
                  <a:srgbClr val="C8414C"/>
                </a:solidFill>
                <a:latin typeface="Calibri" pitchFamily="34" charset="0"/>
                <a:ea typeface="Calibri" pitchFamily="34" charset="-122"/>
                <a:cs typeface="Calibri" pitchFamily="34" charset="-120"/>
              </a:rPr>
              <a:t> m</a:t>
            </a:r>
            <a:endParaRPr lang="en-US" sz="1050" dirty="0"/>
          </a:p>
        </p:txBody>
      </p:sp>
      <p:sp>
        <p:nvSpPr>
          <p:cNvPr id="42" name="Shape 40"/>
          <p:cNvSpPr/>
          <p:nvPr/>
        </p:nvSpPr>
        <p:spPr>
          <a:xfrm>
            <a:off x="685800" y="5029200"/>
            <a:ext cx="3200400" cy="91"/>
          </a:xfrm>
          <a:prstGeom prst="line">
            <a:avLst/>
          </a:prstGeom>
          <a:noFill/>
          <a:ln w="19050">
            <a:solidFill>
              <a:srgbClr val="2E5BD8"/>
            </a:solidFill>
            <a:prstDash val="solid"/>
            <a:headEnd type="triangle"/>
            <a:tailEnd type="triangle"/>
          </a:ln>
        </p:spPr>
      </p:sp>
      <p:sp>
        <p:nvSpPr>
          <p:cNvPr id="43" name="Text 41"/>
          <p:cNvSpPr/>
          <p:nvPr/>
        </p:nvSpPr>
        <p:spPr>
          <a:xfrm>
            <a:off x="685800" y="5074920"/>
            <a:ext cx="320040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atom: radius ≈ 1 × 10</a:t>
            </a:r>
            <a:r>
              <a:rPr lang="en-US" sz="1050" b="1" baseline="30000" dirty="0">
                <a:solidFill>
                  <a:srgbClr val="2E5BD8"/>
                </a:solidFill>
                <a:latin typeface="Calibri" pitchFamily="34" charset="0"/>
                <a:ea typeface="Calibri" pitchFamily="34" charset="-122"/>
                <a:cs typeface="Calibri" pitchFamily="34" charset="-120"/>
              </a:rPr>
              <a:t>−10</a:t>
            </a:r>
            <a:r>
              <a:rPr lang="en-US" sz="1050" b="1" dirty="0">
                <a:solidFill>
                  <a:srgbClr val="2E5BD8"/>
                </a:solidFill>
                <a:latin typeface="Calibri" pitchFamily="34" charset="0"/>
                <a:ea typeface="Calibri" pitchFamily="34" charset="-122"/>
                <a:cs typeface="Calibri" pitchFamily="34" charset="-120"/>
              </a:rPr>
              <a:t> m</a:t>
            </a:r>
            <a:endParaRPr lang="en-US" sz="1050" dirty="0"/>
          </a:p>
        </p:txBody>
      </p:sp>
      <p:sp>
        <p:nvSpPr>
          <p:cNvPr id="44" name="Text 42"/>
          <p:cNvSpPr/>
          <p:nvPr/>
        </p:nvSpPr>
        <p:spPr>
          <a:xfrm>
            <a:off x="4069080" y="3611880"/>
            <a:ext cx="1737360" cy="566928"/>
          </a:xfrm>
          <a:prstGeom prst="rect">
            <a:avLst/>
          </a:prstGeom>
          <a:noFill/>
          <a:ln/>
        </p:spPr>
        <p:txBody>
          <a:bodyPr wrap="square" lIns="0" tIns="0" rIns="0" bIns="0" rtlCol="0" anchor="t"/>
          <a:lstStyle/>
          <a:p>
            <a:pPr algn="l" indent="0" marL="0">
              <a:buNone/>
            </a:pPr>
            <a:r>
              <a:rPr lang="en-US" sz="1050" b="1" dirty="0">
                <a:solidFill>
                  <a:srgbClr val="2E5BD8"/>
                </a:solidFill>
                <a:latin typeface="Calibri" pitchFamily="34" charset="0"/>
                <a:ea typeface="Calibri" pitchFamily="34" charset="-122"/>
                <a:cs typeface="Calibri" pitchFamily="34" charset="-120"/>
              </a:rPr>
              <a:t>electrons (−) at different distances from the nucleus</a:t>
            </a:r>
            <a:endParaRPr lang="en-US" sz="1050" dirty="0"/>
          </a:p>
        </p:txBody>
      </p:sp>
      <p:sp>
        <p:nvSpPr>
          <p:cNvPr id="45" name="Shape 43"/>
          <p:cNvSpPr/>
          <p:nvPr/>
        </p:nvSpPr>
        <p:spPr>
          <a:xfrm flipH="1" flipV="1">
            <a:off x="3537434" y="3657600"/>
            <a:ext cx="531646" cy="45720"/>
          </a:xfrm>
          <a:prstGeom prst="line">
            <a:avLst/>
          </a:prstGeom>
          <a:noFill/>
          <a:ln w="9525">
            <a:solidFill>
              <a:srgbClr val="6B7385"/>
            </a:solidFill>
            <a:prstDash val="solid"/>
          </a:ln>
        </p:spPr>
      </p:sp>
      <p:sp>
        <p:nvSpPr>
          <p:cNvPr id="46" name="Text 44"/>
          <p:cNvSpPr/>
          <p:nvPr/>
        </p:nvSpPr>
        <p:spPr>
          <a:xfrm>
            <a:off x="4069080" y="4343400"/>
            <a:ext cx="1737360" cy="256032"/>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mostly empty space</a:t>
            </a:r>
            <a:endParaRPr lang="en-US" sz="1050" dirty="0"/>
          </a:p>
        </p:txBody>
      </p:sp>
      <p:sp>
        <p:nvSpPr>
          <p:cNvPr id="47" name="Shape 4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8" name="Text 4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nuclear model says</a:t>
            </a:r>
            <a:endParaRPr lang="en-US" sz="1300" dirty="0"/>
          </a:p>
        </p:txBody>
      </p:sp>
      <p:sp>
        <p:nvSpPr>
          <p:cNvPr id="49" name="Text 4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tiny, </a:t>
            </a:r>
            <a:r>
              <a:rPr lang="en-US" sz="1150" b="1" dirty="0">
                <a:solidFill>
                  <a:srgbClr val="262B3A"/>
                </a:solidFill>
                <a:latin typeface="Calibri" pitchFamily="34" charset="0"/>
                <a:ea typeface="Calibri" pitchFamily="34" charset="-122"/>
                <a:cs typeface="Calibri" pitchFamily="34" charset="-120"/>
              </a:rPr>
              <a:t>positively charged nucleus</a:t>
            </a:r>
            <a:r>
              <a:rPr lang="en-US" sz="1150" dirty="0">
                <a:solidFill>
                  <a:srgbClr val="262B3A"/>
                </a:solidFill>
                <a:latin typeface="Calibri" pitchFamily="34" charset="0"/>
                <a:ea typeface="Calibri" pitchFamily="34" charset="-122"/>
                <a:cs typeface="Calibri" pitchFamily="34" charset="-120"/>
              </a:rPr>
              <a:t> at the centre contains </a:t>
            </a:r>
            <a:r>
              <a:rPr lang="en-US" sz="1150" b="1" dirty="0">
                <a:solidFill>
                  <a:srgbClr val="262B3A"/>
                </a:solidFill>
                <a:latin typeface="Calibri" pitchFamily="34" charset="0"/>
                <a:ea typeface="Calibri" pitchFamily="34" charset="-122"/>
                <a:cs typeface="Calibri" pitchFamily="34" charset="-120"/>
              </a:rPr>
              <a:t>almost all the mass</a:t>
            </a:r>
            <a:r>
              <a:rPr lang="en-US" sz="1150" dirty="0">
                <a:solidFill>
                  <a:srgbClr val="262B3A"/>
                </a:solidFill>
                <a:latin typeface="Calibri" pitchFamily="34" charset="0"/>
                <a:ea typeface="Calibri" pitchFamily="34" charset="-122"/>
                <a:cs typeface="Calibri" pitchFamily="34" charset="-120"/>
              </a:rPr>
              <a:t> of the atom.</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Negatively charged electrons</a:t>
            </a:r>
            <a:r>
              <a:rPr lang="en-US" sz="1150" dirty="0">
                <a:solidFill>
                  <a:srgbClr val="262B3A"/>
                </a:solidFill>
                <a:latin typeface="Calibri" pitchFamily="34" charset="0"/>
                <a:ea typeface="Calibri" pitchFamily="34" charset="-122"/>
                <a:cs typeface="Calibri" pitchFamily="34" charset="-120"/>
              </a:rPr>
              <a:t> are arranged at different distances from the nucleus. Most of the atom is </a:t>
            </a:r>
            <a:r>
              <a:rPr lang="en-US" sz="1150" b="1" dirty="0">
                <a:solidFill>
                  <a:srgbClr val="262B3A"/>
                </a:solidFill>
                <a:latin typeface="Calibri" pitchFamily="34" charset="0"/>
                <a:ea typeface="Calibri" pitchFamily="34" charset="-122"/>
                <a:cs typeface="Calibri" pitchFamily="34" charset="-120"/>
              </a:rPr>
              <a:t>empty space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nucleus radius is about 1 × 10</a:t>
            </a:r>
            <a:r>
              <a:rPr lang="en-US" sz="1150" baseline="30000" dirty="0">
                <a:solidFill>
                  <a:srgbClr val="262B3A"/>
                </a:solidFill>
                <a:latin typeface="Calibri" pitchFamily="34" charset="0"/>
                <a:ea typeface="Calibri" pitchFamily="34" charset="-122"/>
                <a:cs typeface="Calibri" pitchFamily="34" charset="-120"/>
              </a:rPr>
              <a:t>−14</a:t>
            </a:r>
            <a:r>
              <a:rPr lang="en-US" sz="1150" dirty="0">
                <a:solidFill>
                  <a:srgbClr val="262B3A"/>
                </a:solidFill>
                <a:latin typeface="Calibri" pitchFamily="34" charset="0"/>
                <a:ea typeface="Calibri" pitchFamily="34" charset="-122"/>
                <a:cs typeface="Calibri" pitchFamily="34" charset="-120"/>
              </a:rPr>
              <a:t> m: roughly </a:t>
            </a:r>
            <a:r>
              <a:rPr lang="en-US" sz="1150" b="1" dirty="0">
                <a:solidFill>
                  <a:srgbClr val="262B3A"/>
                </a:solidFill>
                <a:latin typeface="Calibri" pitchFamily="34" charset="0"/>
                <a:ea typeface="Calibri" pitchFamily="34" charset="-122"/>
                <a:cs typeface="Calibri" pitchFamily="34" charset="-120"/>
              </a:rPr>
              <a:t>10 000 times smaller</a:t>
            </a:r>
            <a:r>
              <a:rPr lang="en-US" sz="1150" dirty="0">
                <a:solidFill>
                  <a:srgbClr val="262B3A"/>
                </a:solidFill>
                <a:latin typeface="Calibri" pitchFamily="34" charset="0"/>
                <a:ea typeface="Calibri" pitchFamily="34" charset="-122"/>
                <a:cs typeface="Calibri" pitchFamily="34" charset="-120"/>
              </a:rPr>
              <a:t> than the atom.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Atoms and small molecules are about 1 × 10</a:t>
            </a:r>
            <a:r>
              <a:rPr lang="en-US" sz="1150" baseline="30000" dirty="0">
                <a:solidFill>
                  <a:srgbClr val="262B3A"/>
                </a:solidFill>
                <a:latin typeface="Calibri" pitchFamily="34" charset="0"/>
                <a:ea typeface="Calibri" pitchFamily="34" charset="-122"/>
                <a:cs typeface="Calibri" pitchFamily="34" charset="-120"/>
              </a:rPr>
              <a:t>−10</a:t>
            </a:r>
            <a:r>
              <a:rPr lang="en-US" sz="1150" dirty="0">
                <a:solidFill>
                  <a:srgbClr val="262B3A"/>
                </a:solidFill>
                <a:latin typeface="Calibri" pitchFamily="34" charset="0"/>
                <a:ea typeface="Calibri" pitchFamily="34" charset="-122"/>
                <a:cs typeface="Calibri" pitchFamily="34" charset="-120"/>
              </a:rPr>
              <a:t> m across (order of magnitude).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neutral atom has equal numbers of protons (+) and electrons (−).</a:t>
            </a:r>
            <a:endParaRPr lang="en-US" sz="1150" dirty="0"/>
          </a:p>
        </p:txBody>
      </p:sp>
      <p:sp>
        <p:nvSpPr>
          <p:cNvPr id="50" name="Shape 4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1" name="Text 4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comparing sizes</a:t>
            </a:r>
            <a:endParaRPr lang="en-US" sz="1300" dirty="0"/>
          </a:p>
        </p:txBody>
      </p:sp>
      <p:sp>
        <p:nvSpPr>
          <p:cNvPr id="52" name="Text 50"/>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How many times larger is the radius of an atom than the radius of its nucleus?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Atom   </a:t>
            </a:r>
            <a:r>
              <a:rPr lang="en-US" sz="1100" dirty="0">
                <a:solidFill>
                  <a:srgbClr val="262B3A"/>
                </a:solidFill>
                <a:latin typeface="Calibri" pitchFamily="34" charset="0"/>
                <a:ea typeface="Calibri" pitchFamily="34" charset="-122"/>
                <a:cs typeface="Calibri" pitchFamily="34" charset="-120"/>
              </a:rPr>
              <a:t>radius ≈ 1 × 10</a:t>
            </a:r>
            <a:r>
              <a:rPr lang="en-US" sz="1100" baseline="30000" dirty="0">
                <a:solidFill>
                  <a:srgbClr val="262B3A"/>
                </a:solidFill>
                <a:latin typeface="Calibri" pitchFamily="34" charset="0"/>
                <a:ea typeface="Calibri" pitchFamily="34" charset="-122"/>
                <a:cs typeface="Calibri" pitchFamily="34" charset="-120"/>
              </a:rPr>
              <a:t>−10</a:t>
            </a:r>
            <a:r>
              <a:rPr lang="en-US" sz="1100" dirty="0">
                <a:solidFill>
                  <a:srgbClr val="262B3A"/>
                </a:solidFill>
                <a:latin typeface="Calibri" pitchFamily="34" charset="0"/>
                <a:ea typeface="Calibri" pitchFamily="34" charset="-122"/>
                <a:cs typeface="Calibri" pitchFamily="34" charset="-120"/>
              </a:rPr>
              <a:t>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Nucleus   </a:t>
            </a:r>
            <a:r>
              <a:rPr lang="en-US" sz="1100" dirty="0">
                <a:solidFill>
                  <a:srgbClr val="262B3A"/>
                </a:solidFill>
                <a:latin typeface="Calibri" pitchFamily="34" charset="0"/>
                <a:ea typeface="Calibri" pitchFamily="34" charset="-122"/>
                <a:cs typeface="Calibri" pitchFamily="34" charset="-120"/>
              </a:rPr>
              <a:t>radius ≈ 1 × 10</a:t>
            </a:r>
            <a:r>
              <a:rPr lang="en-US" sz="1100" baseline="30000" dirty="0">
                <a:solidFill>
                  <a:srgbClr val="262B3A"/>
                </a:solidFill>
                <a:latin typeface="Calibri" pitchFamily="34" charset="0"/>
                <a:ea typeface="Calibri" pitchFamily="34" charset="-122"/>
                <a:cs typeface="Calibri" pitchFamily="34" charset="-120"/>
              </a:rPr>
              <a:t>−14</a:t>
            </a:r>
            <a:r>
              <a:rPr lang="en-US" sz="1100" dirty="0">
                <a:solidFill>
                  <a:srgbClr val="262B3A"/>
                </a:solidFill>
                <a:latin typeface="Calibri" pitchFamily="34" charset="0"/>
                <a:ea typeface="Calibri" pitchFamily="34" charset="-122"/>
                <a:cs typeface="Calibri" pitchFamily="34" charset="-120"/>
              </a:rPr>
              <a:t>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Divide   </a:t>
            </a:r>
            <a:r>
              <a:rPr lang="en-US" sz="1100" dirty="0">
                <a:solidFill>
                  <a:srgbClr val="262B3A"/>
                </a:solidFill>
                <a:latin typeface="Calibri" pitchFamily="34" charset="0"/>
                <a:ea typeface="Calibri" pitchFamily="34" charset="-122"/>
                <a:cs typeface="Calibri" pitchFamily="34" charset="-120"/>
              </a:rPr>
              <a:t>1 × 10</a:t>
            </a:r>
            <a:r>
              <a:rPr lang="en-US" sz="1100" baseline="30000" dirty="0">
                <a:solidFill>
                  <a:srgbClr val="262B3A"/>
                </a:solidFill>
                <a:latin typeface="Calibri" pitchFamily="34" charset="0"/>
                <a:ea typeface="Calibri" pitchFamily="34" charset="-122"/>
                <a:cs typeface="Calibri" pitchFamily="34" charset="-120"/>
              </a:rPr>
              <a:t>−10</a:t>
            </a:r>
            <a:r>
              <a:rPr lang="en-US" sz="1100" dirty="0">
                <a:solidFill>
                  <a:srgbClr val="262B3A"/>
                </a:solidFill>
                <a:latin typeface="Calibri" pitchFamily="34" charset="0"/>
                <a:ea typeface="Calibri" pitchFamily="34" charset="-122"/>
                <a:cs typeface="Calibri" pitchFamily="34" charset="-120"/>
              </a:rPr>
              <a:t> ÷ 1 × 10</a:t>
            </a:r>
            <a:r>
              <a:rPr lang="en-US" sz="1100" baseline="30000" dirty="0">
                <a:solidFill>
                  <a:srgbClr val="262B3A"/>
                </a:solidFill>
                <a:latin typeface="Calibri" pitchFamily="34" charset="0"/>
                <a:ea typeface="Calibri" pitchFamily="34" charset="-122"/>
                <a:cs typeface="Calibri" pitchFamily="34" charset="-120"/>
              </a:rPr>
              <a:t>−14</a:t>
            </a:r>
            <a:r>
              <a:rPr lang="en-US" sz="1100" dirty="0">
                <a:solidFill>
                  <a:srgbClr val="262B3A"/>
                </a:solidFill>
                <a:latin typeface="Calibri" pitchFamily="34" charset="0"/>
                <a:ea typeface="Calibri" pitchFamily="34" charset="-122"/>
                <a:cs typeface="Calibri" pitchFamily="34" charset="-120"/>
              </a:rPr>
              <a:t> = 10</a:t>
            </a:r>
            <a:r>
              <a:rPr lang="en-US" sz="1100" baseline="30000" dirty="0">
                <a:solidFill>
                  <a:srgbClr val="262B3A"/>
                </a:solidFill>
                <a:latin typeface="Calibri" pitchFamily="34" charset="0"/>
                <a:ea typeface="Calibri" pitchFamily="34" charset="-122"/>
                <a:cs typeface="Calibri" pitchFamily="34" charset="-120"/>
              </a:rPr>
              <a:t>4</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about 10 000 times larger</a:t>
            </a:r>
            <a:endParaRPr lang="en-US" sz="1100" dirty="0"/>
          </a:p>
        </p:txBody>
      </p:sp>
      <p:sp>
        <p:nvSpPr>
          <p:cNvPr id="53" name="Shape 51"/>
          <p:cNvSpPr/>
          <p:nvPr/>
        </p:nvSpPr>
        <p:spPr>
          <a:xfrm>
            <a:off x="411480" y="5833872"/>
            <a:ext cx="11368735" cy="530352"/>
          </a:xfrm>
          <a:prstGeom prst="rect">
            <a:avLst/>
          </a:prstGeom>
          <a:solidFill>
            <a:srgbClr val="FFF4E0"/>
          </a:solidFill>
          <a:ln w="6350">
            <a:solidFill>
              <a:srgbClr val="F1D9A8"/>
            </a:solidFill>
            <a:prstDash val="solid"/>
          </a:ln>
        </p:spPr>
      </p:sp>
      <p:sp>
        <p:nvSpPr>
          <p:cNvPr id="54" name="Shape 52"/>
          <p:cNvSpPr/>
          <p:nvPr/>
        </p:nvSpPr>
        <p:spPr>
          <a:xfrm>
            <a:off x="411480" y="5833872"/>
            <a:ext cx="82296" cy="530352"/>
          </a:xfrm>
          <a:prstGeom prst="rect">
            <a:avLst/>
          </a:prstGeom>
          <a:solidFill>
            <a:srgbClr val="E39A2F"/>
          </a:solidFill>
          <a:ln w="12700">
            <a:solidFill>
              <a:srgbClr val="E39A2F"/>
            </a:solidFill>
            <a:prstDash val="solid"/>
          </a:ln>
        </p:spPr>
      </p:sp>
      <p:sp>
        <p:nvSpPr>
          <p:cNvPr id="55" name="Text 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An atom is enlarged to the size of a football stadium 100 m across. How wide would its nucleus be?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Evidence for the nucleus: alpha scattering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P5.1.1 • builds on C2.1 • why the plum pudding model was replaced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paths of alpha particles past gold nuclei in a very thin foil</a:t>
            </a:r>
            <a:endParaRPr lang="en-US" sz="1000" dirty="0"/>
          </a:p>
        </p:txBody>
      </p:sp>
      <p:sp>
        <p:nvSpPr>
          <p:cNvPr id="10" name="Shape 8"/>
          <p:cNvSpPr/>
          <p:nvPr/>
        </p:nvSpPr>
        <p:spPr>
          <a:xfrm>
            <a:off x="3246120" y="1463040"/>
            <a:ext cx="640080" cy="3657600"/>
          </a:xfrm>
          <a:prstGeom prst="rect">
            <a:avLst/>
          </a:prstGeom>
          <a:solidFill>
            <a:srgbClr val="FBF1D2"/>
          </a:solidFill>
          <a:ln w="9525">
            <a:solidFill>
              <a:srgbClr val="E1C76A"/>
            </a:solidFill>
            <a:prstDash val="solid"/>
          </a:ln>
        </p:spPr>
      </p:sp>
      <p:sp>
        <p:nvSpPr>
          <p:cNvPr id="11" name="Text 9"/>
          <p:cNvSpPr/>
          <p:nvPr/>
        </p:nvSpPr>
        <p:spPr>
          <a:xfrm>
            <a:off x="3017520" y="1261872"/>
            <a:ext cx="1097280" cy="201168"/>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gold foil</a:t>
            </a:r>
            <a:endParaRPr lang="en-US" sz="1050" dirty="0"/>
          </a:p>
        </p:txBody>
      </p:sp>
      <p:sp>
        <p:nvSpPr>
          <p:cNvPr id="12" name="Shape 10"/>
          <p:cNvSpPr/>
          <p:nvPr/>
        </p:nvSpPr>
        <p:spPr>
          <a:xfrm>
            <a:off x="685800" y="1691640"/>
            <a:ext cx="5074920" cy="91"/>
          </a:xfrm>
          <a:prstGeom prst="line">
            <a:avLst/>
          </a:prstGeom>
          <a:noFill/>
          <a:ln w="22225">
            <a:solidFill>
              <a:srgbClr val="C8414C"/>
            </a:solidFill>
            <a:prstDash val="solid"/>
            <a:tailEnd type="triangle"/>
          </a:ln>
        </p:spPr>
      </p:sp>
      <p:sp>
        <p:nvSpPr>
          <p:cNvPr id="13" name="Shape 11"/>
          <p:cNvSpPr/>
          <p:nvPr/>
        </p:nvSpPr>
        <p:spPr>
          <a:xfrm>
            <a:off x="685800" y="2606040"/>
            <a:ext cx="5074920" cy="91"/>
          </a:xfrm>
          <a:prstGeom prst="line">
            <a:avLst/>
          </a:prstGeom>
          <a:noFill/>
          <a:ln w="22225">
            <a:solidFill>
              <a:srgbClr val="C8414C"/>
            </a:solidFill>
            <a:prstDash val="solid"/>
            <a:tailEnd type="triangle"/>
          </a:ln>
        </p:spPr>
      </p:sp>
      <p:sp>
        <p:nvSpPr>
          <p:cNvPr id="14" name="Shape 12"/>
          <p:cNvSpPr/>
          <p:nvPr/>
        </p:nvSpPr>
        <p:spPr>
          <a:xfrm>
            <a:off x="685800" y="3703320"/>
            <a:ext cx="5074920" cy="91"/>
          </a:xfrm>
          <a:prstGeom prst="line">
            <a:avLst/>
          </a:prstGeom>
          <a:noFill/>
          <a:ln w="22225">
            <a:solidFill>
              <a:srgbClr val="C8414C"/>
            </a:solidFill>
            <a:prstDash val="solid"/>
            <a:tailEnd type="triangle"/>
          </a:ln>
        </p:spPr>
      </p:sp>
      <p:sp>
        <p:nvSpPr>
          <p:cNvPr id="15" name="Shape 13"/>
          <p:cNvSpPr/>
          <p:nvPr/>
        </p:nvSpPr>
        <p:spPr>
          <a:xfrm>
            <a:off x="685800" y="5029200"/>
            <a:ext cx="5074920" cy="91"/>
          </a:xfrm>
          <a:prstGeom prst="line">
            <a:avLst/>
          </a:prstGeom>
          <a:noFill/>
          <a:ln w="22225">
            <a:solidFill>
              <a:srgbClr val="C8414C"/>
            </a:solidFill>
            <a:prstDash val="solid"/>
            <a:tailEnd type="triangle"/>
          </a:ln>
        </p:spPr>
      </p:sp>
      <p:sp>
        <p:nvSpPr>
          <p:cNvPr id="16" name="Shape 14"/>
          <p:cNvSpPr/>
          <p:nvPr/>
        </p:nvSpPr>
        <p:spPr>
          <a:xfrm>
            <a:off x="685800" y="2880360"/>
            <a:ext cx="2514600" cy="91"/>
          </a:xfrm>
          <a:prstGeom prst="line">
            <a:avLst/>
          </a:prstGeom>
          <a:noFill/>
          <a:ln w="22225">
            <a:solidFill>
              <a:srgbClr val="C8414C"/>
            </a:solidFill>
            <a:prstDash val="solid"/>
          </a:ln>
        </p:spPr>
      </p:sp>
      <p:sp>
        <p:nvSpPr>
          <p:cNvPr id="17" name="Shape 15"/>
          <p:cNvSpPr/>
          <p:nvPr/>
        </p:nvSpPr>
        <p:spPr>
          <a:xfrm flipV="1">
            <a:off x="3200400" y="2788920"/>
            <a:ext cx="365760" cy="91440"/>
          </a:xfrm>
          <a:prstGeom prst="line">
            <a:avLst/>
          </a:prstGeom>
          <a:noFill/>
          <a:ln w="22225">
            <a:solidFill>
              <a:srgbClr val="C8414C"/>
            </a:solidFill>
            <a:prstDash val="solid"/>
          </a:ln>
        </p:spPr>
      </p:sp>
      <p:sp>
        <p:nvSpPr>
          <p:cNvPr id="18" name="Shape 16"/>
          <p:cNvSpPr/>
          <p:nvPr/>
        </p:nvSpPr>
        <p:spPr>
          <a:xfrm flipV="1">
            <a:off x="3566160" y="2240280"/>
            <a:ext cx="2194560" cy="548640"/>
          </a:xfrm>
          <a:prstGeom prst="line">
            <a:avLst/>
          </a:prstGeom>
          <a:noFill/>
          <a:ln w="22225">
            <a:solidFill>
              <a:srgbClr val="C8414C"/>
            </a:solidFill>
            <a:prstDash val="solid"/>
            <a:tailEnd type="triangle"/>
          </a:ln>
        </p:spPr>
      </p:sp>
      <p:sp>
        <p:nvSpPr>
          <p:cNvPr id="19" name="Shape 17"/>
          <p:cNvSpPr/>
          <p:nvPr/>
        </p:nvSpPr>
        <p:spPr>
          <a:xfrm>
            <a:off x="685800" y="4087368"/>
            <a:ext cx="2624328" cy="91"/>
          </a:xfrm>
          <a:prstGeom prst="line">
            <a:avLst/>
          </a:prstGeom>
          <a:noFill/>
          <a:ln w="22225">
            <a:solidFill>
              <a:srgbClr val="C8414C"/>
            </a:solidFill>
            <a:prstDash val="solid"/>
          </a:ln>
        </p:spPr>
      </p:sp>
      <p:sp>
        <p:nvSpPr>
          <p:cNvPr id="20" name="Shape 18"/>
          <p:cNvSpPr/>
          <p:nvPr/>
        </p:nvSpPr>
        <p:spPr>
          <a:xfrm flipV="1">
            <a:off x="3310128" y="3886200"/>
            <a:ext cx="256032" cy="201168"/>
          </a:xfrm>
          <a:prstGeom prst="line">
            <a:avLst/>
          </a:prstGeom>
          <a:noFill/>
          <a:ln w="22225">
            <a:solidFill>
              <a:srgbClr val="C8414C"/>
            </a:solidFill>
            <a:prstDash val="solid"/>
          </a:ln>
        </p:spPr>
      </p:sp>
      <p:sp>
        <p:nvSpPr>
          <p:cNvPr id="21" name="Shape 19"/>
          <p:cNvSpPr/>
          <p:nvPr/>
        </p:nvSpPr>
        <p:spPr>
          <a:xfrm flipV="1">
            <a:off x="3566160" y="3017520"/>
            <a:ext cx="1554480" cy="868680"/>
          </a:xfrm>
          <a:prstGeom prst="line">
            <a:avLst/>
          </a:prstGeom>
          <a:noFill/>
          <a:ln w="22225">
            <a:solidFill>
              <a:srgbClr val="C8414C"/>
            </a:solidFill>
            <a:prstDash val="solid"/>
            <a:tailEnd type="triangle"/>
          </a:ln>
        </p:spPr>
      </p:sp>
      <p:sp>
        <p:nvSpPr>
          <p:cNvPr id="22" name="Shape 20"/>
          <p:cNvSpPr/>
          <p:nvPr/>
        </p:nvSpPr>
        <p:spPr>
          <a:xfrm>
            <a:off x="685800" y="4206240"/>
            <a:ext cx="2715768" cy="91"/>
          </a:xfrm>
          <a:prstGeom prst="line">
            <a:avLst/>
          </a:prstGeom>
          <a:noFill/>
          <a:ln w="22225">
            <a:solidFill>
              <a:srgbClr val="C8414C"/>
            </a:solidFill>
            <a:prstDash val="solid"/>
            <a:tailEnd type="triangle"/>
          </a:ln>
        </p:spPr>
      </p:sp>
      <p:sp>
        <p:nvSpPr>
          <p:cNvPr id="23" name="Shape 21"/>
          <p:cNvSpPr/>
          <p:nvPr/>
        </p:nvSpPr>
        <p:spPr>
          <a:xfrm>
            <a:off x="3401568" y="4206240"/>
            <a:ext cx="91" cy="91"/>
          </a:xfrm>
          <a:prstGeom prst="line">
            <a:avLst/>
          </a:prstGeom>
          <a:noFill/>
          <a:ln w="22225">
            <a:solidFill>
              <a:srgbClr val="8E2A33"/>
            </a:solidFill>
            <a:prstDash val="solid"/>
          </a:ln>
        </p:spPr>
      </p:sp>
      <p:sp>
        <p:nvSpPr>
          <p:cNvPr id="24" name="Shape 22"/>
          <p:cNvSpPr/>
          <p:nvPr/>
        </p:nvSpPr>
        <p:spPr>
          <a:xfrm flipH="1">
            <a:off x="685800" y="4206240"/>
            <a:ext cx="2715768" cy="201168"/>
          </a:xfrm>
          <a:prstGeom prst="line">
            <a:avLst/>
          </a:prstGeom>
          <a:noFill/>
          <a:ln w="22225">
            <a:solidFill>
              <a:srgbClr val="8E2A33"/>
            </a:solidFill>
            <a:prstDash val="solid"/>
            <a:tailEnd type="triangle"/>
          </a:ln>
        </p:spPr>
      </p:sp>
      <p:sp>
        <p:nvSpPr>
          <p:cNvPr id="25" name="Shape 23"/>
          <p:cNvSpPr/>
          <p:nvPr/>
        </p:nvSpPr>
        <p:spPr>
          <a:xfrm>
            <a:off x="3474720" y="1965960"/>
            <a:ext cx="182880" cy="182880"/>
          </a:xfrm>
          <a:prstGeom prst="ellipse">
            <a:avLst/>
          </a:prstGeom>
          <a:solidFill>
            <a:srgbClr val="B8730A"/>
          </a:solidFill>
          <a:ln w="9525">
            <a:solidFill>
              <a:srgbClr val="8A5A08"/>
            </a:solidFill>
            <a:prstDash val="solid"/>
          </a:ln>
        </p:spPr>
      </p:sp>
      <p:sp>
        <p:nvSpPr>
          <p:cNvPr id="26" name="Text 24"/>
          <p:cNvSpPr/>
          <p:nvPr/>
        </p:nvSpPr>
        <p:spPr>
          <a:xfrm>
            <a:off x="3474720" y="1956816"/>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3474720" y="3063240"/>
            <a:ext cx="182880" cy="182880"/>
          </a:xfrm>
          <a:prstGeom prst="ellipse">
            <a:avLst/>
          </a:prstGeom>
          <a:solidFill>
            <a:srgbClr val="B8730A"/>
          </a:solidFill>
          <a:ln w="9525">
            <a:solidFill>
              <a:srgbClr val="8A5A08"/>
            </a:solidFill>
            <a:prstDash val="solid"/>
          </a:ln>
        </p:spPr>
      </p:sp>
      <p:sp>
        <p:nvSpPr>
          <p:cNvPr id="28" name="Text 26"/>
          <p:cNvSpPr/>
          <p:nvPr/>
        </p:nvSpPr>
        <p:spPr>
          <a:xfrm>
            <a:off x="3474720" y="3054096"/>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3474720" y="4160520"/>
            <a:ext cx="182880" cy="182880"/>
          </a:xfrm>
          <a:prstGeom prst="ellipse">
            <a:avLst/>
          </a:prstGeom>
          <a:solidFill>
            <a:srgbClr val="B8730A"/>
          </a:solidFill>
          <a:ln w="9525">
            <a:solidFill>
              <a:srgbClr val="8A5A08"/>
            </a:solidFill>
            <a:prstDash val="solid"/>
          </a:ln>
        </p:spPr>
      </p:sp>
      <p:sp>
        <p:nvSpPr>
          <p:cNvPr id="30" name="Text 28"/>
          <p:cNvSpPr/>
          <p:nvPr/>
        </p:nvSpPr>
        <p:spPr>
          <a:xfrm>
            <a:off x="3474720" y="4151376"/>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40080" y="1325880"/>
            <a:ext cx="21945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beam of alpha particles (+) →</a:t>
            </a:r>
            <a:endParaRPr lang="en-US" sz="1050" dirty="0"/>
          </a:p>
        </p:txBody>
      </p:sp>
      <p:sp>
        <p:nvSpPr>
          <p:cNvPr id="32" name="Text 30"/>
          <p:cNvSpPr/>
          <p:nvPr/>
        </p:nvSpPr>
        <p:spPr>
          <a:xfrm>
            <a:off x="4023360" y="4681728"/>
            <a:ext cx="173736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most go straight through</a:t>
            </a:r>
            <a:endParaRPr lang="en-US" sz="1050" dirty="0"/>
          </a:p>
        </p:txBody>
      </p:sp>
      <p:sp>
        <p:nvSpPr>
          <p:cNvPr id="33" name="Text 31"/>
          <p:cNvSpPr/>
          <p:nvPr/>
        </p:nvSpPr>
        <p:spPr>
          <a:xfrm>
            <a:off x="640080" y="4507992"/>
            <a:ext cx="2377440" cy="256032"/>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a very few bounce back</a:t>
            </a:r>
            <a:endParaRPr lang="en-US" sz="1050" dirty="0"/>
          </a:p>
        </p:txBody>
      </p:sp>
      <p:sp>
        <p:nvSpPr>
          <p:cNvPr id="34" name="Text 32"/>
          <p:cNvSpPr/>
          <p:nvPr/>
        </p:nvSpPr>
        <p:spPr>
          <a:xfrm>
            <a:off x="4206240" y="1874520"/>
            <a:ext cx="16459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some are deflected</a:t>
            </a:r>
            <a:endParaRPr lang="en-US" sz="1050" dirty="0"/>
          </a:p>
        </p:txBody>
      </p:sp>
      <p:sp>
        <p:nvSpPr>
          <p:cNvPr id="35" name="Shape 33"/>
          <p:cNvSpPr/>
          <p:nvPr/>
        </p:nvSpPr>
        <p:spPr>
          <a:xfrm>
            <a:off x="6217920" y="1188720"/>
            <a:ext cx="5562295" cy="2240280"/>
          </a:xfrm>
          <a:prstGeom prst="roundRect">
            <a:avLst>
              <a:gd name="adj" fmla="val 2449"/>
            </a:avLst>
          </a:prstGeom>
          <a:solidFill>
            <a:srgbClr val="F5F8FE"/>
          </a:solidFill>
          <a:ln w="9525">
            <a:solidFill>
              <a:srgbClr val="D5DCEB"/>
            </a:solidFill>
            <a:prstDash val="solid"/>
          </a:ln>
        </p:spPr>
      </p:sp>
      <p:sp>
        <p:nvSpPr>
          <p:cNvPr id="36" name="Text 3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From observations to the nuclear model</a:t>
            </a:r>
            <a:endParaRPr lang="en-US" sz="1300" dirty="0"/>
          </a:p>
        </p:txBody>
      </p:sp>
      <p:sp>
        <p:nvSpPr>
          <p:cNvPr id="37" name="Text 35"/>
          <p:cNvSpPr/>
          <p:nvPr/>
        </p:nvSpPr>
        <p:spPr>
          <a:xfrm>
            <a:off x="6382512" y="1609344"/>
            <a:ext cx="5233111" cy="17465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Plum pudding model</a:t>
            </a:r>
            <a:r>
              <a:rPr lang="en-US" sz="1150" dirty="0">
                <a:solidFill>
                  <a:srgbClr val="262B3A"/>
                </a:solidFill>
                <a:latin typeface="Calibri" pitchFamily="34" charset="0"/>
                <a:ea typeface="Calibri" pitchFamily="34" charset="-122"/>
                <a:cs typeface="Calibri" pitchFamily="34" charset="-120"/>
              </a:rPr>
              <a:t> (C2.1): a ball of positive charge with electrons spread through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Positive alpha particles were fired at very thin </a:t>
            </a:r>
            <a:r>
              <a:rPr lang="en-US" sz="1150" b="1" dirty="0">
                <a:solidFill>
                  <a:srgbClr val="262B3A"/>
                </a:solidFill>
                <a:latin typeface="Calibri" pitchFamily="34" charset="0"/>
                <a:ea typeface="Calibri" pitchFamily="34" charset="-122"/>
                <a:cs typeface="Calibri" pitchFamily="34" charset="-120"/>
              </a:rPr>
              <a:t>gold foil</a:t>
            </a:r>
            <a:r>
              <a:rPr lang="en-US" sz="1150" dirty="0">
                <a:solidFill>
                  <a:srgbClr val="262B3A"/>
                </a:solidFill>
                <a:latin typeface="Calibri" pitchFamily="34" charset="0"/>
                <a:ea typeface="Calibri" pitchFamily="34" charset="-122"/>
                <a:cs typeface="Calibri" pitchFamily="34" charset="-120"/>
              </a:rPr>
              <a:t> (Geiger and Marsden, explained by Rutherford).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results could not be explained by the plum pudding model, so a </a:t>
            </a:r>
            <a:r>
              <a:rPr lang="en-US" sz="1150" b="1" dirty="0">
                <a:solidFill>
                  <a:srgbClr val="262B3A"/>
                </a:solidFill>
                <a:latin typeface="Calibri" pitchFamily="34" charset="0"/>
                <a:ea typeface="Calibri" pitchFamily="34" charset="-122"/>
                <a:cs typeface="Calibri" pitchFamily="34" charset="-120"/>
              </a:rPr>
              <a:t>new model</a:t>
            </a:r>
            <a:r>
              <a:rPr lang="en-US" sz="1150" dirty="0">
                <a:solidFill>
                  <a:srgbClr val="262B3A"/>
                </a:solidFill>
                <a:latin typeface="Calibri" pitchFamily="34" charset="0"/>
                <a:ea typeface="Calibri" pitchFamily="34" charset="-122"/>
                <a:cs typeface="Calibri" pitchFamily="34" charset="-120"/>
              </a:rPr>
              <a:t> was needed: the nuclear model.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New evidence → the model changes. This is how scientific models develop.</a:t>
            </a:r>
            <a:endParaRPr lang="en-US" sz="1150" dirty="0"/>
          </a:p>
        </p:txBody>
      </p:sp>
      <p:sp>
        <p:nvSpPr>
          <p:cNvPr id="38" name="Shape 36"/>
          <p:cNvSpPr/>
          <p:nvPr/>
        </p:nvSpPr>
        <p:spPr>
          <a:xfrm>
            <a:off x="6217920" y="3566160"/>
            <a:ext cx="5562295" cy="2148840"/>
          </a:xfrm>
          <a:prstGeom prst="roundRect">
            <a:avLst>
              <a:gd name="adj" fmla="val 2553"/>
            </a:avLst>
          </a:prstGeom>
          <a:solidFill>
            <a:srgbClr val="FFF4E0"/>
          </a:solidFill>
          <a:ln w="9525">
            <a:solidFill>
              <a:srgbClr val="F1D9A8"/>
            </a:solidFill>
            <a:prstDash val="solid"/>
          </a:ln>
        </p:spPr>
      </p:sp>
      <p:sp>
        <p:nvSpPr>
          <p:cNvPr id="39" name="Text 37"/>
          <p:cNvSpPr/>
          <p:nvPr/>
        </p:nvSpPr>
        <p:spPr>
          <a:xfrm>
            <a:off x="6382512" y="36393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Observation → conclusion</a:t>
            </a:r>
            <a:endParaRPr lang="en-US" sz="1300" dirty="0"/>
          </a:p>
        </p:txBody>
      </p:sp>
      <p:sp>
        <p:nvSpPr>
          <p:cNvPr id="40" name="Text 38"/>
          <p:cNvSpPr/>
          <p:nvPr/>
        </p:nvSpPr>
        <p:spPr>
          <a:xfrm>
            <a:off x="6382512" y="3950208"/>
            <a:ext cx="5233111" cy="169164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Most pass straight through   </a:t>
            </a:r>
            <a:r>
              <a:rPr lang="en-US" sz="1050" dirty="0">
                <a:solidFill>
                  <a:srgbClr val="262B3A"/>
                </a:solidFill>
                <a:latin typeface="Calibri" pitchFamily="34" charset="0"/>
                <a:ea typeface="Calibri" pitchFamily="34" charset="-122"/>
                <a:cs typeface="Calibri" pitchFamily="34" charset="-120"/>
              </a:rPr>
              <a:t>most of the atom is </a:t>
            </a:r>
            <a:r>
              <a:rPr lang="en-US" sz="1050" b="1" dirty="0">
                <a:solidFill>
                  <a:srgbClr val="262B3A"/>
                </a:solidFill>
                <a:latin typeface="Calibri" pitchFamily="34" charset="0"/>
                <a:ea typeface="Calibri" pitchFamily="34" charset="-122"/>
                <a:cs typeface="Calibri" pitchFamily="34" charset="-120"/>
              </a:rPr>
              <a:t>empty space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Some are deflected   </a:t>
            </a:r>
            <a:r>
              <a:rPr lang="en-US" sz="1050" dirty="0">
                <a:solidFill>
                  <a:srgbClr val="262B3A"/>
                </a:solidFill>
                <a:latin typeface="Calibri" pitchFamily="34" charset="0"/>
                <a:ea typeface="Calibri" pitchFamily="34" charset="-122"/>
                <a:cs typeface="Calibri" pitchFamily="34" charset="-120"/>
              </a:rPr>
              <a:t>the positive charge is </a:t>
            </a:r>
            <a:r>
              <a:rPr lang="en-US" sz="1050" b="1" dirty="0">
                <a:solidFill>
                  <a:srgbClr val="262B3A"/>
                </a:solidFill>
                <a:latin typeface="Calibri" pitchFamily="34" charset="0"/>
                <a:ea typeface="Calibri" pitchFamily="34" charset="-122"/>
                <a:cs typeface="Calibri" pitchFamily="34" charset="-120"/>
              </a:rPr>
              <a:t>concentrated</a:t>
            </a:r>
            <a:r>
              <a:rPr lang="en-US" sz="1050" dirty="0">
                <a:solidFill>
                  <a:srgbClr val="262B3A"/>
                </a:solidFill>
                <a:latin typeface="Calibri" pitchFamily="34" charset="0"/>
                <a:ea typeface="Calibri" pitchFamily="34" charset="-122"/>
                <a:cs typeface="Calibri" pitchFamily="34" charset="-120"/>
              </a:rPr>
              <a:t> in one small place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 very few bounce back   </a:t>
            </a:r>
            <a:r>
              <a:rPr lang="en-US" sz="1050" dirty="0">
                <a:solidFill>
                  <a:srgbClr val="262B3A"/>
                </a:solidFill>
                <a:latin typeface="Calibri" pitchFamily="34" charset="0"/>
                <a:ea typeface="Calibri" pitchFamily="34" charset="-122"/>
                <a:cs typeface="Calibri" pitchFamily="34" charset="-120"/>
              </a:rPr>
              <a:t>the nucleus is </a:t>
            </a:r>
            <a:r>
              <a:rPr lang="en-US" sz="1050" b="1" dirty="0">
                <a:solidFill>
                  <a:srgbClr val="262B3A"/>
                </a:solidFill>
                <a:latin typeface="Calibri" pitchFamily="34" charset="0"/>
                <a:ea typeface="Calibri" pitchFamily="34" charset="-122"/>
                <a:cs typeface="Calibri" pitchFamily="34" charset="-120"/>
              </a:rPr>
              <a:t>tiny, dense and positive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almost all the mass and all the positive charge are in the nucleus</a:t>
            </a:r>
            <a:endParaRPr lang="en-US" sz="1050" dirty="0"/>
          </a:p>
        </p:txBody>
      </p:sp>
      <p:sp>
        <p:nvSpPr>
          <p:cNvPr id="41" name="Shape 39"/>
          <p:cNvSpPr/>
          <p:nvPr/>
        </p:nvSpPr>
        <p:spPr>
          <a:xfrm>
            <a:off x="411480" y="5833872"/>
            <a:ext cx="11368735" cy="530352"/>
          </a:xfrm>
          <a:prstGeom prst="rect">
            <a:avLst/>
          </a:prstGeom>
          <a:solidFill>
            <a:srgbClr val="FFF4E0"/>
          </a:solidFill>
          <a:ln w="6350">
            <a:solidFill>
              <a:srgbClr val="F1D9A8"/>
            </a:solidFill>
            <a:prstDash val="solid"/>
          </a:ln>
        </p:spPr>
      </p:sp>
      <p:sp>
        <p:nvSpPr>
          <p:cNvPr id="42" name="Shape 40"/>
          <p:cNvSpPr/>
          <p:nvPr/>
        </p:nvSpPr>
        <p:spPr>
          <a:xfrm>
            <a:off x="411480" y="5833872"/>
            <a:ext cx="82296" cy="530352"/>
          </a:xfrm>
          <a:prstGeom prst="rect">
            <a:avLst/>
          </a:prstGeom>
          <a:solidFill>
            <a:srgbClr val="E39A2F"/>
          </a:solidFill>
          <a:ln w="12700">
            <a:solidFill>
              <a:srgbClr val="E39A2F"/>
            </a:solidFill>
            <a:prstDash val="solid"/>
          </a:ln>
        </p:spPr>
      </p:sp>
      <p:sp>
        <p:nvSpPr>
          <p:cNvPr id="43" name="Text 4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were alpha particles that passed close to a gold nucleus pushed away from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P5.1.1–P5.1.2 • the nuclear model and the size of atoms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a:t>
            </a:r>
            <a:r>
              <a:rPr lang="en-US" sz="1250" b="1" dirty="0">
                <a:solidFill>
                  <a:srgbClr val="262B3A"/>
                </a:solidFill>
                <a:latin typeface="Calibri" pitchFamily="34" charset="0"/>
                <a:ea typeface="Calibri" pitchFamily="34" charset="-122"/>
                <a:cs typeface="Calibri" pitchFamily="34" charset="-120"/>
              </a:rPr>
              <a:t>nuclear model</a:t>
            </a:r>
            <a:r>
              <a:rPr lang="en-US" sz="1250" dirty="0">
                <a:solidFill>
                  <a:srgbClr val="262B3A"/>
                </a:solidFill>
                <a:latin typeface="Calibri" pitchFamily="34" charset="0"/>
                <a:ea typeface="Calibri" pitchFamily="34" charset="-122"/>
                <a:cs typeface="Calibri" pitchFamily="34" charset="-120"/>
              </a:rPr>
              <a:t> of the atom. Include where the mass and the charges are found.</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of these is the typical radius of an atom?     1 × 10</a:t>
            </a:r>
            <a:r>
              <a:rPr lang="en-US" sz="1250" baseline="30000" dirty="0">
                <a:solidFill>
                  <a:srgbClr val="262B3A"/>
                </a:solidFill>
                <a:latin typeface="Calibri" pitchFamily="34" charset="0"/>
                <a:ea typeface="Calibri" pitchFamily="34" charset="-122"/>
                <a:cs typeface="Calibri" pitchFamily="34" charset="-120"/>
              </a:rPr>
              <a:t>−4</a:t>
            </a:r>
            <a:r>
              <a:rPr lang="en-US" sz="1250" dirty="0">
                <a:solidFill>
                  <a:srgbClr val="262B3A"/>
                </a:solidFill>
                <a:latin typeface="Calibri" pitchFamily="34" charset="0"/>
                <a:ea typeface="Calibri" pitchFamily="34" charset="-122"/>
                <a:cs typeface="Calibri" pitchFamily="34" charset="-120"/>
              </a:rPr>
              <a:t> m     1 × 10</a:t>
            </a:r>
            <a:r>
              <a:rPr lang="en-US" sz="1250" baseline="30000" dirty="0">
                <a:solidFill>
                  <a:srgbClr val="262B3A"/>
                </a:solidFill>
                <a:latin typeface="Calibri" pitchFamily="34" charset="0"/>
                <a:ea typeface="Calibri" pitchFamily="34" charset="-122"/>
                <a:cs typeface="Calibri" pitchFamily="34" charset="-120"/>
              </a:rPr>
              <a:t>−10</a:t>
            </a:r>
            <a:r>
              <a:rPr lang="en-US" sz="1250" dirty="0">
                <a:solidFill>
                  <a:srgbClr val="262B3A"/>
                </a:solidFill>
                <a:latin typeface="Calibri" pitchFamily="34" charset="0"/>
                <a:ea typeface="Calibri" pitchFamily="34" charset="-122"/>
                <a:cs typeface="Calibri" pitchFamily="34" charset="-120"/>
              </a:rPr>
              <a:t> m     1 × 10</a:t>
            </a:r>
            <a:r>
              <a:rPr lang="en-US" sz="1250" baseline="30000" dirty="0">
                <a:solidFill>
                  <a:srgbClr val="262B3A"/>
                </a:solidFill>
                <a:latin typeface="Calibri" pitchFamily="34" charset="0"/>
                <a:ea typeface="Calibri" pitchFamily="34" charset="-122"/>
                <a:cs typeface="Calibri" pitchFamily="34" charset="-120"/>
              </a:rPr>
              <a:t>−14</a:t>
            </a:r>
            <a:r>
              <a:rPr lang="en-US" sz="1250" dirty="0">
                <a:solidFill>
                  <a:srgbClr val="262B3A"/>
                </a:solidFill>
                <a:latin typeface="Calibri" pitchFamily="34" charset="0"/>
                <a:ea typeface="Calibri" pitchFamily="34" charset="-122"/>
                <a:cs typeface="Calibri" pitchFamily="34" charset="-120"/>
              </a:rPr>
              <a:t> m     1 × 10</a:t>
            </a:r>
            <a:r>
              <a:rPr lang="en-US" sz="1250" baseline="30000" dirty="0">
                <a:solidFill>
                  <a:srgbClr val="262B3A"/>
                </a:solidFill>
                <a:latin typeface="Calibri" pitchFamily="34" charset="0"/>
                <a:ea typeface="Calibri" pitchFamily="34" charset="-122"/>
                <a:cs typeface="Calibri" pitchFamily="34" charset="-120"/>
              </a:rPr>
              <a:t>−20</a:t>
            </a:r>
            <a:r>
              <a:rPr lang="en-US" sz="1250" dirty="0">
                <a:solidFill>
                  <a:srgbClr val="262B3A"/>
                </a:solidFill>
                <a:latin typeface="Calibri" pitchFamily="34" charset="0"/>
                <a:ea typeface="Calibri" pitchFamily="34" charset="-122"/>
                <a:cs typeface="Calibri" pitchFamily="34" charset="-120"/>
              </a:rPr>
              <a:t> m</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alpha scattering experiment most alpha particles passed straight through the gold foil, but a very few bounced back. Explain what each observation shows about atoms.</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Protons, neutrons and isotopes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P5.1.3 • what nuclei are made of, and why atoms of one element can differ in mass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P5.1.3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carbon-12 and carbon-14: same protons, different neutrons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5120640" cy="914400"/>
        </p:xfrm>
        <a:graphic>
          <a:graphicData uri="http://schemas.openxmlformats.org/drawingml/2006/table">
            <a:tbl>
              <a:tblPr/>
              <a:tblGrid>
                <a:gridCol w="1005840"/>
                <a:gridCol w="1234440"/>
                <a:gridCol w="1234440"/>
                <a:gridCol w="164592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Particle</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Relative charge</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Relative mass</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92608">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proton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nucleus</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92608">
                <a:tc>
                  <a:txBody>
                    <a:bodyPr/>
                    <a:lstStyle/>
                    <a:p>
                      <a:pPr algn="ctr" indent="0" marL="0">
                        <a:buNone/>
                      </a:pPr>
                      <a:r>
                        <a:rPr lang="en-US" sz="1100" b="1" dirty="0">
                          <a:solidFill>
                            <a:srgbClr val="5A6275"/>
                          </a:solidFill>
                          <a:latin typeface="Calibri" pitchFamily="34" charset="0"/>
                          <a:ea typeface="Calibri" pitchFamily="34" charset="-122"/>
                          <a:cs typeface="Calibri" pitchFamily="34" charset="-120"/>
                        </a:rPr>
                        <a:t>neutron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nucleus</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electron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outside nucleus</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very small (≈ 1/1840)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11" name="Shape 8"/>
          <p:cNvSpPr/>
          <p:nvPr/>
        </p:nvSpPr>
        <p:spPr>
          <a:xfrm>
            <a:off x="1829471" y="3288633"/>
            <a:ext cx="201168" cy="201168"/>
          </a:xfrm>
          <a:prstGeom prst="ellipse">
            <a:avLst/>
          </a:prstGeom>
          <a:solidFill>
            <a:srgbClr val="C8414C"/>
          </a:solidFill>
          <a:ln w="6350">
            <a:solidFill>
              <a:srgbClr val="8E2A33"/>
            </a:solidFill>
            <a:prstDash val="solid"/>
          </a:ln>
        </p:spPr>
      </p:sp>
      <p:sp>
        <p:nvSpPr>
          <p:cNvPr id="12" name="Shape 9"/>
          <p:cNvSpPr/>
          <p:nvPr/>
        </p:nvSpPr>
        <p:spPr>
          <a:xfrm>
            <a:off x="1547403" y="3342637"/>
            <a:ext cx="201168" cy="201168"/>
          </a:xfrm>
          <a:prstGeom prst="ellipse">
            <a:avLst/>
          </a:prstGeom>
          <a:solidFill>
            <a:srgbClr val="8C96A8"/>
          </a:solidFill>
          <a:ln w="6350">
            <a:solidFill>
              <a:srgbClr val="5A6275"/>
            </a:solidFill>
            <a:prstDash val="solid"/>
          </a:ln>
        </p:spPr>
      </p:sp>
      <p:sp>
        <p:nvSpPr>
          <p:cNvPr id="13" name="Shape 10"/>
          <p:cNvSpPr/>
          <p:nvPr/>
        </p:nvSpPr>
        <p:spPr>
          <a:xfrm>
            <a:off x="1697289" y="3434168"/>
            <a:ext cx="201168" cy="201168"/>
          </a:xfrm>
          <a:prstGeom prst="ellipse">
            <a:avLst/>
          </a:prstGeom>
          <a:solidFill>
            <a:srgbClr val="C8414C"/>
          </a:solidFill>
          <a:ln w="6350">
            <a:solidFill>
              <a:srgbClr val="8E2A33"/>
            </a:solidFill>
            <a:prstDash val="solid"/>
          </a:ln>
        </p:spPr>
      </p:sp>
      <p:sp>
        <p:nvSpPr>
          <p:cNvPr id="14" name="Shape 11"/>
          <p:cNvSpPr/>
          <p:nvPr/>
        </p:nvSpPr>
        <p:spPr>
          <a:xfrm>
            <a:off x="1894266" y="3468021"/>
            <a:ext cx="201168" cy="201168"/>
          </a:xfrm>
          <a:prstGeom prst="ellipse">
            <a:avLst/>
          </a:prstGeom>
          <a:solidFill>
            <a:srgbClr val="8C96A8"/>
          </a:solidFill>
          <a:ln w="6350">
            <a:solidFill>
              <a:srgbClr val="5A6275"/>
            </a:solidFill>
            <a:prstDash val="solid"/>
          </a:ln>
        </p:spPr>
      </p:sp>
      <p:sp>
        <p:nvSpPr>
          <p:cNvPr id="15" name="Shape 12"/>
          <p:cNvSpPr/>
          <p:nvPr/>
        </p:nvSpPr>
        <p:spPr>
          <a:xfrm>
            <a:off x="1458939" y="3563195"/>
            <a:ext cx="201168" cy="201168"/>
          </a:xfrm>
          <a:prstGeom prst="ellipse">
            <a:avLst/>
          </a:prstGeom>
          <a:solidFill>
            <a:srgbClr val="C8414C"/>
          </a:solidFill>
          <a:ln w="6350">
            <a:solidFill>
              <a:srgbClr val="8E2A33"/>
            </a:solidFill>
            <a:prstDash val="solid"/>
          </a:ln>
        </p:spPr>
      </p:sp>
      <p:sp>
        <p:nvSpPr>
          <p:cNvPr id="16" name="Shape 13"/>
          <p:cNvSpPr/>
          <p:nvPr/>
        </p:nvSpPr>
        <p:spPr>
          <a:xfrm>
            <a:off x="1758172" y="3602736"/>
            <a:ext cx="201168" cy="201168"/>
          </a:xfrm>
          <a:prstGeom prst="ellipse">
            <a:avLst/>
          </a:prstGeom>
          <a:solidFill>
            <a:srgbClr val="C8414C"/>
          </a:solidFill>
          <a:ln w="6350">
            <a:solidFill>
              <a:srgbClr val="8E2A33"/>
            </a:solidFill>
            <a:prstDash val="solid"/>
          </a:ln>
        </p:spPr>
      </p:sp>
      <p:sp>
        <p:nvSpPr>
          <p:cNvPr id="17" name="Shape 14"/>
          <p:cNvSpPr/>
          <p:nvPr/>
        </p:nvSpPr>
        <p:spPr>
          <a:xfrm>
            <a:off x="1585846" y="3691275"/>
            <a:ext cx="201168" cy="201168"/>
          </a:xfrm>
          <a:prstGeom prst="ellipse">
            <a:avLst/>
          </a:prstGeom>
          <a:solidFill>
            <a:srgbClr val="8C96A8"/>
          </a:solidFill>
          <a:ln w="6350">
            <a:solidFill>
              <a:srgbClr val="5A6275"/>
            </a:solidFill>
            <a:prstDash val="solid"/>
          </a:ln>
        </p:spPr>
      </p:sp>
      <p:sp>
        <p:nvSpPr>
          <p:cNvPr id="18" name="Shape 15"/>
          <p:cNvSpPr/>
          <p:nvPr/>
        </p:nvSpPr>
        <p:spPr>
          <a:xfrm>
            <a:off x="1975584" y="3709763"/>
            <a:ext cx="201168" cy="201168"/>
          </a:xfrm>
          <a:prstGeom prst="ellipse">
            <a:avLst/>
          </a:prstGeom>
          <a:solidFill>
            <a:srgbClr val="C8414C"/>
          </a:solidFill>
          <a:ln w="6350">
            <a:solidFill>
              <a:srgbClr val="8E2A33"/>
            </a:solidFill>
            <a:prstDash val="solid"/>
          </a:ln>
        </p:spPr>
      </p:sp>
      <p:sp>
        <p:nvSpPr>
          <p:cNvPr id="19" name="Shape 16"/>
          <p:cNvSpPr/>
          <p:nvPr/>
        </p:nvSpPr>
        <p:spPr>
          <a:xfrm>
            <a:off x="1377593" y="3728606"/>
            <a:ext cx="201168" cy="201168"/>
          </a:xfrm>
          <a:prstGeom prst="ellipse">
            <a:avLst/>
          </a:prstGeom>
          <a:solidFill>
            <a:srgbClr val="8C96A8"/>
          </a:solidFill>
          <a:ln w="6350">
            <a:solidFill>
              <a:srgbClr val="5A6275"/>
            </a:solidFill>
            <a:prstDash val="solid"/>
          </a:ln>
        </p:spPr>
      </p:sp>
      <p:sp>
        <p:nvSpPr>
          <p:cNvPr id="20" name="Shape 17"/>
          <p:cNvSpPr/>
          <p:nvPr/>
        </p:nvSpPr>
        <p:spPr>
          <a:xfrm>
            <a:off x="1804318" y="3761628"/>
            <a:ext cx="201168" cy="201168"/>
          </a:xfrm>
          <a:prstGeom prst="ellipse">
            <a:avLst/>
          </a:prstGeom>
          <a:solidFill>
            <a:srgbClr val="8C96A8"/>
          </a:solidFill>
          <a:ln w="6350">
            <a:solidFill>
              <a:srgbClr val="5A6275"/>
            </a:solidFill>
            <a:prstDash val="solid"/>
          </a:ln>
        </p:spPr>
      </p:sp>
      <p:sp>
        <p:nvSpPr>
          <p:cNvPr id="21" name="Shape 18"/>
          <p:cNvSpPr/>
          <p:nvPr/>
        </p:nvSpPr>
        <p:spPr>
          <a:xfrm>
            <a:off x="1611668" y="3866235"/>
            <a:ext cx="201168" cy="201168"/>
          </a:xfrm>
          <a:prstGeom prst="ellipse">
            <a:avLst/>
          </a:prstGeom>
          <a:solidFill>
            <a:srgbClr val="C8414C"/>
          </a:solidFill>
          <a:ln w="6350">
            <a:solidFill>
              <a:srgbClr val="8E2A33"/>
            </a:solidFill>
            <a:prstDash val="solid"/>
          </a:ln>
        </p:spPr>
      </p:sp>
      <p:sp>
        <p:nvSpPr>
          <p:cNvPr id="22" name="Shape 19"/>
          <p:cNvSpPr/>
          <p:nvPr/>
        </p:nvSpPr>
        <p:spPr>
          <a:xfrm>
            <a:off x="1791127" y="3949024"/>
            <a:ext cx="201168" cy="201168"/>
          </a:xfrm>
          <a:prstGeom prst="ellipse">
            <a:avLst/>
          </a:prstGeom>
          <a:solidFill>
            <a:srgbClr val="8C96A8"/>
          </a:solidFill>
          <a:ln w="6350">
            <a:solidFill>
              <a:srgbClr val="5A6275"/>
            </a:solidFill>
            <a:prstDash val="solid"/>
          </a:ln>
        </p:spPr>
      </p:sp>
      <p:sp>
        <p:nvSpPr>
          <p:cNvPr id="23" name="Shape 20"/>
          <p:cNvSpPr/>
          <p:nvPr/>
        </p:nvSpPr>
        <p:spPr>
          <a:xfrm>
            <a:off x="4389791" y="3288633"/>
            <a:ext cx="201168" cy="201168"/>
          </a:xfrm>
          <a:prstGeom prst="ellipse">
            <a:avLst/>
          </a:prstGeom>
          <a:solidFill>
            <a:srgbClr val="C8414C"/>
          </a:solidFill>
          <a:ln w="6350">
            <a:solidFill>
              <a:srgbClr val="8E2A33"/>
            </a:solidFill>
            <a:prstDash val="solid"/>
          </a:ln>
        </p:spPr>
      </p:sp>
      <p:sp>
        <p:nvSpPr>
          <p:cNvPr id="24" name="Shape 21"/>
          <p:cNvSpPr/>
          <p:nvPr/>
        </p:nvSpPr>
        <p:spPr>
          <a:xfrm>
            <a:off x="4107723" y="3342637"/>
            <a:ext cx="201168" cy="201168"/>
          </a:xfrm>
          <a:prstGeom prst="ellipse">
            <a:avLst/>
          </a:prstGeom>
          <a:solidFill>
            <a:srgbClr val="8C96A8"/>
          </a:solidFill>
          <a:ln w="6350">
            <a:solidFill>
              <a:srgbClr val="5A6275"/>
            </a:solidFill>
            <a:prstDash val="solid"/>
          </a:ln>
        </p:spPr>
      </p:sp>
      <p:sp>
        <p:nvSpPr>
          <p:cNvPr id="25" name="Shape 22"/>
          <p:cNvSpPr/>
          <p:nvPr/>
        </p:nvSpPr>
        <p:spPr>
          <a:xfrm>
            <a:off x="3915432" y="3413027"/>
            <a:ext cx="201168" cy="201168"/>
          </a:xfrm>
          <a:prstGeom prst="ellipse">
            <a:avLst/>
          </a:prstGeom>
          <a:solidFill>
            <a:srgbClr val="C8414C"/>
          </a:solidFill>
          <a:ln w="6350">
            <a:solidFill>
              <a:srgbClr val="8E2A33"/>
            </a:solidFill>
            <a:prstDash val="solid"/>
          </a:ln>
        </p:spPr>
      </p:sp>
      <p:sp>
        <p:nvSpPr>
          <p:cNvPr id="26" name="Shape 23"/>
          <p:cNvSpPr/>
          <p:nvPr/>
        </p:nvSpPr>
        <p:spPr>
          <a:xfrm>
            <a:off x="4257609" y="3434168"/>
            <a:ext cx="201168" cy="201168"/>
          </a:xfrm>
          <a:prstGeom prst="ellipse">
            <a:avLst/>
          </a:prstGeom>
          <a:solidFill>
            <a:srgbClr val="8C96A8"/>
          </a:solidFill>
          <a:ln w="6350">
            <a:solidFill>
              <a:srgbClr val="5A6275"/>
            </a:solidFill>
            <a:prstDash val="solid"/>
          </a:ln>
        </p:spPr>
      </p:sp>
      <p:sp>
        <p:nvSpPr>
          <p:cNvPr id="27" name="Shape 24"/>
          <p:cNvSpPr/>
          <p:nvPr/>
        </p:nvSpPr>
        <p:spPr>
          <a:xfrm>
            <a:off x="4454586" y="3468021"/>
            <a:ext cx="201168" cy="201168"/>
          </a:xfrm>
          <a:prstGeom prst="ellipse">
            <a:avLst/>
          </a:prstGeom>
          <a:solidFill>
            <a:srgbClr val="C8414C"/>
          </a:solidFill>
          <a:ln w="6350">
            <a:solidFill>
              <a:srgbClr val="8E2A33"/>
            </a:solidFill>
            <a:prstDash val="solid"/>
          </a:ln>
        </p:spPr>
      </p:sp>
      <p:sp>
        <p:nvSpPr>
          <p:cNvPr id="28" name="Shape 25"/>
          <p:cNvSpPr/>
          <p:nvPr/>
        </p:nvSpPr>
        <p:spPr>
          <a:xfrm>
            <a:off x="4626863" y="3518288"/>
            <a:ext cx="201168" cy="201168"/>
          </a:xfrm>
          <a:prstGeom prst="ellipse">
            <a:avLst/>
          </a:prstGeom>
          <a:solidFill>
            <a:srgbClr val="8C96A8"/>
          </a:solidFill>
          <a:ln w="6350">
            <a:solidFill>
              <a:srgbClr val="5A6275"/>
            </a:solidFill>
            <a:prstDash val="solid"/>
          </a:ln>
        </p:spPr>
      </p:sp>
      <p:sp>
        <p:nvSpPr>
          <p:cNvPr id="29" name="Shape 26"/>
          <p:cNvSpPr/>
          <p:nvPr/>
        </p:nvSpPr>
        <p:spPr>
          <a:xfrm>
            <a:off x="4019259" y="3563195"/>
            <a:ext cx="201168" cy="201168"/>
          </a:xfrm>
          <a:prstGeom prst="ellipse">
            <a:avLst/>
          </a:prstGeom>
          <a:solidFill>
            <a:srgbClr val="8C96A8"/>
          </a:solidFill>
          <a:ln w="6350">
            <a:solidFill>
              <a:srgbClr val="5A6275"/>
            </a:solidFill>
            <a:prstDash val="solid"/>
          </a:ln>
        </p:spPr>
      </p:sp>
      <p:sp>
        <p:nvSpPr>
          <p:cNvPr id="30" name="Shape 27"/>
          <p:cNvSpPr/>
          <p:nvPr/>
        </p:nvSpPr>
        <p:spPr>
          <a:xfrm>
            <a:off x="4318492" y="3602736"/>
            <a:ext cx="201168" cy="201168"/>
          </a:xfrm>
          <a:prstGeom prst="ellipse">
            <a:avLst/>
          </a:prstGeom>
          <a:solidFill>
            <a:srgbClr val="8C96A8"/>
          </a:solidFill>
          <a:ln w="6350">
            <a:solidFill>
              <a:srgbClr val="5A6275"/>
            </a:solidFill>
            <a:prstDash val="solid"/>
          </a:ln>
        </p:spPr>
      </p:sp>
      <p:sp>
        <p:nvSpPr>
          <p:cNvPr id="31" name="Shape 28"/>
          <p:cNvSpPr/>
          <p:nvPr/>
        </p:nvSpPr>
        <p:spPr>
          <a:xfrm>
            <a:off x="4146166" y="3691275"/>
            <a:ext cx="201168" cy="201168"/>
          </a:xfrm>
          <a:prstGeom prst="ellipse">
            <a:avLst/>
          </a:prstGeom>
          <a:solidFill>
            <a:srgbClr val="C8414C"/>
          </a:solidFill>
          <a:ln w="6350">
            <a:solidFill>
              <a:srgbClr val="8E2A33"/>
            </a:solidFill>
            <a:prstDash val="solid"/>
          </a:ln>
        </p:spPr>
      </p:sp>
      <p:sp>
        <p:nvSpPr>
          <p:cNvPr id="32" name="Shape 29"/>
          <p:cNvSpPr/>
          <p:nvPr/>
        </p:nvSpPr>
        <p:spPr>
          <a:xfrm>
            <a:off x="4535904" y="3709763"/>
            <a:ext cx="201168" cy="201168"/>
          </a:xfrm>
          <a:prstGeom prst="ellipse">
            <a:avLst/>
          </a:prstGeom>
          <a:solidFill>
            <a:srgbClr val="C8414C"/>
          </a:solidFill>
          <a:ln w="6350">
            <a:solidFill>
              <a:srgbClr val="8E2A33"/>
            </a:solidFill>
            <a:prstDash val="solid"/>
          </a:ln>
        </p:spPr>
      </p:sp>
      <p:sp>
        <p:nvSpPr>
          <p:cNvPr id="33" name="Shape 30"/>
          <p:cNvSpPr/>
          <p:nvPr/>
        </p:nvSpPr>
        <p:spPr>
          <a:xfrm>
            <a:off x="3937913" y="3728606"/>
            <a:ext cx="201168" cy="201168"/>
          </a:xfrm>
          <a:prstGeom prst="ellipse">
            <a:avLst/>
          </a:prstGeom>
          <a:solidFill>
            <a:srgbClr val="8C96A8"/>
          </a:solidFill>
          <a:ln w="6350">
            <a:solidFill>
              <a:srgbClr val="5A6275"/>
            </a:solidFill>
            <a:prstDash val="solid"/>
          </a:ln>
        </p:spPr>
      </p:sp>
      <p:sp>
        <p:nvSpPr>
          <p:cNvPr id="34" name="Shape 31"/>
          <p:cNvSpPr/>
          <p:nvPr/>
        </p:nvSpPr>
        <p:spPr>
          <a:xfrm>
            <a:off x="4364638" y="3761628"/>
            <a:ext cx="201168" cy="201168"/>
          </a:xfrm>
          <a:prstGeom prst="ellipse">
            <a:avLst/>
          </a:prstGeom>
          <a:solidFill>
            <a:srgbClr val="C8414C"/>
          </a:solidFill>
          <a:ln w="6350">
            <a:solidFill>
              <a:srgbClr val="8E2A33"/>
            </a:solidFill>
            <a:prstDash val="solid"/>
          </a:ln>
        </p:spPr>
      </p:sp>
      <p:sp>
        <p:nvSpPr>
          <p:cNvPr id="35" name="Shape 32"/>
          <p:cNvSpPr/>
          <p:nvPr/>
        </p:nvSpPr>
        <p:spPr>
          <a:xfrm>
            <a:off x="4171988" y="3866235"/>
            <a:ext cx="201168" cy="201168"/>
          </a:xfrm>
          <a:prstGeom prst="ellipse">
            <a:avLst/>
          </a:prstGeom>
          <a:solidFill>
            <a:srgbClr val="8C96A8"/>
          </a:solidFill>
          <a:ln w="6350">
            <a:solidFill>
              <a:srgbClr val="5A6275"/>
            </a:solidFill>
            <a:prstDash val="solid"/>
          </a:ln>
        </p:spPr>
      </p:sp>
      <p:sp>
        <p:nvSpPr>
          <p:cNvPr id="36" name="Shape 33"/>
          <p:cNvSpPr/>
          <p:nvPr/>
        </p:nvSpPr>
        <p:spPr>
          <a:xfrm>
            <a:off x="4351447" y="3949024"/>
            <a:ext cx="201168" cy="201168"/>
          </a:xfrm>
          <a:prstGeom prst="ellipse">
            <a:avLst/>
          </a:prstGeom>
          <a:solidFill>
            <a:srgbClr val="8C96A8"/>
          </a:solidFill>
          <a:ln w="6350">
            <a:solidFill>
              <a:srgbClr val="5A6275"/>
            </a:solidFill>
            <a:prstDash val="solid"/>
          </a:ln>
        </p:spPr>
      </p:sp>
      <p:sp>
        <p:nvSpPr>
          <p:cNvPr id="37" name="Text 34"/>
          <p:cNvSpPr/>
          <p:nvPr/>
        </p:nvSpPr>
        <p:spPr>
          <a:xfrm>
            <a:off x="868680" y="4526280"/>
            <a:ext cx="182880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carbon-12</a:t>
            </a:r>
            <a:endParaRPr lang="en-US" sz="1200" dirty="0"/>
          </a:p>
        </p:txBody>
      </p:sp>
      <p:sp>
        <p:nvSpPr>
          <p:cNvPr id="38" name="Text 35"/>
          <p:cNvSpPr/>
          <p:nvPr/>
        </p:nvSpPr>
        <p:spPr>
          <a:xfrm>
            <a:off x="868680" y="4754880"/>
            <a:ext cx="182880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6 protons, 6 neutrons</a:t>
            </a:r>
            <a:endParaRPr lang="en-US" sz="1050" dirty="0"/>
          </a:p>
        </p:txBody>
      </p:sp>
      <p:sp>
        <p:nvSpPr>
          <p:cNvPr id="39" name="Text 36"/>
          <p:cNvSpPr/>
          <p:nvPr/>
        </p:nvSpPr>
        <p:spPr>
          <a:xfrm>
            <a:off x="3429000" y="4526280"/>
            <a:ext cx="182880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carbon-14</a:t>
            </a:r>
            <a:endParaRPr lang="en-US" sz="1200" dirty="0"/>
          </a:p>
        </p:txBody>
      </p:sp>
      <p:sp>
        <p:nvSpPr>
          <p:cNvPr id="40" name="Text 37"/>
          <p:cNvSpPr/>
          <p:nvPr/>
        </p:nvSpPr>
        <p:spPr>
          <a:xfrm>
            <a:off x="3429000" y="4754880"/>
            <a:ext cx="182880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6 protons, 8 neutrons</a:t>
            </a:r>
            <a:endParaRPr lang="en-US" sz="1050" dirty="0"/>
          </a:p>
        </p:txBody>
      </p:sp>
      <p:sp>
        <p:nvSpPr>
          <p:cNvPr id="41" name="Shape 38"/>
          <p:cNvSpPr/>
          <p:nvPr/>
        </p:nvSpPr>
        <p:spPr>
          <a:xfrm>
            <a:off x="2624328" y="2898648"/>
            <a:ext cx="146304" cy="146304"/>
          </a:xfrm>
          <a:prstGeom prst="ellipse">
            <a:avLst/>
          </a:prstGeom>
          <a:solidFill>
            <a:srgbClr val="C8414C"/>
          </a:solidFill>
          <a:ln w="9525">
            <a:solidFill>
              <a:srgbClr val="8E2A33"/>
            </a:solidFill>
            <a:prstDash val="solid"/>
          </a:ln>
        </p:spPr>
      </p:sp>
      <p:sp>
        <p:nvSpPr>
          <p:cNvPr id="42" name="Text 39"/>
          <p:cNvSpPr/>
          <p:nvPr/>
        </p:nvSpPr>
        <p:spPr>
          <a:xfrm>
            <a:off x="2807208" y="2862072"/>
            <a:ext cx="73152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proton</a:t>
            </a:r>
            <a:endParaRPr lang="en-US" sz="1050" dirty="0"/>
          </a:p>
        </p:txBody>
      </p:sp>
      <p:sp>
        <p:nvSpPr>
          <p:cNvPr id="43" name="Shape 40"/>
          <p:cNvSpPr/>
          <p:nvPr/>
        </p:nvSpPr>
        <p:spPr>
          <a:xfrm>
            <a:off x="2624328" y="3172968"/>
            <a:ext cx="146304" cy="146304"/>
          </a:xfrm>
          <a:prstGeom prst="ellipse">
            <a:avLst/>
          </a:prstGeom>
          <a:solidFill>
            <a:srgbClr val="8C96A8"/>
          </a:solidFill>
          <a:ln w="9525">
            <a:solidFill>
              <a:srgbClr val="5A6275"/>
            </a:solidFill>
            <a:prstDash val="solid"/>
          </a:ln>
        </p:spPr>
      </p:sp>
      <p:sp>
        <p:nvSpPr>
          <p:cNvPr id="44" name="Text 41"/>
          <p:cNvSpPr/>
          <p:nvPr/>
        </p:nvSpPr>
        <p:spPr>
          <a:xfrm>
            <a:off x="2807208" y="3136392"/>
            <a:ext cx="73152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neutron</a:t>
            </a:r>
            <a:endParaRPr lang="en-US" sz="1050" dirty="0"/>
          </a:p>
        </p:txBody>
      </p:sp>
      <p:sp>
        <p:nvSpPr>
          <p:cNvPr id="45" name="Shape 4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6"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Inside the nucleus</a:t>
            </a:r>
            <a:endParaRPr lang="en-US" sz="1300" dirty="0"/>
          </a:p>
        </p:txBody>
      </p:sp>
      <p:sp>
        <p:nvSpPr>
          <p:cNvPr id="47" name="Text 4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Nuclei are made of </a:t>
            </a:r>
            <a:r>
              <a:rPr lang="en-US" sz="1150" b="1" dirty="0">
                <a:solidFill>
                  <a:srgbClr val="262B3A"/>
                </a:solidFill>
                <a:latin typeface="Calibri" pitchFamily="34" charset="0"/>
                <a:ea typeface="Calibri" pitchFamily="34" charset="-122"/>
                <a:cs typeface="Calibri" pitchFamily="34" charset="-120"/>
              </a:rPr>
              <a:t>protons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neutrons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nucleus of an element has the </a:t>
            </a:r>
            <a:r>
              <a:rPr lang="en-US" sz="1150" b="1" dirty="0">
                <a:solidFill>
                  <a:srgbClr val="262B3A"/>
                </a:solidFill>
                <a:latin typeface="Calibri" pitchFamily="34" charset="0"/>
                <a:ea typeface="Calibri" pitchFamily="34" charset="-122"/>
                <a:cs typeface="Calibri" pitchFamily="34" charset="-120"/>
              </a:rPr>
              <a:t>same number of protons</a:t>
            </a:r>
            <a:r>
              <a:rPr lang="en-US" sz="1150" dirty="0">
                <a:solidFill>
                  <a:srgbClr val="262B3A"/>
                </a:solidFill>
                <a:latin typeface="Calibri" pitchFamily="34" charset="0"/>
                <a:ea typeface="Calibri" pitchFamily="34" charset="-122"/>
                <a:cs typeface="Calibri" pitchFamily="34" charset="-120"/>
              </a:rPr>
              <a:t>, so each element has its own </a:t>
            </a:r>
            <a:r>
              <a:rPr lang="en-US" sz="1150" b="1" dirty="0">
                <a:solidFill>
                  <a:srgbClr val="262B3A"/>
                </a:solidFill>
                <a:latin typeface="Calibri" pitchFamily="34" charset="0"/>
                <a:ea typeface="Calibri" pitchFamily="34" charset="-122"/>
                <a:cs typeface="Calibri" pitchFamily="34" charset="-120"/>
              </a:rPr>
              <a:t>characteristic positive charge</a:t>
            </a:r>
            <a:r>
              <a:rPr lang="en-US" sz="1150" dirty="0">
                <a:solidFill>
                  <a:srgbClr val="262B3A"/>
                </a:solidFill>
                <a:latin typeface="Calibri" pitchFamily="34" charset="0"/>
                <a:ea typeface="Calibri" pitchFamily="34" charset="-122"/>
                <a:cs typeface="Calibri" pitchFamily="34" charset="-120"/>
              </a:rPr>
              <a:t> on the nucleus.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Isotopes</a:t>
            </a:r>
            <a:r>
              <a:rPr lang="en-US" sz="1150" dirty="0">
                <a:solidFill>
                  <a:srgbClr val="262B3A"/>
                </a:solidFill>
                <a:latin typeface="Calibri" pitchFamily="34" charset="0"/>
                <a:ea typeface="Calibri" pitchFamily="34" charset="-122"/>
                <a:cs typeface="Calibri" pitchFamily="34" charset="-120"/>
              </a:rPr>
              <a:t> are atoms of the same element with </a:t>
            </a:r>
            <a:r>
              <a:rPr lang="en-US" sz="1150" b="1" dirty="0">
                <a:solidFill>
                  <a:srgbClr val="262B3A"/>
                </a:solidFill>
                <a:latin typeface="Calibri" pitchFamily="34" charset="0"/>
                <a:ea typeface="Calibri" pitchFamily="34" charset="-122"/>
                <a:cs typeface="Calibri" pitchFamily="34" charset="-120"/>
              </a:rPr>
              <a:t>different numbers of neutrons</a:t>
            </a:r>
            <a:r>
              <a:rPr lang="en-US" sz="1150" dirty="0">
                <a:solidFill>
                  <a:srgbClr val="262B3A"/>
                </a:solidFill>
                <a:latin typeface="Calibri" pitchFamily="34" charset="0"/>
                <a:ea typeface="Calibri" pitchFamily="34" charset="-122"/>
                <a:cs typeface="Calibri" pitchFamily="34" charset="-120"/>
              </a:rPr>
              <a:t>, so their nuclei have different </a:t>
            </a:r>
            <a:r>
              <a:rPr lang="en-US" sz="1150" b="1" dirty="0">
                <a:solidFill>
                  <a:srgbClr val="262B3A"/>
                </a:solidFill>
                <a:latin typeface="Calibri" pitchFamily="34" charset="0"/>
                <a:ea typeface="Calibri" pitchFamily="34" charset="-122"/>
                <a:cs typeface="Calibri" pitchFamily="34" charset="-120"/>
              </a:rPr>
              <a:t>masses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Isotopes of an element have the same chemical reactions (same number of electrons).</a:t>
            </a:r>
            <a:endParaRPr lang="en-US" sz="1150" dirty="0"/>
          </a:p>
        </p:txBody>
      </p:sp>
      <p:sp>
        <p:nvSpPr>
          <p:cNvPr id="48" name="Shape 4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9" name="Text 4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0" name="Text 4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Compare the nuclei of carbon-12 and carbon-14.</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Same   </a:t>
            </a:r>
            <a:r>
              <a:rPr lang="en-US" sz="1100" dirty="0">
                <a:solidFill>
                  <a:srgbClr val="262B3A"/>
                </a:solidFill>
                <a:latin typeface="Calibri" pitchFamily="34" charset="0"/>
                <a:ea typeface="Calibri" pitchFamily="34" charset="-122"/>
                <a:cs typeface="Calibri" pitchFamily="34" charset="-120"/>
              </a:rPr>
              <a:t>both have </a:t>
            </a:r>
            <a:r>
              <a:rPr lang="en-US" sz="1100" b="1" dirty="0">
                <a:solidFill>
                  <a:srgbClr val="262B3A"/>
                </a:solidFill>
                <a:latin typeface="Calibri" pitchFamily="34" charset="0"/>
                <a:ea typeface="Calibri" pitchFamily="34" charset="-122"/>
                <a:cs typeface="Calibri" pitchFamily="34" charset="-120"/>
              </a:rPr>
              <a:t>6 protons</a:t>
            </a:r>
            <a:r>
              <a:rPr lang="en-US" sz="1100" dirty="0">
                <a:solidFill>
                  <a:srgbClr val="262B3A"/>
                </a:solidFill>
                <a:latin typeface="Calibri" pitchFamily="34" charset="0"/>
                <a:ea typeface="Calibri" pitchFamily="34" charset="-122"/>
                <a:cs typeface="Calibri" pitchFamily="34" charset="-120"/>
              </a:rPr>
              <a:t> → both carbon, charge +6</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Different   </a:t>
            </a:r>
            <a:r>
              <a:rPr lang="en-US" sz="1100" dirty="0">
                <a:solidFill>
                  <a:srgbClr val="262B3A"/>
                </a:solidFill>
                <a:latin typeface="Calibri" pitchFamily="34" charset="0"/>
                <a:ea typeface="Calibri" pitchFamily="34" charset="-122"/>
                <a:cs typeface="Calibri" pitchFamily="34" charset="-120"/>
              </a:rPr>
              <a:t>carbon-14 has </a:t>
            </a:r>
            <a:r>
              <a:rPr lang="en-US" sz="1100" b="1" dirty="0">
                <a:solidFill>
                  <a:srgbClr val="262B3A"/>
                </a:solidFill>
                <a:latin typeface="Calibri" pitchFamily="34" charset="0"/>
                <a:ea typeface="Calibri" pitchFamily="34" charset="-122"/>
                <a:cs typeface="Calibri" pitchFamily="34" charset="-120"/>
              </a:rPr>
              <a:t>2 more neutrons</a:t>
            </a:r>
            <a:r>
              <a:rPr lang="en-US" sz="1100" dirty="0">
                <a:solidFill>
                  <a:srgbClr val="262B3A"/>
                </a:solidFill>
                <a:latin typeface="Calibri" pitchFamily="34" charset="0"/>
                <a:ea typeface="Calibri" pitchFamily="34" charset="-122"/>
                <a:cs typeface="Calibri" pitchFamily="34" charset="-120"/>
              </a:rPr>
              <a:t> (8 not 6)</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Effect   </a:t>
            </a:r>
            <a:r>
              <a:rPr lang="en-US" sz="1100" dirty="0">
                <a:solidFill>
                  <a:srgbClr val="262B3A"/>
                </a:solidFill>
                <a:latin typeface="Calibri" pitchFamily="34" charset="0"/>
                <a:ea typeface="Calibri" pitchFamily="34" charset="-122"/>
                <a:cs typeface="Calibri" pitchFamily="34" charset="-120"/>
              </a:rPr>
              <a:t>carbon-14 nucleus has a greater mass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they are isotopes of carbon</a:t>
            </a:r>
            <a:endParaRPr lang="en-US" sz="1100" dirty="0"/>
          </a:p>
        </p:txBody>
      </p:sp>
      <p:sp>
        <p:nvSpPr>
          <p:cNvPr id="51"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2"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3"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Hydrogen-1, hydrogen-2 and hydrogen-3 are isotopes. What is the same and what is different about their nuclei?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Nuclear notation for isotopes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P5.1.4 • the conventional way to show identity, charge and mass of a nucleus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P5.1.4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mass number on top, atomic number below, to the left of the symbol</a:t>
            </a:r>
            <a:endParaRPr lang="en-US" sz="1000" dirty="0"/>
          </a:p>
        </p:txBody>
      </p:sp>
      <p:sp>
        <p:nvSpPr>
          <p:cNvPr id="10" name="Text 8"/>
          <p:cNvSpPr/>
          <p:nvPr/>
        </p:nvSpPr>
        <p:spPr>
          <a:xfrm>
            <a:off x="2057400" y="1600200"/>
            <a:ext cx="987552" cy="587829"/>
          </a:xfrm>
          <a:prstGeom prst="rect">
            <a:avLst/>
          </a:prstGeom>
          <a:noFill/>
          <a:ln/>
        </p:spPr>
        <p:txBody>
          <a:bodyPr wrap="square" lIns="0" tIns="0" rIns="0" bIns="0" rtlCol="0" anchor="b"/>
          <a:lstStyle/>
          <a:p>
            <a:pPr algn="r" indent="0" marL="0">
              <a:buNone/>
            </a:pPr>
            <a:r>
              <a:rPr lang="en-US" sz="3456" b="1" dirty="0">
                <a:solidFill>
                  <a:srgbClr val="2E5BD8"/>
                </a:solidFill>
                <a:latin typeface="Calibri" pitchFamily="34" charset="0"/>
                <a:ea typeface="Calibri" pitchFamily="34" charset="-122"/>
                <a:cs typeface="Calibri" pitchFamily="34" charset="-120"/>
              </a:rPr>
              <a:t>14</a:t>
            </a:r>
            <a:endParaRPr lang="en-US" sz="3456" dirty="0"/>
          </a:p>
        </p:txBody>
      </p:sp>
      <p:sp>
        <p:nvSpPr>
          <p:cNvPr id="11" name="Text 9"/>
          <p:cNvSpPr/>
          <p:nvPr/>
        </p:nvSpPr>
        <p:spPr>
          <a:xfrm>
            <a:off x="2057400" y="2246811"/>
            <a:ext cx="987552" cy="587829"/>
          </a:xfrm>
          <a:prstGeom prst="rect">
            <a:avLst/>
          </a:prstGeom>
          <a:noFill/>
          <a:ln/>
        </p:spPr>
        <p:txBody>
          <a:bodyPr wrap="square" lIns="0" tIns="0" rIns="0" bIns="0" rtlCol="0" anchor="t"/>
          <a:lstStyle/>
          <a:p>
            <a:pPr algn="r" indent="0" marL="0">
              <a:buNone/>
            </a:pPr>
            <a:r>
              <a:rPr lang="en-US" sz="3456" b="1" dirty="0">
                <a:solidFill>
                  <a:srgbClr val="C8414C"/>
                </a:solidFill>
                <a:latin typeface="Calibri" pitchFamily="34" charset="0"/>
                <a:ea typeface="Calibri" pitchFamily="34" charset="-122"/>
                <a:cs typeface="Calibri" pitchFamily="34" charset="-120"/>
              </a:rPr>
              <a:t>6</a:t>
            </a:r>
            <a:endParaRPr lang="en-US" sz="3456" dirty="0"/>
          </a:p>
        </p:txBody>
      </p:sp>
      <p:sp>
        <p:nvSpPr>
          <p:cNvPr id="12" name="Text 10"/>
          <p:cNvSpPr/>
          <p:nvPr/>
        </p:nvSpPr>
        <p:spPr>
          <a:xfrm>
            <a:off x="3091978" y="1647226"/>
            <a:ext cx="1034578" cy="1175657"/>
          </a:xfrm>
          <a:prstGeom prst="rect">
            <a:avLst/>
          </a:prstGeom>
          <a:noFill/>
          <a:ln/>
        </p:spPr>
        <p:txBody>
          <a:bodyPr wrap="square" lIns="0" tIns="0" rIns="0" bIns="0" rtlCol="0" anchor="ctr"/>
          <a:lstStyle/>
          <a:p>
            <a:pPr algn="l" indent="0" marL="0">
              <a:buNone/>
            </a:pPr>
            <a:r>
              <a:rPr lang="en-US" sz="7200" b="1" dirty="0">
                <a:solidFill>
                  <a:srgbClr val="1A2340"/>
                </a:solidFill>
                <a:latin typeface="Georgia" pitchFamily="34" charset="0"/>
                <a:ea typeface="Georgia" pitchFamily="34" charset="-122"/>
                <a:cs typeface="Georgia" pitchFamily="34" charset="-120"/>
              </a:rPr>
              <a:t>C</a:t>
            </a:r>
            <a:endParaRPr lang="en-US" sz="7200" dirty="0"/>
          </a:p>
        </p:txBody>
      </p:sp>
      <p:sp>
        <p:nvSpPr>
          <p:cNvPr id="13" name="Shape 11"/>
          <p:cNvSpPr/>
          <p:nvPr/>
        </p:nvSpPr>
        <p:spPr>
          <a:xfrm>
            <a:off x="1645920" y="1737360"/>
            <a:ext cx="960120" cy="137160"/>
          </a:xfrm>
          <a:prstGeom prst="line">
            <a:avLst/>
          </a:prstGeom>
          <a:noFill/>
          <a:ln w="22225">
            <a:solidFill>
              <a:srgbClr val="2E5BD8"/>
            </a:solidFill>
            <a:prstDash val="solid"/>
            <a:tailEnd type="triangle"/>
          </a:ln>
        </p:spPr>
      </p:sp>
      <p:sp>
        <p:nvSpPr>
          <p:cNvPr id="14" name="Text 12"/>
          <p:cNvSpPr/>
          <p:nvPr/>
        </p:nvSpPr>
        <p:spPr>
          <a:xfrm>
            <a:off x="548640" y="1481328"/>
            <a:ext cx="1005840" cy="502920"/>
          </a:xfrm>
          <a:prstGeom prst="rect">
            <a:avLst/>
          </a:prstGeom>
          <a:noFill/>
          <a:ln/>
        </p:spPr>
        <p:txBody>
          <a:bodyPr wrap="square" lIns="0" tIns="0" rIns="0" bIns="0" rtlCol="0" anchor="ctr"/>
          <a:lstStyle/>
          <a:p>
            <a:pPr algn="r" indent="0" marL="0">
              <a:buNone/>
            </a:pPr>
            <a:r>
              <a:rPr lang="en-US" sz="1100" b="1" dirty="0">
                <a:solidFill>
                  <a:srgbClr val="2E5BD8"/>
                </a:solidFill>
                <a:latin typeface="Calibri" pitchFamily="34" charset="0"/>
                <a:ea typeface="Calibri" pitchFamily="34" charset="-122"/>
                <a:cs typeface="Calibri" pitchFamily="34" charset="-120"/>
              </a:rPr>
              <a:t>mass number A</a:t>
            </a:r>
            <a:endParaRPr lang="en-US" sz="1100" dirty="0"/>
          </a:p>
        </p:txBody>
      </p:sp>
      <p:sp>
        <p:nvSpPr>
          <p:cNvPr id="15" name="Shape 13"/>
          <p:cNvSpPr/>
          <p:nvPr/>
        </p:nvSpPr>
        <p:spPr>
          <a:xfrm flipV="1">
            <a:off x="1645920" y="2606040"/>
            <a:ext cx="960120" cy="109728"/>
          </a:xfrm>
          <a:prstGeom prst="line">
            <a:avLst/>
          </a:prstGeom>
          <a:noFill/>
          <a:ln w="22225">
            <a:solidFill>
              <a:srgbClr val="C8414C"/>
            </a:solidFill>
            <a:prstDash val="solid"/>
            <a:tailEnd type="triangle"/>
          </a:ln>
        </p:spPr>
      </p:sp>
      <p:sp>
        <p:nvSpPr>
          <p:cNvPr id="16" name="Text 14"/>
          <p:cNvSpPr/>
          <p:nvPr/>
        </p:nvSpPr>
        <p:spPr>
          <a:xfrm>
            <a:off x="548640" y="2468880"/>
            <a:ext cx="1005840" cy="5029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atomic number Z</a:t>
            </a:r>
            <a:endParaRPr lang="en-US" sz="1100" dirty="0"/>
          </a:p>
        </p:txBody>
      </p:sp>
      <p:sp>
        <p:nvSpPr>
          <p:cNvPr id="17" name="Text 15"/>
          <p:cNvSpPr/>
          <p:nvPr/>
        </p:nvSpPr>
        <p:spPr>
          <a:xfrm>
            <a:off x="3931920" y="1600200"/>
            <a:ext cx="192024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A</a:t>
            </a:r>
            <a:r>
              <a:rPr lang="en-US" sz="1100" dirty="0">
                <a:solidFill>
                  <a:srgbClr val="2E5BD8"/>
                </a:solidFill>
                <a:latin typeface="Calibri" pitchFamily="34" charset="0"/>
                <a:ea typeface="Calibri" pitchFamily="34" charset="-122"/>
                <a:cs typeface="Calibri" pitchFamily="34" charset="-120"/>
              </a:rPr>
              <a:t> = protons + neutrons</a:t>
            </a:r>
            <a:endParaRPr lang="en-US" sz="1100" dirty="0"/>
          </a:p>
        </p:txBody>
      </p:sp>
      <p:sp>
        <p:nvSpPr>
          <p:cNvPr id="18" name="Text 16"/>
          <p:cNvSpPr/>
          <p:nvPr/>
        </p:nvSpPr>
        <p:spPr>
          <a:xfrm>
            <a:off x="3931920" y="1920240"/>
            <a:ext cx="192024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Z</a:t>
            </a:r>
            <a:r>
              <a:rPr lang="en-US" sz="1100" dirty="0">
                <a:solidFill>
                  <a:srgbClr val="C8414C"/>
                </a:solidFill>
                <a:latin typeface="Calibri" pitchFamily="34" charset="0"/>
                <a:ea typeface="Calibri" pitchFamily="34" charset="-122"/>
                <a:cs typeface="Calibri" pitchFamily="34" charset="-120"/>
              </a:rPr>
              <a:t> = protons</a:t>
            </a:r>
            <a:endParaRPr lang="en-US" sz="1100" dirty="0"/>
          </a:p>
        </p:txBody>
      </p:sp>
      <p:sp>
        <p:nvSpPr>
          <p:cNvPr id="19" name="Text 17"/>
          <p:cNvSpPr/>
          <p:nvPr/>
        </p:nvSpPr>
        <p:spPr>
          <a:xfrm>
            <a:off x="3931920" y="2240280"/>
            <a:ext cx="1920240" cy="256032"/>
          </a:xfrm>
          <a:prstGeom prst="rect">
            <a:avLst/>
          </a:prstGeom>
          <a:noFill/>
          <a:ln/>
        </p:spPr>
        <p:txBody>
          <a:bodyPr wrap="square" lIns="0" tIns="0" rIns="0" bIns="0" rtlCol="0" anchor="ctr"/>
          <a:lstStyle/>
          <a:p>
            <a:pPr algn="l" indent="0" marL="0">
              <a:buNone/>
            </a:pPr>
            <a:r>
              <a:rPr lang="en-US" sz="1100" dirty="0">
                <a:solidFill>
                  <a:srgbClr val="1A2340"/>
                </a:solidFill>
                <a:latin typeface="Calibri" pitchFamily="34" charset="0"/>
                <a:ea typeface="Calibri" pitchFamily="34" charset="-122"/>
                <a:cs typeface="Calibri" pitchFamily="34" charset="-120"/>
              </a:rPr>
              <a:t>neutrons = </a:t>
            </a:r>
            <a:r>
              <a:rPr lang="en-US" sz="1100" b="1" dirty="0">
                <a:solidFill>
                  <a:srgbClr val="1A2340"/>
                </a:solidFill>
                <a:latin typeface="Calibri" pitchFamily="34" charset="0"/>
                <a:ea typeface="Calibri" pitchFamily="34" charset="-122"/>
                <a:cs typeface="Calibri" pitchFamily="34" charset="-120"/>
              </a:rPr>
              <a:t>A − Z</a:t>
            </a:r>
            <a:endParaRPr lang="en-US" sz="1100" dirty="0"/>
          </a:p>
        </p:txBody>
      </p:sp>
      <p:sp>
        <p:nvSpPr>
          <p:cNvPr id="20" name="Text 18"/>
          <p:cNvSpPr/>
          <p:nvPr/>
        </p:nvSpPr>
        <p:spPr>
          <a:xfrm>
            <a:off x="3931920" y="2560320"/>
            <a:ext cx="1920240" cy="256032"/>
          </a:xfrm>
          <a:prstGeom prst="rect">
            <a:avLst/>
          </a:prstGeom>
          <a:noFill/>
          <a:ln/>
        </p:spPr>
        <p:txBody>
          <a:bodyPr wrap="square" lIns="0" tIns="0" rIns="0" bIns="0" rtlCol="0" anchor="ctr"/>
          <a:lstStyle/>
          <a:p>
            <a:pPr algn="l" indent="0" marL="0">
              <a:buNone/>
            </a:pPr>
            <a:r>
              <a:rPr lang="en-US" sz="1100" dirty="0">
                <a:solidFill>
                  <a:srgbClr val="1A2340"/>
                </a:solidFill>
                <a:latin typeface="Calibri" pitchFamily="34" charset="0"/>
                <a:ea typeface="Calibri" pitchFamily="34" charset="-122"/>
                <a:cs typeface="Calibri" pitchFamily="34" charset="-120"/>
              </a:rPr>
              <a:t>charge of nucleus = </a:t>
            </a:r>
            <a:r>
              <a:rPr lang="en-US" sz="1100" b="1" dirty="0">
                <a:solidFill>
                  <a:srgbClr val="1A2340"/>
                </a:solidFill>
                <a:latin typeface="Calibri" pitchFamily="34" charset="0"/>
                <a:ea typeface="Calibri" pitchFamily="34" charset="-122"/>
                <a:cs typeface="Calibri" pitchFamily="34" charset="-120"/>
              </a:rPr>
              <a:t>+Z</a:t>
            </a:r>
            <a:endParaRPr lang="en-US" sz="1100" dirty="0"/>
          </a:p>
        </p:txBody>
      </p:sp>
      <p:sp>
        <p:nvSpPr>
          <p:cNvPr id="21" name="Shape 19"/>
          <p:cNvSpPr/>
          <p:nvPr/>
        </p:nvSpPr>
        <p:spPr>
          <a:xfrm>
            <a:off x="685800" y="3429000"/>
            <a:ext cx="5029200" cy="1783080"/>
          </a:xfrm>
          <a:prstGeom prst="roundRect">
            <a:avLst>
              <a:gd name="adj" fmla="val 2564"/>
            </a:avLst>
          </a:prstGeom>
          <a:solidFill>
            <a:srgbClr val="FFFFFF"/>
          </a:solidFill>
          <a:ln w="12700">
            <a:solidFill>
              <a:srgbClr val="D5DCEB"/>
            </a:solidFill>
            <a:prstDash val="solid"/>
          </a:ln>
        </p:spPr>
      </p:sp>
      <p:sp>
        <p:nvSpPr>
          <p:cNvPr id="22" name="Text 20"/>
          <p:cNvSpPr/>
          <p:nvPr/>
        </p:nvSpPr>
        <p:spPr>
          <a:xfrm>
            <a:off x="685800" y="3474720"/>
            <a:ext cx="50292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Three isotopes of carbon</a:t>
            </a:r>
            <a:endParaRPr lang="en-US" sz="1100" dirty="0"/>
          </a:p>
        </p:txBody>
      </p:sp>
      <p:sp>
        <p:nvSpPr>
          <p:cNvPr id="23" name="Text 21"/>
          <p:cNvSpPr/>
          <p:nvPr/>
        </p:nvSpPr>
        <p:spPr>
          <a:xfrm>
            <a:off x="1051560" y="3794760"/>
            <a:ext cx="466344" cy="277586"/>
          </a:xfrm>
          <a:prstGeom prst="rect">
            <a:avLst/>
          </a:prstGeom>
          <a:noFill/>
          <a:ln/>
        </p:spPr>
        <p:txBody>
          <a:bodyPr wrap="square" lIns="0" tIns="0" rIns="0" bIns="0" rtlCol="0" anchor="b"/>
          <a:lstStyle/>
          <a:p>
            <a:pPr algn="r" indent="0" marL="0">
              <a:buNone/>
            </a:pPr>
            <a:r>
              <a:rPr lang="en-US" sz="1632" b="1" dirty="0">
                <a:solidFill>
                  <a:srgbClr val="2E5BD8"/>
                </a:solidFill>
                <a:latin typeface="Calibri" pitchFamily="34" charset="0"/>
                <a:ea typeface="Calibri" pitchFamily="34" charset="-122"/>
                <a:cs typeface="Calibri" pitchFamily="34" charset="-120"/>
              </a:rPr>
              <a:t>12</a:t>
            </a:r>
            <a:endParaRPr lang="en-US" sz="1632" dirty="0"/>
          </a:p>
        </p:txBody>
      </p:sp>
      <p:sp>
        <p:nvSpPr>
          <p:cNvPr id="24" name="Text 22"/>
          <p:cNvSpPr/>
          <p:nvPr/>
        </p:nvSpPr>
        <p:spPr>
          <a:xfrm>
            <a:off x="1051560" y="4100104"/>
            <a:ext cx="466344" cy="277586"/>
          </a:xfrm>
          <a:prstGeom prst="rect">
            <a:avLst/>
          </a:prstGeom>
          <a:noFill/>
          <a:ln/>
        </p:spPr>
        <p:txBody>
          <a:bodyPr wrap="square" lIns="0" tIns="0" rIns="0" bIns="0" rtlCol="0" anchor="t"/>
          <a:lstStyle/>
          <a:p>
            <a:pPr algn="r" indent="0" marL="0">
              <a:buNone/>
            </a:pPr>
            <a:r>
              <a:rPr lang="en-US" sz="1632" b="1" dirty="0">
                <a:solidFill>
                  <a:srgbClr val="C8414C"/>
                </a:solidFill>
                <a:latin typeface="Calibri" pitchFamily="34" charset="0"/>
                <a:ea typeface="Calibri" pitchFamily="34" charset="-122"/>
                <a:cs typeface="Calibri" pitchFamily="34" charset="-120"/>
              </a:rPr>
              <a:t>6</a:t>
            </a:r>
            <a:endParaRPr lang="en-US" sz="1632" dirty="0"/>
          </a:p>
        </p:txBody>
      </p:sp>
      <p:sp>
        <p:nvSpPr>
          <p:cNvPr id="25" name="Text 23"/>
          <p:cNvSpPr/>
          <p:nvPr/>
        </p:nvSpPr>
        <p:spPr>
          <a:xfrm>
            <a:off x="1540111" y="3816967"/>
            <a:ext cx="488551" cy="555171"/>
          </a:xfrm>
          <a:prstGeom prst="rect">
            <a:avLst/>
          </a:prstGeom>
          <a:noFill/>
          <a:ln/>
        </p:spPr>
        <p:txBody>
          <a:bodyPr wrap="square" lIns="0" tIns="0" rIns="0" bIns="0" rtlCol="0" anchor="ctr"/>
          <a:lstStyle/>
          <a:p>
            <a:pPr algn="l" indent="0" marL="0">
              <a:buNone/>
            </a:pPr>
            <a:r>
              <a:rPr lang="en-US" sz="3400" b="1" dirty="0">
                <a:solidFill>
                  <a:srgbClr val="1A2340"/>
                </a:solidFill>
                <a:latin typeface="Georgia" pitchFamily="34" charset="0"/>
                <a:ea typeface="Georgia" pitchFamily="34" charset="-122"/>
                <a:cs typeface="Georgia" pitchFamily="34" charset="-120"/>
              </a:rPr>
              <a:t>C</a:t>
            </a:r>
            <a:endParaRPr lang="en-US" sz="3400" dirty="0"/>
          </a:p>
        </p:txBody>
      </p:sp>
      <p:sp>
        <p:nvSpPr>
          <p:cNvPr id="26" name="Text 24"/>
          <p:cNvSpPr/>
          <p:nvPr/>
        </p:nvSpPr>
        <p:spPr>
          <a:xfrm>
            <a:off x="777240" y="4480560"/>
            <a:ext cx="14630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6 p, 6 n</a:t>
            </a:r>
            <a:endParaRPr lang="en-US" sz="1100" dirty="0"/>
          </a:p>
        </p:txBody>
      </p:sp>
      <p:sp>
        <p:nvSpPr>
          <p:cNvPr id="27" name="Text 25"/>
          <p:cNvSpPr/>
          <p:nvPr/>
        </p:nvSpPr>
        <p:spPr>
          <a:xfrm>
            <a:off x="777240" y="4736592"/>
            <a:ext cx="1463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carbon-12</a:t>
            </a:r>
            <a:endParaRPr lang="en-US" sz="1050" dirty="0"/>
          </a:p>
        </p:txBody>
      </p:sp>
      <p:sp>
        <p:nvSpPr>
          <p:cNvPr id="28" name="Text 26"/>
          <p:cNvSpPr/>
          <p:nvPr/>
        </p:nvSpPr>
        <p:spPr>
          <a:xfrm>
            <a:off x="2697480" y="3794760"/>
            <a:ext cx="466344" cy="277586"/>
          </a:xfrm>
          <a:prstGeom prst="rect">
            <a:avLst/>
          </a:prstGeom>
          <a:noFill/>
          <a:ln/>
        </p:spPr>
        <p:txBody>
          <a:bodyPr wrap="square" lIns="0" tIns="0" rIns="0" bIns="0" rtlCol="0" anchor="b"/>
          <a:lstStyle/>
          <a:p>
            <a:pPr algn="r" indent="0" marL="0">
              <a:buNone/>
            </a:pPr>
            <a:r>
              <a:rPr lang="en-US" sz="1632" b="1" dirty="0">
                <a:solidFill>
                  <a:srgbClr val="2E5BD8"/>
                </a:solidFill>
                <a:latin typeface="Calibri" pitchFamily="34" charset="0"/>
                <a:ea typeface="Calibri" pitchFamily="34" charset="-122"/>
                <a:cs typeface="Calibri" pitchFamily="34" charset="-120"/>
              </a:rPr>
              <a:t>13</a:t>
            </a:r>
            <a:endParaRPr lang="en-US" sz="1632" dirty="0"/>
          </a:p>
        </p:txBody>
      </p:sp>
      <p:sp>
        <p:nvSpPr>
          <p:cNvPr id="29" name="Text 27"/>
          <p:cNvSpPr/>
          <p:nvPr/>
        </p:nvSpPr>
        <p:spPr>
          <a:xfrm>
            <a:off x="2697480" y="4100104"/>
            <a:ext cx="466344" cy="277586"/>
          </a:xfrm>
          <a:prstGeom prst="rect">
            <a:avLst/>
          </a:prstGeom>
          <a:noFill/>
          <a:ln/>
        </p:spPr>
        <p:txBody>
          <a:bodyPr wrap="square" lIns="0" tIns="0" rIns="0" bIns="0" rtlCol="0" anchor="t"/>
          <a:lstStyle/>
          <a:p>
            <a:pPr algn="r" indent="0" marL="0">
              <a:buNone/>
            </a:pPr>
            <a:r>
              <a:rPr lang="en-US" sz="1632" b="1" dirty="0">
                <a:solidFill>
                  <a:srgbClr val="C8414C"/>
                </a:solidFill>
                <a:latin typeface="Calibri" pitchFamily="34" charset="0"/>
                <a:ea typeface="Calibri" pitchFamily="34" charset="-122"/>
                <a:cs typeface="Calibri" pitchFamily="34" charset="-120"/>
              </a:rPr>
              <a:t>6</a:t>
            </a:r>
            <a:endParaRPr lang="en-US" sz="1632" dirty="0"/>
          </a:p>
        </p:txBody>
      </p:sp>
      <p:sp>
        <p:nvSpPr>
          <p:cNvPr id="30" name="Text 28"/>
          <p:cNvSpPr/>
          <p:nvPr/>
        </p:nvSpPr>
        <p:spPr>
          <a:xfrm>
            <a:off x="3186031" y="3816967"/>
            <a:ext cx="488551" cy="555171"/>
          </a:xfrm>
          <a:prstGeom prst="rect">
            <a:avLst/>
          </a:prstGeom>
          <a:noFill/>
          <a:ln/>
        </p:spPr>
        <p:txBody>
          <a:bodyPr wrap="square" lIns="0" tIns="0" rIns="0" bIns="0" rtlCol="0" anchor="ctr"/>
          <a:lstStyle/>
          <a:p>
            <a:pPr algn="l" indent="0" marL="0">
              <a:buNone/>
            </a:pPr>
            <a:r>
              <a:rPr lang="en-US" sz="3400" b="1" dirty="0">
                <a:solidFill>
                  <a:srgbClr val="1A2340"/>
                </a:solidFill>
                <a:latin typeface="Georgia" pitchFamily="34" charset="0"/>
                <a:ea typeface="Georgia" pitchFamily="34" charset="-122"/>
                <a:cs typeface="Georgia" pitchFamily="34" charset="-120"/>
              </a:rPr>
              <a:t>C</a:t>
            </a:r>
            <a:endParaRPr lang="en-US" sz="3400" dirty="0"/>
          </a:p>
        </p:txBody>
      </p:sp>
      <p:sp>
        <p:nvSpPr>
          <p:cNvPr id="31" name="Text 29"/>
          <p:cNvSpPr/>
          <p:nvPr/>
        </p:nvSpPr>
        <p:spPr>
          <a:xfrm>
            <a:off x="2423160" y="4480560"/>
            <a:ext cx="14630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6 p, 7 n</a:t>
            </a:r>
            <a:endParaRPr lang="en-US" sz="1100" dirty="0"/>
          </a:p>
        </p:txBody>
      </p:sp>
      <p:sp>
        <p:nvSpPr>
          <p:cNvPr id="32" name="Text 30"/>
          <p:cNvSpPr/>
          <p:nvPr/>
        </p:nvSpPr>
        <p:spPr>
          <a:xfrm>
            <a:off x="2423160" y="4736592"/>
            <a:ext cx="1463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carbon-13</a:t>
            </a:r>
            <a:endParaRPr lang="en-US" sz="1050" dirty="0"/>
          </a:p>
        </p:txBody>
      </p:sp>
      <p:sp>
        <p:nvSpPr>
          <p:cNvPr id="33" name="Text 31"/>
          <p:cNvSpPr/>
          <p:nvPr/>
        </p:nvSpPr>
        <p:spPr>
          <a:xfrm>
            <a:off x="4343400" y="3794760"/>
            <a:ext cx="466344" cy="277586"/>
          </a:xfrm>
          <a:prstGeom prst="rect">
            <a:avLst/>
          </a:prstGeom>
          <a:noFill/>
          <a:ln/>
        </p:spPr>
        <p:txBody>
          <a:bodyPr wrap="square" lIns="0" tIns="0" rIns="0" bIns="0" rtlCol="0" anchor="b"/>
          <a:lstStyle/>
          <a:p>
            <a:pPr algn="r" indent="0" marL="0">
              <a:buNone/>
            </a:pPr>
            <a:r>
              <a:rPr lang="en-US" sz="1632" b="1" dirty="0">
                <a:solidFill>
                  <a:srgbClr val="2E5BD8"/>
                </a:solidFill>
                <a:latin typeface="Calibri" pitchFamily="34" charset="0"/>
                <a:ea typeface="Calibri" pitchFamily="34" charset="-122"/>
                <a:cs typeface="Calibri" pitchFamily="34" charset="-120"/>
              </a:rPr>
              <a:t>14</a:t>
            </a:r>
            <a:endParaRPr lang="en-US" sz="1632" dirty="0"/>
          </a:p>
        </p:txBody>
      </p:sp>
      <p:sp>
        <p:nvSpPr>
          <p:cNvPr id="34" name="Text 32"/>
          <p:cNvSpPr/>
          <p:nvPr/>
        </p:nvSpPr>
        <p:spPr>
          <a:xfrm>
            <a:off x="4343400" y="4100104"/>
            <a:ext cx="466344" cy="277586"/>
          </a:xfrm>
          <a:prstGeom prst="rect">
            <a:avLst/>
          </a:prstGeom>
          <a:noFill/>
          <a:ln/>
        </p:spPr>
        <p:txBody>
          <a:bodyPr wrap="square" lIns="0" tIns="0" rIns="0" bIns="0" rtlCol="0" anchor="t"/>
          <a:lstStyle/>
          <a:p>
            <a:pPr algn="r" indent="0" marL="0">
              <a:buNone/>
            </a:pPr>
            <a:r>
              <a:rPr lang="en-US" sz="1632" b="1" dirty="0">
                <a:solidFill>
                  <a:srgbClr val="C8414C"/>
                </a:solidFill>
                <a:latin typeface="Calibri" pitchFamily="34" charset="0"/>
                <a:ea typeface="Calibri" pitchFamily="34" charset="-122"/>
                <a:cs typeface="Calibri" pitchFamily="34" charset="-120"/>
              </a:rPr>
              <a:t>6</a:t>
            </a:r>
            <a:endParaRPr lang="en-US" sz="1632" dirty="0"/>
          </a:p>
        </p:txBody>
      </p:sp>
      <p:sp>
        <p:nvSpPr>
          <p:cNvPr id="35" name="Text 33"/>
          <p:cNvSpPr/>
          <p:nvPr/>
        </p:nvSpPr>
        <p:spPr>
          <a:xfrm>
            <a:off x="4831951" y="3816967"/>
            <a:ext cx="488551" cy="555171"/>
          </a:xfrm>
          <a:prstGeom prst="rect">
            <a:avLst/>
          </a:prstGeom>
          <a:noFill/>
          <a:ln/>
        </p:spPr>
        <p:txBody>
          <a:bodyPr wrap="square" lIns="0" tIns="0" rIns="0" bIns="0" rtlCol="0" anchor="ctr"/>
          <a:lstStyle/>
          <a:p>
            <a:pPr algn="l" indent="0" marL="0">
              <a:buNone/>
            </a:pPr>
            <a:r>
              <a:rPr lang="en-US" sz="3400" b="1" dirty="0">
                <a:solidFill>
                  <a:srgbClr val="1A2340"/>
                </a:solidFill>
                <a:latin typeface="Georgia" pitchFamily="34" charset="0"/>
                <a:ea typeface="Georgia" pitchFamily="34" charset="-122"/>
                <a:cs typeface="Georgia" pitchFamily="34" charset="-120"/>
              </a:rPr>
              <a:t>C</a:t>
            </a:r>
            <a:endParaRPr lang="en-US" sz="3400" dirty="0"/>
          </a:p>
        </p:txBody>
      </p:sp>
      <p:sp>
        <p:nvSpPr>
          <p:cNvPr id="36" name="Text 34"/>
          <p:cNvSpPr/>
          <p:nvPr/>
        </p:nvSpPr>
        <p:spPr>
          <a:xfrm>
            <a:off x="4069080" y="4480560"/>
            <a:ext cx="14630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6 p, 8 n</a:t>
            </a:r>
            <a:endParaRPr lang="en-US" sz="1100" dirty="0"/>
          </a:p>
        </p:txBody>
      </p:sp>
      <p:sp>
        <p:nvSpPr>
          <p:cNvPr id="37" name="Text 35"/>
          <p:cNvSpPr/>
          <p:nvPr/>
        </p:nvSpPr>
        <p:spPr>
          <a:xfrm>
            <a:off x="4069080" y="4736592"/>
            <a:ext cx="1463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carbon-14</a:t>
            </a:r>
            <a:endParaRPr lang="en-US" sz="1050" dirty="0"/>
          </a:p>
        </p:txBody>
      </p:sp>
      <p:sp>
        <p:nvSpPr>
          <p:cNvPr id="38" name="Shape 3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the notation</a:t>
            </a:r>
            <a:endParaRPr lang="en-US" sz="1300" dirty="0"/>
          </a:p>
        </p:txBody>
      </p:sp>
      <p:sp>
        <p:nvSpPr>
          <p:cNvPr id="40" name="Text 3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Mass number (A)</a:t>
            </a:r>
            <a:r>
              <a:rPr lang="en-US" sz="1150" dirty="0">
                <a:solidFill>
                  <a:srgbClr val="262B3A"/>
                </a:solidFill>
                <a:latin typeface="Calibri" pitchFamily="34" charset="0"/>
                <a:ea typeface="Calibri" pitchFamily="34" charset="-122"/>
                <a:cs typeface="Calibri" pitchFamily="34" charset="-120"/>
              </a:rPr>
              <a:t>: the total number of protons and neutrons (nucleons). It sets the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Atomic number (Z)</a:t>
            </a:r>
            <a:r>
              <a:rPr lang="en-US" sz="1150" dirty="0">
                <a:solidFill>
                  <a:srgbClr val="262B3A"/>
                </a:solidFill>
                <a:latin typeface="Calibri" pitchFamily="34" charset="0"/>
                <a:ea typeface="Calibri" pitchFamily="34" charset="-122"/>
                <a:cs typeface="Calibri" pitchFamily="34" charset="-120"/>
              </a:rPr>
              <a:t>: the number of protons. It sets the </a:t>
            </a:r>
            <a:r>
              <a:rPr lang="en-US" sz="1150" b="1" dirty="0">
                <a:solidFill>
                  <a:srgbClr val="262B3A"/>
                </a:solidFill>
                <a:latin typeface="Calibri" pitchFamily="34" charset="0"/>
                <a:ea typeface="Calibri" pitchFamily="34" charset="-122"/>
                <a:cs typeface="Calibri" pitchFamily="34" charset="-120"/>
              </a:rPr>
              <a:t>identity</a:t>
            </a:r>
            <a:r>
              <a:rPr lang="en-US" sz="1150" dirty="0">
                <a:solidFill>
                  <a:srgbClr val="262B3A"/>
                </a:solidFill>
                <a:latin typeface="Calibri" pitchFamily="34" charset="0"/>
                <a:ea typeface="Calibri" pitchFamily="34" charset="-122"/>
                <a:cs typeface="Calibri" pitchFamily="34" charset="-120"/>
              </a:rPr>
              <a:t> of the element and the </a:t>
            </a:r>
            <a:r>
              <a:rPr lang="en-US" sz="1150" b="1" dirty="0">
                <a:solidFill>
                  <a:srgbClr val="262B3A"/>
                </a:solidFill>
                <a:latin typeface="Calibri" pitchFamily="34" charset="0"/>
                <a:ea typeface="Calibri" pitchFamily="34" charset="-122"/>
                <a:cs typeface="Calibri" pitchFamily="34" charset="-120"/>
              </a:rPr>
              <a:t>charge</a:t>
            </a:r>
            <a:r>
              <a:rPr lang="en-US" sz="1150" dirty="0">
                <a:solidFill>
                  <a:srgbClr val="262B3A"/>
                </a:solidFill>
                <a:latin typeface="Calibri" pitchFamily="34" charset="0"/>
                <a:ea typeface="Calibri" pitchFamily="34" charset="-122"/>
                <a:cs typeface="Calibri" pitchFamily="34" charset="-120"/>
              </a:rPr>
              <a:t> (+Z).</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Isotopes of one element have the </a:t>
            </a:r>
            <a:r>
              <a:rPr lang="en-US" sz="1150" b="1" dirty="0">
                <a:solidFill>
                  <a:srgbClr val="262B3A"/>
                </a:solidFill>
                <a:latin typeface="Calibri" pitchFamily="34" charset="0"/>
                <a:ea typeface="Calibri" pitchFamily="34" charset="-122"/>
                <a:cs typeface="Calibri" pitchFamily="34" charset="-120"/>
              </a:rPr>
              <a:t>same Z</a:t>
            </a:r>
            <a:r>
              <a:rPr lang="en-US" sz="1150" dirty="0">
                <a:solidFill>
                  <a:srgbClr val="262B3A"/>
                </a:solidFill>
                <a:latin typeface="Calibri" pitchFamily="34" charset="0"/>
                <a:ea typeface="Calibri" pitchFamily="34" charset="-122"/>
                <a:cs typeface="Calibri" pitchFamily="34" charset="-120"/>
              </a:rPr>
              <a:t> but a </a:t>
            </a:r>
            <a:r>
              <a:rPr lang="en-US" sz="1150" b="1" dirty="0">
                <a:solidFill>
                  <a:srgbClr val="262B3A"/>
                </a:solidFill>
                <a:latin typeface="Calibri" pitchFamily="34" charset="0"/>
                <a:ea typeface="Calibri" pitchFamily="34" charset="-122"/>
                <a:cs typeface="Calibri" pitchFamily="34" charset="-120"/>
              </a:rPr>
              <a:t>different A</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Name an isotope by element and mass number: carbon-14, uranium-238.</a:t>
            </a:r>
            <a:endParaRPr lang="en-US" sz="1150" dirty="0"/>
          </a:p>
        </p:txBody>
      </p:sp>
      <p:sp>
        <p:nvSpPr>
          <p:cNvPr id="41" name="Shape 3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2" name="Text 4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3" name="Text 4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Uranium-238 is written </a:t>
            </a:r>
            <a:r>
              <a:rPr lang="en-US" sz="1100" i="1" baseline="30000" dirty="0">
                <a:solidFill>
                  <a:srgbClr val="262B3A"/>
                </a:solidFill>
                <a:latin typeface="Calibri" pitchFamily="34" charset="0"/>
                <a:ea typeface="Calibri" pitchFamily="34" charset="-122"/>
                <a:cs typeface="Calibri" pitchFamily="34" charset="-120"/>
              </a:rPr>
              <a:t>238</a:t>
            </a:r>
            <a:r>
              <a:rPr lang="en-US" sz="1100" i="1" baseline="-40000" dirty="0">
                <a:solidFill>
                  <a:srgbClr val="262B3A"/>
                </a:solidFill>
                <a:latin typeface="Calibri" pitchFamily="34" charset="0"/>
                <a:ea typeface="Calibri" pitchFamily="34" charset="-122"/>
                <a:cs typeface="Calibri" pitchFamily="34" charset="-120"/>
              </a:rPr>
              <a:t>92</a:t>
            </a:r>
            <a:r>
              <a:rPr lang="en-US" sz="1100" i="1" dirty="0">
                <a:solidFill>
                  <a:srgbClr val="262B3A"/>
                </a:solidFill>
                <a:latin typeface="Calibri" pitchFamily="34" charset="0"/>
                <a:ea typeface="Calibri" pitchFamily="34" charset="-122"/>
                <a:cs typeface="Calibri" pitchFamily="34" charset="-120"/>
              </a:rPr>
              <a:t>U. Give the numbers of protons and neutrons and the charge of the nucleus.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Protons   </a:t>
            </a:r>
            <a:r>
              <a:rPr lang="en-US" sz="1100" dirty="0">
                <a:solidFill>
                  <a:srgbClr val="262B3A"/>
                </a:solidFill>
                <a:latin typeface="Calibri" pitchFamily="34" charset="0"/>
                <a:ea typeface="Calibri" pitchFamily="34" charset="-122"/>
                <a:cs typeface="Calibri" pitchFamily="34" charset="-120"/>
              </a:rPr>
              <a:t>Z = </a:t>
            </a:r>
            <a:r>
              <a:rPr lang="en-US" sz="1100" b="1" dirty="0">
                <a:solidFill>
                  <a:srgbClr val="262B3A"/>
                </a:solidFill>
                <a:latin typeface="Calibri" pitchFamily="34" charset="0"/>
                <a:ea typeface="Calibri" pitchFamily="34" charset="-122"/>
                <a:cs typeface="Calibri" pitchFamily="34" charset="-120"/>
              </a:rPr>
              <a:t>92</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Neutrons   </a:t>
            </a:r>
            <a:r>
              <a:rPr lang="en-US" sz="1100" dirty="0">
                <a:solidFill>
                  <a:srgbClr val="262B3A"/>
                </a:solidFill>
                <a:latin typeface="Calibri" pitchFamily="34" charset="0"/>
                <a:ea typeface="Calibri" pitchFamily="34" charset="-122"/>
                <a:cs typeface="Calibri" pitchFamily="34" charset="-120"/>
              </a:rPr>
              <a:t>A − Z = 238 − 92 = </a:t>
            </a:r>
            <a:r>
              <a:rPr lang="en-US" sz="1100" b="1" dirty="0">
                <a:solidFill>
                  <a:srgbClr val="262B3A"/>
                </a:solidFill>
                <a:latin typeface="Calibri" pitchFamily="34" charset="0"/>
                <a:ea typeface="Calibri" pitchFamily="34" charset="-122"/>
                <a:cs typeface="Calibri" pitchFamily="34" charset="-120"/>
              </a:rPr>
              <a:t>146</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Charge   </a:t>
            </a:r>
            <a:r>
              <a:rPr lang="en-US" sz="1100" dirty="0">
                <a:solidFill>
                  <a:srgbClr val="262B3A"/>
                </a:solidFill>
                <a:latin typeface="Calibri" pitchFamily="34" charset="0"/>
                <a:ea typeface="Calibri" pitchFamily="34" charset="-122"/>
                <a:cs typeface="Calibri" pitchFamily="34" charset="-120"/>
              </a:rPr>
              <a:t>+92 (in units of the proton charge)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92 protons, 146 neutrons, charge +92</a:t>
            </a:r>
            <a:endParaRPr lang="en-US" sz="110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many protons, neutrons and electrons are in an atom of </a:t>
            </a:r>
            <a:r>
              <a:rPr lang="en-US" sz="1150" baseline="30000" dirty="0">
                <a:solidFill>
                  <a:srgbClr val="262B3A"/>
                </a:solidFill>
                <a:latin typeface="Calibri" pitchFamily="34" charset="0"/>
                <a:ea typeface="Calibri" pitchFamily="34" charset="-122"/>
                <a:cs typeface="Calibri" pitchFamily="34" charset="-120"/>
              </a:rPr>
              <a:t>37</a:t>
            </a:r>
            <a:r>
              <a:rPr lang="en-US" sz="1150" baseline="-40000" dirty="0">
                <a:solidFill>
                  <a:srgbClr val="262B3A"/>
                </a:solidFill>
                <a:latin typeface="Calibri" pitchFamily="34" charset="0"/>
                <a:ea typeface="Calibri" pitchFamily="34" charset="-122"/>
                <a:cs typeface="Calibri" pitchFamily="34" charset="-120"/>
              </a:rPr>
              <a:t>17</a:t>
            </a:r>
            <a:r>
              <a:rPr lang="en-US" sz="1150" dirty="0">
                <a:solidFill>
                  <a:srgbClr val="262B3A"/>
                </a:solidFill>
                <a:latin typeface="Calibri" pitchFamily="34" charset="0"/>
                <a:ea typeface="Calibri" pitchFamily="34" charset="-122"/>
                <a:cs typeface="Calibri" pitchFamily="34" charset="-120"/>
              </a:rPr>
              <a:t>Cl?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P5.1.3–P5.1.4 • nuclei, isotopes and notation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are </a:t>
            </a:r>
            <a:r>
              <a:rPr lang="en-US" sz="1250" b="1" dirty="0">
                <a:solidFill>
                  <a:srgbClr val="262B3A"/>
                </a:solidFill>
                <a:latin typeface="Calibri" pitchFamily="34" charset="0"/>
                <a:ea typeface="Calibri" pitchFamily="34" charset="-122"/>
                <a:cs typeface="Calibri" pitchFamily="34" charset="-120"/>
              </a:rPr>
              <a:t>isotopes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iron atom is written </a:t>
            </a:r>
            <a:r>
              <a:rPr lang="en-US" sz="1250" baseline="30000" dirty="0">
                <a:solidFill>
                  <a:srgbClr val="262B3A"/>
                </a:solidFill>
                <a:latin typeface="Calibri" pitchFamily="34" charset="0"/>
                <a:ea typeface="Calibri" pitchFamily="34" charset="-122"/>
                <a:cs typeface="Calibri" pitchFamily="34" charset="-120"/>
              </a:rPr>
              <a:t>56</a:t>
            </a:r>
            <a:r>
              <a:rPr lang="en-US" sz="1250" baseline="-40000" dirty="0">
                <a:solidFill>
                  <a:srgbClr val="262B3A"/>
                </a:solidFill>
                <a:latin typeface="Calibri" pitchFamily="34" charset="0"/>
                <a:ea typeface="Calibri" pitchFamily="34" charset="-122"/>
                <a:cs typeface="Calibri" pitchFamily="34" charset="-120"/>
              </a:rPr>
              <a:t>26</a:t>
            </a:r>
            <a:r>
              <a:rPr lang="en-US" sz="1250" dirty="0">
                <a:solidFill>
                  <a:srgbClr val="262B3A"/>
                </a:solidFill>
                <a:latin typeface="Calibri" pitchFamily="34" charset="0"/>
                <a:ea typeface="Calibri" pitchFamily="34" charset="-122"/>
                <a:cs typeface="Calibri" pitchFamily="34" charset="-120"/>
              </a:rPr>
              <a:t>Fe. State the number of </a:t>
            </a:r>
            <a:r>
              <a:rPr lang="en-US" sz="1250" b="1" dirty="0">
                <a:solidFill>
                  <a:srgbClr val="262B3A"/>
                </a:solidFill>
                <a:latin typeface="Calibri" pitchFamily="34" charset="0"/>
                <a:ea typeface="Calibri" pitchFamily="34" charset="-122"/>
                <a:cs typeface="Calibri" pitchFamily="34" charset="-120"/>
              </a:rPr>
              <a:t>protons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neutrons</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electrons</a:t>
            </a:r>
            <a:r>
              <a:rPr lang="en-US" sz="1250" dirty="0">
                <a:solidFill>
                  <a:srgbClr val="262B3A"/>
                </a:solidFill>
                <a:latin typeface="Calibri" pitchFamily="34" charset="0"/>
                <a:ea typeface="Calibri" pitchFamily="34" charset="-122"/>
                <a:cs typeface="Calibri" pitchFamily="34" charset="-120"/>
              </a:rPr>
              <a:t> in the atom.</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baseline="30000" dirty="0">
                <a:solidFill>
                  <a:srgbClr val="262B3A"/>
                </a:solidFill>
                <a:latin typeface="Calibri" pitchFamily="34" charset="0"/>
                <a:ea typeface="Calibri" pitchFamily="34" charset="-122"/>
                <a:cs typeface="Calibri" pitchFamily="34" charset="-120"/>
              </a:rPr>
              <a:t>35</a:t>
            </a:r>
            <a:r>
              <a:rPr lang="en-US" sz="1250" baseline="-40000" dirty="0">
                <a:solidFill>
                  <a:srgbClr val="262B3A"/>
                </a:solidFill>
                <a:latin typeface="Calibri" pitchFamily="34" charset="0"/>
                <a:ea typeface="Calibri" pitchFamily="34" charset="-122"/>
                <a:cs typeface="Calibri" pitchFamily="34" charset="-120"/>
              </a:rPr>
              <a:t>17</a:t>
            </a:r>
            <a:r>
              <a:rPr lang="en-US" sz="1250" dirty="0">
                <a:solidFill>
                  <a:srgbClr val="262B3A"/>
                </a:solidFill>
                <a:latin typeface="Calibri" pitchFamily="34" charset="0"/>
                <a:ea typeface="Calibri" pitchFamily="34" charset="-122"/>
                <a:cs typeface="Calibri" pitchFamily="34" charset="-120"/>
              </a:rPr>
              <a:t>Cl and </a:t>
            </a:r>
            <a:r>
              <a:rPr lang="en-US" sz="1250" baseline="30000" dirty="0">
                <a:solidFill>
                  <a:srgbClr val="262B3A"/>
                </a:solidFill>
                <a:latin typeface="Calibri" pitchFamily="34" charset="0"/>
                <a:ea typeface="Calibri" pitchFamily="34" charset="-122"/>
                <a:cs typeface="Calibri" pitchFamily="34" charset="-120"/>
              </a:rPr>
              <a:t>37</a:t>
            </a:r>
            <a:r>
              <a:rPr lang="en-US" sz="1250" baseline="-40000" dirty="0">
                <a:solidFill>
                  <a:srgbClr val="262B3A"/>
                </a:solidFill>
                <a:latin typeface="Calibri" pitchFamily="34" charset="0"/>
                <a:ea typeface="Calibri" pitchFamily="34" charset="-122"/>
                <a:cs typeface="Calibri" pitchFamily="34" charset="-120"/>
              </a:rPr>
              <a:t>17</a:t>
            </a:r>
            <a:r>
              <a:rPr lang="en-US" sz="1250" dirty="0">
                <a:solidFill>
                  <a:srgbClr val="262B3A"/>
                </a:solidFill>
                <a:latin typeface="Calibri" pitchFamily="34" charset="0"/>
                <a:ea typeface="Calibri" pitchFamily="34" charset="-122"/>
                <a:cs typeface="Calibri" pitchFamily="34" charset="-120"/>
              </a:rPr>
              <a:t>Cl are both chlorine. Explain why they are the same element but have different masses.</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Unstable nuclei and random decay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P5.1.5, P5.1.8 • radioactive decay is random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P5.1.5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100 unstable nuclei: which 50 decay in one half-life cannot be predicted</a:t>
            </a:r>
            <a:endParaRPr lang="en-US" sz="1000" dirty="0"/>
          </a:p>
        </p:txBody>
      </p:sp>
      <p:sp>
        <p:nvSpPr>
          <p:cNvPr id="10" name="Text 8"/>
          <p:cNvSpPr/>
          <p:nvPr/>
        </p:nvSpPr>
        <p:spPr>
          <a:xfrm>
            <a:off x="685800" y="1417320"/>
            <a:ext cx="23774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start: 100 undecayed nuclei</a:t>
            </a:r>
            <a:endParaRPr lang="en-US" sz="1100" dirty="0"/>
          </a:p>
        </p:txBody>
      </p:sp>
      <p:sp>
        <p:nvSpPr>
          <p:cNvPr id="11" name="Shape 9"/>
          <p:cNvSpPr/>
          <p:nvPr/>
        </p:nvSpPr>
        <p:spPr>
          <a:xfrm>
            <a:off x="806958" y="1858518"/>
            <a:ext cx="155448" cy="155448"/>
          </a:xfrm>
          <a:prstGeom prst="ellipse">
            <a:avLst/>
          </a:prstGeom>
          <a:solidFill>
            <a:srgbClr val="C8414C"/>
          </a:solidFill>
          <a:ln w="9525">
            <a:solidFill>
              <a:srgbClr val="8E2A33"/>
            </a:solidFill>
            <a:prstDash val="solid"/>
          </a:ln>
        </p:spPr>
      </p:sp>
      <p:sp>
        <p:nvSpPr>
          <p:cNvPr id="12" name="Shape 10"/>
          <p:cNvSpPr/>
          <p:nvPr/>
        </p:nvSpPr>
        <p:spPr>
          <a:xfrm>
            <a:off x="1021842" y="1858518"/>
            <a:ext cx="155448" cy="155448"/>
          </a:xfrm>
          <a:prstGeom prst="ellipse">
            <a:avLst/>
          </a:prstGeom>
          <a:solidFill>
            <a:srgbClr val="C8414C"/>
          </a:solidFill>
          <a:ln w="9525">
            <a:solidFill>
              <a:srgbClr val="8E2A33"/>
            </a:solidFill>
            <a:prstDash val="solid"/>
          </a:ln>
        </p:spPr>
      </p:sp>
      <p:sp>
        <p:nvSpPr>
          <p:cNvPr id="13" name="Shape 11"/>
          <p:cNvSpPr/>
          <p:nvPr/>
        </p:nvSpPr>
        <p:spPr>
          <a:xfrm>
            <a:off x="1236726" y="1858518"/>
            <a:ext cx="155448" cy="155448"/>
          </a:xfrm>
          <a:prstGeom prst="ellipse">
            <a:avLst/>
          </a:prstGeom>
          <a:solidFill>
            <a:srgbClr val="C8414C"/>
          </a:solidFill>
          <a:ln w="9525">
            <a:solidFill>
              <a:srgbClr val="8E2A33"/>
            </a:solidFill>
            <a:prstDash val="solid"/>
          </a:ln>
        </p:spPr>
      </p:sp>
      <p:sp>
        <p:nvSpPr>
          <p:cNvPr id="14" name="Shape 12"/>
          <p:cNvSpPr/>
          <p:nvPr/>
        </p:nvSpPr>
        <p:spPr>
          <a:xfrm>
            <a:off x="1451610" y="1858518"/>
            <a:ext cx="155448" cy="155448"/>
          </a:xfrm>
          <a:prstGeom prst="ellipse">
            <a:avLst/>
          </a:prstGeom>
          <a:solidFill>
            <a:srgbClr val="C8414C"/>
          </a:solidFill>
          <a:ln w="9525">
            <a:solidFill>
              <a:srgbClr val="8E2A33"/>
            </a:solidFill>
            <a:prstDash val="solid"/>
          </a:ln>
        </p:spPr>
      </p:sp>
      <p:sp>
        <p:nvSpPr>
          <p:cNvPr id="15" name="Shape 13"/>
          <p:cNvSpPr/>
          <p:nvPr/>
        </p:nvSpPr>
        <p:spPr>
          <a:xfrm>
            <a:off x="1666494" y="1858518"/>
            <a:ext cx="155448" cy="155448"/>
          </a:xfrm>
          <a:prstGeom prst="ellipse">
            <a:avLst/>
          </a:prstGeom>
          <a:solidFill>
            <a:srgbClr val="C8414C"/>
          </a:solidFill>
          <a:ln w="9525">
            <a:solidFill>
              <a:srgbClr val="8E2A33"/>
            </a:solidFill>
            <a:prstDash val="solid"/>
          </a:ln>
        </p:spPr>
      </p:sp>
      <p:sp>
        <p:nvSpPr>
          <p:cNvPr id="16" name="Shape 14"/>
          <p:cNvSpPr/>
          <p:nvPr/>
        </p:nvSpPr>
        <p:spPr>
          <a:xfrm>
            <a:off x="1881378" y="1858518"/>
            <a:ext cx="155448" cy="155448"/>
          </a:xfrm>
          <a:prstGeom prst="ellipse">
            <a:avLst/>
          </a:prstGeom>
          <a:solidFill>
            <a:srgbClr val="C8414C"/>
          </a:solidFill>
          <a:ln w="9525">
            <a:solidFill>
              <a:srgbClr val="8E2A33"/>
            </a:solidFill>
            <a:prstDash val="solid"/>
          </a:ln>
        </p:spPr>
      </p:sp>
      <p:sp>
        <p:nvSpPr>
          <p:cNvPr id="17" name="Shape 15"/>
          <p:cNvSpPr/>
          <p:nvPr/>
        </p:nvSpPr>
        <p:spPr>
          <a:xfrm>
            <a:off x="2096262" y="1858518"/>
            <a:ext cx="155448" cy="155448"/>
          </a:xfrm>
          <a:prstGeom prst="ellipse">
            <a:avLst/>
          </a:prstGeom>
          <a:solidFill>
            <a:srgbClr val="C8414C"/>
          </a:solidFill>
          <a:ln w="9525">
            <a:solidFill>
              <a:srgbClr val="8E2A33"/>
            </a:solidFill>
            <a:prstDash val="solid"/>
          </a:ln>
        </p:spPr>
      </p:sp>
      <p:sp>
        <p:nvSpPr>
          <p:cNvPr id="18" name="Shape 16"/>
          <p:cNvSpPr/>
          <p:nvPr/>
        </p:nvSpPr>
        <p:spPr>
          <a:xfrm>
            <a:off x="2311146" y="1858518"/>
            <a:ext cx="155448" cy="155448"/>
          </a:xfrm>
          <a:prstGeom prst="ellipse">
            <a:avLst/>
          </a:prstGeom>
          <a:solidFill>
            <a:srgbClr val="C8414C"/>
          </a:solidFill>
          <a:ln w="9525">
            <a:solidFill>
              <a:srgbClr val="8E2A33"/>
            </a:solidFill>
            <a:prstDash val="solid"/>
          </a:ln>
        </p:spPr>
      </p:sp>
      <p:sp>
        <p:nvSpPr>
          <p:cNvPr id="19" name="Shape 17"/>
          <p:cNvSpPr/>
          <p:nvPr/>
        </p:nvSpPr>
        <p:spPr>
          <a:xfrm>
            <a:off x="2526030" y="1858518"/>
            <a:ext cx="155448" cy="155448"/>
          </a:xfrm>
          <a:prstGeom prst="ellipse">
            <a:avLst/>
          </a:prstGeom>
          <a:solidFill>
            <a:srgbClr val="C8414C"/>
          </a:solidFill>
          <a:ln w="9525">
            <a:solidFill>
              <a:srgbClr val="8E2A33"/>
            </a:solidFill>
            <a:prstDash val="solid"/>
          </a:ln>
        </p:spPr>
      </p:sp>
      <p:sp>
        <p:nvSpPr>
          <p:cNvPr id="20" name="Shape 18"/>
          <p:cNvSpPr/>
          <p:nvPr/>
        </p:nvSpPr>
        <p:spPr>
          <a:xfrm>
            <a:off x="2740914" y="1858518"/>
            <a:ext cx="155448" cy="155448"/>
          </a:xfrm>
          <a:prstGeom prst="ellipse">
            <a:avLst/>
          </a:prstGeom>
          <a:solidFill>
            <a:srgbClr val="C8414C"/>
          </a:solidFill>
          <a:ln w="9525">
            <a:solidFill>
              <a:srgbClr val="8E2A33"/>
            </a:solidFill>
            <a:prstDash val="solid"/>
          </a:ln>
        </p:spPr>
      </p:sp>
      <p:sp>
        <p:nvSpPr>
          <p:cNvPr id="21" name="Shape 19"/>
          <p:cNvSpPr/>
          <p:nvPr/>
        </p:nvSpPr>
        <p:spPr>
          <a:xfrm>
            <a:off x="806958" y="2073402"/>
            <a:ext cx="155448" cy="155448"/>
          </a:xfrm>
          <a:prstGeom prst="ellipse">
            <a:avLst/>
          </a:prstGeom>
          <a:solidFill>
            <a:srgbClr val="C8414C"/>
          </a:solidFill>
          <a:ln w="9525">
            <a:solidFill>
              <a:srgbClr val="8E2A33"/>
            </a:solidFill>
            <a:prstDash val="solid"/>
          </a:ln>
        </p:spPr>
      </p:sp>
      <p:sp>
        <p:nvSpPr>
          <p:cNvPr id="22" name="Shape 20"/>
          <p:cNvSpPr/>
          <p:nvPr/>
        </p:nvSpPr>
        <p:spPr>
          <a:xfrm>
            <a:off x="1021842" y="2073402"/>
            <a:ext cx="155448" cy="155448"/>
          </a:xfrm>
          <a:prstGeom prst="ellipse">
            <a:avLst/>
          </a:prstGeom>
          <a:solidFill>
            <a:srgbClr val="C8414C"/>
          </a:solidFill>
          <a:ln w="9525">
            <a:solidFill>
              <a:srgbClr val="8E2A33"/>
            </a:solidFill>
            <a:prstDash val="solid"/>
          </a:ln>
        </p:spPr>
      </p:sp>
      <p:sp>
        <p:nvSpPr>
          <p:cNvPr id="23" name="Shape 21"/>
          <p:cNvSpPr/>
          <p:nvPr/>
        </p:nvSpPr>
        <p:spPr>
          <a:xfrm>
            <a:off x="1236726" y="2073402"/>
            <a:ext cx="155448" cy="155448"/>
          </a:xfrm>
          <a:prstGeom prst="ellipse">
            <a:avLst/>
          </a:prstGeom>
          <a:solidFill>
            <a:srgbClr val="C8414C"/>
          </a:solidFill>
          <a:ln w="9525">
            <a:solidFill>
              <a:srgbClr val="8E2A33"/>
            </a:solidFill>
            <a:prstDash val="solid"/>
          </a:ln>
        </p:spPr>
      </p:sp>
      <p:sp>
        <p:nvSpPr>
          <p:cNvPr id="24" name="Shape 22"/>
          <p:cNvSpPr/>
          <p:nvPr/>
        </p:nvSpPr>
        <p:spPr>
          <a:xfrm>
            <a:off x="1451610" y="2073402"/>
            <a:ext cx="155448" cy="155448"/>
          </a:xfrm>
          <a:prstGeom prst="ellipse">
            <a:avLst/>
          </a:prstGeom>
          <a:solidFill>
            <a:srgbClr val="C8414C"/>
          </a:solidFill>
          <a:ln w="9525">
            <a:solidFill>
              <a:srgbClr val="8E2A33"/>
            </a:solidFill>
            <a:prstDash val="solid"/>
          </a:ln>
        </p:spPr>
      </p:sp>
      <p:sp>
        <p:nvSpPr>
          <p:cNvPr id="25" name="Shape 23"/>
          <p:cNvSpPr/>
          <p:nvPr/>
        </p:nvSpPr>
        <p:spPr>
          <a:xfrm>
            <a:off x="1666494" y="2073402"/>
            <a:ext cx="155448" cy="155448"/>
          </a:xfrm>
          <a:prstGeom prst="ellipse">
            <a:avLst/>
          </a:prstGeom>
          <a:solidFill>
            <a:srgbClr val="C8414C"/>
          </a:solidFill>
          <a:ln w="9525">
            <a:solidFill>
              <a:srgbClr val="8E2A33"/>
            </a:solidFill>
            <a:prstDash val="solid"/>
          </a:ln>
        </p:spPr>
      </p:sp>
      <p:sp>
        <p:nvSpPr>
          <p:cNvPr id="26" name="Shape 24"/>
          <p:cNvSpPr/>
          <p:nvPr/>
        </p:nvSpPr>
        <p:spPr>
          <a:xfrm>
            <a:off x="1881378" y="2073402"/>
            <a:ext cx="155448" cy="155448"/>
          </a:xfrm>
          <a:prstGeom prst="ellipse">
            <a:avLst/>
          </a:prstGeom>
          <a:solidFill>
            <a:srgbClr val="C8414C"/>
          </a:solidFill>
          <a:ln w="9525">
            <a:solidFill>
              <a:srgbClr val="8E2A33"/>
            </a:solidFill>
            <a:prstDash val="solid"/>
          </a:ln>
        </p:spPr>
      </p:sp>
      <p:sp>
        <p:nvSpPr>
          <p:cNvPr id="27" name="Shape 25"/>
          <p:cNvSpPr/>
          <p:nvPr/>
        </p:nvSpPr>
        <p:spPr>
          <a:xfrm>
            <a:off x="2096262" y="2073402"/>
            <a:ext cx="155448" cy="155448"/>
          </a:xfrm>
          <a:prstGeom prst="ellipse">
            <a:avLst/>
          </a:prstGeom>
          <a:solidFill>
            <a:srgbClr val="C8414C"/>
          </a:solidFill>
          <a:ln w="9525">
            <a:solidFill>
              <a:srgbClr val="8E2A33"/>
            </a:solidFill>
            <a:prstDash val="solid"/>
          </a:ln>
        </p:spPr>
      </p:sp>
      <p:sp>
        <p:nvSpPr>
          <p:cNvPr id="28" name="Shape 26"/>
          <p:cNvSpPr/>
          <p:nvPr/>
        </p:nvSpPr>
        <p:spPr>
          <a:xfrm>
            <a:off x="2311146" y="2073402"/>
            <a:ext cx="155448" cy="155448"/>
          </a:xfrm>
          <a:prstGeom prst="ellipse">
            <a:avLst/>
          </a:prstGeom>
          <a:solidFill>
            <a:srgbClr val="C8414C"/>
          </a:solidFill>
          <a:ln w="9525">
            <a:solidFill>
              <a:srgbClr val="8E2A33"/>
            </a:solidFill>
            <a:prstDash val="solid"/>
          </a:ln>
        </p:spPr>
      </p:sp>
      <p:sp>
        <p:nvSpPr>
          <p:cNvPr id="29" name="Shape 27"/>
          <p:cNvSpPr/>
          <p:nvPr/>
        </p:nvSpPr>
        <p:spPr>
          <a:xfrm>
            <a:off x="2526030" y="2073402"/>
            <a:ext cx="155448" cy="155448"/>
          </a:xfrm>
          <a:prstGeom prst="ellipse">
            <a:avLst/>
          </a:prstGeom>
          <a:solidFill>
            <a:srgbClr val="C8414C"/>
          </a:solidFill>
          <a:ln w="9525">
            <a:solidFill>
              <a:srgbClr val="8E2A33"/>
            </a:solidFill>
            <a:prstDash val="solid"/>
          </a:ln>
        </p:spPr>
      </p:sp>
      <p:sp>
        <p:nvSpPr>
          <p:cNvPr id="30" name="Shape 28"/>
          <p:cNvSpPr/>
          <p:nvPr/>
        </p:nvSpPr>
        <p:spPr>
          <a:xfrm>
            <a:off x="2740914" y="2073402"/>
            <a:ext cx="155448" cy="155448"/>
          </a:xfrm>
          <a:prstGeom prst="ellipse">
            <a:avLst/>
          </a:prstGeom>
          <a:solidFill>
            <a:srgbClr val="C8414C"/>
          </a:solidFill>
          <a:ln w="9525">
            <a:solidFill>
              <a:srgbClr val="8E2A33"/>
            </a:solidFill>
            <a:prstDash val="solid"/>
          </a:ln>
        </p:spPr>
      </p:sp>
      <p:sp>
        <p:nvSpPr>
          <p:cNvPr id="31" name="Shape 29"/>
          <p:cNvSpPr/>
          <p:nvPr/>
        </p:nvSpPr>
        <p:spPr>
          <a:xfrm>
            <a:off x="806958" y="2288286"/>
            <a:ext cx="155448" cy="155448"/>
          </a:xfrm>
          <a:prstGeom prst="ellipse">
            <a:avLst/>
          </a:prstGeom>
          <a:solidFill>
            <a:srgbClr val="C8414C"/>
          </a:solidFill>
          <a:ln w="9525">
            <a:solidFill>
              <a:srgbClr val="8E2A33"/>
            </a:solidFill>
            <a:prstDash val="solid"/>
          </a:ln>
        </p:spPr>
      </p:sp>
      <p:sp>
        <p:nvSpPr>
          <p:cNvPr id="32" name="Shape 30"/>
          <p:cNvSpPr/>
          <p:nvPr/>
        </p:nvSpPr>
        <p:spPr>
          <a:xfrm>
            <a:off x="1021842" y="2288286"/>
            <a:ext cx="155448" cy="155448"/>
          </a:xfrm>
          <a:prstGeom prst="ellipse">
            <a:avLst/>
          </a:prstGeom>
          <a:solidFill>
            <a:srgbClr val="C8414C"/>
          </a:solidFill>
          <a:ln w="9525">
            <a:solidFill>
              <a:srgbClr val="8E2A33"/>
            </a:solidFill>
            <a:prstDash val="solid"/>
          </a:ln>
        </p:spPr>
      </p:sp>
      <p:sp>
        <p:nvSpPr>
          <p:cNvPr id="33" name="Shape 31"/>
          <p:cNvSpPr/>
          <p:nvPr/>
        </p:nvSpPr>
        <p:spPr>
          <a:xfrm>
            <a:off x="1236726" y="2288286"/>
            <a:ext cx="155448" cy="155448"/>
          </a:xfrm>
          <a:prstGeom prst="ellipse">
            <a:avLst/>
          </a:prstGeom>
          <a:solidFill>
            <a:srgbClr val="C8414C"/>
          </a:solidFill>
          <a:ln w="9525">
            <a:solidFill>
              <a:srgbClr val="8E2A33"/>
            </a:solidFill>
            <a:prstDash val="solid"/>
          </a:ln>
        </p:spPr>
      </p:sp>
      <p:sp>
        <p:nvSpPr>
          <p:cNvPr id="34" name="Shape 32"/>
          <p:cNvSpPr/>
          <p:nvPr/>
        </p:nvSpPr>
        <p:spPr>
          <a:xfrm>
            <a:off x="1451610" y="2288286"/>
            <a:ext cx="155448" cy="155448"/>
          </a:xfrm>
          <a:prstGeom prst="ellipse">
            <a:avLst/>
          </a:prstGeom>
          <a:solidFill>
            <a:srgbClr val="C8414C"/>
          </a:solidFill>
          <a:ln w="9525">
            <a:solidFill>
              <a:srgbClr val="8E2A33"/>
            </a:solidFill>
            <a:prstDash val="solid"/>
          </a:ln>
        </p:spPr>
      </p:sp>
      <p:sp>
        <p:nvSpPr>
          <p:cNvPr id="35" name="Shape 33"/>
          <p:cNvSpPr/>
          <p:nvPr/>
        </p:nvSpPr>
        <p:spPr>
          <a:xfrm>
            <a:off x="1666494" y="2288286"/>
            <a:ext cx="155448" cy="155448"/>
          </a:xfrm>
          <a:prstGeom prst="ellipse">
            <a:avLst/>
          </a:prstGeom>
          <a:solidFill>
            <a:srgbClr val="C8414C"/>
          </a:solidFill>
          <a:ln w="9525">
            <a:solidFill>
              <a:srgbClr val="8E2A33"/>
            </a:solidFill>
            <a:prstDash val="solid"/>
          </a:ln>
        </p:spPr>
      </p:sp>
      <p:sp>
        <p:nvSpPr>
          <p:cNvPr id="36" name="Shape 34"/>
          <p:cNvSpPr/>
          <p:nvPr/>
        </p:nvSpPr>
        <p:spPr>
          <a:xfrm>
            <a:off x="1881378" y="2288286"/>
            <a:ext cx="155448" cy="155448"/>
          </a:xfrm>
          <a:prstGeom prst="ellipse">
            <a:avLst/>
          </a:prstGeom>
          <a:solidFill>
            <a:srgbClr val="C8414C"/>
          </a:solidFill>
          <a:ln w="9525">
            <a:solidFill>
              <a:srgbClr val="8E2A33"/>
            </a:solidFill>
            <a:prstDash val="solid"/>
          </a:ln>
        </p:spPr>
      </p:sp>
      <p:sp>
        <p:nvSpPr>
          <p:cNvPr id="37" name="Shape 35"/>
          <p:cNvSpPr/>
          <p:nvPr/>
        </p:nvSpPr>
        <p:spPr>
          <a:xfrm>
            <a:off x="2096262" y="2288286"/>
            <a:ext cx="155448" cy="155448"/>
          </a:xfrm>
          <a:prstGeom prst="ellipse">
            <a:avLst/>
          </a:prstGeom>
          <a:solidFill>
            <a:srgbClr val="C8414C"/>
          </a:solidFill>
          <a:ln w="9525">
            <a:solidFill>
              <a:srgbClr val="8E2A33"/>
            </a:solidFill>
            <a:prstDash val="solid"/>
          </a:ln>
        </p:spPr>
      </p:sp>
      <p:sp>
        <p:nvSpPr>
          <p:cNvPr id="38" name="Shape 36"/>
          <p:cNvSpPr/>
          <p:nvPr/>
        </p:nvSpPr>
        <p:spPr>
          <a:xfrm>
            <a:off x="2311146" y="2288286"/>
            <a:ext cx="155448" cy="155448"/>
          </a:xfrm>
          <a:prstGeom prst="ellipse">
            <a:avLst/>
          </a:prstGeom>
          <a:solidFill>
            <a:srgbClr val="C8414C"/>
          </a:solidFill>
          <a:ln w="9525">
            <a:solidFill>
              <a:srgbClr val="8E2A33"/>
            </a:solidFill>
            <a:prstDash val="solid"/>
          </a:ln>
        </p:spPr>
      </p:sp>
      <p:sp>
        <p:nvSpPr>
          <p:cNvPr id="39" name="Shape 37"/>
          <p:cNvSpPr/>
          <p:nvPr/>
        </p:nvSpPr>
        <p:spPr>
          <a:xfrm>
            <a:off x="2526030" y="2288286"/>
            <a:ext cx="155448" cy="155448"/>
          </a:xfrm>
          <a:prstGeom prst="ellipse">
            <a:avLst/>
          </a:prstGeom>
          <a:solidFill>
            <a:srgbClr val="C8414C"/>
          </a:solidFill>
          <a:ln w="9525">
            <a:solidFill>
              <a:srgbClr val="8E2A33"/>
            </a:solidFill>
            <a:prstDash val="solid"/>
          </a:ln>
        </p:spPr>
      </p:sp>
      <p:sp>
        <p:nvSpPr>
          <p:cNvPr id="40" name="Shape 38"/>
          <p:cNvSpPr/>
          <p:nvPr/>
        </p:nvSpPr>
        <p:spPr>
          <a:xfrm>
            <a:off x="2740914" y="2288286"/>
            <a:ext cx="155448" cy="155448"/>
          </a:xfrm>
          <a:prstGeom prst="ellipse">
            <a:avLst/>
          </a:prstGeom>
          <a:solidFill>
            <a:srgbClr val="C8414C"/>
          </a:solidFill>
          <a:ln w="9525">
            <a:solidFill>
              <a:srgbClr val="8E2A33"/>
            </a:solidFill>
            <a:prstDash val="solid"/>
          </a:ln>
        </p:spPr>
      </p:sp>
      <p:sp>
        <p:nvSpPr>
          <p:cNvPr id="41" name="Shape 39"/>
          <p:cNvSpPr/>
          <p:nvPr/>
        </p:nvSpPr>
        <p:spPr>
          <a:xfrm>
            <a:off x="806958" y="2503170"/>
            <a:ext cx="155448" cy="155448"/>
          </a:xfrm>
          <a:prstGeom prst="ellipse">
            <a:avLst/>
          </a:prstGeom>
          <a:solidFill>
            <a:srgbClr val="C8414C"/>
          </a:solidFill>
          <a:ln w="9525">
            <a:solidFill>
              <a:srgbClr val="8E2A33"/>
            </a:solidFill>
            <a:prstDash val="solid"/>
          </a:ln>
        </p:spPr>
      </p:sp>
      <p:sp>
        <p:nvSpPr>
          <p:cNvPr id="42" name="Shape 40"/>
          <p:cNvSpPr/>
          <p:nvPr/>
        </p:nvSpPr>
        <p:spPr>
          <a:xfrm>
            <a:off x="1021842" y="2503170"/>
            <a:ext cx="155448" cy="155448"/>
          </a:xfrm>
          <a:prstGeom prst="ellipse">
            <a:avLst/>
          </a:prstGeom>
          <a:solidFill>
            <a:srgbClr val="C8414C"/>
          </a:solidFill>
          <a:ln w="9525">
            <a:solidFill>
              <a:srgbClr val="8E2A33"/>
            </a:solidFill>
            <a:prstDash val="solid"/>
          </a:ln>
        </p:spPr>
      </p:sp>
      <p:sp>
        <p:nvSpPr>
          <p:cNvPr id="43" name="Shape 41"/>
          <p:cNvSpPr/>
          <p:nvPr/>
        </p:nvSpPr>
        <p:spPr>
          <a:xfrm>
            <a:off x="1236726" y="2503170"/>
            <a:ext cx="155448" cy="155448"/>
          </a:xfrm>
          <a:prstGeom prst="ellipse">
            <a:avLst/>
          </a:prstGeom>
          <a:solidFill>
            <a:srgbClr val="C8414C"/>
          </a:solidFill>
          <a:ln w="9525">
            <a:solidFill>
              <a:srgbClr val="8E2A33"/>
            </a:solidFill>
            <a:prstDash val="solid"/>
          </a:ln>
        </p:spPr>
      </p:sp>
      <p:sp>
        <p:nvSpPr>
          <p:cNvPr id="44" name="Shape 42"/>
          <p:cNvSpPr/>
          <p:nvPr/>
        </p:nvSpPr>
        <p:spPr>
          <a:xfrm>
            <a:off x="1451610" y="2503170"/>
            <a:ext cx="155448" cy="155448"/>
          </a:xfrm>
          <a:prstGeom prst="ellipse">
            <a:avLst/>
          </a:prstGeom>
          <a:solidFill>
            <a:srgbClr val="C8414C"/>
          </a:solidFill>
          <a:ln w="9525">
            <a:solidFill>
              <a:srgbClr val="8E2A33"/>
            </a:solidFill>
            <a:prstDash val="solid"/>
          </a:ln>
        </p:spPr>
      </p:sp>
      <p:sp>
        <p:nvSpPr>
          <p:cNvPr id="45" name="Shape 43"/>
          <p:cNvSpPr/>
          <p:nvPr/>
        </p:nvSpPr>
        <p:spPr>
          <a:xfrm>
            <a:off x="1666494" y="2503170"/>
            <a:ext cx="155448" cy="155448"/>
          </a:xfrm>
          <a:prstGeom prst="ellipse">
            <a:avLst/>
          </a:prstGeom>
          <a:solidFill>
            <a:srgbClr val="C8414C"/>
          </a:solidFill>
          <a:ln w="9525">
            <a:solidFill>
              <a:srgbClr val="8E2A33"/>
            </a:solidFill>
            <a:prstDash val="solid"/>
          </a:ln>
        </p:spPr>
      </p:sp>
      <p:sp>
        <p:nvSpPr>
          <p:cNvPr id="46" name="Shape 44"/>
          <p:cNvSpPr/>
          <p:nvPr/>
        </p:nvSpPr>
        <p:spPr>
          <a:xfrm>
            <a:off x="1881378" y="2503170"/>
            <a:ext cx="155448" cy="155448"/>
          </a:xfrm>
          <a:prstGeom prst="ellipse">
            <a:avLst/>
          </a:prstGeom>
          <a:solidFill>
            <a:srgbClr val="C8414C"/>
          </a:solidFill>
          <a:ln w="9525">
            <a:solidFill>
              <a:srgbClr val="8E2A33"/>
            </a:solidFill>
            <a:prstDash val="solid"/>
          </a:ln>
        </p:spPr>
      </p:sp>
      <p:sp>
        <p:nvSpPr>
          <p:cNvPr id="47" name="Shape 45"/>
          <p:cNvSpPr/>
          <p:nvPr/>
        </p:nvSpPr>
        <p:spPr>
          <a:xfrm>
            <a:off x="2096262" y="2503170"/>
            <a:ext cx="155448" cy="155448"/>
          </a:xfrm>
          <a:prstGeom prst="ellipse">
            <a:avLst/>
          </a:prstGeom>
          <a:solidFill>
            <a:srgbClr val="C8414C"/>
          </a:solidFill>
          <a:ln w="9525">
            <a:solidFill>
              <a:srgbClr val="8E2A33"/>
            </a:solidFill>
            <a:prstDash val="solid"/>
          </a:ln>
        </p:spPr>
      </p:sp>
      <p:sp>
        <p:nvSpPr>
          <p:cNvPr id="48" name="Shape 46"/>
          <p:cNvSpPr/>
          <p:nvPr/>
        </p:nvSpPr>
        <p:spPr>
          <a:xfrm>
            <a:off x="2311146" y="2503170"/>
            <a:ext cx="155448" cy="155448"/>
          </a:xfrm>
          <a:prstGeom prst="ellipse">
            <a:avLst/>
          </a:prstGeom>
          <a:solidFill>
            <a:srgbClr val="C8414C"/>
          </a:solidFill>
          <a:ln w="9525">
            <a:solidFill>
              <a:srgbClr val="8E2A33"/>
            </a:solidFill>
            <a:prstDash val="solid"/>
          </a:ln>
        </p:spPr>
      </p:sp>
      <p:sp>
        <p:nvSpPr>
          <p:cNvPr id="49" name="Shape 47"/>
          <p:cNvSpPr/>
          <p:nvPr/>
        </p:nvSpPr>
        <p:spPr>
          <a:xfrm>
            <a:off x="2526030" y="2503170"/>
            <a:ext cx="155448" cy="155448"/>
          </a:xfrm>
          <a:prstGeom prst="ellipse">
            <a:avLst/>
          </a:prstGeom>
          <a:solidFill>
            <a:srgbClr val="C8414C"/>
          </a:solidFill>
          <a:ln w="9525">
            <a:solidFill>
              <a:srgbClr val="8E2A33"/>
            </a:solidFill>
            <a:prstDash val="solid"/>
          </a:ln>
        </p:spPr>
      </p:sp>
      <p:sp>
        <p:nvSpPr>
          <p:cNvPr id="50" name="Shape 48"/>
          <p:cNvSpPr/>
          <p:nvPr/>
        </p:nvSpPr>
        <p:spPr>
          <a:xfrm>
            <a:off x="2740914" y="2503170"/>
            <a:ext cx="155448" cy="155448"/>
          </a:xfrm>
          <a:prstGeom prst="ellipse">
            <a:avLst/>
          </a:prstGeom>
          <a:solidFill>
            <a:srgbClr val="C8414C"/>
          </a:solidFill>
          <a:ln w="9525">
            <a:solidFill>
              <a:srgbClr val="8E2A33"/>
            </a:solidFill>
            <a:prstDash val="solid"/>
          </a:ln>
        </p:spPr>
      </p:sp>
      <p:sp>
        <p:nvSpPr>
          <p:cNvPr id="51" name="Shape 49"/>
          <p:cNvSpPr/>
          <p:nvPr/>
        </p:nvSpPr>
        <p:spPr>
          <a:xfrm>
            <a:off x="806958" y="2718054"/>
            <a:ext cx="155448" cy="155448"/>
          </a:xfrm>
          <a:prstGeom prst="ellipse">
            <a:avLst/>
          </a:prstGeom>
          <a:solidFill>
            <a:srgbClr val="C8414C"/>
          </a:solidFill>
          <a:ln w="9525">
            <a:solidFill>
              <a:srgbClr val="8E2A33"/>
            </a:solidFill>
            <a:prstDash val="solid"/>
          </a:ln>
        </p:spPr>
      </p:sp>
      <p:sp>
        <p:nvSpPr>
          <p:cNvPr id="52" name="Shape 50"/>
          <p:cNvSpPr/>
          <p:nvPr/>
        </p:nvSpPr>
        <p:spPr>
          <a:xfrm>
            <a:off x="1021842" y="2718054"/>
            <a:ext cx="155448" cy="155448"/>
          </a:xfrm>
          <a:prstGeom prst="ellipse">
            <a:avLst/>
          </a:prstGeom>
          <a:solidFill>
            <a:srgbClr val="C8414C"/>
          </a:solidFill>
          <a:ln w="9525">
            <a:solidFill>
              <a:srgbClr val="8E2A33"/>
            </a:solidFill>
            <a:prstDash val="solid"/>
          </a:ln>
        </p:spPr>
      </p:sp>
      <p:sp>
        <p:nvSpPr>
          <p:cNvPr id="53" name="Shape 51"/>
          <p:cNvSpPr/>
          <p:nvPr/>
        </p:nvSpPr>
        <p:spPr>
          <a:xfrm>
            <a:off x="1236726" y="2718054"/>
            <a:ext cx="155448" cy="155448"/>
          </a:xfrm>
          <a:prstGeom prst="ellipse">
            <a:avLst/>
          </a:prstGeom>
          <a:solidFill>
            <a:srgbClr val="C8414C"/>
          </a:solidFill>
          <a:ln w="9525">
            <a:solidFill>
              <a:srgbClr val="8E2A33"/>
            </a:solidFill>
            <a:prstDash val="solid"/>
          </a:ln>
        </p:spPr>
      </p:sp>
      <p:sp>
        <p:nvSpPr>
          <p:cNvPr id="54" name="Shape 52"/>
          <p:cNvSpPr/>
          <p:nvPr/>
        </p:nvSpPr>
        <p:spPr>
          <a:xfrm>
            <a:off x="1451610" y="2718054"/>
            <a:ext cx="155448" cy="155448"/>
          </a:xfrm>
          <a:prstGeom prst="ellipse">
            <a:avLst/>
          </a:prstGeom>
          <a:solidFill>
            <a:srgbClr val="C8414C"/>
          </a:solidFill>
          <a:ln w="9525">
            <a:solidFill>
              <a:srgbClr val="8E2A33"/>
            </a:solidFill>
            <a:prstDash val="solid"/>
          </a:ln>
        </p:spPr>
      </p:sp>
      <p:sp>
        <p:nvSpPr>
          <p:cNvPr id="55" name="Shape 53"/>
          <p:cNvSpPr/>
          <p:nvPr/>
        </p:nvSpPr>
        <p:spPr>
          <a:xfrm>
            <a:off x="1666494" y="2718054"/>
            <a:ext cx="155448" cy="155448"/>
          </a:xfrm>
          <a:prstGeom prst="ellipse">
            <a:avLst/>
          </a:prstGeom>
          <a:solidFill>
            <a:srgbClr val="C8414C"/>
          </a:solidFill>
          <a:ln w="9525">
            <a:solidFill>
              <a:srgbClr val="8E2A33"/>
            </a:solidFill>
            <a:prstDash val="solid"/>
          </a:ln>
        </p:spPr>
      </p:sp>
      <p:sp>
        <p:nvSpPr>
          <p:cNvPr id="56" name="Shape 54"/>
          <p:cNvSpPr/>
          <p:nvPr/>
        </p:nvSpPr>
        <p:spPr>
          <a:xfrm>
            <a:off x="1881378" y="2718054"/>
            <a:ext cx="155448" cy="155448"/>
          </a:xfrm>
          <a:prstGeom prst="ellipse">
            <a:avLst/>
          </a:prstGeom>
          <a:solidFill>
            <a:srgbClr val="C8414C"/>
          </a:solidFill>
          <a:ln w="9525">
            <a:solidFill>
              <a:srgbClr val="8E2A33"/>
            </a:solidFill>
            <a:prstDash val="solid"/>
          </a:ln>
        </p:spPr>
      </p:sp>
      <p:sp>
        <p:nvSpPr>
          <p:cNvPr id="57" name="Shape 55"/>
          <p:cNvSpPr/>
          <p:nvPr/>
        </p:nvSpPr>
        <p:spPr>
          <a:xfrm>
            <a:off x="2096262" y="2718054"/>
            <a:ext cx="155448" cy="155448"/>
          </a:xfrm>
          <a:prstGeom prst="ellipse">
            <a:avLst/>
          </a:prstGeom>
          <a:solidFill>
            <a:srgbClr val="C8414C"/>
          </a:solidFill>
          <a:ln w="9525">
            <a:solidFill>
              <a:srgbClr val="8E2A33"/>
            </a:solidFill>
            <a:prstDash val="solid"/>
          </a:ln>
        </p:spPr>
      </p:sp>
      <p:sp>
        <p:nvSpPr>
          <p:cNvPr id="58" name="Shape 56"/>
          <p:cNvSpPr/>
          <p:nvPr/>
        </p:nvSpPr>
        <p:spPr>
          <a:xfrm>
            <a:off x="2311146" y="2718054"/>
            <a:ext cx="155448" cy="155448"/>
          </a:xfrm>
          <a:prstGeom prst="ellipse">
            <a:avLst/>
          </a:prstGeom>
          <a:solidFill>
            <a:srgbClr val="C8414C"/>
          </a:solidFill>
          <a:ln w="9525">
            <a:solidFill>
              <a:srgbClr val="8E2A33"/>
            </a:solidFill>
            <a:prstDash val="solid"/>
          </a:ln>
        </p:spPr>
      </p:sp>
      <p:sp>
        <p:nvSpPr>
          <p:cNvPr id="59" name="Shape 57"/>
          <p:cNvSpPr/>
          <p:nvPr/>
        </p:nvSpPr>
        <p:spPr>
          <a:xfrm>
            <a:off x="2526030" y="2718054"/>
            <a:ext cx="155448" cy="155448"/>
          </a:xfrm>
          <a:prstGeom prst="ellipse">
            <a:avLst/>
          </a:prstGeom>
          <a:solidFill>
            <a:srgbClr val="C8414C"/>
          </a:solidFill>
          <a:ln w="9525">
            <a:solidFill>
              <a:srgbClr val="8E2A33"/>
            </a:solidFill>
            <a:prstDash val="solid"/>
          </a:ln>
        </p:spPr>
      </p:sp>
      <p:sp>
        <p:nvSpPr>
          <p:cNvPr id="60" name="Shape 58"/>
          <p:cNvSpPr/>
          <p:nvPr/>
        </p:nvSpPr>
        <p:spPr>
          <a:xfrm>
            <a:off x="2740914" y="2718054"/>
            <a:ext cx="155448" cy="155448"/>
          </a:xfrm>
          <a:prstGeom prst="ellipse">
            <a:avLst/>
          </a:prstGeom>
          <a:solidFill>
            <a:srgbClr val="C8414C"/>
          </a:solidFill>
          <a:ln w="9525">
            <a:solidFill>
              <a:srgbClr val="8E2A33"/>
            </a:solidFill>
            <a:prstDash val="solid"/>
          </a:ln>
        </p:spPr>
      </p:sp>
      <p:sp>
        <p:nvSpPr>
          <p:cNvPr id="61" name="Shape 59"/>
          <p:cNvSpPr/>
          <p:nvPr/>
        </p:nvSpPr>
        <p:spPr>
          <a:xfrm>
            <a:off x="806958" y="2932938"/>
            <a:ext cx="155448" cy="155448"/>
          </a:xfrm>
          <a:prstGeom prst="ellipse">
            <a:avLst/>
          </a:prstGeom>
          <a:solidFill>
            <a:srgbClr val="C8414C"/>
          </a:solidFill>
          <a:ln w="9525">
            <a:solidFill>
              <a:srgbClr val="8E2A33"/>
            </a:solidFill>
            <a:prstDash val="solid"/>
          </a:ln>
        </p:spPr>
      </p:sp>
      <p:sp>
        <p:nvSpPr>
          <p:cNvPr id="62" name="Shape 60"/>
          <p:cNvSpPr/>
          <p:nvPr/>
        </p:nvSpPr>
        <p:spPr>
          <a:xfrm>
            <a:off x="1021842" y="2932938"/>
            <a:ext cx="155448" cy="155448"/>
          </a:xfrm>
          <a:prstGeom prst="ellipse">
            <a:avLst/>
          </a:prstGeom>
          <a:solidFill>
            <a:srgbClr val="C8414C"/>
          </a:solidFill>
          <a:ln w="9525">
            <a:solidFill>
              <a:srgbClr val="8E2A33"/>
            </a:solidFill>
            <a:prstDash val="solid"/>
          </a:ln>
        </p:spPr>
      </p:sp>
      <p:sp>
        <p:nvSpPr>
          <p:cNvPr id="63" name="Shape 61"/>
          <p:cNvSpPr/>
          <p:nvPr/>
        </p:nvSpPr>
        <p:spPr>
          <a:xfrm>
            <a:off x="1236726" y="2932938"/>
            <a:ext cx="155448" cy="155448"/>
          </a:xfrm>
          <a:prstGeom prst="ellipse">
            <a:avLst/>
          </a:prstGeom>
          <a:solidFill>
            <a:srgbClr val="C8414C"/>
          </a:solidFill>
          <a:ln w="9525">
            <a:solidFill>
              <a:srgbClr val="8E2A33"/>
            </a:solidFill>
            <a:prstDash val="solid"/>
          </a:ln>
        </p:spPr>
      </p:sp>
      <p:sp>
        <p:nvSpPr>
          <p:cNvPr id="64" name="Shape 62"/>
          <p:cNvSpPr/>
          <p:nvPr/>
        </p:nvSpPr>
        <p:spPr>
          <a:xfrm>
            <a:off x="1451610" y="2932938"/>
            <a:ext cx="155448" cy="155448"/>
          </a:xfrm>
          <a:prstGeom prst="ellipse">
            <a:avLst/>
          </a:prstGeom>
          <a:solidFill>
            <a:srgbClr val="C8414C"/>
          </a:solidFill>
          <a:ln w="9525">
            <a:solidFill>
              <a:srgbClr val="8E2A33"/>
            </a:solidFill>
            <a:prstDash val="solid"/>
          </a:ln>
        </p:spPr>
      </p:sp>
      <p:sp>
        <p:nvSpPr>
          <p:cNvPr id="65" name="Shape 63"/>
          <p:cNvSpPr/>
          <p:nvPr/>
        </p:nvSpPr>
        <p:spPr>
          <a:xfrm>
            <a:off x="1666494" y="2932938"/>
            <a:ext cx="155448" cy="155448"/>
          </a:xfrm>
          <a:prstGeom prst="ellipse">
            <a:avLst/>
          </a:prstGeom>
          <a:solidFill>
            <a:srgbClr val="C8414C"/>
          </a:solidFill>
          <a:ln w="9525">
            <a:solidFill>
              <a:srgbClr val="8E2A33"/>
            </a:solidFill>
            <a:prstDash val="solid"/>
          </a:ln>
        </p:spPr>
      </p:sp>
      <p:sp>
        <p:nvSpPr>
          <p:cNvPr id="66" name="Shape 64"/>
          <p:cNvSpPr/>
          <p:nvPr/>
        </p:nvSpPr>
        <p:spPr>
          <a:xfrm>
            <a:off x="1881378" y="2932938"/>
            <a:ext cx="155448" cy="155448"/>
          </a:xfrm>
          <a:prstGeom prst="ellipse">
            <a:avLst/>
          </a:prstGeom>
          <a:solidFill>
            <a:srgbClr val="C8414C"/>
          </a:solidFill>
          <a:ln w="9525">
            <a:solidFill>
              <a:srgbClr val="8E2A33"/>
            </a:solidFill>
            <a:prstDash val="solid"/>
          </a:ln>
        </p:spPr>
      </p:sp>
      <p:sp>
        <p:nvSpPr>
          <p:cNvPr id="67" name="Shape 65"/>
          <p:cNvSpPr/>
          <p:nvPr/>
        </p:nvSpPr>
        <p:spPr>
          <a:xfrm>
            <a:off x="2096262" y="2932938"/>
            <a:ext cx="155448" cy="155448"/>
          </a:xfrm>
          <a:prstGeom prst="ellipse">
            <a:avLst/>
          </a:prstGeom>
          <a:solidFill>
            <a:srgbClr val="C8414C"/>
          </a:solidFill>
          <a:ln w="9525">
            <a:solidFill>
              <a:srgbClr val="8E2A33"/>
            </a:solidFill>
            <a:prstDash val="solid"/>
          </a:ln>
        </p:spPr>
      </p:sp>
      <p:sp>
        <p:nvSpPr>
          <p:cNvPr id="68" name="Shape 66"/>
          <p:cNvSpPr/>
          <p:nvPr/>
        </p:nvSpPr>
        <p:spPr>
          <a:xfrm>
            <a:off x="2311146" y="2932938"/>
            <a:ext cx="155448" cy="155448"/>
          </a:xfrm>
          <a:prstGeom prst="ellipse">
            <a:avLst/>
          </a:prstGeom>
          <a:solidFill>
            <a:srgbClr val="C8414C"/>
          </a:solidFill>
          <a:ln w="9525">
            <a:solidFill>
              <a:srgbClr val="8E2A33"/>
            </a:solidFill>
            <a:prstDash val="solid"/>
          </a:ln>
        </p:spPr>
      </p:sp>
      <p:sp>
        <p:nvSpPr>
          <p:cNvPr id="69" name="Shape 67"/>
          <p:cNvSpPr/>
          <p:nvPr/>
        </p:nvSpPr>
        <p:spPr>
          <a:xfrm>
            <a:off x="2526030" y="2932938"/>
            <a:ext cx="155448" cy="155448"/>
          </a:xfrm>
          <a:prstGeom prst="ellipse">
            <a:avLst/>
          </a:prstGeom>
          <a:solidFill>
            <a:srgbClr val="C8414C"/>
          </a:solidFill>
          <a:ln w="9525">
            <a:solidFill>
              <a:srgbClr val="8E2A33"/>
            </a:solidFill>
            <a:prstDash val="solid"/>
          </a:ln>
        </p:spPr>
      </p:sp>
      <p:sp>
        <p:nvSpPr>
          <p:cNvPr id="70" name="Shape 68"/>
          <p:cNvSpPr/>
          <p:nvPr/>
        </p:nvSpPr>
        <p:spPr>
          <a:xfrm>
            <a:off x="2740914" y="2932938"/>
            <a:ext cx="155448" cy="155448"/>
          </a:xfrm>
          <a:prstGeom prst="ellipse">
            <a:avLst/>
          </a:prstGeom>
          <a:solidFill>
            <a:srgbClr val="C8414C"/>
          </a:solidFill>
          <a:ln w="9525">
            <a:solidFill>
              <a:srgbClr val="8E2A33"/>
            </a:solidFill>
            <a:prstDash val="solid"/>
          </a:ln>
        </p:spPr>
      </p:sp>
      <p:sp>
        <p:nvSpPr>
          <p:cNvPr id="71" name="Shape 69"/>
          <p:cNvSpPr/>
          <p:nvPr/>
        </p:nvSpPr>
        <p:spPr>
          <a:xfrm>
            <a:off x="806958" y="3147822"/>
            <a:ext cx="155448" cy="155448"/>
          </a:xfrm>
          <a:prstGeom prst="ellipse">
            <a:avLst/>
          </a:prstGeom>
          <a:solidFill>
            <a:srgbClr val="C8414C"/>
          </a:solidFill>
          <a:ln w="9525">
            <a:solidFill>
              <a:srgbClr val="8E2A33"/>
            </a:solidFill>
            <a:prstDash val="solid"/>
          </a:ln>
        </p:spPr>
      </p:sp>
      <p:sp>
        <p:nvSpPr>
          <p:cNvPr id="72" name="Shape 70"/>
          <p:cNvSpPr/>
          <p:nvPr/>
        </p:nvSpPr>
        <p:spPr>
          <a:xfrm>
            <a:off x="1021842" y="3147822"/>
            <a:ext cx="155448" cy="155448"/>
          </a:xfrm>
          <a:prstGeom prst="ellipse">
            <a:avLst/>
          </a:prstGeom>
          <a:solidFill>
            <a:srgbClr val="C8414C"/>
          </a:solidFill>
          <a:ln w="9525">
            <a:solidFill>
              <a:srgbClr val="8E2A33"/>
            </a:solidFill>
            <a:prstDash val="solid"/>
          </a:ln>
        </p:spPr>
      </p:sp>
      <p:sp>
        <p:nvSpPr>
          <p:cNvPr id="73" name="Shape 71"/>
          <p:cNvSpPr/>
          <p:nvPr/>
        </p:nvSpPr>
        <p:spPr>
          <a:xfrm>
            <a:off x="1236726" y="3147822"/>
            <a:ext cx="155448" cy="155448"/>
          </a:xfrm>
          <a:prstGeom prst="ellipse">
            <a:avLst/>
          </a:prstGeom>
          <a:solidFill>
            <a:srgbClr val="C8414C"/>
          </a:solidFill>
          <a:ln w="9525">
            <a:solidFill>
              <a:srgbClr val="8E2A33"/>
            </a:solidFill>
            <a:prstDash val="solid"/>
          </a:ln>
        </p:spPr>
      </p:sp>
      <p:sp>
        <p:nvSpPr>
          <p:cNvPr id="74" name="Shape 72"/>
          <p:cNvSpPr/>
          <p:nvPr/>
        </p:nvSpPr>
        <p:spPr>
          <a:xfrm>
            <a:off x="1451610" y="3147822"/>
            <a:ext cx="155448" cy="155448"/>
          </a:xfrm>
          <a:prstGeom prst="ellipse">
            <a:avLst/>
          </a:prstGeom>
          <a:solidFill>
            <a:srgbClr val="C8414C"/>
          </a:solidFill>
          <a:ln w="9525">
            <a:solidFill>
              <a:srgbClr val="8E2A33"/>
            </a:solidFill>
            <a:prstDash val="solid"/>
          </a:ln>
        </p:spPr>
      </p:sp>
      <p:sp>
        <p:nvSpPr>
          <p:cNvPr id="75" name="Shape 73"/>
          <p:cNvSpPr/>
          <p:nvPr/>
        </p:nvSpPr>
        <p:spPr>
          <a:xfrm>
            <a:off x="1666494" y="3147822"/>
            <a:ext cx="155448" cy="155448"/>
          </a:xfrm>
          <a:prstGeom prst="ellipse">
            <a:avLst/>
          </a:prstGeom>
          <a:solidFill>
            <a:srgbClr val="C8414C"/>
          </a:solidFill>
          <a:ln w="9525">
            <a:solidFill>
              <a:srgbClr val="8E2A33"/>
            </a:solidFill>
            <a:prstDash val="solid"/>
          </a:ln>
        </p:spPr>
      </p:sp>
      <p:sp>
        <p:nvSpPr>
          <p:cNvPr id="76" name="Shape 74"/>
          <p:cNvSpPr/>
          <p:nvPr/>
        </p:nvSpPr>
        <p:spPr>
          <a:xfrm>
            <a:off x="1881378" y="3147822"/>
            <a:ext cx="155448" cy="155448"/>
          </a:xfrm>
          <a:prstGeom prst="ellipse">
            <a:avLst/>
          </a:prstGeom>
          <a:solidFill>
            <a:srgbClr val="C8414C"/>
          </a:solidFill>
          <a:ln w="9525">
            <a:solidFill>
              <a:srgbClr val="8E2A33"/>
            </a:solidFill>
            <a:prstDash val="solid"/>
          </a:ln>
        </p:spPr>
      </p:sp>
      <p:sp>
        <p:nvSpPr>
          <p:cNvPr id="77" name="Shape 75"/>
          <p:cNvSpPr/>
          <p:nvPr/>
        </p:nvSpPr>
        <p:spPr>
          <a:xfrm>
            <a:off x="2096262" y="3147822"/>
            <a:ext cx="155448" cy="155448"/>
          </a:xfrm>
          <a:prstGeom prst="ellipse">
            <a:avLst/>
          </a:prstGeom>
          <a:solidFill>
            <a:srgbClr val="C8414C"/>
          </a:solidFill>
          <a:ln w="9525">
            <a:solidFill>
              <a:srgbClr val="8E2A33"/>
            </a:solidFill>
            <a:prstDash val="solid"/>
          </a:ln>
        </p:spPr>
      </p:sp>
      <p:sp>
        <p:nvSpPr>
          <p:cNvPr id="78" name="Shape 76"/>
          <p:cNvSpPr/>
          <p:nvPr/>
        </p:nvSpPr>
        <p:spPr>
          <a:xfrm>
            <a:off x="2311146" y="3147822"/>
            <a:ext cx="155448" cy="155448"/>
          </a:xfrm>
          <a:prstGeom prst="ellipse">
            <a:avLst/>
          </a:prstGeom>
          <a:solidFill>
            <a:srgbClr val="C8414C"/>
          </a:solidFill>
          <a:ln w="9525">
            <a:solidFill>
              <a:srgbClr val="8E2A33"/>
            </a:solidFill>
            <a:prstDash val="solid"/>
          </a:ln>
        </p:spPr>
      </p:sp>
      <p:sp>
        <p:nvSpPr>
          <p:cNvPr id="79" name="Shape 77"/>
          <p:cNvSpPr/>
          <p:nvPr/>
        </p:nvSpPr>
        <p:spPr>
          <a:xfrm>
            <a:off x="2526030" y="3147822"/>
            <a:ext cx="155448" cy="155448"/>
          </a:xfrm>
          <a:prstGeom prst="ellipse">
            <a:avLst/>
          </a:prstGeom>
          <a:solidFill>
            <a:srgbClr val="C8414C"/>
          </a:solidFill>
          <a:ln w="9525">
            <a:solidFill>
              <a:srgbClr val="8E2A33"/>
            </a:solidFill>
            <a:prstDash val="solid"/>
          </a:ln>
        </p:spPr>
      </p:sp>
      <p:sp>
        <p:nvSpPr>
          <p:cNvPr id="80" name="Shape 78"/>
          <p:cNvSpPr/>
          <p:nvPr/>
        </p:nvSpPr>
        <p:spPr>
          <a:xfrm>
            <a:off x="2740914" y="3147822"/>
            <a:ext cx="155448" cy="155448"/>
          </a:xfrm>
          <a:prstGeom prst="ellipse">
            <a:avLst/>
          </a:prstGeom>
          <a:solidFill>
            <a:srgbClr val="C8414C"/>
          </a:solidFill>
          <a:ln w="9525">
            <a:solidFill>
              <a:srgbClr val="8E2A33"/>
            </a:solidFill>
            <a:prstDash val="solid"/>
          </a:ln>
        </p:spPr>
      </p:sp>
      <p:sp>
        <p:nvSpPr>
          <p:cNvPr id="81" name="Shape 79"/>
          <p:cNvSpPr/>
          <p:nvPr/>
        </p:nvSpPr>
        <p:spPr>
          <a:xfrm>
            <a:off x="806958" y="3362706"/>
            <a:ext cx="155448" cy="155448"/>
          </a:xfrm>
          <a:prstGeom prst="ellipse">
            <a:avLst/>
          </a:prstGeom>
          <a:solidFill>
            <a:srgbClr val="C8414C"/>
          </a:solidFill>
          <a:ln w="9525">
            <a:solidFill>
              <a:srgbClr val="8E2A33"/>
            </a:solidFill>
            <a:prstDash val="solid"/>
          </a:ln>
        </p:spPr>
      </p:sp>
      <p:sp>
        <p:nvSpPr>
          <p:cNvPr id="82" name="Shape 80"/>
          <p:cNvSpPr/>
          <p:nvPr/>
        </p:nvSpPr>
        <p:spPr>
          <a:xfrm>
            <a:off x="1021842" y="3362706"/>
            <a:ext cx="155448" cy="155448"/>
          </a:xfrm>
          <a:prstGeom prst="ellipse">
            <a:avLst/>
          </a:prstGeom>
          <a:solidFill>
            <a:srgbClr val="C8414C"/>
          </a:solidFill>
          <a:ln w="9525">
            <a:solidFill>
              <a:srgbClr val="8E2A33"/>
            </a:solidFill>
            <a:prstDash val="solid"/>
          </a:ln>
        </p:spPr>
      </p:sp>
      <p:sp>
        <p:nvSpPr>
          <p:cNvPr id="83" name="Shape 81"/>
          <p:cNvSpPr/>
          <p:nvPr/>
        </p:nvSpPr>
        <p:spPr>
          <a:xfrm>
            <a:off x="1236726" y="3362706"/>
            <a:ext cx="155448" cy="155448"/>
          </a:xfrm>
          <a:prstGeom prst="ellipse">
            <a:avLst/>
          </a:prstGeom>
          <a:solidFill>
            <a:srgbClr val="C8414C"/>
          </a:solidFill>
          <a:ln w="9525">
            <a:solidFill>
              <a:srgbClr val="8E2A33"/>
            </a:solidFill>
            <a:prstDash val="solid"/>
          </a:ln>
        </p:spPr>
      </p:sp>
      <p:sp>
        <p:nvSpPr>
          <p:cNvPr id="84" name="Shape 82"/>
          <p:cNvSpPr/>
          <p:nvPr/>
        </p:nvSpPr>
        <p:spPr>
          <a:xfrm>
            <a:off x="1451610" y="3362706"/>
            <a:ext cx="155448" cy="155448"/>
          </a:xfrm>
          <a:prstGeom prst="ellipse">
            <a:avLst/>
          </a:prstGeom>
          <a:solidFill>
            <a:srgbClr val="C8414C"/>
          </a:solidFill>
          <a:ln w="9525">
            <a:solidFill>
              <a:srgbClr val="8E2A33"/>
            </a:solidFill>
            <a:prstDash val="solid"/>
          </a:ln>
        </p:spPr>
      </p:sp>
      <p:sp>
        <p:nvSpPr>
          <p:cNvPr id="85" name="Shape 83"/>
          <p:cNvSpPr/>
          <p:nvPr/>
        </p:nvSpPr>
        <p:spPr>
          <a:xfrm>
            <a:off x="1666494" y="3362706"/>
            <a:ext cx="155448" cy="155448"/>
          </a:xfrm>
          <a:prstGeom prst="ellipse">
            <a:avLst/>
          </a:prstGeom>
          <a:solidFill>
            <a:srgbClr val="C8414C"/>
          </a:solidFill>
          <a:ln w="9525">
            <a:solidFill>
              <a:srgbClr val="8E2A33"/>
            </a:solidFill>
            <a:prstDash val="solid"/>
          </a:ln>
        </p:spPr>
      </p:sp>
      <p:sp>
        <p:nvSpPr>
          <p:cNvPr id="86" name="Shape 84"/>
          <p:cNvSpPr/>
          <p:nvPr/>
        </p:nvSpPr>
        <p:spPr>
          <a:xfrm>
            <a:off x="1881378" y="3362706"/>
            <a:ext cx="155448" cy="155448"/>
          </a:xfrm>
          <a:prstGeom prst="ellipse">
            <a:avLst/>
          </a:prstGeom>
          <a:solidFill>
            <a:srgbClr val="C8414C"/>
          </a:solidFill>
          <a:ln w="9525">
            <a:solidFill>
              <a:srgbClr val="8E2A33"/>
            </a:solidFill>
            <a:prstDash val="solid"/>
          </a:ln>
        </p:spPr>
      </p:sp>
      <p:sp>
        <p:nvSpPr>
          <p:cNvPr id="87" name="Shape 85"/>
          <p:cNvSpPr/>
          <p:nvPr/>
        </p:nvSpPr>
        <p:spPr>
          <a:xfrm>
            <a:off x="2096262" y="3362706"/>
            <a:ext cx="155448" cy="155448"/>
          </a:xfrm>
          <a:prstGeom prst="ellipse">
            <a:avLst/>
          </a:prstGeom>
          <a:solidFill>
            <a:srgbClr val="C8414C"/>
          </a:solidFill>
          <a:ln w="9525">
            <a:solidFill>
              <a:srgbClr val="8E2A33"/>
            </a:solidFill>
            <a:prstDash val="solid"/>
          </a:ln>
        </p:spPr>
      </p:sp>
      <p:sp>
        <p:nvSpPr>
          <p:cNvPr id="88" name="Shape 86"/>
          <p:cNvSpPr/>
          <p:nvPr/>
        </p:nvSpPr>
        <p:spPr>
          <a:xfrm>
            <a:off x="2311146" y="3362706"/>
            <a:ext cx="155448" cy="155448"/>
          </a:xfrm>
          <a:prstGeom prst="ellipse">
            <a:avLst/>
          </a:prstGeom>
          <a:solidFill>
            <a:srgbClr val="C8414C"/>
          </a:solidFill>
          <a:ln w="9525">
            <a:solidFill>
              <a:srgbClr val="8E2A33"/>
            </a:solidFill>
            <a:prstDash val="solid"/>
          </a:ln>
        </p:spPr>
      </p:sp>
      <p:sp>
        <p:nvSpPr>
          <p:cNvPr id="89" name="Shape 87"/>
          <p:cNvSpPr/>
          <p:nvPr/>
        </p:nvSpPr>
        <p:spPr>
          <a:xfrm>
            <a:off x="2526030" y="3362706"/>
            <a:ext cx="155448" cy="155448"/>
          </a:xfrm>
          <a:prstGeom prst="ellipse">
            <a:avLst/>
          </a:prstGeom>
          <a:solidFill>
            <a:srgbClr val="C8414C"/>
          </a:solidFill>
          <a:ln w="9525">
            <a:solidFill>
              <a:srgbClr val="8E2A33"/>
            </a:solidFill>
            <a:prstDash val="solid"/>
          </a:ln>
        </p:spPr>
      </p:sp>
      <p:sp>
        <p:nvSpPr>
          <p:cNvPr id="90" name="Shape 88"/>
          <p:cNvSpPr/>
          <p:nvPr/>
        </p:nvSpPr>
        <p:spPr>
          <a:xfrm>
            <a:off x="2740914" y="3362706"/>
            <a:ext cx="155448" cy="155448"/>
          </a:xfrm>
          <a:prstGeom prst="ellipse">
            <a:avLst/>
          </a:prstGeom>
          <a:solidFill>
            <a:srgbClr val="C8414C"/>
          </a:solidFill>
          <a:ln w="9525">
            <a:solidFill>
              <a:srgbClr val="8E2A33"/>
            </a:solidFill>
            <a:prstDash val="solid"/>
          </a:ln>
        </p:spPr>
      </p:sp>
      <p:sp>
        <p:nvSpPr>
          <p:cNvPr id="91" name="Shape 89"/>
          <p:cNvSpPr/>
          <p:nvPr/>
        </p:nvSpPr>
        <p:spPr>
          <a:xfrm>
            <a:off x="806958" y="3577590"/>
            <a:ext cx="155448" cy="155448"/>
          </a:xfrm>
          <a:prstGeom prst="ellipse">
            <a:avLst/>
          </a:prstGeom>
          <a:solidFill>
            <a:srgbClr val="C8414C"/>
          </a:solidFill>
          <a:ln w="9525">
            <a:solidFill>
              <a:srgbClr val="8E2A33"/>
            </a:solidFill>
            <a:prstDash val="solid"/>
          </a:ln>
        </p:spPr>
      </p:sp>
      <p:sp>
        <p:nvSpPr>
          <p:cNvPr id="92" name="Shape 90"/>
          <p:cNvSpPr/>
          <p:nvPr/>
        </p:nvSpPr>
        <p:spPr>
          <a:xfrm>
            <a:off x="1021842" y="3577590"/>
            <a:ext cx="155448" cy="155448"/>
          </a:xfrm>
          <a:prstGeom prst="ellipse">
            <a:avLst/>
          </a:prstGeom>
          <a:solidFill>
            <a:srgbClr val="C8414C"/>
          </a:solidFill>
          <a:ln w="9525">
            <a:solidFill>
              <a:srgbClr val="8E2A33"/>
            </a:solidFill>
            <a:prstDash val="solid"/>
          </a:ln>
        </p:spPr>
      </p:sp>
      <p:sp>
        <p:nvSpPr>
          <p:cNvPr id="93" name="Shape 91"/>
          <p:cNvSpPr/>
          <p:nvPr/>
        </p:nvSpPr>
        <p:spPr>
          <a:xfrm>
            <a:off x="1236726" y="3577590"/>
            <a:ext cx="155448" cy="155448"/>
          </a:xfrm>
          <a:prstGeom prst="ellipse">
            <a:avLst/>
          </a:prstGeom>
          <a:solidFill>
            <a:srgbClr val="C8414C"/>
          </a:solidFill>
          <a:ln w="9525">
            <a:solidFill>
              <a:srgbClr val="8E2A33"/>
            </a:solidFill>
            <a:prstDash val="solid"/>
          </a:ln>
        </p:spPr>
      </p:sp>
      <p:sp>
        <p:nvSpPr>
          <p:cNvPr id="94" name="Shape 92"/>
          <p:cNvSpPr/>
          <p:nvPr/>
        </p:nvSpPr>
        <p:spPr>
          <a:xfrm>
            <a:off x="1451610" y="3577590"/>
            <a:ext cx="155448" cy="155448"/>
          </a:xfrm>
          <a:prstGeom prst="ellipse">
            <a:avLst/>
          </a:prstGeom>
          <a:solidFill>
            <a:srgbClr val="C8414C"/>
          </a:solidFill>
          <a:ln w="9525">
            <a:solidFill>
              <a:srgbClr val="8E2A33"/>
            </a:solidFill>
            <a:prstDash val="solid"/>
          </a:ln>
        </p:spPr>
      </p:sp>
      <p:sp>
        <p:nvSpPr>
          <p:cNvPr id="95" name="Shape 93"/>
          <p:cNvSpPr/>
          <p:nvPr/>
        </p:nvSpPr>
        <p:spPr>
          <a:xfrm>
            <a:off x="1666494" y="3577590"/>
            <a:ext cx="155448" cy="155448"/>
          </a:xfrm>
          <a:prstGeom prst="ellipse">
            <a:avLst/>
          </a:prstGeom>
          <a:solidFill>
            <a:srgbClr val="C8414C"/>
          </a:solidFill>
          <a:ln w="9525">
            <a:solidFill>
              <a:srgbClr val="8E2A33"/>
            </a:solidFill>
            <a:prstDash val="solid"/>
          </a:ln>
        </p:spPr>
      </p:sp>
      <p:sp>
        <p:nvSpPr>
          <p:cNvPr id="96" name="Shape 94"/>
          <p:cNvSpPr/>
          <p:nvPr/>
        </p:nvSpPr>
        <p:spPr>
          <a:xfrm>
            <a:off x="1881378" y="3577590"/>
            <a:ext cx="155448" cy="155448"/>
          </a:xfrm>
          <a:prstGeom prst="ellipse">
            <a:avLst/>
          </a:prstGeom>
          <a:solidFill>
            <a:srgbClr val="C8414C"/>
          </a:solidFill>
          <a:ln w="9525">
            <a:solidFill>
              <a:srgbClr val="8E2A33"/>
            </a:solidFill>
            <a:prstDash val="solid"/>
          </a:ln>
        </p:spPr>
      </p:sp>
      <p:sp>
        <p:nvSpPr>
          <p:cNvPr id="97" name="Shape 95"/>
          <p:cNvSpPr/>
          <p:nvPr/>
        </p:nvSpPr>
        <p:spPr>
          <a:xfrm>
            <a:off x="2096262" y="3577590"/>
            <a:ext cx="155448" cy="155448"/>
          </a:xfrm>
          <a:prstGeom prst="ellipse">
            <a:avLst/>
          </a:prstGeom>
          <a:solidFill>
            <a:srgbClr val="C8414C"/>
          </a:solidFill>
          <a:ln w="9525">
            <a:solidFill>
              <a:srgbClr val="8E2A33"/>
            </a:solidFill>
            <a:prstDash val="solid"/>
          </a:ln>
        </p:spPr>
      </p:sp>
      <p:sp>
        <p:nvSpPr>
          <p:cNvPr id="98" name="Shape 96"/>
          <p:cNvSpPr/>
          <p:nvPr/>
        </p:nvSpPr>
        <p:spPr>
          <a:xfrm>
            <a:off x="2311146" y="3577590"/>
            <a:ext cx="155448" cy="155448"/>
          </a:xfrm>
          <a:prstGeom prst="ellipse">
            <a:avLst/>
          </a:prstGeom>
          <a:solidFill>
            <a:srgbClr val="C8414C"/>
          </a:solidFill>
          <a:ln w="9525">
            <a:solidFill>
              <a:srgbClr val="8E2A33"/>
            </a:solidFill>
            <a:prstDash val="solid"/>
          </a:ln>
        </p:spPr>
      </p:sp>
      <p:sp>
        <p:nvSpPr>
          <p:cNvPr id="99" name="Shape 97"/>
          <p:cNvSpPr/>
          <p:nvPr/>
        </p:nvSpPr>
        <p:spPr>
          <a:xfrm>
            <a:off x="2526030" y="3577590"/>
            <a:ext cx="155448" cy="155448"/>
          </a:xfrm>
          <a:prstGeom prst="ellipse">
            <a:avLst/>
          </a:prstGeom>
          <a:solidFill>
            <a:srgbClr val="C8414C"/>
          </a:solidFill>
          <a:ln w="9525">
            <a:solidFill>
              <a:srgbClr val="8E2A33"/>
            </a:solidFill>
            <a:prstDash val="solid"/>
          </a:ln>
        </p:spPr>
      </p:sp>
      <p:sp>
        <p:nvSpPr>
          <p:cNvPr id="100" name="Shape 98"/>
          <p:cNvSpPr/>
          <p:nvPr/>
        </p:nvSpPr>
        <p:spPr>
          <a:xfrm>
            <a:off x="2740914" y="3577590"/>
            <a:ext cx="155448" cy="155448"/>
          </a:xfrm>
          <a:prstGeom prst="ellipse">
            <a:avLst/>
          </a:prstGeom>
          <a:solidFill>
            <a:srgbClr val="C8414C"/>
          </a:solidFill>
          <a:ln w="9525">
            <a:solidFill>
              <a:srgbClr val="8E2A33"/>
            </a:solidFill>
            <a:prstDash val="solid"/>
          </a:ln>
        </p:spPr>
      </p:sp>
      <p:sp>
        <p:nvSpPr>
          <p:cNvPr id="101" name="Shape 99"/>
          <p:cNvSpPr/>
          <p:nvPr/>
        </p:nvSpPr>
        <p:spPr>
          <a:xfrm>
            <a:off x="806958" y="3792474"/>
            <a:ext cx="155448" cy="155448"/>
          </a:xfrm>
          <a:prstGeom prst="ellipse">
            <a:avLst/>
          </a:prstGeom>
          <a:solidFill>
            <a:srgbClr val="C8414C"/>
          </a:solidFill>
          <a:ln w="9525">
            <a:solidFill>
              <a:srgbClr val="8E2A33"/>
            </a:solidFill>
            <a:prstDash val="solid"/>
          </a:ln>
        </p:spPr>
      </p:sp>
      <p:sp>
        <p:nvSpPr>
          <p:cNvPr id="102" name="Shape 100"/>
          <p:cNvSpPr/>
          <p:nvPr/>
        </p:nvSpPr>
        <p:spPr>
          <a:xfrm>
            <a:off x="1021842" y="3792474"/>
            <a:ext cx="155448" cy="155448"/>
          </a:xfrm>
          <a:prstGeom prst="ellipse">
            <a:avLst/>
          </a:prstGeom>
          <a:solidFill>
            <a:srgbClr val="C8414C"/>
          </a:solidFill>
          <a:ln w="9525">
            <a:solidFill>
              <a:srgbClr val="8E2A33"/>
            </a:solidFill>
            <a:prstDash val="solid"/>
          </a:ln>
        </p:spPr>
      </p:sp>
      <p:sp>
        <p:nvSpPr>
          <p:cNvPr id="103" name="Shape 101"/>
          <p:cNvSpPr/>
          <p:nvPr/>
        </p:nvSpPr>
        <p:spPr>
          <a:xfrm>
            <a:off x="1236726" y="3792474"/>
            <a:ext cx="155448" cy="155448"/>
          </a:xfrm>
          <a:prstGeom prst="ellipse">
            <a:avLst/>
          </a:prstGeom>
          <a:solidFill>
            <a:srgbClr val="C8414C"/>
          </a:solidFill>
          <a:ln w="9525">
            <a:solidFill>
              <a:srgbClr val="8E2A33"/>
            </a:solidFill>
            <a:prstDash val="solid"/>
          </a:ln>
        </p:spPr>
      </p:sp>
      <p:sp>
        <p:nvSpPr>
          <p:cNvPr id="104" name="Shape 102"/>
          <p:cNvSpPr/>
          <p:nvPr/>
        </p:nvSpPr>
        <p:spPr>
          <a:xfrm>
            <a:off x="1451610" y="3792474"/>
            <a:ext cx="155448" cy="155448"/>
          </a:xfrm>
          <a:prstGeom prst="ellipse">
            <a:avLst/>
          </a:prstGeom>
          <a:solidFill>
            <a:srgbClr val="C8414C"/>
          </a:solidFill>
          <a:ln w="9525">
            <a:solidFill>
              <a:srgbClr val="8E2A33"/>
            </a:solidFill>
            <a:prstDash val="solid"/>
          </a:ln>
        </p:spPr>
      </p:sp>
      <p:sp>
        <p:nvSpPr>
          <p:cNvPr id="105" name="Shape 103"/>
          <p:cNvSpPr/>
          <p:nvPr/>
        </p:nvSpPr>
        <p:spPr>
          <a:xfrm>
            <a:off x="1666494" y="3792474"/>
            <a:ext cx="155448" cy="155448"/>
          </a:xfrm>
          <a:prstGeom prst="ellipse">
            <a:avLst/>
          </a:prstGeom>
          <a:solidFill>
            <a:srgbClr val="C8414C"/>
          </a:solidFill>
          <a:ln w="9525">
            <a:solidFill>
              <a:srgbClr val="8E2A33"/>
            </a:solidFill>
            <a:prstDash val="solid"/>
          </a:ln>
        </p:spPr>
      </p:sp>
      <p:sp>
        <p:nvSpPr>
          <p:cNvPr id="106" name="Shape 104"/>
          <p:cNvSpPr/>
          <p:nvPr/>
        </p:nvSpPr>
        <p:spPr>
          <a:xfrm>
            <a:off x="1881378" y="3792474"/>
            <a:ext cx="155448" cy="155448"/>
          </a:xfrm>
          <a:prstGeom prst="ellipse">
            <a:avLst/>
          </a:prstGeom>
          <a:solidFill>
            <a:srgbClr val="C8414C"/>
          </a:solidFill>
          <a:ln w="9525">
            <a:solidFill>
              <a:srgbClr val="8E2A33"/>
            </a:solidFill>
            <a:prstDash val="solid"/>
          </a:ln>
        </p:spPr>
      </p:sp>
      <p:sp>
        <p:nvSpPr>
          <p:cNvPr id="107" name="Shape 105"/>
          <p:cNvSpPr/>
          <p:nvPr/>
        </p:nvSpPr>
        <p:spPr>
          <a:xfrm>
            <a:off x="2096262" y="3792474"/>
            <a:ext cx="155448" cy="155448"/>
          </a:xfrm>
          <a:prstGeom prst="ellipse">
            <a:avLst/>
          </a:prstGeom>
          <a:solidFill>
            <a:srgbClr val="C8414C"/>
          </a:solidFill>
          <a:ln w="9525">
            <a:solidFill>
              <a:srgbClr val="8E2A33"/>
            </a:solidFill>
            <a:prstDash val="solid"/>
          </a:ln>
        </p:spPr>
      </p:sp>
      <p:sp>
        <p:nvSpPr>
          <p:cNvPr id="108" name="Shape 106"/>
          <p:cNvSpPr/>
          <p:nvPr/>
        </p:nvSpPr>
        <p:spPr>
          <a:xfrm>
            <a:off x="2311146" y="3792474"/>
            <a:ext cx="155448" cy="155448"/>
          </a:xfrm>
          <a:prstGeom prst="ellipse">
            <a:avLst/>
          </a:prstGeom>
          <a:solidFill>
            <a:srgbClr val="C8414C"/>
          </a:solidFill>
          <a:ln w="9525">
            <a:solidFill>
              <a:srgbClr val="8E2A33"/>
            </a:solidFill>
            <a:prstDash val="solid"/>
          </a:ln>
        </p:spPr>
      </p:sp>
      <p:sp>
        <p:nvSpPr>
          <p:cNvPr id="109" name="Shape 107"/>
          <p:cNvSpPr/>
          <p:nvPr/>
        </p:nvSpPr>
        <p:spPr>
          <a:xfrm>
            <a:off x="2526030" y="3792474"/>
            <a:ext cx="155448" cy="155448"/>
          </a:xfrm>
          <a:prstGeom prst="ellipse">
            <a:avLst/>
          </a:prstGeom>
          <a:solidFill>
            <a:srgbClr val="C8414C"/>
          </a:solidFill>
          <a:ln w="9525">
            <a:solidFill>
              <a:srgbClr val="8E2A33"/>
            </a:solidFill>
            <a:prstDash val="solid"/>
          </a:ln>
        </p:spPr>
      </p:sp>
      <p:sp>
        <p:nvSpPr>
          <p:cNvPr id="110" name="Shape 108"/>
          <p:cNvSpPr/>
          <p:nvPr/>
        </p:nvSpPr>
        <p:spPr>
          <a:xfrm>
            <a:off x="2740914" y="3792474"/>
            <a:ext cx="155448" cy="155448"/>
          </a:xfrm>
          <a:prstGeom prst="ellipse">
            <a:avLst/>
          </a:prstGeom>
          <a:solidFill>
            <a:srgbClr val="C8414C"/>
          </a:solidFill>
          <a:ln w="9525">
            <a:solidFill>
              <a:srgbClr val="8E2A33"/>
            </a:solidFill>
            <a:prstDash val="solid"/>
          </a:ln>
        </p:spPr>
      </p:sp>
      <p:sp>
        <p:nvSpPr>
          <p:cNvPr id="111" name="Text 109"/>
          <p:cNvSpPr/>
          <p:nvPr/>
        </p:nvSpPr>
        <p:spPr>
          <a:xfrm>
            <a:off x="3246120" y="1417320"/>
            <a:ext cx="23774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later: about half have decayed</a:t>
            </a:r>
            <a:endParaRPr lang="en-US" sz="1100" dirty="0"/>
          </a:p>
        </p:txBody>
      </p:sp>
      <p:sp>
        <p:nvSpPr>
          <p:cNvPr id="112" name="Shape 110"/>
          <p:cNvSpPr/>
          <p:nvPr/>
        </p:nvSpPr>
        <p:spPr>
          <a:xfrm>
            <a:off x="3380994" y="1872234"/>
            <a:ext cx="128016" cy="128016"/>
          </a:xfrm>
          <a:prstGeom prst="ellipse">
            <a:avLst/>
          </a:prstGeom>
          <a:solidFill>
            <a:srgbClr val="FFFFFF"/>
          </a:solidFill>
          <a:ln w="9525">
            <a:solidFill>
              <a:srgbClr val="9AA3B5"/>
            </a:solidFill>
            <a:prstDash val="solid"/>
          </a:ln>
        </p:spPr>
      </p:sp>
      <p:sp>
        <p:nvSpPr>
          <p:cNvPr id="113" name="Shape 111"/>
          <p:cNvSpPr/>
          <p:nvPr/>
        </p:nvSpPr>
        <p:spPr>
          <a:xfrm>
            <a:off x="3595878" y="1872234"/>
            <a:ext cx="128016" cy="128016"/>
          </a:xfrm>
          <a:prstGeom prst="ellipse">
            <a:avLst/>
          </a:prstGeom>
          <a:solidFill>
            <a:srgbClr val="FFFFFF"/>
          </a:solidFill>
          <a:ln w="9525">
            <a:solidFill>
              <a:srgbClr val="9AA3B5"/>
            </a:solidFill>
            <a:prstDash val="solid"/>
          </a:ln>
        </p:spPr>
      </p:sp>
      <p:sp>
        <p:nvSpPr>
          <p:cNvPr id="114" name="Shape 112"/>
          <p:cNvSpPr/>
          <p:nvPr/>
        </p:nvSpPr>
        <p:spPr>
          <a:xfrm>
            <a:off x="3810762" y="1872234"/>
            <a:ext cx="128016" cy="128016"/>
          </a:xfrm>
          <a:prstGeom prst="ellipse">
            <a:avLst/>
          </a:prstGeom>
          <a:solidFill>
            <a:srgbClr val="FFFFFF"/>
          </a:solidFill>
          <a:ln w="9525">
            <a:solidFill>
              <a:srgbClr val="9AA3B5"/>
            </a:solidFill>
            <a:prstDash val="solid"/>
          </a:ln>
        </p:spPr>
      </p:sp>
      <p:sp>
        <p:nvSpPr>
          <p:cNvPr id="115" name="Shape 113"/>
          <p:cNvSpPr/>
          <p:nvPr/>
        </p:nvSpPr>
        <p:spPr>
          <a:xfrm>
            <a:off x="4025646" y="1872234"/>
            <a:ext cx="128016" cy="128016"/>
          </a:xfrm>
          <a:prstGeom prst="ellipse">
            <a:avLst/>
          </a:prstGeom>
          <a:solidFill>
            <a:srgbClr val="FFFFFF"/>
          </a:solidFill>
          <a:ln w="9525">
            <a:solidFill>
              <a:srgbClr val="9AA3B5"/>
            </a:solidFill>
            <a:prstDash val="solid"/>
          </a:ln>
        </p:spPr>
      </p:sp>
      <p:sp>
        <p:nvSpPr>
          <p:cNvPr id="116" name="Shape 114"/>
          <p:cNvSpPr/>
          <p:nvPr/>
        </p:nvSpPr>
        <p:spPr>
          <a:xfrm>
            <a:off x="4240530" y="1872234"/>
            <a:ext cx="128016" cy="128016"/>
          </a:xfrm>
          <a:prstGeom prst="ellipse">
            <a:avLst/>
          </a:prstGeom>
          <a:solidFill>
            <a:srgbClr val="FFFFFF"/>
          </a:solidFill>
          <a:ln w="9525">
            <a:solidFill>
              <a:srgbClr val="9AA3B5"/>
            </a:solidFill>
            <a:prstDash val="solid"/>
          </a:ln>
        </p:spPr>
      </p:sp>
      <p:sp>
        <p:nvSpPr>
          <p:cNvPr id="117" name="Shape 115"/>
          <p:cNvSpPr/>
          <p:nvPr/>
        </p:nvSpPr>
        <p:spPr>
          <a:xfrm>
            <a:off x="4455414" y="1872234"/>
            <a:ext cx="128016" cy="128016"/>
          </a:xfrm>
          <a:prstGeom prst="ellipse">
            <a:avLst/>
          </a:prstGeom>
          <a:solidFill>
            <a:srgbClr val="FFFFFF"/>
          </a:solidFill>
          <a:ln w="9525">
            <a:solidFill>
              <a:srgbClr val="9AA3B5"/>
            </a:solidFill>
            <a:prstDash val="solid"/>
          </a:ln>
        </p:spPr>
      </p:sp>
      <p:sp>
        <p:nvSpPr>
          <p:cNvPr id="118" name="Shape 116"/>
          <p:cNvSpPr/>
          <p:nvPr/>
        </p:nvSpPr>
        <p:spPr>
          <a:xfrm>
            <a:off x="4656582" y="1858518"/>
            <a:ext cx="155448" cy="155448"/>
          </a:xfrm>
          <a:prstGeom prst="ellipse">
            <a:avLst/>
          </a:prstGeom>
          <a:solidFill>
            <a:srgbClr val="C8414C"/>
          </a:solidFill>
          <a:ln w="9525">
            <a:solidFill>
              <a:srgbClr val="8E2A33"/>
            </a:solidFill>
            <a:prstDash val="solid"/>
          </a:ln>
        </p:spPr>
      </p:sp>
      <p:sp>
        <p:nvSpPr>
          <p:cNvPr id="119" name="Shape 117"/>
          <p:cNvSpPr/>
          <p:nvPr/>
        </p:nvSpPr>
        <p:spPr>
          <a:xfrm>
            <a:off x="4871466" y="1858518"/>
            <a:ext cx="155448" cy="155448"/>
          </a:xfrm>
          <a:prstGeom prst="ellipse">
            <a:avLst/>
          </a:prstGeom>
          <a:solidFill>
            <a:srgbClr val="C8414C"/>
          </a:solidFill>
          <a:ln w="9525">
            <a:solidFill>
              <a:srgbClr val="8E2A33"/>
            </a:solidFill>
            <a:prstDash val="solid"/>
          </a:ln>
        </p:spPr>
      </p:sp>
      <p:sp>
        <p:nvSpPr>
          <p:cNvPr id="120" name="Shape 118"/>
          <p:cNvSpPr/>
          <p:nvPr/>
        </p:nvSpPr>
        <p:spPr>
          <a:xfrm>
            <a:off x="5086350" y="1858518"/>
            <a:ext cx="155448" cy="155448"/>
          </a:xfrm>
          <a:prstGeom prst="ellipse">
            <a:avLst/>
          </a:prstGeom>
          <a:solidFill>
            <a:srgbClr val="C8414C"/>
          </a:solidFill>
          <a:ln w="9525">
            <a:solidFill>
              <a:srgbClr val="8E2A33"/>
            </a:solidFill>
            <a:prstDash val="solid"/>
          </a:ln>
        </p:spPr>
      </p:sp>
      <p:sp>
        <p:nvSpPr>
          <p:cNvPr id="121" name="Shape 119"/>
          <p:cNvSpPr/>
          <p:nvPr/>
        </p:nvSpPr>
        <p:spPr>
          <a:xfrm>
            <a:off x="5314950" y="1872234"/>
            <a:ext cx="128016" cy="128016"/>
          </a:xfrm>
          <a:prstGeom prst="ellipse">
            <a:avLst/>
          </a:prstGeom>
          <a:solidFill>
            <a:srgbClr val="FFFFFF"/>
          </a:solidFill>
          <a:ln w="9525">
            <a:solidFill>
              <a:srgbClr val="9AA3B5"/>
            </a:solidFill>
            <a:prstDash val="solid"/>
          </a:ln>
        </p:spPr>
      </p:sp>
      <p:sp>
        <p:nvSpPr>
          <p:cNvPr id="122" name="Shape 120"/>
          <p:cNvSpPr/>
          <p:nvPr/>
        </p:nvSpPr>
        <p:spPr>
          <a:xfrm>
            <a:off x="3380994" y="2087118"/>
            <a:ext cx="128016" cy="128016"/>
          </a:xfrm>
          <a:prstGeom prst="ellipse">
            <a:avLst/>
          </a:prstGeom>
          <a:solidFill>
            <a:srgbClr val="FFFFFF"/>
          </a:solidFill>
          <a:ln w="9525">
            <a:solidFill>
              <a:srgbClr val="9AA3B5"/>
            </a:solidFill>
            <a:prstDash val="solid"/>
          </a:ln>
        </p:spPr>
      </p:sp>
      <p:sp>
        <p:nvSpPr>
          <p:cNvPr id="123" name="Shape 121"/>
          <p:cNvSpPr/>
          <p:nvPr/>
        </p:nvSpPr>
        <p:spPr>
          <a:xfrm>
            <a:off x="3595878" y="2087118"/>
            <a:ext cx="128016" cy="128016"/>
          </a:xfrm>
          <a:prstGeom prst="ellipse">
            <a:avLst/>
          </a:prstGeom>
          <a:solidFill>
            <a:srgbClr val="FFFFFF"/>
          </a:solidFill>
          <a:ln w="9525">
            <a:solidFill>
              <a:srgbClr val="9AA3B5"/>
            </a:solidFill>
            <a:prstDash val="solid"/>
          </a:ln>
        </p:spPr>
      </p:sp>
      <p:sp>
        <p:nvSpPr>
          <p:cNvPr id="124" name="Shape 122"/>
          <p:cNvSpPr/>
          <p:nvPr/>
        </p:nvSpPr>
        <p:spPr>
          <a:xfrm>
            <a:off x="3797046" y="2073402"/>
            <a:ext cx="155448" cy="155448"/>
          </a:xfrm>
          <a:prstGeom prst="ellipse">
            <a:avLst/>
          </a:prstGeom>
          <a:solidFill>
            <a:srgbClr val="C8414C"/>
          </a:solidFill>
          <a:ln w="9525">
            <a:solidFill>
              <a:srgbClr val="8E2A33"/>
            </a:solidFill>
            <a:prstDash val="solid"/>
          </a:ln>
        </p:spPr>
      </p:sp>
      <p:sp>
        <p:nvSpPr>
          <p:cNvPr id="125" name="Shape 123"/>
          <p:cNvSpPr/>
          <p:nvPr/>
        </p:nvSpPr>
        <p:spPr>
          <a:xfrm>
            <a:off x="4025646" y="2087118"/>
            <a:ext cx="128016" cy="128016"/>
          </a:xfrm>
          <a:prstGeom prst="ellipse">
            <a:avLst/>
          </a:prstGeom>
          <a:solidFill>
            <a:srgbClr val="FFFFFF"/>
          </a:solidFill>
          <a:ln w="9525">
            <a:solidFill>
              <a:srgbClr val="9AA3B5"/>
            </a:solidFill>
            <a:prstDash val="solid"/>
          </a:ln>
        </p:spPr>
      </p:sp>
      <p:sp>
        <p:nvSpPr>
          <p:cNvPr id="126" name="Shape 124"/>
          <p:cNvSpPr/>
          <p:nvPr/>
        </p:nvSpPr>
        <p:spPr>
          <a:xfrm>
            <a:off x="4226814" y="2073402"/>
            <a:ext cx="155448" cy="155448"/>
          </a:xfrm>
          <a:prstGeom prst="ellipse">
            <a:avLst/>
          </a:prstGeom>
          <a:solidFill>
            <a:srgbClr val="C8414C"/>
          </a:solidFill>
          <a:ln w="9525">
            <a:solidFill>
              <a:srgbClr val="8E2A33"/>
            </a:solidFill>
            <a:prstDash val="solid"/>
          </a:ln>
        </p:spPr>
      </p:sp>
      <p:sp>
        <p:nvSpPr>
          <p:cNvPr id="127" name="Shape 125"/>
          <p:cNvSpPr/>
          <p:nvPr/>
        </p:nvSpPr>
        <p:spPr>
          <a:xfrm>
            <a:off x="4455414" y="2087118"/>
            <a:ext cx="128016" cy="128016"/>
          </a:xfrm>
          <a:prstGeom prst="ellipse">
            <a:avLst/>
          </a:prstGeom>
          <a:solidFill>
            <a:srgbClr val="FFFFFF"/>
          </a:solidFill>
          <a:ln w="9525">
            <a:solidFill>
              <a:srgbClr val="9AA3B5"/>
            </a:solidFill>
            <a:prstDash val="solid"/>
          </a:ln>
        </p:spPr>
      </p:sp>
      <p:sp>
        <p:nvSpPr>
          <p:cNvPr id="128" name="Shape 126"/>
          <p:cNvSpPr/>
          <p:nvPr/>
        </p:nvSpPr>
        <p:spPr>
          <a:xfrm>
            <a:off x="4670298" y="2087118"/>
            <a:ext cx="128016" cy="128016"/>
          </a:xfrm>
          <a:prstGeom prst="ellipse">
            <a:avLst/>
          </a:prstGeom>
          <a:solidFill>
            <a:srgbClr val="FFFFFF"/>
          </a:solidFill>
          <a:ln w="9525">
            <a:solidFill>
              <a:srgbClr val="9AA3B5"/>
            </a:solidFill>
            <a:prstDash val="solid"/>
          </a:ln>
        </p:spPr>
      </p:sp>
      <p:sp>
        <p:nvSpPr>
          <p:cNvPr id="129" name="Shape 127"/>
          <p:cNvSpPr/>
          <p:nvPr/>
        </p:nvSpPr>
        <p:spPr>
          <a:xfrm>
            <a:off x="4871466" y="2073402"/>
            <a:ext cx="155448" cy="155448"/>
          </a:xfrm>
          <a:prstGeom prst="ellipse">
            <a:avLst/>
          </a:prstGeom>
          <a:solidFill>
            <a:srgbClr val="C8414C"/>
          </a:solidFill>
          <a:ln w="9525">
            <a:solidFill>
              <a:srgbClr val="8E2A33"/>
            </a:solidFill>
            <a:prstDash val="solid"/>
          </a:ln>
        </p:spPr>
      </p:sp>
      <p:sp>
        <p:nvSpPr>
          <p:cNvPr id="130" name="Shape 128"/>
          <p:cNvSpPr/>
          <p:nvPr/>
        </p:nvSpPr>
        <p:spPr>
          <a:xfrm>
            <a:off x="5086350" y="2073402"/>
            <a:ext cx="155448" cy="155448"/>
          </a:xfrm>
          <a:prstGeom prst="ellipse">
            <a:avLst/>
          </a:prstGeom>
          <a:solidFill>
            <a:srgbClr val="C8414C"/>
          </a:solidFill>
          <a:ln w="9525">
            <a:solidFill>
              <a:srgbClr val="8E2A33"/>
            </a:solidFill>
            <a:prstDash val="solid"/>
          </a:ln>
        </p:spPr>
      </p:sp>
      <p:sp>
        <p:nvSpPr>
          <p:cNvPr id="131" name="Shape 129"/>
          <p:cNvSpPr/>
          <p:nvPr/>
        </p:nvSpPr>
        <p:spPr>
          <a:xfrm>
            <a:off x="5314950" y="2087118"/>
            <a:ext cx="128016" cy="128016"/>
          </a:xfrm>
          <a:prstGeom prst="ellipse">
            <a:avLst/>
          </a:prstGeom>
          <a:solidFill>
            <a:srgbClr val="FFFFFF"/>
          </a:solidFill>
          <a:ln w="9525">
            <a:solidFill>
              <a:srgbClr val="9AA3B5"/>
            </a:solidFill>
            <a:prstDash val="solid"/>
          </a:ln>
        </p:spPr>
      </p:sp>
      <p:sp>
        <p:nvSpPr>
          <p:cNvPr id="132" name="Shape 130"/>
          <p:cNvSpPr/>
          <p:nvPr/>
        </p:nvSpPr>
        <p:spPr>
          <a:xfrm>
            <a:off x="3367278" y="2288286"/>
            <a:ext cx="155448" cy="155448"/>
          </a:xfrm>
          <a:prstGeom prst="ellipse">
            <a:avLst/>
          </a:prstGeom>
          <a:solidFill>
            <a:srgbClr val="C8414C"/>
          </a:solidFill>
          <a:ln w="9525">
            <a:solidFill>
              <a:srgbClr val="8E2A33"/>
            </a:solidFill>
            <a:prstDash val="solid"/>
          </a:ln>
        </p:spPr>
      </p:sp>
      <p:sp>
        <p:nvSpPr>
          <p:cNvPr id="133" name="Shape 131"/>
          <p:cNvSpPr/>
          <p:nvPr/>
        </p:nvSpPr>
        <p:spPr>
          <a:xfrm>
            <a:off x="3595878" y="2302002"/>
            <a:ext cx="128016" cy="128016"/>
          </a:xfrm>
          <a:prstGeom prst="ellipse">
            <a:avLst/>
          </a:prstGeom>
          <a:solidFill>
            <a:srgbClr val="FFFFFF"/>
          </a:solidFill>
          <a:ln w="9525">
            <a:solidFill>
              <a:srgbClr val="9AA3B5"/>
            </a:solidFill>
            <a:prstDash val="solid"/>
          </a:ln>
        </p:spPr>
      </p:sp>
      <p:sp>
        <p:nvSpPr>
          <p:cNvPr id="134" name="Shape 132"/>
          <p:cNvSpPr/>
          <p:nvPr/>
        </p:nvSpPr>
        <p:spPr>
          <a:xfrm>
            <a:off x="3810762" y="2302002"/>
            <a:ext cx="128016" cy="128016"/>
          </a:xfrm>
          <a:prstGeom prst="ellipse">
            <a:avLst/>
          </a:prstGeom>
          <a:solidFill>
            <a:srgbClr val="FFFFFF"/>
          </a:solidFill>
          <a:ln w="9525">
            <a:solidFill>
              <a:srgbClr val="9AA3B5"/>
            </a:solidFill>
            <a:prstDash val="solid"/>
          </a:ln>
        </p:spPr>
      </p:sp>
      <p:sp>
        <p:nvSpPr>
          <p:cNvPr id="135" name="Shape 133"/>
          <p:cNvSpPr/>
          <p:nvPr/>
        </p:nvSpPr>
        <p:spPr>
          <a:xfrm>
            <a:off x="4011930" y="2288286"/>
            <a:ext cx="155448" cy="155448"/>
          </a:xfrm>
          <a:prstGeom prst="ellipse">
            <a:avLst/>
          </a:prstGeom>
          <a:solidFill>
            <a:srgbClr val="C8414C"/>
          </a:solidFill>
          <a:ln w="9525">
            <a:solidFill>
              <a:srgbClr val="8E2A33"/>
            </a:solidFill>
            <a:prstDash val="solid"/>
          </a:ln>
        </p:spPr>
      </p:sp>
      <p:sp>
        <p:nvSpPr>
          <p:cNvPr id="136" name="Shape 134"/>
          <p:cNvSpPr/>
          <p:nvPr/>
        </p:nvSpPr>
        <p:spPr>
          <a:xfrm>
            <a:off x="4240530" y="2302002"/>
            <a:ext cx="128016" cy="128016"/>
          </a:xfrm>
          <a:prstGeom prst="ellipse">
            <a:avLst/>
          </a:prstGeom>
          <a:solidFill>
            <a:srgbClr val="FFFFFF"/>
          </a:solidFill>
          <a:ln w="9525">
            <a:solidFill>
              <a:srgbClr val="9AA3B5"/>
            </a:solidFill>
            <a:prstDash val="solid"/>
          </a:ln>
        </p:spPr>
      </p:sp>
      <p:sp>
        <p:nvSpPr>
          <p:cNvPr id="137" name="Shape 135"/>
          <p:cNvSpPr/>
          <p:nvPr/>
        </p:nvSpPr>
        <p:spPr>
          <a:xfrm>
            <a:off x="4441698" y="2288286"/>
            <a:ext cx="155448" cy="155448"/>
          </a:xfrm>
          <a:prstGeom prst="ellipse">
            <a:avLst/>
          </a:prstGeom>
          <a:solidFill>
            <a:srgbClr val="C8414C"/>
          </a:solidFill>
          <a:ln w="9525">
            <a:solidFill>
              <a:srgbClr val="8E2A33"/>
            </a:solidFill>
            <a:prstDash val="solid"/>
          </a:ln>
        </p:spPr>
      </p:sp>
      <p:sp>
        <p:nvSpPr>
          <p:cNvPr id="138" name="Shape 136"/>
          <p:cNvSpPr/>
          <p:nvPr/>
        </p:nvSpPr>
        <p:spPr>
          <a:xfrm>
            <a:off x="4656582" y="2288286"/>
            <a:ext cx="155448" cy="155448"/>
          </a:xfrm>
          <a:prstGeom prst="ellipse">
            <a:avLst/>
          </a:prstGeom>
          <a:solidFill>
            <a:srgbClr val="C8414C"/>
          </a:solidFill>
          <a:ln w="9525">
            <a:solidFill>
              <a:srgbClr val="8E2A33"/>
            </a:solidFill>
            <a:prstDash val="solid"/>
          </a:ln>
        </p:spPr>
      </p:sp>
      <p:sp>
        <p:nvSpPr>
          <p:cNvPr id="139" name="Shape 137"/>
          <p:cNvSpPr/>
          <p:nvPr/>
        </p:nvSpPr>
        <p:spPr>
          <a:xfrm>
            <a:off x="4871466" y="2288286"/>
            <a:ext cx="155448" cy="155448"/>
          </a:xfrm>
          <a:prstGeom prst="ellipse">
            <a:avLst/>
          </a:prstGeom>
          <a:solidFill>
            <a:srgbClr val="C8414C"/>
          </a:solidFill>
          <a:ln w="9525">
            <a:solidFill>
              <a:srgbClr val="8E2A33"/>
            </a:solidFill>
            <a:prstDash val="solid"/>
          </a:ln>
        </p:spPr>
      </p:sp>
      <p:sp>
        <p:nvSpPr>
          <p:cNvPr id="140" name="Shape 138"/>
          <p:cNvSpPr/>
          <p:nvPr/>
        </p:nvSpPr>
        <p:spPr>
          <a:xfrm>
            <a:off x="5086350" y="2288286"/>
            <a:ext cx="155448" cy="155448"/>
          </a:xfrm>
          <a:prstGeom prst="ellipse">
            <a:avLst/>
          </a:prstGeom>
          <a:solidFill>
            <a:srgbClr val="C8414C"/>
          </a:solidFill>
          <a:ln w="9525">
            <a:solidFill>
              <a:srgbClr val="8E2A33"/>
            </a:solidFill>
            <a:prstDash val="solid"/>
          </a:ln>
        </p:spPr>
      </p:sp>
      <p:sp>
        <p:nvSpPr>
          <p:cNvPr id="141" name="Shape 139"/>
          <p:cNvSpPr/>
          <p:nvPr/>
        </p:nvSpPr>
        <p:spPr>
          <a:xfrm>
            <a:off x="5301234" y="2288286"/>
            <a:ext cx="155448" cy="155448"/>
          </a:xfrm>
          <a:prstGeom prst="ellipse">
            <a:avLst/>
          </a:prstGeom>
          <a:solidFill>
            <a:srgbClr val="C8414C"/>
          </a:solidFill>
          <a:ln w="9525">
            <a:solidFill>
              <a:srgbClr val="8E2A33"/>
            </a:solidFill>
            <a:prstDash val="solid"/>
          </a:ln>
        </p:spPr>
      </p:sp>
      <p:sp>
        <p:nvSpPr>
          <p:cNvPr id="142" name="Shape 140"/>
          <p:cNvSpPr/>
          <p:nvPr/>
        </p:nvSpPr>
        <p:spPr>
          <a:xfrm>
            <a:off x="3367278" y="2503170"/>
            <a:ext cx="155448" cy="155448"/>
          </a:xfrm>
          <a:prstGeom prst="ellipse">
            <a:avLst/>
          </a:prstGeom>
          <a:solidFill>
            <a:srgbClr val="C8414C"/>
          </a:solidFill>
          <a:ln w="9525">
            <a:solidFill>
              <a:srgbClr val="8E2A33"/>
            </a:solidFill>
            <a:prstDash val="solid"/>
          </a:ln>
        </p:spPr>
      </p:sp>
      <p:sp>
        <p:nvSpPr>
          <p:cNvPr id="143" name="Shape 141"/>
          <p:cNvSpPr/>
          <p:nvPr/>
        </p:nvSpPr>
        <p:spPr>
          <a:xfrm>
            <a:off x="3582162" y="2503170"/>
            <a:ext cx="155448" cy="155448"/>
          </a:xfrm>
          <a:prstGeom prst="ellipse">
            <a:avLst/>
          </a:prstGeom>
          <a:solidFill>
            <a:srgbClr val="C8414C"/>
          </a:solidFill>
          <a:ln w="9525">
            <a:solidFill>
              <a:srgbClr val="8E2A33"/>
            </a:solidFill>
            <a:prstDash val="solid"/>
          </a:ln>
        </p:spPr>
      </p:sp>
      <p:sp>
        <p:nvSpPr>
          <p:cNvPr id="144" name="Shape 142"/>
          <p:cNvSpPr/>
          <p:nvPr/>
        </p:nvSpPr>
        <p:spPr>
          <a:xfrm>
            <a:off x="3810762" y="2516886"/>
            <a:ext cx="128016" cy="128016"/>
          </a:xfrm>
          <a:prstGeom prst="ellipse">
            <a:avLst/>
          </a:prstGeom>
          <a:solidFill>
            <a:srgbClr val="FFFFFF"/>
          </a:solidFill>
          <a:ln w="9525">
            <a:solidFill>
              <a:srgbClr val="9AA3B5"/>
            </a:solidFill>
            <a:prstDash val="solid"/>
          </a:ln>
        </p:spPr>
      </p:sp>
      <p:sp>
        <p:nvSpPr>
          <p:cNvPr id="145" name="Shape 143"/>
          <p:cNvSpPr/>
          <p:nvPr/>
        </p:nvSpPr>
        <p:spPr>
          <a:xfrm>
            <a:off x="4025646" y="2516886"/>
            <a:ext cx="128016" cy="128016"/>
          </a:xfrm>
          <a:prstGeom prst="ellipse">
            <a:avLst/>
          </a:prstGeom>
          <a:solidFill>
            <a:srgbClr val="FFFFFF"/>
          </a:solidFill>
          <a:ln w="9525">
            <a:solidFill>
              <a:srgbClr val="9AA3B5"/>
            </a:solidFill>
            <a:prstDash val="solid"/>
          </a:ln>
        </p:spPr>
      </p:sp>
      <p:sp>
        <p:nvSpPr>
          <p:cNvPr id="146" name="Shape 144"/>
          <p:cNvSpPr/>
          <p:nvPr/>
        </p:nvSpPr>
        <p:spPr>
          <a:xfrm>
            <a:off x="4226814" y="2503170"/>
            <a:ext cx="155448" cy="155448"/>
          </a:xfrm>
          <a:prstGeom prst="ellipse">
            <a:avLst/>
          </a:prstGeom>
          <a:solidFill>
            <a:srgbClr val="C8414C"/>
          </a:solidFill>
          <a:ln w="9525">
            <a:solidFill>
              <a:srgbClr val="8E2A33"/>
            </a:solidFill>
            <a:prstDash val="solid"/>
          </a:ln>
        </p:spPr>
      </p:sp>
      <p:sp>
        <p:nvSpPr>
          <p:cNvPr id="147" name="Shape 145"/>
          <p:cNvSpPr/>
          <p:nvPr/>
        </p:nvSpPr>
        <p:spPr>
          <a:xfrm>
            <a:off x="4455414" y="2516886"/>
            <a:ext cx="128016" cy="128016"/>
          </a:xfrm>
          <a:prstGeom prst="ellipse">
            <a:avLst/>
          </a:prstGeom>
          <a:solidFill>
            <a:srgbClr val="FFFFFF"/>
          </a:solidFill>
          <a:ln w="9525">
            <a:solidFill>
              <a:srgbClr val="9AA3B5"/>
            </a:solidFill>
            <a:prstDash val="solid"/>
          </a:ln>
        </p:spPr>
      </p:sp>
      <p:sp>
        <p:nvSpPr>
          <p:cNvPr id="148" name="Shape 146"/>
          <p:cNvSpPr/>
          <p:nvPr/>
        </p:nvSpPr>
        <p:spPr>
          <a:xfrm>
            <a:off x="4670298" y="2516886"/>
            <a:ext cx="128016" cy="128016"/>
          </a:xfrm>
          <a:prstGeom prst="ellipse">
            <a:avLst/>
          </a:prstGeom>
          <a:solidFill>
            <a:srgbClr val="FFFFFF"/>
          </a:solidFill>
          <a:ln w="9525">
            <a:solidFill>
              <a:srgbClr val="9AA3B5"/>
            </a:solidFill>
            <a:prstDash val="solid"/>
          </a:ln>
        </p:spPr>
      </p:sp>
      <p:sp>
        <p:nvSpPr>
          <p:cNvPr id="149" name="Shape 147"/>
          <p:cNvSpPr/>
          <p:nvPr/>
        </p:nvSpPr>
        <p:spPr>
          <a:xfrm>
            <a:off x="4871466" y="2503170"/>
            <a:ext cx="155448" cy="155448"/>
          </a:xfrm>
          <a:prstGeom prst="ellipse">
            <a:avLst/>
          </a:prstGeom>
          <a:solidFill>
            <a:srgbClr val="C8414C"/>
          </a:solidFill>
          <a:ln w="9525">
            <a:solidFill>
              <a:srgbClr val="8E2A33"/>
            </a:solidFill>
            <a:prstDash val="solid"/>
          </a:ln>
        </p:spPr>
      </p:sp>
      <p:sp>
        <p:nvSpPr>
          <p:cNvPr id="150" name="Shape 148"/>
          <p:cNvSpPr/>
          <p:nvPr/>
        </p:nvSpPr>
        <p:spPr>
          <a:xfrm>
            <a:off x="5086350" y="2503170"/>
            <a:ext cx="155448" cy="155448"/>
          </a:xfrm>
          <a:prstGeom prst="ellipse">
            <a:avLst/>
          </a:prstGeom>
          <a:solidFill>
            <a:srgbClr val="C8414C"/>
          </a:solidFill>
          <a:ln w="9525">
            <a:solidFill>
              <a:srgbClr val="8E2A33"/>
            </a:solidFill>
            <a:prstDash val="solid"/>
          </a:ln>
        </p:spPr>
      </p:sp>
      <p:sp>
        <p:nvSpPr>
          <p:cNvPr id="151" name="Shape 149"/>
          <p:cNvSpPr/>
          <p:nvPr/>
        </p:nvSpPr>
        <p:spPr>
          <a:xfrm>
            <a:off x="5301234" y="2503170"/>
            <a:ext cx="155448" cy="155448"/>
          </a:xfrm>
          <a:prstGeom prst="ellipse">
            <a:avLst/>
          </a:prstGeom>
          <a:solidFill>
            <a:srgbClr val="C8414C"/>
          </a:solidFill>
          <a:ln w="9525">
            <a:solidFill>
              <a:srgbClr val="8E2A33"/>
            </a:solidFill>
            <a:prstDash val="solid"/>
          </a:ln>
        </p:spPr>
      </p:sp>
      <p:sp>
        <p:nvSpPr>
          <p:cNvPr id="152" name="Shape 150"/>
          <p:cNvSpPr/>
          <p:nvPr/>
        </p:nvSpPr>
        <p:spPr>
          <a:xfrm>
            <a:off x="3367278" y="2718054"/>
            <a:ext cx="155448" cy="155448"/>
          </a:xfrm>
          <a:prstGeom prst="ellipse">
            <a:avLst/>
          </a:prstGeom>
          <a:solidFill>
            <a:srgbClr val="C8414C"/>
          </a:solidFill>
          <a:ln w="9525">
            <a:solidFill>
              <a:srgbClr val="8E2A33"/>
            </a:solidFill>
            <a:prstDash val="solid"/>
          </a:ln>
        </p:spPr>
      </p:sp>
      <p:sp>
        <p:nvSpPr>
          <p:cNvPr id="153" name="Shape 151"/>
          <p:cNvSpPr/>
          <p:nvPr/>
        </p:nvSpPr>
        <p:spPr>
          <a:xfrm>
            <a:off x="3582162" y="2718054"/>
            <a:ext cx="155448" cy="155448"/>
          </a:xfrm>
          <a:prstGeom prst="ellipse">
            <a:avLst/>
          </a:prstGeom>
          <a:solidFill>
            <a:srgbClr val="C8414C"/>
          </a:solidFill>
          <a:ln w="9525">
            <a:solidFill>
              <a:srgbClr val="8E2A33"/>
            </a:solidFill>
            <a:prstDash val="solid"/>
          </a:ln>
        </p:spPr>
      </p:sp>
      <p:sp>
        <p:nvSpPr>
          <p:cNvPr id="154" name="Shape 152"/>
          <p:cNvSpPr/>
          <p:nvPr/>
        </p:nvSpPr>
        <p:spPr>
          <a:xfrm>
            <a:off x="3810762" y="2731770"/>
            <a:ext cx="128016" cy="128016"/>
          </a:xfrm>
          <a:prstGeom prst="ellipse">
            <a:avLst/>
          </a:prstGeom>
          <a:solidFill>
            <a:srgbClr val="FFFFFF"/>
          </a:solidFill>
          <a:ln w="9525">
            <a:solidFill>
              <a:srgbClr val="9AA3B5"/>
            </a:solidFill>
            <a:prstDash val="solid"/>
          </a:ln>
        </p:spPr>
      </p:sp>
      <p:sp>
        <p:nvSpPr>
          <p:cNvPr id="155" name="Shape 153"/>
          <p:cNvSpPr/>
          <p:nvPr/>
        </p:nvSpPr>
        <p:spPr>
          <a:xfrm>
            <a:off x="4025646" y="2731770"/>
            <a:ext cx="128016" cy="128016"/>
          </a:xfrm>
          <a:prstGeom prst="ellipse">
            <a:avLst/>
          </a:prstGeom>
          <a:solidFill>
            <a:srgbClr val="FFFFFF"/>
          </a:solidFill>
          <a:ln w="9525">
            <a:solidFill>
              <a:srgbClr val="9AA3B5"/>
            </a:solidFill>
            <a:prstDash val="solid"/>
          </a:ln>
        </p:spPr>
      </p:sp>
      <p:sp>
        <p:nvSpPr>
          <p:cNvPr id="156" name="Shape 154"/>
          <p:cNvSpPr/>
          <p:nvPr/>
        </p:nvSpPr>
        <p:spPr>
          <a:xfrm>
            <a:off x="4226814" y="2718054"/>
            <a:ext cx="155448" cy="155448"/>
          </a:xfrm>
          <a:prstGeom prst="ellipse">
            <a:avLst/>
          </a:prstGeom>
          <a:solidFill>
            <a:srgbClr val="C8414C"/>
          </a:solidFill>
          <a:ln w="9525">
            <a:solidFill>
              <a:srgbClr val="8E2A33"/>
            </a:solidFill>
            <a:prstDash val="solid"/>
          </a:ln>
        </p:spPr>
      </p:sp>
      <p:sp>
        <p:nvSpPr>
          <p:cNvPr id="157" name="Shape 155"/>
          <p:cNvSpPr/>
          <p:nvPr/>
        </p:nvSpPr>
        <p:spPr>
          <a:xfrm>
            <a:off x="4455414" y="2731770"/>
            <a:ext cx="128016" cy="128016"/>
          </a:xfrm>
          <a:prstGeom prst="ellipse">
            <a:avLst/>
          </a:prstGeom>
          <a:solidFill>
            <a:srgbClr val="FFFFFF"/>
          </a:solidFill>
          <a:ln w="9525">
            <a:solidFill>
              <a:srgbClr val="9AA3B5"/>
            </a:solidFill>
            <a:prstDash val="solid"/>
          </a:ln>
        </p:spPr>
      </p:sp>
      <p:sp>
        <p:nvSpPr>
          <p:cNvPr id="158" name="Shape 156"/>
          <p:cNvSpPr/>
          <p:nvPr/>
        </p:nvSpPr>
        <p:spPr>
          <a:xfrm>
            <a:off x="4656582" y="2718054"/>
            <a:ext cx="155448" cy="155448"/>
          </a:xfrm>
          <a:prstGeom prst="ellipse">
            <a:avLst/>
          </a:prstGeom>
          <a:solidFill>
            <a:srgbClr val="C8414C"/>
          </a:solidFill>
          <a:ln w="9525">
            <a:solidFill>
              <a:srgbClr val="8E2A33"/>
            </a:solidFill>
            <a:prstDash val="solid"/>
          </a:ln>
        </p:spPr>
      </p:sp>
      <p:sp>
        <p:nvSpPr>
          <p:cNvPr id="159" name="Shape 157"/>
          <p:cNvSpPr/>
          <p:nvPr/>
        </p:nvSpPr>
        <p:spPr>
          <a:xfrm>
            <a:off x="4871466" y="2718054"/>
            <a:ext cx="155448" cy="155448"/>
          </a:xfrm>
          <a:prstGeom prst="ellipse">
            <a:avLst/>
          </a:prstGeom>
          <a:solidFill>
            <a:srgbClr val="C8414C"/>
          </a:solidFill>
          <a:ln w="9525">
            <a:solidFill>
              <a:srgbClr val="8E2A33"/>
            </a:solidFill>
            <a:prstDash val="solid"/>
          </a:ln>
        </p:spPr>
      </p:sp>
      <p:sp>
        <p:nvSpPr>
          <p:cNvPr id="160" name="Shape 158"/>
          <p:cNvSpPr/>
          <p:nvPr/>
        </p:nvSpPr>
        <p:spPr>
          <a:xfrm>
            <a:off x="5086350" y="2718054"/>
            <a:ext cx="155448" cy="155448"/>
          </a:xfrm>
          <a:prstGeom prst="ellipse">
            <a:avLst/>
          </a:prstGeom>
          <a:solidFill>
            <a:srgbClr val="C8414C"/>
          </a:solidFill>
          <a:ln w="9525">
            <a:solidFill>
              <a:srgbClr val="8E2A33"/>
            </a:solidFill>
            <a:prstDash val="solid"/>
          </a:ln>
        </p:spPr>
      </p:sp>
      <p:sp>
        <p:nvSpPr>
          <p:cNvPr id="161" name="Shape 159"/>
          <p:cNvSpPr/>
          <p:nvPr/>
        </p:nvSpPr>
        <p:spPr>
          <a:xfrm>
            <a:off x="5301234" y="2718054"/>
            <a:ext cx="155448" cy="155448"/>
          </a:xfrm>
          <a:prstGeom prst="ellipse">
            <a:avLst/>
          </a:prstGeom>
          <a:solidFill>
            <a:srgbClr val="C8414C"/>
          </a:solidFill>
          <a:ln w="9525">
            <a:solidFill>
              <a:srgbClr val="8E2A33"/>
            </a:solidFill>
            <a:prstDash val="solid"/>
          </a:ln>
        </p:spPr>
      </p:sp>
      <p:sp>
        <p:nvSpPr>
          <p:cNvPr id="162" name="Shape 160"/>
          <p:cNvSpPr/>
          <p:nvPr/>
        </p:nvSpPr>
        <p:spPr>
          <a:xfrm>
            <a:off x="3367278" y="2932938"/>
            <a:ext cx="155448" cy="155448"/>
          </a:xfrm>
          <a:prstGeom prst="ellipse">
            <a:avLst/>
          </a:prstGeom>
          <a:solidFill>
            <a:srgbClr val="C8414C"/>
          </a:solidFill>
          <a:ln w="9525">
            <a:solidFill>
              <a:srgbClr val="8E2A33"/>
            </a:solidFill>
            <a:prstDash val="solid"/>
          </a:ln>
        </p:spPr>
      </p:sp>
      <p:sp>
        <p:nvSpPr>
          <p:cNvPr id="163" name="Shape 161"/>
          <p:cNvSpPr/>
          <p:nvPr/>
        </p:nvSpPr>
        <p:spPr>
          <a:xfrm>
            <a:off x="3595878" y="2946654"/>
            <a:ext cx="128016" cy="128016"/>
          </a:xfrm>
          <a:prstGeom prst="ellipse">
            <a:avLst/>
          </a:prstGeom>
          <a:solidFill>
            <a:srgbClr val="FFFFFF"/>
          </a:solidFill>
          <a:ln w="9525">
            <a:solidFill>
              <a:srgbClr val="9AA3B5"/>
            </a:solidFill>
            <a:prstDash val="solid"/>
          </a:ln>
        </p:spPr>
      </p:sp>
      <p:sp>
        <p:nvSpPr>
          <p:cNvPr id="164" name="Shape 162"/>
          <p:cNvSpPr/>
          <p:nvPr/>
        </p:nvSpPr>
        <p:spPr>
          <a:xfrm>
            <a:off x="3797046" y="2932938"/>
            <a:ext cx="155448" cy="155448"/>
          </a:xfrm>
          <a:prstGeom prst="ellipse">
            <a:avLst/>
          </a:prstGeom>
          <a:solidFill>
            <a:srgbClr val="C8414C"/>
          </a:solidFill>
          <a:ln w="9525">
            <a:solidFill>
              <a:srgbClr val="8E2A33"/>
            </a:solidFill>
            <a:prstDash val="solid"/>
          </a:ln>
        </p:spPr>
      </p:sp>
      <p:sp>
        <p:nvSpPr>
          <p:cNvPr id="165" name="Shape 163"/>
          <p:cNvSpPr/>
          <p:nvPr/>
        </p:nvSpPr>
        <p:spPr>
          <a:xfrm>
            <a:off x="4025646" y="2946654"/>
            <a:ext cx="128016" cy="128016"/>
          </a:xfrm>
          <a:prstGeom prst="ellipse">
            <a:avLst/>
          </a:prstGeom>
          <a:solidFill>
            <a:srgbClr val="FFFFFF"/>
          </a:solidFill>
          <a:ln w="9525">
            <a:solidFill>
              <a:srgbClr val="9AA3B5"/>
            </a:solidFill>
            <a:prstDash val="solid"/>
          </a:ln>
        </p:spPr>
      </p:sp>
      <p:sp>
        <p:nvSpPr>
          <p:cNvPr id="166" name="Shape 164"/>
          <p:cNvSpPr/>
          <p:nvPr/>
        </p:nvSpPr>
        <p:spPr>
          <a:xfrm>
            <a:off x="4226814" y="2932938"/>
            <a:ext cx="155448" cy="155448"/>
          </a:xfrm>
          <a:prstGeom prst="ellipse">
            <a:avLst/>
          </a:prstGeom>
          <a:solidFill>
            <a:srgbClr val="C8414C"/>
          </a:solidFill>
          <a:ln w="9525">
            <a:solidFill>
              <a:srgbClr val="8E2A33"/>
            </a:solidFill>
            <a:prstDash val="solid"/>
          </a:ln>
        </p:spPr>
      </p:sp>
      <p:sp>
        <p:nvSpPr>
          <p:cNvPr id="167" name="Shape 165"/>
          <p:cNvSpPr/>
          <p:nvPr/>
        </p:nvSpPr>
        <p:spPr>
          <a:xfrm>
            <a:off x="4455414" y="2946654"/>
            <a:ext cx="128016" cy="128016"/>
          </a:xfrm>
          <a:prstGeom prst="ellipse">
            <a:avLst/>
          </a:prstGeom>
          <a:solidFill>
            <a:srgbClr val="FFFFFF"/>
          </a:solidFill>
          <a:ln w="9525">
            <a:solidFill>
              <a:srgbClr val="9AA3B5"/>
            </a:solidFill>
            <a:prstDash val="solid"/>
          </a:ln>
        </p:spPr>
      </p:sp>
      <p:sp>
        <p:nvSpPr>
          <p:cNvPr id="168" name="Shape 166"/>
          <p:cNvSpPr/>
          <p:nvPr/>
        </p:nvSpPr>
        <p:spPr>
          <a:xfrm>
            <a:off x="4670298" y="2946654"/>
            <a:ext cx="128016" cy="128016"/>
          </a:xfrm>
          <a:prstGeom prst="ellipse">
            <a:avLst/>
          </a:prstGeom>
          <a:solidFill>
            <a:srgbClr val="FFFFFF"/>
          </a:solidFill>
          <a:ln w="9525">
            <a:solidFill>
              <a:srgbClr val="9AA3B5"/>
            </a:solidFill>
            <a:prstDash val="solid"/>
          </a:ln>
        </p:spPr>
      </p:sp>
      <p:sp>
        <p:nvSpPr>
          <p:cNvPr id="169" name="Shape 167"/>
          <p:cNvSpPr/>
          <p:nvPr/>
        </p:nvSpPr>
        <p:spPr>
          <a:xfrm>
            <a:off x="4871466" y="2932938"/>
            <a:ext cx="155448" cy="155448"/>
          </a:xfrm>
          <a:prstGeom prst="ellipse">
            <a:avLst/>
          </a:prstGeom>
          <a:solidFill>
            <a:srgbClr val="C8414C"/>
          </a:solidFill>
          <a:ln w="9525">
            <a:solidFill>
              <a:srgbClr val="8E2A33"/>
            </a:solidFill>
            <a:prstDash val="solid"/>
          </a:ln>
        </p:spPr>
      </p:sp>
      <p:sp>
        <p:nvSpPr>
          <p:cNvPr id="170" name="Shape 168"/>
          <p:cNvSpPr/>
          <p:nvPr/>
        </p:nvSpPr>
        <p:spPr>
          <a:xfrm>
            <a:off x="5100066" y="2946654"/>
            <a:ext cx="128016" cy="128016"/>
          </a:xfrm>
          <a:prstGeom prst="ellipse">
            <a:avLst/>
          </a:prstGeom>
          <a:solidFill>
            <a:srgbClr val="FFFFFF"/>
          </a:solidFill>
          <a:ln w="9525">
            <a:solidFill>
              <a:srgbClr val="9AA3B5"/>
            </a:solidFill>
            <a:prstDash val="solid"/>
          </a:ln>
        </p:spPr>
      </p:sp>
      <p:sp>
        <p:nvSpPr>
          <p:cNvPr id="171" name="Shape 169"/>
          <p:cNvSpPr/>
          <p:nvPr/>
        </p:nvSpPr>
        <p:spPr>
          <a:xfrm>
            <a:off x="5301234" y="2932938"/>
            <a:ext cx="155448" cy="155448"/>
          </a:xfrm>
          <a:prstGeom prst="ellipse">
            <a:avLst/>
          </a:prstGeom>
          <a:solidFill>
            <a:srgbClr val="C8414C"/>
          </a:solidFill>
          <a:ln w="9525">
            <a:solidFill>
              <a:srgbClr val="8E2A33"/>
            </a:solidFill>
            <a:prstDash val="solid"/>
          </a:ln>
        </p:spPr>
      </p:sp>
      <p:sp>
        <p:nvSpPr>
          <p:cNvPr id="172" name="Shape 170"/>
          <p:cNvSpPr/>
          <p:nvPr/>
        </p:nvSpPr>
        <p:spPr>
          <a:xfrm>
            <a:off x="3380994" y="3161538"/>
            <a:ext cx="128016" cy="128016"/>
          </a:xfrm>
          <a:prstGeom prst="ellipse">
            <a:avLst/>
          </a:prstGeom>
          <a:solidFill>
            <a:srgbClr val="FFFFFF"/>
          </a:solidFill>
          <a:ln w="9525">
            <a:solidFill>
              <a:srgbClr val="9AA3B5"/>
            </a:solidFill>
            <a:prstDash val="solid"/>
          </a:ln>
        </p:spPr>
      </p:sp>
      <p:sp>
        <p:nvSpPr>
          <p:cNvPr id="173" name="Shape 171"/>
          <p:cNvSpPr/>
          <p:nvPr/>
        </p:nvSpPr>
        <p:spPr>
          <a:xfrm>
            <a:off x="3595878" y="3161538"/>
            <a:ext cx="128016" cy="128016"/>
          </a:xfrm>
          <a:prstGeom prst="ellipse">
            <a:avLst/>
          </a:prstGeom>
          <a:solidFill>
            <a:srgbClr val="FFFFFF"/>
          </a:solidFill>
          <a:ln w="9525">
            <a:solidFill>
              <a:srgbClr val="9AA3B5"/>
            </a:solidFill>
            <a:prstDash val="solid"/>
          </a:ln>
        </p:spPr>
      </p:sp>
      <p:sp>
        <p:nvSpPr>
          <p:cNvPr id="174" name="Shape 172"/>
          <p:cNvSpPr/>
          <p:nvPr/>
        </p:nvSpPr>
        <p:spPr>
          <a:xfrm>
            <a:off x="3797046" y="3147822"/>
            <a:ext cx="155448" cy="155448"/>
          </a:xfrm>
          <a:prstGeom prst="ellipse">
            <a:avLst/>
          </a:prstGeom>
          <a:solidFill>
            <a:srgbClr val="C8414C"/>
          </a:solidFill>
          <a:ln w="9525">
            <a:solidFill>
              <a:srgbClr val="8E2A33"/>
            </a:solidFill>
            <a:prstDash val="solid"/>
          </a:ln>
        </p:spPr>
      </p:sp>
      <p:sp>
        <p:nvSpPr>
          <p:cNvPr id="175" name="Shape 173"/>
          <p:cNvSpPr/>
          <p:nvPr/>
        </p:nvSpPr>
        <p:spPr>
          <a:xfrm>
            <a:off x="4025646" y="3161538"/>
            <a:ext cx="128016" cy="128016"/>
          </a:xfrm>
          <a:prstGeom prst="ellipse">
            <a:avLst/>
          </a:prstGeom>
          <a:solidFill>
            <a:srgbClr val="FFFFFF"/>
          </a:solidFill>
          <a:ln w="9525">
            <a:solidFill>
              <a:srgbClr val="9AA3B5"/>
            </a:solidFill>
            <a:prstDash val="solid"/>
          </a:ln>
        </p:spPr>
      </p:sp>
      <p:sp>
        <p:nvSpPr>
          <p:cNvPr id="176" name="Shape 174"/>
          <p:cNvSpPr/>
          <p:nvPr/>
        </p:nvSpPr>
        <p:spPr>
          <a:xfrm>
            <a:off x="4240530" y="3161538"/>
            <a:ext cx="128016" cy="128016"/>
          </a:xfrm>
          <a:prstGeom prst="ellipse">
            <a:avLst/>
          </a:prstGeom>
          <a:solidFill>
            <a:srgbClr val="FFFFFF"/>
          </a:solidFill>
          <a:ln w="9525">
            <a:solidFill>
              <a:srgbClr val="9AA3B5"/>
            </a:solidFill>
            <a:prstDash val="solid"/>
          </a:ln>
        </p:spPr>
      </p:sp>
      <p:sp>
        <p:nvSpPr>
          <p:cNvPr id="177" name="Shape 175"/>
          <p:cNvSpPr/>
          <p:nvPr/>
        </p:nvSpPr>
        <p:spPr>
          <a:xfrm>
            <a:off x="4441698" y="3147822"/>
            <a:ext cx="155448" cy="155448"/>
          </a:xfrm>
          <a:prstGeom prst="ellipse">
            <a:avLst/>
          </a:prstGeom>
          <a:solidFill>
            <a:srgbClr val="C8414C"/>
          </a:solidFill>
          <a:ln w="9525">
            <a:solidFill>
              <a:srgbClr val="8E2A33"/>
            </a:solidFill>
            <a:prstDash val="solid"/>
          </a:ln>
        </p:spPr>
      </p:sp>
      <p:sp>
        <p:nvSpPr>
          <p:cNvPr id="178" name="Shape 176"/>
          <p:cNvSpPr/>
          <p:nvPr/>
        </p:nvSpPr>
        <p:spPr>
          <a:xfrm>
            <a:off x="4670298" y="3161538"/>
            <a:ext cx="128016" cy="128016"/>
          </a:xfrm>
          <a:prstGeom prst="ellipse">
            <a:avLst/>
          </a:prstGeom>
          <a:solidFill>
            <a:srgbClr val="FFFFFF"/>
          </a:solidFill>
          <a:ln w="9525">
            <a:solidFill>
              <a:srgbClr val="9AA3B5"/>
            </a:solidFill>
            <a:prstDash val="solid"/>
          </a:ln>
        </p:spPr>
      </p:sp>
      <p:sp>
        <p:nvSpPr>
          <p:cNvPr id="179" name="Shape 177"/>
          <p:cNvSpPr/>
          <p:nvPr/>
        </p:nvSpPr>
        <p:spPr>
          <a:xfrm>
            <a:off x="4885182" y="3161538"/>
            <a:ext cx="128016" cy="128016"/>
          </a:xfrm>
          <a:prstGeom prst="ellipse">
            <a:avLst/>
          </a:prstGeom>
          <a:solidFill>
            <a:srgbClr val="FFFFFF"/>
          </a:solidFill>
          <a:ln w="9525">
            <a:solidFill>
              <a:srgbClr val="9AA3B5"/>
            </a:solidFill>
            <a:prstDash val="solid"/>
          </a:ln>
        </p:spPr>
      </p:sp>
      <p:sp>
        <p:nvSpPr>
          <p:cNvPr id="180" name="Shape 178"/>
          <p:cNvSpPr/>
          <p:nvPr/>
        </p:nvSpPr>
        <p:spPr>
          <a:xfrm>
            <a:off x="5100066" y="3161538"/>
            <a:ext cx="128016" cy="128016"/>
          </a:xfrm>
          <a:prstGeom prst="ellipse">
            <a:avLst/>
          </a:prstGeom>
          <a:solidFill>
            <a:srgbClr val="FFFFFF"/>
          </a:solidFill>
          <a:ln w="9525">
            <a:solidFill>
              <a:srgbClr val="9AA3B5"/>
            </a:solidFill>
            <a:prstDash val="solid"/>
          </a:ln>
        </p:spPr>
      </p:sp>
      <p:sp>
        <p:nvSpPr>
          <p:cNvPr id="181" name="Shape 179"/>
          <p:cNvSpPr/>
          <p:nvPr/>
        </p:nvSpPr>
        <p:spPr>
          <a:xfrm>
            <a:off x="5314950" y="3161538"/>
            <a:ext cx="128016" cy="128016"/>
          </a:xfrm>
          <a:prstGeom prst="ellipse">
            <a:avLst/>
          </a:prstGeom>
          <a:solidFill>
            <a:srgbClr val="FFFFFF"/>
          </a:solidFill>
          <a:ln w="9525">
            <a:solidFill>
              <a:srgbClr val="9AA3B5"/>
            </a:solidFill>
            <a:prstDash val="solid"/>
          </a:ln>
        </p:spPr>
      </p:sp>
      <p:sp>
        <p:nvSpPr>
          <p:cNvPr id="182" name="Shape 180"/>
          <p:cNvSpPr/>
          <p:nvPr/>
        </p:nvSpPr>
        <p:spPr>
          <a:xfrm>
            <a:off x="3367278" y="3362706"/>
            <a:ext cx="155448" cy="155448"/>
          </a:xfrm>
          <a:prstGeom prst="ellipse">
            <a:avLst/>
          </a:prstGeom>
          <a:solidFill>
            <a:srgbClr val="C8414C"/>
          </a:solidFill>
          <a:ln w="9525">
            <a:solidFill>
              <a:srgbClr val="8E2A33"/>
            </a:solidFill>
            <a:prstDash val="solid"/>
          </a:ln>
        </p:spPr>
      </p:sp>
      <p:sp>
        <p:nvSpPr>
          <p:cNvPr id="183" name="Shape 181"/>
          <p:cNvSpPr/>
          <p:nvPr/>
        </p:nvSpPr>
        <p:spPr>
          <a:xfrm>
            <a:off x="3582162" y="3362706"/>
            <a:ext cx="155448" cy="155448"/>
          </a:xfrm>
          <a:prstGeom prst="ellipse">
            <a:avLst/>
          </a:prstGeom>
          <a:solidFill>
            <a:srgbClr val="C8414C"/>
          </a:solidFill>
          <a:ln w="9525">
            <a:solidFill>
              <a:srgbClr val="8E2A33"/>
            </a:solidFill>
            <a:prstDash val="solid"/>
          </a:ln>
        </p:spPr>
      </p:sp>
      <p:sp>
        <p:nvSpPr>
          <p:cNvPr id="184" name="Shape 182"/>
          <p:cNvSpPr/>
          <p:nvPr/>
        </p:nvSpPr>
        <p:spPr>
          <a:xfrm>
            <a:off x="3797046" y="3362706"/>
            <a:ext cx="155448" cy="155448"/>
          </a:xfrm>
          <a:prstGeom prst="ellipse">
            <a:avLst/>
          </a:prstGeom>
          <a:solidFill>
            <a:srgbClr val="C8414C"/>
          </a:solidFill>
          <a:ln w="9525">
            <a:solidFill>
              <a:srgbClr val="8E2A33"/>
            </a:solidFill>
            <a:prstDash val="solid"/>
          </a:ln>
        </p:spPr>
      </p:sp>
      <p:sp>
        <p:nvSpPr>
          <p:cNvPr id="185" name="Shape 183"/>
          <p:cNvSpPr/>
          <p:nvPr/>
        </p:nvSpPr>
        <p:spPr>
          <a:xfrm>
            <a:off x="4025646" y="3376422"/>
            <a:ext cx="128016" cy="128016"/>
          </a:xfrm>
          <a:prstGeom prst="ellipse">
            <a:avLst/>
          </a:prstGeom>
          <a:solidFill>
            <a:srgbClr val="FFFFFF"/>
          </a:solidFill>
          <a:ln w="9525">
            <a:solidFill>
              <a:srgbClr val="9AA3B5"/>
            </a:solidFill>
            <a:prstDash val="solid"/>
          </a:ln>
        </p:spPr>
      </p:sp>
      <p:sp>
        <p:nvSpPr>
          <p:cNvPr id="186" name="Shape 184"/>
          <p:cNvSpPr/>
          <p:nvPr/>
        </p:nvSpPr>
        <p:spPr>
          <a:xfrm>
            <a:off x="4226814" y="3362706"/>
            <a:ext cx="155448" cy="155448"/>
          </a:xfrm>
          <a:prstGeom prst="ellipse">
            <a:avLst/>
          </a:prstGeom>
          <a:solidFill>
            <a:srgbClr val="C8414C"/>
          </a:solidFill>
          <a:ln w="9525">
            <a:solidFill>
              <a:srgbClr val="8E2A33"/>
            </a:solidFill>
            <a:prstDash val="solid"/>
          </a:ln>
        </p:spPr>
      </p:sp>
      <p:sp>
        <p:nvSpPr>
          <p:cNvPr id="187" name="Shape 185"/>
          <p:cNvSpPr/>
          <p:nvPr/>
        </p:nvSpPr>
        <p:spPr>
          <a:xfrm>
            <a:off x="4455414" y="3376422"/>
            <a:ext cx="128016" cy="128016"/>
          </a:xfrm>
          <a:prstGeom prst="ellipse">
            <a:avLst/>
          </a:prstGeom>
          <a:solidFill>
            <a:srgbClr val="FFFFFF"/>
          </a:solidFill>
          <a:ln w="9525">
            <a:solidFill>
              <a:srgbClr val="9AA3B5"/>
            </a:solidFill>
            <a:prstDash val="solid"/>
          </a:ln>
        </p:spPr>
      </p:sp>
      <p:sp>
        <p:nvSpPr>
          <p:cNvPr id="188" name="Shape 186"/>
          <p:cNvSpPr/>
          <p:nvPr/>
        </p:nvSpPr>
        <p:spPr>
          <a:xfrm>
            <a:off x="4656582" y="3362706"/>
            <a:ext cx="155448" cy="155448"/>
          </a:xfrm>
          <a:prstGeom prst="ellipse">
            <a:avLst/>
          </a:prstGeom>
          <a:solidFill>
            <a:srgbClr val="C8414C"/>
          </a:solidFill>
          <a:ln w="9525">
            <a:solidFill>
              <a:srgbClr val="8E2A33"/>
            </a:solidFill>
            <a:prstDash val="solid"/>
          </a:ln>
        </p:spPr>
      </p:sp>
      <p:sp>
        <p:nvSpPr>
          <p:cNvPr id="189" name="Shape 187"/>
          <p:cNvSpPr/>
          <p:nvPr/>
        </p:nvSpPr>
        <p:spPr>
          <a:xfrm>
            <a:off x="4871466" y="3362706"/>
            <a:ext cx="155448" cy="155448"/>
          </a:xfrm>
          <a:prstGeom prst="ellipse">
            <a:avLst/>
          </a:prstGeom>
          <a:solidFill>
            <a:srgbClr val="C8414C"/>
          </a:solidFill>
          <a:ln w="9525">
            <a:solidFill>
              <a:srgbClr val="8E2A33"/>
            </a:solidFill>
            <a:prstDash val="solid"/>
          </a:ln>
        </p:spPr>
      </p:sp>
      <p:sp>
        <p:nvSpPr>
          <p:cNvPr id="190" name="Shape 188"/>
          <p:cNvSpPr/>
          <p:nvPr/>
        </p:nvSpPr>
        <p:spPr>
          <a:xfrm>
            <a:off x="5100066" y="3376422"/>
            <a:ext cx="128016" cy="128016"/>
          </a:xfrm>
          <a:prstGeom prst="ellipse">
            <a:avLst/>
          </a:prstGeom>
          <a:solidFill>
            <a:srgbClr val="FFFFFF"/>
          </a:solidFill>
          <a:ln w="9525">
            <a:solidFill>
              <a:srgbClr val="9AA3B5"/>
            </a:solidFill>
            <a:prstDash val="solid"/>
          </a:ln>
        </p:spPr>
      </p:sp>
      <p:sp>
        <p:nvSpPr>
          <p:cNvPr id="191" name="Shape 189"/>
          <p:cNvSpPr/>
          <p:nvPr/>
        </p:nvSpPr>
        <p:spPr>
          <a:xfrm>
            <a:off x="5314950" y="3376422"/>
            <a:ext cx="128016" cy="128016"/>
          </a:xfrm>
          <a:prstGeom prst="ellipse">
            <a:avLst/>
          </a:prstGeom>
          <a:solidFill>
            <a:srgbClr val="FFFFFF"/>
          </a:solidFill>
          <a:ln w="9525">
            <a:solidFill>
              <a:srgbClr val="9AA3B5"/>
            </a:solidFill>
            <a:prstDash val="solid"/>
          </a:ln>
        </p:spPr>
      </p:sp>
      <p:sp>
        <p:nvSpPr>
          <p:cNvPr id="192" name="Shape 190"/>
          <p:cNvSpPr/>
          <p:nvPr/>
        </p:nvSpPr>
        <p:spPr>
          <a:xfrm>
            <a:off x="3367278" y="3577590"/>
            <a:ext cx="155448" cy="155448"/>
          </a:xfrm>
          <a:prstGeom prst="ellipse">
            <a:avLst/>
          </a:prstGeom>
          <a:solidFill>
            <a:srgbClr val="C8414C"/>
          </a:solidFill>
          <a:ln w="9525">
            <a:solidFill>
              <a:srgbClr val="8E2A33"/>
            </a:solidFill>
            <a:prstDash val="solid"/>
          </a:ln>
        </p:spPr>
      </p:sp>
      <p:sp>
        <p:nvSpPr>
          <p:cNvPr id="193" name="Shape 191"/>
          <p:cNvSpPr/>
          <p:nvPr/>
        </p:nvSpPr>
        <p:spPr>
          <a:xfrm>
            <a:off x="3582162" y="3577590"/>
            <a:ext cx="155448" cy="155448"/>
          </a:xfrm>
          <a:prstGeom prst="ellipse">
            <a:avLst/>
          </a:prstGeom>
          <a:solidFill>
            <a:srgbClr val="C8414C"/>
          </a:solidFill>
          <a:ln w="9525">
            <a:solidFill>
              <a:srgbClr val="8E2A33"/>
            </a:solidFill>
            <a:prstDash val="solid"/>
          </a:ln>
        </p:spPr>
      </p:sp>
      <p:sp>
        <p:nvSpPr>
          <p:cNvPr id="194" name="Shape 192"/>
          <p:cNvSpPr/>
          <p:nvPr/>
        </p:nvSpPr>
        <p:spPr>
          <a:xfrm>
            <a:off x="3810762" y="3591306"/>
            <a:ext cx="128016" cy="128016"/>
          </a:xfrm>
          <a:prstGeom prst="ellipse">
            <a:avLst/>
          </a:prstGeom>
          <a:solidFill>
            <a:srgbClr val="FFFFFF"/>
          </a:solidFill>
          <a:ln w="9525">
            <a:solidFill>
              <a:srgbClr val="9AA3B5"/>
            </a:solidFill>
            <a:prstDash val="solid"/>
          </a:ln>
        </p:spPr>
      </p:sp>
      <p:sp>
        <p:nvSpPr>
          <p:cNvPr id="195" name="Shape 193"/>
          <p:cNvSpPr/>
          <p:nvPr/>
        </p:nvSpPr>
        <p:spPr>
          <a:xfrm>
            <a:off x="4011930" y="3577590"/>
            <a:ext cx="155448" cy="155448"/>
          </a:xfrm>
          <a:prstGeom prst="ellipse">
            <a:avLst/>
          </a:prstGeom>
          <a:solidFill>
            <a:srgbClr val="C8414C"/>
          </a:solidFill>
          <a:ln w="9525">
            <a:solidFill>
              <a:srgbClr val="8E2A33"/>
            </a:solidFill>
            <a:prstDash val="solid"/>
          </a:ln>
        </p:spPr>
      </p:sp>
      <p:sp>
        <p:nvSpPr>
          <p:cNvPr id="196" name="Shape 194"/>
          <p:cNvSpPr/>
          <p:nvPr/>
        </p:nvSpPr>
        <p:spPr>
          <a:xfrm>
            <a:off x="4226814" y="3577590"/>
            <a:ext cx="155448" cy="155448"/>
          </a:xfrm>
          <a:prstGeom prst="ellipse">
            <a:avLst/>
          </a:prstGeom>
          <a:solidFill>
            <a:srgbClr val="C8414C"/>
          </a:solidFill>
          <a:ln w="9525">
            <a:solidFill>
              <a:srgbClr val="8E2A33"/>
            </a:solidFill>
            <a:prstDash val="solid"/>
          </a:ln>
        </p:spPr>
      </p:sp>
      <p:sp>
        <p:nvSpPr>
          <p:cNvPr id="197" name="Shape 195"/>
          <p:cNvSpPr/>
          <p:nvPr/>
        </p:nvSpPr>
        <p:spPr>
          <a:xfrm>
            <a:off x="4441698" y="3577590"/>
            <a:ext cx="155448" cy="155448"/>
          </a:xfrm>
          <a:prstGeom prst="ellipse">
            <a:avLst/>
          </a:prstGeom>
          <a:solidFill>
            <a:srgbClr val="C8414C"/>
          </a:solidFill>
          <a:ln w="9525">
            <a:solidFill>
              <a:srgbClr val="8E2A33"/>
            </a:solidFill>
            <a:prstDash val="solid"/>
          </a:ln>
        </p:spPr>
      </p:sp>
      <p:sp>
        <p:nvSpPr>
          <p:cNvPr id="198" name="Shape 196"/>
          <p:cNvSpPr/>
          <p:nvPr/>
        </p:nvSpPr>
        <p:spPr>
          <a:xfrm>
            <a:off x="4656582" y="3577590"/>
            <a:ext cx="155448" cy="155448"/>
          </a:xfrm>
          <a:prstGeom prst="ellipse">
            <a:avLst/>
          </a:prstGeom>
          <a:solidFill>
            <a:srgbClr val="C8414C"/>
          </a:solidFill>
          <a:ln w="9525">
            <a:solidFill>
              <a:srgbClr val="8E2A33"/>
            </a:solidFill>
            <a:prstDash val="solid"/>
          </a:ln>
        </p:spPr>
      </p:sp>
      <p:sp>
        <p:nvSpPr>
          <p:cNvPr id="199" name="Shape 197"/>
          <p:cNvSpPr/>
          <p:nvPr/>
        </p:nvSpPr>
        <p:spPr>
          <a:xfrm>
            <a:off x="4871466" y="3577590"/>
            <a:ext cx="155448" cy="155448"/>
          </a:xfrm>
          <a:prstGeom prst="ellipse">
            <a:avLst/>
          </a:prstGeom>
          <a:solidFill>
            <a:srgbClr val="C8414C"/>
          </a:solidFill>
          <a:ln w="9525">
            <a:solidFill>
              <a:srgbClr val="8E2A33"/>
            </a:solidFill>
            <a:prstDash val="solid"/>
          </a:ln>
        </p:spPr>
      </p:sp>
      <p:sp>
        <p:nvSpPr>
          <p:cNvPr id="200" name="Shape 198"/>
          <p:cNvSpPr/>
          <p:nvPr/>
        </p:nvSpPr>
        <p:spPr>
          <a:xfrm>
            <a:off x="5100066" y="3591306"/>
            <a:ext cx="128016" cy="128016"/>
          </a:xfrm>
          <a:prstGeom prst="ellipse">
            <a:avLst/>
          </a:prstGeom>
          <a:solidFill>
            <a:srgbClr val="FFFFFF"/>
          </a:solidFill>
          <a:ln w="9525">
            <a:solidFill>
              <a:srgbClr val="9AA3B5"/>
            </a:solidFill>
            <a:prstDash val="solid"/>
          </a:ln>
        </p:spPr>
      </p:sp>
      <p:sp>
        <p:nvSpPr>
          <p:cNvPr id="201" name="Shape 199"/>
          <p:cNvSpPr/>
          <p:nvPr/>
        </p:nvSpPr>
        <p:spPr>
          <a:xfrm>
            <a:off x="5314950" y="3591306"/>
            <a:ext cx="128016" cy="128016"/>
          </a:xfrm>
          <a:prstGeom prst="ellipse">
            <a:avLst/>
          </a:prstGeom>
          <a:solidFill>
            <a:srgbClr val="FFFFFF"/>
          </a:solidFill>
          <a:ln w="9525">
            <a:solidFill>
              <a:srgbClr val="9AA3B5"/>
            </a:solidFill>
            <a:prstDash val="solid"/>
          </a:ln>
        </p:spPr>
      </p:sp>
      <p:sp>
        <p:nvSpPr>
          <p:cNvPr id="202" name="Shape 200"/>
          <p:cNvSpPr/>
          <p:nvPr/>
        </p:nvSpPr>
        <p:spPr>
          <a:xfrm>
            <a:off x="3367278" y="3792474"/>
            <a:ext cx="155448" cy="155448"/>
          </a:xfrm>
          <a:prstGeom prst="ellipse">
            <a:avLst/>
          </a:prstGeom>
          <a:solidFill>
            <a:srgbClr val="C8414C"/>
          </a:solidFill>
          <a:ln w="9525">
            <a:solidFill>
              <a:srgbClr val="8E2A33"/>
            </a:solidFill>
            <a:prstDash val="solid"/>
          </a:ln>
        </p:spPr>
      </p:sp>
      <p:sp>
        <p:nvSpPr>
          <p:cNvPr id="203" name="Shape 201"/>
          <p:cNvSpPr/>
          <p:nvPr/>
        </p:nvSpPr>
        <p:spPr>
          <a:xfrm>
            <a:off x="3595878" y="3806190"/>
            <a:ext cx="128016" cy="128016"/>
          </a:xfrm>
          <a:prstGeom prst="ellipse">
            <a:avLst/>
          </a:prstGeom>
          <a:solidFill>
            <a:srgbClr val="FFFFFF"/>
          </a:solidFill>
          <a:ln w="9525">
            <a:solidFill>
              <a:srgbClr val="9AA3B5"/>
            </a:solidFill>
            <a:prstDash val="solid"/>
          </a:ln>
        </p:spPr>
      </p:sp>
      <p:sp>
        <p:nvSpPr>
          <p:cNvPr id="204" name="Shape 202"/>
          <p:cNvSpPr/>
          <p:nvPr/>
        </p:nvSpPr>
        <p:spPr>
          <a:xfrm>
            <a:off x="3797046" y="3792474"/>
            <a:ext cx="155448" cy="155448"/>
          </a:xfrm>
          <a:prstGeom prst="ellipse">
            <a:avLst/>
          </a:prstGeom>
          <a:solidFill>
            <a:srgbClr val="C8414C"/>
          </a:solidFill>
          <a:ln w="9525">
            <a:solidFill>
              <a:srgbClr val="8E2A33"/>
            </a:solidFill>
            <a:prstDash val="solid"/>
          </a:ln>
        </p:spPr>
      </p:sp>
      <p:sp>
        <p:nvSpPr>
          <p:cNvPr id="205" name="Shape 203"/>
          <p:cNvSpPr/>
          <p:nvPr/>
        </p:nvSpPr>
        <p:spPr>
          <a:xfrm>
            <a:off x="4025646" y="3806190"/>
            <a:ext cx="128016" cy="128016"/>
          </a:xfrm>
          <a:prstGeom prst="ellipse">
            <a:avLst/>
          </a:prstGeom>
          <a:solidFill>
            <a:srgbClr val="FFFFFF"/>
          </a:solidFill>
          <a:ln w="9525">
            <a:solidFill>
              <a:srgbClr val="9AA3B5"/>
            </a:solidFill>
            <a:prstDash val="solid"/>
          </a:ln>
        </p:spPr>
      </p:sp>
      <p:sp>
        <p:nvSpPr>
          <p:cNvPr id="206" name="Shape 204"/>
          <p:cNvSpPr/>
          <p:nvPr/>
        </p:nvSpPr>
        <p:spPr>
          <a:xfrm>
            <a:off x="4240530" y="3806190"/>
            <a:ext cx="128016" cy="128016"/>
          </a:xfrm>
          <a:prstGeom prst="ellipse">
            <a:avLst/>
          </a:prstGeom>
          <a:solidFill>
            <a:srgbClr val="FFFFFF"/>
          </a:solidFill>
          <a:ln w="9525">
            <a:solidFill>
              <a:srgbClr val="9AA3B5"/>
            </a:solidFill>
            <a:prstDash val="solid"/>
          </a:ln>
        </p:spPr>
      </p:sp>
      <p:sp>
        <p:nvSpPr>
          <p:cNvPr id="207" name="Shape 205"/>
          <p:cNvSpPr/>
          <p:nvPr/>
        </p:nvSpPr>
        <p:spPr>
          <a:xfrm>
            <a:off x="4455414" y="3806190"/>
            <a:ext cx="128016" cy="128016"/>
          </a:xfrm>
          <a:prstGeom prst="ellipse">
            <a:avLst/>
          </a:prstGeom>
          <a:solidFill>
            <a:srgbClr val="FFFFFF"/>
          </a:solidFill>
          <a:ln w="9525">
            <a:solidFill>
              <a:srgbClr val="9AA3B5"/>
            </a:solidFill>
            <a:prstDash val="solid"/>
          </a:ln>
        </p:spPr>
      </p:sp>
      <p:sp>
        <p:nvSpPr>
          <p:cNvPr id="208" name="Shape 206"/>
          <p:cNvSpPr/>
          <p:nvPr/>
        </p:nvSpPr>
        <p:spPr>
          <a:xfrm>
            <a:off x="4670298" y="3806190"/>
            <a:ext cx="128016" cy="128016"/>
          </a:xfrm>
          <a:prstGeom prst="ellipse">
            <a:avLst/>
          </a:prstGeom>
          <a:solidFill>
            <a:srgbClr val="FFFFFF"/>
          </a:solidFill>
          <a:ln w="9525">
            <a:solidFill>
              <a:srgbClr val="9AA3B5"/>
            </a:solidFill>
            <a:prstDash val="solid"/>
          </a:ln>
        </p:spPr>
      </p:sp>
      <p:sp>
        <p:nvSpPr>
          <p:cNvPr id="209" name="Shape 207"/>
          <p:cNvSpPr/>
          <p:nvPr/>
        </p:nvSpPr>
        <p:spPr>
          <a:xfrm>
            <a:off x="4885182" y="3806190"/>
            <a:ext cx="128016" cy="128016"/>
          </a:xfrm>
          <a:prstGeom prst="ellipse">
            <a:avLst/>
          </a:prstGeom>
          <a:solidFill>
            <a:srgbClr val="FFFFFF"/>
          </a:solidFill>
          <a:ln w="9525">
            <a:solidFill>
              <a:srgbClr val="9AA3B5"/>
            </a:solidFill>
            <a:prstDash val="solid"/>
          </a:ln>
        </p:spPr>
      </p:sp>
      <p:sp>
        <p:nvSpPr>
          <p:cNvPr id="210" name="Shape 208"/>
          <p:cNvSpPr/>
          <p:nvPr/>
        </p:nvSpPr>
        <p:spPr>
          <a:xfrm>
            <a:off x="5086350" y="3792474"/>
            <a:ext cx="155448" cy="155448"/>
          </a:xfrm>
          <a:prstGeom prst="ellipse">
            <a:avLst/>
          </a:prstGeom>
          <a:solidFill>
            <a:srgbClr val="C8414C"/>
          </a:solidFill>
          <a:ln w="9525">
            <a:solidFill>
              <a:srgbClr val="8E2A33"/>
            </a:solidFill>
            <a:prstDash val="solid"/>
          </a:ln>
        </p:spPr>
      </p:sp>
      <p:sp>
        <p:nvSpPr>
          <p:cNvPr id="211" name="Shape 209"/>
          <p:cNvSpPr/>
          <p:nvPr/>
        </p:nvSpPr>
        <p:spPr>
          <a:xfrm>
            <a:off x="5314950" y="3806190"/>
            <a:ext cx="128016" cy="128016"/>
          </a:xfrm>
          <a:prstGeom prst="ellipse">
            <a:avLst/>
          </a:prstGeom>
          <a:solidFill>
            <a:srgbClr val="FFFFFF"/>
          </a:solidFill>
          <a:ln w="9525">
            <a:solidFill>
              <a:srgbClr val="9AA3B5"/>
            </a:solidFill>
            <a:prstDash val="solid"/>
          </a:ln>
        </p:spPr>
      </p:sp>
      <p:sp>
        <p:nvSpPr>
          <p:cNvPr id="212" name="Shape 210"/>
          <p:cNvSpPr/>
          <p:nvPr/>
        </p:nvSpPr>
        <p:spPr>
          <a:xfrm>
            <a:off x="2971800" y="2926080"/>
            <a:ext cx="274320" cy="91"/>
          </a:xfrm>
          <a:prstGeom prst="line">
            <a:avLst/>
          </a:prstGeom>
          <a:noFill/>
          <a:ln w="25400">
            <a:solidFill>
              <a:srgbClr val="1A2340"/>
            </a:solidFill>
            <a:prstDash val="solid"/>
            <a:tailEnd type="triangle"/>
          </a:ln>
        </p:spPr>
      </p:sp>
      <p:sp>
        <p:nvSpPr>
          <p:cNvPr id="213" name="Shape 211"/>
          <p:cNvSpPr/>
          <p:nvPr/>
        </p:nvSpPr>
        <p:spPr>
          <a:xfrm>
            <a:off x="836676" y="4265676"/>
            <a:ext cx="155448" cy="155448"/>
          </a:xfrm>
          <a:prstGeom prst="ellipse">
            <a:avLst/>
          </a:prstGeom>
          <a:solidFill>
            <a:srgbClr val="C8414C"/>
          </a:solidFill>
          <a:ln w="9525">
            <a:solidFill>
              <a:srgbClr val="8E2A33"/>
            </a:solidFill>
            <a:prstDash val="solid"/>
          </a:ln>
        </p:spPr>
      </p:sp>
      <p:sp>
        <p:nvSpPr>
          <p:cNvPr id="214" name="Text 212"/>
          <p:cNvSpPr/>
          <p:nvPr/>
        </p:nvSpPr>
        <p:spPr>
          <a:xfrm>
            <a:off x="1051560" y="4233672"/>
            <a:ext cx="18288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undecayed (unstable) nucleus</a:t>
            </a:r>
            <a:endParaRPr lang="en-US" sz="1050" dirty="0"/>
          </a:p>
        </p:txBody>
      </p:sp>
      <p:sp>
        <p:nvSpPr>
          <p:cNvPr id="215" name="Shape 213"/>
          <p:cNvSpPr/>
          <p:nvPr/>
        </p:nvSpPr>
        <p:spPr>
          <a:xfrm>
            <a:off x="850392" y="4599432"/>
            <a:ext cx="128016" cy="128016"/>
          </a:xfrm>
          <a:prstGeom prst="ellipse">
            <a:avLst/>
          </a:prstGeom>
          <a:solidFill>
            <a:srgbClr val="FFFFFF"/>
          </a:solidFill>
          <a:ln w="9525">
            <a:solidFill>
              <a:srgbClr val="9AA3B5"/>
            </a:solidFill>
            <a:prstDash val="solid"/>
          </a:ln>
        </p:spPr>
      </p:sp>
      <p:sp>
        <p:nvSpPr>
          <p:cNvPr id="216" name="Text 214"/>
          <p:cNvSpPr/>
          <p:nvPr/>
        </p:nvSpPr>
        <p:spPr>
          <a:xfrm>
            <a:off x="1051560" y="4553712"/>
            <a:ext cx="219456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decayed: has emitted radiation</a:t>
            </a:r>
            <a:endParaRPr lang="en-US" sz="1050" dirty="0"/>
          </a:p>
        </p:txBody>
      </p:sp>
      <p:sp>
        <p:nvSpPr>
          <p:cNvPr id="217" name="Text 215"/>
          <p:cNvSpPr/>
          <p:nvPr/>
        </p:nvSpPr>
        <p:spPr>
          <a:xfrm>
            <a:off x="3474720" y="4279392"/>
            <a:ext cx="2286000" cy="731520"/>
          </a:xfrm>
          <a:prstGeom prst="rect">
            <a:avLst/>
          </a:prstGeom>
          <a:noFill/>
          <a:ln/>
        </p:spPr>
        <p:txBody>
          <a:bodyPr wrap="square" lIns="0" tIns="0" rIns="0" bIns="0" rtlCol="0" anchor="t"/>
          <a:lstStyle/>
          <a:p>
            <a:pPr algn="l" indent="0" marL="0">
              <a:buNone/>
            </a:pPr>
            <a:r>
              <a:rPr lang="en-US" sz="1050" dirty="0">
                <a:solidFill>
                  <a:srgbClr val="1A2340"/>
                </a:solidFill>
                <a:latin typeface="Calibri" pitchFamily="34" charset="0"/>
                <a:ea typeface="Calibri" pitchFamily="34" charset="-122"/>
                <a:cs typeface="Calibri" pitchFamily="34" charset="-120"/>
              </a:rPr>
              <a:t>Each nucleus has the same chance of decaying each second. You cannot say </a:t>
            </a:r>
            <a:r>
              <a:rPr lang="en-US" sz="1050" b="1" dirty="0">
                <a:solidFill>
                  <a:srgbClr val="1A2340"/>
                </a:solidFill>
                <a:latin typeface="Calibri" pitchFamily="34" charset="0"/>
                <a:ea typeface="Calibri" pitchFamily="34" charset="-122"/>
                <a:cs typeface="Calibri" pitchFamily="34" charset="-120"/>
              </a:rPr>
              <a:t>which</a:t>
            </a:r>
            <a:r>
              <a:rPr lang="en-US" sz="1050" dirty="0">
                <a:solidFill>
                  <a:srgbClr val="1A2340"/>
                </a:solidFill>
                <a:latin typeface="Calibri" pitchFamily="34" charset="0"/>
                <a:ea typeface="Calibri" pitchFamily="34" charset="-122"/>
                <a:cs typeface="Calibri" pitchFamily="34" charset="-120"/>
              </a:rPr>
              <a:t> one or </a:t>
            </a:r>
            <a:r>
              <a:rPr lang="en-US" sz="1050" b="1" dirty="0">
                <a:solidFill>
                  <a:srgbClr val="1A2340"/>
                </a:solidFill>
                <a:latin typeface="Calibri" pitchFamily="34" charset="0"/>
                <a:ea typeface="Calibri" pitchFamily="34" charset="-122"/>
                <a:cs typeface="Calibri" pitchFamily="34" charset="-120"/>
              </a:rPr>
              <a:t>when</a:t>
            </a:r>
            <a:r>
              <a:rPr lang="en-US" sz="1050" dirty="0">
                <a:solidFill>
                  <a:srgbClr val="1A2340"/>
                </a:solidFill>
                <a:latin typeface="Calibri" pitchFamily="34" charset="0"/>
                <a:ea typeface="Calibri" pitchFamily="34" charset="-122"/>
                <a:cs typeface="Calibri" pitchFamily="34" charset="-120"/>
              </a:rPr>
              <a:t>.</a:t>
            </a:r>
            <a:endParaRPr lang="en-US" sz="1050" dirty="0"/>
          </a:p>
        </p:txBody>
      </p:sp>
      <p:sp>
        <p:nvSpPr>
          <p:cNvPr id="218" name="Shape 21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19" name="Text 2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Radioactive decay</a:t>
            </a:r>
            <a:endParaRPr lang="en-US" sz="1300" dirty="0"/>
          </a:p>
        </p:txBody>
      </p:sp>
      <p:sp>
        <p:nvSpPr>
          <p:cNvPr id="220" name="Text 21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nuclei are </a:t>
            </a:r>
            <a:r>
              <a:rPr lang="en-US" sz="1150" b="1" dirty="0">
                <a:solidFill>
                  <a:srgbClr val="262B3A"/>
                </a:solidFill>
                <a:latin typeface="Calibri" pitchFamily="34" charset="0"/>
                <a:ea typeface="Calibri" pitchFamily="34" charset="-122"/>
                <a:cs typeface="Calibri" pitchFamily="34" charset="-120"/>
              </a:rPr>
              <a:t>unstable</a:t>
            </a:r>
            <a:r>
              <a:rPr lang="en-US" sz="1150" dirty="0">
                <a:solidFill>
                  <a:srgbClr val="262B3A"/>
                </a:solidFill>
                <a:latin typeface="Calibri" pitchFamily="34" charset="0"/>
                <a:ea typeface="Calibri" pitchFamily="34" charset="-122"/>
                <a:cs typeface="Calibri" pitchFamily="34" charset="-120"/>
              </a:rPr>
              <a:t>. They give out radiation to become more stable: this is </a:t>
            </a:r>
            <a:r>
              <a:rPr lang="en-US" sz="1150" b="1" dirty="0">
                <a:solidFill>
                  <a:srgbClr val="262B3A"/>
                </a:solidFill>
                <a:latin typeface="Calibri" pitchFamily="34" charset="0"/>
                <a:ea typeface="Calibri" pitchFamily="34" charset="-122"/>
                <a:cs typeface="Calibri" pitchFamily="34" charset="-120"/>
              </a:rPr>
              <a:t>radioactive decay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Decay is </a:t>
            </a:r>
            <a:r>
              <a:rPr lang="en-US" sz="1150" b="1" dirty="0">
                <a:solidFill>
                  <a:srgbClr val="262B3A"/>
                </a:solidFill>
                <a:latin typeface="Calibri" pitchFamily="34" charset="0"/>
                <a:ea typeface="Calibri" pitchFamily="34" charset="-122"/>
                <a:cs typeface="Calibri" pitchFamily="34" charset="-120"/>
              </a:rPr>
              <a:t>random</a:t>
            </a:r>
            <a:r>
              <a:rPr lang="en-US" sz="1150" dirty="0">
                <a:solidFill>
                  <a:srgbClr val="262B3A"/>
                </a:solidFill>
                <a:latin typeface="Calibri" pitchFamily="34" charset="0"/>
                <a:ea typeface="Calibri" pitchFamily="34" charset="-122"/>
                <a:cs typeface="Calibri" pitchFamily="34" charset="-120"/>
              </a:rPr>
              <a:t>: you cannot predict </a:t>
            </a:r>
            <a:r>
              <a:rPr lang="en-US" sz="1150" b="1" dirty="0">
                <a:solidFill>
                  <a:srgbClr val="262B3A"/>
                </a:solidFill>
                <a:latin typeface="Calibri" pitchFamily="34" charset="0"/>
                <a:ea typeface="Calibri" pitchFamily="34" charset="-122"/>
                <a:cs typeface="Calibri" pitchFamily="34" charset="-120"/>
              </a:rPr>
              <a:t>which</a:t>
            </a:r>
            <a:r>
              <a:rPr lang="en-US" sz="1150" dirty="0">
                <a:solidFill>
                  <a:srgbClr val="262B3A"/>
                </a:solidFill>
                <a:latin typeface="Calibri" pitchFamily="34" charset="0"/>
                <a:ea typeface="Calibri" pitchFamily="34" charset="-122"/>
                <a:cs typeface="Calibri" pitchFamily="34" charset="-120"/>
              </a:rPr>
              <a:t> nucleus will decay next or </a:t>
            </a:r>
            <a:r>
              <a:rPr lang="en-US" sz="1150" b="1" dirty="0">
                <a:solidFill>
                  <a:srgbClr val="262B3A"/>
                </a:solidFill>
                <a:latin typeface="Calibri" pitchFamily="34" charset="0"/>
                <a:ea typeface="Calibri" pitchFamily="34" charset="-122"/>
                <a:cs typeface="Calibri" pitchFamily="34" charset="-120"/>
              </a:rPr>
              <a:t>when</a:t>
            </a:r>
            <a:r>
              <a:rPr lang="en-US" sz="1150" dirty="0">
                <a:solidFill>
                  <a:srgbClr val="262B3A"/>
                </a:solidFill>
                <a:latin typeface="Calibri" pitchFamily="34" charset="0"/>
                <a:ea typeface="Calibri" pitchFamily="34" charset="-122"/>
                <a:cs typeface="Calibri" pitchFamily="34" charset="-120"/>
              </a:rPr>
              <a:t> it will decay.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Decay is not changed by temperature, pressure or chemical reactions.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With very large numbers of nuclei the </a:t>
            </a:r>
            <a:r>
              <a:rPr lang="en-US" sz="1150" b="1" dirty="0">
                <a:solidFill>
                  <a:srgbClr val="262B3A"/>
                </a:solidFill>
                <a:latin typeface="Calibri" pitchFamily="34" charset="0"/>
                <a:ea typeface="Calibri" pitchFamily="34" charset="-122"/>
                <a:cs typeface="Calibri" pitchFamily="34" charset="-120"/>
              </a:rPr>
              <a:t>overall pattern is predictable</a:t>
            </a:r>
            <a:r>
              <a:rPr lang="en-US" sz="1150" dirty="0">
                <a:solidFill>
                  <a:srgbClr val="262B3A"/>
                </a:solidFill>
                <a:latin typeface="Calibri" pitchFamily="34" charset="0"/>
                <a:ea typeface="Calibri" pitchFamily="34" charset="-122"/>
                <a:cs typeface="Calibri" pitchFamily="34" charset="-120"/>
              </a:rPr>
              <a:t>, e.g. how long until half have decayed.</a:t>
            </a:r>
            <a:endParaRPr lang="en-US" sz="1150" dirty="0"/>
          </a:p>
        </p:txBody>
      </p:sp>
      <p:sp>
        <p:nvSpPr>
          <p:cNvPr id="221" name="Shape 21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22" name="Text 22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Model it: rolling dice</a:t>
            </a:r>
            <a:endParaRPr lang="en-US" sz="1300" dirty="0"/>
          </a:p>
        </p:txBody>
      </p:sp>
      <p:sp>
        <p:nvSpPr>
          <p:cNvPr id="223" name="Text 22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Each die is a nucleus. A six means it decays.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One die   </a:t>
            </a:r>
            <a:r>
              <a:rPr lang="en-US" sz="1100" dirty="0">
                <a:solidFill>
                  <a:srgbClr val="262B3A"/>
                </a:solidFill>
                <a:latin typeface="Calibri" pitchFamily="34" charset="0"/>
                <a:ea typeface="Calibri" pitchFamily="34" charset="-122"/>
                <a:cs typeface="Calibri" pitchFamily="34" charset="-120"/>
              </a:rPr>
              <a:t>you cannot predict when it will roll a six</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Each throw   </a:t>
            </a:r>
            <a:r>
              <a:rPr lang="en-US" sz="1100" dirty="0">
                <a:solidFill>
                  <a:srgbClr val="262B3A"/>
                </a:solidFill>
                <a:latin typeface="Calibri" pitchFamily="34" charset="0"/>
                <a:ea typeface="Calibri" pitchFamily="34" charset="-122"/>
                <a:cs typeface="Calibri" pitchFamily="34" charset="-120"/>
              </a:rPr>
              <a:t>every die has the same 1 in 6 chance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Many dice   </a:t>
            </a:r>
            <a:r>
              <a:rPr lang="en-US" sz="1100" dirty="0">
                <a:solidFill>
                  <a:srgbClr val="262B3A"/>
                </a:solidFill>
                <a:latin typeface="Calibri" pitchFamily="34" charset="0"/>
                <a:ea typeface="Calibri" pitchFamily="34" charset="-122"/>
                <a:cs typeface="Calibri" pitchFamily="34" charset="-120"/>
              </a:rPr>
              <a:t>about 1/6 of them roll a six each throw</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random for one, predictable for many</a:t>
            </a:r>
            <a:endParaRPr lang="en-US" sz="1100" dirty="0"/>
          </a:p>
        </p:txBody>
      </p:sp>
      <p:sp>
        <p:nvSpPr>
          <p:cNvPr id="224" name="Shape 222"/>
          <p:cNvSpPr/>
          <p:nvPr/>
        </p:nvSpPr>
        <p:spPr>
          <a:xfrm>
            <a:off x="411480" y="5833872"/>
            <a:ext cx="11368735" cy="530352"/>
          </a:xfrm>
          <a:prstGeom prst="rect">
            <a:avLst/>
          </a:prstGeom>
          <a:solidFill>
            <a:srgbClr val="FFF4E0"/>
          </a:solidFill>
          <a:ln w="6350">
            <a:solidFill>
              <a:srgbClr val="F1D9A8"/>
            </a:solidFill>
            <a:prstDash val="solid"/>
          </a:ln>
        </p:spPr>
      </p:sp>
      <p:sp>
        <p:nvSpPr>
          <p:cNvPr id="225" name="Shape 223"/>
          <p:cNvSpPr/>
          <p:nvPr/>
        </p:nvSpPr>
        <p:spPr>
          <a:xfrm>
            <a:off x="411480" y="5833872"/>
            <a:ext cx="82296" cy="530352"/>
          </a:xfrm>
          <a:prstGeom prst="rect">
            <a:avLst/>
          </a:prstGeom>
          <a:solidFill>
            <a:srgbClr val="E39A2F"/>
          </a:solidFill>
          <a:ln w="12700">
            <a:solidFill>
              <a:srgbClr val="E39A2F"/>
            </a:solidFill>
            <a:prstDash val="solid"/>
          </a:ln>
        </p:spPr>
      </p:sp>
      <p:sp>
        <p:nvSpPr>
          <p:cNvPr id="226" name="Text 2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sample has 1 000 000 unstable nuclei. Can you predict when one particular nucleus will decay? What can you predict?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Alpha, beta, gamma and neutron emission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P5.1.5 • what an unstable nucleus can give out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P5.1.5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emissions drawn leaving the nucleus; sizes not to scale</a:t>
            </a:r>
            <a:endParaRPr lang="en-US" sz="1000" dirty="0"/>
          </a:p>
        </p:txBody>
      </p:sp>
      <p:sp>
        <p:nvSpPr>
          <p:cNvPr id="10" name="Shape 8"/>
          <p:cNvSpPr/>
          <p:nvPr/>
        </p:nvSpPr>
        <p:spPr>
          <a:xfrm>
            <a:off x="875710" y="1500299"/>
            <a:ext cx="109728" cy="109728"/>
          </a:xfrm>
          <a:prstGeom prst="ellipse">
            <a:avLst/>
          </a:prstGeom>
          <a:solidFill>
            <a:srgbClr val="8C96A8"/>
          </a:solidFill>
          <a:ln w="6350">
            <a:solidFill>
              <a:srgbClr val="5A6275"/>
            </a:solidFill>
            <a:prstDash val="solid"/>
          </a:ln>
        </p:spPr>
      </p:sp>
      <p:sp>
        <p:nvSpPr>
          <p:cNvPr id="11" name="Shape 9"/>
          <p:cNvSpPr/>
          <p:nvPr/>
        </p:nvSpPr>
        <p:spPr>
          <a:xfrm>
            <a:off x="1083220" y="1551098"/>
            <a:ext cx="109728" cy="109728"/>
          </a:xfrm>
          <a:prstGeom prst="ellipse">
            <a:avLst/>
          </a:prstGeom>
          <a:solidFill>
            <a:srgbClr val="C8414C"/>
          </a:solidFill>
          <a:ln w="6350">
            <a:solidFill>
              <a:srgbClr val="8E2A33"/>
            </a:solidFill>
            <a:prstDash val="solid"/>
          </a:ln>
        </p:spPr>
      </p:sp>
      <p:sp>
        <p:nvSpPr>
          <p:cNvPr id="12" name="Shape 10"/>
          <p:cNvSpPr/>
          <p:nvPr/>
        </p:nvSpPr>
        <p:spPr>
          <a:xfrm>
            <a:off x="985424" y="1556887"/>
            <a:ext cx="109728" cy="109728"/>
          </a:xfrm>
          <a:prstGeom prst="ellipse">
            <a:avLst/>
          </a:prstGeom>
          <a:solidFill>
            <a:srgbClr val="8C96A8"/>
          </a:solidFill>
          <a:ln w="6350">
            <a:solidFill>
              <a:srgbClr val="5A6275"/>
            </a:solidFill>
            <a:prstDash val="solid"/>
          </a:ln>
        </p:spPr>
      </p:sp>
      <p:sp>
        <p:nvSpPr>
          <p:cNvPr id="13" name="Shape 11"/>
          <p:cNvSpPr/>
          <p:nvPr/>
        </p:nvSpPr>
        <p:spPr>
          <a:xfrm>
            <a:off x="831569" y="1586344"/>
            <a:ext cx="109728" cy="109728"/>
          </a:xfrm>
          <a:prstGeom prst="ellipse">
            <a:avLst/>
          </a:prstGeom>
          <a:solidFill>
            <a:srgbClr val="C8414C"/>
          </a:solidFill>
          <a:ln w="6350">
            <a:solidFill>
              <a:srgbClr val="8E2A33"/>
            </a:solidFill>
            <a:prstDash val="solid"/>
          </a:ln>
        </p:spPr>
      </p:sp>
      <p:sp>
        <p:nvSpPr>
          <p:cNvPr id="14" name="Shape 12"/>
          <p:cNvSpPr/>
          <p:nvPr/>
        </p:nvSpPr>
        <p:spPr>
          <a:xfrm>
            <a:off x="726683" y="1624738"/>
            <a:ext cx="109728" cy="109728"/>
          </a:xfrm>
          <a:prstGeom prst="ellipse">
            <a:avLst/>
          </a:prstGeom>
          <a:solidFill>
            <a:srgbClr val="C8414C"/>
          </a:solidFill>
          <a:ln w="6350">
            <a:solidFill>
              <a:srgbClr val="8E2A33"/>
            </a:solidFill>
            <a:prstDash val="solid"/>
          </a:ln>
        </p:spPr>
      </p:sp>
      <p:sp>
        <p:nvSpPr>
          <p:cNvPr id="15" name="Shape 13"/>
          <p:cNvSpPr/>
          <p:nvPr/>
        </p:nvSpPr>
        <p:spPr>
          <a:xfrm>
            <a:off x="913325" y="1636270"/>
            <a:ext cx="109728" cy="109728"/>
          </a:xfrm>
          <a:prstGeom prst="ellipse">
            <a:avLst/>
          </a:prstGeom>
          <a:solidFill>
            <a:srgbClr val="8C96A8"/>
          </a:solidFill>
          <a:ln w="6350">
            <a:solidFill>
              <a:srgbClr val="5A6275"/>
            </a:solidFill>
            <a:prstDash val="solid"/>
          </a:ln>
        </p:spPr>
      </p:sp>
      <p:sp>
        <p:nvSpPr>
          <p:cNvPr id="16" name="Shape 14"/>
          <p:cNvSpPr/>
          <p:nvPr/>
        </p:nvSpPr>
        <p:spPr>
          <a:xfrm>
            <a:off x="1020767" y="1654735"/>
            <a:ext cx="109728" cy="109728"/>
          </a:xfrm>
          <a:prstGeom prst="ellipse">
            <a:avLst/>
          </a:prstGeom>
          <a:solidFill>
            <a:srgbClr val="C8414C"/>
          </a:solidFill>
          <a:ln w="6350">
            <a:solidFill>
              <a:srgbClr val="8E2A33"/>
            </a:solidFill>
            <a:prstDash val="solid"/>
          </a:ln>
        </p:spPr>
      </p:sp>
      <p:sp>
        <p:nvSpPr>
          <p:cNvPr id="17" name="Shape 15"/>
          <p:cNvSpPr/>
          <p:nvPr/>
        </p:nvSpPr>
        <p:spPr>
          <a:xfrm>
            <a:off x="1114736" y="1682153"/>
            <a:ext cx="109728" cy="109728"/>
          </a:xfrm>
          <a:prstGeom prst="ellipse">
            <a:avLst/>
          </a:prstGeom>
          <a:solidFill>
            <a:srgbClr val="8C96A8"/>
          </a:solidFill>
          <a:ln w="6350">
            <a:solidFill>
              <a:srgbClr val="5A6275"/>
            </a:solidFill>
            <a:prstDash val="solid"/>
          </a:ln>
        </p:spPr>
      </p:sp>
      <p:sp>
        <p:nvSpPr>
          <p:cNvPr id="18" name="Shape 16"/>
          <p:cNvSpPr/>
          <p:nvPr/>
        </p:nvSpPr>
        <p:spPr>
          <a:xfrm>
            <a:off x="783316" y="1706648"/>
            <a:ext cx="109728" cy="109728"/>
          </a:xfrm>
          <a:prstGeom prst="ellipse">
            <a:avLst/>
          </a:prstGeom>
          <a:solidFill>
            <a:srgbClr val="8C96A8"/>
          </a:solidFill>
          <a:ln w="6350">
            <a:solidFill>
              <a:srgbClr val="5A6275"/>
            </a:solidFill>
            <a:prstDash val="solid"/>
          </a:ln>
        </p:spPr>
      </p:sp>
      <p:sp>
        <p:nvSpPr>
          <p:cNvPr id="19" name="Shape 17"/>
          <p:cNvSpPr/>
          <p:nvPr/>
        </p:nvSpPr>
        <p:spPr>
          <a:xfrm>
            <a:off x="946534" y="1728216"/>
            <a:ext cx="109728" cy="109728"/>
          </a:xfrm>
          <a:prstGeom prst="ellipse">
            <a:avLst/>
          </a:prstGeom>
          <a:solidFill>
            <a:srgbClr val="8C96A8"/>
          </a:solidFill>
          <a:ln w="6350">
            <a:solidFill>
              <a:srgbClr val="5A6275"/>
            </a:solidFill>
            <a:prstDash val="solid"/>
          </a:ln>
        </p:spPr>
      </p:sp>
      <p:sp>
        <p:nvSpPr>
          <p:cNvPr id="20" name="Shape 18"/>
          <p:cNvSpPr/>
          <p:nvPr/>
        </p:nvSpPr>
        <p:spPr>
          <a:xfrm>
            <a:off x="661264" y="1738319"/>
            <a:ext cx="109728" cy="109728"/>
          </a:xfrm>
          <a:prstGeom prst="ellipse">
            <a:avLst/>
          </a:prstGeom>
          <a:solidFill>
            <a:srgbClr val="8C96A8"/>
          </a:solidFill>
          <a:ln w="6350">
            <a:solidFill>
              <a:srgbClr val="5A6275"/>
            </a:solidFill>
            <a:prstDash val="solid"/>
          </a:ln>
        </p:spPr>
      </p:sp>
      <p:sp>
        <p:nvSpPr>
          <p:cNvPr id="21" name="Shape 19"/>
          <p:cNvSpPr/>
          <p:nvPr/>
        </p:nvSpPr>
        <p:spPr>
          <a:xfrm>
            <a:off x="852538" y="1776510"/>
            <a:ext cx="109728" cy="109728"/>
          </a:xfrm>
          <a:prstGeom prst="ellipse">
            <a:avLst/>
          </a:prstGeom>
          <a:solidFill>
            <a:srgbClr val="C8414C"/>
          </a:solidFill>
          <a:ln w="6350">
            <a:solidFill>
              <a:srgbClr val="8E2A33"/>
            </a:solidFill>
            <a:prstDash val="solid"/>
          </a:ln>
        </p:spPr>
      </p:sp>
      <p:sp>
        <p:nvSpPr>
          <p:cNvPr id="22" name="Shape 20"/>
          <p:cNvSpPr/>
          <p:nvPr/>
        </p:nvSpPr>
        <p:spPr>
          <a:xfrm>
            <a:off x="1065122" y="1786594"/>
            <a:ext cx="109728" cy="109728"/>
          </a:xfrm>
          <a:prstGeom prst="ellipse">
            <a:avLst/>
          </a:prstGeom>
          <a:solidFill>
            <a:srgbClr val="8C96A8"/>
          </a:solidFill>
          <a:ln w="6350">
            <a:solidFill>
              <a:srgbClr val="5A6275"/>
            </a:solidFill>
            <a:prstDash val="solid"/>
          </a:ln>
        </p:spPr>
      </p:sp>
      <p:sp>
        <p:nvSpPr>
          <p:cNvPr id="23" name="Shape 21"/>
          <p:cNvSpPr/>
          <p:nvPr/>
        </p:nvSpPr>
        <p:spPr>
          <a:xfrm>
            <a:off x="738945" y="1796872"/>
            <a:ext cx="109728" cy="109728"/>
          </a:xfrm>
          <a:prstGeom prst="ellipse">
            <a:avLst/>
          </a:prstGeom>
          <a:solidFill>
            <a:srgbClr val="C8414C"/>
          </a:solidFill>
          <a:ln w="6350">
            <a:solidFill>
              <a:srgbClr val="8E2A33"/>
            </a:solidFill>
            <a:prstDash val="solid"/>
          </a:ln>
        </p:spPr>
      </p:sp>
      <p:sp>
        <p:nvSpPr>
          <p:cNvPr id="24" name="Shape 22"/>
          <p:cNvSpPr/>
          <p:nvPr/>
        </p:nvSpPr>
        <p:spPr>
          <a:xfrm>
            <a:off x="971705" y="1814885"/>
            <a:ext cx="109728" cy="109728"/>
          </a:xfrm>
          <a:prstGeom prst="ellipse">
            <a:avLst/>
          </a:prstGeom>
          <a:solidFill>
            <a:srgbClr val="C8414C"/>
          </a:solidFill>
          <a:ln w="6350">
            <a:solidFill>
              <a:srgbClr val="8E2A33"/>
            </a:solidFill>
            <a:prstDash val="solid"/>
          </a:ln>
        </p:spPr>
      </p:sp>
      <p:sp>
        <p:nvSpPr>
          <p:cNvPr id="25" name="Shape 23"/>
          <p:cNvSpPr/>
          <p:nvPr/>
        </p:nvSpPr>
        <p:spPr>
          <a:xfrm>
            <a:off x="866622" y="1871943"/>
            <a:ext cx="109728" cy="109728"/>
          </a:xfrm>
          <a:prstGeom prst="ellipse">
            <a:avLst/>
          </a:prstGeom>
          <a:solidFill>
            <a:srgbClr val="8C96A8"/>
          </a:solidFill>
          <a:ln w="6350">
            <a:solidFill>
              <a:srgbClr val="5A6275"/>
            </a:solidFill>
            <a:prstDash val="solid"/>
          </a:ln>
        </p:spPr>
      </p:sp>
      <p:sp>
        <p:nvSpPr>
          <p:cNvPr id="26" name="Shape 24"/>
          <p:cNvSpPr/>
          <p:nvPr/>
        </p:nvSpPr>
        <p:spPr>
          <a:xfrm>
            <a:off x="1086579" y="1881019"/>
            <a:ext cx="109728" cy="109728"/>
          </a:xfrm>
          <a:prstGeom prst="ellipse">
            <a:avLst/>
          </a:prstGeom>
          <a:solidFill>
            <a:srgbClr val="C8414C"/>
          </a:solidFill>
          <a:ln w="6350">
            <a:solidFill>
              <a:srgbClr val="8E2A33"/>
            </a:solidFill>
            <a:prstDash val="solid"/>
          </a:ln>
        </p:spPr>
      </p:sp>
      <p:sp>
        <p:nvSpPr>
          <p:cNvPr id="27" name="Shape 25"/>
          <p:cNvSpPr/>
          <p:nvPr/>
        </p:nvSpPr>
        <p:spPr>
          <a:xfrm>
            <a:off x="777421" y="1910066"/>
            <a:ext cx="109728" cy="109728"/>
          </a:xfrm>
          <a:prstGeom prst="ellipse">
            <a:avLst/>
          </a:prstGeom>
          <a:solidFill>
            <a:srgbClr val="C8414C"/>
          </a:solidFill>
          <a:ln w="6350">
            <a:solidFill>
              <a:srgbClr val="8E2A33"/>
            </a:solidFill>
            <a:prstDash val="solid"/>
          </a:ln>
        </p:spPr>
      </p:sp>
      <p:sp>
        <p:nvSpPr>
          <p:cNvPr id="28" name="Shape 26"/>
          <p:cNvSpPr/>
          <p:nvPr/>
        </p:nvSpPr>
        <p:spPr>
          <a:xfrm>
            <a:off x="964509" y="1917100"/>
            <a:ext cx="109728" cy="109728"/>
          </a:xfrm>
          <a:prstGeom prst="ellipse">
            <a:avLst/>
          </a:prstGeom>
          <a:solidFill>
            <a:srgbClr val="8C96A8"/>
          </a:solidFill>
          <a:ln w="6350">
            <a:solidFill>
              <a:srgbClr val="5A6275"/>
            </a:solidFill>
            <a:prstDash val="solid"/>
          </a:ln>
        </p:spPr>
      </p:sp>
      <p:sp>
        <p:nvSpPr>
          <p:cNvPr id="29" name="Shape 27"/>
          <p:cNvSpPr/>
          <p:nvPr/>
        </p:nvSpPr>
        <p:spPr>
          <a:xfrm>
            <a:off x="893365" y="1985720"/>
            <a:ext cx="109728" cy="109728"/>
          </a:xfrm>
          <a:prstGeom prst="ellipse">
            <a:avLst/>
          </a:prstGeom>
          <a:solidFill>
            <a:srgbClr val="8C96A8"/>
          </a:solidFill>
          <a:ln w="6350">
            <a:solidFill>
              <a:srgbClr val="5A6275"/>
            </a:solidFill>
            <a:prstDash val="solid"/>
          </a:ln>
        </p:spPr>
      </p:sp>
      <p:sp>
        <p:nvSpPr>
          <p:cNvPr id="30" name="Shape 28"/>
          <p:cNvSpPr/>
          <p:nvPr/>
        </p:nvSpPr>
        <p:spPr>
          <a:xfrm>
            <a:off x="1325880" y="1783080"/>
            <a:ext cx="640080" cy="91"/>
          </a:xfrm>
          <a:prstGeom prst="line">
            <a:avLst/>
          </a:prstGeom>
          <a:noFill/>
          <a:ln w="25400">
            <a:solidFill>
              <a:srgbClr val="C8414C"/>
            </a:solidFill>
            <a:prstDash val="solid"/>
            <a:tailEnd type="triangle"/>
          </a:ln>
        </p:spPr>
      </p:sp>
      <p:sp>
        <p:nvSpPr>
          <p:cNvPr id="31" name="Shape 29"/>
          <p:cNvSpPr/>
          <p:nvPr/>
        </p:nvSpPr>
        <p:spPr>
          <a:xfrm>
            <a:off x="2185686" y="1611802"/>
            <a:ext cx="128016" cy="128016"/>
          </a:xfrm>
          <a:prstGeom prst="ellipse">
            <a:avLst/>
          </a:prstGeom>
          <a:solidFill>
            <a:srgbClr val="C8414C"/>
          </a:solidFill>
          <a:ln w="6350">
            <a:solidFill>
              <a:srgbClr val="8E2A33"/>
            </a:solidFill>
            <a:prstDash val="solid"/>
          </a:ln>
        </p:spPr>
      </p:sp>
      <p:sp>
        <p:nvSpPr>
          <p:cNvPr id="32" name="Shape 30"/>
          <p:cNvSpPr/>
          <p:nvPr/>
        </p:nvSpPr>
        <p:spPr>
          <a:xfrm>
            <a:off x="2224429" y="1719072"/>
            <a:ext cx="128016" cy="128016"/>
          </a:xfrm>
          <a:prstGeom prst="ellipse">
            <a:avLst/>
          </a:prstGeom>
          <a:solidFill>
            <a:srgbClr val="C8414C"/>
          </a:solidFill>
          <a:ln w="6350">
            <a:solidFill>
              <a:srgbClr val="8E2A33"/>
            </a:solidFill>
            <a:prstDash val="solid"/>
          </a:ln>
        </p:spPr>
      </p:sp>
      <p:sp>
        <p:nvSpPr>
          <p:cNvPr id="33" name="Shape 31"/>
          <p:cNvSpPr/>
          <p:nvPr/>
        </p:nvSpPr>
        <p:spPr>
          <a:xfrm>
            <a:off x="2114768" y="1775415"/>
            <a:ext cx="128016" cy="128016"/>
          </a:xfrm>
          <a:prstGeom prst="ellipse">
            <a:avLst/>
          </a:prstGeom>
          <a:solidFill>
            <a:srgbClr val="8C96A8"/>
          </a:solidFill>
          <a:ln w="6350">
            <a:solidFill>
              <a:srgbClr val="5A6275"/>
            </a:solidFill>
            <a:prstDash val="solid"/>
          </a:ln>
        </p:spPr>
      </p:sp>
      <p:sp>
        <p:nvSpPr>
          <p:cNvPr id="34" name="Shape 32"/>
          <p:cNvSpPr/>
          <p:nvPr/>
        </p:nvSpPr>
        <p:spPr>
          <a:xfrm>
            <a:off x="2253795" y="1820185"/>
            <a:ext cx="128016" cy="128016"/>
          </a:xfrm>
          <a:prstGeom prst="ellipse">
            <a:avLst/>
          </a:prstGeom>
          <a:solidFill>
            <a:srgbClr val="8C96A8"/>
          </a:solidFill>
          <a:ln w="6350">
            <a:solidFill>
              <a:srgbClr val="5A6275"/>
            </a:solidFill>
            <a:prstDash val="solid"/>
          </a:ln>
        </p:spPr>
      </p:sp>
      <p:sp>
        <p:nvSpPr>
          <p:cNvPr id="35" name="Text 33"/>
          <p:cNvSpPr/>
          <p:nvPr/>
        </p:nvSpPr>
        <p:spPr>
          <a:xfrm>
            <a:off x="2697480" y="1554480"/>
            <a:ext cx="356616" cy="212271"/>
          </a:xfrm>
          <a:prstGeom prst="rect">
            <a:avLst/>
          </a:prstGeom>
          <a:noFill/>
          <a:ln/>
        </p:spPr>
        <p:txBody>
          <a:bodyPr wrap="square" lIns="0" tIns="0" rIns="0" bIns="0" rtlCol="0" anchor="b"/>
          <a:lstStyle/>
          <a:p>
            <a:pPr algn="r" indent="0" marL="0">
              <a:buNone/>
            </a:pPr>
            <a:r>
              <a:rPr lang="en-US" sz="1248" b="1" dirty="0">
                <a:solidFill>
                  <a:srgbClr val="2E5BD8"/>
                </a:solidFill>
                <a:latin typeface="Calibri" pitchFamily="34" charset="0"/>
                <a:ea typeface="Calibri" pitchFamily="34" charset="-122"/>
                <a:cs typeface="Calibri" pitchFamily="34" charset="-120"/>
              </a:rPr>
              <a:t>4</a:t>
            </a:r>
            <a:endParaRPr lang="en-US" sz="1248" dirty="0"/>
          </a:p>
        </p:txBody>
      </p:sp>
      <p:sp>
        <p:nvSpPr>
          <p:cNvPr id="36" name="Text 34"/>
          <p:cNvSpPr/>
          <p:nvPr/>
        </p:nvSpPr>
        <p:spPr>
          <a:xfrm>
            <a:off x="2697480" y="1787979"/>
            <a:ext cx="356616" cy="212271"/>
          </a:xfrm>
          <a:prstGeom prst="rect">
            <a:avLst/>
          </a:prstGeom>
          <a:noFill/>
          <a:ln/>
        </p:spPr>
        <p:txBody>
          <a:bodyPr wrap="square" lIns="0" tIns="0" rIns="0" bIns="0" rtlCol="0" anchor="t"/>
          <a:lstStyle/>
          <a:p>
            <a:pPr algn="r" indent="0" marL="0">
              <a:buNone/>
            </a:pPr>
            <a:r>
              <a:rPr lang="en-US" sz="1248" b="1" dirty="0">
                <a:solidFill>
                  <a:srgbClr val="C8414C"/>
                </a:solidFill>
                <a:latin typeface="Calibri" pitchFamily="34" charset="0"/>
                <a:ea typeface="Calibri" pitchFamily="34" charset="-122"/>
                <a:cs typeface="Calibri" pitchFamily="34" charset="-120"/>
              </a:rPr>
              <a:t>2</a:t>
            </a:r>
            <a:endParaRPr lang="en-US" sz="1248" dirty="0"/>
          </a:p>
        </p:txBody>
      </p:sp>
      <p:sp>
        <p:nvSpPr>
          <p:cNvPr id="37" name="Text 35"/>
          <p:cNvSpPr/>
          <p:nvPr/>
        </p:nvSpPr>
        <p:spPr>
          <a:xfrm>
            <a:off x="3071078" y="1571462"/>
            <a:ext cx="543415" cy="424543"/>
          </a:xfrm>
          <a:prstGeom prst="rect">
            <a:avLst/>
          </a:prstGeom>
          <a:noFill/>
          <a:ln/>
        </p:spPr>
        <p:txBody>
          <a:bodyPr wrap="square" lIns="0" tIns="0" rIns="0" bIns="0" rtlCol="0" anchor="ctr"/>
          <a:lstStyle/>
          <a:p>
            <a:pPr algn="l" indent="0" marL="0">
              <a:buNone/>
            </a:pPr>
            <a:r>
              <a:rPr lang="en-US" sz="2600" b="1" dirty="0">
                <a:solidFill>
                  <a:srgbClr val="1A2340"/>
                </a:solidFill>
                <a:latin typeface="Georgia" pitchFamily="34" charset="0"/>
                <a:ea typeface="Georgia" pitchFamily="34" charset="-122"/>
                <a:cs typeface="Georgia" pitchFamily="34" charset="-120"/>
              </a:rPr>
              <a:t>He</a:t>
            </a:r>
            <a:endParaRPr lang="en-US" sz="2600" dirty="0"/>
          </a:p>
        </p:txBody>
      </p:sp>
      <p:sp>
        <p:nvSpPr>
          <p:cNvPr id="38" name="Text 36"/>
          <p:cNvSpPr/>
          <p:nvPr/>
        </p:nvSpPr>
        <p:spPr>
          <a:xfrm>
            <a:off x="3657600" y="1490472"/>
            <a:ext cx="224028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alpha particle  α</a:t>
            </a:r>
            <a:endParaRPr lang="en-US" sz="1200" dirty="0"/>
          </a:p>
        </p:txBody>
      </p:sp>
      <p:sp>
        <p:nvSpPr>
          <p:cNvPr id="39" name="Text 37"/>
          <p:cNvSpPr/>
          <p:nvPr/>
        </p:nvSpPr>
        <p:spPr>
          <a:xfrm>
            <a:off x="3657600" y="1737360"/>
            <a:ext cx="2240280" cy="38404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2 protons + 2 neutrons (a helium nucleus)</a:t>
            </a:r>
            <a:endParaRPr lang="en-US" sz="1050" dirty="0"/>
          </a:p>
        </p:txBody>
      </p:sp>
      <p:sp>
        <p:nvSpPr>
          <p:cNvPr id="40" name="Shape 38"/>
          <p:cNvSpPr/>
          <p:nvPr/>
        </p:nvSpPr>
        <p:spPr>
          <a:xfrm>
            <a:off x="875710" y="2414699"/>
            <a:ext cx="109728" cy="109728"/>
          </a:xfrm>
          <a:prstGeom prst="ellipse">
            <a:avLst/>
          </a:prstGeom>
          <a:solidFill>
            <a:srgbClr val="8C96A8"/>
          </a:solidFill>
          <a:ln w="6350">
            <a:solidFill>
              <a:srgbClr val="5A6275"/>
            </a:solidFill>
            <a:prstDash val="solid"/>
          </a:ln>
        </p:spPr>
      </p:sp>
      <p:sp>
        <p:nvSpPr>
          <p:cNvPr id="41" name="Shape 39"/>
          <p:cNvSpPr/>
          <p:nvPr/>
        </p:nvSpPr>
        <p:spPr>
          <a:xfrm>
            <a:off x="1083220" y="2465498"/>
            <a:ext cx="109728" cy="109728"/>
          </a:xfrm>
          <a:prstGeom prst="ellipse">
            <a:avLst/>
          </a:prstGeom>
          <a:solidFill>
            <a:srgbClr val="C8414C"/>
          </a:solidFill>
          <a:ln w="6350">
            <a:solidFill>
              <a:srgbClr val="8E2A33"/>
            </a:solidFill>
            <a:prstDash val="solid"/>
          </a:ln>
        </p:spPr>
      </p:sp>
      <p:sp>
        <p:nvSpPr>
          <p:cNvPr id="42" name="Shape 40"/>
          <p:cNvSpPr/>
          <p:nvPr/>
        </p:nvSpPr>
        <p:spPr>
          <a:xfrm>
            <a:off x="985424" y="2471287"/>
            <a:ext cx="109728" cy="109728"/>
          </a:xfrm>
          <a:prstGeom prst="ellipse">
            <a:avLst/>
          </a:prstGeom>
          <a:solidFill>
            <a:srgbClr val="8C96A8"/>
          </a:solidFill>
          <a:ln w="6350">
            <a:solidFill>
              <a:srgbClr val="5A6275"/>
            </a:solidFill>
            <a:prstDash val="solid"/>
          </a:ln>
        </p:spPr>
      </p:sp>
      <p:sp>
        <p:nvSpPr>
          <p:cNvPr id="43" name="Shape 41"/>
          <p:cNvSpPr/>
          <p:nvPr/>
        </p:nvSpPr>
        <p:spPr>
          <a:xfrm>
            <a:off x="831569" y="2500744"/>
            <a:ext cx="109728" cy="109728"/>
          </a:xfrm>
          <a:prstGeom prst="ellipse">
            <a:avLst/>
          </a:prstGeom>
          <a:solidFill>
            <a:srgbClr val="C8414C"/>
          </a:solidFill>
          <a:ln w="6350">
            <a:solidFill>
              <a:srgbClr val="8E2A33"/>
            </a:solidFill>
            <a:prstDash val="solid"/>
          </a:ln>
        </p:spPr>
      </p:sp>
      <p:sp>
        <p:nvSpPr>
          <p:cNvPr id="44" name="Shape 42"/>
          <p:cNvSpPr/>
          <p:nvPr/>
        </p:nvSpPr>
        <p:spPr>
          <a:xfrm>
            <a:off x="726683" y="2539138"/>
            <a:ext cx="109728" cy="109728"/>
          </a:xfrm>
          <a:prstGeom prst="ellipse">
            <a:avLst/>
          </a:prstGeom>
          <a:solidFill>
            <a:srgbClr val="C8414C"/>
          </a:solidFill>
          <a:ln w="6350">
            <a:solidFill>
              <a:srgbClr val="8E2A33"/>
            </a:solidFill>
            <a:prstDash val="solid"/>
          </a:ln>
        </p:spPr>
      </p:sp>
      <p:sp>
        <p:nvSpPr>
          <p:cNvPr id="45" name="Shape 43"/>
          <p:cNvSpPr/>
          <p:nvPr/>
        </p:nvSpPr>
        <p:spPr>
          <a:xfrm>
            <a:off x="913325" y="2550670"/>
            <a:ext cx="109728" cy="109728"/>
          </a:xfrm>
          <a:prstGeom prst="ellipse">
            <a:avLst/>
          </a:prstGeom>
          <a:solidFill>
            <a:srgbClr val="8C96A8"/>
          </a:solidFill>
          <a:ln w="6350">
            <a:solidFill>
              <a:srgbClr val="5A6275"/>
            </a:solidFill>
            <a:prstDash val="solid"/>
          </a:ln>
        </p:spPr>
      </p:sp>
      <p:sp>
        <p:nvSpPr>
          <p:cNvPr id="46" name="Shape 44"/>
          <p:cNvSpPr/>
          <p:nvPr/>
        </p:nvSpPr>
        <p:spPr>
          <a:xfrm>
            <a:off x="1020767" y="2569135"/>
            <a:ext cx="109728" cy="109728"/>
          </a:xfrm>
          <a:prstGeom prst="ellipse">
            <a:avLst/>
          </a:prstGeom>
          <a:solidFill>
            <a:srgbClr val="C8414C"/>
          </a:solidFill>
          <a:ln w="6350">
            <a:solidFill>
              <a:srgbClr val="8E2A33"/>
            </a:solidFill>
            <a:prstDash val="solid"/>
          </a:ln>
        </p:spPr>
      </p:sp>
      <p:sp>
        <p:nvSpPr>
          <p:cNvPr id="47" name="Shape 45"/>
          <p:cNvSpPr/>
          <p:nvPr/>
        </p:nvSpPr>
        <p:spPr>
          <a:xfrm>
            <a:off x="1114736" y="2596553"/>
            <a:ext cx="109728" cy="109728"/>
          </a:xfrm>
          <a:prstGeom prst="ellipse">
            <a:avLst/>
          </a:prstGeom>
          <a:solidFill>
            <a:srgbClr val="8C96A8"/>
          </a:solidFill>
          <a:ln w="6350">
            <a:solidFill>
              <a:srgbClr val="5A6275"/>
            </a:solidFill>
            <a:prstDash val="solid"/>
          </a:ln>
        </p:spPr>
      </p:sp>
      <p:sp>
        <p:nvSpPr>
          <p:cNvPr id="48" name="Shape 46"/>
          <p:cNvSpPr/>
          <p:nvPr/>
        </p:nvSpPr>
        <p:spPr>
          <a:xfrm>
            <a:off x="783316" y="2621048"/>
            <a:ext cx="109728" cy="109728"/>
          </a:xfrm>
          <a:prstGeom prst="ellipse">
            <a:avLst/>
          </a:prstGeom>
          <a:solidFill>
            <a:srgbClr val="8C96A8"/>
          </a:solidFill>
          <a:ln w="6350">
            <a:solidFill>
              <a:srgbClr val="5A6275"/>
            </a:solidFill>
            <a:prstDash val="solid"/>
          </a:ln>
        </p:spPr>
      </p:sp>
      <p:sp>
        <p:nvSpPr>
          <p:cNvPr id="49" name="Shape 47"/>
          <p:cNvSpPr/>
          <p:nvPr/>
        </p:nvSpPr>
        <p:spPr>
          <a:xfrm>
            <a:off x="946534" y="2642616"/>
            <a:ext cx="109728" cy="109728"/>
          </a:xfrm>
          <a:prstGeom prst="ellipse">
            <a:avLst/>
          </a:prstGeom>
          <a:solidFill>
            <a:srgbClr val="8C96A8"/>
          </a:solidFill>
          <a:ln w="6350">
            <a:solidFill>
              <a:srgbClr val="5A6275"/>
            </a:solidFill>
            <a:prstDash val="solid"/>
          </a:ln>
        </p:spPr>
      </p:sp>
      <p:sp>
        <p:nvSpPr>
          <p:cNvPr id="50" name="Shape 48"/>
          <p:cNvSpPr/>
          <p:nvPr/>
        </p:nvSpPr>
        <p:spPr>
          <a:xfrm>
            <a:off x="661264" y="2652719"/>
            <a:ext cx="109728" cy="109728"/>
          </a:xfrm>
          <a:prstGeom prst="ellipse">
            <a:avLst/>
          </a:prstGeom>
          <a:solidFill>
            <a:srgbClr val="8C96A8"/>
          </a:solidFill>
          <a:ln w="6350">
            <a:solidFill>
              <a:srgbClr val="5A6275"/>
            </a:solidFill>
            <a:prstDash val="solid"/>
          </a:ln>
        </p:spPr>
      </p:sp>
      <p:sp>
        <p:nvSpPr>
          <p:cNvPr id="51" name="Shape 49"/>
          <p:cNvSpPr/>
          <p:nvPr/>
        </p:nvSpPr>
        <p:spPr>
          <a:xfrm>
            <a:off x="852538" y="2690910"/>
            <a:ext cx="109728" cy="109728"/>
          </a:xfrm>
          <a:prstGeom prst="ellipse">
            <a:avLst/>
          </a:prstGeom>
          <a:solidFill>
            <a:srgbClr val="C8414C"/>
          </a:solidFill>
          <a:ln w="6350">
            <a:solidFill>
              <a:srgbClr val="8E2A33"/>
            </a:solidFill>
            <a:prstDash val="solid"/>
          </a:ln>
        </p:spPr>
      </p:sp>
      <p:sp>
        <p:nvSpPr>
          <p:cNvPr id="52" name="Shape 50"/>
          <p:cNvSpPr/>
          <p:nvPr/>
        </p:nvSpPr>
        <p:spPr>
          <a:xfrm>
            <a:off x="1065122" y="2700994"/>
            <a:ext cx="109728" cy="109728"/>
          </a:xfrm>
          <a:prstGeom prst="ellipse">
            <a:avLst/>
          </a:prstGeom>
          <a:solidFill>
            <a:srgbClr val="8C96A8"/>
          </a:solidFill>
          <a:ln w="6350">
            <a:solidFill>
              <a:srgbClr val="5A6275"/>
            </a:solidFill>
            <a:prstDash val="solid"/>
          </a:ln>
        </p:spPr>
      </p:sp>
      <p:sp>
        <p:nvSpPr>
          <p:cNvPr id="53" name="Shape 51"/>
          <p:cNvSpPr/>
          <p:nvPr/>
        </p:nvSpPr>
        <p:spPr>
          <a:xfrm>
            <a:off x="738945" y="2711272"/>
            <a:ext cx="109728" cy="109728"/>
          </a:xfrm>
          <a:prstGeom prst="ellipse">
            <a:avLst/>
          </a:prstGeom>
          <a:solidFill>
            <a:srgbClr val="C8414C"/>
          </a:solidFill>
          <a:ln w="6350">
            <a:solidFill>
              <a:srgbClr val="8E2A33"/>
            </a:solidFill>
            <a:prstDash val="solid"/>
          </a:ln>
        </p:spPr>
      </p:sp>
      <p:sp>
        <p:nvSpPr>
          <p:cNvPr id="54" name="Shape 52"/>
          <p:cNvSpPr/>
          <p:nvPr/>
        </p:nvSpPr>
        <p:spPr>
          <a:xfrm>
            <a:off x="971705" y="2729285"/>
            <a:ext cx="109728" cy="109728"/>
          </a:xfrm>
          <a:prstGeom prst="ellipse">
            <a:avLst/>
          </a:prstGeom>
          <a:solidFill>
            <a:srgbClr val="C8414C"/>
          </a:solidFill>
          <a:ln w="6350">
            <a:solidFill>
              <a:srgbClr val="8E2A33"/>
            </a:solidFill>
            <a:prstDash val="solid"/>
          </a:ln>
        </p:spPr>
      </p:sp>
      <p:sp>
        <p:nvSpPr>
          <p:cNvPr id="55" name="Shape 53"/>
          <p:cNvSpPr/>
          <p:nvPr/>
        </p:nvSpPr>
        <p:spPr>
          <a:xfrm>
            <a:off x="866622" y="2786343"/>
            <a:ext cx="109728" cy="109728"/>
          </a:xfrm>
          <a:prstGeom prst="ellipse">
            <a:avLst/>
          </a:prstGeom>
          <a:solidFill>
            <a:srgbClr val="8C96A8"/>
          </a:solidFill>
          <a:ln w="6350">
            <a:solidFill>
              <a:srgbClr val="5A6275"/>
            </a:solidFill>
            <a:prstDash val="solid"/>
          </a:ln>
        </p:spPr>
      </p:sp>
      <p:sp>
        <p:nvSpPr>
          <p:cNvPr id="56" name="Shape 54"/>
          <p:cNvSpPr/>
          <p:nvPr/>
        </p:nvSpPr>
        <p:spPr>
          <a:xfrm>
            <a:off x="1086579" y="2795419"/>
            <a:ext cx="109728" cy="109728"/>
          </a:xfrm>
          <a:prstGeom prst="ellipse">
            <a:avLst/>
          </a:prstGeom>
          <a:solidFill>
            <a:srgbClr val="C8414C"/>
          </a:solidFill>
          <a:ln w="6350">
            <a:solidFill>
              <a:srgbClr val="8E2A33"/>
            </a:solidFill>
            <a:prstDash val="solid"/>
          </a:ln>
        </p:spPr>
      </p:sp>
      <p:sp>
        <p:nvSpPr>
          <p:cNvPr id="57" name="Shape 55"/>
          <p:cNvSpPr/>
          <p:nvPr/>
        </p:nvSpPr>
        <p:spPr>
          <a:xfrm>
            <a:off x="777421" y="2824466"/>
            <a:ext cx="109728" cy="109728"/>
          </a:xfrm>
          <a:prstGeom prst="ellipse">
            <a:avLst/>
          </a:prstGeom>
          <a:solidFill>
            <a:srgbClr val="C8414C"/>
          </a:solidFill>
          <a:ln w="6350">
            <a:solidFill>
              <a:srgbClr val="8E2A33"/>
            </a:solidFill>
            <a:prstDash val="solid"/>
          </a:ln>
        </p:spPr>
      </p:sp>
      <p:sp>
        <p:nvSpPr>
          <p:cNvPr id="58" name="Shape 56"/>
          <p:cNvSpPr/>
          <p:nvPr/>
        </p:nvSpPr>
        <p:spPr>
          <a:xfrm>
            <a:off x="964509" y="2831500"/>
            <a:ext cx="109728" cy="109728"/>
          </a:xfrm>
          <a:prstGeom prst="ellipse">
            <a:avLst/>
          </a:prstGeom>
          <a:solidFill>
            <a:srgbClr val="8C96A8"/>
          </a:solidFill>
          <a:ln w="6350">
            <a:solidFill>
              <a:srgbClr val="5A6275"/>
            </a:solidFill>
            <a:prstDash val="solid"/>
          </a:ln>
        </p:spPr>
      </p:sp>
      <p:sp>
        <p:nvSpPr>
          <p:cNvPr id="59" name="Shape 57"/>
          <p:cNvSpPr/>
          <p:nvPr/>
        </p:nvSpPr>
        <p:spPr>
          <a:xfrm>
            <a:off x="893365" y="2900120"/>
            <a:ext cx="109728" cy="109728"/>
          </a:xfrm>
          <a:prstGeom prst="ellipse">
            <a:avLst/>
          </a:prstGeom>
          <a:solidFill>
            <a:srgbClr val="8C96A8"/>
          </a:solidFill>
          <a:ln w="6350">
            <a:solidFill>
              <a:srgbClr val="5A6275"/>
            </a:solidFill>
            <a:prstDash val="solid"/>
          </a:ln>
        </p:spPr>
      </p:sp>
      <p:sp>
        <p:nvSpPr>
          <p:cNvPr id="60" name="Shape 58"/>
          <p:cNvSpPr/>
          <p:nvPr/>
        </p:nvSpPr>
        <p:spPr>
          <a:xfrm>
            <a:off x="1325880" y="2697480"/>
            <a:ext cx="685800" cy="91"/>
          </a:xfrm>
          <a:prstGeom prst="line">
            <a:avLst/>
          </a:prstGeom>
          <a:noFill/>
          <a:ln w="25400">
            <a:solidFill>
              <a:srgbClr val="2E5BD8"/>
            </a:solidFill>
            <a:prstDash val="solid"/>
            <a:tailEnd type="triangle"/>
          </a:ln>
        </p:spPr>
      </p:sp>
      <p:sp>
        <p:nvSpPr>
          <p:cNvPr id="61" name="Shape 59"/>
          <p:cNvSpPr/>
          <p:nvPr/>
        </p:nvSpPr>
        <p:spPr>
          <a:xfrm>
            <a:off x="2112264" y="2615184"/>
            <a:ext cx="164592" cy="164592"/>
          </a:xfrm>
          <a:prstGeom prst="ellipse">
            <a:avLst/>
          </a:prstGeom>
          <a:solidFill>
            <a:srgbClr val="2E5BD8"/>
          </a:solidFill>
          <a:ln w="9525">
            <a:solidFill>
              <a:srgbClr val="1F3F9E"/>
            </a:solidFill>
            <a:prstDash val="solid"/>
          </a:ln>
        </p:spPr>
      </p:sp>
      <p:sp>
        <p:nvSpPr>
          <p:cNvPr id="62" name="Text 60"/>
          <p:cNvSpPr/>
          <p:nvPr/>
        </p:nvSpPr>
        <p:spPr>
          <a:xfrm>
            <a:off x="2112264" y="2606040"/>
            <a:ext cx="164592"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63" name="Text 61"/>
          <p:cNvSpPr/>
          <p:nvPr/>
        </p:nvSpPr>
        <p:spPr>
          <a:xfrm>
            <a:off x="2697480" y="2468880"/>
            <a:ext cx="356616" cy="212271"/>
          </a:xfrm>
          <a:prstGeom prst="rect">
            <a:avLst/>
          </a:prstGeom>
          <a:noFill/>
          <a:ln/>
        </p:spPr>
        <p:txBody>
          <a:bodyPr wrap="square" lIns="0" tIns="0" rIns="0" bIns="0" rtlCol="0" anchor="b"/>
          <a:lstStyle/>
          <a:p>
            <a:pPr algn="r" indent="0" marL="0">
              <a:buNone/>
            </a:pPr>
            <a:r>
              <a:rPr lang="en-US" sz="1248" b="1" dirty="0">
                <a:solidFill>
                  <a:srgbClr val="2E5BD8"/>
                </a:solidFill>
                <a:latin typeface="Calibri" pitchFamily="34" charset="0"/>
                <a:ea typeface="Calibri" pitchFamily="34" charset="-122"/>
                <a:cs typeface="Calibri" pitchFamily="34" charset="-120"/>
              </a:rPr>
              <a:t>0</a:t>
            </a:r>
            <a:endParaRPr lang="en-US" sz="1248" dirty="0"/>
          </a:p>
        </p:txBody>
      </p:sp>
      <p:sp>
        <p:nvSpPr>
          <p:cNvPr id="64" name="Text 62"/>
          <p:cNvSpPr/>
          <p:nvPr/>
        </p:nvSpPr>
        <p:spPr>
          <a:xfrm>
            <a:off x="2697480" y="2702379"/>
            <a:ext cx="356616" cy="212271"/>
          </a:xfrm>
          <a:prstGeom prst="rect">
            <a:avLst/>
          </a:prstGeom>
          <a:noFill/>
          <a:ln/>
        </p:spPr>
        <p:txBody>
          <a:bodyPr wrap="square" lIns="0" tIns="0" rIns="0" bIns="0" rtlCol="0" anchor="t"/>
          <a:lstStyle/>
          <a:p>
            <a:pPr algn="r" indent="0" marL="0">
              <a:buNone/>
            </a:pPr>
            <a:r>
              <a:rPr lang="en-US" sz="1248" b="1" dirty="0">
                <a:solidFill>
                  <a:srgbClr val="C8414C"/>
                </a:solidFill>
                <a:latin typeface="Calibri" pitchFamily="34" charset="0"/>
                <a:ea typeface="Calibri" pitchFamily="34" charset="-122"/>
                <a:cs typeface="Calibri" pitchFamily="34" charset="-120"/>
              </a:rPr>
              <a:t>−1</a:t>
            </a:r>
            <a:endParaRPr lang="en-US" sz="1248" dirty="0"/>
          </a:p>
        </p:txBody>
      </p:sp>
      <p:sp>
        <p:nvSpPr>
          <p:cNvPr id="65" name="Text 63"/>
          <p:cNvSpPr/>
          <p:nvPr/>
        </p:nvSpPr>
        <p:spPr>
          <a:xfrm>
            <a:off x="3071078" y="2485862"/>
            <a:ext cx="373598" cy="424543"/>
          </a:xfrm>
          <a:prstGeom prst="rect">
            <a:avLst/>
          </a:prstGeom>
          <a:noFill/>
          <a:ln/>
        </p:spPr>
        <p:txBody>
          <a:bodyPr wrap="square" lIns="0" tIns="0" rIns="0" bIns="0" rtlCol="0" anchor="ctr"/>
          <a:lstStyle/>
          <a:p>
            <a:pPr algn="l" indent="0" marL="0">
              <a:buNone/>
            </a:pPr>
            <a:r>
              <a:rPr lang="en-US" sz="2600" b="1" dirty="0">
                <a:solidFill>
                  <a:srgbClr val="1A2340"/>
                </a:solidFill>
                <a:latin typeface="Georgia" pitchFamily="34" charset="0"/>
                <a:ea typeface="Georgia" pitchFamily="34" charset="-122"/>
                <a:cs typeface="Georgia" pitchFamily="34" charset="-120"/>
              </a:rPr>
              <a:t>e</a:t>
            </a:r>
            <a:endParaRPr lang="en-US" sz="2600" dirty="0"/>
          </a:p>
        </p:txBody>
      </p:sp>
      <p:sp>
        <p:nvSpPr>
          <p:cNvPr id="66" name="Text 64"/>
          <p:cNvSpPr/>
          <p:nvPr/>
        </p:nvSpPr>
        <p:spPr>
          <a:xfrm>
            <a:off x="3657600" y="2404872"/>
            <a:ext cx="2240280" cy="256032"/>
          </a:xfrm>
          <a:prstGeom prst="rect">
            <a:avLst/>
          </a:prstGeom>
          <a:noFill/>
          <a:ln/>
        </p:spPr>
        <p:txBody>
          <a:bodyPr wrap="square" lIns="0" tIns="0" rIns="0" bIns="0" rtlCol="0" anchor="ctr"/>
          <a:lstStyle/>
          <a:p>
            <a:pPr algn="l" indent="0" marL="0">
              <a:buNone/>
            </a:pPr>
            <a:r>
              <a:rPr lang="en-US" sz="1200" b="1" dirty="0">
                <a:solidFill>
                  <a:srgbClr val="2E5BD8"/>
                </a:solidFill>
                <a:latin typeface="Calibri" pitchFamily="34" charset="0"/>
                <a:ea typeface="Calibri" pitchFamily="34" charset="-122"/>
                <a:cs typeface="Calibri" pitchFamily="34" charset="-120"/>
              </a:rPr>
              <a:t>beta particle  β</a:t>
            </a:r>
            <a:endParaRPr lang="en-US" sz="1200" dirty="0"/>
          </a:p>
        </p:txBody>
      </p:sp>
      <p:sp>
        <p:nvSpPr>
          <p:cNvPr id="67" name="Text 65"/>
          <p:cNvSpPr/>
          <p:nvPr/>
        </p:nvSpPr>
        <p:spPr>
          <a:xfrm>
            <a:off x="3657600" y="2651760"/>
            <a:ext cx="2240280" cy="38404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a fast electron made in the nucleus</a:t>
            </a:r>
            <a:endParaRPr lang="en-US" sz="1050" dirty="0"/>
          </a:p>
        </p:txBody>
      </p:sp>
      <p:sp>
        <p:nvSpPr>
          <p:cNvPr id="68" name="Shape 66"/>
          <p:cNvSpPr/>
          <p:nvPr/>
        </p:nvSpPr>
        <p:spPr>
          <a:xfrm>
            <a:off x="875710" y="3329099"/>
            <a:ext cx="109728" cy="109728"/>
          </a:xfrm>
          <a:prstGeom prst="ellipse">
            <a:avLst/>
          </a:prstGeom>
          <a:solidFill>
            <a:srgbClr val="8C96A8"/>
          </a:solidFill>
          <a:ln w="6350">
            <a:solidFill>
              <a:srgbClr val="5A6275"/>
            </a:solidFill>
            <a:prstDash val="solid"/>
          </a:ln>
        </p:spPr>
      </p:sp>
      <p:sp>
        <p:nvSpPr>
          <p:cNvPr id="69" name="Shape 67"/>
          <p:cNvSpPr/>
          <p:nvPr/>
        </p:nvSpPr>
        <p:spPr>
          <a:xfrm>
            <a:off x="1083220" y="3379898"/>
            <a:ext cx="109728" cy="109728"/>
          </a:xfrm>
          <a:prstGeom prst="ellipse">
            <a:avLst/>
          </a:prstGeom>
          <a:solidFill>
            <a:srgbClr val="C8414C"/>
          </a:solidFill>
          <a:ln w="6350">
            <a:solidFill>
              <a:srgbClr val="8E2A33"/>
            </a:solidFill>
            <a:prstDash val="solid"/>
          </a:ln>
        </p:spPr>
      </p:sp>
      <p:sp>
        <p:nvSpPr>
          <p:cNvPr id="70" name="Shape 68"/>
          <p:cNvSpPr/>
          <p:nvPr/>
        </p:nvSpPr>
        <p:spPr>
          <a:xfrm>
            <a:off x="985424" y="3385687"/>
            <a:ext cx="109728" cy="109728"/>
          </a:xfrm>
          <a:prstGeom prst="ellipse">
            <a:avLst/>
          </a:prstGeom>
          <a:solidFill>
            <a:srgbClr val="8C96A8"/>
          </a:solidFill>
          <a:ln w="6350">
            <a:solidFill>
              <a:srgbClr val="5A6275"/>
            </a:solidFill>
            <a:prstDash val="solid"/>
          </a:ln>
        </p:spPr>
      </p:sp>
      <p:sp>
        <p:nvSpPr>
          <p:cNvPr id="71" name="Shape 69"/>
          <p:cNvSpPr/>
          <p:nvPr/>
        </p:nvSpPr>
        <p:spPr>
          <a:xfrm>
            <a:off x="831569" y="3415144"/>
            <a:ext cx="109728" cy="109728"/>
          </a:xfrm>
          <a:prstGeom prst="ellipse">
            <a:avLst/>
          </a:prstGeom>
          <a:solidFill>
            <a:srgbClr val="C8414C"/>
          </a:solidFill>
          <a:ln w="6350">
            <a:solidFill>
              <a:srgbClr val="8E2A33"/>
            </a:solidFill>
            <a:prstDash val="solid"/>
          </a:ln>
        </p:spPr>
      </p:sp>
      <p:sp>
        <p:nvSpPr>
          <p:cNvPr id="72" name="Shape 70"/>
          <p:cNvSpPr/>
          <p:nvPr/>
        </p:nvSpPr>
        <p:spPr>
          <a:xfrm>
            <a:off x="726683" y="3453538"/>
            <a:ext cx="109728" cy="109728"/>
          </a:xfrm>
          <a:prstGeom prst="ellipse">
            <a:avLst/>
          </a:prstGeom>
          <a:solidFill>
            <a:srgbClr val="C8414C"/>
          </a:solidFill>
          <a:ln w="6350">
            <a:solidFill>
              <a:srgbClr val="8E2A33"/>
            </a:solidFill>
            <a:prstDash val="solid"/>
          </a:ln>
        </p:spPr>
      </p:sp>
      <p:sp>
        <p:nvSpPr>
          <p:cNvPr id="73" name="Shape 71"/>
          <p:cNvSpPr/>
          <p:nvPr/>
        </p:nvSpPr>
        <p:spPr>
          <a:xfrm>
            <a:off x="913325" y="3465070"/>
            <a:ext cx="109728" cy="109728"/>
          </a:xfrm>
          <a:prstGeom prst="ellipse">
            <a:avLst/>
          </a:prstGeom>
          <a:solidFill>
            <a:srgbClr val="8C96A8"/>
          </a:solidFill>
          <a:ln w="6350">
            <a:solidFill>
              <a:srgbClr val="5A6275"/>
            </a:solidFill>
            <a:prstDash val="solid"/>
          </a:ln>
        </p:spPr>
      </p:sp>
      <p:sp>
        <p:nvSpPr>
          <p:cNvPr id="74" name="Shape 72"/>
          <p:cNvSpPr/>
          <p:nvPr/>
        </p:nvSpPr>
        <p:spPr>
          <a:xfrm>
            <a:off x="1020767" y="3483535"/>
            <a:ext cx="109728" cy="109728"/>
          </a:xfrm>
          <a:prstGeom prst="ellipse">
            <a:avLst/>
          </a:prstGeom>
          <a:solidFill>
            <a:srgbClr val="C8414C"/>
          </a:solidFill>
          <a:ln w="6350">
            <a:solidFill>
              <a:srgbClr val="8E2A33"/>
            </a:solidFill>
            <a:prstDash val="solid"/>
          </a:ln>
        </p:spPr>
      </p:sp>
      <p:sp>
        <p:nvSpPr>
          <p:cNvPr id="75" name="Shape 73"/>
          <p:cNvSpPr/>
          <p:nvPr/>
        </p:nvSpPr>
        <p:spPr>
          <a:xfrm>
            <a:off x="1114736" y="3510953"/>
            <a:ext cx="109728" cy="109728"/>
          </a:xfrm>
          <a:prstGeom prst="ellipse">
            <a:avLst/>
          </a:prstGeom>
          <a:solidFill>
            <a:srgbClr val="8C96A8"/>
          </a:solidFill>
          <a:ln w="6350">
            <a:solidFill>
              <a:srgbClr val="5A6275"/>
            </a:solidFill>
            <a:prstDash val="solid"/>
          </a:ln>
        </p:spPr>
      </p:sp>
      <p:sp>
        <p:nvSpPr>
          <p:cNvPr id="76" name="Shape 74"/>
          <p:cNvSpPr/>
          <p:nvPr/>
        </p:nvSpPr>
        <p:spPr>
          <a:xfrm>
            <a:off x="783316" y="3535448"/>
            <a:ext cx="109728" cy="109728"/>
          </a:xfrm>
          <a:prstGeom prst="ellipse">
            <a:avLst/>
          </a:prstGeom>
          <a:solidFill>
            <a:srgbClr val="8C96A8"/>
          </a:solidFill>
          <a:ln w="6350">
            <a:solidFill>
              <a:srgbClr val="5A6275"/>
            </a:solidFill>
            <a:prstDash val="solid"/>
          </a:ln>
        </p:spPr>
      </p:sp>
      <p:sp>
        <p:nvSpPr>
          <p:cNvPr id="77" name="Shape 75"/>
          <p:cNvSpPr/>
          <p:nvPr/>
        </p:nvSpPr>
        <p:spPr>
          <a:xfrm>
            <a:off x="946534" y="3557016"/>
            <a:ext cx="109728" cy="109728"/>
          </a:xfrm>
          <a:prstGeom prst="ellipse">
            <a:avLst/>
          </a:prstGeom>
          <a:solidFill>
            <a:srgbClr val="8C96A8"/>
          </a:solidFill>
          <a:ln w="6350">
            <a:solidFill>
              <a:srgbClr val="5A6275"/>
            </a:solidFill>
            <a:prstDash val="solid"/>
          </a:ln>
        </p:spPr>
      </p:sp>
      <p:sp>
        <p:nvSpPr>
          <p:cNvPr id="78" name="Shape 76"/>
          <p:cNvSpPr/>
          <p:nvPr/>
        </p:nvSpPr>
        <p:spPr>
          <a:xfrm>
            <a:off x="661264" y="3567119"/>
            <a:ext cx="109728" cy="109728"/>
          </a:xfrm>
          <a:prstGeom prst="ellipse">
            <a:avLst/>
          </a:prstGeom>
          <a:solidFill>
            <a:srgbClr val="8C96A8"/>
          </a:solidFill>
          <a:ln w="6350">
            <a:solidFill>
              <a:srgbClr val="5A6275"/>
            </a:solidFill>
            <a:prstDash val="solid"/>
          </a:ln>
        </p:spPr>
      </p:sp>
      <p:sp>
        <p:nvSpPr>
          <p:cNvPr id="79" name="Shape 77"/>
          <p:cNvSpPr/>
          <p:nvPr/>
        </p:nvSpPr>
        <p:spPr>
          <a:xfrm>
            <a:off x="852538" y="3605310"/>
            <a:ext cx="109728" cy="109728"/>
          </a:xfrm>
          <a:prstGeom prst="ellipse">
            <a:avLst/>
          </a:prstGeom>
          <a:solidFill>
            <a:srgbClr val="C8414C"/>
          </a:solidFill>
          <a:ln w="6350">
            <a:solidFill>
              <a:srgbClr val="8E2A33"/>
            </a:solidFill>
            <a:prstDash val="solid"/>
          </a:ln>
        </p:spPr>
      </p:sp>
      <p:sp>
        <p:nvSpPr>
          <p:cNvPr id="80" name="Shape 78"/>
          <p:cNvSpPr/>
          <p:nvPr/>
        </p:nvSpPr>
        <p:spPr>
          <a:xfrm>
            <a:off x="1065122" y="3615394"/>
            <a:ext cx="109728" cy="109728"/>
          </a:xfrm>
          <a:prstGeom prst="ellipse">
            <a:avLst/>
          </a:prstGeom>
          <a:solidFill>
            <a:srgbClr val="8C96A8"/>
          </a:solidFill>
          <a:ln w="6350">
            <a:solidFill>
              <a:srgbClr val="5A6275"/>
            </a:solidFill>
            <a:prstDash val="solid"/>
          </a:ln>
        </p:spPr>
      </p:sp>
      <p:sp>
        <p:nvSpPr>
          <p:cNvPr id="81" name="Shape 79"/>
          <p:cNvSpPr/>
          <p:nvPr/>
        </p:nvSpPr>
        <p:spPr>
          <a:xfrm>
            <a:off x="738945" y="3625672"/>
            <a:ext cx="109728" cy="109728"/>
          </a:xfrm>
          <a:prstGeom prst="ellipse">
            <a:avLst/>
          </a:prstGeom>
          <a:solidFill>
            <a:srgbClr val="C8414C"/>
          </a:solidFill>
          <a:ln w="6350">
            <a:solidFill>
              <a:srgbClr val="8E2A33"/>
            </a:solidFill>
            <a:prstDash val="solid"/>
          </a:ln>
        </p:spPr>
      </p:sp>
      <p:sp>
        <p:nvSpPr>
          <p:cNvPr id="82" name="Shape 80"/>
          <p:cNvSpPr/>
          <p:nvPr/>
        </p:nvSpPr>
        <p:spPr>
          <a:xfrm>
            <a:off x="971705" y="3643685"/>
            <a:ext cx="109728" cy="109728"/>
          </a:xfrm>
          <a:prstGeom prst="ellipse">
            <a:avLst/>
          </a:prstGeom>
          <a:solidFill>
            <a:srgbClr val="C8414C"/>
          </a:solidFill>
          <a:ln w="6350">
            <a:solidFill>
              <a:srgbClr val="8E2A33"/>
            </a:solidFill>
            <a:prstDash val="solid"/>
          </a:ln>
        </p:spPr>
      </p:sp>
      <p:sp>
        <p:nvSpPr>
          <p:cNvPr id="83" name="Shape 81"/>
          <p:cNvSpPr/>
          <p:nvPr/>
        </p:nvSpPr>
        <p:spPr>
          <a:xfrm>
            <a:off x="866622" y="3700743"/>
            <a:ext cx="109728" cy="109728"/>
          </a:xfrm>
          <a:prstGeom prst="ellipse">
            <a:avLst/>
          </a:prstGeom>
          <a:solidFill>
            <a:srgbClr val="8C96A8"/>
          </a:solidFill>
          <a:ln w="6350">
            <a:solidFill>
              <a:srgbClr val="5A6275"/>
            </a:solidFill>
            <a:prstDash val="solid"/>
          </a:ln>
        </p:spPr>
      </p:sp>
      <p:sp>
        <p:nvSpPr>
          <p:cNvPr id="84" name="Shape 82"/>
          <p:cNvSpPr/>
          <p:nvPr/>
        </p:nvSpPr>
        <p:spPr>
          <a:xfrm>
            <a:off x="1086579" y="3709819"/>
            <a:ext cx="109728" cy="109728"/>
          </a:xfrm>
          <a:prstGeom prst="ellipse">
            <a:avLst/>
          </a:prstGeom>
          <a:solidFill>
            <a:srgbClr val="C8414C"/>
          </a:solidFill>
          <a:ln w="6350">
            <a:solidFill>
              <a:srgbClr val="8E2A33"/>
            </a:solidFill>
            <a:prstDash val="solid"/>
          </a:ln>
        </p:spPr>
      </p:sp>
      <p:sp>
        <p:nvSpPr>
          <p:cNvPr id="85" name="Shape 83"/>
          <p:cNvSpPr/>
          <p:nvPr/>
        </p:nvSpPr>
        <p:spPr>
          <a:xfrm>
            <a:off x="777421" y="3738866"/>
            <a:ext cx="109728" cy="109728"/>
          </a:xfrm>
          <a:prstGeom prst="ellipse">
            <a:avLst/>
          </a:prstGeom>
          <a:solidFill>
            <a:srgbClr val="C8414C"/>
          </a:solidFill>
          <a:ln w="6350">
            <a:solidFill>
              <a:srgbClr val="8E2A33"/>
            </a:solidFill>
            <a:prstDash val="solid"/>
          </a:ln>
        </p:spPr>
      </p:sp>
      <p:sp>
        <p:nvSpPr>
          <p:cNvPr id="86" name="Shape 84"/>
          <p:cNvSpPr/>
          <p:nvPr/>
        </p:nvSpPr>
        <p:spPr>
          <a:xfrm>
            <a:off x="964509" y="3745900"/>
            <a:ext cx="109728" cy="109728"/>
          </a:xfrm>
          <a:prstGeom prst="ellipse">
            <a:avLst/>
          </a:prstGeom>
          <a:solidFill>
            <a:srgbClr val="8C96A8"/>
          </a:solidFill>
          <a:ln w="6350">
            <a:solidFill>
              <a:srgbClr val="5A6275"/>
            </a:solidFill>
            <a:prstDash val="solid"/>
          </a:ln>
        </p:spPr>
      </p:sp>
      <p:sp>
        <p:nvSpPr>
          <p:cNvPr id="87" name="Shape 85"/>
          <p:cNvSpPr/>
          <p:nvPr/>
        </p:nvSpPr>
        <p:spPr>
          <a:xfrm>
            <a:off x="893365" y="3814520"/>
            <a:ext cx="109728" cy="109728"/>
          </a:xfrm>
          <a:prstGeom prst="ellipse">
            <a:avLst/>
          </a:prstGeom>
          <a:solidFill>
            <a:srgbClr val="8C96A8"/>
          </a:solidFill>
          <a:ln w="6350">
            <a:solidFill>
              <a:srgbClr val="5A6275"/>
            </a:solidFill>
            <a:prstDash val="solid"/>
          </a:ln>
        </p:spPr>
      </p:sp>
      <p:sp>
        <p:nvSpPr>
          <p:cNvPr id="88" name="Shape 86"/>
          <p:cNvSpPr/>
          <p:nvPr/>
        </p:nvSpPr>
        <p:spPr>
          <a:xfrm flipV="1">
            <a:off x="1325880" y="3580387"/>
            <a:ext cx="15716" cy="31493"/>
          </a:xfrm>
          <a:prstGeom prst="line">
            <a:avLst/>
          </a:prstGeom>
          <a:noFill/>
          <a:ln w="28575">
            <a:solidFill>
              <a:srgbClr val="2E8B57"/>
            </a:solidFill>
            <a:prstDash val="solid"/>
          </a:ln>
        </p:spPr>
      </p:sp>
      <p:sp>
        <p:nvSpPr>
          <p:cNvPr id="89" name="Shape 87"/>
          <p:cNvSpPr/>
          <p:nvPr/>
        </p:nvSpPr>
        <p:spPr>
          <a:xfrm flipV="1">
            <a:off x="1341596" y="3553688"/>
            <a:ext cx="15716" cy="26699"/>
          </a:xfrm>
          <a:prstGeom prst="line">
            <a:avLst/>
          </a:prstGeom>
          <a:noFill/>
          <a:ln w="28575">
            <a:solidFill>
              <a:srgbClr val="2E8B57"/>
            </a:solidFill>
            <a:prstDash val="solid"/>
          </a:ln>
        </p:spPr>
      </p:sp>
      <p:sp>
        <p:nvSpPr>
          <p:cNvPr id="90" name="Shape 88"/>
          <p:cNvSpPr/>
          <p:nvPr/>
        </p:nvSpPr>
        <p:spPr>
          <a:xfrm flipV="1">
            <a:off x="1357313" y="3535848"/>
            <a:ext cx="15716" cy="17840"/>
          </a:xfrm>
          <a:prstGeom prst="line">
            <a:avLst/>
          </a:prstGeom>
          <a:noFill/>
          <a:ln w="28575">
            <a:solidFill>
              <a:srgbClr val="2E8B57"/>
            </a:solidFill>
            <a:prstDash val="solid"/>
          </a:ln>
        </p:spPr>
      </p:sp>
      <p:sp>
        <p:nvSpPr>
          <p:cNvPr id="91" name="Shape 89"/>
          <p:cNvSpPr/>
          <p:nvPr/>
        </p:nvSpPr>
        <p:spPr>
          <a:xfrm flipV="1">
            <a:off x="1373029" y="3529584"/>
            <a:ext cx="15716" cy="6264"/>
          </a:xfrm>
          <a:prstGeom prst="line">
            <a:avLst/>
          </a:prstGeom>
          <a:noFill/>
          <a:ln w="28575">
            <a:solidFill>
              <a:srgbClr val="2E8B57"/>
            </a:solidFill>
            <a:prstDash val="solid"/>
          </a:ln>
        </p:spPr>
      </p:sp>
      <p:sp>
        <p:nvSpPr>
          <p:cNvPr id="92" name="Shape 90"/>
          <p:cNvSpPr/>
          <p:nvPr/>
        </p:nvSpPr>
        <p:spPr>
          <a:xfrm>
            <a:off x="1388745" y="3529584"/>
            <a:ext cx="15716" cy="6264"/>
          </a:xfrm>
          <a:prstGeom prst="line">
            <a:avLst/>
          </a:prstGeom>
          <a:noFill/>
          <a:ln w="28575">
            <a:solidFill>
              <a:srgbClr val="2E8B57"/>
            </a:solidFill>
            <a:prstDash val="solid"/>
          </a:ln>
        </p:spPr>
      </p:sp>
      <p:sp>
        <p:nvSpPr>
          <p:cNvPr id="93" name="Shape 91"/>
          <p:cNvSpPr/>
          <p:nvPr/>
        </p:nvSpPr>
        <p:spPr>
          <a:xfrm>
            <a:off x="1404461" y="3535848"/>
            <a:ext cx="15716" cy="17840"/>
          </a:xfrm>
          <a:prstGeom prst="line">
            <a:avLst/>
          </a:prstGeom>
          <a:noFill/>
          <a:ln w="28575">
            <a:solidFill>
              <a:srgbClr val="2E8B57"/>
            </a:solidFill>
            <a:prstDash val="solid"/>
          </a:ln>
        </p:spPr>
      </p:sp>
      <p:sp>
        <p:nvSpPr>
          <p:cNvPr id="94" name="Shape 92"/>
          <p:cNvSpPr/>
          <p:nvPr/>
        </p:nvSpPr>
        <p:spPr>
          <a:xfrm>
            <a:off x="1420177" y="3553688"/>
            <a:ext cx="15716" cy="26699"/>
          </a:xfrm>
          <a:prstGeom prst="line">
            <a:avLst/>
          </a:prstGeom>
          <a:noFill/>
          <a:ln w="28575">
            <a:solidFill>
              <a:srgbClr val="2E8B57"/>
            </a:solidFill>
            <a:prstDash val="solid"/>
          </a:ln>
        </p:spPr>
      </p:sp>
      <p:sp>
        <p:nvSpPr>
          <p:cNvPr id="95" name="Shape 93"/>
          <p:cNvSpPr/>
          <p:nvPr/>
        </p:nvSpPr>
        <p:spPr>
          <a:xfrm>
            <a:off x="1435894" y="3580387"/>
            <a:ext cx="15716" cy="31493"/>
          </a:xfrm>
          <a:prstGeom prst="line">
            <a:avLst/>
          </a:prstGeom>
          <a:noFill/>
          <a:ln w="28575">
            <a:solidFill>
              <a:srgbClr val="2E8B57"/>
            </a:solidFill>
            <a:prstDash val="solid"/>
          </a:ln>
        </p:spPr>
      </p:sp>
      <p:sp>
        <p:nvSpPr>
          <p:cNvPr id="96" name="Shape 94"/>
          <p:cNvSpPr/>
          <p:nvPr/>
        </p:nvSpPr>
        <p:spPr>
          <a:xfrm>
            <a:off x="1451610" y="3611880"/>
            <a:ext cx="15716" cy="31493"/>
          </a:xfrm>
          <a:prstGeom prst="line">
            <a:avLst/>
          </a:prstGeom>
          <a:noFill/>
          <a:ln w="28575">
            <a:solidFill>
              <a:srgbClr val="2E8B57"/>
            </a:solidFill>
            <a:prstDash val="solid"/>
          </a:ln>
        </p:spPr>
      </p:sp>
      <p:sp>
        <p:nvSpPr>
          <p:cNvPr id="97" name="Shape 95"/>
          <p:cNvSpPr/>
          <p:nvPr/>
        </p:nvSpPr>
        <p:spPr>
          <a:xfrm>
            <a:off x="1467326" y="3643373"/>
            <a:ext cx="15716" cy="26699"/>
          </a:xfrm>
          <a:prstGeom prst="line">
            <a:avLst/>
          </a:prstGeom>
          <a:noFill/>
          <a:ln w="28575">
            <a:solidFill>
              <a:srgbClr val="2E8B57"/>
            </a:solidFill>
            <a:prstDash val="solid"/>
          </a:ln>
        </p:spPr>
      </p:sp>
      <p:sp>
        <p:nvSpPr>
          <p:cNvPr id="98" name="Shape 96"/>
          <p:cNvSpPr/>
          <p:nvPr/>
        </p:nvSpPr>
        <p:spPr>
          <a:xfrm>
            <a:off x="1483043" y="3670072"/>
            <a:ext cx="15716" cy="17840"/>
          </a:xfrm>
          <a:prstGeom prst="line">
            <a:avLst/>
          </a:prstGeom>
          <a:noFill/>
          <a:ln w="28575">
            <a:solidFill>
              <a:srgbClr val="2E8B57"/>
            </a:solidFill>
            <a:prstDash val="solid"/>
          </a:ln>
        </p:spPr>
      </p:sp>
      <p:sp>
        <p:nvSpPr>
          <p:cNvPr id="99" name="Shape 97"/>
          <p:cNvSpPr/>
          <p:nvPr/>
        </p:nvSpPr>
        <p:spPr>
          <a:xfrm>
            <a:off x="1498759" y="3687912"/>
            <a:ext cx="15716" cy="6264"/>
          </a:xfrm>
          <a:prstGeom prst="line">
            <a:avLst/>
          </a:prstGeom>
          <a:noFill/>
          <a:ln w="28575">
            <a:solidFill>
              <a:srgbClr val="2E8B57"/>
            </a:solidFill>
            <a:prstDash val="solid"/>
          </a:ln>
        </p:spPr>
      </p:sp>
      <p:sp>
        <p:nvSpPr>
          <p:cNvPr id="100" name="Shape 98"/>
          <p:cNvSpPr/>
          <p:nvPr/>
        </p:nvSpPr>
        <p:spPr>
          <a:xfrm flipV="1">
            <a:off x="1514475" y="3687912"/>
            <a:ext cx="15716" cy="6264"/>
          </a:xfrm>
          <a:prstGeom prst="line">
            <a:avLst/>
          </a:prstGeom>
          <a:noFill/>
          <a:ln w="28575">
            <a:solidFill>
              <a:srgbClr val="2E8B57"/>
            </a:solidFill>
            <a:prstDash val="solid"/>
          </a:ln>
        </p:spPr>
      </p:sp>
      <p:sp>
        <p:nvSpPr>
          <p:cNvPr id="101" name="Shape 99"/>
          <p:cNvSpPr/>
          <p:nvPr/>
        </p:nvSpPr>
        <p:spPr>
          <a:xfrm flipV="1">
            <a:off x="1530191" y="3670072"/>
            <a:ext cx="15716" cy="17840"/>
          </a:xfrm>
          <a:prstGeom prst="line">
            <a:avLst/>
          </a:prstGeom>
          <a:noFill/>
          <a:ln w="28575">
            <a:solidFill>
              <a:srgbClr val="2E8B57"/>
            </a:solidFill>
            <a:prstDash val="solid"/>
          </a:ln>
        </p:spPr>
      </p:sp>
      <p:sp>
        <p:nvSpPr>
          <p:cNvPr id="102" name="Shape 100"/>
          <p:cNvSpPr/>
          <p:nvPr/>
        </p:nvSpPr>
        <p:spPr>
          <a:xfrm flipV="1">
            <a:off x="1545907" y="3643373"/>
            <a:ext cx="15716" cy="26699"/>
          </a:xfrm>
          <a:prstGeom prst="line">
            <a:avLst/>
          </a:prstGeom>
          <a:noFill/>
          <a:ln w="28575">
            <a:solidFill>
              <a:srgbClr val="2E8B57"/>
            </a:solidFill>
            <a:prstDash val="solid"/>
          </a:ln>
        </p:spPr>
      </p:sp>
      <p:sp>
        <p:nvSpPr>
          <p:cNvPr id="103" name="Shape 101"/>
          <p:cNvSpPr/>
          <p:nvPr/>
        </p:nvSpPr>
        <p:spPr>
          <a:xfrm flipV="1">
            <a:off x="1561624" y="3611880"/>
            <a:ext cx="15716" cy="31493"/>
          </a:xfrm>
          <a:prstGeom prst="line">
            <a:avLst/>
          </a:prstGeom>
          <a:noFill/>
          <a:ln w="28575">
            <a:solidFill>
              <a:srgbClr val="2E8B57"/>
            </a:solidFill>
            <a:prstDash val="solid"/>
          </a:ln>
        </p:spPr>
      </p:sp>
      <p:sp>
        <p:nvSpPr>
          <p:cNvPr id="104" name="Shape 102"/>
          <p:cNvSpPr/>
          <p:nvPr/>
        </p:nvSpPr>
        <p:spPr>
          <a:xfrm flipV="1">
            <a:off x="1577340" y="3580387"/>
            <a:ext cx="15716" cy="31493"/>
          </a:xfrm>
          <a:prstGeom prst="line">
            <a:avLst/>
          </a:prstGeom>
          <a:noFill/>
          <a:ln w="28575">
            <a:solidFill>
              <a:srgbClr val="2E8B57"/>
            </a:solidFill>
            <a:prstDash val="solid"/>
          </a:ln>
        </p:spPr>
      </p:sp>
      <p:sp>
        <p:nvSpPr>
          <p:cNvPr id="105" name="Shape 103"/>
          <p:cNvSpPr/>
          <p:nvPr/>
        </p:nvSpPr>
        <p:spPr>
          <a:xfrm flipV="1">
            <a:off x="1593056" y="3553688"/>
            <a:ext cx="15716" cy="26699"/>
          </a:xfrm>
          <a:prstGeom prst="line">
            <a:avLst/>
          </a:prstGeom>
          <a:noFill/>
          <a:ln w="28575">
            <a:solidFill>
              <a:srgbClr val="2E8B57"/>
            </a:solidFill>
            <a:prstDash val="solid"/>
          </a:ln>
        </p:spPr>
      </p:sp>
      <p:sp>
        <p:nvSpPr>
          <p:cNvPr id="106" name="Shape 104"/>
          <p:cNvSpPr/>
          <p:nvPr/>
        </p:nvSpPr>
        <p:spPr>
          <a:xfrm flipV="1">
            <a:off x="1608773" y="3535848"/>
            <a:ext cx="15716" cy="17840"/>
          </a:xfrm>
          <a:prstGeom prst="line">
            <a:avLst/>
          </a:prstGeom>
          <a:noFill/>
          <a:ln w="28575">
            <a:solidFill>
              <a:srgbClr val="2E8B57"/>
            </a:solidFill>
            <a:prstDash val="solid"/>
          </a:ln>
        </p:spPr>
      </p:sp>
      <p:sp>
        <p:nvSpPr>
          <p:cNvPr id="107" name="Shape 105"/>
          <p:cNvSpPr/>
          <p:nvPr/>
        </p:nvSpPr>
        <p:spPr>
          <a:xfrm flipV="1">
            <a:off x="1624489" y="3529584"/>
            <a:ext cx="15716" cy="6264"/>
          </a:xfrm>
          <a:prstGeom prst="line">
            <a:avLst/>
          </a:prstGeom>
          <a:noFill/>
          <a:ln w="28575">
            <a:solidFill>
              <a:srgbClr val="2E8B57"/>
            </a:solidFill>
            <a:prstDash val="solid"/>
          </a:ln>
        </p:spPr>
      </p:sp>
      <p:sp>
        <p:nvSpPr>
          <p:cNvPr id="108" name="Shape 106"/>
          <p:cNvSpPr/>
          <p:nvPr/>
        </p:nvSpPr>
        <p:spPr>
          <a:xfrm>
            <a:off x="1640205" y="3529584"/>
            <a:ext cx="15716" cy="6264"/>
          </a:xfrm>
          <a:prstGeom prst="line">
            <a:avLst/>
          </a:prstGeom>
          <a:noFill/>
          <a:ln w="28575">
            <a:solidFill>
              <a:srgbClr val="2E8B57"/>
            </a:solidFill>
            <a:prstDash val="solid"/>
          </a:ln>
        </p:spPr>
      </p:sp>
      <p:sp>
        <p:nvSpPr>
          <p:cNvPr id="109" name="Shape 107"/>
          <p:cNvSpPr/>
          <p:nvPr/>
        </p:nvSpPr>
        <p:spPr>
          <a:xfrm>
            <a:off x="1655921" y="3535848"/>
            <a:ext cx="15716" cy="17840"/>
          </a:xfrm>
          <a:prstGeom prst="line">
            <a:avLst/>
          </a:prstGeom>
          <a:noFill/>
          <a:ln w="28575">
            <a:solidFill>
              <a:srgbClr val="2E8B57"/>
            </a:solidFill>
            <a:prstDash val="solid"/>
          </a:ln>
        </p:spPr>
      </p:sp>
      <p:sp>
        <p:nvSpPr>
          <p:cNvPr id="110" name="Shape 108"/>
          <p:cNvSpPr/>
          <p:nvPr/>
        </p:nvSpPr>
        <p:spPr>
          <a:xfrm>
            <a:off x="1671638" y="3553688"/>
            <a:ext cx="15716" cy="26699"/>
          </a:xfrm>
          <a:prstGeom prst="line">
            <a:avLst/>
          </a:prstGeom>
          <a:noFill/>
          <a:ln w="28575">
            <a:solidFill>
              <a:srgbClr val="2E8B57"/>
            </a:solidFill>
            <a:prstDash val="solid"/>
          </a:ln>
        </p:spPr>
      </p:sp>
      <p:sp>
        <p:nvSpPr>
          <p:cNvPr id="111" name="Shape 109"/>
          <p:cNvSpPr/>
          <p:nvPr/>
        </p:nvSpPr>
        <p:spPr>
          <a:xfrm>
            <a:off x="1687354" y="3580387"/>
            <a:ext cx="15716" cy="31493"/>
          </a:xfrm>
          <a:prstGeom prst="line">
            <a:avLst/>
          </a:prstGeom>
          <a:noFill/>
          <a:ln w="28575">
            <a:solidFill>
              <a:srgbClr val="2E8B57"/>
            </a:solidFill>
            <a:prstDash val="solid"/>
          </a:ln>
        </p:spPr>
      </p:sp>
      <p:sp>
        <p:nvSpPr>
          <p:cNvPr id="112" name="Shape 110"/>
          <p:cNvSpPr/>
          <p:nvPr/>
        </p:nvSpPr>
        <p:spPr>
          <a:xfrm>
            <a:off x="1703070" y="3611880"/>
            <a:ext cx="15716" cy="31493"/>
          </a:xfrm>
          <a:prstGeom prst="line">
            <a:avLst/>
          </a:prstGeom>
          <a:noFill/>
          <a:ln w="28575">
            <a:solidFill>
              <a:srgbClr val="2E8B57"/>
            </a:solidFill>
            <a:prstDash val="solid"/>
          </a:ln>
        </p:spPr>
      </p:sp>
      <p:sp>
        <p:nvSpPr>
          <p:cNvPr id="113" name="Shape 111"/>
          <p:cNvSpPr/>
          <p:nvPr/>
        </p:nvSpPr>
        <p:spPr>
          <a:xfrm>
            <a:off x="1718786" y="3643373"/>
            <a:ext cx="15716" cy="26699"/>
          </a:xfrm>
          <a:prstGeom prst="line">
            <a:avLst/>
          </a:prstGeom>
          <a:noFill/>
          <a:ln w="28575">
            <a:solidFill>
              <a:srgbClr val="2E8B57"/>
            </a:solidFill>
            <a:prstDash val="solid"/>
          </a:ln>
        </p:spPr>
      </p:sp>
      <p:sp>
        <p:nvSpPr>
          <p:cNvPr id="114" name="Shape 112"/>
          <p:cNvSpPr/>
          <p:nvPr/>
        </p:nvSpPr>
        <p:spPr>
          <a:xfrm>
            <a:off x="1734502" y="3670072"/>
            <a:ext cx="15716" cy="17840"/>
          </a:xfrm>
          <a:prstGeom prst="line">
            <a:avLst/>
          </a:prstGeom>
          <a:noFill/>
          <a:ln w="28575">
            <a:solidFill>
              <a:srgbClr val="2E8B57"/>
            </a:solidFill>
            <a:prstDash val="solid"/>
          </a:ln>
        </p:spPr>
      </p:sp>
      <p:sp>
        <p:nvSpPr>
          <p:cNvPr id="115" name="Shape 113"/>
          <p:cNvSpPr/>
          <p:nvPr/>
        </p:nvSpPr>
        <p:spPr>
          <a:xfrm>
            <a:off x="1750219" y="3687912"/>
            <a:ext cx="15716" cy="6264"/>
          </a:xfrm>
          <a:prstGeom prst="line">
            <a:avLst/>
          </a:prstGeom>
          <a:noFill/>
          <a:ln w="28575">
            <a:solidFill>
              <a:srgbClr val="2E8B57"/>
            </a:solidFill>
            <a:prstDash val="solid"/>
          </a:ln>
        </p:spPr>
      </p:sp>
      <p:sp>
        <p:nvSpPr>
          <p:cNvPr id="116" name="Shape 114"/>
          <p:cNvSpPr/>
          <p:nvPr/>
        </p:nvSpPr>
        <p:spPr>
          <a:xfrm flipV="1">
            <a:off x="1765935" y="3687912"/>
            <a:ext cx="15716" cy="6264"/>
          </a:xfrm>
          <a:prstGeom prst="line">
            <a:avLst/>
          </a:prstGeom>
          <a:noFill/>
          <a:ln w="28575">
            <a:solidFill>
              <a:srgbClr val="2E8B57"/>
            </a:solidFill>
            <a:prstDash val="solid"/>
          </a:ln>
        </p:spPr>
      </p:sp>
      <p:sp>
        <p:nvSpPr>
          <p:cNvPr id="117" name="Shape 115"/>
          <p:cNvSpPr/>
          <p:nvPr/>
        </p:nvSpPr>
        <p:spPr>
          <a:xfrm flipV="1">
            <a:off x="1781651" y="3670072"/>
            <a:ext cx="15716" cy="17840"/>
          </a:xfrm>
          <a:prstGeom prst="line">
            <a:avLst/>
          </a:prstGeom>
          <a:noFill/>
          <a:ln w="28575">
            <a:solidFill>
              <a:srgbClr val="2E8B57"/>
            </a:solidFill>
            <a:prstDash val="solid"/>
          </a:ln>
        </p:spPr>
      </p:sp>
      <p:sp>
        <p:nvSpPr>
          <p:cNvPr id="118" name="Shape 116"/>
          <p:cNvSpPr/>
          <p:nvPr/>
        </p:nvSpPr>
        <p:spPr>
          <a:xfrm flipV="1">
            <a:off x="1797367" y="3643373"/>
            <a:ext cx="15716" cy="26699"/>
          </a:xfrm>
          <a:prstGeom prst="line">
            <a:avLst/>
          </a:prstGeom>
          <a:noFill/>
          <a:ln w="28575">
            <a:solidFill>
              <a:srgbClr val="2E8B57"/>
            </a:solidFill>
            <a:prstDash val="solid"/>
          </a:ln>
        </p:spPr>
      </p:sp>
      <p:sp>
        <p:nvSpPr>
          <p:cNvPr id="119" name="Shape 117"/>
          <p:cNvSpPr/>
          <p:nvPr/>
        </p:nvSpPr>
        <p:spPr>
          <a:xfrm flipV="1">
            <a:off x="1813084" y="3611880"/>
            <a:ext cx="15716" cy="31493"/>
          </a:xfrm>
          <a:prstGeom prst="line">
            <a:avLst/>
          </a:prstGeom>
          <a:noFill/>
          <a:ln w="28575">
            <a:solidFill>
              <a:srgbClr val="2E8B57"/>
            </a:solidFill>
            <a:prstDash val="solid"/>
          </a:ln>
        </p:spPr>
      </p:sp>
      <p:sp>
        <p:nvSpPr>
          <p:cNvPr id="120" name="Shape 118"/>
          <p:cNvSpPr/>
          <p:nvPr/>
        </p:nvSpPr>
        <p:spPr>
          <a:xfrm flipV="1">
            <a:off x="1828800" y="3580387"/>
            <a:ext cx="15716" cy="31493"/>
          </a:xfrm>
          <a:prstGeom prst="line">
            <a:avLst/>
          </a:prstGeom>
          <a:noFill/>
          <a:ln w="28575">
            <a:solidFill>
              <a:srgbClr val="2E8B57"/>
            </a:solidFill>
            <a:prstDash val="solid"/>
          </a:ln>
        </p:spPr>
      </p:sp>
      <p:sp>
        <p:nvSpPr>
          <p:cNvPr id="121" name="Shape 119"/>
          <p:cNvSpPr/>
          <p:nvPr/>
        </p:nvSpPr>
        <p:spPr>
          <a:xfrm flipV="1">
            <a:off x="1844516" y="3553688"/>
            <a:ext cx="15716" cy="26699"/>
          </a:xfrm>
          <a:prstGeom prst="line">
            <a:avLst/>
          </a:prstGeom>
          <a:noFill/>
          <a:ln w="28575">
            <a:solidFill>
              <a:srgbClr val="2E8B57"/>
            </a:solidFill>
            <a:prstDash val="solid"/>
          </a:ln>
        </p:spPr>
      </p:sp>
      <p:sp>
        <p:nvSpPr>
          <p:cNvPr id="122" name="Shape 120"/>
          <p:cNvSpPr/>
          <p:nvPr/>
        </p:nvSpPr>
        <p:spPr>
          <a:xfrm flipV="1">
            <a:off x="1860232" y="3535848"/>
            <a:ext cx="15716" cy="17840"/>
          </a:xfrm>
          <a:prstGeom prst="line">
            <a:avLst/>
          </a:prstGeom>
          <a:noFill/>
          <a:ln w="28575">
            <a:solidFill>
              <a:srgbClr val="2E8B57"/>
            </a:solidFill>
            <a:prstDash val="solid"/>
          </a:ln>
        </p:spPr>
      </p:sp>
      <p:sp>
        <p:nvSpPr>
          <p:cNvPr id="123" name="Shape 121"/>
          <p:cNvSpPr/>
          <p:nvPr/>
        </p:nvSpPr>
        <p:spPr>
          <a:xfrm flipV="1">
            <a:off x="1875949" y="3529584"/>
            <a:ext cx="15716" cy="6264"/>
          </a:xfrm>
          <a:prstGeom prst="line">
            <a:avLst/>
          </a:prstGeom>
          <a:noFill/>
          <a:ln w="28575">
            <a:solidFill>
              <a:srgbClr val="2E8B57"/>
            </a:solidFill>
            <a:prstDash val="solid"/>
          </a:ln>
        </p:spPr>
      </p:sp>
      <p:sp>
        <p:nvSpPr>
          <p:cNvPr id="124" name="Shape 122"/>
          <p:cNvSpPr/>
          <p:nvPr/>
        </p:nvSpPr>
        <p:spPr>
          <a:xfrm>
            <a:off x="1891665" y="3529584"/>
            <a:ext cx="15716" cy="6264"/>
          </a:xfrm>
          <a:prstGeom prst="line">
            <a:avLst/>
          </a:prstGeom>
          <a:noFill/>
          <a:ln w="28575">
            <a:solidFill>
              <a:srgbClr val="2E8B57"/>
            </a:solidFill>
            <a:prstDash val="solid"/>
          </a:ln>
        </p:spPr>
      </p:sp>
      <p:sp>
        <p:nvSpPr>
          <p:cNvPr id="125" name="Shape 123"/>
          <p:cNvSpPr/>
          <p:nvPr/>
        </p:nvSpPr>
        <p:spPr>
          <a:xfrm>
            <a:off x="1907381" y="3535848"/>
            <a:ext cx="15716" cy="17840"/>
          </a:xfrm>
          <a:prstGeom prst="line">
            <a:avLst/>
          </a:prstGeom>
          <a:noFill/>
          <a:ln w="28575">
            <a:solidFill>
              <a:srgbClr val="2E8B57"/>
            </a:solidFill>
            <a:prstDash val="solid"/>
          </a:ln>
        </p:spPr>
      </p:sp>
      <p:sp>
        <p:nvSpPr>
          <p:cNvPr id="126" name="Shape 124"/>
          <p:cNvSpPr/>
          <p:nvPr/>
        </p:nvSpPr>
        <p:spPr>
          <a:xfrm>
            <a:off x="1923098" y="3553688"/>
            <a:ext cx="15716" cy="26699"/>
          </a:xfrm>
          <a:prstGeom prst="line">
            <a:avLst/>
          </a:prstGeom>
          <a:noFill/>
          <a:ln w="28575">
            <a:solidFill>
              <a:srgbClr val="2E8B57"/>
            </a:solidFill>
            <a:prstDash val="solid"/>
          </a:ln>
        </p:spPr>
      </p:sp>
      <p:sp>
        <p:nvSpPr>
          <p:cNvPr id="127" name="Shape 125"/>
          <p:cNvSpPr/>
          <p:nvPr/>
        </p:nvSpPr>
        <p:spPr>
          <a:xfrm>
            <a:off x="1938814" y="3580387"/>
            <a:ext cx="15716" cy="31493"/>
          </a:xfrm>
          <a:prstGeom prst="line">
            <a:avLst/>
          </a:prstGeom>
          <a:noFill/>
          <a:ln w="28575">
            <a:solidFill>
              <a:srgbClr val="2E8B57"/>
            </a:solidFill>
            <a:prstDash val="solid"/>
          </a:ln>
        </p:spPr>
      </p:sp>
      <p:sp>
        <p:nvSpPr>
          <p:cNvPr id="128" name="Shape 126"/>
          <p:cNvSpPr/>
          <p:nvPr/>
        </p:nvSpPr>
        <p:spPr>
          <a:xfrm>
            <a:off x="1954530" y="3611880"/>
            <a:ext cx="15716" cy="31493"/>
          </a:xfrm>
          <a:prstGeom prst="line">
            <a:avLst/>
          </a:prstGeom>
          <a:noFill/>
          <a:ln w="28575">
            <a:solidFill>
              <a:srgbClr val="2E8B57"/>
            </a:solidFill>
            <a:prstDash val="solid"/>
          </a:ln>
        </p:spPr>
      </p:sp>
      <p:sp>
        <p:nvSpPr>
          <p:cNvPr id="129" name="Shape 127"/>
          <p:cNvSpPr/>
          <p:nvPr/>
        </p:nvSpPr>
        <p:spPr>
          <a:xfrm>
            <a:off x="1970246" y="3643373"/>
            <a:ext cx="15716" cy="26699"/>
          </a:xfrm>
          <a:prstGeom prst="line">
            <a:avLst/>
          </a:prstGeom>
          <a:noFill/>
          <a:ln w="28575">
            <a:solidFill>
              <a:srgbClr val="2E8B57"/>
            </a:solidFill>
            <a:prstDash val="solid"/>
          </a:ln>
        </p:spPr>
      </p:sp>
      <p:sp>
        <p:nvSpPr>
          <p:cNvPr id="130" name="Shape 128"/>
          <p:cNvSpPr/>
          <p:nvPr/>
        </p:nvSpPr>
        <p:spPr>
          <a:xfrm>
            <a:off x="1985963" y="3670072"/>
            <a:ext cx="15716" cy="17840"/>
          </a:xfrm>
          <a:prstGeom prst="line">
            <a:avLst/>
          </a:prstGeom>
          <a:noFill/>
          <a:ln w="28575">
            <a:solidFill>
              <a:srgbClr val="2E8B57"/>
            </a:solidFill>
            <a:prstDash val="solid"/>
          </a:ln>
        </p:spPr>
      </p:sp>
      <p:sp>
        <p:nvSpPr>
          <p:cNvPr id="131" name="Shape 129"/>
          <p:cNvSpPr/>
          <p:nvPr/>
        </p:nvSpPr>
        <p:spPr>
          <a:xfrm>
            <a:off x="2001679" y="3687912"/>
            <a:ext cx="15716" cy="6264"/>
          </a:xfrm>
          <a:prstGeom prst="line">
            <a:avLst/>
          </a:prstGeom>
          <a:noFill/>
          <a:ln w="28575">
            <a:solidFill>
              <a:srgbClr val="2E8B57"/>
            </a:solidFill>
            <a:prstDash val="solid"/>
          </a:ln>
        </p:spPr>
      </p:sp>
      <p:sp>
        <p:nvSpPr>
          <p:cNvPr id="132" name="Shape 130"/>
          <p:cNvSpPr/>
          <p:nvPr/>
        </p:nvSpPr>
        <p:spPr>
          <a:xfrm flipV="1">
            <a:off x="2017395" y="3687912"/>
            <a:ext cx="15716" cy="6264"/>
          </a:xfrm>
          <a:prstGeom prst="line">
            <a:avLst/>
          </a:prstGeom>
          <a:noFill/>
          <a:ln w="28575">
            <a:solidFill>
              <a:srgbClr val="2E8B57"/>
            </a:solidFill>
            <a:prstDash val="solid"/>
          </a:ln>
        </p:spPr>
      </p:sp>
      <p:sp>
        <p:nvSpPr>
          <p:cNvPr id="133" name="Shape 131"/>
          <p:cNvSpPr/>
          <p:nvPr/>
        </p:nvSpPr>
        <p:spPr>
          <a:xfrm flipV="1">
            <a:off x="2033111" y="3670072"/>
            <a:ext cx="15716" cy="17840"/>
          </a:xfrm>
          <a:prstGeom prst="line">
            <a:avLst/>
          </a:prstGeom>
          <a:noFill/>
          <a:ln w="28575">
            <a:solidFill>
              <a:srgbClr val="2E8B57"/>
            </a:solidFill>
            <a:prstDash val="solid"/>
          </a:ln>
        </p:spPr>
      </p:sp>
      <p:sp>
        <p:nvSpPr>
          <p:cNvPr id="134" name="Shape 132"/>
          <p:cNvSpPr/>
          <p:nvPr/>
        </p:nvSpPr>
        <p:spPr>
          <a:xfrm flipV="1">
            <a:off x="2048827" y="3643373"/>
            <a:ext cx="15716" cy="26699"/>
          </a:xfrm>
          <a:prstGeom prst="line">
            <a:avLst/>
          </a:prstGeom>
          <a:noFill/>
          <a:ln w="28575">
            <a:solidFill>
              <a:srgbClr val="2E8B57"/>
            </a:solidFill>
            <a:prstDash val="solid"/>
          </a:ln>
        </p:spPr>
      </p:sp>
      <p:sp>
        <p:nvSpPr>
          <p:cNvPr id="135" name="Shape 133"/>
          <p:cNvSpPr/>
          <p:nvPr/>
        </p:nvSpPr>
        <p:spPr>
          <a:xfrm flipV="1">
            <a:off x="2064544" y="3611880"/>
            <a:ext cx="15716" cy="31493"/>
          </a:xfrm>
          <a:prstGeom prst="line">
            <a:avLst/>
          </a:prstGeom>
          <a:noFill/>
          <a:ln w="28575">
            <a:solidFill>
              <a:srgbClr val="2E8B57"/>
            </a:solidFill>
            <a:prstDash val="solid"/>
          </a:ln>
        </p:spPr>
      </p:sp>
      <p:sp>
        <p:nvSpPr>
          <p:cNvPr id="136" name="Shape 134"/>
          <p:cNvSpPr/>
          <p:nvPr/>
        </p:nvSpPr>
        <p:spPr>
          <a:xfrm flipV="1">
            <a:off x="2080260" y="3580387"/>
            <a:ext cx="15716" cy="31493"/>
          </a:xfrm>
          <a:prstGeom prst="line">
            <a:avLst/>
          </a:prstGeom>
          <a:noFill/>
          <a:ln w="28575">
            <a:solidFill>
              <a:srgbClr val="2E8B57"/>
            </a:solidFill>
            <a:prstDash val="solid"/>
          </a:ln>
        </p:spPr>
      </p:sp>
      <p:sp>
        <p:nvSpPr>
          <p:cNvPr id="137" name="Shape 135"/>
          <p:cNvSpPr/>
          <p:nvPr/>
        </p:nvSpPr>
        <p:spPr>
          <a:xfrm flipV="1">
            <a:off x="2095976" y="3553688"/>
            <a:ext cx="15716" cy="26699"/>
          </a:xfrm>
          <a:prstGeom prst="line">
            <a:avLst/>
          </a:prstGeom>
          <a:noFill/>
          <a:ln w="28575">
            <a:solidFill>
              <a:srgbClr val="2E8B57"/>
            </a:solidFill>
            <a:prstDash val="solid"/>
          </a:ln>
        </p:spPr>
      </p:sp>
      <p:sp>
        <p:nvSpPr>
          <p:cNvPr id="138" name="Shape 136"/>
          <p:cNvSpPr/>
          <p:nvPr/>
        </p:nvSpPr>
        <p:spPr>
          <a:xfrm flipV="1">
            <a:off x="2111692" y="3535848"/>
            <a:ext cx="15716" cy="17840"/>
          </a:xfrm>
          <a:prstGeom prst="line">
            <a:avLst/>
          </a:prstGeom>
          <a:noFill/>
          <a:ln w="28575">
            <a:solidFill>
              <a:srgbClr val="2E8B57"/>
            </a:solidFill>
            <a:prstDash val="solid"/>
          </a:ln>
        </p:spPr>
      </p:sp>
      <p:sp>
        <p:nvSpPr>
          <p:cNvPr id="139" name="Shape 137"/>
          <p:cNvSpPr/>
          <p:nvPr/>
        </p:nvSpPr>
        <p:spPr>
          <a:xfrm flipV="1">
            <a:off x="2127409" y="3529584"/>
            <a:ext cx="15716" cy="6264"/>
          </a:xfrm>
          <a:prstGeom prst="line">
            <a:avLst/>
          </a:prstGeom>
          <a:noFill/>
          <a:ln w="28575">
            <a:solidFill>
              <a:srgbClr val="2E8B57"/>
            </a:solidFill>
            <a:prstDash val="solid"/>
          </a:ln>
        </p:spPr>
      </p:sp>
      <p:sp>
        <p:nvSpPr>
          <p:cNvPr id="140" name="Shape 138"/>
          <p:cNvSpPr/>
          <p:nvPr/>
        </p:nvSpPr>
        <p:spPr>
          <a:xfrm>
            <a:off x="2143125" y="3529584"/>
            <a:ext cx="15716" cy="6264"/>
          </a:xfrm>
          <a:prstGeom prst="line">
            <a:avLst/>
          </a:prstGeom>
          <a:noFill/>
          <a:ln w="28575">
            <a:solidFill>
              <a:srgbClr val="2E8B57"/>
            </a:solidFill>
            <a:prstDash val="solid"/>
          </a:ln>
        </p:spPr>
      </p:sp>
      <p:sp>
        <p:nvSpPr>
          <p:cNvPr id="141" name="Shape 139"/>
          <p:cNvSpPr/>
          <p:nvPr/>
        </p:nvSpPr>
        <p:spPr>
          <a:xfrm>
            <a:off x="2158841" y="3535848"/>
            <a:ext cx="15716" cy="17840"/>
          </a:xfrm>
          <a:prstGeom prst="line">
            <a:avLst/>
          </a:prstGeom>
          <a:noFill/>
          <a:ln w="28575">
            <a:solidFill>
              <a:srgbClr val="2E8B57"/>
            </a:solidFill>
            <a:prstDash val="solid"/>
          </a:ln>
        </p:spPr>
      </p:sp>
      <p:sp>
        <p:nvSpPr>
          <p:cNvPr id="142" name="Shape 140"/>
          <p:cNvSpPr/>
          <p:nvPr/>
        </p:nvSpPr>
        <p:spPr>
          <a:xfrm>
            <a:off x="2174558" y="3553688"/>
            <a:ext cx="15716" cy="26699"/>
          </a:xfrm>
          <a:prstGeom prst="line">
            <a:avLst/>
          </a:prstGeom>
          <a:noFill/>
          <a:ln w="28575">
            <a:solidFill>
              <a:srgbClr val="2E8B57"/>
            </a:solidFill>
            <a:prstDash val="solid"/>
          </a:ln>
        </p:spPr>
      </p:sp>
      <p:sp>
        <p:nvSpPr>
          <p:cNvPr id="143" name="Shape 141"/>
          <p:cNvSpPr/>
          <p:nvPr/>
        </p:nvSpPr>
        <p:spPr>
          <a:xfrm>
            <a:off x="2190274" y="3580387"/>
            <a:ext cx="15716" cy="31493"/>
          </a:xfrm>
          <a:prstGeom prst="line">
            <a:avLst/>
          </a:prstGeom>
          <a:noFill/>
          <a:ln w="28575">
            <a:solidFill>
              <a:srgbClr val="2E8B57"/>
            </a:solidFill>
            <a:prstDash val="solid"/>
          </a:ln>
        </p:spPr>
      </p:sp>
      <p:sp>
        <p:nvSpPr>
          <p:cNvPr id="144" name="Shape 142"/>
          <p:cNvSpPr/>
          <p:nvPr/>
        </p:nvSpPr>
        <p:spPr>
          <a:xfrm>
            <a:off x="2205990" y="3611880"/>
            <a:ext cx="15716" cy="31493"/>
          </a:xfrm>
          <a:prstGeom prst="line">
            <a:avLst/>
          </a:prstGeom>
          <a:noFill/>
          <a:ln w="28575">
            <a:solidFill>
              <a:srgbClr val="2E8B57"/>
            </a:solidFill>
            <a:prstDash val="solid"/>
          </a:ln>
        </p:spPr>
      </p:sp>
      <p:sp>
        <p:nvSpPr>
          <p:cNvPr id="145" name="Shape 143"/>
          <p:cNvSpPr/>
          <p:nvPr/>
        </p:nvSpPr>
        <p:spPr>
          <a:xfrm>
            <a:off x="2221706" y="3643373"/>
            <a:ext cx="15716" cy="26699"/>
          </a:xfrm>
          <a:prstGeom prst="line">
            <a:avLst/>
          </a:prstGeom>
          <a:noFill/>
          <a:ln w="28575">
            <a:solidFill>
              <a:srgbClr val="2E8B57"/>
            </a:solidFill>
            <a:prstDash val="solid"/>
          </a:ln>
        </p:spPr>
      </p:sp>
      <p:sp>
        <p:nvSpPr>
          <p:cNvPr id="146" name="Shape 144"/>
          <p:cNvSpPr/>
          <p:nvPr/>
        </p:nvSpPr>
        <p:spPr>
          <a:xfrm>
            <a:off x="2237423" y="3670072"/>
            <a:ext cx="15716" cy="17840"/>
          </a:xfrm>
          <a:prstGeom prst="line">
            <a:avLst/>
          </a:prstGeom>
          <a:noFill/>
          <a:ln w="28575">
            <a:solidFill>
              <a:srgbClr val="2E8B57"/>
            </a:solidFill>
            <a:prstDash val="solid"/>
          </a:ln>
        </p:spPr>
      </p:sp>
      <p:sp>
        <p:nvSpPr>
          <p:cNvPr id="147" name="Shape 145"/>
          <p:cNvSpPr/>
          <p:nvPr/>
        </p:nvSpPr>
        <p:spPr>
          <a:xfrm>
            <a:off x="2253139" y="3687912"/>
            <a:ext cx="15716" cy="6264"/>
          </a:xfrm>
          <a:prstGeom prst="line">
            <a:avLst/>
          </a:prstGeom>
          <a:noFill/>
          <a:ln w="28575">
            <a:solidFill>
              <a:srgbClr val="2E8B57"/>
            </a:solidFill>
            <a:prstDash val="solid"/>
          </a:ln>
        </p:spPr>
      </p:sp>
      <p:sp>
        <p:nvSpPr>
          <p:cNvPr id="148" name="Shape 146"/>
          <p:cNvSpPr/>
          <p:nvPr/>
        </p:nvSpPr>
        <p:spPr>
          <a:xfrm flipV="1">
            <a:off x="2268855" y="3687912"/>
            <a:ext cx="15716" cy="6264"/>
          </a:xfrm>
          <a:prstGeom prst="line">
            <a:avLst/>
          </a:prstGeom>
          <a:noFill/>
          <a:ln w="28575">
            <a:solidFill>
              <a:srgbClr val="2E8B57"/>
            </a:solidFill>
            <a:prstDash val="solid"/>
          </a:ln>
        </p:spPr>
      </p:sp>
      <p:sp>
        <p:nvSpPr>
          <p:cNvPr id="149" name="Shape 147"/>
          <p:cNvSpPr/>
          <p:nvPr/>
        </p:nvSpPr>
        <p:spPr>
          <a:xfrm flipV="1">
            <a:off x="2284571" y="3670072"/>
            <a:ext cx="15716" cy="17840"/>
          </a:xfrm>
          <a:prstGeom prst="line">
            <a:avLst/>
          </a:prstGeom>
          <a:noFill/>
          <a:ln w="28575">
            <a:solidFill>
              <a:srgbClr val="2E8B57"/>
            </a:solidFill>
            <a:prstDash val="solid"/>
          </a:ln>
        </p:spPr>
      </p:sp>
      <p:sp>
        <p:nvSpPr>
          <p:cNvPr id="150" name="Shape 148"/>
          <p:cNvSpPr/>
          <p:nvPr/>
        </p:nvSpPr>
        <p:spPr>
          <a:xfrm flipV="1">
            <a:off x="2300288" y="3643373"/>
            <a:ext cx="15716" cy="26699"/>
          </a:xfrm>
          <a:prstGeom prst="line">
            <a:avLst/>
          </a:prstGeom>
          <a:noFill/>
          <a:ln w="28575">
            <a:solidFill>
              <a:srgbClr val="2E8B57"/>
            </a:solidFill>
            <a:prstDash val="solid"/>
          </a:ln>
        </p:spPr>
      </p:sp>
      <p:sp>
        <p:nvSpPr>
          <p:cNvPr id="151" name="Shape 149"/>
          <p:cNvSpPr/>
          <p:nvPr/>
        </p:nvSpPr>
        <p:spPr>
          <a:xfrm flipV="1">
            <a:off x="2316004" y="3611880"/>
            <a:ext cx="15716" cy="31493"/>
          </a:xfrm>
          <a:prstGeom prst="line">
            <a:avLst/>
          </a:prstGeom>
          <a:noFill/>
          <a:ln w="28575">
            <a:solidFill>
              <a:srgbClr val="2E8B57"/>
            </a:solidFill>
            <a:prstDash val="solid"/>
          </a:ln>
        </p:spPr>
      </p:sp>
      <p:sp>
        <p:nvSpPr>
          <p:cNvPr id="152" name="Shape 150"/>
          <p:cNvSpPr/>
          <p:nvPr/>
        </p:nvSpPr>
        <p:spPr>
          <a:xfrm>
            <a:off x="2286000" y="3611880"/>
            <a:ext cx="182880" cy="91"/>
          </a:xfrm>
          <a:prstGeom prst="line">
            <a:avLst/>
          </a:prstGeom>
          <a:noFill/>
          <a:ln w="25400">
            <a:solidFill>
              <a:srgbClr val="2E8B57"/>
            </a:solidFill>
            <a:prstDash val="solid"/>
            <a:tailEnd type="triangle"/>
          </a:ln>
        </p:spPr>
      </p:sp>
      <p:sp>
        <p:nvSpPr>
          <p:cNvPr id="153" name="Text 151"/>
          <p:cNvSpPr/>
          <p:nvPr/>
        </p:nvSpPr>
        <p:spPr>
          <a:xfrm>
            <a:off x="2697480" y="3383280"/>
            <a:ext cx="356616" cy="212271"/>
          </a:xfrm>
          <a:prstGeom prst="rect">
            <a:avLst/>
          </a:prstGeom>
          <a:noFill/>
          <a:ln/>
        </p:spPr>
        <p:txBody>
          <a:bodyPr wrap="square" lIns="0" tIns="0" rIns="0" bIns="0" rtlCol="0" anchor="b"/>
          <a:lstStyle/>
          <a:p>
            <a:pPr algn="r" indent="0" marL="0">
              <a:buNone/>
            </a:pPr>
            <a:r>
              <a:rPr lang="en-US" sz="1248" b="1" dirty="0">
                <a:solidFill>
                  <a:srgbClr val="2E5BD8"/>
                </a:solidFill>
                <a:latin typeface="Calibri" pitchFamily="34" charset="0"/>
                <a:ea typeface="Calibri" pitchFamily="34" charset="-122"/>
                <a:cs typeface="Calibri" pitchFamily="34" charset="-120"/>
              </a:rPr>
              <a:t>0</a:t>
            </a:r>
            <a:endParaRPr lang="en-US" sz="1248" dirty="0"/>
          </a:p>
        </p:txBody>
      </p:sp>
      <p:sp>
        <p:nvSpPr>
          <p:cNvPr id="154" name="Text 152"/>
          <p:cNvSpPr/>
          <p:nvPr/>
        </p:nvSpPr>
        <p:spPr>
          <a:xfrm>
            <a:off x="2697480" y="3616779"/>
            <a:ext cx="356616" cy="212271"/>
          </a:xfrm>
          <a:prstGeom prst="rect">
            <a:avLst/>
          </a:prstGeom>
          <a:noFill/>
          <a:ln/>
        </p:spPr>
        <p:txBody>
          <a:bodyPr wrap="square" lIns="0" tIns="0" rIns="0" bIns="0" rtlCol="0" anchor="t"/>
          <a:lstStyle/>
          <a:p>
            <a:pPr algn="r" indent="0" marL="0">
              <a:buNone/>
            </a:pPr>
            <a:r>
              <a:rPr lang="en-US" sz="1248" b="1" dirty="0">
                <a:solidFill>
                  <a:srgbClr val="C8414C"/>
                </a:solidFill>
                <a:latin typeface="Calibri" pitchFamily="34" charset="0"/>
                <a:ea typeface="Calibri" pitchFamily="34" charset="-122"/>
                <a:cs typeface="Calibri" pitchFamily="34" charset="-120"/>
              </a:rPr>
              <a:t>0</a:t>
            </a:r>
            <a:endParaRPr lang="en-US" sz="1248" dirty="0"/>
          </a:p>
        </p:txBody>
      </p:sp>
      <p:sp>
        <p:nvSpPr>
          <p:cNvPr id="155" name="Text 153"/>
          <p:cNvSpPr/>
          <p:nvPr/>
        </p:nvSpPr>
        <p:spPr>
          <a:xfrm>
            <a:off x="3071078" y="3400262"/>
            <a:ext cx="373598" cy="424543"/>
          </a:xfrm>
          <a:prstGeom prst="rect">
            <a:avLst/>
          </a:prstGeom>
          <a:noFill/>
          <a:ln/>
        </p:spPr>
        <p:txBody>
          <a:bodyPr wrap="square" lIns="0" tIns="0" rIns="0" bIns="0" rtlCol="0" anchor="ctr"/>
          <a:lstStyle/>
          <a:p>
            <a:pPr algn="l" indent="0" marL="0">
              <a:buNone/>
            </a:pPr>
            <a:r>
              <a:rPr lang="en-US" sz="2600" b="1" dirty="0">
                <a:solidFill>
                  <a:srgbClr val="1A2340"/>
                </a:solidFill>
                <a:latin typeface="Georgia" pitchFamily="34" charset="0"/>
                <a:ea typeface="Georgia" pitchFamily="34" charset="-122"/>
                <a:cs typeface="Georgia" pitchFamily="34" charset="-120"/>
              </a:rPr>
              <a:t>γ</a:t>
            </a:r>
            <a:endParaRPr lang="en-US" sz="2600" dirty="0"/>
          </a:p>
        </p:txBody>
      </p:sp>
      <p:sp>
        <p:nvSpPr>
          <p:cNvPr id="156" name="Text 154"/>
          <p:cNvSpPr/>
          <p:nvPr/>
        </p:nvSpPr>
        <p:spPr>
          <a:xfrm>
            <a:off x="3657600" y="3319272"/>
            <a:ext cx="2240280" cy="25603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gamma ray  γ</a:t>
            </a:r>
            <a:endParaRPr lang="en-US" sz="1200" dirty="0"/>
          </a:p>
        </p:txBody>
      </p:sp>
      <p:sp>
        <p:nvSpPr>
          <p:cNvPr id="157" name="Text 155"/>
          <p:cNvSpPr/>
          <p:nvPr/>
        </p:nvSpPr>
        <p:spPr>
          <a:xfrm>
            <a:off x="3657600" y="3566160"/>
            <a:ext cx="2240280" cy="38404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high-frequency EM radiation</a:t>
            </a:r>
            <a:endParaRPr lang="en-US" sz="1050" dirty="0"/>
          </a:p>
        </p:txBody>
      </p:sp>
      <p:sp>
        <p:nvSpPr>
          <p:cNvPr id="158" name="Shape 156"/>
          <p:cNvSpPr/>
          <p:nvPr/>
        </p:nvSpPr>
        <p:spPr>
          <a:xfrm>
            <a:off x="875710" y="4243499"/>
            <a:ext cx="109728" cy="109728"/>
          </a:xfrm>
          <a:prstGeom prst="ellipse">
            <a:avLst/>
          </a:prstGeom>
          <a:solidFill>
            <a:srgbClr val="8C96A8"/>
          </a:solidFill>
          <a:ln w="6350">
            <a:solidFill>
              <a:srgbClr val="5A6275"/>
            </a:solidFill>
            <a:prstDash val="solid"/>
          </a:ln>
        </p:spPr>
      </p:sp>
      <p:sp>
        <p:nvSpPr>
          <p:cNvPr id="159" name="Shape 157"/>
          <p:cNvSpPr/>
          <p:nvPr/>
        </p:nvSpPr>
        <p:spPr>
          <a:xfrm>
            <a:off x="1083220" y="4294298"/>
            <a:ext cx="109728" cy="109728"/>
          </a:xfrm>
          <a:prstGeom prst="ellipse">
            <a:avLst/>
          </a:prstGeom>
          <a:solidFill>
            <a:srgbClr val="C8414C"/>
          </a:solidFill>
          <a:ln w="6350">
            <a:solidFill>
              <a:srgbClr val="8E2A33"/>
            </a:solidFill>
            <a:prstDash val="solid"/>
          </a:ln>
        </p:spPr>
      </p:sp>
      <p:sp>
        <p:nvSpPr>
          <p:cNvPr id="160" name="Shape 158"/>
          <p:cNvSpPr/>
          <p:nvPr/>
        </p:nvSpPr>
        <p:spPr>
          <a:xfrm>
            <a:off x="985424" y="4300087"/>
            <a:ext cx="109728" cy="109728"/>
          </a:xfrm>
          <a:prstGeom prst="ellipse">
            <a:avLst/>
          </a:prstGeom>
          <a:solidFill>
            <a:srgbClr val="8C96A8"/>
          </a:solidFill>
          <a:ln w="6350">
            <a:solidFill>
              <a:srgbClr val="5A6275"/>
            </a:solidFill>
            <a:prstDash val="solid"/>
          </a:ln>
        </p:spPr>
      </p:sp>
      <p:sp>
        <p:nvSpPr>
          <p:cNvPr id="161" name="Shape 159"/>
          <p:cNvSpPr/>
          <p:nvPr/>
        </p:nvSpPr>
        <p:spPr>
          <a:xfrm>
            <a:off x="831569" y="4329544"/>
            <a:ext cx="109728" cy="109728"/>
          </a:xfrm>
          <a:prstGeom prst="ellipse">
            <a:avLst/>
          </a:prstGeom>
          <a:solidFill>
            <a:srgbClr val="C8414C"/>
          </a:solidFill>
          <a:ln w="6350">
            <a:solidFill>
              <a:srgbClr val="8E2A33"/>
            </a:solidFill>
            <a:prstDash val="solid"/>
          </a:ln>
        </p:spPr>
      </p:sp>
      <p:sp>
        <p:nvSpPr>
          <p:cNvPr id="162" name="Shape 160"/>
          <p:cNvSpPr/>
          <p:nvPr/>
        </p:nvSpPr>
        <p:spPr>
          <a:xfrm>
            <a:off x="726683" y="4367938"/>
            <a:ext cx="109728" cy="109728"/>
          </a:xfrm>
          <a:prstGeom prst="ellipse">
            <a:avLst/>
          </a:prstGeom>
          <a:solidFill>
            <a:srgbClr val="C8414C"/>
          </a:solidFill>
          <a:ln w="6350">
            <a:solidFill>
              <a:srgbClr val="8E2A33"/>
            </a:solidFill>
            <a:prstDash val="solid"/>
          </a:ln>
        </p:spPr>
      </p:sp>
      <p:sp>
        <p:nvSpPr>
          <p:cNvPr id="163" name="Shape 161"/>
          <p:cNvSpPr/>
          <p:nvPr/>
        </p:nvSpPr>
        <p:spPr>
          <a:xfrm>
            <a:off x="913325" y="4379470"/>
            <a:ext cx="109728" cy="109728"/>
          </a:xfrm>
          <a:prstGeom prst="ellipse">
            <a:avLst/>
          </a:prstGeom>
          <a:solidFill>
            <a:srgbClr val="8C96A8"/>
          </a:solidFill>
          <a:ln w="6350">
            <a:solidFill>
              <a:srgbClr val="5A6275"/>
            </a:solidFill>
            <a:prstDash val="solid"/>
          </a:ln>
        </p:spPr>
      </p:sp>
      <p:sp>
        <p:nvSpPr>
          <p:cNvPr id="164" name="Shape 162"/>
          <p:cNvSpPr/>
          <p:nvPr/>
        </p:nvSpPr>
        <p:spPr>
          <a:xfrm>
            <a:off x="1020767" y="4397935"/>
            <a:ext cx="109728" cy="109728"/>
          </a:xfrm>
          <a:prstGeom prst="ellipse">
            <a:avLst/>
          </a:prstGeom>
          <a:solidFill>
            <a:srgbClr val="C8414C"/>
          </a:solidFill>
          <a:ln w="6350">
            <a:solidFill>
              <a:srgbClr val="8E2A33"/>
            </a:solidFill>
            <a:prstDash val="solid"/>
          </a:ln>
        </p:spPr>
      </p:sp>
      <p:sp>
        <p:nvSpPr>
          <p:cNvPr id="165" name="Shape 163"/>
          <p:cNvSpPr/>
          <p:nvPr/>
        </p:nvSpPr>
        <p:spPr>
          <a:xfrm>
            <a:off x="1114736" y="4425353"/>
            <a:ext cx="109728" cy="109728"/>
          </a:xfrm>
          <a:prstGeom prst="ellipse">
            <a:avLst/>
          </a:prstGeom>
          <a:solidFill>
            <a:srgbClr val="8C96A8"/>
          </a:solidFill>
          <a:ln w="6350">
            <a:solidFill>
              <a:srgbClr val="5A6275"/>
            </a:solidFill>
            <a:prstDash val="solid"/>
          </a:ln>
        </p:spPr>
      </p:sp>
      <p:sp>
        <p:nvSpPr>
          <p:cNvPr id="166" name="Shape 164"/>
          <p:cNvSpPr/>
          <p:nvPr/>
        </p:nvSpPr>
        <p:spPr>
          <a:xfrm>
            <a:off x="783316" y="4449848"/>
            <a:ext cx="109728" cy="109728"/>
          </a:xfrm>
          <a:prstGeom prst="ellipse">
            <a:avLst/>
          </a:prstGeom>
          <a:solidFill>
            <a:srgbClr val="8C96A8"/>
          </a:solidFill>
          <a:ln w="6350">
            <a:solidFill>
              <a:srgbClr val="5A6275"/>
            </a:solidFill>
            <a:prstDash val="solid"/>
          </a:ln>
        </p:spPr>
      </p:sp>
      <p:sp>
        <p:nvSpPr>
          <p:cNvPr id="167" name="Shape 165"/>
          <p:cNvSpPr/>
          <p:nvPr/>
        </p:nvSpPr>
        <p:spPr>
          <a:xfrm>
            <a:off x="946534" y="4471416"/>
            <a:ext cx="109728" cy="109728"/>
          </a:xfrm>
          <a:prstGeom prst="ellipse">
            <a:avLst/>
          </a:prstGeom>
          <a:solidFill>
            <a:srgbClr val="8C96A8"/>
          </a:solidFill>
          <a:ln w="6350">
            <a:solidFill>
              <a:srgbClr val="5A6275"/>
            </a:solidFill>
            <a:prstDash val="solid"/>
          </a:ln>
        </p:spPr>
      </p:sp>
      <p:sp>
        <p:nvSpPr>
          <p:cNvPr id="168" name="Shape 166"/>
          <p:cNvSpPr/>
          <p:nvPr/>
        </p:nvSpPr>
        <p:spPr>
          <a:xfrm>
            <a:off x="661264" y="4481519"/>
            <a:ext cx="109728" cy="109728"/>
          </a:xfrm>
          <a:prstGeom prst="ellipse">
            <a:avLst/>
          </a:prstGeom>
          <a:solidFill>
            <a:srgbClr val="8C96A8"/>
          </a:solidFill>
          <a:ln w="6350">
            <a:solidFill>
              <a:srgbClr val="5A6275"/>
            </a:solidFill>
            <a:prstDash val="solid"/>
          </a:ln>
        </p:spPr>
      </p:sp>
      <p:sp>
        <p:nvSpPr>
          <p:cNvPr id="169" name="Shape 167"/>
          <p:cNvSpPr/>
          <p:nvPr/>
        </p:nvSpPr>
        <p:spPr>
          <a:xfrm>
            <a:off x="852538" y="4519710"/>
            <a:ext cx="109728" cy="109728"/>
          </a:xfrm>
          <a:prstGeom prst="ellipse">
            <a:avLst/>
          </a:prstGeom>
          <a:solidFill>
            <a:srgbClr val="C8414C"/>
          </a:solidFill>
          <a:ln w="6350">
            <a:solidFill>
              <a:srgbClr val="8E2A33"/>
            </a:solidFill>
            <a:prstDash val="solid"/>
          </a:ln>
        </p:spPr>
      </p:sp>
      <p:sp>
        <p:nvSpPr>
          <p:cNvPr id="170" name="Shape 168"/>
          <p:cNvSpPr/>
          <p:nvPr/>
        </p:nvSpPr>
        <p:spPr>
          <a:xfrm>
            <a:off x="1065122" y="4529794"/>
            <a:ext cx="109728" cy="109728"/>
          </a:xfrm>
          <a:prstGeom prst="ellipse">
            <a:avLst/>
          </a:prstGeom>
          <a:solidFill>
            <a:srgbClr val="8C96A8"/>
          </a:solidFill>
          <a:ln w="6350">
            <a:solidFill>
              <a:srgbClr val="5A6275"/>
            </a:solidFill>
            <a:prstDash val="solid"/>
          </a:ln>
        </p:spPr>
      </p:sp>
      <p:sp>
        <p:nvSpPr>
          <p:cNvPr id="171" name="Shape 169"/>
          <p:cNvSpPr/>
          <p:nvPr/>
        </p:nvSpPr>
        <p:spPr>
          <a:xfrm>
            <a:off x="738945" y="4540072"/>
            <a:ext cx="109728" cy="109728"/>
          </a:xfrm>
          <a:prstGeom prst="ellipse">
            <a:avLst/>
          </a:prstGeom>
          <a:solidFill>
            <a:srgbClr val="C8414C"/>
          </a:solidFill>
          <a:ln w="6350">
            <a:solidFill>
              <a:srgbClr val="8E2A33"/>
            </a:solidFill>
            <a:prstDash val="solid"/>
          </a:ln>
        </p:spPr>
      </p:sp>
      <p:sp>
        <p:nvSpPr>
          <p:cNvPr id="172" name="Shape 170"/>
          <p:cNvSpPr/>
          <p:nvPr/>
        </p:nvSpPr>
        <p:spPr>
          <a:xfrm>
            <a:off x="971705" y="4558085"/>
            <a:ext cx="109728" cy="109728"/>
          </a:xfrm>
          <a:prstGeom prst="ellipse">
            <a:avLst/>
          </a:prstGeom>
          <a:solidFill>
            <a:srgbClr val="C8414C"/>
          </a:solidFill>
          <a:ln w="6350">
            <a:solidFill>
              <a:srgbClr val="8E2A33"/>
            </a:solidFill>
            <a:prstDash val="solid"/>
          </a:ln>
        </p:spPr>
      </p:sp>
      <p:sp>
        <p:nvSpPr>
          <p:cNvPr id="173" name="Shape 171"/>
          <p:cNvSpPr/>
          <p:nvPr/>
        </p:nvSpPr>
        <p:spPr>
          <a:xfrm>
            <a:off x="866622" y="4615143"/>
            <a:ext cx="109728" cy="109728"/>
          </a:xfrm>
          <a:prstGeom prst="ellipse">
            <a:avLst/>
          </a:prstGeom>
          <a:solidFill>
            <a:srgbClr val="8C96A8"/>
          </a:solidFill>
          <a:ln w="6350">
            <a:solidFill>
              <a:srgbClr val="5A6275"/>
            </a:solidFill>
            <a:prstDash val="solid"/>
          </a:ln>
        </p:spPr>
      </p:sp>
      <p:sp>
        <p:nvSpPr>
          <p:cNvPr id="174" name="Shape 172"/>
          <p:cNvSpPr/>
          <p:nvPr/>
        </p:nvSpPr>
        <p:spPr>
          <a:xfrm>
            <a:off x="1086579" y="4624219"/>
            <a:ext cx="109728" cy="109728"/>
          </a:xfrm>
          <a:prstGeom prst="ellipse">
            <a:avLst/>
          </a:prstGeom>
          <a:solidFill>
            <a:srgbClr val="C8414C"/>
          </a:solidFill>
          <a:ln w="6350">
            <a:solidFill>
              <a:srgbClr val="8E2A33"/>
            </a:solidFill>
            <a:prstDash val="solid"/>
          </a:ln>
        </p:spPr>
      </p:sp>
      <p:sp>
        <p:nvSpPr>
          <p:cNvPr id="175" name="Shape 173"/>
          <p:cNvSpPr/>
          <p:nvPr/>
        </p:nvSpPr>
        <p:spPr>
          <a:xfrm>
            <a:off x="777421" y="4653266"/>
            <a:ext cx="109728" cy="109728"/>
          </a:xfrm>
          <a:prstGeom prst="ellipse">
            <a:avLst/>
          </a:prstGeom>
          <a:solidFill>
            <a:srgbClr val="C8414C"/>
          </a:solidFill>
          <a:ln w="6350">
            <a:solidFill>
              <a:srgbClr val="8E2A33"/>
            </a:solidFill>
            <a:prstDash val="solid"/>
          </a:ln>
        </p:spPr>
      </p:sp>
      <p:sp>
        <p:nvSpPr>
          <p:cNvPr id="176" name="Shape 174"/>
          <p:cNvSpPr/>
          <p:nvPr/>
        </p:nvSpPr>
        <p:spPr>
          <a:xfrm>
            <a:off x="964509" y="4660300"/>
            <a:ext cx="109728" cy="109728"/>
          </a:xfrm>
          <a:prstGeom prst="ellipse">
            <a:avLst/>
          </a:prstGeom>
          <a:solidFill>
            <a:srgbClr val="8C96A8"/>
          </a:solidFill>
          <a:ln w="6350">
            <a:solidFill>
              <a:srgbClr val="5A6275"/>
            </a:solidFill>
            <a:prstDash val="solid"/>
          </a:ln>
        </p:spPr>
      </p:sp>
      <p:sp>
        <p:nvSpPr>
          <p:cNvPr id="177" name="Shape 175"/>
          <p:cNvSpPr/>
          <p:nvPr/>
        </p:nvSpPr>
        <p:spPr>
          <a:xfrm>
            <a:off x="893365" y="4728920"/>
            <a:ext cx="109728" cy="109728"/>
          </a:xfrm>
          <a:prstGeom prst="ellipse">
            <a:avLst/>
          </a:prstGeom>
          <a:solidFill>
            <a:srgbClr val="8C96A8"/>
          </a:solidFill>
          <a:ln w="6350">
            <a:solidFill>
              <a:srgbClr val="5A6275"/>
            </a:solidFill>
            <a:prstDash val="solid"/>
          </a:ln>
        </p:spPr>
      </p:sp>
      <p:sp>
        <p:nvSpPr>
          <p:cNvPr id="178" name="Shape 176"/>
          <p:cNvSpPr/>
          <p:nvPr/>
        </p:nvSpPr>
        <p:spPr>
          <a:xfrm>
            <a:off x="1325880" y="4526280"/>
            <a:ext cx="685800" cy="91"/>
          </a:xfrm>
          <a:prstGeom prst="line">
            <a:avLst/>
          </a:prstGeom>
          <a:noFill/>
          <a:ln w="25400">
            <a:solidFill>
              <a:srgbClr val="5A6275"/>
            </a:solidFill>
            <a:prstDash val="solid"/>
            <a:tailEnd type="triangle"/>
          </a:ln>
        </p:spPr>
      </p:sp>
      <p:sp>
        <p:nvSpPr>
          <p:cNvPr id="179" name="Shape 177"/>
          <p:cNvSpPr/>
          <p:nvPr/>
        </p:nvSpPr>
        <p:spPr>
          <a:xfrm>
            <a:off x="2125980" y="4457700"/>
            <a:ext cx="137160" cy="137160"/>
          </a:xfrm>
          <a:prstGeom prst="ellipse">
            <a:avLst/>
          </a:prstGeom>
          <a:solidFill>
            <a:srgbClr val="8C96A8"/>
          </a:solidFill>
          <a:ln w="9525">
            <a:solidFill>
              <a:srgbClr val="5A6275"/>
            </a:solidFill>
            <a:prstDash val="solid"/>
          </a:ln>
        </p:spPr>
      </p:sp>
      <p:sp>
        <p:nvSpPr>
          <p:cNvPr id="180" name="Text 178"/>
          <p:cNvSpPr/>
          <p:nvPr/>
        </p:nvSpPr>
        <p:spPr>
          <a:xfrm>
            <a:off x="2697480" y="4297680"/>
            <a:ext cx="356616" cy="212271"/>
          </a:xfrm>
          <a:prstGeom prst="rect">
            <a:avLst/>
          </a:prstGeom>
          <a:noFill/>
          <a:ln/>
        </p:spPr>
        <p:txBody>
          <a:bodyPr wrap="square" lIns="0" tIns="0" rIns="0" bIns="0" rtlCol="0" anchor="b"/>
          <a:lstStyle/>
          <a:p>
            <a:pPr algn="r" indent="0" marL="0">
              <a:buNone/>
            </a:pPr>
            <a:r>
              <a:rPr lang="en-US" sz="1248" b="1" dirty="0">
                <a:solidFill>
                  <a:srgbClr val="2E5BD8"/>
                </a:solidFill>
                <a:latin typeface="Calibri" pitchFamily="34" charset="0"/>
                <a:ea typeface="Calibri" pitchFamily="34" charset="-122"/>
                <a:cs typeface="Calibri" pitchFamily="34" charset="-120"/>
              </a:rPr>
              <a:t>1</a:t>
            </a:r>
            <a:endParaRPr lang="en-US" sz="1248" dirty="0"/>
          </a:p>
        </p:txBody>
      </p:sp>
      <p:sp>
        <p:nvSpPr>
          <p:cNvPr id="181" name="Text 179"/>
          <p:cNvSpPr/>
          <p:nvPr/>
        </p:nvSpPr>
        <p:spPr>
          <a:xfrm>
            <a:off x="2697480" y="4531179"/>
            <a:ext cx="356616" cy="212271"/>
          </a:xfrm>
          <a:prstGeom prst="rect">
            <a:avLst/>
          </a:prstGeom>
          <a:noFill/>
          <a:ln/>
        </p:spPr>
        <p:txBody>
          <a:bodyPr wrap="square" lIns="0" tIns="0" rIns="0" bIns="0" rtlCol="0" anchor="t"/>
          <a:lstStyle/>
          <a:p>
            <a:pPr algn="r" indent="0" marL="0">
              <a:buNone/>
            </a:pPr>
            <a:r>
              <a:rPr lang="en-US" sz="1248" b="1" dirty="0">
                <a:solidFill>
                  <a:srgbClr val="C8414C"/>
                </a:solidFill>
                <a:latin typeface="Calibri" pitchFamily="34" charset="0"/>
                <a:ea typeface="Calibri" pitchFamily="34" charset="-122"/>
                <a:cs typeface="Calibri" pitchFamily="34" charset="-120"/>
              </a:rPr>
              <a:t>0</a:t>
            </a:r>
            <a:endParaRPr lang="en-US" sz="1248" dirty="0"/>
          </a:p>
        </p:txBody>
      </p:sp>
      <p:sp>
        <p:nvSpPr>
          <p:cNvPr id="182" name="Text 180"/>
          <p:cNvSpPr/>
          <p:nvPr/>
        </p:nvSpPr>
        <p:spPr>
          <a:xfrm>
            <a:off x="3071078" y="4314662"/>
            <a:ext cx="373598" cy="424543"/>
          </a:xfrm>
          <a:prstGeom prst="rect">
            <a:avLst/>
          </a:prstGeom>
          <a:noFill/>
          <a:ln/>
        </p:spPr>
        <p:txBody>
          <a:bodyPr wrap="square" lIns="0" tIns="0" rIns="0" bIns="0" rtlCol="0" anchor="ctr"/>
          <a:lstStyle/>
          <a:p>
            <a:pPr algn="l" indent="0" marL="0">
              <a:buNone/>
            </a:pPr>
            <a:r>
              <a:rPr lang="en-US" sz="2600" b="1" dirty="0">
                <a:solidFill>
                  <a:srgbClr val="1A2340"/>
                </a:solidFill>
                <a:latin typeface="Georgia" pitchFamily="34" charset="0"/>
                <a:ea typeface="Georgia" pitchFamily="34" charset="-122"/>
                <a:cs typeface="Georgia" pitchFamily="34" charset="-120"/>
              </a:rPr>
              <a:t>n</a:t>
            </a:r>
            <a:endParaRPr lang="en-US" sz="2600" dirty="0"/>
          </a:p>
        </p:txBody>
      </p:sp>
      <p:sp>
        <p:nvSpPr>
          <p:cNvPr id="183" name="Text 181"/>
          <p:cNvSpPr/>
          <p:nvPr/>
        </p:nvSpPr>
        <p:spPr>
          <a:xfrm>
            <a:off x="3657600" y="4233672"/>
            <a:ext cx="2240280" cy="256032"/>
          </a:xfrm>
          <a:prstGeom prst="rect">
            <a:avLst/>
          </a:prstGeom>
          <a:noFill/>
          <a:ln/>
        </p:spPr>
        <p:txBody>
          <a:bodyPr wrap="square" lIns="0" tIns="0" rIns="0" bIns="0" rtlCol="0" anchor="ctr"/>
          <a:lstStyle/>
          <a:p>
            <a:pPr algn="l" indent="0" marL="0">
              <a:buNone/>
            </a:pPr>
            <a:r>
              <a:rPr lang="en-US" sz="1200" b="1" dirty="0">
                <a:solidFill>
                  <a:srgbClr val="5A6275"/>
                </a:solidFill>
                <a:latin typeface="Calibri" pitchFamily="34" charset="0"/>
                <a:ea typeface="Calibri" pitchFamily="34" charset="-122"/>
                <a:cs typeface="Calibri" pitchFamily="34" charset="-120"/>
              </a:rPr>
              <a:t>neutron  n</a:t>
            </a:r>
            <a:endParaRPr lang="en-US" sz="1200" dirty="0"/>
          </a:p>
        </p:txBody>
      </p:sp>
      <p:sp>
        <p:nvSpPr>
          <p:cNvPr id="184" name="Text 182"/>
          <p:cNvSpPr/>
          <p:nvPr/>
        </p:nvSpPr>
        <p:spPr>
          <a:xfrm>
            <a:off x="3657600" y="4480560"/>
            <a:ext cx="2240280" cy="38404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a neutron thrown out of the nucleus</a:t>
            </a:r>
            <a:endParaRPr lang="en-US" sz="1050" dirty="0"/>
          </a:p>
        </p:txBody>
      </p:sp>
      <p:sp>
        <p:nvSpPr>
          <p:cNvPr id="185" name="Shape 18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86" name="Text 18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Four kinds of emission</a:t>
            </a:r>
            <a:endParaRPr lang="en-US" sz="1300" dirty="0"/>
          </a:p>
        </p:txBody>
      </p:sp>
      <p:sp>
        <p:nvSpPr>
          <p:cNvPr id="187" name="Text 18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Alpha (α)</a:t>
            </a:r>
            <a:r>
              <a:rPr lang="en-US" sz="1150" dirty="0">
                <a:solidFill>
                  <a:srgbClr val="262B3A"/>
                </a:solidFill>
                <a:latin typeface="Calibri" pitchFamily="34" charset="0"/>
                <a:ea typeface="Calibri" pitchFamily="34" charset="-122"/>
                <a:cs typeface="Calibri" pitchFamily="34" charset="-120"/>
              </a:rPr>
              <a:t>: 2 protons and 2 neutrons, the same as a </a:t>
            </a:r>
            <a:r>
              <a:rPr lang="en-US" sz="1150" b="1" dirty="0">
                <a:solidFill>
                  <a:srgbClr val="262B3A"/>
                </a:solidFill>
                <a:latin typeface="Calibri" pitchFamily="34" charset="0"/>
                <a:ea typeface="Calibri" pitchFamily="34" charset="-122"/>
                <a:cs typeface="Calibri" pitchFamily="34" charset="-120"/>
              </a:rPr>
              <a:t>helium nucleus</a:t>
            </a:r>
            <a:r>
              <a:rPr lang="en-US" sz="1150" dirty="0">
                <a:solidFill>
                  <a:srgbClr val="262B3A"/>
                </a:solidFill>
                <a:latin typeface="Calibri" pitchFamily="34" charset="0"/>
                <a:ea typeface="Calibri" pitchFamily="34" charset="-122"/>
                <a:cs typeface="Calibri" pitchFamily="34" charset="-120"/>
              </a:rPr>
              <a:t>. Charge +2.</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Beta (β)</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high-speed electron</a:t>
            </a:r>
            <a:r>
              <a:rPr lang="en-US" sz="1150" dirty="0">
                <a:solidFill>
                  <a:srgbClr val="262B3A"/>
                </a:solidFill>
                <a:latin typeface="Calibri" pitchFamily="34" charset="0"/>
                <a:ea typeface="Calibri" pitchFamily="34" charset="-122"/>
                <a:cs typeface="Calibri" pitchFamily="34" charset="-120"/>
              </a:rPr>
              <a:t> from the nucleus. A neutron changes into a proton and an electron. Charge −1.</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 (γ)</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electromagnetic radiation</a:t>
            </a:r>
            <a:r>
              <a:rPr lang="en-US" sz="1150" dirty="0">
                <a:solidFill>
                  <a:srgbClr val="262B3A"/>
                </a:solidFill>
                <a:latin typeface="Calibri" pitchFamily="34" charset="0"/>
                <a:ea typeface="Calibri" pitchFamily="34" charset="-122"/>
                <a:cs typeface="Calibri" pitchFamily="34" charset="-120"/>
              </a:rPr>
              <a:t> of very high frequency. No mass, no charge. Often given out after α or β.</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Neutron (n)</a:t>
            </a:r>
            <a:r>
              <a:rPr lang="en-US" sz="1150" dirty="0">
                <a:solidFill>
                  <a:srgbClr val="262B3A"/>
                </a:solidFill>
                <a:latin typeface="Calibri" pitchFamily="34" charset="0"/>
                <a:ea typeface="Calibri" pitchFamily="34" charset="-122"/>
                <a:cs typeface="Calibri" pitchFamily="34" charset="-120"/>
              </a:rPr>
              <a:t>: no charge, relative mass 1.</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All of these are </a:t>
            </a:r>
            <a:r>
              <a:rPr lang="en-US" sz="1150" b="1" dirty="0">
                <a:solidFill>
                  <a:srgbClr val="262B3A"/>
                </a:solidFill>
                <a:latin typeface="Calibri" pitchFamily="34" charset="0"/>
                <a:ea typeface="Calibri" pitchFamily="34" charset="-122"/>
                <a:cs typeface="Calibri" pitchFamily="34" charset="-120"/>
              </a:rPr>
              <a:t>ionising radiation</a:t>
            </a:r>
            <a:r>
              <a:rPr lang="en-US" sz="1150" dirty="0">
                <a:solidFill>
                  <a:srgbClr val="262B3A"/>
                </a:solidFill>
                <a:latin typeface="Calibri" pitchFamily="34" charset="0"/>
                <a:ea typeface="Calibri" pitchFamily="34" charset="-122"/>
                <a:cs typeface="Calibri" pitchFamily="34" charset="-120"/>
              </a:rPr>
              <a:t> (P1.1).</a:t>
            </a:r>
            <a:endParaRPr lang="en-US" sz="1150" dirty="0"/>
          </a:p>
        </p:txBody>
      </p:sp>
      <p:sp>
        <p:nvSpPr>
          <p:cNvPr id="188" name="Shape 18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89" name="Text 18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Which emission?</a:t>
            </a:r>
            <a:endParaRPr lang="en-US" sz="1300" dirty="0"/>
          </a:p>
        </p:txBody>
      </p:sp>
      <p:sp>
        <p:nvSpPr>
          <p:cNvPr id="190" name="Text 188"/>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Has a charge of +2   </a:t>
            </a:r>
            <a:r>
              <a:rPr lang="en-US" sz="1100" b="1" dirty="0">
                <a:solidFill>
                  <a:srgbClr val="262B3A"/>
                </a:solidFill>
                <a:latin typeface="Calibri" pitchFamily="34" charset="0"/>
                <a:ea typeface="Calibri" pitchFamily="34" charset="-122"/>
                <a:cs typeface="Calibri" pitchFamily="34" charset="-120"/>
              </a:rPr>
              <a:t>alpha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Is an electron   </a:t>
            </a:r>
            <a:r>
              <a:rPr lang="en-US" sz="1100" b="1" dirty="0">
                <a:solidFill>
                  <a:srgbClr val="262B3A"/>
                </a:solidFill>
                <a:latin typeface="Calibri" pitchFamily="34" charset="0"/>
                <a:ea typeface="Calibri" pitchFamily="34" charset="-122"/>
                <a:cs typeface="Calibri" pitchFamily="34" charset="-120"/>
              </a:rPr>
              <a:t>beta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Has no mass and no charge   </a:t>
            </a:r>
            <a:r>
              <a:rPr lang="en-US" sz="1100" b="1" dirty="0">
                <a:solidFill>
                  <a:srgbClr val="262B3A"/>
                </a:solidFill>
                <a:latin typeface="Calibri" pitchFamily="34" charset="0"/>
                <a:ea typeface="Calibri" pitchFamily="34" charset="-122"/>
                <a:cs typeface="Calibri" pitchFamily="34" charset="-120"/>
              </a:rPr>
              <a:t>gamma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no charge but has mass → </a:t>
            </a:r>
            <a:r>
              <a:rPr lang="en-US" sz="1100" b="1" dirty="0">
                <a:solidFill>
                  <a:srgbClr val="C8414C"/>
                </a:solidFill>
                <a:latin typeface="Calibri" pitchFamily="34" charset="0"/>
                <a:ea typeface="Calibri" pitchFamily="34" charset="-122"/>
                <a:cs typeface="Calibri" pitchFamily="34" charset="-120"/>
              </a:rPr>
              <a:t>neutron</a:t>
            </a:r>
            <a:endParaRPr lang="en-US" sz="1100" dirty="0"/>
          </a:p>
        </p:txBody>
      </p:sp>
      <p:sp>
        <p:nvSpPr>
          <p:cNvPr id="191" name="Shape 189"/>
          <p:cNvSpPr/>
          <p:nvPr/>
        </p:nvSpPr>
        <p:spPr>
          <a:xfrm>
            <a:off x="411480" y="5833872"/>
            <a:ext cx="11368735" cy="530352"/>
          </a:xfrm>
          <a:prstGeom prst="rect">
            <a:avLst/>
          </a:prstGeom>
          <a:solidFill>
            <a:srgbClr val="FFF4E0"/>
          </a:solidFill>
          <a:ln w="6350">
            <a:solidFill>
              <a:srgbClr val="F1D9A8"/>
            </a:solidFill>
            <a:prstDash val="solid"/>
          </a:ln>
        </p:spPr>
      </p:sp>
      <p:sp>
        <p:nvSpPr>
          <p:cNvPr id="192" name="Shape 190"/>
          <p:cNvSpPr/>
          <p:nvPr/>
        </p:nvSpPr>
        <p:spPr>
          <a:xfrm>
            <a:off x="411480" y="5833872"/>
            <a:ext cx="82296" cy="530352"/>
          </a:xfrm>
          <a:prstGeom prst="rect">
            <a:avLst/>
          </a:prstGeom>
          <a:solidFill>
            <a:srgbClr val="E39A2F"/>
          </a:solidFill>
          <a:ln w="12700">
            <a:solidFill>
              <a:srgbClr val="E39A2F"/>
            </a:solidFill>
            <a:prstDash val="solid"/>
          </a:ln>
        </p:spPr>
      </p:sp>
      <p:sp>
        <p:nvSpPr>
          <p:cNvPr id="193" name="Text 19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nucleus emits a particle with a relative mass of 4. Name the particle and say what it is made of.</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How each emission changes the nucleus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P5.1.6 • changes in mass, charge or both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P5.1.6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starting from uranium-238 (Z = 92, A = 238), drawn on a Z–A grid</a:t>
            </a:r>
            <a:endParaRPr lang="en-US" sz="1000" dirty="0"/>
          </a:p>
        </p:txBody>
      </p:sp>
      <p:sp>
        <p:nvSpPr>
          <p:cNvPr id="10" name="Shape 8"/>
          <p:cNvSpPr/>
          <p:nvPr/>
        </p:nvSpPr>
        <p:spPr>
          <a:xfrm>
            <a:off x="1417320" y="1417320"/>
            <a:ext cx="4114800" cy="3337560"/>
          </a:xfrm>
          <a:prstGeom prst="rect">
            <a:avLst/>
          </a:prstGeom>
          <a:solidFill>
            <a:srgbClr val="FFFFFF"/>
          </a:solidFill>
          <a:ln/>
        </p:spPr>
      </p:sp>
      <p:sp>
        <p:nvSpPr>
          <p:cNvPr id="11" name="Shape 9"/>
          <p:cNvSpPr/>
          <p:nvPr/>
        </p:nvSpPr>
        <p:spPr>
          <a:xfrm>
            <a:off x="1417320" y="1417320"/>
            <a:ext cx="91" cy="3337560"/>
          </a:xfrm>
          <a:prstGeom prst="line">
            <a:avLst/>
          </a:prstGeom>
          <a:noFill/>
          <a:ln w="6350">
            <a:solidFill>
              <a:srgbClr val="C9D3E6"/>
            </a:solidFill>
            <a:prstDash val="solid"/>
          </a:ln>
        </p:spPr>
      </p:sp>
      <p:sp>
        <p:nvSpPr>
          <p:cNvPr id="12" name="Shape 10"/>
          <p:cNvSpPr/>
          <p:nvPr/>
        </p:nvSpPr>
        <p:spPr>
          <a:xfrm>
            <a:off x="2005149" y="1417320"/>
            <a:ext cx="91" cy="3337560"/>
          </a:xfrm>
          <a:prstGeom prst="line">
            <a:avLst/>
          </a:prstGeom>
          <a:noFill/>
          <a:ln w="6350">
            <a:solidFill>
              <a:srgbClr val="C9D3E6"/>
            </a:solidFill>
            <a:prstDash val="solid"/>
          </a:ln>
        </p:spPr>
      </p:sp>
      <p:sp>
        <p:nvSpPr>
          <p:cNvPr id="13" name="Shape 11"/>
          <p:cNvSpPr/>
          <p:nvPr/>
        </p:nvSpPr>
        <p:spPr>
          <a:xfrm>
            <a:off x="2592977" y="1417320"/>
            <a:ext cx="91" cy="3337560"/>
          </a:xfrm>
          <a:prstGeom prst="line">
            <a:avLst/>
          </a:prstGeom>
          <a:noFill/>
          <a:ln w="6350">
            <a:solidFill>
              <a:srgbClr val="C9D3E6"/>
            </a:solidFill>
            <a:prstDash val="solid"/>
          </a:ln>
        </p:spPr>
      </p:sp>
      <p:sp>
        <p:nvSpPr>
          <p:cNvPr id="14" name="Shape 12"/>
          <p:cNvSpPr/>
          <p:nvPr/>
        </p:nvSpPr>
        <p:spPr>
          <a:xfrm>
            <a:off x="3180806" y="1417320"/>
            <a:ext cx="91" cy="3337560"/>
          </a:xfrm>
          <a:prstGeom prst="line">
            <a:avLst/>
          </a:prstGeom>
          <a:noFill/>
          <a:ln w="6350">
            <a:solidFill>
              <a:srgbClr val="C9D3E6"/>
            </a:solidFill>
            <a:prstDash val="solid"/>
          </a:ln>
        </p:spPr>
      </p:sp>
      <p:sp>
        <p:nvSpPr>
          <p:cNvPr id="15" name="Shape 13"/>
          <p:cNvSpPr/>
          <p:nvPr/>
        </p:nvSpPr>
        <p:spPr>
          <a:xfrm>
            <a:off x="3768634" y="1417320"/>
            <a:ext cx="91" cy="3337560"/>
          </a:xfrm>
          <a:prstGeom prst="line">
            <a:avLst/>
          </a:prstGeom>
          <a:noFill/>
          <a:ln w="6350">
            <a:solidFill>
              <a:srgbClr val="C9D3E6"/>
            </a:solidFill>
            <a:prstDash val="solid"/>
          </a:ln>
        </p:spPr>
      </p:sp>
      <p:sp>
        <p:nvSpPr>
          <p:cNvPr id="16" name="Shape 14"/>
          <p:cNvSpPr/>
          <p:nvPr/>
        </p:nvSpPr>
        <p:spPr>
          <a:xfrm>
            <a:off x="4356463" y="1417320"/>
            <a:ext cx="91" cy="3337560"/>
          </a:xfrm>
          <a:prstGeom prst="line">
            <a:avLst/>
          </a:prstGeom>
          <a:noFill/>
          <a:ln w="6350">
            <a:solidFill>
              <a:srgbClr val="C9D3E6"/>
            </a:solidFill>
            <a:prstDash val="solid"/>
          </a:ln>
        </p:spPr>
      </p:sp>
      <p:sp>
        <p:nvSpPr>
          <p:cNvPr id="17" name="Shape 15"/>
          <p:cNvSpPr/>
          <p:nvPr/>
        </p:nvSpPr>
        <p:spPr>
          <a:xfrm>
            <a:off x="4944291" y="1417320"/>
            <a:ext cx="91" cy="3337560"/>
          </a:xfrm>
          <a:prstGeom prst="line">
            <a:avLst/>
          </a:prstGeom>
          <a:noFill/>
          <a:ln w="6350">
            <a:solidFill>
              <a:srgbClr val="C9D3E6"/>
            </a:solidFill>
            <a:prstDash val="solid"/>
          </a:ln>
        </p:spPr>
      </p:sp>
      <p:sp>
        <p:nvSpPr>
          <p:cNvPr id="18" name="Shape 16"/>
          <p:cNvSpPr/>
          <p:nvPr/>
        </p:nvSpPr>
        <p:spPr>
          <a:xfrm>
            <a:off x="5532120" y="1417320"/>
            <a:ext cx="91" cy="3337560"/>
          </a:xfrm>
          <a:prstGeom prst="line">
            <a:avLst/>
          </a:prstGeom>
          <a:noFill/>
          <a:ln w="6350">
            <a:solidFill>
              <a:srgbClr val="C9D3E6"/>
            </a:solidFill>
            <a:prstDash val="solid"/>
          </a:ln>
        </p:spPr>
      </p:sp>
      <p:sp>
        <p:nvSpPr>
          <p:cNvPr id="19" name="Shape 17"/>
          <p:cNvSpPr/>
          <p:nvPr/>
        </p:nvSpPr>
        <p:spPr>
          <a:xfrm>
            <a:off x="1417320" y="4754880"/>
            <a:ext cx="4114800" cy="91"/>
          </a:xfrm>
          <a:prstGeom prst="line">
            <a:avLst/>
          </a:prstGeom>
          <a:noFill/>
          <a:ln w="6350">
            <a:solidFill>
              <a:srgbClr val="C9D3E6"/>
            </a:solidFill>
            <a:prstDash val="solid"/>
          </a:ln>
        </p:spPr>
      </p:sp>
      <p:sp>
        <p:nvSpPr>
          <p:cNvPr id="20" name="Shape 18"/>
          <p:cNvSpPr/>
          <p:nvPr/>
        </p:nvSpPr>
        <p:spPr>
          <a:xfrm>
            <a:off x="1417320" y="4337685"/>
            <a:ext cx="4114800" cy="91"/>
          </a:xfrm>
          <a:prstGeom prst="line">
            <a:avLst/>
          </a:prstGeom>
          <a:noFill/>
          <a:ln w="6350">
            <a:solidFill>
              <a:srgbClr val="C9D3E6"/>
            </a:solidFill>
            <a:prstDash val="solid"/>
          </a:ln>
        </p:spPr>
      </p:sp>
      <p:sp>
        <p:nvSpPr>
          <p:cNvPr id="21" name="Shape 19"/>
          <p:cNvSpPr/>
          <p:nvPr/>
        </p:nvSpPr>
        <p:spPr>
          <a:xfrm>
            <a:off x="1417320" y="3920490"/>
            <a:ext cx="4114800" cy="91"/>
          </a:xfrm>
          <a:prstGeom prst="line">
            <a:avLst/>
          </a:prstGeom>
          <a:noFill/>
          <a:ln w="6350">
            <a:solidFill>
              <a:srgbClr val="C9D3E6"/>
            </a:solidFill>
            <a:prstDash val="solid"/>
          </a:ln>
        </p:spPr>
      </p:sp>
      <p:sp>
        <p:nvSpPr>
          <p:cNvPr id="22" name="Shape 20"/>
          <p:cNvSpPr/>
          <p:nvPr/>
        </p:nvSpPr>
        <p:spPr>
          <a:xfrm>
            <a:off x="1417320" y="3503295"/>
            <a:ext cx="4114800" cy="91"/>
          </a:xfrm>
          <a:prstGeom prst="line">
            <a:avLst/>
          </a:prstGeom>
          <a:noFill/>
          <a:ln w="6350">
            <a:solidFill>
              <a:srgbClr val="C9D3E6"/>
            </a:solidFill>
            <a:prstDash val="solid"/>
          </a:ln>
        </p:spPr>
      </p:sp>
      <p:sp>
        <p:nvSpPr>
          <p:cNvPr id="23" name="Shape 21"/>
          <p:cNvSpPr/>
          <p:nvPr/>
        </p:nvSpPr>
        <p:spPr>
          <a:xfrm>
            <a:off x="1417320" y="3086100"/>
            <a:ext cx="4114800" cy="91"/>
          </a:xfrm>
          <a:prstGeom prst="line">
            <a:avLst/>
          </a:prstGeom>
          <a:noFill/>
          <a:ln w="6350">
            <a:solidFill>
              <a:srgbClr val="C9D3E6"/>
            </a:solidFill>
            <a:prstDash val="solid"/>
          </a:ln>
        </p:spPr>
      </p:sp>
      <p:sp>
        <p:nvSpPr>
          <p:cNvPr id="24" name="Shape 22"/>
          <p:cNvSpPr/>
          <p:nvPr/>
        </p:nvSpPr>
        <p:spPr>
          <a:xfrm>
            <a:off x="1417320" y="2668905"/>
            <a:ext cx="4114800" cy="91"/>
          </a:xfrm>
          <a:prstGeom prst="line">
            <a:avLst/>
          </a:prstGeom>
          <a:noFill/>
          <a:ln w="6350">
            <a:solidFill>
              <a:srgbClr val="C9D3E6"/>
            </a:solidFill>
            <a:prstDash val="solid"/>
          </a:ln>
        </p:spPr>
      </p:sp>
      <p:sp>
        <p:nvSpPr>
          <p:cNvPr id="25" name="Shape 23"/>
          <p:cNvSpPr/>
          <p:nvPr/>
        </p:nvSpPr>
        <p:spPr>
          <a:xfrm>
            <a:off x="1417320" y="2251710"/>
            <a:ext cx="4114800" cy="91"/>
          </a:xfrm>
          <a:prstGeom prst="line">
            <a:avLst/>
          </a:prstGeom>
          <a:noFill/>
          <a:ln w="6350">
            <a:solidFill>
              <a:srgbClr val="C9D3E6"/>
            </a:solidFill>
            <a:prstDash val="solid"/>
          </a:ln>
        </p:spPr>
      </p:sp>
      <p:sp>
        <p:nvSpPr>
          <p:cNvPr id="26" name="Shape 24"/>
          <p:cNvSpPr/>
          <p:nvPr/>
        </p:nvSpPr>
        <p:spPr>
          <a:xfrm>
            <a:off x="1417320" y="1834515"/>
            <a:ext cx="4114800" cy="91"/>
          </a:xfrm>
          <a:prstGeom prst="line">
            <a:avLst/>
          </a:prstGeom>
          <a:noFill/>
          <a:ln w="6350">
            <a:solidFill>
              <a:srgbClr val="C9D3E6"/>
            </a:solidFill>
            <a:prstDash val="solid"/>
          </a:ln>
        </p:spPr>
      </p:sp>
      <p:sp>
        <p:nvSpPr>
          <p:cNvPr id="27" name="Shape 25"/>
          <p:cNvSpPr/>
          <p:nvPr/>
        </p:nvSpPr>
        <p:spPr>
          <a:xfrm>
            <a:off x="1417320" y="1417320"/>
            <a:ext cx="4114800" cy="91"/>
          </a:xfrm>
          <a:prstGeom prst="line">
            <a:avLst/>
          </a:prstGeom>
          <a:noFill/>
          <a:ln w="6350">
            <a:solidFill>
              <a:srgbClr val="C9D3E6"/>
            </a:solidFill>
            <a:prstDash val="solid"/>
          </a:ln>
        </p:spPr>
      </p:sp>
      <p:sp>
        <p:nvSpPr>
          <p:cNvPr id="28" name="Shape 26"/>
          <p:cNvSpPr/>
          <p:nvPr/>
        </p:nvSpPr>
        <p:spPr>
          <a:xfrm>
            <a:off x="1417320" y="4754880"/>
            <a:ext cx="4114800" cy="91"/>
          </a:xfrm>
          <a:prstGeom prst="line">
            <a:avLst/>
          </a:prstGeom>
          <a:noFill/>
          <a:ln w="19050">
            <a:solidFill>
              <a:srgbClr val="1A2340"/>
            </a:solidFill>
            <a:prstDash val="solid"/>
          </a:ln>
        </p:spPr>
      </p:sp>
      <p:sp>
        <p:nvSpPr>
          <p:cNvPr id="29" name="Shape 27"/>
          <p:cNvSpPr/>
          <p:nvPr/>
        </p:nvSpPr>
        <p:spPr>
          <a:xfrm flipV="1">
            <a:off x="1417320" y="1417320"/>
            <a:ext cx="91" cy="3337560"/>
          </a:xfrm>
          <a:prstGeom prst="line">
            <a:avLst/>
          </a:prstGeom>
          <a:noFill/>
          <a:ln w="19050">
            <a:solidFill>
              <a:srgbClr val="1A2340"/>
            </a:solidFill>
            <a:prstDash val="solid"/>
          </a:ln>
        </p:spPr>
      </p:sp>
      <p:sp>
        <p:nvSpPr>
          <p:cNvPr id="30" name="Shape 28"/>
          <p:cNvSpPr/>
          <p:nvPr/>
        </p:nvSpPr>
        <p:spPr>
          <a:xfrm>
            <a:off x="1417320" y="4754880"/>
            <a:ext cx="91" cy="54864"/>
          </a:xfrm>
          <a:prstGeom prst="line">
            <a:avLst/>
          </a:prstGeom>
          <a:noFill/>
          <a:ln w="12700">
            <a:solidFill>
              <a:srgbClr val="1A2340"/>
            </a:solidFill>
            <a:prstDash val="solid"/>
          </a:ln>
        </p:spPr>
      </p:sp>
      <p:sp>
        <p:nvSpPr>
          <p:cNvPr id="31" name="Text 29"/>
          <p:cNvSpPr/>
          <p:nvPr/>
        </p:nvSpPr>
        <p:spPr>
          <a:xfrm>
            <a:off x="114300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88</a:t>
            </a:r>
            <a:endParaRPr lang="en-US" sz="1000" dirty="0"/>
          </a:p>
        </p:txBody>
      </p:sp>
      <p:sp>
        <p:nvSpPr>
          <p:cNvPr id="32" name="Shape 30"/>
          <p:cNvSpPr/>
          <p:nvPr/>
        </p:nvSpPr>
        <p:spPr>
          <a:xfrm>
            <a:off x="2005149" y="4754880"/>
            <a:ext cx="91" cy="54864"/>
          </a:xfrm>
          <a:prstGeom prst="line">
            <a:avLst/>
          </a:prstGeom>
          <a:noFill/>
          <a:ln w="12700">
            <a:solidFill>
              <a:srgbClr val="1A2340"/>
            </a:solidFill>
            <a:prstDash val="solid"/>
          </a:ln>
        </p:spPr>
      </p:sp>
      <p:sp>
        <p:nvSpPr>
          <p:cNvPr id="33" name="Text 31"/>
          <p:cNvSpPr/>
          <p:nvPr/>
        </p:nvSpPr>
        <p:spPr>
          <a:xfrm>
            <a:off x="1730829"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89</a:t>
            </a:r>
            <a:endParaRPr lang="en-US" sz="1000" dirty="0"/>
          </a:p>
        </p:txBody>
      </p:sp>
      <p:sp>
        <p:nvSpPr>
          <p:cNvPr id="34" name="Shape 32"/>
          <p:cNvSpPr/>
          <p:nvPr/>
        </p:nvSpPr>
        <p:spPr>
          <a:xfrm>
            <a:off x="2592977" y="4754880"/>
            <a:ext cx="91" cy="54864"/>
          </a:xfrm>
          <a:prstGeom prst="line">
            <a:avLst/>
          </a:prstGeom>
          <a:noFill/>
          <a:ln w="12700">
            <a:solidFill>
              <a:srgbClr val="1A2340"/>
            </a:solidFill>
            <a:prstDash val="solid"/>
          </a:ln>
        </p:spPr>
      </p:sp>
      <p:sp>
        <p:nvSpPr>
          <p:cNvPr id="35" name="Text 33"/>
          <p:cNvSpPr/>
          <p:nvPr/>
        </p:nvSpPr>
        <p:spPr>
          <a:xfrm>
            <a:off x="2318657"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36" name="Shape 34"/>
          <p:cNvSpPr/>
          <p:nvPr/>
        </p:nvSpPr>
        <p:spPr>
          <a:xfrm>
            <a:off x="3180806" y="4754880"/>
            <a:ext cx="91" cy="54864"/>
          </a:xfrm>
          <a:prstGeom prst="line">
            <a:avLst/>
          </a:prstGeom>
          <a:noFill/>
          <a:ln w="12700">
            <a:solidFill>
              <a:srgbClr val="1A2340"/>
            </a:solidFill>
            <a:prstDash val="solid"/>
          </a:ln>
        </p:spPr>
      </p:sp>
      <p:sp>
        <p:nvSpPr>
          <p:cNvPr id="37" name="Text 35"/>
          <p:cNvSpPr/>
          <p:nvPr/>
        </p:nvSpPr>
        <p:spPr>
          <a:xfrm>
            <a:off x="2906486"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91</a:t>
            </a:r>
            <a:endParaRPr lang="en-US" sz="1000" dirty="0"/>
          </a:p>
        </p:txBody>
      </p:sp>
      <p:sp>
        <p:nvSpPr>
          <p:cNvPr id="38" name="Shape 36"/>
          <p:cNvSpPr/>
          <p:nvPr/>
        </p:nvSpPr>
        <p:spPr>
          <a:xfrm>
            <a:off x="3768634" y="4754880"/>
            <a:ext cx="91" cy="54864"/>
          </a:xfrm>
          <a:prstGeom prst="line">
            <a:avLst/>
          </a:prstGeom>
          <a:noFill/>
          <a:ln w="12700">
            <a:solidFill>
              <a:srgbClr val="1A2340"/>
            </a:solidFill>
            <a:prstDash val="solid"/>
          </a:ln>
        </p:spPr>
      </p:sp>
      <p:sp>
        <p:nvSpPr>
          <p:cNvPr id="39" name="Text 37"/>
          <p:cNvSpPr/>
          <p:nvPr/>
        </p:nvSpPr>
        <p:spPr>
          <a:xfrm>
            <a:off x="3494314"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92</a:t>
            </a:r>
            <a:endParaRPr lang="en-US" sz="1000" dirty="0"/>
          </a:p>
        </p:txBody>
      </p:sp>
      <p:sp>
        <p:nvSpPr>
          <p:cNvPr id="40" name="Shape 38"/>
          <p:cNvSpPr/>
          <p:nvPr/>
        </p:nvSpPr>
        <p:spPr>
          <a:xfrm>
            <a:off x="4356463" y="4754880"/>
            <a:ext cx="91" cy="54864"/>
          </a:xfrm>
          <a:prstGeom prst="line">
            <a:avLst/>
          </a:prstGeom>
          <a:noFill/>
          <a:ln w="12700">
            <a:solidFill>
              <a:srgbClr val="1A2340"/>
            </a:solidFill>
            <a:prstDash val="solid"/>
          </a:ln>
        </p:spPr>
      </p:sp>
      <p:sp>
        <p:nvSpPr>
          <p:cNvPr id="41" name="Text 39"/>
          <p:cNvSpPr/>
          <p:nvPr/>
        </p:nvSpPr>
        <p:spPr>
          <a:xfrm>
            <a:off x="4082143"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93</a:t>
            </a:r>
            <a:endParaRPr lang="en-US" sz="1000" dirty="0"/>
          </a:p>
        </p:txBody>
      </p:sp>
      <p:sp>
        <p:nvSpPr>
          <p:cNvPr id="42" name="Shape 40"/>
          <p:cNvSpPr/>
          <p:nvPr/>
        </p:nvSpPr>
        <p:spPr>
          <a:xfrm>
            <a:off x="4944291" y="4754880"/>
            <a:ext cx="91" cy="54864"/>
          </a:xfrm>
          <a:prstGeom prst="line">
            <a:avLst/>
          </a:prstGeom>
          <a:noFill/>
          <a:ln w="12700">
            <a:solidFill>
              <a:srgbClr val="1A2340"/>
            </a:solidFill>
            <a:prstDash val="solid"/>
          </a:ln>
        </p:spPr>
      </p:sp>
      <p:sp>
        <p:nvSpPr>
          <p:cNvPr id="43" name="Text 41"/>
          <p:cNvSpPr/>
          <p:nvPr/>
        </p:nvSpPr>
        <p:spPr>
          <a:xfrm>
            <a:off x="4669971"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94</a:t>
            </a:r>
            <a:endParaRPr lang="en-US" sz="1000" dirty="0"/>
          </a:p>
        </p:txBody>
      </p:sp>
      <p:sp>
        <p:nvSpPr>
          <p:cNvPr id="44" name="Shape 42"/>
          <p:cNvSpPr/>
          <p:nvPr/>
        </p:nvSpPr>
        <p:spPr>
          <a:xfrm>
            <a:off x="5532120" y="4754880"/>
            <a:ext cx="91" cy="54864"/>
          </a:xfrm>
          <a:prstGeom prst="line">
            <a:avLst/>
          </a:prstGeom>
          <a:noFill/>
          <a:ln w="12700">
            <a:solidFill>
              <a:srgbClr val="1A2340"/>
            </a:solidFill>
            <a:prstDash val="solid"/>
          </a:ln>
        </p:spPr>
      </p:sp>
      <p:sp>
        <p:nvSpPr>
          <p:cNvPr id="45" name="Text 43"/>
          <p:cNvSpPr/>
          <p:nvPr/>
        </p:nvSpPr>
        <p:spPr>
          <a:xfrm>
            <a:off x="525780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95</a:t>
            </a:r>
            <a:endParaRPr lang="en-US" sz="1000" dirty="0"/>
          </a:p>
        </p:txBody>
      </p:sp>
      <p:sp>
        <p:nvSpPr>
          <p:cNvPr id="46" name="Shape 44"/>
          <p:cNvSpPr/>
          <p:nvPr/>
        </p:nvSpPr>
        <p:spPr>
          <a:xfrm>
            <a:off x="1362456" y="4754880"/>
            <a:ext cx="54864" cy="91"/>
          </a:xfrm>
          <a:prstGeom prst="line">
            <a:avLst/>
          </a:prstGeom>
          <a:noFill/>
          <a:ln w="12700">
            <a:solidFill>
              <a:srgbClr val="1A2340"/>
            </a:solidFill>
            <a:prstDash val="solid"/>
          </a:ln>
        </p:spPr>
      </p:sp>
      <p:sp>
        <p:nvSpPr>
          <p:cNvPr id="47" name="Text 45"/>
          <p:cNvSpPr/>
          <p:nvPr/>
        </p:nvSpPr>
        <p:spPr>
          <a:xfrm>
            <a:off x="978408" y="4663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232</a:t>
            </a:r>
            <a:endParaRPr lang="en-US" sz="1000" dirty="0"/>
          </a:p>
        </p:txBody>
      </p:sp>
      <p:sp>
        <p:nvSpPr>
          <p:cNvPr id="48" name="Shape 46"/>
          <p:cNvSpPr/>
          <p:nvPr/>
        </p:nvSpPr>
        <p:spPr>
          <a:xfrm>
            <a:off x="1362456" y="4337685"/>
            <a:ext cx="54864" cy="91"/>
          </a:xfrm>
          <a:prstGeom prst="line">
            <a:avLst/>
          </a:prstGeom>
          <a:noFill/>
          <a:ln w="12700">
            <a:solidFill>
              <a:srgbClr val="1A2340"/>
            </a:solidFill>
            <a:prstDash val="solid"/>
          </a:ln>
        </p:spPr>
      </p:sp>
      <p:sp>
        <p:nvSpPr>
          <p:cNvPr id="49" name="Text 47"/>
          <p:cNvSpPr/>
          <p:nvPr/>
        </p:nvSpPr>
        <p:spPr>
          <a:xfrm>
            <a:off x="978408" y="424624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233</a:t>
            </a:r>
            <a:endParaRPr lang="en-US" sz="1000" dirty="0"/>
          </a:p>
        </p:txBody>
      </p:sp>
      <p:sp>
        <p:nvSpPr>
          <p:cNvPr id="50" name="Shape 48"/>
          <p:cNvSpPr/>
          <p:nvPr/>
        </p:nvSpPr>
        <p:spPr>
          <a:xfrm>
            <a:off x="1362456" y="3920490"/>
            <a:ext cx="54864" cy="91"/>
          </a:xfrm>
          <a:prstGeom prst="line">
            <a:avLst/>
          </a:prstGeom>
          <a:noFill/>
          <a:ln w="12700">
            <a:solidFill>
              <a:srgbClr val="1A2340"/>
            </a:solidFill>
            <a:prstDash val="solid"/>
          </a:ln>
        </p:spPr>
      </p:sp>
      <p:sp>
        <p:nvSpPr>
          <p:cNvPr id="51" name="Text 49"/>
          <p:cNvSpPr/>
          <p:nvPr/>
        </p:nvSpPr>
        <p:spPr>
          <a:xfrm>
            <a:off x="978408" y="382905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234</a:t>
            </a:r>
            <a:endParaRPr lang="en-US" sz="1000" dirty="0"/>
          </a:p>
        </p:txBody>
      </p:sp>
      <p:sp>
        <p:nvSpPr>
          <p:cNvPr id="52" name="Shape 50"/>
          <p:cNvSpPr/>
          <p:nvPr/>
        </p:nvSpPr>
        <p:spPr>
          <a:xfrm>
            <a:off x="1362456" y="3503295"/>
            <a:ext cx="54864" cy="91"/>
          </a:xfrm>
          <a:prstGeom prst="line">
            <a:avLst/>
          </a:prstGeom>
          <a:noFill/>
          <a:ln w="12700">
            <a:solidFill>
              <a:srgbClr val="1A2340"/>
            </a:solidFill>
            <a:prstDash val="solid"/>
          </a:ln>
        </p:spPr>
      </p:sp>
      <p:sp>
        <p:nvSpPr>
          <p:cNvPr id="53" name="Text 51"/>
          <p:cNvSpPr/>
          <p:nvPr/>
        </p:nvSpPr>
        <p:spPr>
          <a:xfrm>
            <a:off x="978408" y="341185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235</a:t>
            </a:r>
            <a:endParaRPr lang="en-US" sz="1000" dirty="0"/>
          </a:p>
        </p:txBody>
      </p:sp>
      <p:sp>
        <p:nvSpPr>
          <p:cNvPr id="54" name="Shape 52"/>
          <p:cNvSpPr/>
          <p:nvPr/>
        </p:nvSpPr>
        <p:spPr>
          <a:xfrm>
            <a:off x="1362456" y="3086100"/>
            <a:ext cx="54864" cy="91"/>
          </a:xfrm>
          <a:prstGeom prst="line">
            <a:avLst/>
          </a:prstGeom>
          <a:noFill/>
          <a:ln w="12700">
            <a:solidFill>
              <a:srgbClr val="1A2340"/>
            </a:solidFill>
            <a:prstDash val="solid"/>
          </a:ln>
        </p:spPr>
      </p:sp>
      <p:sp>
        <p:nvSpPr>
          <p:cNvPr id="55" name="Text 53"/>
          <p:cNvSpPr/>
          <p:nvPr/>
        </p:nvSpPr>
        <p:spPr>
          <a:xfrm>
            <a:off x="978408" y="29946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236</a:t>
            </a:r>
            <a:endParaRPr lang="en-US" sz="1000" dirty="0"/>
          </a:p>
        </p:txBody>
      </p:sp>
      <p:sp>
        <p:nvSpPr>
          <p:cNvPr id="56" name="Shape 54"/>
          <p:cNvSpPr/>
          <p:nvPr/>
        </p:nvSpPr>
        <p:spPr>
          <a:xfrm>
            <a:off x="1362456" y="2668905"/>
            <a:ext cx="54864" cy="91"/>
          </a:xfrm>
          <a:prstGeom prst="line">
            <a:avLst/>
          </a:prstGeom>
          <a:noFill/>
          <a:ln w="12700">
            <a:solidFill>
              <a:srgbClr val="1A2340"/>
            </a:solidFill>
            <a:prstDash val="solid"/>
          </a:ln>
        </p:spPr>
      </p:sp>
      <p:sp>
        <p:nvSpPr>
          <p:cNvPr id="57" name="Text 55"/>
          <p:cNvSpPr/>
          <p:nvPr/>
        </p:nvSpPr>
        <p:spPr>
          <a:xfrm>
            <a:off x="978408" y="257746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237</a:t>
            </a:r>
            <a:endParaRPr lang="en-US" sz="1000" dirty="0"/>
          </a:p>
        </p:txBody>
      </p:sp>
      <p:sp>
        <p:nvSpPr>
          <p:cNvPr id="58" name="Shape 56"/>
          <p:cNvSpPr/>
          <p:nvPr/>
        </p:nvSpPr>
        <p:spPr>
          <a:xfrm>
            <a:off x="1362456" y="2251710"/>
            <a:ext cx="54864" cy="91"/>
          </a:xfrm>
          <a:prstGeom prst="line">
            <a:avLst/>
          </a:prstGeom>
          <a:noFill/>
          <a:ln w="12700">
            <a:solidFill>
              <a:srgbClr val="1A2340"/>
            </a:solidFill>
            <a:prstDash val="solid"/>
          </a:ln>
        </p:spPr>
      </p:sp>
      <p:sp>
        <p:nvSpPr>
          <p:cNvPr id="59" name="Text 57"/>
          <p:cNvSpPr/>
          <p:nvPr/>
        </p:nvSpPr>
        <p:spPr>
          <a:xfrm>
            <a:off x="978408" y="216027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238</a:t>
            </a:r>
            <a:endParaRPr lang="en-US" sz="1000" dirty="0"/>
          </a:p>
        </p:txBody>
      </p:sp>
      <p:sp>
        <p:nvSpPr>
          <p:cNvPr id="60" name="Shape 58"/>
          <p:cNvSpPr/>
          <p:nvPr/>
        </p:nvSpPr>
        <p:spPr>
          <a:xfrm>
            <a:off x="1362456" y="1834515"/>
            <a:ext cx="54864" cy="91"/>
          </a:xfrm>
          <a:prstGeom prst="line">
            <a:avLst/>
          </a:prstGeom>
          <a:noFill/>
          <a:ln w="12700">
            <a:solidFill>
              <a:srgbClr val="1A2340"/>
            </a:solidFill>
            <a:prstDash val="solid"/>
          </a:ln>
        </p:spPr>
      </p:sp>
      <p:sp>
        <p:nvSpPr>
          <p:cNvPr id="61" name="Text 59"/>
          <p:cNvSpPr/>
          <p:nvPr/>
        </p:nvSpPr>
        <p:spPr>
          <a:xfrm>
            <a:off x="978408" y="174307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239</a:t>
            </a:r>
            <a:endParaRPr lang="en-US" sz="1000" dirty="0"/>
          </a:p>
        </p:txBody>
      </p:sp>
      <p:sp>
        <p:nvSpPr>
          <p:cNvPr id="62" name="Shape 60"/>
          <p:cNvSpPr/>
          <p:nvPr/>
        </p:nvSpPr>
        <p:spPr>
          <a:xfrm>
            <a:off x="1362456" y="1417320"/>
            <a:ext cx="54864" cy="91"/>
          </a:xfrm>
          <a:prstGeom prst="line">
            <a:avLst/>
          </a:prstGeom>
          <a:noFill/>
          <a:ln w="12700">
            <a:solidFill>
              <a:srgbClr val="1A2340"/>
            </a:solidFill>
            <a:prstDash val="solid"/>
          </a:ln>
        </p:spPr>
      </p:sp>
      <p:sp>
        <p:nvSpPr>
          <p:cNvPr id="63" name="Text 61"/>
          <p:cNvSpPr/>
          <p:nvPr/>
        </p:nvSpPr>
        <p:spPr>
          <a:xfrm>
            <a:off x="97840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240</a:t>
            </a:r>
            <a:endParaRPr lang="en-US" sz="1000" dirty="0"/>
          </a:p>
        </p:txBody>
      </p:sp>
      <p:sp>
        <p:nvSpPr>
          <p:cNvPr id="64" name="Text 62"/>
          <p:cNvSpPr/>
          <p:nvPr/>
        </p:nvSpPr>
        <p:spPr>
          <a:xfrm>
            <a:off x="1417320" y="5001768"/>
            <a:ext cx="41148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atomic number Z (protons)</a:t>
            </a:r>
            <a:endParaRPr lang="en-US" sz="1050" dirty="0"/>
          </a:p>
        </p:txBody>
      </p:sp>
      <p:sp>
        <p:nvSpPr>
          <p:cNvPr id="65" name="Text 63"/>
          <p:cNvSpPr/>
          <p:nvPr/>
        </p:nvSpPr>
        <p:spPr>
          <a:xfrm rot="16200000">
            <a:off x="-818388" y="2958084"/>
            <a:ext cx="3337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number A</a:t>
            </a:r>
            <a:endParaRPr lang="en-US" sz="1050" dirty="0"/>
          </a:p>
        </p:txBody>
      </p:sp>
      <p:sp>
        <p:nvSpPr>
          <p:cNvPr id="66" name="Shape 64"/>
          <p:cNvSpPr/>
          <p:nvPr/>
        </p:nvSpPr>
        <p:spPr>
          <a:xfrm flipH="1">
            <a:off x="2592977" y="2251710"/>
            <a:ext cx="1175657" cy="1668780"/>
          </a:xfrm>
          <a:prstGeom prst="line">
            <a:avLst/>
          </a:prstGeom>
          <a:noFill/>
          <a:ln w="31750">
            <a:solidFill>
              <a:srgbClr val="C8414C"/>
            </a:solidFill>
            <a:prstDash val="solid"/>
            <a:tailEnd type="triangle"/>
          </a:ln>
        </p:spPr>
      </p:sp>
      <p:sp>
        <p:nvSpPr>
          <p:cNvPr id="67" name="Shape 65"/>
          <p:cNvSpPr/>
          <p:nvPr/>
        </p:nvSpPr>
        <p:spPr>
          <a:xfrm>
            <a:off x="3768634" y="2251710"/>
            <a:ext cx="587829" cy="91"/>
          </a:xfrm>
          <a:prstGeom prst="line">
            <a:avLst/>
          </a:prstGeom>
          <a:noFill/>
          <a:ln w="31750">
            <a:solidFill>
              <a:srgbClr val="2E5BD8"/>
            </a:solidFill>
            <a:prstDash val="solid"/>
            <a:tailEnd type="triangle"/>
          </a:ln>
        </p:spPr>
      </p:sp>
      <p:sp>
        <p:nvSpPr>
          <p:cNvPr id="68" name="Shape 66"/>
          <p:cNvSpPr/>
          <p:nvPr/>
        </p:nvSpPr>
        <p:spPr>
          <a:xfrm>
            <a:off x="3768634" y="2251710"/>
            <a:ext cx="91" cy="417195"/>
          </a:xfrm>
          <a:prstGeom prst="line">
            <a:avLst/>
          </a:prstGeom>
          <a:noFill/>
          <a:ln w="31750">
            <a:solidFill>
              <a:srgbClr val="5A6275"/>
            </a:solidFill>
            <a:prstDash val="solid"/>
            <a:tailEnd type="triangle"/>
          </a:ln>
        </p:spPr>
      </p:sp>
      <p:sp>
        <p:nvSpPr>
          <p:cNvPr id="69" name="Shape 67"/>
          <p:cNvSpPr/>
          <p:nvPr/>
        </p:nvSpPr>
        <p:spPr>
          <a:xfrm>
            <a:off x="2528969" y="3856482"/>
            <a:ext cx="128016" cy="128016"/>
          </a:xfrm>
          <a:prstGeom prst="ellipse">
            <a:avLst/>
          </a:prstGeom>
          <a:solidFill>
            <a:srgbClr val="C8414C"/>
          </a:solidFill>
          <a:ln w="9525">
            <a:solidFill>
              <a:srgbClr val="C8414C"/>
            </a:solidFill>
            <a:prstDash val="solid"/>
          </a:ln>
        </p:spPr>
      </p:sp>
      <p:sp>
        <p:nvSpPr>
          <p:cNvPr id="70" name="Shape 68"/>
          <p:cNvSpPr/>
          <p:nvPr/>
        </p:nvSpPr>
        <p:spPr>
          <a:xfrm>
            <a:off x="4292455" y="2187702"/>
            <a:ext cx="128016" cy="128016"/>
          </a:xfrm>
          <a:prstGeom prst="ellipse">
            <a:avLst/>
          </a:prstGeom>
          <a:solidFill>
            <a:srgbClr val="2E5BD8"/>
          </a:solidFill>
          <a:ln w="9525">
            <a:solidFill>
              <a:srgbClr val="2E5BD8"/>
            </a:solidFill>
            <a:prstDash val="solid"/>
          </a:ln>
        </p:spPr>
      </p:sp>
      <p:sp>
        <p:nvSpPr>
          <p:cNvPr id="71" name="Shape 69"/>
          <p:cNvSpPr/>
          <p:nvPr/>
        </p:nvSpPr>
        <p:spPr>
          <a:xfrm>
            <a:off x="3704626" y="2604897"/>
            <a:ext cx="128016" cy="128016"/>
          </a:xfrm>
          <a:prstGeom prst="ellipse">
            <a:avLst/>
          </a:prstGeom>
          <a:solidFill>
            <a:srgbClr val="5A6275"/>
          </a:solidFill>
          <a:ln w="9525">
            <a:solidFill>
              <a:srgbClr val="5A6275"/>
            </a:solidFill>
            <a:prstDash val="solid"/>
          </a:ln>
        </p:spPr>
      </p:sp>
      <p:sp>
        <p:nvSpPr>
          <p:cNvPr id="72" name="Shape 70"/>
          <p:cNvSpPr/>
          <p:nvPr/>
        </p:nvSpPr>
        <p:spPr>
          <a:xfrm>
            <a:off x="3686338" y="2169414"/>
            <a:ext cx="164592" cy="164592"/>
          </a:xfrm>
          <a:prstGeom prst="ellipse">
            <a:avLst/>
          </a:prstGeom>
          <a:solidFill>
            <a:srgbClr val="1A2340"/>
          </a:solidFill>
          <a:ln w="9525">
            <a:solidFill>
              <a:srgbClr val="1A2340"/>
            </a:solidFill>
            <a:prstDash val="solid"/>
          </a:ln>
        </p:spPr>
      </p:sp>
      <p:sp>
        <p:nvSpPr>
          <p:cNvPr id="73" name="Shape 71"/>
          <p:cNvSpPr/>
          <p:nvPr/>
        </p:nvSpPr>
        <p:spPr>
          <a:xfrm>
            <a:off x="3585754" y="2068830"/>
            <a:ext cx="365760" cy="365760"/>
          </a:xfrm>
          <a:prstGeom prst="ellipse">
            <a:avLst/>
          </a:prstGeom>
          <a:ln w="25400">
            <a:solidFill>
              <a:srgbClr val="2E8B57"/>
            </a:solidFill>
            <a:prstDash val="solid"/>
          </a:ln>
        </p:spPr>
      </p:sp>
      <p:sp>
        <p:nvSpPr>
          <p:cNvPr id="74" name="Text 72"/>
          <p:cNvSpPr/>
          <p:nvPr/>
        </p:nvSpPr>
        <p:spPr>
          <a:xfrm>
            <a:off x="2305594" y="1949958"/>
            <a:ext cx="1280160" cy="256032"/>
          </a:xfrm>
          <a:prstGeom prst="rect">
            <a:avLst/>
          </a:prstGeom>
          <a:noFill/>
          <a:ln/>
        </p:spPr>
        <p:txBody>
          <a:bodyPr wrap="square" lIns="0" tIns="0" rIns="0" bIns="0" rtlCol="0" anchor="ctr"/>
          <a:lstStyle/>
          <a:p>
            <a:pPr algn="r" indent="0" marL="0">
              <a:buNone/>
            </a:pPr>
            <a:r>
              <a:rPr lang="en-US" sz="1100" b="1" dirty="0">
                <a:solidFill>
                  <a:srgbClr val="262B3A"/>
                </a:solidFill>
                <a:latin typeface="Calibri" pitchFamily="34" charset="0"/>
                <a:ea typeface="Calibri" pitchFamily="34" charset="-122"/>
                <a:cs typeface="Calibri" pitchFamily="34" charset="-120"/>
              </a:rPr>
              <a:t>U-238</a:t>
            </a:r>
            <a:endParaRPr lang="en-US" sz="1100" dirty="0"/>
          </a:p>
        </p:txBody>
      </p:sp>
      <p:sp>
        <p:nvSpPr>
          <p:cNvPr id="75" name="Text 73"/>
          <p:cNvSpPr/>
          <p:nvPr/>
        </p:nvSpPr>
        <p:spPr>
          <a:xfrm>
            <a:off x="3878362" y="1812798"/>
            <a:ext cx="128016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γ: stays put</a:t>
            </a:r>
            <a:endParaRPr lang="en-US" sz="1050" dirty="0"/>
          </a:p>
        </p:txBody>
      </p:sp>
      <p:sp>
        <p:nvSpPr>
          <p:cNvPr id="76" name="Text 74"/>
          <p:cNvSpPr/>
          <p:nvPr/>
        </p:nvSpPr>
        <p:spPr>
          <a:xfrm>
            <a:off x="2410097" y="3993642"/>
            <a:ext cx="164592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α: Z − 2, A − 4</a:t>
            </a:r>
            <a:endParaRPr lang="en-US" sz="1050" dirty="0"/>
          </a:p>
        </p:txBody>
      </p:sp>
      <p:sp>
        <p:nvSpPr>
          <p:cNvPr id="77" name="Text 75"/>
          <p:cNvSpPr/>
          <p:nvPr/>
        </p:nvSpPr>
        <p:spPr>
          <a:xfrm>
            <a:off x="3350623" y="2343150"/>
            <a:ext cx="1188720" cy="256032"/>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β: Z + 1</a:t>
            </a:r>
            <a:endParaRPr lang="en-US" sz="1050" dirty="0"/>
          </a:p>
        </p:txBody>
      </p:sp>
      <p:sp>
        <p:nvSpPr>
          <p:cNvPr id="78" name="Text 76"/>
          <p:cNvSpPr/>
          <p:nvPr/>
        </p:nvSpPr>
        <p:spPr>
          <a:xfrm>
            <a:off x="3860074" y="2668905"/>
            <a:ext cx="1097280" cy="256032"/>
          </a:xfrm>
          <a:prstGeom prst="rect">
            <a:avLst/>
          </a:prstGeom>
          <a:noFill/>
          <a:ln/>
        </p:spPr>
        <p:txBody>
          <a:bodyPr wrap="square" lIns="0" tIns="0" rIns="0" bIns="0" rtlCol="0" anchor="ctr"/>
          <a:lstStyle/>
          <a:p>
            <a:pPr algn="l" indent="0" marL="0">
              <a:buNone/>
            </a:pPr>
            <a:r>
              <a:rPr lang="en-US" sz="1050" b="1" dirty="0">
                <a:solidFill>
                  <a:srgbClr val="5A6275"/>
                </a:solidFill>
                <a:latin typeface="Calibri" pitchFamily="34" charset="0"/>
                <a:ea typeface="Calibri" pitchFamily="34" charset="-122"/>
                <a:cs typeface="Calibri" pitchFamily="34" charset="-120"/>
              </a:rPr>
              <a:t>n: A − 1</a:t>
            </a:r>
            <a:endParaRPr lang="en-US" sz="1050" dirty="0"/>
          </a:p>
        </p:txBody>
      </p:sp>
      <p:sp>
        <p:nvSpPr>
          <p:cNvPr id="79" name="Shape 7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0" name="Text 7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Mass number A and atomic number Z</a:t>
            </a:r>
            <a:endParaRPr lang="en-US" sz="1300" dirty="0"/>
          </a:p>
        </p:txBody>
      </p:sp>
      <p:sp>
        <p:nvSpPr>
          <p:cNvPr id="81" name="Text 7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A falls by </a:t>
            </a:r>
            <a:r>
              <a:rPr lang="en-US" sz="1150" b="1" dirty="0">
                <a:solidFill>
                  <a:srgbClr val="262B3A"/>
                </a:solidFill>
                <a:latin typeface="Calibri" pitchFamily="34" charset="0"/>
                <a:ea typeface="Calibri" pitchFamily="34" charset="-122"/>
                <a:cs typeface="Calibri" pitchFamily="34" charset="-120"/>
              </a:rPr>
              <a:t>4</a:t>
            </a:r>
            <a:r>
              <a:rPr lang="en-US" sz="1150" dirty="0">
                <a:solidFill>
                  <a:srgbClr val="262B3A"/>
                </a:solidFill>
                <a:latin typeface="Calibri" pitchFamily="34" charset="0"/>
                <a:ea typeface="Calibri" pitchFamily="34" charset="-122"/>
                <a:cs typeface="Calibri" pitchFamily="34" charset="-120"/>
              </a:rPr>
              <a:t>, Z falls by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 a </a:t>
            </a:r>
            <a:r>
              <a:rPr lang="en-US" sz="1150" b="1" dirty="0">
                <a:solidFill>
                  <a:srgbClr val="262B3A"/>
                </a:solidFill>
                <a:latin typeface="Calibri" pitchFamily="34" charset="0"/>
                <a:ea typeface="Calibri" pitchFamily="34" charset="-122"/>
                <a:cs typeface="Calibri" pitchFamily="34" charset="-120"/>
              </a:rPr>
              <a:t>new element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unchanged</a:t>
            </a:r>
            <a:r>
              <a:rPr lang="en-US" sz="1150" dirty="0">
                <a:solidFill>
                  <a:srgbClr val="262B3A"/>
                </a:solidFill>
                <a:latin typeface="Calibri" pitchFamily="34" charset="0"/>
                <a:ea typeface="Calibri" pitchFamily="34" charset="-122"/>
                <a:cs typeface="Calibri" pitchFamily="34" charset="-120"/>
              </a:rPr>
              <a:t>, Z rises by </a:t>
            </a:r>
            <a:r>
              <a:rPr lang="en-US" sz="1150" b="1"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 (a neutron becomes a proton) → a </a:t>
            </a:r>
            <a:r>
              <a:rPr lang="en-US" sz="1150" b="1" dirty="0">
                <a:solidFill>
                  <a:srgbClr val="262B3A"/>
                </a:solidFill>
                <a:latin typeface="Calibri" pitchFamily="34" charset="0"/>
                <a:ea typeface="Calibri" pitchFamily="34" charset="-122"/>
                <a:cs typeface="Calibri" pitchFamily="34" charset="-120"/>
              </a:rPr>
              <a:t>new element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A and Z </a:t>
            </a:r>
            <a:r>
              <a:rPr lang="en-US" sz="1150" b="1" dirty="0">
                <a:solidFill>
                  <a:srgbClr val="262B3A"/>
                </a:solidFill>
                <a:latin typeface="Calibri" pitchFamily="34" charset="0"/>
                <a:ea typeface="Calibri" pitchFamily="34" charset="-122"/>
                <a:cs typeface="Calibri" pitchFamily="34" charset="-120"/>
              </a:rPr>
              <a:t>unchanged</a:t>
            </a:r>
            <a:r>
              <a:rPr lang="en-US" sz="1150" dirty="0">
                <a:solidFill>
                  <a:srgbClr val="262B3A"/>
                </a:solidFill>
                <a:latin typeface="Calibri" pitchFamily="34" charset="0"/>
                <a:ea typeface="Calibri" pitchFamily="34" charset="-122"/>
                <a:cs typeface="Calibri" pitchFamily="34" charset="-120"/>
              </a:rPr>
              <a:t>; the nucleus just loses energy.</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Neutron</a:t>
            </a:r>
            <a:r>
              <a:rPr lang="en-US" sz="1150" dirty="0">
                <a:solidFill>
                  <a:srgbClr val="262B3A"/>
                </a:solidFill>
                <a:latin typeface="Calibri" pitchFamily="34" charset="0"/>
                <a:ea typeface="Calibri" pitchFamily="34" charset="-122"/>
                <a:cs typeface="Calibri" pitchFamily="34" charset="-120"/>
              </a:rPr>
              <a:t>: A falls by </a:t>
            </a:r>
            <a:r>
              <a:rPr lang="en-US" sz="1150" b="1"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 Z unchanged → a lighter </a:t>
            </a:r>
            <a:r>
              <a:rPr lang="en-US" sz="1150" b="1" dirty="0">
                <a:solidFill>
                  <a:srgbClr val="262B3A"/>
                </a:solidFill>
                <a:latin typeface="Calibri" pitchFamily="34" charset="0"/>
                <a:ea typeface="Calibri" pitchFamily="34" charset="-122"/>
                <a:cs typeface="Calibri" pitchFamily="34" charset="-120"/>
              </a:rPr>
              <a:t>isotope of the same element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change in A is a change in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a change in Z is a change in </a:t>
            </a:r>
            <a:r>
              <a:rPr lang="en-US" sz="1150" b="1" dirty="0">
                <a:solidFill>
                  <a:srgbClr val="262B3A"/>
                </a:solidFill>
                <a:latin typeface="Calibri" pitchFamily="34" charset="0"/>
                <a:ea typeface="Calibri" pitchFamily="34" charset="-122"/>
                <a:cs typeface="Calibri" pitchFamily="34" charset="-120"/>
              </a:rPr>
              <a:t>charge</a:t>
            </a:r>
            <a:r>
              <a:rPr lang="en-US" sz="1150" dirty="0">
                <a:solidFill>
                  <a:srgbClr val="262B3A"/>
                </a:solidFill>
                <a:latin typeface="Calibri" pitchFamily="34" charset="0"/>
                <a:ea typeface="Calibri" pitchFamily="34" charset="-122"/>
                <a:cs typeface="Calibri" pitchFamily="34" charset="-120"/>
              </a:rPr>
              <a:t> (+Z).</a:t>
            </a:r>
            <a:endParaRPr lang="en-US" sz="1150" dirty="0"/>
          </a:p>
        </p:txBody>
      </p:sp>
      <p:sp>
        <p:nvSpPr>
          <p:cNvPr id="82" name="Shape 8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3" name="Text 8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84" name="Text 82"/>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Thorium-234 (Z = 90) emits a beta particle. What is the new nucleus?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Mass number   </a:t>
            </a:r>
            <a:r>
              <a:rPr lang="en-US" sz="1100" dirty="0">
                <a:solidFill>
                  <a:srgbClr val="262B3A"/>
                </a:solidFill>
                <a:latin typeface="Calibri" pitchFamily="34" charset="0"/>
                <a:ea typeface="Calibri" pitchFamily="34" charset="-122"/>
                <a:cs typeface="Calibri" pitchFamily="34" charset="-120"/>
              </a:rPr>
              <a:t>unchanged: A = 234</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Atomic number   </a:t>
            </a:r>
            <a:r>
              <a:rPr lang="en-US" sz="1100" dirty="0">
                <a:solidFill>
                  <a:srgbClr val="262B3A"/>
                </a:solidFill>
                <a:latin typeface="Calibri" pitchFamily="34" charset="0"/>
                <a:ea typeface="Calibri" pitchFamily="34" charset="-122"/>
                <a:cs typeface="Calibri" pitchFamily="34" charset="-120"/>
              </a:rPr>
              <a:t>Z = 90 + 1 = 91</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Element   </a:t>
            </a:r>
            <a:r>
              <a:rPr lang="en-US" sz="1100" dirty="0">
                <a:solidFill>
                  <a:srgbClr val="262B3A"/>
                </a:solidFill>
                <a:latin typeface="Calibri" pitchFamily="34" charset="0"/>
                <a:ea typeface="Calibri" pitchFamily="34" charset="-122"/>
                <a:cs typeface="Calibri" pitchFamily="34" charset="-120"/>
              </a:rPr>
              <a:t>Z = 91 is protactinium (Pa)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baseline="30000" dirty="0">
                <a:solidFill>
                  <a:srgbClr val="C8414C"/>
                </a:solidFill>
                <a:latin typeface="Calibri" pitchFamily="34" charset="0"/>
                <a:ea typeface="Calibri" pitchFamily="34" charset="-122"/>
                <a:cs typeface="Calibri" pitchFamily="34" charset="-120"/>
              </a:rPr>
              <a:t>234</a:t>
            </a:r>
            <a:r>
              <a:rPr lang="en-US" sz="1100" b="1" baseline="-40000" dirty="0">
                <a:solidFill>
                  <a:srgbClr val="C8414C"/>
                </a:solidFill>
                <a:latin typeface="Calibri" pitchFamily="34" charset="0"/>
                <a:ea typeface="Calibri" pitchFamily="34" charset="-122"/>
                <a:cs typeface="Calibri" pitchFamily="34" charset="-120"/>
              </a:rPr>
              <a:t>91</a:t>
            </a:r>
            <a:r>
              <a:rPr lang="en-US" sz="1100" b="1" dirty="0">
                <a:solidFill>
                  <a:srgbClr val="C8414C"/>
                </a:solidFill>
                <a:latin typeface="Calibri" pitchFamily="34" charset="0"/>
                <a:ea typeface="Calibri" pitchFamily="34" charset="-122"/>
                <a:cs typeface="Calibri" pitchFamily="34" charset="-120"/>
              </a:rPr>
              <a:t>Pa</a:t>
            </a:r>
            <a:endParaRPr lang="en-US" sz="1100" dirty="0"/>
          </a:p>
        </p:txBody>
      </p:sp>
      <p:sp>
        <p:nvSpPr>
          <p:cNvPr id="85" name="Shape 83"/>
          <p:cNvSpPr/>
          <p:nvPr/>
        </p:nvSpPr>
        <p:spPr>
          <a:xfrm>
            <a:off x="411480" y="5833872"/>
            <a:ext cx="11368735" cy="530352"/>
          </a:xfrm>
          <a:prstGeom prst="rect">
            <a:avLst/>
          </a:prstGeom>
          <a:solidFill>
            <a:srgbClr val="FFF4E0"/>
          </a:solidFill>
          <a:ln w="6350">
            <a:solidFill>
              <a:srgbClr val="F1D9A8"/>
            </a:solidFill>
            <a:prstDash val="solid"/>
          </a:ln>
        </p:spPr>
      </p:sp>
      <p:sp>
        <p:nvSpPr>
          <p:cNvPr id="86" name="Shape 84"/>
          <p:cNvSpPr/>
          <p:nvPr/>
        </p:nvSpPr>
        <p:spPr>
          <a:xfrm>
            <a:off x="411480" y="5833872"/>
            <a:ext cx="82296" cy="530352"/>
          </a:xfrm>
          <a:prstGeom prst="rect">
            <a:avLst/>
          </a:prstGeom>
          <a:solidFill>
            <a:srgbClr val="E39A2F"/>
          </a:solidFill>
          <a:ln w="12700">
            <a:solidFill>
              <a:srgbClr val="E39A2F"/>
            </a:solidFill>
            <a:prstDash val="solid"/>
          </a:ln>
        </p:spPr>
      </p:sp>
      <p:sp>
        <p:nvSpPr>
          <p:cNvPr id="87" name="Text 8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nucleus emits a neutron. Is it still the same element? Explain your answer.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P5.1.5, P5.1.6, P5.1.8 • decay and emissions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emission described: </a:t>
            </a:r>
            <a:r>
              <a:rPr lang="en-US" sz="1250" b="1" dirty="0">
                <a:solidFill>
                  <a:srgbClr val="262B3A"/>
                </a:solidFill>
                <a:latin typeface="Calibri" pitchFamily="34" charset="0"/>
                <a:ea typeface="Calibri" pitchFamily="34" charset="-122"/>
                <a:cs typeface="Calibri" pitchFamily="34" charset="-120"/>
              </a:rPr>
              <a:t>(i)</a:t>
            </a:r>
            <a:r>
              <a:rPr lang="en-US" sz="1250" dirty="0">
                <a:solidFill>
                  <a:srgbClr val="262B3A"/>
                </a:solidFill>
                <a:latin typeface="Calibri" pitchFamily="34" charset="0"/>
                <a:ea typeface="Calibri" pitchFamily="34" charset="-122"/>
                <a:cs typeface="Calibri" pitchFamily="34" charset="-120"/>
              </a:rPr>
              <a:t> electromagnetic radiation from the nucleus; </a:t>
            </a:r>
            <a:r>
              <a:rPr lang="en-US" sz="1250" b="1" dirty="0">
                <a:solidFill>
                  <a:srgbClr val="262B3A"/>
                </a:solidFill>
                <a:latin typeface="Calibri" pitchFamily="34" charset="0"/>
                <a:ea typeface="Calibri" pitchFamily="34" charset="-122"/>
                <a:cs typeface="Calibri" pitchFamily="34" charset="-120"/>
              </a:rPr>
              <a:t>(ii)</a:t>
            </a:r>
            <a:r>
              <a:rPr lang="en-US" sz="1250" dirty="0">
                <a:solidFill>
                  <a:srgbClr val="262B3A"/>
                </a:solidFill>
                <a:latin typeface="Calibri" pitchFamily="34" charset="0"/>
                <a:ea typeface="Calibri" pitchFamily="34" charset="-122"/>
                <a:cs typeface="Calibri" pitchFamily="34" charset="-120"/>
              </a:rPr>
              <a:t> a helium nucleus; </a:t>
            </a:r>
            <a:r>
              <a:rPr lang="en-US" sz="1250" b="1" dirty="0">
                <a:solidFill>
                  <a:srgbClr val="262B3A"/>
                </a:solidFill>
                <a:latin typeface="Calibri" pitchFamily="34" charset="0"/>
                <a:ea typeface="Calibri" pitchFamily="34" charset="-122"/>
                <a:cs typeface="Calibri" pitchFamily="34" charset="-120"/>
              </a:rPr>
              <a:t>(iii)</a:t>
            </a:r>
            <a:r>
              <a:rPr lang="en-US" sz="1250" dirty="0">
                <a:solidFill>
                  <a:srgbClr val="262B3A"/>
                </a:solidFill>
                <a:latin typeface="Calibri" pitchFamily="34" charset="0"/>
                <a:ea typeface="Calibri" pitchFamily="34" charset="-122"/>
                <a:cs typeface="Calibri" pitchFamily="34" charset="-120"/>
              </a:rPr>
              <a:t> an electron from the nucleus.</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Radioactive decay is described as </a:t>
            </a:r>
            <a:r>
              <a:rPr lang="en-US" sz="1250" b="1" dirty="0">
                <a:solidFill>
                  <a:srgbClr val="262B3A"/>
                </a:solidFill>
                <a:latin typeface="Calibri" pitchFamily="34" charset="0"/>
                <a:ea typeface="Calibri" pitchFamily="34" charset="-122"/>
                <a:cs typeface="Calibri" pitchFamily="34" charset="-120"/>
              </a:rPr>
              <a:t>random</a:t>
            </a:r>
            <a:r>
              <a:rPr lang="en-US" sz="1250" dirty="0">
                <a:solidFill>
                  <a:srgbClr val="262B3A"/>
                </a:solidFill>
                <a:latin typeface="Calibri" pitchFamily="34" charset="0"/>
                <a:ea typeface="Calibri" pitchFamily="34" charset="-122"/>
                <a:cs typeface="Calibri" pitchFamily="34" charset="-120"/>
              </a:rPr>
              <a:t>. Explain what this means.</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emitting a </a:t>
            </a:r>
            <a:r>
              <a:rPr lang="en-US" sz="1250" b="1" dirty="0">
                <a:solidFill>
                  <a:srgbClr val="262B3A"/>
                </a:solidFill>
                <a:latin typeface="Calibri" pitchFamily="34" charset="0"/>
                <a:ea typeface="Calibri" pitchFamily="34" charset="-122"/>
                <a:cs typeface="Calibri" pitchFamily="34" charset="-120"/>
              </a:rPr>
              <a:t>beta particle</a:t>
            </a:r>
            <a:r>
              <a:rPr lang="en-US" sz="1250" dirty="0">
                <a:solidFill>
                  <a:srgbClr val="262B3A"/>
                </a:solidFill>
                <a:latin typeface="Calibri" pitchFamily="34" charset="0"/>
                <a:ea typeface="Calibri" pitchFamily="34" charset="-122"/>
                <a:cs typeface="Calibri" pitchFamily="34" charset="-120"/>
              </a:rPr>
              <a:t> changes the element, but emitting a </a:t>
            </a:r>
            <a:r>
              <a:rPr lang="en-US" sz="1250" b="1" dirty="0">
                <a:solidFill>
                  <a:srgbClr val="262B3A"/>
                </a:solidFill>
                <a:latin typeface="Calibri" pitchFamily="34" charset="0"/>
                <a:ea typeface="Calibri" pitchFamily="34" charset="-122"/>
                <a:cs typeface="Calibri" pitchFamily="34" charset="-120"/>
              </a:rPr>
              <a:t>gamma ray</a:t>
            </a:r>
            <a:r>
              <a:rPr lang="en-US" sz="1250" dirty="0">
                <a:solidFill>
                  <a:srgbClr val="262B3A"/>
                </a:solidFill>
                <a:latin typeface="Calibri" pitchFamily="34" charset="0"/>
                <a:ea typeface="Calibri" pitchFamily="34" charset="-122"/>
                <a:cs typeface="Calibri" pitchFamily="34" charset="-120"/>
              </a:rPr>
              <a:t> does not.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Balanced nuclear equations: alpha and beta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P5.1.7 • mass numbers and atomic numbers must balance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P5.1.7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top numbers (A) balance and bottom numbers (Z) balance</a:t>
            </a:r>
            <a:endParaRPr lang="en-US" sz="1000" dirty="0"/>
          </a:p>
        </p:txBody>
      </p:sp>
      <p:sp>
        <p:nvSpPr>
          <p:cNvPr id="10" name="Text 8"/>
          <p:cNvSpPr/>
          <p:nvPr/>
        </p:nvSpPr>
        <p:spPr>
          <a:xfrm>
            <a:off x="685800" y="1325880"/>
            <a:ext cx="502920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Alpha decay of uranium-238</a:t>
            </a:r>
            <a:endParaRPr lang="en-US" sz="1200" dirty="0"/>
          </a:p>
        </p:txBody>
      </p:sp>
      <p:sp>
        <p:nvSpPr>
          <p:cNvPr id="11" name="Text 9"/>
          <p:cNvSpPr/>
          <p:nvPr/>
        </p:nvSpPr>
        <p:spPr>
          <a:xfrm>
            <a:off x="822960" y="167335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238</a:t>
            </a:r>
            <a:endParaRPr lang="en-US" sz="1536" dirty="0"/>
          </a:p>
        </p:txBody>
      </p:sp>
      <p:sp>
        <p:nvSpPr>
          <p:cNvPr id="12" name="Text 10"/>
          <p:cNvSpPr/>
          <p:nvPr/>
        </p:nvSpPr>
        <p:spPr>
          <a:xfrm>
            <a:off x="822960" y="196073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92</a:t>
            </a:r>
            <a:endParaRPr lang="en-US" sz="1536" dirty="0"/>
          </a:p>
        </p:txBody>
      </p:sp>
      <p:sp>
        <p:nvSpPr>
          <p:cNvPr id="13" name="Text 11"/>
          <p:cNvSpPr/>
          <p:nvPr/>
        </p:nvSpPr>
        <p:spPr>
          <a:xfrm>
            <a:off x="1282773" y="1694253"/>
            <a:ext cx="459813"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U</a:t>
            </a:r>
            <a:endParaRPr lang="en-US" sz="3200" dirty="0"/>
          </a:p>
        </p:txBody>
      </p:sp>
      <p:sp>
        <p:nvSpPr>
          <p:cNvPr id="14" name="Text 12"/>
          <p:cNvSpPr/>
          <p:nvPr/>
        </p:nvSpPr>
        <p:spPr>
          <a:xfrm>
            <a:off x="1779161" y="1694253"/>
            <a:ext cx="522514" cy="522514"/>
          </a:xfrm>
          <a:prstGeom prst="rect">
            <a:avLst/>
          </a:prstGeom>
          <a:noFill/>
          <a:ln/>
        </p:spPr>
        <p:txBody>
          <a:bodyPr wrap="square" lIns="0" tIns="0" rIns="0" bIns="0" rtlCol="0" anchor="ctr"/>
          <a:lstStyle/>
          <a:p>
            <a:pPr algn="ctr" indent="0" marL="0">
              <a:buNone/>
            </a:pPr>
            <a:r>
              <a:rPr lang="en-US" sz="2880" b="1" dirty="0">
                <a:solidFill>
                  <a:srgbClr val="1A2340"/>
                </a:solidFill>
                <a:latin typeface="Calibri" pitchFamily="34" charset="0"/>
                <a:ea typeface="Calibri" pitchFamily="34" charset="-122"/>
                <a:cs typeface="Calibri" pitchFamily="34" charset="-120"/>
              </a:rPr>
              <a:t>→</a:t>
            </a:r>
            <a:endParaRPr lang="en-US" sz="2880" dirty="0"/>
          </a:p>
        </p:txBody>
      </p:sp>
      <p:sp>
        <p:nvSpPr>
          <p:cNvPr id="15" name="Text 13"/>
          <p:cNvSpPr/>
          <p:nvPr/>
        </p:nvSpPr>
        <p:spPr>
          <a:xfrm>
            <a:off x="2301675" y="167335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234</a:t>
            </a:r>
            <a:endParaRPr lang="en-US" sz="1536" dirty="0"/>
          </a:p>
        </p:txBody>
      </p:sp>
      <p:sp>
        <p:nvSpPr>
          <p:cNvPr id="16" name="Text 14"/>
          <p:cNvSpPr/>
          <p:nvPr/>
        </p:nvSpPr>
        <p:spPr>
          <a:xfrm>
            <a:off x="2301675" y="196073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90</a:t>
            </a:r>
            <a:endParaRPr lang="en-US" sz="1536" dirty="0"/>
          </a:p>
        </p:txBody>
      </p:sp>
      <p:sp>
        <p:nvSpPr>
          <p:cNvPr id="17" name="Text 15"/>
          <p:cNvSpPr/>
          <p:nvPr/>
        </p:nvSpPr>
        <p:spPr>
          <a:xfrm>
            <a:off x="2761488" y="1694253"/>
            <a:ext cx="668818"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Th</a:t>
            </a:r>
            <a:endParaRPr lang="en-US" sz="3200" dirty="0"/>
          </a:p>
        </p:txBody>
      </p:sp>
      <p:sp>
        <p:nvSpPr>
          <p:cNvPr id="18" name="Text 16"/>
          <p:cNvSpPr/>
          <p:nvPr/>
        </p:nvSpPr>
        <p:spPr>
          <a:xfrm>
            <a:off x="3466882" y="1694253"/>
            <a:ext cx="522514" cy="522514"/>
          </a:xfrm>
          <a:prstGeom prst="rect">
            <a:avLst/>
          </a:prstGeom>
          <a:noFill/>
          <a:ln/>
        </p:spPr>
        <p:txBody>
          <a:bodyPr wrap="square" lIns="0" tIns="0" rIns="0" bIns="0" rtlCol="0" anchor="ctr"/>
          <a:lstStyle/>
          <a:p>
            <a:pPr algn="ctr" indent="0" marL="0">
              <a:buNone/>
            </a:pPr>
            <a:r>
              <a:rPr lang="en-US" sz="2880" b="1" dirty="0">
                <a:solidFill>
                  <a:srgbClr val="1A2340"/>
                </a:solidFill>
                <a:latin typeface="Calibri" pitchFamily="34" charset="0"/>
                <a:ea typeface="Calibri" pitchFamily="34" charset="-122"/>
                <a:cs typeface="Calibri" pitchFamily="34" charset="-120"/>
              </a:rPr>
              <a:t>+</a:t>
            </a:r>
            <a:endParaRPr lang="en-US" sz="2880" dirty="0"/>
          </a:p>
        </p:txBody>
      </p:sp>
      <p:sp>
        <p:nvSpPr>
          <p:cNvPr id="19" name="Text 17"/>
          <p:cNvSpPr/>
          <p:nvPr/>
        </p:nvSpPr>
        <p:spPr>
          <a:xfrm>
            <a:off x="3989397" y="167335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4</a:t>
            </a:r>
            <a:endParaRPr lang="en-US" sz="1536" dirty="0"/>
          </a:p>
        </p:txBody>
      </p:sp>
      <p:sp>
        <p:nvSpPr>
          <p:cNvPr id="20" name="Text 18"/>
          <p:cNvSpPr/>
          <p:nvPr/>
        </p:nvSpPr>
        <p:spPr>
          <a:xfrm>
            <a:off x="3989397" y="196073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2</a:t>
            </a:r>
            <a:endParaRPr lang="en-US" sz="1536" dirty="0"/>
          </a:p>
        </p:txBody>
      </p:sp>
      <p:sp>
        <p:nvSpPr>
          <p:cNvPr id="21" name="Text 19"/>
          <p:cNvSpPr/>
          <p:nvPr/>
        </p:nvSpPr>
        <p:spPr>
          <a:xfrm>
            <a:off x="4449209" y="1694253"/>
            <a:ext cx="668818"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He</a:t>
            </a:r>
            <a:endParaRPr lang="en-US" sz="3200" dirty="0"/>
          </a:p>
        </p:txBody>
      </p:sp>
      <p:sp>
        <p:nvSpPr>
          <p:cNvPr id="22" name="Shape 20"/>
          <p:cNvSpPr/>
          <p:nvPr/>
        </p:nvSpPr>
        <p:spPr>
          <a:xfrm>
            <a:off x="685800" y="2377440"/>
            <a:ext cx="5120640" cy="566928"/>
          </a:xfrm>
          <a:prstGeom prst="roundRect">
            <a:avLst>
              <a:gd name="adj" fmla="val 8065"/>
            </a:avLst>
          </a:prstGeom>
          <a:solidFill>
            <a:srgbClr val="FFFFFF"/>
          </a:solidFill>
          <a:ln w="12700">
            <a:solidFill>
              <a:srgbClr val="D5DCEB"/>
            </a:solidFill>
            <a:prstDash val="solid"/>
          </a:ln>
        </p:spPr>
      </p:sp>
      <p:sp>
        <p:nvSpPr>
          <p:cNvPr id="23" name="Text 21"/>
          <p:cNvSpPr/>
          <p:nvPr/>
        </p:nvSpPr>
        <p:spPr>
          <a:xfrm>
            <a:off x="868680" y="2395728"/>
            <a:ext cx="4846320" cy="530352"/>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A:  </a:t>
            </a:r>
            <a:r>
              <a:rPr lang="en-US" sz="1100" dirty="0">
                <a:solidFill>
                  <a:srgbClr val="262B3A"/>
                </a:solidFill>
                <a:latin typeface="Calibri" pitchFamily="34" charset="0"/>
                <a:ea typeface="Calibri" pitchFamily="34" charset="-122"/>
                <a:cs typeface="Calibri" pitchFamily="34" charset="-120"/>
              </a:rPr>
              <a:t>238 = 234 + 4  ✓</a:t>
            </a:r>
            <a:endParaRPr lang="en-US" sz="1100" dirty="0"/>
          </a:p>
          <a:p>
            <a:pPr indent="0" marL="0">
              <a:buNone/>
            </a:pPr>
            <a:r>
              <a:rPr lang="en-US" sz="1100" b="1" dirty="0">
                <a:solidFill>
                  <a:srgbClr val="C8414C"/>
                </a:solidFill>
                <a:latin typeface="Calibri" pitchFamily="34" charset="0"/>
                <a:ea typeface="Calibri" pitchFamily="34" charset="-122"/>
                <a:cs typeface="Calibri" pitchFamily="34" charset="-120"/>
              </a:rPr>
              <a:t>Z:  </a:t>
            </a:r>
            <a:r>
              <a:rPr lang="en-US" sz="1100" dirty="0">
                <a:solidFill>
                  <a:srgbClr val="262B3A"/>
                </a:solidFill>
                <a:latin typeface="Calibri" pitchFamily="34" charset="0"/>
                <a:ea typeface="Calibri" pitchFamily="34" charset="-122"/>
                <a:cs typeface="Calibri" pitchFamily="34" charset="-120"/>
              </a:rPr>
              <a:t>92 = 90 + 2  ✓</a:t>
            </a:r>
            <a:endParaRPr lang="en-US" sz="1100" dirty="0"/>
          </a:p>
        </p:txBody>
      </p:sp>
      <p:sp>
        <p:nvSpPr>
          <p:cNvPr id="24" name="Text 22"/>
          <p:cNvSpPr/>
          <p:nvPr/>
        </p:nvSpPr>
        <p:spPr>
          <a:xfrm>
            <a:off x="685800" y="3291840"/>
            <a:ext cx="5029200" cy="256032"/>
          </a:xfrm>
          <a:prstGeom prst="rect">
            <a:avLst/>
          </a:prstGeom>
          <a:noFill/>
          <a:ln/>
        </p:spPr>
        <p:txBody>
          <a:bodyPr wrap="square" lIns="0" tIns="0" rIns="0" bIns="0" rtlCol="0" anchor="ctr"/>
          <a:lstStyle/>
          <a:p>
            <a:pPr algn="l" indent="0" marL="0">
              <a:buNone/>
            </a:pPr>
            <a:r>
              <a:rPr lang="en-US" sz="1200" b="1" dirty="0">
                <a:solidFill>
                  <a:srgbClr val="2E5BD8"/>
                </a:solidFill>
                <a:latin typeface="Calibri" pitchFamily="34" charset="0"/>
                <a:ea typeface="Calibri" pitchFamily="34" charset="-122"/>
                <a:cs typeface="Calibri" pitchFamily="34" charset="-120"/>
              </a:rPr>
              <a:t>Beta decay of carbon-14</a:t>
            </a:r>
            <a:endParaRPr lang="en-US" sz="1200" dirty="0"/>
          </a:p>
        </p:txBody>
      </p:sp>
      <p:sp>
        <p:nvSpPr>
          <p:cNvPr id="25" name="Text 23"/>
          <p:cNvSpPr/>
          <p:nvPr/>
        </p:nvSpPr>
        <p:spPr>
          <a:xfrm>
            <a:off x="822960" y="363931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14</a:t>
            </a:r>
            <a:endParaRPr lang="en-US" sz="1536" dirty="0"/>
          </a:p>
        </p:txBody>
      </p:sp>
      <p:sp>
        <p:nvSpPr>
          <p:cNvPr id="26" name="Text 24"/>
          <p:cNvSpPr/>
          <p:nvPr/>
        </p:nvSpPr>
        <p:spPr>
          <a:xfrm>
            <a:off x="822960" y="392669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6</a:t>
            </a:r>
            <a:endParaRPr lang="en-US" sz="1536" dirty="0"/>
          </a:p>
        </p:txBody>
      </p:sp>
      <p:sp>
        <p:nvSpPr>
          <p:cNvPr id="27" name="Text 25"/>
          <p:cNvSpPr/>
          <p:nvPr/>
        </p:nvSpPr>
        <p:spPr>
          <a:xfrm>
            <a:off x="1282773" y="3660213"/>
            <a:ext cx="459813"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C</a:t>
            </a:r>
            <a:endParaRPr lang="en-US" sz="3200" dirty="0"/>
          </a:p>
        </p:txBody>
      </p:sp>
      <p:sp>
        <p:nvSpPr>
          <p:cNvPr id="28" name="Text 26"/>
          <p:cNvSpPr/>
          <p:nvPr/>
        </p:nvSpPr>
        <p:spPr>
          <a:xfrm>
            <a:off x="1779161" y="3660213"/>
            <a:ext cx="522514" cy="522514"/>
          </a:xfrm>
          <a:prstGeom prst="rect">
            <a:avLst/>
          </a:prstGeom>
          <a:noFill/>
          <a:ln/>
        </p:spPr>
        <p:txBody>
          <a:bodyPr wrap="square" lIns="0" tIns="0" rIns="0" bIns="0" rtlCol="0" anchor="ctr"/>
          <a:lstStyle/>
          <a:p>
            <a:pPr algn="ctr" indent="0" marL="0">
              <a:buNone/>
            </a:pPr>
            <a:r>
              <a:rPr lang="en-US" sz="2880" b="1" dirty="0">
                <a:solidFill>
                  <a:srgbClr val="1A2340"/>
                </a:solidFill>
                <a:latin typeface="Calibri" pitchFamily="34" charset="0"/>
                <a:ea typeface="Calibri" pitchFamily="34" charset="-122"/>
                <a:cs typeface="Calibri" pitchFamily="34" charset="-120"/>
              </a:rPr>
              <a:t>→</a:t>
            </a:r>
            <a:endParaRPr lang="en-US" sz="2880" dirty="0"/>
          </a:p>
        </p:txBody>
      </p:sp>
      <p:sp>
        <p:nvSpPr>
          <p:cNvPr id="29" name="Text 27"/>
          <p:cNvSpPr/>
          <p:nvPr/>
        </p:nvSpPr>
        <p:spPr>
          <a:xfrm>
            <a:off x="2301675" y="363931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14</a:t>
            </a:r>
            <a:endParaRPr lang="en-US" sz="1536" dirty="0"/>
          </a:p>
        </p:txBody>
      </p:sp>
      <p:sp>
        <p:nvSpPr>
          <p:cNvPr id="30" name="Text 28"/>
          <p:cNvSpPr/>
          <p:nvPr/>
        </p:nvSpPr>
        <p:spPr>
          <a:xfrm>
            <a:off x="2301675" y="392669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7</a:t>
            </a:r>
            <a:endParaRPr lang="en-US" sz="1536" dirty="0"/>
          </a:p>
        </p:txBody>
      </p:sp>
      <p:sp>
        <p:nvSpPr>
          <p:cNvPr id="31" name="Text 29"/>
          <p:cNvSpPr/>
          <p:nvPr/>
        </p:nvSpPr>
        <p:spPr>
          <a:xfrm>
            <a:off x="2761488" y="3660213"/>
            <a:ext cx="459813"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N</a:t>
            </a:r>
            <a:endParaRPr lang="en-US" sz="3200" dirty="0"/>
          </a:p>
        </p:txBody>
      </p:sp>
      <p:sp>
        <p:nvSpPr>
          <p:cNvPr id="32" name="Text 30"/>
          <p:cNvSpPr/>
          <p:nvPr/>
        </p:nvSpPr>
        <p:spPr>
          <a:xfrm>
            <a:off x="3257877" y="3660213"/>
            <a:ext cx="522514" cy="522514"/>
          </a:xfrm>
          <a:prstGeom prst="rect">
            <a:avLst/>
          </a:prstGeom>
          <a:noFill/>
          <a:ln/>
        </p:spPr>
        <p:txBody>
          <a:bodyPr wrap="square" lIns="0" tIns="0" rIns="0" bIns="0" rtlCol="0" anchor="ctr"/>
          <a:lstStyle/>
          <a:p>
            <a:pPr algn="ctr" indent="0" marL="0">
              <a:buNone/>
            </a:pPr>
            <a:r>
              <a:rPr lang="en-US" sz="2880" b="1" dirty="0">
                <a:solidFill>
                  <a:srgbClr val="1A2340"/>
                </a:solidFill>
                <a:latin typeface="Calibri" pitchFamily="34" charset="0"/>
                <a:ea typeface="Calibri" pitchFamily="34" charset="-122"/>
                <a:cs typeface="Calibri" pitchFamily="34" charset="-120"/>
              </a:rPr>
              <a:t>+</a:t>
            </a:r>
            <a:endParaRPr lang="en-US" sz="2880" dirty="0"/>
          </a:p>
        </p:txBody>
      </p:sp>
      <p:sp>
        <p:nvSpPr>
          <p:cNvPr id="33" name="Text 31"/>
          <p:cNvSpPr/>
          <p:nvPr/>
        </p:nvSpPr>
        <p:spPr>
          <a:xfrm>
            <a:off x="3780391" y="3639312"/>
            <a:ext cx="438912" cy="261257"/>
          </a:xfrm>
          <a:prstGeom prst="rect">
            <a:avLst/>
          </a:prstGeom>
          <a:noFill/>
          <a:ln/>
        </p:spPr>
        <p:txBody>
          <a:bodyPr wrap="square" lIns="0" tIns="0" rIns="0" bIns="0" rtlCol="0" anchor="b"/>
          <a:lstStyle/>
          <a:p>
            <a:pPr algn="r" indent="0" marL="0">
              <a:buNone/>
            </a:pPr>
            <a:r>
              <a:rPr lang="en-US" sz="1536" b="1" dirty="0">
                <a:solidFill>
                  <a:srgbClr val="2E5BD8"/>
                </a:solidFill>
                <a:latin typeface="Calibri" pitchFamily="34" charset="0"/>
                <a:ea typeface="Calibri" pitchFamily="34" charset="-122"/>
                <a:cs typeface="Calibri" pitchFamily="34" charset="-120"/>
              </a:rPr>
              <a:t>0</a:t>
            </a:r>
            <a:endParaRPr lang="en-US" sz="1536" dirty="0"/>
          </a:p>
        </p:txBody>
      </p:sp>
      <p:sp>
        <p:nvSpPr>
          <p:cNvPr id="34" name="Text 32"/>
          <p:cNvSpPr/>
          <p:nvPr/>
        </p:nvSpPr>
        <p:spPr>
          <a:xfrm>
            <a:off x="3780391" y="3926695"/>
            <a:ext cx="438912" cy="261257"/>
          </a:xfrm>
          <a:prstGeom prst="rect">
            <a:avLst/>
          </a:prstGeom>
          <a:noFill/>
          <a:ln/>
        </p:spPr>
        <p:txBody>
          <a:bodyPr wrap="square" lIns="0" tIns="0" rIns="0" bIns="0" rtlCol="0" anchor="t"/>
          <a:lstStyle/>
          <a:p>
            <a:pPr algn="r" indent="0" marL="0">
              <a:buNone/>
            </a:pPr>
            <a:r>
              <a:rPr lang="en-US" sz="1536" b="1" dirty="0">
                <a:solidFill>
                  <a:srgbClr val="C8414C"/>
                </a:solidFill>
                <a:latin typeface="Calibri" pitchFamily="34" charset="0"/>
                <a:ea typeface="Calibri" pitchFamily="34" charset="-122"/>
                <a:cs typeface="Calibri" pitchFamily="34" charset="-120"/>
              </a:rPr>
              <a:t>−1</a:t>
            </a:r>
            <a:endParaRPr lang="en-US" sz="1536" dirty="0"/>
          </a:p>
        </p:txBody>
      </p:sp>
      <p:sp>
        <p:nvSpPr>
          <p:cNvPr id="35" name="Text 33"/>
          <p:cNvSpPr/>
          <p:nvPr/>
        </p:nvSpPr>
        <p:spPr>
          <a:xfrm>
            <a:off x="4240203" y="3660213"/>
            <a:ext cx="459813" cy="522514"/>
          </a:xfrm>
          <a:prstGeom prst="rect">
            <a:avLst/>
          </a:prstGeom>
          <a:noFill/>
          <a:ln/>
        </p:spPr>
        <p:txBody>
          <a:bodyPr wrap="square" lIns="0" tIns="0" rIns="0" bIns="0" rtlCol="0" anchor="ctr"/>
          <a:lstStyle/>
          <a:p>
            <a:pPr algn="l" indent="0" marL="0">
              <a:buNone/>
            </a:pPr>
            <a:r>
              <a:rPr lang="en-US" sz="3200" b="1" dirty="0">
                <a:solidFill>
                  <a:srgbClr val="1A2340"/>
                </a:solidFill>
                <a:latin typeface="Georgia" pitchFamily="34" charset="0"/>
                <a:ea typeface="Georgia" pitchFamily="34" charset="-122"/>
                <a:cs typeface="Georgia" pitchFamily="34" charset="-120"/>
              </a:rPr>
              <a:t>e</a:t>
            </a:r>
            <a:endParaRPr lang="en-US" sz="3200" dirty="0"/>
          </a:p>
        </p:txBody>
      </p:sp>
      <p:sp>
        <p:nvSpPr>
          <p:cNvPr id="36" name="Shape 34"/>
          <p:cNvSpPr/>
          <p:nvPr/>
        </p:nvSpPr>
        <p:spPr>
          <a:xfrm>
            <a:off x="685800" y="4343400"/>
            <a:ext cx="5120640" cy="566928"/>
          </a:xfrm>
          <a:prstGeom prst="roundRect">
            <a:avLst>
              <a:gd name="adj" fmla="val 8065"/>
            </a:avLst>
          </a:prstGeom>
          <a:solidFill>
            <a:srgbClr val="FFFFFF"/>
          </a:solidFill>
          <a:ln w="12700">
            <a:solidFill>
              <a:srgbClr val="D5DCEB"/>
            </a:solidFill>
            <a:prstDash val="solid"/>
          </a:ln>
        </p:spPr>
      </p:sp>
      <p:sp>
        <p:nvSpPr>
          <p:cNvPr id="37" name="Text 35"/>
          <p:cNvSpPr/>
          <p:nvPr/>
        </p:nvSpPr>
        <p:spPr>
          <a:xfrm>
            <a:off x="868680" y="4361688"/>
            <a:ext cx="4846320" cy="530352"/>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A:  </a:t>
            </a:r>
            <a:r>
              <a:rPr lang="en-US" sz="1100" dirty="0">
                <a:solidFill>
                  <a:srgbClr val="262B3A"/>
                </a:solidFill>
                <a:latin typeface="Calibri" pitchFamily="34" charset="0"/>
                <a:ea typeface="Calibri" pitchFamily="34" charset="-122"/>
                <a:cs typeface="Calibri" pitchFamily="34" charset="-120"/>
              </a:rPr>
              <a:t>14 = 14 + 0  ✓</a:t>
            </a:r>
            <a:endParaRPr lang="en-US" sz="1100" dirty="0"/>
          </a:p>
          <a:p>
            <a:pPr indent="0" marL="0">
              <a:buNone/>
            </a:pPr>
            <a:r>
              <a:rPr lang="en-US" sz="1100" b="1" dirty="0">
                <a:solidFill>
                  <a:srgbClr val="C8414C"/>
                </a:solidFill>
                <a:latin typeface="Calibri" pitchFamily="34" charset="0"/>
                <a:ea typeface="Calibri" pitchFamily="34" charset="-122"/>
                <a:cs typeface="Calibri" pitchFamily="34" charset="-120"/>
              </a:rPr>
              <a:t>Z:  </a:t>
            </a:r>
            <a:r>
              <a:rPr lang="en-US" sz="1100" dirty="0">
                <a:solidFill>
                  <a:srgbClr val="262B3A"/>
                </a:solidFill>
                <a:latin typeface="Calibri" pitchFamily="34" charset="0"/>
                <a:ea typeface="Calibri" pitchFamily="34" charset="-122"/>
                <a:cs typeface="Calibri" pitchFamily="34" charset="-120"/>
              </a:rPr>
              <a:t>6 = 7 + (−1)  ✓</a:t>
            </a:r>
            <a:endParaRPr lang="en-US" sz="1100" dirty="0"/>
          </a:p>
        </p:txBody>
      </p:sp>
      <p:sp>
        <p:nvSpPr>
          <p:cNvPr id="38" name="Shape 3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Writing a nuclear equation</a:t>
            </a:r>
            <a:endParaRPr lang="en-US" sz="1300" dirty="0"/>
          </a:p>
        </p:txBody>
      </p:sp>
      <p:sp>
        <p:nvSpPr>
          <p:cNvPr id="40" name="Text 3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Write the parent nucleus → daughter nucleus + emission, all in nuclear notation.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mass numbers (top)</a:t>
            </a:r>
            <a:r>
              <a:rPr lang="en-US" sz="1150" dirty="0">
                <a:solidFill>
                  <a:srgbClr val="262B3A"/>
                </a:solidFill>
                <a:latin typeface="Calibri" pitchFamily="34" charset="0"/>
                <a:ea typeface="Calibri" pitchFamily="34" charset="-122"/>
                <a:cs typeface="Calibri" pitchFamily="34" charset="-120"/>
              </a:rPr>
              <a:t> must add up to the same total on both sides.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atomic numbers (bottom)</a:t>
            </a:r>
            <a:r>
              <a:rPr lang="en-US" sz="1150" dirty="0">
                <a:solidFill>
                  <a:srgbClr val="262B3A"/>
                </a:solidFill>
                <a:latin typeface="Calibri" pitchFamily="34" charset="0"/>
                <a:ea typeface="Calibri" pitchFamily="34" charset="-122"/>
                <a:cs typeface="Calibri" pitchFamily="34" charset="-120"/>
              </a:rPr>
              <a:t> must add up to the same total on both sides.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Alpha is </a:t>
            </a:r>
            <a:r>
              <a:rPr lang="en-US" sz="1150" baseline="30000" dirty="0">
                <a:solidFill>
                  <a:srgbClr val="262B3A"/>
                </a:solidFill>
                <a:latin typeface="Calibri" pitchFamily="34" charset="0"/>
                <a:ea typeface="Calibri" pitchFamily="34" charset="-122"/>
                <a:cs typeface="Calibri" pitchFamily="34" charset="-120"/>
              </a:rPr>
              <a:t>4</a:t>
            </a:r>
            <a:r>
              <a:rPr lang="en-US" sz="1150" baseline="-40000"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He; beta is </a:t>
            </a:r>
            <a:r>
              <a:rPr lang="en-US" sz="1150" baseline="30000" dirty="0">
                <a:solidFill>
                  <a:srgbClr val="262B3A"/>
                </a:solidFill>
                <a:latin typeface="Calibri" pitchFamily="34" charset="0"/>
                <a:ea typeface="Calibri" pitchFamily="34" charset="-122"/>
                <a:cs typeface="Calibri" pitchFamily="34" charset="-120"/>
              </a:rPr>
              <a:t>0</a:t>
            </a:r>
            <a:r>
              <a:rPr lang="en-US" sz="1150" baseline="-40000"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e (a beta particle counts as Z = −1).</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new Z tells you the new element (use the Periodic Table given).</a:t>
            </a:r>
            <a:endParaRPr lang="en-US" sz="1150" dirty="0"/>
          </a:p>
        </p:txBody>
      </p:sp>
      <p:sp>
        <p:nvSpPr>
          <p:cNvPr id="41" name="Shape 3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2" name="Text 4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find the missing numbers</a:t>
            </a:r>
            <a:endParaRPr lang="en-US" sz="1300" dirty="0"/>
          </a:p>
        </p:txBody>
      </p:sp>
      <p:sp>
        <p:nvSpPr>
          <p:cNvPr id="43" name="Text 4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Radon-222 (</a:t>
            </a:r>
            <a:r>
              <a:rPr lang="en-US" sz="1100" i="1" baseline="30000" dirty="0">
                <a:solidFill>
                  <a:srgbClr val="262B3A"/>
                </a:solidFill>
                <a:latin typeface="Calibri" pitchFamily="34" charset="0"/>
                <a:ea typeface="Calibri" pitchFamily="34" charset="-122"/>
                <a:cs typeface="Calibri" pitchFamily="34" charset="-120"/>
              </a:rPr>
              <a:t>222</a:t>
            </a:r>
            <a:r>
              <a:rPr lang="en-US" sz="1100" i="1" baseline="-40000" dirty="0">
                <a:solidFill>
                  <a:srgbClr val="262B3A"/>
                </a:solidFill>
                <a:latin typeface="Calibri" pitchFamily="34" charset="0"/>
                <a:ea typeface="Calibri" pitchFamily="34" charset="-122"/>
                <a:cs typeface="Calibri" pitchFamily="34" charset="-120"/>
              </a:rPr>
              <a:t>86</a:t>
            </a:r>
            <a:r>
              <a:rPr lang="en-US" sz="1100" i="1" dirty="0">
                <a:solidFill>
                  <a:srgbClr val="262B3A"/>
                </a:solidFill>
                <a:latin typeface="Calibri" pitchFamily="34" charset="0"/>
                <a:ea typeface="Calibri" pitchFamily="34" charset="-122"/>
                <a:cs typeface="Calibri" pitchFamily="34" charset="-120"/>
              </a:rPr>
              <a:t>Rn) emits an alpha particle and becomes polonium (Po).</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   </a:t>
            </a:r>
            <a:r>
              <a:rPr lang="en-US" sz="1100" dirty="0">
                <a:solidFill>
                  <a:srgbClr val="262B3A"/>
                </a:solidFill>
                <a:latin typeface="Calibri" pitchFamily="34" charset="0"/>
                <a:ea typeface="Calibri" pitchFamily="34" charset="-122"/>
                <a:cs typeface="Calibri" pitchFamily="34" charset="-120"/>
              </a:rPr>
              <a:t>222 − 4 = </a:t>
            </a:r>
            <a:r>
              <a:rPr lang="en-US" sz="1100" b="1" dirty="0">
                <a:solidFill>
                  <a:srgbClr val="262B3A"/>
                </a:solidFill>
                <a:latin typeface="Calibri" pitchFamily="34" charset="0"/>
                <a:ea typeface="Calibri" pitchFamily="34" charset="-122"/>
                <a:cs typeface="Calibri" pitchFamily="34" charset="-120"/>
              </a:rPr>
              <a:t>218</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Z   </a:t>
            </a:r>
            <a:r>
              <a:rPr lang="en-US" sz="1100" dirty="0">
                <a:solidFill>
                  <a:srgbClr val="262B3A"/>
                </a:solidFill>
                <a:latin typeface="Calibri" pitchFamily="34" charset="0"/>
                <a:ea typeface="Calibri" pitchFamily="34" charset="-122"/>
                <a:cs typeface="Calibri" pitchFamily="34" charset="-120"/>
              </a:rPr>
              <a:t>86 − 2 = </a:t>
            </a:r>
            <a:r>
              <a:rPr lang="en-US" sz="1100" b="1" dirty="0">
                <a:solidFill>
                  <a:srgbClr val="262B3A"/>
                </a:solidFill>
                <a:latin typeface="Calibri" pitchFamily="34" charset="0"/>
                <a:ea typeface="Calibri" pitchFamily="34" charset="-122"/>
                <a:cs typeface="Calibri" pitchFamily="34" charset="-120"/>
              </a:rPr>
              <a:t>84</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218 + 4 = 222 ✓   84 + 2 = 86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baseline="30000" dirty="0">
                <a:solidFill>
                  <a:srgbClr val="C8414C"/>
                </a:solidFill>
                <a:latin typeface="Calibri" pitchFamily="34" charset="0"/>
                <a:ea typeface="Calibri" pitchFamily="34" charset="-122"/>
                <a:cs typeface="Calibri" pitchFamily="34" charset="-120"/>
              </a:rPr>
              <a:t>222</a:t>
            </a:r>
            <a:r>
              <a:rPr lang="en-US" sz="1100" b="1" baseline="-40000" dirty="0">
                <a:solidFill>
                  <a:srgbClr val="C8414C"/>
                </a:solidFill>
                <a:latin typeface="Calibri" pitchFamily="34" charset="0"/>
                <a:ea typeface="Calibri" pitchFamily="34" charset="-122"/>
                <a:cs typeface="Calibri" pitchFamily="34" charset="-120"/>
              </a:rPr>
              <a:t>86</a:t>
            </a:r>
            <a:r>
              <a:rPr lang="en-US" sz="1100" b="1" dirty="0">
                <a:solidFill>
                  <a:srgbClr val="C8414C"/>
                </a:solidFill>
                <a:latin typeface="Calibri" pitchFamily="34" charset="0"/>
                <a:ea typeface="Calibri" pitchFamily="34" charset="-122"/>
                <a:cs typeface="Calibri" pitchFamily="34" charset="-120"/>
              </a:rPr>
              <a:t>Rn → </a:t>
            </a:r>
            <a:r>
              <a:rPr lang="en-US" sz="1100" b="1" baseline="30000" dirty="0">
                <a:solidFill>
                  <a:srgbClr val="C8414C"/>
                </a:solidFill>
                <a:latin typeface="Calibri" pitchFamily="34" charset="0"/>
                <a:ea typeface="Calibri" pitchFamily="34" charset="-122"/>
                <a:cs typeface="Calibri" pitchFamily="34" charset="-120"/>
              </a:rPr>
              <a:t>218</a:t>
            </a:r>
            <a:r>
              <a:rPr lang="en-US" sz="1100" b="1" baseline="-40000" dirty="0">
                <a:solidFill>
                  <a:srgbClr val="C8414C"/>
                </a:solidFill>
                <a:latin typeface="Calibri" pitchFamily="34" charset="0"/>
                <a:ea typeface="Calibri" pitchFamily="34" charset="-122"/>
                <a:cs typeface="Calibri" pitchFamily="34" charset="-120"/>
              </a:rPr>
              <a:t>84</a:t>
            </a:r>
            <a:r>
              <a:rPr lang="en-US" sz="1100" b="1" dirty="0">
                <a:solidFill>
                  <a:srgbClr val="C8414C"/>
                </a:solidFill>
                <a:latin typeface="Calibri" pitchFamily="34" charset="0"/>
                <a:ea typeface="Calibri" pitchFamily="34" charset="-122"/>
                <a:cs typeface="Calibri" pitchFamily="34" charset="-120"/>
              </a:rPr>
              <a:t>Po + </a:t>
            </a:r>
            <a:r>
              <a:rPr lang="en-US" sz="1100" b="1" baseline="30000" dirty="0">
                <a:solidFill>
                  <a:srgbClr val="C8414C"/>
                </a:solidFill>
                <a:latin typeface="Calibri" pitchFamily="34" charset="0"/>
                <a:ea typeface="Calibri" pitchFamily="34" charset="-122"/>
                <a:cs typeface="Calibri" pitchFamily="34" charset="-120"/>
              </a:rPr>
              <a:t>4</a:t>
            </a:r>
            <a:r>
              <a:rPr lang="en-US" sz="1100" b="1" baseline="-40000" dirty="0">
                <a:solidFill>
                  <a:srgbClr val="C8414C"/>
                </a:solidFill>
                <a:latin typeface="Calibri" pitchFamily="34" charset="0"/>
                <a:ea typeface="Calibri" pitchFamily="34" charset="-122"/>
                <a:cs typeface="Calibri" pitchFamily="34" charset="-120"/>
              </a:rPr>
              <a:t>2</a:t>
            </a:r>
            <a:r>
              <a:rPr lang="en-US" sz="1100" b="1" dirty="0">
                <a:solidFill>
                  <a:srgbClr val="C8414C"/>
                </a:solidFill>
                <a:latin typeface="Calibri" pitchFamily="34" charset="0"/>
                <a:ea typeface="Calibri" pitchFamily="34" charset="-122"/>
                <a:cs typeface="Calibri" pitchFamily="34" charset="-120"/>
              </a:rPr>
              <a:t>He</a:t>
            </a:r>
            <a:endParaRPr lang="en-US" sz="110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Radium-226 (</a:t>
            </a:r>
            <a:r>
              <a:rPr lang="en-US" sz="1150" baseline="30000" dirty="0">
                <a:solidFill>
                  <a:srgbClr val="262B3A"/>
                </a:solidFill>
                <a:latin typeface="Calibri" pitchFamily="34" charset="0"/>
                <a:ea typeface="Calibri" pitchFamily="34" charset="-122"/>
                <a:cs typeface="Calibri" pitchFamily="34" charset="-120"/>
              </a:rPr>
              <a:t>226</a:t>
            </a:r>
            <a:r>
              <a:rPr lang="en-US" sz="1150" baseline="-40000" dirty="0">
                <a:solidFill>
                  <a:srgbClr val="262B3A"/>
                </a:solidFill>
                <a:latin typeface="Calibri" pitchFamily="34" charset="0"/>
                <a:ea typeface="Calibri" pitchFamily="34" charset="-122"/>
                <a:cs typeface="Calibri" pitchFamily="34" charset="-120"/>
              </a:rPr>
              <a:t>88</a:t>
            </a:r>
            <a:r>
              <a:rPr lang="en-US" sz="1150" dirty="0">
                <a:solidFill>
                  <a:srgbClr val="262B3A"/>
                </a:solidFill>
                <a:latin typeface="Calibri" pitchFamily="34" charset="0"/>
                <a:ea typeface="Calibri" pitchFamily="34" charset="-122"/>
                <a:cs typeface="Calibri" pitchFamily="34" charset="-120"/>
              </a:rPr>
              <a:t>Ra) emits an alpha particle and becomes radon (Rn). Write the balanced equation.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Balanced nuclear equations: gamma and neutron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P5.1.7 • gamma changes nothing; a neutron lowers the mass number by 1</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P5.1.7  |  16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cobalt-60 emits beta, then the excited nickel-60 nucleus emits gamma</a:t>
            </a:r>
            <a:endParaRPr lang="en-US" sz="1000" dirty="0"/>
          </a:p>
        </p:txBody>
      </p:sp>
      <p:sp>
        <p:nvSpPr>
          <p:cNvPr id="10" name="Text 8"/>
          <p:cNvSpPr/>
          <p:nvPr/>
        </p:nvSpPr>
        <p:spPr>
          <a:xfrm>
            <a:off x="685800" y="1325880"/>
            <a:ext cx="5120640" cy="256032"/>
          </a:xfrm>
          <a:prstGeom prst="rect">
            <a:avLst/>
          </a:prstGeom>
          <a:noFill/>
          <a:ln/>
        </p:spPr>
        <p:txBody>
          <a:bodyPr wrap="square" lIns="0" tIns="0" rIns="0" bIns="0" rtlCol="0" anchor="ctr"/>
          <a:lstStyle/>
          <a:p>
            <a:pPr algn="l" indent="0" marL="0">
              <a:buNone/>
            </a:pPr>
            <a:r>
              <a:rPr lang="en-US" sz="1200" b="1" dirty="0">
                <a:solidFill>
                  <a:srgbClr val="2E5BD8"/>
                </a:solidFill>
                <a:latin typeface="Calibri" pitchFamily="34" charset="0"/>
                <a:ea typeface="Calibri" pitchFamily="34" charset="-122"/>
                <a:cs typeface="Calibri" pitchFamily="34" charset="-120"/>
              </a:rPr>
              <a:t>1  Beta decay of cobalt-60</a:t>
            </a:r>
            <a:endParaRPr lang="en-US" sz="1200" dirty="0"/>
          </a:p>
        </p:txBody>
      </p:sp>
      <p:sp>
        <p:nvSpPr>
          <p:cNvPr id="11" name="Text 9"/>
          <p:cNvSpPr/>
          <p:nvPr/>
        </p:nvSpPr>
        <p:spPr>
          <a:xfrm>
            <a:off x="822960" y="164592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60</a:t>
            </a:r>
            <a:endParaRPr lang="en-US" sz="1440" dirty="0"/>
          </a:p>
        </p:txBody>
      </p:sp>
      <p:sp>
        <p:nvSpPr>
          <p:cNvPr id="12" name="Text 10"/>
          <p:cNvSpPr/>
          <p:nvPr/>
        </p:nvSpPr>
        <p:spPr>
          <a:xfrm>
            <a:off x="822960" y="191534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27</a:t>
            </a:r>
            <a:endParaRPr lang="en-US" sz="1440" dirty="0"/>
          </a:p>
        </p:txBody>
      </p:sp>
      <p:sp>
        <p:nvSpPr>
          <p:cNvPr id="13" name="Text 11"/>
          <p:cNvSpPr/>
          <p:nvPr/>
        </p:nvSpPr>
        <p:spPr>
          <a:xfrm>
            <a:off x="1254034" y="166551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Co</a:t>
            </a:r>
            <a:endParaRPr lang="en-US" sz="3000" dirty="0"/>
          </a:p>
        </p:txBody>
      </p:sp>
      <p:sp>
        <p:nvSpPr>
          <p:cNvPr id="14" name="Text 12"/>
          <p:cNvSpPr/>
          <p:nvPr/>
        </p:nvSpPr>
        <p:spPr>
          <a:xfrm>
            <a:off x="1917627" y="166551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15" name="Text 13"/>
          <p:cNvSpPr/>
          <p:nvPr/>
        </p:nvSpPr>
        <p:spPr>
          <a:xfrm>
            <a:off x="2407485" y="164592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60</a:t>
            </a:r>
            <a:endParaRPr lang="en-US" sz="1440" dirty="0"/>
          </a:p>
        </p:txBody>
      </p:sp>
      <p:sp>
        <p:nvSpPr>
          <p:cNvPr id="16" name="Text 14"/>
          <p:cNvSpPr/>
          <p:nvPr/>
        </p:nvSpPr>
        <p:spPr>
          <a:xfrm>
            <a:off x="2407485" y="191534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28</a:t>
            </a:r>
            <a:endParaRPr lang="en-US" sz="1440" dirty="0"/>
          </a:p>
        </p:txBody>
      </p:sp>
      <p:sp>
        <p:nvSpPr>
          <p:cNvPr id="17" name="Text 15"/>
          <p:cNvSpPr/>
          <p:nvPr/>
        </p:nvSpPr>
        <p:spPr>
          <a:xfrm>
            <a:off x="2838559" y="166551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Ni</a:t>
            </a:r>
            <a:endParaRPr lang="en-US" sz="3000" dirty="0"/>
          </a:p>
        </p:txBody>
      </p:sp>
      <p:sp>
        <p:nvSpPr>
          <p:cNvPr id="18" name="Text 16"/>
          <p:cNvSpPr/>
          <p:nvPr/>
        </p:nvSpPr>
        <p:spPr>
          <a:xfrm>
            <a:off x="3502152" y="166551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19" name="Text 17"/>
          <p:cNvSpPr/>
          <p:nvPr/>
        </p:nvSpPr>
        <p:spPr>
          <a:xfrm>
            <a:off x="3992009" y="164592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0</a:t>
            </a:r>
            <a:endParaRPr lang="en-US" sz="1440" dirty="0"/>
          </a:p>
        </p:txBody>
      </p:sp>
      <p:sp>
        <p:nvSpPr>
          <p:cNvPr id="20" name="Text 18"/>
          <p:cNvSpPr/>
          <p:nvPr/>
        </p:nvSpPr>
        <p:spPr>
          <a:xfrm>
            <a:off x="3992009" y="191534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−1</a:t>
            </a:r>
            <a:endParaRPr lang="en-US" sz="1440" dirty="0"/>
          </a:p>
        </p:txBody>
      </p:sp>
      <p:sp>
        <p:nvSpPr>
          <p:cNvPr id="21" name="Text 19"/>
          <p:cNvSpPr/>
          <p:nvPr/>
        </p:nvSpPr>
        <p:spPr>
          <a:xfrm>
            <a:off x="4423083" y="1665514"/>
            <a:ext cx="431074"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e</a:t>
            </a:r>
            <a:endParaRPr lang="en-US" sz="3000" dirty="0"/>
          </a:p>
        </p:txBody>
      </p:sp>
      <p:sp>
        <p:nvSpPr>
          <p:cNvPr id="22" name="Text 20"/>
          <p:cNvSpPr/>
          <p:nvPr/>
        </p:nvSpPr>
        <p:spPr>
          <a:xfrm>
            <a:off x="685800" y="2331720"/>
            <a:ext cx="5120640" cy="25603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2  The nickel-60 nucleus then gives out a gamma ray</a:t>
            </a:r>
            <a:endParaRPr lang="en-US" sz="1200" dirty="0"/>
          </a:p>
        </p:txBody>
      </p:sp>
      <p:sp>
        <p:nvSpPr>
          <p:cNvPr id="23" name="Text 21"/>
          <p:cNvSpPr/>
          <p:nvPr/>
        </p:nvSpPr>
        <p:spPr>
          <a:xfrm>
            <a:off x="822960" y="26517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60</a:t>
            </a:r>
            <a:endParaRPr lang="en-US" sz="1440" dirty="0"/>
          </a:p>
        </p:txBody>
      </p:sp>
      <p:sp>
        <p:nvSpPr>
          <p:cNvPr id="24" name="Text 22"/>
          <p:cNvSpPr/>
          <p:nvPr/>
        </p:nvSpPr>
        <p:spPr>
          <a:xfrm>
            <a:off x="822960" y="29211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28</a:t>
            </a:r>
            <a:endParaRPr lang="en-US" sz="1440" dirty="0"/>
          </a:p>
        </p:txBody>
      </p:sp>
      <p:sp>
        <p:nvSpPr>
          <p:cNvPr id="25" name="Text 23"/>
          <p:cNvSpPr/>
          <p:nvPr/>
        </p:nvSpPr>
        <p:spPr>
          <a:xfrm>
            <a:off x="1254034" y="267135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Ni</a:t>
            </a:r>
            <a:endParaRPr lang="en-US" sz="3000" dirty="0"/>
          </a:p>
        </p:txBody>
      </p:sp>
      <p:sp>
        <p:nvSpPr>
          <p:cNvPr id="26" name="Text 24"/>
          <p:cNvSpPr/>
          <p:nvPr/>
        </p:nvSpPr>
        <p:spPr>
          <a:xfrm>
            <a:off x="1917627" y="267135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27" name="Text 25"/>
          <p:cNvSpPr/>
          <p:nvPr/>
        </p:nvSpPr>
        <p:spPr>
          <a:xfrm>
            <a:off x="2407485" y="26517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60</a:t>
            </a:r>
            <a:endParaRPr lang="en-US" sz="1440" dirty="0"/>
          </a:p>
        </p:txBody>
      </p:sp>
      <p:sp>
        <p:nvSpPr>
          <p:cNvPr id="28" name="Text 26"/>
          <p:cNvSpPr/>
          <p:nvPr/>
        </p:nvSpPr>
        <p:spPr>
          <a:xfrm>
            <a:off x="2407485" y="29211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28</a:t>
            </a:r>
            <a:endParaRPr lang="en-US" sz="1440" dirty="0"/>
          </a:p>
        </p:txBody>
      </p:sp>
      <p:sp>
        <p:nvSpPr>
          <p:cNvPr id="29" name="Text 27"/>
          <p:cNvSpPr/>
          <p:nvPr/>
        </p:nvSpPr>
        <p:spPr>
          <a:xfrm>
            <a:off x="2838559" y="267135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Ni</a:t>
            </a:r>
            <a:endParaRPr lang="en-US" sz="3000" dirty="0"/>
          </a:p>
        </p:txBody>
      </p:sp>
      <p:sp>
        <p:nvSpPr>
          <p:cNvPr id="30" name="Text 28"/>
          <p:cNvSpPr/>
          <p:nvPr/>
        </p:nvSpPr>
        <p:spPr>
          <a:xfrm>
            <a:off x="3502152" y="267135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31" name="Text 29"/>
          <p:cNvSpPr/>
          <p:nvPr/>
        </p:nvSpPr>
        <p:spPr>
          <a:xfrm>
            <a:off x="3992009" y="26517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0</a:t>
            </a:r>
            <a:endParaRPr lang="en-US" sz="1440" dirty="0"/>
          </a:p>
        </p:txBody>
      </p:sp>
      <p:sp>
        <p:nvSpPr>
          <p:cNvPr id="32" name="Text 30"/>
          <p:cNvSpPr/>
          <p:nvPr/>
        </p:nvSpPr>
        <p:spPr>
          <a:xfrm>
            <a:off x="3992009" y="29211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0</a:t>
            </a:r>
            <a:endParaRPr lang="en-US" sz="1440" dirty="0"/>
          </a:p>
        </p:txBody>
      </p:sp>
      <p:sp>
        <p:nvSpPr>
          <p:cNvPr id="33" name="Text 31"/>
          <p:cNvSpPr/>
          <p:nvPr/>
        </p:nvSpPr>
        <p:spPr>
          <a:xfrm>
            <a:off x="4423083" y="2671354"/>
            <a:ext cx="431074"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γ</a:t>
            </a:r>
            <a:endParaRPr lang="en-US" sz="3000" dirty="0"/>
          </a:p>
        </p:txBody>
      </p:sp>
      <p:sp>
        <p:nvSpPr>
          <p:cNvPr id="34" name="Text 32"/>
          <p:cNvSpPr/>
          <p:nvPr/>
        </p:nvSpPr>
        <p:spPr>
          <a:xfrm>
            <a:off x="685800" y="3246120"/>
            <a:ext cx="5120640" cy="256032"/>
          </a:xfrm>
          <a:prstGeom prst="rect">
            <a:avLst/>
          </a:prstGeom>
          <a:noFill/>
          <a:ln/>
        </p:spPr>
        <p:txBody>
          <a:bodyPr wrap="square" lIns="0" tIns="0" rIns="0" bIns="0" rtlCol="0" anchor="ctr"/>
          <a:lstStyle/>
          <a:p>
            <a:pPr algn="l" indent="0" marL="0">
              <a:buNone/>
            </a:pPr>
            <a:r>
              <a:rPr lang="en-US" sz="1050" i="1" dirty="0">
                <a:solidFill>
                  <a:srgbClr val="2E8B57"/>
                </a:solidFill>
                <a:latin typeface="Calibri" pitchFamily="34" charset="0"/>
                <a:ea typeface="Calibri" pitchFamily="34" charset="-122"/>
                <a:cs typeface="Calibri" pitchFamily="34" charset="-120"/>
              </a:rPr>
              <a:t>same A, same Z: the nucleus only loses energy</a:t>
            </a:r>
            <a:endParaRPr lang="en-US" sz="1050" dirty="0"/>
          </a:p>
        </p:txBody>
      </p:sp>
      <p:sp>
        <p:nvSpPr>
          <p:cNvPr id="35" name="Text 33"/>
          <p:cNvSpPr/>
          <p:nvPr/>
        </p:nvSpPr>
        <p:spPr>
          <a:xfrm>
            <a:off x="685800" y="3703320"/>
            <a:ext cx="5120640" cy="256032"/>
          </a:xfrm>
          <a:prstGeom prst="rect">
            <a:avLst/>
          </a:prstGeom>
          <a:noFill/>
          <a:ln/>
        </p:spPr>
        <p:txBody>
          <a:bodyPr wrap="square" lIns="0" tIns="0" rIns="0" bIns="0" rtlCol="0" anchor="ctr"/>
          <a:lstStyle/>
          <a:p>
            <a:pPr algn="l" indent="0" marL="0">
              <a:buNone/>
            </a:pPr>
            <a:r>
              <a:rPr lang="en-US" sz="1200" b="1" dirty="0">
                <a:solidFill>
                  <a:srgbClr val="5A6275"/>
                </a:solidFill>
                <a:latin typeface="Calibri" pitchFamily="34" charset="0"/>
                <a:ea typeface="Calibri" pitchFamily="34" charset="-122"/>
                <a:cs typeface="Calibri" pitchFamily="34" charset="-120"/>
              </a:rPr>
              <a:t>3  Neutron emission from beryllium-13</a:t>
            </a:r>
            <a:endParaRPr lang="en-US" sz="1200" dirty="0"/>
          </a:p>
        </p:txBody>
      </p:sp>
      <p:sp>
        <p:nvSpPr>
          <p:cNvPr id="36" name="Text 34"/>
          <p:cNvSpPr/>
          <p:nvPr/>
        </p:nvSpPr>
        <p:spPr>
          <a:xfrm>
            <a:off x="822960" y="40233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13</a:t>
            </a:r>
            <a:endParaRPr lang="en-US" sz="1440" dirty="0"/>
          </a:p>
        </p:txBody>
      </p:sp>
      <p:sp>
        <p:nvSpPr>
          <p:cNvPr id="37" name="Text 35"/>
          <p:cNvSpPr/>
          <p:nvPr/>
        </p:nvSpPr>
        <p:spPr>
          <a:xfrm>
            <a:off x="822960" y="42927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4</a:t>
            </a:r>
            <a:endParaRPr lang="en-US" sz="1440" dirty="0"/>
          </a:p>
        </p:txBody>
      </p:sp>
      <p:sp>
        <p:nvSpPr>
          <p:cNvPr id="38" name="Text 36"/>
          <p:cNvSpPr/>
          <p:nvPr/>
        </p:nvSpPr>
        <p:spPr>
          <a:xfrm>
            <a:off x="1254034" y="404295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Be</a:t>
            </a:r>
            <a:endParaRPr lang="en-US" sz="3000" dirty="0"/>
          </a:p>
        </p:txBody>
      </p:sp>
      <p:sp>
        <p:nvSpPr>
          <p:cNvPr id="39" name="Text 37"/>
          <p:cNvSpPr/>
          <p:nvPr/>
        </p:nvSpPr>
        <p:spPr>
          <a:xfrm>
            <a:off x="1917627" y="404295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40" name="Text 38"/>
          <p:cNvSpPr/>
          <p:nvPr/>
        </p:nvSpPr>
        <p:spPr>
          <a:xfrm>
            <a:off x="2407485" y="40233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12</a:t>
            </a:r>
            <a:endParaRPr lang="en-US" sz="1440" dirty="0"/>
          </a:p>
        </p:txBody>
      </p:sp>
      <p:sp>
        <p:nvSpPr>
          <p:cNvPr id="41" name="Text 39"/>
          <p:cNvSpPr/>
          <p:nvPr/>
        </p:nvSpPr>
        <p:spPr>
          <a:xfrm>
            <a:off x="2407485" y="42927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4</a:t>
            </a:r>
            <a:endParaRPr lang="en-US" sz="1440" dirty="0"/>
          </a:p>
        </p:txBody>
      </p:sp>
      <p:sp>
        <p:nvSpPr>
          <p:cNvPr id="42" name="Text 40"/>
          <p:cNvSpPr/>
          <p:nvPr/>
        </p:nvSpPr>
        <p:spPr>
          <a:xfrm>
            <a:off x="2838559" y="4042954"/>
            <a:ext cx="627017"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Be</a:t>
            </a:r>
            <a:endParaRPr lang="en-US" sz="3000" dirty="0"/>
          </a:p>
        </p:txBody>
      </p:sp>
      <p:sp>
        <p:nvSpPr>
          <p:cNvPr id="43" name="Text 41"/>
          <p:cNvSpPr/>
          <p:nvPr/>
        </p:nvSpPr>
        <p:spPr>
          <a:xfrm>
            <a:off x="3502152" y="4042954"/>
            <a:ext cx="489857" cy="489857"/>
          </a:xfrm>
          <a:prstGeom prst="rect">
            <a:avLst/>
          </a:prstGeom>
          <a:noFill/>
          <a:ln/>
        </p:spPr>
        <p:txBody>
          <a:bodyPr wrap="square" lIns="0" tIns="0" rIns="0" bIns="0" rtlCol="0" anchor="ctr"/>
          <a:lstStyle/>
          <a:p>
            <a:pPr algn="ctr" indent="0" marL="0">
              <a:buNone/>
            </a:pPr>
            <a:r>
              <a:rPr lang="en-US" sz="2700" b="1" dirty="0">
                <a:solidFill>
                  <a:srgbClr val="1A2340"/>
                </a:solidFill>
                <a:latin typeface="Calibri" pitchFamily="34" charset="0"/>
                <a:ea typeface="Calibri" pitchFamily="34" charset="-122"/>
                <a:cs typeface="Calibri" pitchFamily="34" charset="-120"/>
              </a:rPr>
              <a:t>+</a:t>
            </a:r>
            <a:endParaRPr lang="en-US" sz="2700" dirty="0"/>
          </a:p>
        </p:txBody>
      </p:sp>
      <p:sp>
        <p:nvSpPr>
          <p:cNvPr id="44" name="Text 42"/>
          <p:cNvSpPr/>
          <p:nvPr/>
        </p:nvSpPr>
        <p:spPr>
          <a:xfrm>
            <a:off x="3992009" y="4023360"/>
            <a:ext cx="411480" cy="244929"/>
          </a:xfrm>
          <a:prstGeom prst="rect">
            <a:avLst/>
          </a:prstGeom>
          <a:noFill/>
          <a:ln/>
        </p:spPr>
        <p:txBody>
          <a:bodyPr wrap="square" lIns="0" tIns="0" rIns="0" bIns="0" rtlCol="0" anchor="b"/>
          <a:lstStyle/>
          <a:p>
            <a:pPr algn="r" indent="0" marL="0">
              <a:buNone/>
            </a:pPr>
            <a:r>
              <a:rPr lang="en-US" sz="1440" b="1" dirty="0">
                <a:solidFill>
                  <a:srgbClr val="2E5BD8"/>
                </a:solidFill>
                <a:latin typeface="Calibri" pitchFamily="34" charset="0"/>
                <a:ea typeface="Calibri" pitchFamily="34" charset="-122"/>
                <a:cs typeface="Calibri" pitchFamily="34" charset="-120"/>
              </a:rPr>
              <a:t>1</a:t>
            </a:r>
            <a:endParaRPr lang="en-US" sz="1440" dirty="0"/>
          </a:p>
        </p:txBody>
      </p:sp>
      <p:sp>
        <p:nvSpPr>
          <p:cNvPr id="45" name="Text 43"/>
          <p:cNvSpPr/>
          <p:nvPr/>
        </p:nvSpPr>
        <p:spPr>
          <a:xfrm>
            <a:off x="3992009" y="4292781"/>
            <a:ext cx="411480" cy="244929"/>
          </a:xfrm>
          <a:prstGeom prst="rect">
            <a:avLst/>
          </a:prstGeom>
          <a:noFill/>
          <a:ln/>
        </p:spPr>
        <p:txBody>
          <a:bodyPr wrap="square" lIns="0" tIns="0" rIns="0" bIns="0" rtlCol="0" anchor="t"/>
          <a:lstStyle/>
          <a:p>
            <a:pPr algn="r" indent="0" marL="0">
              <a:buNone/>
            </a:pPr>
            <a:r>
              <a:rPr lang="en-US" sz="1440" b="1" dirty="0">
                <a:solidFill>
                  <a:srgbClr val="C8414C"/>
                </a:solidFill>
                <a:latin typeface="Calibri" pitchFamily="34" charset="0"/>
                <a:ea typeface="Calibri" pitchFamily="34" charset="-122"/>
                <a:cs typeface="Calibri" pitchFamily="34" charset="-120"/>
              </a:rPr>
              <a:t>0</a:t>
            </a:r>
            <a:endParaRPr lang="en-US" sz="1440" dirty="0"/>
          </a:p>
        </p:txBody>
      </p:sp>
      <p:sp>
        <p:nvSpPr>
          <p:cNvPr id="46" name="Text 44"/>
          <p:cNvSpPr/>
          <p:nvPr/>
        </p:nvSpPr>
        <p:spPr>
          <a:xfrm>
            <a:off x="4423083" y="4042954"/>
            <a:ext cx="431074" cy="489857"/>
          </a:xfrm>
          <a:prstGeom prst="rect">
            <a:avLst/>
          </a:prstGeom>
          <a:noFill/>
          <a:ln/>
        </p:spPr>
        <p:txBody>
          <a:bodyPr wrap="square" lIns="0" tIns="0" rIns="0" bIns="0" rtlCol="0" anchor="ctr"/>
          <a:lstStyle/>
          <a:p>
            <a:pPr algn="l" indent="0" marL="0">
              <a:buNone/>
            </a:pPr>
            <a:r>
              <a:rPr lang="en-US" sz="3000" b="1" dirty="0">
                <a:solidFill>
                  <a:srgbClr val="1A2340"/>
                </a:solidFill>
                <a:latin typeface="Georgia" pitchFamily="34" charset="0"/>
                <a:ea typeface="Georgia" pitchFamily="34" charset="-122"/>
                <a:cs typeface="Georgia" pitchFamily="34" charset="-120"/>
              </a:rPr>
              <a:t>n</a:t>
            </a:r>
            <a:endParaRPr lang="en-US" sz="3000" dirty="0"/>
          </a:p>
        </p:txBody>
      </p:sp>
      <p:sp>
        <p:nvSpPr>
          <p:cNvPr id="47" name="Text 45"/>
          <p:cNvSpPr/>
          <p:nvPr/>
        </p:nvSpPr>
        <p:spPr>
          <a:xfrm>
            <a:off x="685800" y="4617720"/>
            <a:ext cx="5120640" cy="256032"/>
          </a:xfrm>
          <a:prstGeom prst="rect">
            <a:avLst/>
          </a:prstGeom>
          <a:noFill/>
          <a:ln/>
        </p:spPr>
        <p:txBody>
          <a:bodyPr wrap="square" lIns="0" tIns="0" rIns="0" bIns="0" rtlCol="0" anchor="ctr"/>
          <a:lstStyle/>
          <a:p>
            <a:pPr algn="l" indent="0" marL="0">
              <a:buNone/>
            </a:pPr>
            <a:r>
              <a:rPr lang="en-US" sz="1050" i="1" dirty="0">
                <a:solidFill>
                  <a:srgbClr val="5A6275"/>
                </a:solidFill>
                <a:latin typeface="Calibri" pitchFamily="34" charset="0"/>
                <a:ea typeface="Calibri" pitchFamily="34" charset="-122"/>
                <a:cs typeface="Calibri" pitchFamily="34" charset="-120"/>
              </a:rPr>
              <a:t>A: 13 = 12 + 1 ✓   Z: 4 = 4 + 0 ✓   → an isotope of beryllium</a:t>
            </a:r>
            <a:endParaRPr lang="en-US" sz="1050" dirty="0"/>
          </a:p>
        </p:txBody>
      </p:sp>
      <p:sp>
        <p:nvSpPr>
          <p:cNvPr id="48"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Gamma and neutron equations</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Gamma: </a:t>
            </a:r>
            <a:r>
              <a:rPr lang="en-US" sz="1150" baseline="30000" dirty="0">
                <a:solidFill>
                  <a:srgbClr val="262B3A"/>
                </a:solidFill>
                <a:latin typeface="Calibri" pitchFamily="34" charset="0"/>
                <a:ea typeface="Calibri" pitchFamily="34" charset="-122"/>
                <a:cs typeface="Calibri" pitchFamily="34" charset="-120"/>
              </a:rPr>
              <a:t>0</a:t>
            </a:r>
            <a:r>
              <a:rPr lang="en-US" sz="1150" baseline="-40000" dirty="0">
                <a:solidFill>
                  <a:srgbClr val="262B3A"/>
                </a:solidFill>
                <a:latin typeface="Calibri" pitchFamily="34" charset="0"/>
                <a:ea typeface="Calibri" pitchFamily="34" charset="-122"/>
                <a:cs typeface="Calibri" pitchFamily="34" charset="-120"/>
              </a:rPr>
              <a:t>0</a:t>
            </a:r>
            <a:r>
              <a:rPr lang="en-US" sz="1150" dirty="0">
                <a:solidFill>
                  <a:srgbClr val="262B3A"/>
                </a:solidFill>
                <a:latin typeface="Calibri" pitchFamily="34" charset="0"/>
                <a:ea typeface="Calibri" pitchFamily="34" charset="-122"/>
                <a:cs typeface="Calibri" pitchFamily="34" charset="-120"/>
              </a:rPr>
              <a:t>γ. A and Z of the nucleus </a:t>
            </a:r>
            <a:r>
              <a:rPr lang="en-US" sz="1150" b="1" dirty="0">
                <a:solidFill>
                  <a:srgbClr val="262B3A"/>
                </a:solidFill>
                <a:latin typeface="Calibri" pitchFamily="34" charset="0"/>
                <a:ea typeface="Calibri" pitchFamily="34" charset="-122"/>
                <a:cs typeface="Calibri" pitchFamily="34" charset="-120"/>
              </a:rPr>
              <a:t>do not change</a:t>
            </a:r>
            <a:r>
              <a:rPr lang="en-US" sz="1150" dirty="0">
                <a:solidFill>
                  <a:srgbClr val="262B3A"/>
                </a:solidFill>
                <a:latin typeface="Calibri" pitchFamily="34" charset="0"/>
                <a:ea typeface="Calibri" pitchFamily="34" charset="-122"/>
                <a:cs typeface="Calibri" pitchFamily="34" charset="-120"/>
              </a:rPr>
              <a:t>; it goes from an excited (high-energy) state to a lower-energy state.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Neutron: </a:t>
            </a:r>
            <a:r>
              <a:rPr lang="en-US" sz="1150" baseline="30000" dirty="0">
                <a:solidFill>
                  <a:srgbClr val="262B3A"/>
                </a:solidFill>
                <a:latin typeface="Calibri" pitchFamily="34" charset="0"/>
                <a:ea typeface="Calibri" pitchFamily="34" charset="-122"/>
                <a:cs typeface="Calibri" pitchFamily="34" charset="-120"/>
              </a:rPr>
              <a:t>1</a:t>
            </a:r>
            <a:r>
              <a:rPr lang="en-US" sz="1150" baseline="-40000" dirty="0">
                <a:solidFill>
                  <a:srgbClr val="262B3A"/>
                </a:solidFill>
                <a:latin typeface="Calibri" pitchFamily="34" charset="0"/>
                <a:ea typeface="Calibri" pitchFamily="34" charset="-122"/>
                <a:cs typeface="Calibri" pitchFamily="34" charset="-120"/>
              </a:rPr>
              <a:t>0</a:t>
            </a:r>
            <a:r>
              <a:rPr lang="en-US" sz="1150" dirty="0">
                <a:solidFill>
                  <a:srgbClr val="262B3A"/>
                </a:solidFill>
                <a:latin typeface="Calibri" pitchFamily="34" charset="0"/>
                <a:ea typeface="Calibri" pitchFamily="34" charset="-122"/>
                <a:cs typeface="Calibri" pitchFamily="34" charset="-120"/>
              </a:rPr>
              <a:t>n. A </a:t>
            </a:r>
            <a:r>
              <a:rPr lang="en-US" sz="1150" b="1" dirty="0">
                <a:solidFill>
                  <a:srgbClr val="262B3A"/>
                </a:solidFill>
                <a:latin typeface="Calibri" pitchFamily="34" charset="0"/>
                <a:ea typeface="Calibri" pitchFamily="34" charset="-122"/>
                <a:cs typeface="Calibri" pitchFamily="34" charset="-120"/>
              </a:rPr>
              <a:t>falls by 1</a:t>
            </a:r>
            <a:r>
              <a:rPr lang="en-US" sz="1150" dirty="0">
                <a:solidFill>
                  <a:srgbClr val="262B3A"/>
                </a:solidFill>
                <a:latin typeface="Calibri" pitchFamily="34" charset="0"/>
                <a:ea typeface="Calibri" pitchFamily="34" charset="-122"/>
                <a:cs typeface="Calibri" pitchFamily="34" charset="-120"/>
              </a:rPr>
              <a:t>, Z is unchanged: same element, different isotope.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Gamma is often emitted </a:t>
            </a:r>
            <a:r>
              <a:rPr lang="en-US" sz="1150" b="1" dirty="0">
                <a:solidFill>
                  <a:srgbClr val="262B3A"/>
                </a:solidFill>
                <a:latin typeface="Calibri" pitchFamily="34" charset="0"/>
                <a:ea typeface="Calibri" pitchFamily="34" charset="-122"/>
                <a:cs typeface="Calibri" pitchFamily="34" charset="-120"/>
              </a:rPr>
              <a:t>straight after</a:t>
            </a:r>
            <a:r>
              <a:rPr lang="en-US" sz="1150" dirty="0">
                <a:solidFill>
                  <a:srgbClr val="262B3A"/>
                </a:solidFill>
                <a:latin typeface="Calibri" pitchFamily="34" charset="0"/>
                <a:ea typeface="Calibri" pitchFamily="34" charset="-122"/>
                <a:cs typeface="Calibri" pitchFamily="34" charset="-120"/>
              </a:rPr>
              <a:t> an alpha or beta decay.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Always check: top numbers balance, bottom numbers balance.</a:t>
            </a:r>
            <a:endParaRPr lang="en-US" sz="115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Strontium-90 (</a:t>
            </a:r>
            <a:r>
              <a:rPr lang="en-US" sz="1100" i="1" baseline="30000" dirty="0">
                <a:solidFill>
                  <a:srgbClr val="262B3A"/>
                </a:solidFill>
                <a:latin typeface="Calibri" pitchFamily="34" charset="0"/>
                <a:ea typeface="Calibri" pitchFamily="34" charset="-122"/>
                <a:cs typeface="Calibri" pitchFamily="34" charset="-120"/>
              </a:rPr>
              <a:t>90</a:t>
            </a:r>
            <a:r>
              <a:rPr lang="en-US" sz="1100" i="1" baseline="-40000" dirty="0">
                <a:solidFill>
                  <a:srgbClr val="262B3A"/>
                </a:solidFill>
                <a:latin typeface="Calibri" pitchFamily="34" charset="0"/>
                <a:ea typeface="Calibri" pitchFamily="34" charset="-122"/>
                <a:cs typeface="Calibri" pitchFamily="34" charset="-120"/>
              </a:rPr>
              <a:t>38</a:t>
            </a:r>
            <a:r>
              <a:rPr lang="en-US" sz="1100" i="1" dirty="0">
                <a:solidFill>
                  <a:srgbClr val="262B3A"/>
                </a:solidFill>
                <a:latin typeface="Calibri" pitchFamily="34" charset="0"/>
                <a:ea typeface="Calibri" pitchFamily="34" charset="-122"/>
                <a:cs typeface="Calibri" pitchFamily="34" charset="-120"/>
              </a:rPr>
              <a:t>Sr) emits a beta particle and becomes yttrium (Y). Write the equation.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   </a:t>
            </a:r>
            <a:r>
              <a:rPr lang="en-US" sz="1100" dirty="0">
                <a:solidFill>
                  <a:srgbClr val="262B3A"/>
                </a:solidFill>
                <a:latin typeface="Calibri" pitchFamily="34" charset="0"/>
                <a:ea typeface="Calibri" pitchFamily="34" charset="-122"/>
                <a:cs typeface="Calibri" pitchFamily="34" charset="-120"/>
              </a:rPr>
              <a:t>unchanged: </a:t>
            </a:r>
            <a:r>
              <a:rPr lang="en-US" sz="1100" b="1" dirty="0">
                <a:solidFill>
                  <a:srgbClr val="262B3A"/>
                </a:solidFill>
                <a:latin typeface="Calibri" pitchFamily="34" charset="0"/>
                <a:ea typeface="Calibri" pitchFamily="34" charset="-122"/>
                <a:cs typeface="Calibri" pitchFamily="34" charset="-120"/>
              </a:rPr>
              <a:t>90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Z   </a:t>
            </a:r>
            <a:r>
              <a:rPr lang="en-US" sz="1100" dirty="0">
                <a:solidFill>
                  <a:srgbClr val="262B3A"/>
                </a:solidFill>
                <a:latin typeface="Calibri" pitchFamily="34" charset="0"/>
                <a:ea typeface="Calibri" pitchFamily="34" charset="-122"/>
                <a:cs typeface="Calibri" pitchFamily="34" charset="-120"/>
              </a:rPr>
              <a:t>38 + 1 = </a:t>
            </a:r>
            <a:r>
              <a:rPr lang="en-US" sz="1100" b="1" dirty="0">
                <a:solidFill>
                  <a:srgbClr val="262B3A"/>
                </a:solidFill>
                <a:latin typeface="Calibri" pitchFamily="34" charset="0"/>
                <a:ea typeface="Calibri" pitchFamily="34" charset="-122"/>
                <a:cs typeface="Calibri" pitchFamily="34" charset="-120"/>
              </a:rPr>
              <a:t>39</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A: 90 = 90 + 0 ✓   Z: 38 = 39 + (−1)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baseline="30000" dirty="0">
                <a:solidFill>
                  <a:srgbClr val="C8414C"/>
                </a:solidFill>
                <a:latin typeface="Calibri" pitchFamily="34" charset="0"/>
                <a:ea typeface="Calibri" pitchFamily="34" charset="-122"/>
                <a:cs typeface="Calibri" pitchFamily="34" charset="-120"/>
              </a:rPr>
              <a:t>90</a:t>
            </a:r>
            <a:r>
              <a:rPr lang="en-US" sz="1100" b="1" baseline="-40000" dirty="0">
                <a:solidFill>
                  <a:srgbClr val="C8414C"/>
                </a:solidFill>
                <a:latin typeface="Calibri" pitchFamily="34" charset="0"/>
                <a:ea typeface="Calibri" pitchFamily="34" charset="-122"/>
                <a:cs typeface="Calibri" pitchFamily="34" charset="-120"/>
              </a:rPr>
              <a:t>38</a:t>
            </a:r>
            <a:r>
              <a:rPr lang="en-US" sz="1100" b="1" dirty="0">
                <a:solidFill>
                  <a:srgbClr val="C8414C"/>
                </a:solidFill>
                <a:latin typeface="Calibri" pitchFamily="34" charset="0"/>
                <a:ea typeface="Calibri" pitchFamily="34" charset="-122"/>
                <a:cs typeface="Calibri" pitchFamily="34" charset="-120"/>
              </a:rPr>
              <a:t>Sr → </a:t>
            </a:r>
            <a:r>
              <a:rPr lang="en-US" sz="1100" b="1" baseline="30000" dirty="0">
                <a:solidFill>
                  <a:srgbClr val="C8414C"/>
                </a:solidFill>
                <a:latin typeface="Calibri" pitchFamily="34" charset="0"/>
                <a:ea typeface="Calibri" pitchFamily="34" charset="-122"/>
                <a:cs typeface="Calibri" pitchFamily="34" charset="-120"/>
              </a:rPr>
              <a:t>90</a:t>
            </a:r>
            <a:r>
              <a:rPr lang="en-US" sz="1100" b="1" baseline="-40000" dirty="0">
                <a:solidFill>
                  <a:srgbClr val="C8414C"/>
                </a:solidFill>
                <a:latin typeface="Calibri" pitchFamily="34" charset="0"/>
                <a:ea typeface="Calibri" pitchFamily="34" charset="-122"/>
                <a:cs typeface="Calibri" pitchFamily="34" charset="-120"/>
              </a:rPr>
              <a:t>39</a:t>
            </a:r>
            <a:r>
              <a:rPr lang="en-US" sz="1100" b="1" dirty="0">
                <a:solidFill>
                  <a:srgbClr val="C8414C"/>
                </a:solidFill>
                <a:latin typeface="Calibri" pitchFamily="34" charset="0"/>
                <a:ea typeface="Calibri" pitchFamily="34" charset="-122"/>
                <a:cs typeface="Calibri" pitchFamily="34" charset="-120"/>
              </a:rPr>
              <a:t>Y + </a:t>
            </a:r>
            <a:r>
              <a:rPr lang="en-US" sz="1100" b="1" baseline="30000" dirty="0">
                <a:solidFill>
                  <a:srgbClr val="C8414C"/>
                </a:solidFill>
                <a:latin typeface="Calibri" pitchFamily="34" charset="0"/>
                <a:ea typeface="Calibri" pitchFamily="34" charset="-122"/>
                <a:cs typeface="Calibri" pitchFamily="34" charset="-120"/>
              </a:rPr>
              <a:t>0</a:t>
            </a:r>
            <a:r>
              <a:rPr lang="en-US" sz="1100" b="1" baseline="-40000" dirty="0">
                <a:solidFill>
                  <a:srgbClr val="C8414C"/>
                </a:solidFill>
                <a:latin typeface="Calibri" pitchFamily="34" charset="0"/>
                <a:ea typeface="Calibri" pitchFamily="34" charset="-122"/>
                <a:cs typeface="Calibri" pitchFamily="34" charset="-120"/>
              </a:rPr>
              <a:t>−1</a:t>
            </a:r>
            <a:r>
              <a:rPr lang="en-US" sz="1100" b="1" dirty="0">
                <a:solidFill>
                  <a:srgbClr val="C8414C"/>
                </a:solidFill>
                <a:latin typeface="Calibri" pitchFamily="34" charset="0"/>
                <a:ea typeface="Calibri" pitchFamily="34" charset="-122"/>
                <a:cs typeface="Calibri" pitchFamily="34" charset="-120"/>
              </a:rPr>
              <a:t>e</a:t>
            </a:r>
            <a:endParaRPr lang="en-US" sz="110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Iodine-131 (</a:t>
            </a:r>
            <a:r>
              <a:rPr lang="en-US" sz="1150" baseline="30000" dirty="0">
                <a:solidFill>
                  <a:srgbClr val="262B3A"/>
                </a:solidFill>
                <a:latin typeface="Calibri" pitchFamily="34" charset="0"/>
                <a:ea typeface="Calibri" pitchFamily="34" charset="-122"/>
                <a:cs typeface="Calibri" pitchFamily="34" charset="-120"/>
              </a:rPr>
              <a:t>131</a:t>
            </a:r>
            <a:r>
              <a:rPr lang="en-US" sz="1150" baseline="-40000" dirty="0">
                <a:solidFill>
                  <a:srgbClr val="262B3A"/>
                </a:solidFill>
                <a:latin typeface="Calibri" pitchFamily="34" charset="0"/>
                <a:ea typeface="Calibri" pitchFamily="34" charset="-122"/>
                <a:cs typeface="Calibri" pitchFamily="34" charset="-120"/>
              </a:rPr>
              <a:t>53</a:t>
            </a:r>
            <a:r>
              <a:rPr lang="en-US" sz="1150" dirty="0">
                <a:solidFill>
                  <a:srgbClr val="262B3A"/>
                </a:solidFill>
                <a:latin typeface="Calibri" pitchFamily="34" charset="0"/>
                <a:ea typeface="Calibri" pitchFamily="34" charset="-122"/>
                <a:cs typeface="Calibri" pitchFamily="34" charset="-120"/>
              </a:rPr>
              <a:t>I) emits a beta particle and becomes xenon (Xe). Write the balanced equation.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P5.1.6–P5.1.7 • nuclear equations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Plutonium-239 decays: </a:t>
            </a:r>
            <a:r>
              <a:rPr lang="en-US" sz="1250" baseline="30000" dirty="0">
                <a:solidFill>
                  <a:srgbClr val="262B3A"/>
                </a:solidFill>
                <a:latin typeface="Calibri" pitchFamily="34" charset="0"/>
                <a:ea typeface="Calibri" pitchFamily="34" charset="-122"/>
                <a:cs typeface="Calibri" pitchFamily="34" charset="-120"/>
              </a:rPr>
              <a:t>239</a:t>
            </a:r>
            <a:r>
              <a:rPr lang="en-US" sz="1250" baseline="-40000" dirty="0">
                <a:solidFill>
                  <a:srgbClr val="262B3A"/>
                </a:solidFill>
                <a:latin typeface="Calibri" pitchFamily="34" charset="0"/>
                <a:ea typeface="Calibri" pitchFamily="34" charset="-122"/>
                <a:cs typeface="Calibri" pitchFamily="34" charset="-120"/>
              </a:rPr>
              <a:t>94</a:t>
            </a:r>
            <a:r>
              <a:rPr lang="en-US" sz="1250" dirty="0">
                <a:solidFill>
                  <a:srgbClr val="262B3A"/>
                </a:solidFill>
                <a:latin typeface="Calibri" pitchFamily="34" charset="0"/>
                <a:ea typeface="Calibri" pitchFamily="34" charset="-122"/>
                <a:cs typeface="Calibri" pitchFamily="34" charset="-120"/>
              </a:rPr>
              <a:t>Pu → </a:t>
            </a:r>
            <a:r>
              <a:rPr lang="en-US" sz="1250" baseline="30000" dirty="0">
                <a:solidFill>
                  <a:srgbClr val="262B3A"/>
                </a:solidFill>
                <a:latin typeface="Calibri" pitchFamily="34" charset="0"/>
                <a:ea typeface="Calibri" pitchFamily="34" charset="-122"/>
                <a:cs typeface="Calibri" pitchFamily="34" charset="-120"/>
              </a:rPr>
              <a:t>235</a:t>
            </a:r>
            <a:r>
              <a:rPr lang="en-US" sz="1250" baseline="-40000" dirty="0">
                <a:solidFill>
                  <a:srgbClr val="262B3A"/>
                </a:solidFill>
                <a:latin typeface="Calibri" pitchFamily="34" charset="0"/>
                <a:ea typeface="Calibri" pitchFamily="34" charset="-122"/>
                <a:cs typeface="Calibri" pitchFamily="34" charset="-120"/>
              </a:rPr>
              <a:t>92</a:t>
            </a:r>
            <a:r>
              <a:rPr lang="en-US" sz="1250" dirty="0">
                <a:solidFill>
                  <a:srgbClr val="262B3A"/>
                </a:solidFill>
                <a:latin typeface="Calibri" pitchFamily="34" charset="0"/>
                <a:ea typeface="Calibri" pitchFamily="34" charset="-122"/>
                <a:cs typeface="Calibri" pitchFamily="34" charset="-120"/>
              </a:rPr>
              <a:t>U + </a:t>
            </a:r>
            <a:r>
              <a:rPr lang="en-US" sz="1250" b="1" dirty="0">
                <a:solidFill>
                  <a:srgbClr val="262B3A"/>
                </a:solidFill>
                <a:latin typeface="Calibri" pitchFamily="34" charset="0"/>
                <a:ea typeface="Calibri" pitchFamily="34" charset="-122"/>
                <a:cs typeface="Calibri" pitchFamily="34" charset="-120"/>
              </a:rPr>
              <a:t>X</a:t>
            </a:r>
            <a:r>
              <a:rPr lang="en-US" sz="1250" dirty="0">
                <a:solidFill>
                  <a:srgbClr val="262B3A"/>
                </a:solidFill>
                <a:latin typeface="Calibri" pitchFamily="34" charset="0"/>
                <a:ea typeface="Calibri" pitchFamily="34" charset="-122"/>
                <a:cs typeface="Calibri" pitchFamily="34" charset="-120"/>
              </a:rPr>
              <a:t>. Identify </a:t>
            </a:r>
            <a:r>
              <a:rPr lang="en-US" sz="1250" b="1" dirty="0">
                <a:solidFill>
                  <a:srgbClr val="262B3A"/>
                </a:solidFill>
                <a:latin typeface="Calibri" pitchFamily="34" charset="0"/>
                <a:ea typeface="Calibri" pitchFamily="34" charset="-122"/>
                <a:cs typeface="Calibri" pitchFamily="34" charset="-120"/>
              </a:rPr>
              <a:t>X</a:t>
            </a:r>
            <a:r>
              <a:rPr lang="en-US" sz="1250" dirty="0">
                <a:solidFill>
                  <a:srgbClr val="262B3A"/>
                </a:solidFill>
                <a:latin typeface="Calibri" pitchFamily="34" charset="0"/>
                <a:ea typeface="Calibri" pitchFamily="34" charset="-122"/>
                <a:cs typeface="Calibri" pitchFamily="34" charset="-120"/>
              </a:rPr>
              <a:t> and give its mass number and atomic number.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Potassium-40 (</a:t>
            </a:r>
            <a:r>
              <a:rPr lang="en-US" sz="1250" baseline="30000" dirty="0">
                <a:solidFill>
                  <a:srgbClr val="262B3A"/>
                </a:solidFill>
                <a:latin typeface="Calibri" pitchFamily="34" charset="0"/>
                <a:ea typeface="Calibri" pitchFamily="34" charset="-122"/>
                <a:cs typeface="Calibri" pitchFamily="34" charset="-120"/>
              </a:rPr>
              <a:t>40</a:t>
            </a:r>
            <a:r>
              <a:rPr lang="en-US" sz="1250" baseline="-40000" dirty="0">
                <a:solidFill>
                  <a:srgbClr val="262B3A"/>
                </a:solidFill>
                <a:latin typeface="Calibri" pitchFamily="34" charset="0"/>
                <a:ea typeface="Calibri" pitchFamily="34" charset="-122"/>
                <a:cs typeface="Calibri" pitchFamily="34" charset="-120"/>
              </a:rPr>
              <a:t>19</a:t>
            </a:r>
            <a:r>
              <a:rPr lang="en-US" sz="1250" dirty="0">
                <a:solidFill>
                  <a:srgbClr val="262B3A"/>
                </a:solidFill>
                <a:latin typeface="Calibri" pitchFamily="34" charset="0"/>
                <a:ea typeface="Calibri" pitchFamily="34" charset="-122"/>
                <a:cs typeface="Calibri" pitchFamily="34" charset="-120"/>
              </a:rPr>
              <a:t>K) decays by beta emission to calcium (Ca). Write a balanced equation for this decay.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Complete the equation: </a:t>
            </a:r>
            <a:r>
              <a:rPr lang="en-US" sz="1250" baseline="30000" dirty="0">
                <a:solidFill>
                  <a:srgbClr val="262B3A"/>
                </a:solidFill>
                <a:latin typeface="Calibri" pitchFamily="34" charset="0"/>
                <a:ea typeface="Calibri" pitchFamily="34" charset="-122"/>
                <a:cs typeface="Calibri" pitchFamily="34" charset="-120"/>
              </a:rPr>
              <a:t>5</a:t>
            </a:r>
            <a:r>
              <a:rPr lang="en-US" sz="1250" baseline="-40000" dirty="0">
                <a:solidFill>
                  <a:srgbClr val="262B3A"/>
                </a:solidFill>
                <a:latin typeface="Calibri" pitchFamily="34" charset="0"/>
                <a:ea typeface="Calibri" pitchFamily="34" charset="-122"/>
                <a:cs typeface="Calibri" pitchFamily="34" charset="-120"/>
              </a:rPr>
              <a:t>2</a:t>
            </a:r>
            <a:r>
              <a:rPr lang="en-US" sz="1250" dirty="0">
                <a:solidFill>
                  <a:srgbClr val="262B3A"/>
                </a:solidFill>
                <a:latin typeface="Calibri" pitchFamily="34" charset="0"/>
                <a:ea typeface="Calibri" pitchFamily="34" charset="-122"/>
                <a:cs typeface="Calibri" pitchFamily="34" charset="-120"/>
              </a:rPr>
              <a:t>He → </a:t>
            </a:r>
            <a:r>
              <a:rPr lang="en-US" sz="1250" baseline="30000" dirty="0">
                <a:solidFill>
                  <a:srgbClr val="262B3A"/>
                </a:solidFill>
                <a:latin typeface="Calibri" pitchFamily="34" charset="0"/>
                <a:ea typeface="Calibri" pitchFamily="34" charset="-122"/>
                <a:cs typeface="Calibri" pitchFamily="34" charset="-120"/>
              </a:rPr>
              <a:t>4</a:t>
            </a:r>
            <a:r>
              <a:rPr lang="en-US" sz="1250" baseline="-40000" dirty="0">
                <a:solidFill>
                  <a:srgbClr val="262B3A"/>
                </a:solidFill>
                <a:latin typeface="Calibri" pitchFamily="34" charset="0"/>
                <a:ea typeface="Calibri" pitchFamily="34" charset="-122"/>
                <a:cs typeface="Calibri" pitchFamily="34" charset="-120"/>
              </a:rPr>
              <a:t>2</a:t>
            </a:r>
            <a:r>
              <a:rPr lang="en-US" sz="1250" dirty="0">
                <a:solidFill>
                  <a:srgbClr val="262B3A"/>
                </a:solidFill>
                <a:latin typeface="Calibri" pitchFamily="34" charset="0"/>
                <a:ea typeface="Calibri" pitchFamily="34" charset="-122"/>
                <a:cs typeface="Calibri" pitchFamily="34" charset="-120"/>
              </a:rPr>
              <a:t>He + ____ . Name the particle emitted.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emitting a gamma ray does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change the mass number or the atomic number of a nucleus.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Half-life and activity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 • the time for the activity (or number of undecayed nuclei) to halve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P5.1.8  |  18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drawn to scale: activity 800 Bq at the start, half-life 3 hours</a:t>
            </a:r>
            <a:endParaRPr lang="en-US" sz="1000" dirty="0"/>
          </a:p>
        </p:txBody>
      </p:sp>
      <p:sp>
        <p:nvSpPr>
          <p:cNvPr id="10" name="Shape 8"/>
          <p:cNvSpPr/>
          <p:nvPr/>
        </p:nvSpPr>
        <p:spPr>
          <a:xfrm>
            <a:off x="1371600" y="1417320"/>
            <a:ext cx="4343400" cy="3291840"/>
          </a:xfrm>
          <a:prstGeom prst="rect">
            <a:avLst/>
          </a:prstGeom>
          <a:solidFill>
            <a:srgbClr val="FFFFFF"/>
          </a:solidFill>
          <a:ln/>
        </p:spPr>
      </p:sp>
      <p:sp>
        <p:nvSpPr>
          <p:cNvPr id="11" name="Shape 9"/>
          <p:cNvSpPr/>
          <p:nvPr/>
        </p:nvSpPr>
        <p:spPr>
          <a:xfrm>
            <a:off x="1371600" y="1417320"/>
            <a:ext cx="91" cy="3291840"/>
          </a:xfrm>
          <a:prstGeom prst="line">
            <a:avLst/>
          </a:prstGeom>
          <a:noFill/>
          <a:ln w="6350">
            <a:solidFill>
              <a:srgbClr val="C9D3E6"/>
            </a:solidFill>
            <a:prstDash val="solid"/>
          </a:ln>
        </p:spPr>
      </p:sp>
      <p:sp>
        <p:nvSpPr>
          <p:cNvPr id="12" name="Shape 10"/>
          <p:cNvSpPr/>
          <p:nvPr/>
        </p:nvSpPr>
        <p:spPr>
          <a:xfrm>
            <a:off x="1661160" y="1417320"/>
            <a:ext cx="91" cy="3291840"/>
          </a:xfrm>
          <a:prstGeom prst="line">
            <a:avLst/>
          </a:prstGeom>
          <a:noFill/>
          <a:ln w="6350">
            <a:solidFill>
              <a:srgbClr val="E6EBF4"/>
            </a:solidFill>
            <a:prstDash val="solid"/>
          </a:ln>
        </p:spPr>
      </p:sp>
      <p:sp>
        <p:nvSpPr>
          <p:cNvPr id="13" name="Shape 11"/>
          <p:cNvSpPr/>
          <p:nvPr/>
        </p:nvSpPr>
        <p:spPr>
          <a:xfrm>
            <a:off x="1950720" y="1417320"/>
            <a:ext cx="91" cy="3291840"/>
          </a:xfrm>
          <a:prstGeom prst="line">
            <a:avLst/>
          </a:prstGeom>
          <a:noFill/>
          <a:ln w="6350">
            <a:solidFill>
              <a:srgbClr val="E6EBF4"/>
            </a:solidFill>
            <a:prstDash val="solid"/>
          </a:ln>
        </p:spPr>
      </p:sp>
      <p:sp>
        <p:nvSpPr>
          <p:cNvPr id="14" name="Shape 12"/>
          <p:cNvSpPr/>
          <p:nvPr/>
        </p:nvSpPr>
        <p:spPr>
          <a:xfrm>
            <a:off x="2240280" y="1417320"/>
            <a:ext cx="91" cy="3291840"/>
          </a:xfrm>
          <a:prstGeom prst="line">
            <a:avLst/>
          </a:prstGeom>
          <a:noFill/>
          <a:ln w="6350">
            <a:solidFill>
              <a:srgbClr val="C9D3E6"/>
            </a:solidFill>
            <a:prstDash val="solid"/>
          </a:ln>
        </p:spPr>
      </p:sp>
      <p:sp>
        <p:nvSpPr>
          <p:cNvPr id="15" name="Shape 13"/>
          <p:cNvSpPr/>
          <p:nvPr/>
        </p:nvSpPr>
        <p:spPr>
          <a:xfrm>
            <a:off x="2529840" y="1417320"/>
            <a:ext cx="91" cy="3291840"/>
          </a:xfrm>
          <a:prstGeom prst="line">
            <a:avLst/>
          </a:prstGeom>
          <a:noFill/>
          <a:ln w="6350">
            <a:solidFill>
              <a:srgbClr val="E6EBF4"/>
            </a:solidFill>
            <a:prstDash val="solid"/>
          </a:ln>
        </p:spPr>
      </p:sp>
      <p:sp>
        <p:nvSpPr>
          <p:cNvPr id="16" name="Shape 14"/>
          <p:cNvSpPr/>
          <p:nvPr/>
        </p:nvSpPr>
        <p:spPr>
          <a:xfrm>
            <a:off x="2819400" y="1417320"/>
            <a:ext cx="91" cy="3291840"/>
          </a:xfrm>
          <a:prstGeom prst="line">
            <a:avLst/>
          </a:prstGeom>
          <a:noFill/>
          <a:ln w="6350">
            <a:solidFill>
              <a:srgbClr val="E6EBF4"/>
            </a:solidFill>
            <a:prstDash val="solid"/>
          </a:ln>
        </p:spPr>
      </p:sp>
      <p:sp>
        <p:nvSpPr>
          <p:cNvPr id="17" name="Shape 15"/>
          <p:cNvSpPr/>
          <p:nvPr/>
        </p:nvSpPr>
        <p:spPr>
          <a:xfrm>
            <a:off x="3108960" y="1417320"/>
            <a:ext cx="91" cy="3291840"/>
          </a:xfrm>
          <a:prstGeom prst="line">
            <a:avLst/>
          </a:prstGeom>
          <a:noFill/>
          <a:ln w="6350">
            <a:solidFill>
              <a:srgbClr val="C9D3E6"/>
            </a:solidFill>
            <a:prstDash val="solid"/>
          </a:ln>
        </p:spPr>
      </p:sp>
      <p:sp>
        <p:nvSpPr>
          <p:cNvPr id="18" name="Shape 16"/>
          <p:cNvSpPr/>
          <p:nvPr/>
        </p:nvSpPr>
        <p:spPr>
          <a:xfrm>
            <a:off x="3398520" y="1417320"/>
            <a:ext cx="91" cy="3291840"/>
          </a:xfrm>
          <a:prstGeom prst="line">
            <a:avLst/>
          </a:prstGeom>
          <a:noFill/>
          <a:ln w="6350">
            <a:solidFill>
              <a:srgbClr val="E6EBF4"/>
            </a:solidFill>
            <a:prstDash val="solid"/>
          </a:ln>
        </p:spPr>
      </p:sp>
      <p:sp>
        <p:nvSpPr>
          <p:cNvPr id="19" name="Shape 17"/>
          <p:cNvSpPr/>
          <p:nvPr/>
        </p:nvSpPr>
        <p:spPr>
          <a:xfrm>
            <a:off x="3688080" y="1417320"/>
            <a:ext cx="91" cy="3291840"/>
          </a:xfrm>
          <a:prstGeom prst="line">
            <a:avLst/>
          </a:prstGeom>
          <a:noFill/>
          <a:ln w="6350">
            <a:solidFill>
              <a:srgbClr val="E6EBF4"/>
            </a:solidFill>
            <a:prstDash val="solid"/>
          </a:ln>
        </p:spPr>
      </p:sp>
      <p:sp>
        <p:nvSpPr>
          <p:cNvPr id="20" name="Shape 18"/>
          <p:cNvSpPr/>
          <p:nvPr/>
        </p:nvSpPr>
        <p:spPr>
          <a:xfrm>
            <a:off x="3977640" y="1417320"/>
            <a:ext cx="91" cy="3291840"/>
          </a:xfrm>
          <a:prstGeom prst="line">
            <a:avLst/>
          </a:prstGeom>
          <a:noFill/>
          <a:ln w="6350">
            <a:solidFill>
              <a:srgbClr val="C9D3E6"/>
            </a:solidFill>
            <a:prstDash val="solid"/>
          </a:ln>
        </p:spPr>
      </p:sp>
      <p:sp>
        <p:nvSpPr>
          <p:cNvPr id="21" name="Shape 19"/>
          <p:cNvSpPr/>
          <p:nvPr/>
        </p:nvSpPr>
        <p:spPr>
          <a:xfrm>
            <a:off x="4267200" y="1417320"/>
            <a:ext cx="91" cy="3291840"/>
          </a:xfrm>
          <a:prstGeom prst="line">
            <a:avLst/>
          </a:prstGeom>
          <a:noFill/>
          <a:ln w="6350">
            <a:solidFill>
              <a:srgbClr val="E6EBF4"/>
            </a:solidFill>
            <a:prstDash val="solid"/>
          </a:ln>
        </p:spPr>
      </p:sp>
      <p:sp>
        <p:nvSpPr>
          <p:cNvPr id="22" name="Shape 20"/>
          <p:cNvSpPr/>
          <p:nvPr/>
        </p:nvSpPr>
        <p:spPr>
          <a:xfrm>
            <a:off x="4556760" y="1417320"/>
            <a:ext cx="91" cy="3291840"/>
          </a:xfrm>
          <a:prstGeom prst="line">
            <a:avLst/>
          </a:prstGeom>
          <a:noFill/>
          <a:ln w="6350">
            <a:solidFill>
              <a:srgbClr val="E6EBF4"/>
            </a:solidFill>
            <a:prstDash val="solid"/>
          </a:ln>
        </p:spPr>
      </p:sp>
      <p:sp>
        <p:nvSpPr>
          <p:cNvPr id="23" name="Shape 21"/>
          <p:cNvSpPr/>
          <p:nvPr/>
        </p:nvSpPr>
        <p:spPr>
          <a:xfrm>
            <a:off x="4846320" y="1417320"/>
            <a:ext cx="91" cy="3291840"/>
          </a:xfrm>
          <a:prstGeom prst="line">
            <a:avLst/>
          </a:prstGeom>
          <a:noFill/>
          <a:ln w="6350">
            <a:solidFill>
              <a:srgbClr val="C9D3E6"/>
            </a:solidFill>
            <a:prstDash val="solid"/>
          </a:ln>
        </p:spPr>
      </p:sp>
      <p:sp>
        <p:nvSpPr>
          <p:cNvPr id="24" name="Shape 22"/>
          <p:cNvSpPr/>
          <p:nvPr/>
        </p:nvSpPr>
        <p:spPr>
          <a:xfrm>
            <a:off x="5135880" y="1417320"/>
            <a:ext cx="91" cy="3291840"/>
          </a:xfrm>
          <a:prstGeom prst="line">
            <a:avLst/>
          </a:prstGeom>
          <a:noFill/>
          <a:ln w="6350">
            <a:solidFill>
              <a:srgbClr val="E6EBF4"/>
            </a:solidFill>
            <a:prstDash val="solid"/>
          </a:ln>
        </p:spPr>
      </p:sp>
      <p:sp>
        <p:nvSpPr>
          <p:cNvPr id="25" name="Shape 23"/>
          <p:cNvSpPr/>
          <p:nvPr/>
        </p:nvSpPr>
        <p:spPr>
          <a:xfrm>
            <a:off x="5425440" y="1417320"/>
            <a:ext cx="91" cy="3291840"/>
          </a:xfrm>
          <a:prstGeom prst="line">
            <a:avLst/>
          </a:prstGeom>
          <a:noFill/>
          <a:ln w="6350">
            <a:solidFill>
              <a:srgbClr val="E6EBF4"/>
            </a:solidFill>
            <a:prstDash val="solid"/>
          </a:ln>
        </p:spPr>
      </p:sp>
      <p:sp>
        <p:nvSpPr>
          <p:cNvPr id="26" name="Shape 24"/>
          <p:cNvSpPr/>
          <p:nvPr/>
        </p:nvSpPr>
        <p:spPr>
          <a:xfrm>
            <a:off x="5715000" y="1417320"/>
            <a:ext cx="91" cy="3291840"/>
          </a:xfrm>
          <a:prstGeom prst="line">
            <a:avLst/>
          </a:prstGeom>
          <a:noFill/>
          <a:ln w="6350">
            <a:solidFill>
              <a:srgbClr val="C9D3E6"/>
            </a:solidFill>
            <a:prstDash val="solid"/>
          </a:ln>
        </p:spPr>
      </p:sp>
      <p:sp>
        <p:nvSpPr>
          <p:cNvPr id="27" name="Shape 25"/>
          <p:cNvSpPr/>
          <p:nvPr/>
        </p:nvSpPr>
        <p:spPr>
          <a:xfrm>
            <a:off x="1371600" y="4709160"/>
            <a:ext cx="4343400" cy="91"/>
          </a:xfrm>
          <a:prstGeom prst="line">
            <a:avLst/>
          </a:prstGeom>
          <a:noFill/>
          <a:ln w="6350">
            <a:solidFill>
              <a:srgbClr val="C9D3E6"/>
            </a:solidFill>
            <a:prstDash val="solid"/>
          </a:ln>
        </p:spPr>
      </p:sp>
      <p:sp>
        <p:nvSpPr>
          <p:cNvPr id="28" name="Shape 26"/>
          <p:cNvSpPr/>
          <p:nvPr/>
        </p:nvSpPr>
        <p:spPr>
          <a:xfrm>
            <a:off x="1371600" y="4572000"/>
            <a:ext cx="4343400" cy="91"/>
          </a:xfrm>
          <a:prstGeom prst="line">
            <a:avLst/>
          </a:prstGeom>
          <a:noFill/>
          <a:ln w="6350">
            <a:solidFill>
              <a:srgbClr val="E6EBF4"/>
            </a:solidFill>
            <a:prstDash val="solid"/>
          </a:ln>
        </p:spPr>
      </p:sp>
      <p:sp>
        <p:nvSpPr>
          <p:cNvPr id="29" name="Shape 27"/>
          <p:cNvSpPr/>
          <p:nvPr/>
        </p:nvSpPr>
        <p:spPr>
          <a:xfrm>
            <a:off x="1371600" y="4434840"/>
            <a:ext cx="4343400" cy="91"/>
          </a:xfrm>
          <a:prstGeom prst="line">
            <a:avLst/>
          </a:prstGeom>
          <a:noFill/>
          <a:ln w="6350">
            <a:solidFill>
              <a:srgbClr val="E6EBF4"/>
            </a:solidFill>
            <a:prstDash val="solid"/>
          </a:ln>
        </p:spPr>
      </p:sp>
      <p:sp>
        <p:nvSpPr>
          <p:cNvPr id="30" name="Shape 28"/>
          <p:cNvSpPr/>
          <p:nvPr/>
        </p:nvSpPr>
        <p:spPr>
          <a:xfrm>
            <a:off x="1371600" y="4297680"/>
            <a:ext cx="4343400" cy="91"/>
          </a:xfrm>
          <a:prstGeom prst="line">
            <a:avLst/>
          </a:prstGeom>
          <a:noFill/>
          <a:ln w="6350">
            <a:solidFill>
              <a:srgbClr val="C9D3E6"/>
            </a:solidFill>
            <a:prstDash val="solid"/>
          </a:ln>
        </p:spPr>
      </p:sp>
      <p:sp>
        <p:nvSpPr>
          <p:cNvPr id="31" name="Shape 29"/>
          <p:cNvSpPr/>
          <p:nvPr/>
        </p:nvSpPr>
        <p:spPr>
          <a:xfrm>
            <a:off x="1371600" y="4160520"/>
            <a:ext cx="4343400" cy="91"/>
          </a:xfrm>
          <a:prstGeom prst="line">
            <a:avLst/>
          </a:prstGeom>
          <a:noFill/>
          <a:ln w="6350">
            <a:solidFill>
              <a:srgbClr val="E6EBF4"/>
            </a:solidFill>
            <a:prstDash val="solid"/>
          </a:ln>
        </p:spPr>
      </p:sp>
      <p:sp>
        <p:nvSpPr>
          <p:cNvPr id="32" name="Shape 30"/>
          <p:cNvSpPr/>
          <p:nvPr/>
        </p:nvSpPr>
        <p:spPr>
          <a:xfrm>
            <a:off x="1371600" y="4023360"/>
            <a:ext cx="4343400" cy="91"/>
          </a:xfrm>
          <a:prstGeom prst="line">
            <a:avLst/>
          </a:prstGeom>
          <a:noFill/>
          <a:ln w="6350">
            <a:solidFill>
              <a:srgbClr val="E6EBF4"/>
            </a:solidFill>
            <a:prstDash val="solid"/>
          </a:ln>
        </p:spPr>
      </p:sp>
      <p:sp>
        <p:nvSpPr>
          <p:cNvPr id="33" name="Shape 31"/>
          <p:cNvSpPr/>
          <p:nvPr/>
        </p:nvSpPr>
        <p:spPr>
          <a:xfrm>
            <a:off x="1371600" y="3886200"/>
            <a:ext cx="4343400" cy="91"/>
          </a:xfrm>
          <a:prstGeom prst="line">
            <a:avLst/>
          </a:prstGeom>
          <a:noFill/>
          <a:ln w="6350">
            <a:solidFill>
              <a:srgbClr val="C9D3E6"/>
            </a:solidFill>
            <a:prstDash val="solid"/>
          </a:ln>
        </p:spPr>
      </p:sp>
      <p:sp>
        <p:nvSpPr>
          <p:cNvPr id="34" name="Shape 32"/>
          <p:cNvSpPr/>
          <p:nvPr/>
        </p:nvSpPr>
        <p:spPr>
          <a:xfrm>
            <a:off x="1371600" y="3749040"/>
            <a:ext cx="4343400" cy="91"/>
          </a:xfrm>
          <a:prstGeom prst="line">
            <a:avLst/>
          </a:prstGeom>
          <a:noFill/>
          <a:ln w="6350">
            <a:solidFill>
              <a:srgbClr val="E6EBF4"/>
            </a:solidFill>
            <a:prstDash val="solid"/>
          </a:ln>
        </p:spPr>
      </p:sp>
      <p:sp>
        <p:nvSpPr>
          <p:cNvPr id="35" name="Shape 33"/>
          <p:cNvSpPr/>
          <p:nvPr/>
        </p:nvSpPr>
        <p:spPr>
          <a:xfrm>
            <a:off x="1371600" y="3611880"/>
            <a:ext cx="4343400" cy="91"/>
          </a:xfrm>
          <a:prstGeom prst="line">
            <a:avLst/>
          </a:prstGeom>
          <a:noFill/>
          <a:ln w="6350">
            <a:solidFill>
              <a:srgbClr val="E6EBF4"/>
            </a:solidFill>
            <a:prstDash val="solid"/>
          </a:ln>
        </p:spPr>
      </p:sp>
      <p:sp>
        <p:nvSpPr>
          <p:cNvPr id="36" name="Shape 34"/>
          <p:cNvSpPr/>
          <p:nvPr/>
        </p:nvSpPr>
        <p:spPr>
          <a:xfrm>
            <a:off x="1371600" y="3474720"/>
            <a:ext cx="4343400" cy="91"/>
          </a:xfrm>
          <a:prstGeom prst="line">
            <a:avLst/>
          </a:prstGeom>
          <a:noFill/>
          <a:ln w="6350">
            <a:solidFill>
              <a:srgbClr val="C9D3E6"/>
            </a:solidFill>
            <a:prstDash val="solid"/>
          </a:ln>
        </p:spPr>
      </p:sp>
      <p:sp>
        <p:nvSpPr>
          <p:cNvPr id="37" name="Shape 35"/>
          <p:cNvSpPr/>
          <p:nvPr/>
        </p:nvSpPr>
        <p:spPr>
          <a:xfrm>
            <a:off x="1371600" y="3337560"/>
            <a:ext cx="4343400" cy="91"/>
          </a:xfrm>
          <a:prstGeom prst="line">
            <a:avLst/>
          </a:prstGeom>
          <a:noFill/>
          <a:ln w="6350">
            <a:solidFill>
              <a:srgbClr val="E6EBF4"/>
            </a:solidFill>
            <a:prstDash val="solid"/>
          </a:ln>
        </p:spPr>
      </p:sp>
      <p:sp>
        <p:nvSpPr>
          <p:cNvPr id="38" name="Shape 36"/>
          <p:cNvSpPr/>
          <p:nvPr/>
        </p:nvSpPr>
        <p:spPr>
          <a:xfrm>
            <a:off x="1371600" y="3200400"/>
            <a:ext cx="4343400" cy="91"/>
          </a:xfrm>
          <a:prstGeom prst="line">
            <a:avLst/>
          </a:prstGeom>
          <a:noFill/>
          <a:ln w="6350">
            <a:solidFill>
              <a:srgbClr val="E6EBF4"/>
            </a:solidFill>
            <a:prstDash val="solid"/>
          </a:ln>
        </p:spPr>
      </p:sp>
      <p:sp>
        <p:nvSpPr>
          <p:cNvPr id="39" name="Shape 37"/>
          <p:cNvSpPr/>
          <p:nvPr/>
        </p:nvSpPr>
        <p:spPr>
          <a:xfrm>
            <a:off x="1371600" y="3063240"/>
            <a:ext cx="4343400" cy="91"/>
          </a:xfrm>
          <a:prstGeom prst="line">
            <a:avLst/>
          </a:prstGeom>
          <a:noFill/>
          <a:ln w="6350">
            <a:solidFill>
              <a:srgbClr val="C9D3E6"/>
            </a:solidFill>
            <a:prstDash val="solid"/>
          </a:ln>
        </p:spPr>
      </p:sp>
      <p:sp>
        <p:nvSpPr>
          <p:cNvPr id="40" name="Shape 38"/>
          <p:cNvSpPr/>
          <p:nvPr/>
        </p:nvSpPr>
        <p:spPr>
          <a:xfrm>
            <a:off x="1371600" y="2926080"/>
            <a:ext cx="4343400" cy="91"/>
          </a:xfrm>
          <a:prstGeom prst="line">
            <a:avLst/>
          </a:prstGeom>
          <a:noFill/>
          <a:ln w="6350">
            <a:solidFill>
              <a:srgbClr val="E6EBF4"/>
            </a:solidFill>
            <a:prstDash val="solid"/>
          </a:ln>
        </p:spPr>
      </p:sp>
      <p:sp>
        <p:nvSpPr>
          <p:cNvPr id="41" name="Shape 39"/>
          <p:cNvSpPr/>
          <p:nvPr/>
        </p:nvSpPr>
        <p:spPr>
          <a:xfrm>
            <a:off x="1371600" y="2788920"/>
            <a:ext cx="4343400" cy="91"/>
          </a:xfrm>
          <a:prstGeom prst="line">
            <a:avLst/>
          </a:prstGeom>
          <a:noFill/>
          <a:ln w="6350">
            <a:solidFill>
              <a:srgbClr val="E6EBF4"/>
            </a:solidFill>
            <a:prstDash val="solid"/>
          </a:ln>
        </p:spPr>
      </p:sp>
      <p:sp>
        <p:nvSpPr>
          <p:cNvPr id="42" name="Shape 40"/>
          <p:cNvSpPr/>
          <p:nvPr/>
        </p:nvSpPr>
        <p:spPr>
          <a:xfrm>
            <a:off x="1371600" y="2651760"/>
            <a:ext cx="4343400" cy="91"/>
          </a:xfrm>
          <a:prstGeom prst="line">
            <a:avLst/>
          </a:prstGeom>
          <a:noFill/>
          <a:ln w="6350">
            <a:solidFill>
              <a:srgbClr val="C9D3E6"/>
            </a:solidFill>
            <a:prstDash val="solid"/>
          </a:ln>
        </p:spPr>
      </p:sp>
      <p:sp>
        <p:nvSpPr>
          <p:cNvPr id="43" name="Shape 41"/>
          <p:cNvSpPr/>
          <p:nvPr/>
        </p:nvSpPr>
        <p:spPr>
          <a:xfrm>
            <a:off x="1371600" y="2514600"/>
            <a:ext cx="4343400" cy="91"/>
          </a:xfrm>
          <a:prstGeom prst="line">
            <a:avLst/>
          </a:prstGeom>
          <a:noFill/>
          <a:ln w="6350">
            <a:solidFill>
              <a:srgbClr val="E6EBF4"/>
            </a:solidFill>
            <a:prstDash val="solid"/>
          </a:ln>
        </p:spPr>
      </p:sp>
      <p:sp>
        <p:nvSpPr>
          <p:cNvPr id="44" name="Shape 42"/>
          <p:cNvSpPr/>
          <p:nvPr/>
        </p:nvSpPr>
        <p:spPr>
          <a:xfrm>
            <a:off x="1371600" y="2377440"/>
            <a:ext cx="4343400" cy="91"/>
          </a:xfrm>
          <a:prstGeom prst="line">
            <a:avLst/>
          </a:prstGeom>
          <a:noFill/>
          <a:ln w="6350">
            <a:solidFill>
              <a:srgbClr val="E6EBF4"/>
            </a:solidFill>
            <a:prstDash val="solid"/>
          </a:ln>
        </p:spPr>
      </p:sp>
      <p:sp>
        <p:nvSpPr>
          <p:cNvPr id="45" name="Shape 43"/>
          <p:cNvSpPr/>
          <p:nvPr/>
        </p:nvSpPr>
        <p:spPr>
          <a:xfrm>
            <a:off x="1371600" y="2240280"/>
            <a:ext cx="4343400" cy="91"/>
          </a:xfrm>
          <a:prstGeom prst="line">
            <a:avLst/>
          </a:prstGeom>
          <a:noFill/>
          <a:ln w="6350">
            <a:solidFill>
              <a:srgbClr val="C9D3E6"/>
            </a:solidFill>
            <a:prstDash val="solid"/>
          </a:ln>
        </p:spPr>
      </p:sp>
      <p:sp>
        <p:nvSpPr>
          <p:cNvPr id="46" name="Shape 44"/>
          <p:cNvSpPr/>
          <p:nvPr/>
        </p:nvSpPr>
        <p:spPr>
          <a:xfrm>
            <a:off x="1371600" y="2103120"/>
            <a:ext cx="4343400" cy="91"/>
          </a:xfrm>
          <a:prstGeom prst="line">
            <a:avLst/>
          </a:prstGeom>
          <a:noFill/>
          <a:ln w="6350">
            <a:solidFill>
              <a:srgbClr val="E6EBF4"/>
            </a:solidFill>
            <a:prstDash val="solid"/>
          </a:ln>
        </p:spPr>
      </p:sp>
      <p:sp>
        <p:nvSpPr>
          <p:cNvPr id="47" name="Shape 45"/>
          <p:cNvSpPr/>
          <p:nvPr/>
        </p:nvSpPr>
        <p:spPr>
          <a:xfrm>
            <a:off x="1371600" y="1965960"/>
            <a:ext cx="4343400" cy="91"/>
          </a:xfrm>
          <a:prstGeom prst="line">
            <a:avLst/>
          </a:prstGeom>
          <a:noFill/>
          <a:ln w="6350">
            <a:solidFill>
              <a:srgbClr val="E6EBF4"/>
            </a:solidFill>
            <a:prstDash val="solid"/>
          </a:ln>
        </p:spPr>
      </p:sp>
      <p:sp>
        <p:nvSpPr>
          <p:cNvPr id="48" name="Shape 46"/>
          <p:cNvSpPr/>
          <p:nvPr/>
        </p:nvSpPr>
        <p:spPr>
          <a:xfrm>
            <a:off x="1371600" y="1828800"/>
            <a:ext cx="4343400" cy="91"/>
          </a:xfrm>
          <a:prstGeom prst="line">
            <a:avLst/>
          </a:prstGeom>
          <a:noFill/>
          <a:ln w="6350">
            <a:solidFill>
              <a:srgbClr val="C9D3E6"/>
            </a:solidFill>
            <a:prstDash val="solid"/>
          </a:ln>
        </p:spPr>
      </p:sp>
      <p:sp>
        <p:nvSpPr>
          <p:cNvPr id="49" name="Shape 47"/>
          <p:cNvSpPr/>
          <p:nvPr/>
        </p:nvSpPr>
        <p:spPr>
          <a:xfrm>
            <a:off x="1371600" y="1691640"/>
            <a:ext cx="4343400" cy="91"/>
          </a:xfrm>
          <a:prstGeom prst="line">
            <a:avLst/>
          </a:prstGeom>
          <a:noFill/>
          <a:ln w="6350">
            <a:solidFill>
              <a:srgbClr val="E6EBF4"/>
            </a:solidFill>
            <a:prstDash val="solid"/>
          </a:ln>
        </p:spPr>
      </p:sp>
      <p:sp>
        <p:nvSpPr>
          <p:cNvPr id="50" name="Shape 48"/>
          <p:cNvSpPr/>
          <p:nvPr/>
        </p:nvSpPr>
        <p:spPr>
          <a:xfrm>
            <a:off x="1371600" y="1554480"/>
            <a:ext cx="4343400" cy="91"/>
          </a:xfrm>
          <a:prstGeom prst="line">
            <a:avLst/>
          </a:prstGeom>
          <a:noFill/>
          <a:ln w="6350">
            <a:solidFill>
              <a:srgbClr val="E6EBF4"/>
            </a:solidFill>
            <a:prstDash val="solid"/>
          </a:ln>
        </p:spPr>
      </p:sp>
      <p:sp>
        <p:nvSpPr>
          <p:cNvPr id="51" name="Shape 49"/>
          <p:cNvSpPr/>
          <p:nvPr/>
        </p:nvSpPr>
        <p:spPr>
          <a:xfrm>
            <a:off x="1371600" y="1417320"/>
            <a:ext cx="4343400" cy="91"/>
          </a:xfrm>
          <a:prstGeom prst="line">
            <a:avLst/>
          </a:prstGeom>
          <a:noFill/>
          <a:ln w="6350">
            <a:solidFill>
              <a:srgbClr val="C9D3E6"/>
            </a:solidFill>
            <a:prstDash val="solid"/>
          </a:ln>
        </p:spPr>
      </p:sp>
      <p:sp>
        <p:nvSpPr>
          <p:cNvPr id="52" name="Shape 50"/>
          <p:cNvSpPr/>
          <p:nvPr/>
        </p:nvSpPr>
        <p:spPr>
          <a:xfrm>
            <a:off x="1371600" y="4709160"/>
            <a:ext cx="4343400" cy="91"/>
          </a:xfrm>
          <a:prstGeom prst="line">
            <a:avLst/>
          </a:prstGeom>
          <a:noFill/>
          <a:ln w="19050">
            <a:solidFill>
              <a:srgbClr val="1A2340"/>
            </a:solidFill>
            <a:prstDash val="solid"/>
          </a:ln>
        </p:spPr>
      </p:sp>
      <p:sp>
        <p:nvSpPr>
          <p:cNvPr id="53" name="Shape 51"/>
          <p:cNvSpPr/>
          <p:nvPr/>
        </p:nvSpPr>
        <p:spPr>
          <a:xfrm flipV="1">
            <a:off x="1371600" y="1417320"/>
            <a:ext cx="91" cy="3291840"/>
          </a:xfrm>
          <a:prstGeom prst="line">
            <a:avLst/>
          </a:prstGeom>
          <a:noFill/>
          <a:ln w="19050">
            <a:solidFill>
              <a:srgbClr val="1A2340"/>
            </a:solidFill>
            <a:prstDash val="solid"/>
          </a:ln>
        </p:spPr>
      </p:sp>
      <p:sp>
        <p:nvSpPr>
          <p:cNvPr id="54" name="Shape 52"/>
          <p:cNvSpPr/>
          <p:nvPr/>
        </p:nvSpPr>
        <p:spPr>
          <a:xfrm>
            <a:off x="1371600" y="4709160"/>
            <a:ext cx="91" cy="54864"/>
          </a:xfrm>
          <a:prstGeom prst="line">
            <a:avLst/>
          </a:prstGeom>
          <a:noFill/>
          <a:ln w="12700">
            <a:solidFill>
              <a:srgbClr val="1A2340"/>
            </a:solidFill>
            <a:prstDash val="solid"/>
          </a:ln>
        </p:spPr>
      </p:sp>
      <p:sp>
        <p:nvSpPr>
          <p:cNvPr id="55" name="Text 53"/>
          <p:cNvSpPr/>
          <p:nvPr/>
        </p:nvSpPr>
        <p:spPr>
          <a:xfrm>
            <a:off x="10972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6" name="Shape 54"/>
          <p:cNvSpPr/>
          <p:nvPr/>
        </p:nvSpPr>
        <p:spPr>
          <a:xfrm>
            <a:off x="2240280" y="4709160"/>
            <a:ext cx="91" cy="54864"/>
          </a:xfrm>
          <a:prstGeom prst="line">
            <a:avLst/>
          </a:prstGeom>
          <a:noFill/>
          <a:ln w="12700">
            <a:solidFill>
              <a:srgbClr val="1A2340"/>
            </a:solidFill>
            <a:prstDash val="solid"/>
          </a:ln>
        </p:spPr>
      </p:sp>
      <p:sp>
        <p:nvSpPr>
          <p:cNvPr id="57" name="Text 55"/>
          <p:cNvSpPr/>
          <p:nvPr/>
        </p:nvSpPr>
        <p:spPr>
          <a:xfrm>
            <a:off x="19659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8" name="Shape 56"/>
          <p:cNvSpPr/>
          <p:nvPr/>
        </p:nvSpPr>
        <p:spPr>
          <a:xfrm>
            <a:off x="3108960" y="4709160"/>
            <a:ext cx="91" cy="54864"/>
          </a:xfrm>
          <a:prstGeom prst="line">
            <a:avLst/>
          </a:prstGeom>
          <a:noFill/>
          <a:ln w="12700">
            <a:solidFill>
              <a:srgbClr val="1A2340"/>
            </a:solidFill>
            <a:prstDash val="solid"/>
          </a:ln>
        </p:spPr>
      </p:sp>
      <p:sp>
        <p:nvSpPr>
          <p:cNvPr id="59" name="Text 57"/>
          <p:cNvSpPr/>
          <p:nvPr/>
        </p:nvSpPr>
        <p:spPr>
          <a:xfrm>
            <a:off x="28346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0" name="Shape 58"/>
          <p:cNvSpPr/>
          <p:nvPr/>
        </p:nvSpPr>
        <p:spPr>
          <a:xfrm>
            <a:off x="3977640" y="4709160"/>
            <a:ext cx="91" cy="54864"/>
          </a:xfrm>
          <a:prstGeom prst="line">
            <a:avLst/>
          </a:prstGeom>
          <a:noFill/>
          <a:ln w="12700">
            <a:solidFill>
              <a:srgbClr val="1A2340"/>
            </a:solidFill>
            <a:prstDash val="solid"/>
          </a:ln>
        </p:spPr>
      </p:sp>
      <p:sp>
        <p:nvSpPr>
          <p:cNvPr id="61" name="Text 59"/>
          <p:cNvSpPr/>
          <p:nvPr/>
        </p:nvSpPr>
        <p:spPr>
          <a:xfrm>
            <a:off x="37033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62" name="Shape 60"/>
          <p:cNvSpPr/>
          <p:nvPr/>
        </p:nvSpPr>
        <p:spPr>
          <a:xfrm>
            <a:off x="4846320" y="4709160"/>
            <a:ext cx="91" cy="54864"/>
          </a:xfrm>
          <a:prstGeom prst="line">
            <a:avLst/>
          </a:prstGeom>
          <a:noFill/>
          <a:ln w="12700">
            <a:solidFill>
              <a:srgbClr val="1A2340"/>
            </a:solidFill>
            <a:prstDash val="solid"/>
          </a:ln>
        </p:spPr>
      </p:sp>
      <p:sp>
        <p:nvSpPr>
          <p:cNvPr id="63" name="Text 61"/>
          <p:cNvSpPr/>
          <p:nvPr/>
        </p:nvSpPr>
        <p:spPr>
          <a:xfrm>
            <a:off x="45720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4" name="Shape 62"/>
          <p:cNvSpPr/>
          <p:nvPr/>
        </p:nvSpPr>
        <p:spPr>
          <a:xfrm>
            <a:off x="5715000" y="4709160"/>
            <a:ext cx="91" cy="54864"/>
          </a:xfrm>
          <a:prstGeom prst="line">
            <a:avLst/>
          </a:prstGeom>
          <a:noFill/>
          <a:ln w="12700">
            <a:solidFill>
              <a:srgbClr val="1A2340"/>
            </a:solidFill>
            <a:prstDash val="solid"/>
          </a:ln>
        </p:spPr>
      </p:sp>
      <p:sp>
        <p:nvSpPr>
          <p:cNvPr id="65" name="Text 63"/>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66" name="Shape 64"/>
          <p:cNvSpPr/>
          <p:nvPr/>
        </p:nvSpPr>
        <p:spPr>
          <a:xfrm>
            <a:off x="1316736" y="4709160"/>
            <a:ext cx="54864" cy="91"/>
          </a:xfrm>
          <a:prstGeom prst="line">
            <a:avLst/>
          </a:prstGeom>
          <a:noFill/>
          <a:ln w="12700">
            <a:solidFill>
              <a:srgbClr val="1A2340"/>
            </a:solidFill>
            <a:prstDash val="solid"/>
          </a:ln>
        </p:spPr>
      </p:sp>
      <p:sp>
        <p:nvSpPr>
          <p:cNvPr id="67" name="Text 65"/>
          <p:cNvSpPr/>
          <p:nvPr/>
        </p:nvSpPr>
        <p:spPr>
          <a:xfrm>
            <a:off x="93268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8" name="Shape 66"/>
          <p:cNvSpPr/>
          <p:nvPr/>
        </p:nvSpPr>
        <p:spPr>
          <a:xfrm>
            <a:off x="1316736" y="4297680"/>
            <a:ext cx="54864" cy="91"/>
          </a:xfrm>
          <a:prstGeom prst="line">
            <a:avLst/>
          </a:prstGeom>
          <a:noFill/>
          <a:ln w="12700">
            <a:solidFill>
              <a:srgbClr val="1A2340"/>
            </a:solidFill>
            <a:prstDash val="solid"/>
          </a:ln>
        </p:spPr>
      </p:sp>
      <p:sp>
        <p:nvSpPr>
          <p:cNvPr id="69" name="Text 67"/>
          <p:cNvSpPr/>
          <p:nvPr/>
        </p:nvSpPr>
        <p:spPr>
          <a:xfrm>
            <a:off x="93268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0" name="Shape 68"/>
          <p:cNvSpPr/>
          <p:nvPr/>
        </p:nvSpPr>
        <p:spPr>
          <a:xfrm>
            <a:off x="1316736" y="3886200"/>
            <a:ext cx="54864" cy="91"/>
          </a:xfrm>
          <a:prstGeom prst="line">
            <a:avLst/>
          </a:prstGeom>
          <a:noFill/>
          <a:ln w="12700">
            <a:solidFill>
              <a:srgbClr val="1A2340"/>
            </a:solidFill>
            <a:prstDash val="solid"/>
          </a:ln>
        </p:spPr>
      </p:sp>
      <p:sp>
        <p:nvSpPr>
          <p:cNvPr id="71" name="Text 69"/>
          <p:cNvSpPr/>
          <p:nvPr/>
        </p:nvSpPr>
        <p:spPr>
          <a:xfrm>
            <a:off x="93268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72" name="Shape 70"/>
          <p:cNvSpPr/>
          <p:nvPr/>
        </p:nvSpPr>
        <p:spPr>
          <a:xfrm>
            <a:off x="1316736" y="3474720"/>
            <a:ext cx="54864" cy="91"/>
          </a:xfrm>
          <a:prstGeom prst="line">
            <a:avLst/>
          </a:prstGeom>
          <a:noFill/>
          <a:ln w="12700">
            <a:solidFill>
              <a:srgbClr val="1A2340"/>
            </a:solidFill>
            <a:prstDash val="solid"/>
          </a:ln>
        </p:spPr>
      </p:sp>
      <p:sp>
        <p:nvSpPr>
          <p:cNvPr id="73" name="Text 71"/>
          <p:cNvSpPr/>
          <p:nvPr/>
        </p:nvSpPr>
        <p:spPr>
          <a:xfrm>
            <a:off x="93268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74" name="Shape 72"/>
          <p:cNvSpPr/>
          <p:nvPr/>
        </p:nvSpPr>
        <p:spPr>
          <a:xfrm>
            <a:off x="1316736" y="3063240"/>
            <a:ext cx="54864" cy="91"/>
          </a:xfrm>
          <a:prstGeom prst="line">
            <a:avLst/>
          </a:prstGeom>
          <a:noFill/>
          <a:ln w="12700">
            <a:solidFill>
              <a:srgbClr val="1A2340"/>
            </a:solidFill>
            <a:prstDash val="solid"/>
          </a:ln>
        </p:spPr>
      </p:sp>
      <p:sp>
        <p:nvSpPr>
          <p:cNvPr id="75" name="Text 73"/>
          <p:cNvSpPr/>
          <p:nvPr/>
        </p:nvSpPr>
        <p:spPr>
          <a:xfrm>
            <a:off x="93268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76" name="Shape 74"/>
          <p:cNvSpPr/>
          <p:nvPr/>
        </p:nvSpPr>
        <p:spPr>
          <a:xfrm>
            <a:off x="1316736" y="2651760"/>
            <a:ext cx="54864" cy="91"/>
          </a:xfrm>
          <a:prstGeom prst="line">
            <a:avLst/>
          </a:prstGeom>
          <a:noFill/>
          <a:ln w="12700">
            <a:solidFill>
              <a:srgbClr val="1A2340"/>
            </a:solidFill>
            <a:prstDash val="solid"/>
          </a:ln>
        </p:spPr>
      </p:sp>
      <p:sp>
        <p:nvSpPr>
          <p:cNvPr id="77" name="Text 75"/>
          <p:cNvSpPr/>
          <p:nvPr/>
        </p:nvSpPr>
        <p:spPr>
          <a:xfrm>
            <a:off x="93268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78" name="Shape 76"/>
          <p:cNvSpPr/>
          <p:nvPr/>
        </p:nvSpPr>
        <p:spPr>
          <a:xfrm>
            <a:off x="1316736" y="2240280"/>
            <a:ext cx="54864" cy="91"/>
          </a:xfrm>
          <a:prstGeom prst="line">
            <a:avLst/>
          </a:prstGeom>
          <a:noFill/>
          <a:ln w="12700">
            <a:solidFill>
              <a:srgbClr val="1A2340"/>
            </a:solidFill>
            <a:prstDash val="solid"/>
          </a:ln>
        </p:spPr>
      </p:sp>
      <p:sp>
        <p:nvSpPr>
          <p:cNvPr id="79" name="Text 77"/>
          <p:cNvSpPr/>
          <p:nvPr/>
        </p:nvSpPr>
        <p:spPr>
          <a:xfrm>
            <a:off x="93268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600</a:t>
            </a:r>
            <a:endParaRPr lang="en-US" sz="1000" dirty="0"/>
          </a:p>
        </p:txBody>
      </p:sp>
      <p:sp>
        <p:nvSpPr>
          <p:cNvPr id="80" name="Shape 78"/>
          <p:cNvSpPr/>
          <p:nvPr/>
        </p:nvSpPr>
        <p:spPr>
          <a:xfrm>
            <a:off x="1316736" y="1828800"/>
            <a:ext cx="54864" cy="91"/>
          </a:xfrm>
          <a:prstGeom prst="line">
            <a:avLst/>
          </a:prstGeom>
          <a:noFill/>
          <a:ln w="12700">
            <a:solidFill>
              <a:srgbClr val="1A2340"/>
            </a:solidFill>
            <a:prstDash val="solid"/>
          </a:ln>
        </p:spPr>
      </p:sp>
      <p:sp>
        <p:nvSpPr>
          <p:cNvPr id="81" name="Text 79"/>
          <p:cNvSpPr/>
          <p:nvPr/>
        </p:nvSpPr>
        <p:spPr>
          <a:xfrm>
            <a:off x="93268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700</a:t>
            </a:r>
            <a:endParaRPr lang="en-US" sz="1000" dirty="0"/>
          </a:p>
        </p:txBody>
      </p:sp>
      <p:sp>
        <p:nvSpPr>
          <p:cNvPr id="82" name="Shape 80"/>
          <p:cNvSpPr/>
          <p:nvPr/>
        </p:nvSpPr>
        <p:spPr>
          <a:xfrm>
            <a:off x="1316736" y="1417320"/>
            <a:ext cx="54864" cy="91"/>
          </a:xfrm>
          <a:prstGeom prst="line">
            <a:avLst/>
          </a:prstGeom>
          <a:noFill/>
          <a:ln w="12700">
            <a:solidFill>
              <a:srgbClr val="1A2340"/>
            </a:solidFill>
            <a:prstDash val="solid"/>
          </a:ln>
        </p:spPr>
      </p:sp>
      <p:sp>
        <p:nvSpPr>
          <p:cNvPr id="83" name="Text 81"/>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800</a:t>
            </a:r>
            <a:endParaRPr lang="en-US" sz="1000" dirty="0"/>
          </a:p>
        </p:txBody>
      </p:sp>
      <p:sp>
        <p:nvSpPr>
          <p:cNvPr id="84" name="Text 82"/>
          <p:cNvSpPr/>
          <p:nvPr/>
        </p:nvSpPr>
        <p:spPr>
          <a:xfrm>
            <a:off x="1371600" y="495604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hours</a:t>
            </a:r>
            <a:endParaRPr lang="en-US" sz="1050" dirty="0"/>
          </a:p>
        </p:txBody>
      </p:sp>
      <p:sp>
        <p:nvSpPr>
          <p:cNvPr id="85" name="Text 83"/>
          <p:cNvSpPr/>
          <p:nvPr/>
        </p:nvSpPr>
        <p:spPr>
          <a:xfrm rot="16200000">
            <a:off x="-84124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activity / Bq</a:t>
            </a:r>
            <a:endParaRPr lang="en-US" sz="1050" dirty="0"/>
          </a:p>
        </p:txBody>
      </p:sp>
      <p:sp>
        <p:nvSpPr>
          <p:cNvPr id="86" name="Shape 84"/>
          <p:cNvSpPr/>
          <p:nvPr/>
        </p:nvSpPr>
        <p:spPr>
          <a:xfrm>
            <a:off x="1371600" y="1417320"/>
            <a:ext cx="72390" cy="184757"/>
          </a:xfrm>
          <a:prstGeom prst="line">
            <a:avLst/>
          </a:prstGeom>
          <a:noFill/>
          <a:ln w="31750">
            <a:solidFill>
              <a:srgbClr val="2E5BD8"/>
            </a:solidFill>
            <a:prstDash val="solid"/>
          </a:ln>
        </p:spPr>
      </p:sp>
      <p:sp>
        <p:nvSpPr>
          <p:cNvPr id="87" name="Shape 85"/>
          <p:cNvSpPr/>
          <p:nvPr/>
        </p:nvSpPr>
        <p:spPr>
          <a:xfrm>
            <a:off x="1443990" y="1602077"/>
            <a:ext cx="72390" cy="174387"/>
          </a:xfrm>
          <a:prstGeom prst="line">
            <a:avLst/>
          </a:prstGeom>
          <a:noFill/>
          <a:ln w="31750">
            <a:solidFill>
              <a:srgbClr val="2E5BD8"/>
            </a:solidFill>
            <a:prstDash val="solid"/>
          </a:ln>
        </p:spPr>
      </p:sp>
      <p:sp>
        <p:nvSpPr>
          <p:cNvPr id="88" name="Shape 86"/>
          <p:cNvSpPr/>
          <p:nvPr/>
        </p:nvSpPr>
        <p:spPr>
          <a:xfrm>
            <a:off x="1516380" y="1776464"/>
            <a:ext cx="72390" cy="164600"/>
          </a:xfrm>
          <a:prstGeom prst="line">
            <a:avLst/>
          </a:prstGeom>
          <a:noFill/>
          <a:ln w="31750">
            <a:solidFill>
              <a:srgbClr val="2E5BD8"/>
            </a:solidFill>
            <a:prstDash val="solid"/>
          </a:ln>
        </p:spPr>
      </p:sp>
      <p:sp>
        <p:nvSpPr>
          <p:cNvPr id="89" name="Shape 87"/>
          <p:cNvSpPr/>
          <p:nvPr/>
        </p:nvSpPr>
        <p:spPr>
          <a:xfrm>
            <a:off x="1588770" y="1941064"/>
            <a:ext cx="72390" cy="155361"/>
          </a:xfrm>
          <a:prstGeom prst="line">
            <a:avLst/>
          </a:prstGeom>
          <a:noFill/>
          <a:ln w="31750">
            <a:solidFill>
              <a:srgbClr val="2E5BD8"/>
            </a:solidFill>
            <a:prstDash val="solid"/>
          </a:ln>
        </p:spPr>
      </p:sp>
      <p:sp>
        <p:nvSpPr>
          <p:cNvPr id="90" name="Shape 88"/>
          <p:cNvSpPr/>
          <p:nvPr/>
        </p:nvSpPr>
        <p:spPr>
          <a:xfrm>
            <a:off x="1661160" y="2096425"/>
            <a:ext cx="72390" cy="146642"/>
          </a:xfrm>
          <a:prstGeom prst="line">
            <a:avLst/>
          </a:prstGeom>
          <a:noFill/>
          <a:ln w="31750">
            <a:solidFill>
              <a:srgbClr val="2E5BD8"/>
            </a:solidFill>
            <a:prstDash val="solid"/>
          </a:ln>
        </p:spPr>
      </p:sp>
      <p:sp>
        <p:nvSpPr>
          <p:cNvPr id="91" name="Shape 89"/>
          <p:cNvSpPr/>
          <p:nvPr/>
        </p:nvSpPr>
        <p:spPr>
          <a:xfrm>
            <a:off x="1733550" y="2243066"/>
            <a:ext cx="72390" cy="138411"/>
          </a:xfrm>
          <a:prstGeom prst="line">
            <a:avLst/>
          </a:prstGeom>
          <a:noFill/>
          <a:ln w="31750">
            <a:solidFill>
              <a:srgbClr val="2E5BD8"/>
            </a:solidFill>
            <a:prstDash val="solid"/>
          </a:ln>
        </p:spPr>
      </p:sp>
      <p:sp>
        <p:nvSpPr>
          <p:cNvPr id="92" name="Shape 90"/>
          <p:cNvSpPr/>
          <p:nvPr/>
        </p:nvSpPr>
        <p:spPr>
          <a:xfrm>
            <a:off x="1805940" y="2381478"/>
            <a:ext cx="72390" cy="130643"/>
          </a:xfrm>
          <a:prstGeom prst="line">
            <a:avLst/>
          </a:prstGeom>
          <a:noFill/>
          <a:ln w="31750">
            <a:solidFill>
              <a:srgbClr val="2E5BD8"/>
            </a:solidFill>
            <a:prstDash val="solid"/>
          </a:ln>
        </p:spPr>
      </p:sp>
      <p:sp>
        <p:nvSpPr>
          <p:cNvPr id="93" name="Shape 91"/>
          <p:cNvSpPr/>
          <p:nvPr/>
        </p:nvSpPr>
        <p:spPr>
          <a:xfrm>
            <a:off x="1878330" y="2512120"/>
            <a:ext cx="72390" cy="123310"/>
          </a:xfrm>
          <a:prstGeom prst="line">
            <a:avLst/>
          </a:prstGeom>
          <a:noFill/>
          <a:ln w="31750">
            <a:solidFill>
              <a:srgbClr val="2E5BD8"/>
            </a:solidFill>
            <a:prstDash val="solid"/>
          </a:ln>
        </p:spPr>
      </p:sp>
      <p:sp>
        <p:nvSpPr>
          <p:cNvPr id="94" name="Shape 92"/>
          <p:cNvSpPr/>
          <p:nvPr/>
        </p:nvSpPr>
        <p:spPr>
          <a:xfrm>
            <a:off x="1950720" y="2635431"/>
            <a:ext cx="72390" cy="116389"/>
          </a:xfrm>
          <a:prstGeom prst="line">
            <a:avLst/>
          </a:prstGeom>
          <a:noFill/>
          <a:ln w="31750">
            <a:solidFill>
              <a:srgbClr val="2E5BD8"/>
            </a:solidFill>
            <a:prstDash val="solid"/>
          </a:ln>
        </p:spPr>
      </p:sp>
      <p:sp>
        <p:nvSpPr>
          <p:cNvPr id="95" name="Shape 93"/>
          <p:cNvSpPr/>
          <p:nvPr/>
        </p:nvSpPr>
        <p:spPr>
          <a:xfrm>
            <a:off x="2023110" y="2751820"/>
            <a:ext cx="72390" cy="109857"/>
          </a:xfrm>
          <a:prstGeom prst="line">
            <a:avLst/>
          </a:prstGeom>
          <a:noFill/>
          <a:ln w="31750">
            <a:solidFill>
              <a:srgbClr val="2E5BD8"/>
            </a:solidFill>
            <a:prstDash val="solid"/>
          </a:ln>
        </p:spPr>
      </p:sp>
      <p:sp>
        <p:nvSpPr>
          <p:cNvPr id="96" name="Shape 94"/>
          <p:cNvSpPr/>
          <p:nvPr/>
        </p:nvSpPr>
        <p:spPr>
          <a:xfrm>
            <a:off x="2095500" y="2861677"/>
            <a:ext cx="72390" cy="103691"/>
          </a:xfrm>
          <a:prstGeom prst="line">
            <a:avLst/>
          </a:prstGeom>
          <a:noFill/>
          <a:ln w="31750">
            <a:solidFill>
              <a:srgbClr val="2E5BD8"/>
            </a:solidFill>
            <a:prstDash val="solid"/>
          </a:ln>
        </p:spPr>
      </p:sp>
      <p:sp>
        <p:nvSpPr>
          <p:cNvPr id="97" name="Shape 95"/>
          <p:cNvSpPr/>
          <p:nvPr/>
        </p:nvSpPr>
        <p:spPr>
          <a:xfrm>
            <a:off x="2167890" y="2965369"/>
            <a:ext cx="72390" cy="97871"/>
          </a:xfrm>
          <a:prstGeom prst="line">
            <a:avLst/>
          </a:prstGeom>
          <a:noFill/>
          <a:ln w="31750">
            <a:solidFill>
              <a:srgbClr val="2E5BD8"/>
            </a:solidFill>
            <a:prstDash val="solid"/>
          </a:ln>
        </p:spPr>
      </p:sp>
      <p:sp>
        <p:nvSpPr>
          <p:cNvPr id="98" name="Shape 96"/>
          <p:cNvSpPr/>
          <p:nvPr/>
        </p:nvSpPr>
        <p:spPr>
          <a:xfrm>
            <a:off x="2240280" y="3063240"/>
            <a:ext cx="72390" cy="92378"/>
          </a:xfrm>
          <a:prstGeom prst="line">
            <a:avLst/>
          </a:prstGeom>
          <a:noFill/>
          <a:ln w="31750">
            <a:solidFill>
              <a:srgbClr val="2E5BD8"/>
            </a:solidFill>
            <a:prstDash val="solid"/>
          </a:ln>
        </p:spPr>
      </p:sp>
      <p:sp>
        <p:nvSpPr>
          <p:cNvPr id="99" name="Shape 97"/>
          <p:cNvSpPr/>
          <p:nvPr/>
        </p:nvSpPr>
        <p:spPr>
          <a:xfrm>
            <a:off x="2312670" y="3155618"/>
            <a:ext cx="72390" cy="87194"/>
          </a:xfrm>
          <a:prstGeom prst="line">
            <a:avLst/>
          </a:prstGeom>
          <a:noFill/>
          <a:ln w="31750">
            <a:solidFill>
              <a:srgbClr val="2E5BD8"/>
            </a:solidFill>
            <a:prstDash val="solid"/>
          </a:ln>
        </p:spPr>
      </p:sp>
      <p:sp>
        <p:nvSpPr>
          <p:cNvPr id="100" name="Shape 98"/>
          <p:cNvSpPr/>
          <p:nvPr/>
        </p:nvSpPr>
        <p:spPr>
          <a:xfrm>
            <a:off x="2385060" y="3242812"/>
            <a:ext cx="72390" cy="82300"/>
          </a:xfrm>
          <a:prstGeom prst="line">
            <a:avLst/>
          </a:prstGeom>
          <a:noFill/>
          <a:ln w="31750">
            <a:solidFill>
              <a:srgbClr val="2E5BD8"/>
            </a:solidFill>
            <a:prstDash val="solid"/>
          </a:ln>
        </p:spPr>
      </p:sp>
      <p:sp>
        <p:nvSpPr>
          <p:cNvPr id="101" name="Shape 99"/>
          <p:cNvSpPr/>
          <p:nvPr/>
        </p:nvSpPr>
        <p:spPr>
          <a:xfrm>
            <a:off x="2457450" y="3325112"/>
            <a:ext cx="72390" cy="77681"/>
          </a:xfrm>
          <a:prstGeom prst="line">
            <a:avLst/>
          </a:prstGeom>
          <a:noFill/>
          <a:ln w="31750">
            <a:solidFill>
              <a:srgbClr val="2E5BD8"/>
            </a:solidFill>
            <a:prstDash val="solid"/>
          </a:ln>
        </p:spPr>
      </p:sp>
      <p:sp>
        <p:nvSpPr>
          <p:cNvPr id="102" name="Shape 100"/>
          <p:cNvSpPr/>
          <p:nvPr/>
        </p:nvSpPr>
        <p:spPr>
          <a:xfrm>
            <a:off x="2529840" y="3402792"/>
            <a:ext cx="72390" cy="73321"/>
          </a:xfrm>
          <a:prstGeom prst="line">
            <a:avLst/>
          </a:prstGeom>
          <a:noFill/>
          <a:ln w="31750">
            <a:solidFill>
              <a:srgbClr val="2E5BD8"/>
            </a:solidFill>
            <a:prstDash val="solid"/>
          </a:ln>
        </p:spPr>
      </p:sp>
      <p:sp>
        <p:nvSpPr>
          <p:cNvPr id="103" name="Shape 101"/>
          <p:cNvSpPr/>
          <p:nvPr/>
        </p:nvSpPr>
        <p:spPr>
          <a:xfrm>
            <a:off x="2602230" y="3476113"/>
            <a:ext cx="72390" cy="69206"/>
          </a:xfrm>
          <a:prstGeom prst="line">
            <a:avLst/>
          </a:prstGeom>
          <a:noFill/>
          <a:ln w="31750">
            <a:solidFill>
              <a:srgbClr val="2E5BD8"/>
            </a:solidFill>
            <a:prstDash val="solid"/>
          </a:ln>
        </p:spPr>
      </p:sp>
      <p:sp>
        <p:nvSpPr>
          <p:cNvPr id="104" name="Shape 102"/>
          <p:cNvSpPr/>
          <p:nvPr/>
        </p:nvSpPr>
        <p:spPr>
          <a:xfrm>
            <a:off x="2674620" y="3545319"/>
            <a:ext cx="72390" cy="65321"/>
          </a:xfrm>
          <a:prstGeom prst="line">
            <a:avLst/>
          </a:prstGeom>
          <a:noFill/>
          <a:ln w="31750">
            <a:solidFill>
              <a:srgbClr val="2E5BD8"/>
            </a:solidFill>
            <a:prstDash val="solid"/>
          </a:ln>
        </p:spPr>
      </p:sp>
      <p:sp>
        <p:nvSpPr>
          <p:cNvPr id="105" name="Shape 103"/>
          <p:cNvSpPr/>
          <p:nvPr/>
        </p:nvSpPr>
        <p:spPr>
          <a:xfrm>
            <a:off x="2747010" y="3610640"/>
            <a:ext cx="72390" cy="61655"/>
          </a:xfrm>
          <a:prstGeom prst="line">
            <a:avLst/>
          </a:prstGeom>
          <a:noFill/>
          <a:ln w="31750">
            <a:solidFill>
              <a:srgbClr val="2E5BD8"/>
            </a:solidFill>
            <a:prstDash val="solid"/>
          </a:ln>
        </p:spPr>
      </p:sp>
      <p:sp>
        <p:nvSpPr>
          <p:cNvPr id="106" name="Shape 104"/>
          <p:cNvSpPr/>
          <p:nvPr/>
        </p:nvSpPr>
        <p:spPr>
          <a:xfrm>
            <a:off x="2819400" y="3672295"/>
            <a:ext cx="72390" cy="58195"/>
          </a:xfrm>
          <a:prstGeom prst="line">
            <a:avLst/>
          </a:prstGeom>
          <a:noFill/>
          <a:ln w="31750">
            <a:solidFill>
              <a:srgbClr val="2E5BD8"/>
            </a:solidFill>
            <a:prstDash val="solid"/>
          </a:ln>
        </p:spPr>
      </p:sp>
      <p:sp>
        <p:nvSpPr>
          <p:cNvPr id="107" name="Shape 105"/>
          <p:cNvSpPr/>
          <p:nvPr/>
        </p:nvSpPr>
        <p:spPr>
          <a:xfrm>
            <a:off x="2891790" y="3730490"/>
            <a:ext cx="72390" cy="54929"/>
          </a:xfrm>
          <a:prstGeom prst="line">
            <a:avLst/>
          </a:prstGeom>
          <a:noFill/>
          <a:ln w="31750">
            <a:solidFill>
              <a:srgbClr val="2E5BD8"/>
            </a:solidFill>
            <a:prstDash val="solid"/>
          </a:ln>
        </p:spPr>
      </p:sp>
      <p:sp>
        <p:nvSpPr>
          <p:cNvPr id="108" name="Shape 106"/>
          <p:cNvSpPr/>
          <p:nvPr/>
        </p:nvSpPr>
        <p:spPr>
          <a:xfrm>
            <a:off x="2964180" y="3785419"/>
            <a:ext cx="72390" cy="51846"/>
          </a:xfrm>
          <a:prstGeom prst="line">
            <a:avLst/>
          </a:prstGeom>
          <a:noFill/>
          <a:ln w="31750">
            <a:solidFill>
              <a:srgbClr val="2E5BD8"/>
            </a:solidFill>
            <a:prstDash val="solid"/>
          </a:ln>
        </p:spPr>
      </p:sp>
      <p:sp>
        <p:nvSpPr>
          <p:cNvPr id="109" name="Shape 107"/>
          <p:cNvSpPr/>
          <p:nvPr/>
        </p:nvSpPr>
        <p:spPr>
          <a:xfrm>
            <a:off x="3036570" y="3837264"/>
            <a:ext cx="72390" cy="48936"/>
          </a:xfrm>
          <a:prstGeom prst="line">
            <a:avLst/>
          </a:prstGeom>
          <a:noFill/>
          <a:ln w="31750">
            <a:solidFill>
              <a:srgbClr val="2E5BD8"/>
            </a:solidFill>
            <a:prstDash val="solid"/>
          </a:ln>
        </p:spPr>
      </p:sp>
      <p:sp>
        <p:nvSpPr>
          <p:cNvPr id="110" name="Shape 108"/>
          <p:cNvSpPr/>
          <p:nvPr/>
        </p:nvSpPr>
        <p:spPr>
          <a:xfrm>
            <a:off x="3108960" y="3886200"/>
            <a:ext cx="72390" cy="46189"/>
          </a:xfrm>
          <a:prstGeom prst="line">
            <a:avLst/>
          </a:prstGeom>
          <a:noFill/>
          <a:ln w="31750">
            <a:solidFill>
              <a:srgbClr val="2E5BD8"/>
            </a:solidFill>
            <a:prstDash val="solid"/>
          </a:ln>
        </p:spPr>
      </p:sp>
      <p:sp>
        <p:nvSpPr>
          <p:cNvPr id="111" name="Shape 109"/>
          <p:cNvSpPr/>
          <p:nvPr/>
        </p:nvSpPr>
        <p:spPr>
          <a:xfrm>
            <a:off x="3181350" y="3932389"/>
            <a:ext cx="72390" cy="43597"/>
          </a:xfrm>
          <a:prstGeom prst="line">
            <a:avLst/>
          </a:prstGeom>
          <a:noFill/>
          <a:ln w="31750">
            <a:solidFill>
              <a:srgbClr val="2E5BD8"/>
            </a:solidFill>
            <a:prstDash val="solid"/>
          </a:ln>
        </p:spPr>
      </p:sp>
      <p:sp>
        <p:nvSpPr>
          <p:cNvPr id="112" name="Shape 110"/>
          <p:cNvSpPr/>
          <p:nvPr/>
        </p:nvSpPr>
        <p:spPr>
          <a:xfrm>
            <a:off x="3253740" y="3975986"/>
            <a:ext cx="72390" cy="41150"/>
          </a:xfrm>
          <a:prstGeom prst="line">
            <a:avLst/>
          </a:prstGeom>
          <a:noFill/>
          <a:ln w="31750">
            <a:solidFill>
              <a:srgbClr val="2E5BD8"/>
            </a:solidFill>
            <a:prstDash val="solid"/>
          </a:ln>
        </p:spPr>
      </p:sp>
      <p:sp>
        <p:nvSpPr>
          <p:cNvPr id="113" name="Shape 111"/>
          <p:cNvSpPr/>
          <p:nvPr/>
        </p:nvSpPr>
        <p:spPr>
          <a:xfrm>
            <a:off x="3326130" y="4017136"/>
            <a:ext cx="72390" cy="38840"/>
          </a:xfrm>
          <a:prstGeom prst="line">
            <a:avLst/>
          </a:prstGeom>
          <a:noFill/>
          <a:ln w="31750">
            <a:solidFill>
              <a:srgbClr val="2E5BD8"/>
            </a:solidFill>
            <a:prstDash val="solid"/>
          </a:ln>
        </p:spPr>
      </p:sp>
      <p:sp>
        <p:nvSpPr>
          <p:cNvPr id="114" name="Shape 112"/>
          <p:cNvSpPr/>
          <p:nvPr/>
        </p:nvSpPr>
        <p:spPr>
          <a:xfrm>
            <a:off x="3398520" y="4055976"/>
            <a:ext cx="72390" cy="36660"/>
          </a:xfrm>
          <a:prstGeom prst="line">
            <a:avLst/>
          </a:prstGeom>
          <a:noFill/>
          <a:ln w="31750">
            <a:solidFill>
              <a:srgbClr val="2E5BD8"/>
            </a:solidFill>
            <a:prstDash val="solid"/>
          </a:ln>
        </p:spPr>
      </p:sp>
      <p:sp>
        <p:nvSpPr>
          <p:cNvPr id="115" name="Shape 113"/>
          <p:cNvSpPr/>
          <p:nvPr/>
        </p:nvSpPr>
        <p:spPr>
          <a:xfrm>
            <a:off x="3470910" y="4092637"/>
            <a:ext cx="72390" cy="34603"/>
          </a:xfrm>
          <a:prstGeom prst="line">
            <a:avLst/>
          </a:prstGeom>
          <a:noFill/>
          <a:ln w="31750">
            <a:solidFill>
              <a:srgbClr val="2E5BD8"/>
            </a:solidFill>
            <a:prstDash val="solid"/>
          </a:ln>
        </p:spPr>
      </p:sp>
      <p:sp>
        <p:nvSpPr>
          <p:cNvPr id="116" name="Shape 114"/>
          <p:cNvSpPr/>
          <p:nvPr/>
        </p:nvSpPr>
        <p:spPr>
          <a:xfrm>
            <a:off x="3543300" y="4127239"/>
            <a:ext cx="72390" cy="32661"/>
          </a:xfrm>
          <a:prstGeom prst="line">
            <a:avLst/>
          </a:prstGeom>
          <a:noFill/>
          <a:ln w="31750">
            <a:solidFill>
              <a:srgbClr val="2E5BD8"/>
            </a:solidFill>
            <a:prstDash val="solid"/>
          </a:ln>
        </p:spPr>
      </p:sp>
      <p:sp>
        <p:nvSpPr>
          <p:cNvPr id="117" name="Shape 115"/>
          <p:cNvSpPr/>
          <p:nvPr/>
        </p:nvSpPr>
        <p:spPr>
          <a:xfrm>
            <a:off x="3615690" y="4159900"/>
            <a:ext cx="72390" cy="30828"/>
          </a:xfrm>
          <a:prstGeom prst="line">
            <a:avLst/>
          </a:prstGeom>
          <a:noFill/>
          <a:ln w="31750">
            <a:solidFill>
              <a:srgbClr val="2E5BD8"/>
            </a:solidFill>
            <a:prstDash val="solid"/>
          </a:ln>
        </p:spPr>
      </p:sp>
      <p:sp>
        <p:nvSpPr>
          <p:cNvPr id="118" name="Shape 116"/>
          <p:cNvSpPr/>
          <p:nvPr/>
        </p:nvSpPr>
        <p:spPr>
          <a:xfrm>
            <a:off x="3688080" y="4190728"/>
            <a:ext cx="72390" cy="29097"/>
          </a:xfrm>
          <a:prstGeom prst="line">
            <a:avLst/>
          </a:prstGeom>
          <a:noFill/>
          <a:ln w="31750">
            <a:solidFill>
              <a:srgbClr val="2E5BD8"/>
            </a:solidFill>
            <a:prstDash val="solid"/>
          </a:ln>
        </p:spPr>
      </p:sp>
      <p:sp>
        <p:nvSpPr>
          <p:cNvPr id="119" name="Shape 117"/>
          <p:cNvSpPr/>
          <p:nvPr/>
        </p:nvSpPr>
        <p:spPr>
          <a:xfrm>
            <a:off x="3760470" y="4219825"/>
            <a:ext cx="72390" cy="27464"/>
          </a:xfrm>
          <a:prstGeom prst="line">
            <a:avLst/>
          </a:prstGeom>
          <a:noFill/>
          <a:ln w="31750">
            <a:solidFill>
              <a:srgbClr val="2E5BD8"/>
            </a:solidFill>
            <a:prstDash val="solid"/>
          </a:ln>
        </p:spPr>
      </p:sp>
      <p:sp>
        <p:nvSpPr>
          <p:cNvPr id="120" name="Shape 118"/>
          <p:cNvSpPr/>
          <p:nvPr/>
        </p:nvSpPr>
        <p:spPr>
          <a:xfrm>
            <a:off x="3832860" y="4247289"/>
            <a:ext cx="72390" cy="25923"/>
          </a:xfrm>
          <a:prstGeom prst="line">
            <a:avLst/>
          </a:prstGeom>
          <a:noFill/>
          <a:ln w="31750">
            <a:solidFill>
              <a:srgbClr val="2E5BD8"/>
            </a:solidFill>
            <a:prstDash val="solid"/>
          </a:ln>
        </p:spPr>
      </p:sp>
      <p:sp>
        <p:nvSpPr>
          <p:cNvPr id="121" name="Shape 119"/>
          <p:cNvSpPr/>
          <p:nvPr/>
        </p:nvSpPr>
        <p:spPr>
          <a:xfrm>
            <a:off x="3905250" y="4273212"/>
            <a:ext cx="72390" cy="24468"/>
          </a:xfrm>
          <a:prstGeom prst="line">
            <a:avLst/>
          </a:prstGeom>
          <a:noFill/>
          <a:ln w="31750">
            <a:solidFill>
              <a:srgbClr val="2E5BD8"/>
            </a:solidFill>
            <a:prstDash val="solid"/>
          </a:ln>
        </p:spPr>
      </p:sp>
      <p:sp>
        <p:nvSpPr>
          <p:cNvPr id="122" name="Shape 120"/>
          <p:cNvSpPr/>
          <p:nvPr/>
        </p:nvSpPr>
        <p:spPr>
          <a:xfrm>
            <a:off x="3977640" y="4297680"/>
            <a:ext cx="72390" cy="23095"/>
          </a:xfrm>
          <a:prstGeom prst="line">
            <a:avLst/>
          </a:prstGeom>
          <a:noFill/>
          <a:ln w="31750">
            <a:solidFill>
              <a:srgbClr val="2E5BD8"/>
            </a:solidFill>
            <a:prstDash val="solid"/>
          </a:ln>
        </p:spPr>
      </p:sp>
      <p:sp>
        <p:nvSpPr>
          <p:cNvPr id="123" name="Shape 121"/>
          <p:cNvSpPr/>
          <p:nvPr/>
        </p:nvSpPr>
        <p:spPr>
          <a:xfrm>
            <a:off x="4050030" y="4320775"/>
            <a:ext cx="72390" cy="21798"/>
          </a:xfrm>
          <a:prstGeom prst="line">
            <a:avLst/>
          </a:prstGeom>
          <a:noFill/>
          <a:ln w="31750">
            <a:solidFill>
              <a:srgbClr val="2E5BD8"/>
            </a:solidFill>
            <a:prstDash val="solid"/>
          </a:ln>
        </p:spPr>
      </p:sp>
      <p:sp>
        <p:nvSpPr>
          <p:cNvPr id="124" name="Shape 122"/>
          <p:cNvSpPr/>
          <p:nvPr/>
        </p:nvSpPr>
        <p:spPr>
          <a:xfrm>
            <a:off x="4122420" y="4342573"/>
            <a:ext cx="72390" cy="20575"/>
          </a:xfrm>
          <a:prstGeom prst="line">
            <a:avLst/>
          </a:prstGeom>
          <a:noFill/>
          <a:ln w="31750">
            <a:solidFill>
              <a:srgbClr val="2E5BD8"/>
            </a:solidFill>
            <a:prstDash val="solid"/>
          </a:ln>
        </p:spPr>
      </p:sp>
      <p:sp>
        <p:nvSpPr>
          <p:cNvPr id="125" name="Shape 123"/>
          <p:cNvSpPr/>
          <p:nvPr/>
        </p:nvSpPr>
        <p:spPr>
          <a:xfrm>
            <a:off x="4194810" y="4363148"/>
            <a:ext cx="72390" cy="19420"/>
          </a:xfrm>
          <a:prstGeom prst="line">
            <a:avLst/>
          </a:prstGeom>
          <a:noFill/>
          <a:ln w="31750">
            <a:solidFill>
              <a:srgbClr val="2E5BD8"/>
            </a:solidFill>
            <a:prstDash val="solid"/>
          </a:ln>
        </p:spPr>
      </p:sp>
      <p:sp>
        <p:nvSpPr>
          <p:cNvPr id="126" name="Shape 124"/>
          <p:cNvSpPr/>
          <p:nvPr/>
        </p:nvSpPr>
        <p:spPr>
          <a:xfrm>
            <a:off x="4267200" y="4382568"/>
            <a:ext cx="72390" cy="18330"/>
          </a:xfrm>
          <a:prstGeom prst="line">
            <a:avLst/>
          </a:prstGeom>
          <a:noFill/>
          <a:ln w="31750">
            <a:solidFill>
              <a:srgbClr val="2E5BD8"/>
            </a:solidFill>
            <a:prstDash val="solid"/>
          </a:ln>
        </p:spPr>
      </p:sp>
      <p:sp>
        <p:nvSpPr>
          <p:cNvPr id="127" name="Shape 125"/>
          <p:cNvSpPr/>
          <p:nvPr/>
        </p:nvSpPr>
        <p:spPr>
          <a:xfrm>
            <a:off x="4339590" y="4400898"/>
            <a:ext cx="72390" cy="17301"/>
          </a:xfrm>
          <a:prstGeom prst="line">
            <a:avLst/>
          </a:prstGeom>
          <a:noFill/>
          <a:ln w="31750">
            <a:solidFill>
              <a:srgbClr val="2E5BD8"/>
            </a:solidFill>
            <a:prstDash val="solid"/>
          </a:ln>
        </p:spPr>
      </p:sp>
      <p:sp>
        <p:nvSpPr>
          <p:cNvPr id="128" name="Shape 126"/>
          <p:cNvSpPr/>
          <p:nvPr/>
        </p:nvSpPr>
        <p:spPr>
          <a:xfrm>
            <a:off x="4411980" y="4418200"/>
            <a:ext cx="72390" cy="16330"/>
          </a:xfrm>
          <a:prstGeom prst="line">
            <a:avLst/>
          </a:prstGeom>
          <a:noFill/>
          <a:ln w="31750">
            <a:solidFill>
              <a:srgbClr val="2E5BD8"/>
            </a:solidFill>
            <a:prstDash val="solid"/>
          </a:ln>
        </p:spPr>
      </p:sp>
      <p:sp>
        <p:nvSpPr>
          <p:cNvPr id="129" name="Shape 127"/>
          <p:cNvSpPr/>
          <p:nvPr/>
        </p:nvSpPr>
        <p:spPr>
          <a:xfrm>
            <a:off x="4484370" y="4434530"/>
            <a:ext cx="72390" cy="15414"/>
          </a:xfrm>
          <a:prstGeom prst="line">
            <a:avLst/>
          </a:prstGeom>
          <a:noFill/>
          <a:ln w="31750">
            <a:solidFill>
              <a:srgbClr val="2E5BD8"/>
            </a:solidFill>
            <a:prstDash val="solid"/>
          </a:ln>
        </p:spPr>
      </p:sp>
      <p:sp>
        <p:nvSpPr>
          <p:cNvPr id="130" name="Shape 128"/>
          <p:cNvSpPr/>
          <p:nvPr/>
        </p:nvSpPr>
        <p:spPr>
          <a:xfrm>
            <a:off x="4556760" y="4449944"/>
            <a:ext cx="72390" cy="14549"/>
          </a:xfrm>
          <a:prstGeom prst="line">
            <a:avLst/>
          </a:prstGeom>
          <a:noFill/>
          <a:ln w="31750">
            <a:solidFill>
              <a:srgbClr val="2E5BD8"/>
            </a:solidFill>
            <a:prstDash val="solid"/>
          </a:ln>
        </p:spPr>
      </p:sp>
      <p:sp>
        <p:nvSpPr>
          <p:cNvPr id="131" name="Shape 129"/>
          <p:cNvSpPr/>
          <p:nvPr/>
        </p:nvSpPr>
        <p:spPr>
          <a:xfrm>
            <a:off x="4629150" y="4464493"/>
            <a:ext cx="72390" cy="13732"/>
          </a:xfrm>
          <a:prstGeom prst="line">
            <a:avLst/>
          </a:prstGeom>
          <a:noFill/>
          <a:ln w="31750">
            <a:solidFill>
              <a:srgbClr val="2E5BD8"/>
            </a:solidFill>
            <a:prstDash val="solid"/>
          </a:ln>
        </p:spPr>
      </p:sp>
      <p:sp>
        <p:nvSpPr>
          <p:cNvPr id="132" name="Shape 130"/>
          <p:cNvSpPr/>
          <p:nvPr/>
        </p:nvSpPr>
        <p:spPr>
          <a:xfrm>
            <a:off x="4701540" y="4478225"/>
            <a:ext cx="72390" cy="12961"/>
          </a:xfrm>
          <a:prstGeom prst="line">
            <a:avLst/>
          </a:prstGeom>
          <a:noFill/>
          <a:ln w="31750">
            <a:solidFill>
              <a:srgbClr val="2E5BD8"/>
            </a:solidFill>
            <a:prstDash val="solid"/>
          </a:ln>
        </p:spPr>
      </p:sp>
      <p:sp>
        <p:nvSpPr>
          <p:cNvPr id="133" name="Shape 131"/>
          <p:cNvSpPr/>
          <p:nvPr/>
        </p:nvSpPr>
        <p:spPr>
          <a:xfrm>
            <a:off x="4773930" y="4491186"/>
            <a:ext cx="72390" cy="12234"/>
          </a:xfrm>
          <a:prstGeom prst="line">
            <a:avLst/>
          </a:prstGeom>
          <a:noFill/>
          <a:ln w="31750">
            <a:solidFill>
              <a:srgbClr val="2E5BD8"/>
            </a:solidFill>
            <a:prstDash val="solid"/>
          </a:ln>
        </p:spPr>
      </p:sp>
      <p:sp>
        <p:nvSpPr>
          <p:cNvPr id="134" name="Shape 132"/>
          <p:cNvSpPr/>
          <p:nvPr/>
        </p:nvSpPr>
        <p:spPr>
          <a:xfrm>
            <a:off x="4846320" y="4503420"/>
            <a:ext cx="72390" cy="11547"/>
          </a:xfrm>
          <a:prstGeom prst="line">
            <a:avLst/>
          </a:prstGeom>
          <a:noFill/>
          <a:ln w="31750">
            <a:solidFill>
              <a:srgbClr val="2E5BD8"/>
            </a:solidFill>
            <a:prstDash val="solid"/>
          </a:ln>
        </p:spPr>
      </p:sp>
      <p:sp>
        <p:nvSpPr>
          <p:cNvPr id="135" name="Shape 133"/>
          <p:cNvSpPr/>
          <p:nvPr/>
        </p:nvSpPr>
        <p:spPr>
          <a:xfrm>
            <a:off x="4918710" y="4514967"/>
            <a:ext cx="72390" cy="10899"/>
          </a:xfrm>
          <a:prstGeom prst="line">
            <a:avLst/>
          </a:prstGeom>
          <a:noFill/>
          <a:ln w="31750">
            <a:solidFill>
              <a:srgbClr val="2E5BD8"/>
            </a:solidFill>
            <a:prstDash val="solid"/>
          </a:ln>
        </p:spPr>
      </p:sp>
      <p:sp>
        <p:nvSpPr>
          <p:cNvPr id="136" name="Shape 134"/>
          <p:cNvSpPr/>
          <p:nvPr/>
        </p:nvSpPr>
        <p:spPr>
          <a:xfrm>
            <a:off x="4991100" y="4525866"/>
            <a:ext cx="72390" cy="10287"/>
          </a:xfrm>
          <a:prstGeom prst="line">
            <a:avLst/>
          </a:prstGeom>
          <a:noFill/>
          <a:ln w="31750">
            <a:solidFill>
              <a:srgbClr val="2E5BD8"/>
            </a:solidFill>
            <a:prstDash val="solid"/>
          </a:ln>
        </p:spPr>
      </p:sp>
      <p:sp>
        <p:nvSpPr>
          <p:cNvPr id="137" name="Shape 135"/>
          <p:cNvSpPr/>
          <p:nvPr/>
        </p:nvSpPr>
        <p:spPr>
          <a:xfrm>
            <a:off x="5063490" y="4536154"/>
            <a:ext cx="72390" cy="9710"/>
          </a:xfrm>
          <a:prstGeom prst="line">
            <a:avLst/>
          </a:prstGeom>
          <a:noFill/>
          <a:ln w="31750">
            <a:solidFill>
              <a:srgbClr val="2E5BD8"/>
            </a:solidFill>
            <a:prstDash val="solid"/>
          </a:ln>
        </p:spPr>
      </p:sp>
      <p:sp>
        <p:nvSpPr>
          <p:cNvPr id="138" name="Shape 136"/>
          <p:cNvSpPr/>
          <p:nvPr/>
        </p:nvSpPr>
        <p:spPr>
          <a:xfrm>
            <a:off x="5135880" y="4545864"/>
            <a:ext cx="72390" cy="9165"/>
          </a:xfrm>
          <a:prstGeom prst="line">
            <a:avLst/>
          </a:prstGeom>
          <a:noFill/>
          <a:ln w="31750">
            <a:solidFill>
              <a:srgbClr val="2E5BD8"/>
            </a:solidFill>
            <a:prstDash val="solid"/>
          </a:ln>
        </p:spPr>
      </p:sp>
      <p:sp>
        <p:nvSpPr>
          <p:cNvPr id="139" name="Shape 137"/>
          <p:cNvSpPr/>
          <p:nvPr/>
        </p:nvSpPr>
        <p:spPr>
          <a:xfrm>
            <a:off x="5208270" y="4555029"/>
            <a:ext cx="72390" cy="8651"/>
          </a:xfrm>
          <a:prstGeom prst="line">
            <a:avLst/>
          </a:prstGeom>
          <a:noFill/>
          <a:ln w="31750">
            <a:solidFill>
              <a:srgbClr val="2E5BD8"/>
            </a:solidFill>
            <a:prstDash val="solid"/>
          </a:ln>
        </p:spPr>
      </p:sp>
      <p:sp>
        <p:nvSpPr>
          <p:cNvPr id="140" name="Shape 138"/>
          <p:cNvSpPr/>
          <p:nvPr/>
        </p:nvSpPr>
        <p:spPr>
          <a:xfrm>
            <a:off x="5280660" y="4563680"/>
            <a:ext cx="72390" cy="8165"/>
          </a:xfrm>
          <a:prstGeom prst="line">
            <a:avLst/>
          </a:prstGeom>
          <a:noFill/>
          <a:ln w="31750">
            <a:solidFill>
              <a:srgbClr val="2E5BD8"/>
            </a:solidFill>
            <a:prstDash val="solid"/>
          </a:ln>
        </p:spPr>
      </p:sp>
      <p:sp>
        <p:nvSpPr>
          <p:cNvPr id="141" name="Shape 139"/>
          <p:cNvSpPr/>
          <p:nvPr/>
        </p:nvSpPr>
        <p:spPr>
          <a:xfrm>
            <a:off x="5353050" y="4571845"/>
            <a:ext cx="72390" cy="7707"/>
          </a:xfrm>
          <a:prstGeom prst="line">
            <a:avLst/>
          </a:prstGeom>
          <a:noFill/>
          <a:ln w="31750">
            <a:solidFill>
              <a:srgbClr val="2E5BD8"/>
            </a:solidFill>
            <a:prstDash val="solid"/>
          </a:ln>
        </p:spPr>
      </p:sp>
      <p:sp>
        <p:nvSpPr>
          <p:cNvPr id="142" name="Shape 140"/>
          <p:cNvSpPr/>
          <p:nvPr/>
        </p:nvSpPr>
        <p:spPr>
          <a:xfrm>
            <a:off x="5425440" y="4579552"/>
            <a:ext cx="72390" cy="7274"/>
          </a:xfrm>
          <a:prstGeom prst="line">
            <a:avLst/>
          </a:prstGeom>
          <a:noFill/>
          <a:ln w="31750">
            <a:solidFill>
              <a:srgbClr val="2E5BD8"/>
            </a:solidFill>
            <a:prstDash val="solid"/>
          </a:ln>
        </p:spPr>
      </p:sp>
      <p:sp>
        <p:nvSpPr>
          <p:cNvPr id="143" name="Shape 141"/>
          <p:cNvSpPr/>
          <p:nvPr/>
        </p:nvSpPr>
        <p:spPr>
          <a:xfrm>
            <a:off x="5497830" y="4586826"/>
            <a:ext cx="72390" cy="6866"/>
          </a:xfrm>
          <a:prstGeom prst="line">
            <a:avLst/>
          </a:prstGeom>
          <a:noFill/>
          <a:ln w="31750">
            <a:solidFill>
              <a:srgbClr val="2E5BD8"/>
            </a:solidFill>
            <a:prstDash val="solid"/>
          </a:ln>
        </p:spPr>
      </p:sp>
      <p:sp>
        <p:nvSpPr>
          <p:cNvPr id="144" name="Shape 142"/>
          <p:cNvSpPr/>
          <p:nvPr/>
        </p:nvSpPr>
        <p:spPr>
          <a:xfrm>
            <a:off x="5570220" y="4593692"/>
            <a:ext cx="72390" cy="6481"/>
          </a:xfrm>
          <a:prstGeom prst="line">
            <a:avLst/>
          </a:prstGeom>
          <a:noFill/>
          <a:ln w="31750">
            <a:solidFill>
              <a:srgbClr val="2E5BD8"/>
            </a:solidFill>
            <a:prstDash val="solid"/>
          </a:ln>
        </p:spPr>
      </p:sp>
      <p:sp>
        <p:nvSpPr>
          <p:cNvPr id="145" name="Shape 143"/>
          <p:cNvSpPr/>
          <p:nvPr/>
        </p:nvSpPr>
        <p:spPr>
          <a:xfrm>
            <a:off x="5642610" y="4600173"/>
            <a:ext cx="72390" cy="6117"/>
          </a:xfrm>
          <a:prstGeom prst="line">
            <a:avLst/>
          </a:prstGeom>
          <a:noFill/>
          <a:ln w="31750">
            <a:solidFill>
              <a:srgbClr val="2E5BD8"/>
            </a:solidFill>
            <a:prstDash val="solid"/>
          </a:ln>
        </p:spPr>
      </p:sp>
      <p:sp>
        <p:nvSpPr>
          <p:cNvPr id="146" name="Shape 144"/>
          <p:cNvSpPr/>
          <p:nvPr/>
        </p:nvSpPr>
        <p:spPr>
          <a:xfrm>
            <a:off x="1371600" y="3063240"/>
            <a:ext cx="868680" cy="91"/>
          </a:xfrm>
          <a:prstGeom prst="line">
            <a:avLst/>
          </a:prstGeom>
          <a:noFill/>
          <a:ln w="15875">
            <a:solidFill>
              <a:srgbClr val="C8414C"/>
            </a:solidFill>
            <a:prstDash val="dash"/>
          </a:ln>
        </p:spPr>
      </p:sp>
      <p:sp>
        <p:nvSpPr>
          <p:cNvPr id="147" name="Shape 145"/>
          <p:cNvSpPr/>
          <p:nvPr/>
        </p:nvSpPr>
        <p:spPr>
          <a:xfrm>
            <a:off x="2240280" y="3063240"/>
            <a:ext cx="91" cy="1645920"/>
          </a:xfrm>
          <a:prstGeom prst="line">
            <a:avLst/>
          </a:prstGeom>
          <a:noFill/>
          <a:ln w="15875">
            <a:solidFill>
              <a:srgbClr val="C8414C"/>
            </a:solidFill>
            <a:prstDash val="dash"/>
          </a:ln>
        </p:spPr>
      </p:sp>
      <p:sp>
        <p:nvSpPr>
          <p:cNvPr id="148" name="Shape 146"/>
          <p:cNvSpPr/>
          <p:nvPr/>
        </p:nvSpPr>
        <p:spPr>
          <a:xfrm>
            <a:off x="1371600" y="3886200"/>
            <a:ext cx="1737360" cy="91"/>
          </a:xfrm>
          <a:prstGeom prst="line">
            <a:avLst/>
          </a:prstGeom>
          <a:noFill/>
          <a:ln w="15875">
            <a:solidFill>
              <a:srgbClr val="C8414C"/>
            </a:solidFill>
            <a:prstDash val="dash"/>
          </a:ln>
        </p:spPr>
      </p:sp>
      <p:sp>
        <p:nvSpPr>
          <p:cNvPr id="149" name="Shape 147"/>
          <p:cNvSpPr/>
          <p:nvPr/>
        </p:nvSpPr>
        <p:spPr>
          <a:xfrm>
            <a:off x="3108960" y="3886200"/>
            <a:ext cx="91" cy="822960"/>
          </a:xfrm>
          <a:prstGeom prst="line">
            <a:avLst/>
          </a:prstGeom>
          <a:noFill/>
          <a:ln w="15875">
            <a:solidFill>
              <a:srgbClr val="C8414C"/>
            </a:solidFill>
            <a:prstDash val="dash"/>
          </a:ln>
        </p:spPr>
      </p:sp>
      <p:sp>
        <p:nvSpPr>
          <p:cNvPr id="150" name="Shape 148"/>
          <p:cNvSpPr/>
          <p:nvPr/>
        </p:nvSpPr>
        <p:spPr>
          <a:xfrm>
            <a:off x="1371600" y="4297680"/>
            <a:ext cx="2606040" cy="91"/>
          </a:xfrm>
          <a:prstGeom prst="line">
            <a:avLst/>
          </a:prstGeom>
          <a:noFill/>
          <a:ln w="15875">
            <a:solidFill>
              <a:srgbClr val="C8414C"/>
            </a:solidFill>
            <a:prstDash val="dash"/>
          </a:ln>
        </p:spPr>
      </p:sp>
      <p:sp>
        <p:nvSpPr>
          <p:cNvPr id="151" name="Shape 149"/>
          <p:cNvSpPr/>
          <p:nvPr/>
        </p:nvSpPr>
        <p:spPr>
          <a:xfrm>
            <a:off x="3977640" y="4297680"/>
            <a:ext cx="91" cy="411480"/>
          </a:xfrm>
          <a:prstGeom prst="line">
            <a:avLst/>
          </a:prstGeom>
          <a:noFill/>
          <a:ln w="15875">
            <a:solidFill>
              <a:srgbClr val="C8414C"/>
            </a:solidFill>
            <a:prstDash val="dash"/>
          </a:ln>
        </p:spPr>
      </p:sp>
      <p:sp>
        <p:nvSpPr>
          <p:cNvPr id="152" name="Text 150"/>
          <p:cNvSpPr/>
          <p:nvPr/>
        </p:nvSpPr>
        <p:spPr>
          <a:xfrm>
            <a:off x="2286000" y="2404872"/>
            <a:ext cx="17373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800 → 400 Bq in 3 h</a:t>
            </a:r>
            <a:endParaRPr lang="en-US" sz="1050" dirty="0"/>
          </a:p>
        </p:txBody>
      </p:sp>
      <p:sp>
        <p:nvSpPr>
          <p:cNvPr id="153" name="Text 151"/>
          <p:cNvSpPr/>
          <p:nvPr/>
        </p:nvSpPr>
        <p:spPr>
          <a:xfrm>
            <a:off x="3154680" y="3351276"/>
            <a:ext cx="17373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400 → 200 Bq in 3 h</a:t>
            </a:r>
            <a:endParaRPr lang="en-US" sz="1050" dirty="0"/>
          </a:p>
        </p:txBody>
      </p:sp>
      <p:sp>
        <p:nvSpPr>
          <p:cNvPr id="154" name="Text 152"/>
          <p:cNvSpPr/>
          <p:nvPr/>
        </p:nvSpPr>
        <p:spPr>
          <a:xfrm>
            <a:off x="4023360" y="3927348"/>
            <a:ext cx="17373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200 → 100 Bq in 3 h</a:t>
            </a:r>
            <a:endParaRPr lang="en-US" sz="1050" dirty="0"/>
          </a:p>
        </p:txBody>
      </p:sp>
      <p:sp>
        <p:nvSpPr>
          <p:cNvPr id="155" name="Shape 15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56" name="Text 15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Activity and half-life</a:t>
            </a:r>
            <a:endParaRPr lang="en-US" sz="1300" dirty="0"/>
          </a:p>
        </p:txBody>
      </p:sp>
      <p:sp>
        <p:nvSpPr>
          <p:cNvPr id="157" name="Text 15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Activity</a:t>
            </a:r>
            <a:r>
              <a:rPr lang="en-US" sz="1150" dirty="0">
                <a:solidFill>
                  <a:srgbClr val="262B3A"/>
                </a:solidFill>
                <a:latin typeface="Calibri" pitchFamily="34" charset="0"/>
                <a:ea typeface="Calibri" pitchFamily="34" charset="-122"/>
                <a:cs typeface="Calibri" pitchFamily="34" charset="-120"/>
              </a:rPr>
              <a:t>: the number of nuclei that decay each second. Unit: </a:t>
            </a:r>
            <a:r>
              <a:rPr lang="en-US" sz="1150" b="1" dirty="0">
                <a:solidFill>
                  <a:srgbClr val="262B3A"/>
                </a:solidFill>
                <a:latin typeface="Calibri" pitchFamily="34" charset="0"/>
                <a:ea typeface="Calibri" pitchFamily="34" charset="-122"/>
                <a:cs typeface="Calibri" pitchFamily="34" charset="-120"/>
              </a:rPr>
              <a:t>becquerel (Bq)</a:t>
            </a:r>
            <a:r>
              <a:rPr lang="en-US" sz="1150" dirty="0">
                <a:solidFill>
                  <a:srgbClr val="262B3A"/>
                </a:solidFill>
                <a:latin typeface="Calibri" pitchFamily="34" charset="0"/>
                <a:ea typeface="Calibri" pitchFamily="34" charset="-122"/>
                <a:cs typeface="Calibri" pitchFamily="34" charset="-120"/>
              </a:rPr>
              <a:t>; 1 Bq = 1 decay per second.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As nuclei decay there are fewer left to decay, so the activity falls.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Half-life</a:t>
            </a:r>
            <a:r>
              <a:rPr lang="en-US" sz="1150" dirty="0">
                <a:solidFill>
                  <a:srgbClr val="262B3A"/>
                </a:solidFill>
                <a:latin typeface="Calibri" pitchFamily="34" charset="0"/>
                <a:ea typeface="Calibri" pitchFamily="34" charset="-122"/>
                <a:cs typeface="Calibri" pitchFamily="34" charset="-120"/>
              </a:rPr>
              <a:t>: the time for the number of undecayed nuclei, or the activity, to </a:t>
            </a:r>
            <a:r>
              <a:rPr lang="en-US" sz="1150" b="1" dirty="0">
                <a:solidFill>
                  <a:srgbClr val="262B3A"/>
                </a:solidFill>
                <a:latin typeface="Calibri" pitchFamily="34" charset="0"/>
                <a:ea typeface="Calibri" pitchFamily="34" charset="-122"/>
                <a:cs typeface="Calibri" pitchFamily="34" charset="-120"/>
              </a:rPr>
              <a:t>halve</a:t>
            </a:r>
            <a:r>
              <a:rPr lang="en-US" sz="1150" dirty="0">
                <a:solidFill>
                  <a:srgbClr val="262B3A"/>
                </a:solidFill>
                <a:latin typeface="Calibri" pitchFamily="34" charset="0"/>
                <a:ea typeface="Calibri" pitchFamily="34" charset="-122"/>
                <a:cs typeface="Calibri" pitchFamily="34" charset="-120"/>
              </a:rPr>
              <a:t>. It is the same for every halving.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Decay is random, so half-life is an </a:t>
            </a:r>
            <a:r>
              <a:rPr lang="en-US" sz="1150" b="1" dirty="0">
                <a:solidFill>
                  <a:srgbClr val="262B3A"/>
                </a:solidFill>
                <a:latin typeface="Calibri" pitchFamily="34" charset="0"/>
                <a:ea typeface="Calibri" pitchFamily="34" charset="-122"/>
                <a:cs typeface="Calibri" pitchFamily="34" charset="-120"/>
              </a:rPr>
              <a:t>average</a:t>
            </a:r>
            <a:r>
              <a:rPr lang="en-US" sz="1150" dirty="0">
                <a:solidFill>
                  <a:srgbClr val="262B3A"/>
                </a:solidFill>
                <a:latin typeface="Calibri" pitchFamily="34" charset="0"/>
                <a:ea typeface="Calibri" pitchFamily="34" charset="-122"/>
                <a:cs typeface="Calibri" pitchFamily="34" charset="-120"/>
              </a:rPr>
              <a:t> for a very large number of nuclei: it lets us predict the pattern.</a:t>
            </a:r>
            <a:endParaRPr lang="en-US" sz="1150" dirty="0"/>
          </a:p>
        </p:txBody>
      </p:sp>
      <p:sp>
        <p:nvSpPr>
          <p:cNvPr id="158" name="Shape 15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59" name="Text 15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half-life from a graph</a:t>
            </a:r>
            <a:endParaRPr lang="en-US" sz="1300" dirty="0"/>
          </a:p>
        </p:txBody>
      </p:sp>
      <p:sp>
        <p:nvSpPr>
          <p:cNvPr id="160" name="Text 15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Use the graph to find the half-life.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Start   </a:t>
            </a:r>
            <a:r>
              <a:rPr lang="en-US" sz="1100" dirty="0">
                <a:solidFill>
                  <a:srgbClr val="262B3A"/>
                </a:solidFill>
                <a:latin typeface="Calibri" pitchFamily="34" charset="0"/>
                <a:ea typeface="Calibri" pitchFamily="34" charset="-122"/>
                <a:cs typeface="Calibri" pitchFamily="34" charset="-120"/>
              </a:rPr>
              <a:t>activity = 800 Bq at t = 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Half   </a:t>
            </a:r>
            <a:r>
              <a:rPr lang="en-US" sz="1100" dirty="0">
                <a:solidFill>
                  <a:srgbClr val="262B3A"/>
                </a:solidFill>
                <a:latin typeface="Calibri" pitchFamily="34" charset="0"/>
                <a:ea typeface="Calibri" pitchFamily="34" charset="-122"/>
                <a:cs typeface="Calibri" pitchFamily="34" charset="-120"/>
              </a:rPr>
              <a:t>read across at 400 Bq → t = 3 h</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400 → 200 Bq also takes 3 h</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half-life = 3 hours</a:t>
            </a:r>
            <a:endParaRPr lang="en-US" sz="1100" dirty="0"/>
          </a:p>
        </p:txBody>
      </p:sp>
      <p:sp>
        <p:nvSpPr>
          <p:cNvPr id="161" name="Shape 159"/>
          <p:cNvSpPr/>
          <p:nvPr/>
        </p:nvSpPr>
        <p:spPr>
          <a:xfrm>
            <a:off x="411480" y="5833872"/>
            <a:ext cx="11368735" cy="530352"/>
          </a:xfrm>
          <a:prstGeom prst="rect">
            <a:avLst/>
          </a:prstGeom>
          <a:solidFill>
            <a:srgbClr val="FFF4E0"/>
          </a:solidFill>
          <a:ln w="6350">
            <a:solidFill>
              <a:srgbClr val="F1D9A8"/>
            </a:solidFill>
            <a:prstDash val="solid"/>
          </a:ln>
        </p:spPr>
      </p:sp>
      <p:sp>
        <p:nvSpPr>
          <p:cNvPr id="162" name="Shape 160"/>
          <p:cNvSpPr/>
          <p:nvPr/>
        </p:nvSpPr>
        <p:spPr>
          <a:xfrm>
            <a:off x="411480" y="5833872"/>
            <a:ext cx="82296" cy="530352"/>
          </a:xfrm>
          <a:prstGeom prst="rect">
            <a:avLst/>
          </a:prstGeom>
          <a:solidFill>
            <a:srgbClr val="E39A2F"/>
          </a:solidFill>
          <a:ln w="12700">
            <a:solidFill>
              <a:srgbClr val="E39A2F"/>
            </a:solidFill>
            <a:prstDash val="solid"/>
          </a:ln>
        </p:spPr>
      </p:sp>
      <p:sp>
        <p:nvSpPr>
          <p:cNvPr id="163" name="Text 1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is the activity after 9 hours? How long does it take for the activity to fall to 50 Bq?</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modelling decay with dice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 • a model of random decay and half-life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tray of dice: sixes (red) are removed as "decayed nuclei"</a:t>
            </a:r>
            <a:endParaRPr lang="en-US" sz="1000" dirty="0"/>
          </a:p>
        </p:txBody>
      </p:sp>
      <p:sp>
        <p:nvSpPr>
          <p:cNvPr id="12" name="Shape 10"/>
          <p:cNvSpPr/>
          <p:nvPr/>
        </p:nvSpPr>
        <p:spPr>
          <a:xfrm>
            <a:off x="685800" y="1463040"/>
            <a:ext cx="3291840" cy="2057400"/>
          </a:xfrm>
          <a:prstGeom prst="roundRect">
            <a:avLst>
              <a:gd name="adj" fmla="val 2667"/>
            </a:avLst>
          </a:prstGeom>
          <a:solidFill>
            <a:srgbClr val="E9DCC2"/>
          </a:solidFill>
          <a:ln w="25400">
            <a:solidFill>
              <a:srgbClr val="8A6A3A"/>
            </a:solidFill>
            <a:prstDash val="solid"/>
          </a:ln>
        </p:spPr>
      </p:sp>
      <p:sp>
        <p:nvSpPr>
          <p:cNvPr id="13" name="Text 11"/>
          <p:cNvSpPr/>
          <p:nvPr/>
        </p:nvSpPr>
        <p:spPr>
          <a:xfrm>
            <a:off x="685800" y="1481328"/>
            <a:ext cx="3291840" cy="219456"/>
          </a:xfrm>
          <a:prstGeom prst="rect">
            <a:avLst/>
          </a:prstGeom>
          <a:noFill/>
          <a:ln/>
        </p:spPr>
        <p:txBody>
          <a:bodyPr wrap="square" lIns="0" tIns="0" rIns="0" bIns="0" rtlCol="0" anchor="ctr"/>
          <a:lstStyle/>
          <a:p>
            <a:pPr algn="ctr" indent="0" marL="0">
              <a:buNone/>
            </a:pPr>
            <a:r>
              <a:rPr lang="en-US" sz="1050" b="1" dirty="0">
                <a:solidFill>
                  <a:srgbClr val="6B4E1E"/>
                </a:solidFill>
                <a:latin typeface="Calibri" pitchFamily="34" charset="0"/>
                <a:ea typeface="Calibri" pitchFamily="34" charset="-122"/>
                <a:cs typeface="Calibri" pitchFamily="34" charset="-120"/>
              </a:rPr>
              <a:t>tray: 120 dice (only some shown)</a:t>
            </a:r>
            <a:endParaRPr lang="en-US" sz="1050" dirty="0"/>
          </a:p>
        </p:txBody>
      </p:sp>
      <p:sp>
        <p:nvSpPr>
          <p:cNvPr id="14" name="Shape 12"/>
          <p:cNvSpPr/>
          <p:nvPr/>
        </p:nvSpPr>
        <p:spPr>
          <a:xfrm>
            <a:off x="868680" y="1783080"/>
            <a:ext cx="411480" cy="411480"/>
          </a:xfrm>
          <a:prstGeom prst="roundRect">
            <a:avLst>
              <a:gd name="adj" fmla="val 8889"/>
            </a:avLst>
          </a:prstGeom>
          <a:solidFill>
            <a:srgbClr val="FFFFFF"/>
          </a:solidFill>
          <a:ln w="12700">
            <a:solidFill>
              <a:srgbClr val="4A5262"/>
            </a:solidFill>
            <a:prstDash val="solid"/>
          </a:ln>
        </p:spPr>
      </p:sp>
      <p:sp>
        <p:nvSpPr>
          <p:cNvPr id="15" name="Shape 13"/>
          <p:cNvSpPr/>
          <p:nvPr/>
        </p:nvSpPr>
        <p:spPr>
          <a:xfrm>
            <a:off x="936574" y="1850974"/>
            <a:ext cx="69952" cy="69952"/>
          </a:xfrm>
          <a:prstGeom prst="ellipse">
            <a:avLst/>
          </a:prstGeom>
          <a:solidFill>
            <a:srgbClr val="1A2340"/>
          </a:solidFill>
          <a:ln w="9525">
            <a:solidFill>
              <a:srgbClr val="1A2340"/>
            </a:solidFill>
            <a:prstDash val="solid"/>
          </a:ln>
        </p:spPr>
      </p:sp>
      <p:sp>
        <p:nvSpPr>
          <p:cNvPr id="16" name="Shape 14"/>
          <p:cNvSpPr/>
          <p:nvPr/>
        </p:nvSpPr>
        <p:spPr>
          <a:xfrm>
            <a:off x="1039444" y="1953844"/>
            <a:ext cx="69952" cy="69952"/>
          </a:xfrm>
          <a:prstGeom prst="ellipse">
            <a:avLst/>
          </a:prstGeom>
          <a:solidFill>
            <a:srgbClr val="1A2340"/>
          </a:solidFill>
          <a:ln w="9525">
            <a:solidFill>
              <a:srgbClr val="1A2340"/>
            </a:solidFill>
            <a:prstDash val="solid"/>
          </a:ln>
        </p:spPr>
      </p:sp>
      <p:sp>
        <p:nvSpPr>
          <p:cNvPr id="17" name="Shape 15"/>
          <p:cNvSpPr/>
          <p:nvPr/>
        </p:nvSpPr>
        <p:spPr>
          <a:xfrm>
            <a:off x="1142314" y="2056714"/>
            <a:ext cx="69952" cy="69952"/>
          </a:xfrm>
          <a:prstGeom prst="ellipse">
            <a:avLst/>
          </a:prstGeom>
          <a:solidFill>
            <a:srgbClr val="1A2340"/>
          </a:solidFill>
          <a:ln w="9525">
            <a:solidFill>
              <a:srgbClr val="1A2340"/>
            </a:solidFill>
            <a:prstDash val="solid"/>
          </a:ln>
        </p:spPr>
      </p:sp>
      <p:sp>
        <p:nvSpPr>
          <p:cNvPr id="18" name="Shape 16"/>
          <p:cNvSpPr/>
          <p:nvPr/>
        </p:nvSpPr>
        <p:spPr>
          <a:xfrm>
            <a:off x="1490472" y="1783080"/>
            <a:ext cx="411480" cy="411480"/>
          </a:xfrm>
          <a:prstGeom prst="roundRect">
            <a:avLst>
              <a:gd name="adj" fmla="val 8889"/>
            </a:avLst>
          </a:prstGeom>
          <a:solidFill>
            <a:srgbClr val="FFFFFF"/>
          </a:solidFill>
          <a:ln w="12700">
            <a:solidFill>
              <a:srgbClr val="4A5262"/>
            </a:solidFill>
            <a:prstDash val="solid"/>
          </a:ln>
        </p:spPr>
      </p:sp>
      <p:sp>
        <p:nvSpPr>
          <p:cNvPr id="19" name="Shape 17"/>
          <p:cNvSpPr/>
          <p:nvPr/>
        </p:nvSpPr>
        <p:spPr>
          <a:xfrm>
            <a:off x="1661236" y="1953844"/>
            <a:ext cx="69952" cy="69952"/>
          </a:xfrm>
          <a:prstGeom prst="ellipse">
            <a:avLst/>
          </a:prstGeom>
          <a:solidFill>
            <a:srgbClr val="1A2340"/>
          </a:solidFill>
          <a:ln w="9525">
            <a:solidFill>
              <a:srgbClr val="1A2340"/>
            </a:solidFill>
            <a:prstDash val="solid"/>
          </a:ln>
        </p:spPr>
      </p:sp>
      <p:sp>
        <p:nvSpPr>
          <p:cNvPr id="20" name="Shape 18"/>
          <p:cNvSpPr/>
          <p:nvPr/>
        </p:nvSpPr>
        <p:spPr>
          <a:xfrm>
            <a:off x="2112264" y="1783080"/>
            <a:ext cx="411480" cy="411480"/>
          </a:xfrm>
          <a:prstGeom prst="roundRect">
            <a:avLst>
              <a:gd name="adj" fmla="val 8889"/>
            </a:avLst>
          </a:prstGeom>
          <a:solidFill>
            <a:srgbClr val="FFFFFF"/>
          </a:solidFill>
          <a:ln w="25400">
            <a:solidFill>
              <a:srgbClr val="C8414C"/>
            </a:solidFill>
            <a:prstDash val="solid"/>
          </a:ln>
        </p:spPr>
      </p:sp>
      <p:sp>
        <p:nvSpPr>
          <p:cNvPr id="21" name="Shape 19"/>
          <p:cNvSpPr/>
          <p:nvPr/>
        </p:nvSpPr>
        <p:spPr>
          <a:xfrm>
            <a:off x="2180158" y="1850974"/>
            <a:ext cx="69952" cy="69952"/>
          </a:xfrm>
          <a:prstGeom prst="ellipse">
            <a:avLst/>
          </a:prstGeom>
          <a:solidFill>
            <a:srgbClr val="C8414C"/>
          </a:solidFill>
          <a:ln w="9525">
            <a:solidFill>
              <a:srgbClr val="C8414C"/>
            </a:solidFill>
            <a:prstDash val="solid"/>
          </a:ln>
        </p:spPr>
      </p:sp>
      <p:sp>
        <p:nvSpPr>
          <p:cNvPr id="22" name="Shape 20"/>
          <p:cNvSpPr/>
          <p:nvPr/>
        </p:nvSpPr>
        <p:spPr>
          <a:xfrm>
            <a:off x="2180158" y="1953844"/>
            <a:ext cx="69952" cy="69952"/>
          </a:xfrm>
          <a:prstGeom prst="ellipse">
            <a:avLst/>
          </a:prstGeom>
          <a:solidFill>
            <a:srgbClr val="C8414C"/>
          </a:solidFill>
          <a:ln w="9525">
            <a:solidFill>
              <a:srgbClr val="C8414C"/>
            </a:solidFill>
            <a:prstDash val="solid"/>
          </a:ln>
        </p:spPr>
      </p:sp>
      <p:sp>
        <p:nvSpPr>
          <p:cNvPr id="23" name="Shape 21"/>
          <p:cNvSpPr/>
          <p:nvPr/>
        </p:nvSpPr>
        <p:spPr>
          <a:xfrm>
            <a:off x="2180158" y="2056714"/>
            <a:ext cx="69952" cy="69952"/>
          </a:xfrm>
          <a:prstGeom prst="ellipse">
            <a:avLst/>
          </a:prstGeom>
          <a:solidFill>
            <a:srgbClr val="C8414C"/>
          </a:solidFill>
          <a:ln w="9525">
            <a:solidFill>
              <a:srgbClr val="C8414C"/>
            </a:solidFill>
            <a:prstDash val="solid"/>
          </a:ln>
        </p:spPr>
      </p:sp>
      <p:sp>
        <p:nvSpPr>
          <p:cNvPr id="24" name="Shape 22"/>
          <p:cNvSpPr/>
          <p:nvPr/>
        </p:nvSpPr>
        <p:spPr>
          <a:xfrm>
            <a:off x="2385898" y="1850974"/>
            <a:ext cx="69952" cy="69952"/>
          </a:xfrm>
          <a:prstGeom prst="ellipse">
            <a:avLst/>
          </a:prstGeom>
          <a:solidFill>
            <a:srgbClr val="C8414C"/>
          </a:solidFill>
          <a:ln w="9525">
            <a:solidFill>
              <a:srgbClr val="C8414C"/>
            </a:solidFill>
            <a:prstDash val="solid"/>
          </a:ln>
        </p:spPr>
      </p:sp>
      <p:sp>
        <p:nvSpPr>
          <p:cNvPr id="25" name="Shape 23"/>
          <p:cNvSpPr/>
          <p:nvPr/>
        </p:nvSpPr>
        <p:spPr>
          <a:xfrm>
            <a:off x="2385898" y="1953844"/>
            <a:ext cx="69952" cy="69952"/>
          </a:xfrm>
          <a:prstGeom prst="ellipse">
            <a:avLst/>
          </a:prstGeom>
          <a:solidFill>
            <a:srgbClr val="C8414C"/>
          </a:solidFill>
          <a:ln w="9525">
            <a:solidFill>
              <a:srgbClr val="C8414C"/>
            </a:solidFill>
            <a:prstDash val="solid"/>
          </a:ln>
        </p:spPr>
      </p:sp>
      <p:sp>
        <p:nvSpPr>
          <p:cNvPr id="26" name="Shape 24"/>
          <p:cNvSpPr/>
          <p:nvPr/>
        </p:nvSpPr>
        <p:spPr>
          <a:xfrm>
            <a:off x="2385898" y="2056714"/>
            <a:ext cx="69952" cy="69952"/>
          </a:xfrm>
          <a:prstGeom prst="ellipse">
            <a:avLst/>
          </a:prstGeom>
          <a:solidFill>
            <a:srgbClr val="C8414C"/>
          </a:solidFill>
          <a:ln w="9525">
            <a:solidFill>
              <a:srgbClr val="C8414C"/>
            </a:solidFill>
            <a:prstDash val="solid"/>
          </a:ln>
        </p:spPr>
      </p:sp>
      <p:sp>
        <p:nvSpPr>
          <p:cNvPr id="27" name="Shape 25"/>
          <p:cNvSpPr/>
          <p:nvPr/>
        </p:nvSpPr>
        <p:spPr>
          <a:xfrm>
            <a:off x="2734056" y="1783080"/>
            <a:ext cx="411480" cy="411480"/>
          </a:xfrm>
          <a:prstGeom prst="roundRect">
            <a:avLst>
              <a:gd name="adj" fmla="val 8889"/>
            </a:avLst>
          </a:prstGeom>
          <a:solidFill>
            <a:srgbClr val="FFFFFF"/>
          </a:solidFill>
          <a:ln w="12700">
            <a:solidFill>
              <a:srgbClr val="4A5262"/>
            </a:solidFill>
            <a:prstDash val="solid"/>
          </a:ln>
        </p:spPr>
      </p:sp>
      <p:sp>
        <p:nvSpPr>
          <p:cNvPr id="28" name="Shape 26"/>
          <p:cNvSpPr/>
          <p:nvPr/>
        </p:nvSpPr>
        <p:spPr>
          <a:xfrm>
            <a:off x="2801950" y="1850974"/>
            <a:ext cx="69952" cy="69952"/>
          </a:xfrm>
          <a:prstGeom prst="ellipse">
            <a:avLst/>
          </a:prstGeom>
          <a:solidFill>
            <a:srgbClr val="1A2340"/>
          </a:solidFill>
          <a:ln w="9525">
            <a:solidFill>
              <a:srgbClr val="1A2340"/>
            </a:solidFill>
            <a:prstDash val="solid"/>
          </a:ln>
        </p:spPr>
      </p:sp>
      <p:sp>
        <p:nvSpPr>
          <p:cNvPr id="29" name="Shape 27"/>
          <p:cNvSpPr/>
          <p:nvPr/>
        </p:nvSpPr>
        <p:spPr>
          <a:xfrm>
            <a:off x="3007690" y="1850974"/>
            <a:ext cx="69952" cy="69952"/>
          </a:xfrm>
          <a:prstGeom prst="ellipse">
            <a:avLst/>
          </a:prstGeom>
          <a:solidFill>
            <a:srgbClr val="1A2340"/>
          </a:solidFill>
          <a:ln w="9525">
            <a:solidFill>
              <a:srgbClr val="1A2340"/>
            </a:solidFill>
            <a:prstDash val="solid"/>
          </a:ln>
        </p:spPr>
      </p:sp>
      <p:sp>
        <p:nvSpPr>
          <p:cNvPr id="30" name="Shape 28"/>
          <p:cNvSpPr/>
          <p:nvPr/>
        </p:nvSpPr>
        <p:spPr>
          <a:xfrm>
            <a:off x="2801950" y="2056714"/>
            <a:ext cx="69952" cy="69952"/>
          </a:xfrm>
          <a:prstGeom prst="ellipse">
            <a:avLst/>
          </a:prstGeom>
          <a:solidFill>
            <a:srgbClr val="1A2340"/>
          </a:solidFill>
          <a:ln w="9525">
            <a:solidFill>
              <a:srgbClr val="1A2340"/>
            </a:solidFill>
            <a:prstDash val="solid"/>
          </a:ln>
        </p:spPr>
      </p:sp>
      <p:sp>
        <p:nvSpPr>
          <p:cNvPr id="31" name="Shape 29"/>
          <p:cNvSpPr/>
          <p:nvPr/>
        </p:nvSpPr>
        <p:spPr>
          <a:xfrm>
            <a:off x="3007690" y="2056714"/>
            <a:ext cx="69952" cy="69952"/>
          </a:xfrm>
          <a:prstGeom prst="ellipse">
            <a:avLst/>
          </a:prstGeom>
          <a:solidFill>
            <a:srgbClr val="1A2340"/>
          </a:solidFill>
          <a:ln w="9525">
            <a:solidFill>
              <a:srgbClr val="1A2340"/>
            </a:solidFill>
            <a:prstDash val="solid"/>
          </a:ln>
        </p:spPr>
      </p:sp>
      <p:sp>
        <p:nvSpPr>
          <p:cNvPr id="32" name="Shape 30"/>
          <p:cNvSpPr/>
          <p:nvPr/>
        </p:nvSpPr>
        <p:spPr>
          <a:xfrm>
            <a:off x="3355848" y="1783080"/>
            <a:ext cx="411480" cy="411480"/>
          </a:xfrm>
          <a:prstGeom prst="roundRect">
            <a:avLst>
              <a:gd name="adj" fmla="val 8889"/>
            </a:avLst>
          </a:prstGeom>
          <a:solidFill>
            <a:srgbClr val="FFFFFF"/>
          </a:solidFill>
          <a:ln w="12700">
            <a:solidFill>
              <a:srgbClr val="4A5262"/>
            </a:solidFill>
            <a:prstDash val="solid"/>
          </a:ln>
        </p:spPr>
      </p:sp>
      <p:sp>
        <p:nvSpPr>
          <p:cNvPr id="33" name="Shape 31"/>
          <p:cNvSpPr/>
          <p:nvPr/>
        </p:nvSpPr>
        <p:spPr>
          <a:xfrm>
            <a:off x="3423742" y="1850974"/>
            <a:ext cx="69952" cy="69952"/>
          </a:xfrm>
          <a:prstGeom prst="ellipse">
            <a:avLst/>
          </a:prstGeom>
          <a:solidFill>
            <a:srgbClr val="1A2340"/>
          </a:solidFill>
          <a:ln w="9525">
            <a:solidFill>
              <a:srgbClr val="1A2340"/>
            </a:solidFill>
            <a:prstDash val="solid"/>
          </a:ln>
        </p:spPr>
      </p:sp>
      <p:sp>
        <p:nvSpPr>
          <p:cNvPr id="34" name="Shape 32"/>
          <p:cNvSpPr/>
          <p:nvPr/>
        </p:nvSpPr>
        <p:spPr>
          <a:xfrm>
            <a:off x="3629482" y="2056714"/>
            <a:ext cx="69952" cy="69952"/>
          </a:xfrm>
          <a:prstGeom prst="ellipse">
            <a:avLst/>
          </a:prstGeom>
          <a:solidFill>
            <a:srgbClr val="1A2340"/>
          </a:solidFill>
          <a:ln w="9525">
            <a:solidFill>
              <a:srgbClr val="1A2340"/>
            </a:solidFill>
            <a:prstDash val="solid"/>
          </a:ln>
        </p:spPr>
      </p:sp>
      <p:sp>
        <p:nvSpPr>
          <p:cNvPr id="35" name="Shape 33"/>
          <p:cNvSpPr/>
          <p:nvPr/>
        </p:nvSpPr>
        <p:spPr>
          <a:xfrm>
            <a:off x="868680" y="2331720"/>
            <a:ext cx="411480" cy="411480"/>
          </a:xfrm>
          <a:prstGeom prst="roundRect">
            <a:avLst>
              <a:gd name="adj" fmla="val 8889"/>
            </a:avLst>
          </a:prstGeom>
          <a:solidFill>
            <a:srgbClr val="FFFFFF"/>
          </a:solidFill>
          <a:ln w="12700">
            <a:solidFill>
              <a:srgbClr val="4A5262"/>
            </a:solidFill>
            <a:prstDash val="solid"/>
          </a:ln>
        </p:spPr>
      </p:sp>
      <p:sp>
        <p:nvSpPr>
          <p:cNvPr id="36" name="Shape 34"/>
          <p:cNvSpPr/>
          <p:nvPr/>
        </p:nvSpPr>
        <p:spPr>
          <a:xfrm>
            <a:off x="936574" y="2399614"/>
            <a:ext cx="69952" cy="69952"/>
          </a:xfrm>
          <a:prstGeom prst="ellipse">
            <a:avLst/>
          </a:prstGeom>
          <a:solidFill>
            <a:srgbClr val="1A2340"/>
          </a:solidFill>
          <a:ln w="9525">
            <a:solidFill>
              <a:srgbClr val="1A2340"/>
            </a:solidFill>
            <a:prstDash val="solid"/>
          </a:ln>
        </p:spPr>
      </p:sp>
      <p:sp>
        <p:nvSpPr>
          <p:cNvPr id="37" name="Shape 35"/>
          <p:cNvSpPr/>
          <p:nvPr/>
        </p:nvSpPr>
        <p:spPr>
          <a:xfrm>
            <a:off x="1142314" y="2399614"/>
            <a:ext cx="69952" cy="69952"/>
          </a:xfrm>
          <a:prstGeom prst="ellipse">
            <a:avLst/>
          </a:prstGeom>
          <a:solidFill>
            <a:srgbClr val="1A2340"/>
          </a:solidFill>
          <a:ln w="9525">
            <a:solidFill>
              <a:srgbClr val="1A2340"/>
            </a:solidFill>
            <a:prstDash val="solid"/>
          </a:ln>
        </p:spPr>
      </p:sp>
      <p:sp>
        <p:nvSpPr>
          <p:cNvPr id="38" name="Shape 36"/>
          <p:cNvSpPr/>
          <p:nvPr/>
        </p:nvSpPr>
        <p:spPr>
          <a:xfrm>
            <a:off x="1039444" y="2502484"/>
            <a:ext cx="69952" cy="69952"/>
          </a:xfrm>
          <a:prstGeom prst="ellipse">
            <a:avLst/>
          </a:prstGeom>
          <a:solidFill>
            <a:srgbClr val="1A2340"/>
          </a:solidFill>
          <a:ln w="9525">
            <a:solidFill>
              <a:srgbClr val="1A2340"/>
            </a:solidFill>
            <a:prstDash val="solid"/>
          </a:ln>
        </p:spPr>
      </p:sp>
      <p:sp>
        <p:nvSpPr>
          <p:cNvPr id="39" name="Shape 37"/>
          <p:cNvSpPr/>
          <p:nvPr/>
        </p:nvSpPr>
        <p:spPr>
          <a:xfrm>
            <a:off x="936574" y="2605354"/>
            <a:ext cx="69952" cy="69952"/>
          </a:xfrm>
          <a:prstGeom prst="ellipse">
            <a:avLst/>
          </a:prstGeom>
          <a:solidFill>
            <a:srgbClr val="1A2340"/>
          </a:solidFill>
          <a:ln w="9525">
            <a:solidFill>
              <a:srgbClr val="1A2340"/>
            </a:solidFill>
            <a:prstDash val="solid"/>
          </a:ln>
        </p:spPr>
      </p:sp>
      <p:sp>
        <p:nvSpPr>
          <p:cNvPr id="40" name="Shape 38"/>
          <p:cNvSpPr/>
          <p:nvPr/>
        </p:nvSpPr>
        <p:spPr>
          <a:xfrm>
            <a:off x="1142314" y="2605354"/>
            <a:ext cx="69952" cy="69952"/>
          </a:xfrm>
          <a:prstGeom prst="ellipse">
            <a:avLst/>
          </a:prstGeom>
          <a:solidFill>
            <a:srgbClr val="1A2340"/>
          </a:solidFill>
          <a:ln w="9525">
            <a:solidFill>
              <a:srgbClr val="1A2340"/>
            </a:solidFill>
            <a:prstDash val="solid"/>
          </a:ln>
        </p:spPr>
      </p:sp>
      <p:sp>
        <p:nvSpPr>
          <p:cNvPr id="41" name="Shape 39"/>
          <p:cNvSpPr/>
          <p:nvPr/>
        </p:nvSpPr>
        <p:spPr>
          <a:xfrm>
            <a:off x="1490472" y="2331720"/>
            <a:ext cx="411480" cy="411480"/>
          </a:xfrm>
          <a:prstGeom prst="roundRect">
            <a:avLst>
              <a:gd name="adj" fmla="val 8889"/>
            </a:avLst>
          </a:prstGeom>
          <a:solidFill>
            <a:srgbClr val="FFFFFF"/>
          </a:solidFill>
          <a:ln w="12700">
            <a:solidFill>
              <a:srgbClr val="4A5262"/>
            </a:solidFill>
            <a:prstDash val="solid"/>
          </a:ln>
        </p:spPr>
      </p:sp>
      <p:sp>
        <p:nvSpPr>
          <p:cNvPr id="42" name="Shape 40"/>
          <p:cNvSpPr/>
          <p:nvPr/>
        </p:nvSpPr>
        <p:spPr>
          <a:xfrm>
            <a:off x="1558366" y="2399614"/>
            <a:ext cx="69952" cy="69952"/>
          </a:xfrm>
          <a:prstGeom prst="ellipse">
            <a:avLst/>
          </a:prstGeom>
          <a:solidFill>
            <a:srgbClr val="1A2340"/>
          </a:solidFill>
          <a:ln w="9525">
            <a:solidFill>
              <a:srgbClr val="1A2340"/>
            </a:solidFill>
            <a:prstDash val="solid"/>
          </a:ln>
        </p:spPr>
      </p:sp>
      <p:sp>
        <p:nvSpPr>
          <p:cNvPr id="43" name="Shape 41"/>
          <p:cNvSpPr/>
          <p:nvPr/>
        </p:nvSpPr>
        <p:spPr>
          <a:xfrm>
            <a:off x="1764106" y="2605354"/>
            <a:ext cx="69952" cy="69952"/>
          </a:xfrm>
          <a:prstGeom prst="ellipse">
            <a:avLst/>
          </a:prstGeom>
          <a:solidFill>
            <a:srgbClr val="1A2340"/>
          </a:solidFill>
          <a:ln w="9525">
            <a:solidFill>
              <a:srgbClr val="1A2340"/>
            </a:solidFill>
            <a:prstDash val="solid"/>
          </a:ln>
        </p:spPr>
      </p:sp>
      <p:sp>
        <p:nvSpPr>
          <p:cNvPr id="44" name="Shape 42"/>
          <p:cNvSpPr/>
          <p:nvPr/>
        </p:nvSpPr>
        <p:spPr>
          <a:xfrm>
            <a:off x="2112264" y="2331720"/>
            <a:ext cx="411480" cy="411480"/>
          </a:xfrm>
          <a:prstGeom prst="roundRect">
            <a:avLst>
              <a:gd name="adj" fmla="val 8889"/>
            </a:avLst>
          </a:prstGeom>
          <a:solidFill>
            <a:srgbClr val="FFFFFF"/>
          </a:solidFill>
          <a:ln w="12700">
            <a:solidFill>
              <a:srgbClr val="4A5262"/>
            </a:solidFill>
            <a:prstDash val="solid"/>
          </a:ln>
        </p:spPr>
      </p:sp>
      <p:sp>
        <p:nvSpPr>
          <p:cNvPr id="45" name="Shape 43"/>
          <p:cNvSpPr/>
          <p:nvPr/>
        </p:nvSpPr>
        <p:spPr>
          <a:xfrm>
            <a:off x="2180158" y="2399614"/>
            <a:ext cx="69952" cy="69952"/>
          </a:xfrm>
          <a:prstGeom prst="ellipse">
            <a:avLst/>
          </a:prstGeom>
          <a:solidFill>
            <a:srgbClr val="1A2340"/>
          </a:solidFill>
          <a:ln w="9525">
            <a:solidFill>
              <a:srgbClr val="1A2340"/>
            </a:solidFill>
            <a:prstDash val="solid"/>
          </a:ln>
        </p:spPr>
      </p:sp>
      <p:sp>
        <p:nvSpPr>
          <p:cNvPr id="46" name="Shape 44"/>
          <p:cNvSpPr/>
          <p:nvPr/>
        </p:nvSpPr>
        <p:spPr>
          <a:xfrm>
            <a:off x="2385898" y="2399614"/>
            <a:ext cx="69952" cy="69952"/>
          </a:xfrm>
          <a:prstGeom prst="ellipse">
            <a:avLst/>
          </a:prstGeom>
          <a:solidFill>
            <a:srgbClr val="1A2340"/>
          </a:solidFill>
          <a:ln w="9525">
            <a:solidFill>
              <a:srgbClr val="1A2340"/>
            </a:solidFill>
            <a:prstDash val="solid"/>
          </a:ln>
        </p:spPr>
      </p:sp>
      <p:sp>
        <p:nvSpPr>
          <p:cNvPr id="47" name="Shape 45"/>
          <p:cNvSpPr/>
          <p:nvPr/>
        </p:nvSpPr>
        <p:spPr>
          <a:xfrm>
            <a:off x="2180158" y="2605354"/>
            <a:ext cx="69952" cy="69952"/>
          </a:xfrm>
          <a:prstGeom prst="ellipse">
            <a:avLst/>
          </a:prstGeom>
          <a:solidFill>
            <a:srgbClr val="1A2340"/>
          </a:solidFill>
          <a:ln w="9525">
            <a:solidFill>
              <a:srgbClr val="1A2340"/>
            </a:solidFill>
            <a:prstDash val="solid"/>
          </a:ln>
        </p:spPr>
      </p:sp>
      <p:sp>
        <p:nvSpPr>
          <p:cNvPr id="48" name="Shape 46"/>
          <p:cNvSpPr/>
          <p:nvPr/>
        </p:nvSpPr>
        <p:spPr>
          <a:xfrm>
            <a:off x="2385898" y="2605354"/>
            <a:ext cx="69952" cy="69952"/>
          </a:xfrm>
          <a:prstGeom prst="ellipse">
            <a:avLst/>
          </a:prstGeom>
          <a:solidFill>
            <a:srgbClr val="1A2340"/>
          </a:solidFill>
          <a:ln w="9525">
            <a:solidFill>
              <a:srgbClr val="1A2340"/>
            </a:solidFill>
            <a:prstDash val="solid"/>
          </a:ln>
        </p:spPr>
      </p:sp>
      <p:sp>
        <p:nvSpPr>
          <p:cNvPr id="49" name="Shape 47"/>
          <p:cNvSpPr/>
          <p:nvPr/>
        </p:nvSpPr>
        <p:spPr>
          <a:xfrm>
            <a:off x="2734056" y="2331720"/>
            <a:ext cx="411480" cy="411480"/>
          </a:xfrm>
          <a:prstGeom prst="roundRect">
            <a:avLst>
              <a:gd name="adj" fmla="val 8889"/>
            </a:avLst>
          </a:prstGeom>
          <a:solidFill>
            <a:srgbClr val="FFFFFF"/>
          </a:solidFill>
          <a:ln w="12700">
            <a:solidFill>
              <a:srgbClr val="4A5262"/>
            </a:solidFill>
            <a:prstDash val="solid"/>
          </a:ln>
        </p:spPr>
      </p:sp>
      <p:sp>
        <p:nvSpPr>
          <p:cNvPr id="50" name="Shape 48"/>
          <p:cNvSpPr/>
          <p:nvPr/>
        </p:nvSpPr>
        <p:spPr>
          <a:xfrm>
            <a:off x="2904820" y="2502484"/>
            <a:ext cx="69952" cy="69952"/>
          </a:xfrm>
          <a:prstGeom prst="ellipse">
            <a:avLst/>
          </a:prstGeom>
          <a:solidFill>
            <a:srgbClr val="1A2340"/>
          </a:solidFill>
          <a:ln w="9525">
            <a:solidFill>
              <a:srgbClr val="1A2340"/>
            </a:solidFill>
            <a:prstDash val="solid"/>
          </a:ln>
        </p:spPr>
      </p:sp>
      <p:sp>
        <p:nvSpPr>
          <p:cNvPr id="51" name="Shape 49"/>
          <p:cNvSpPr/>
          <p:nvPr/>
        </p:nvSpPr>
        <p:spPr>
          <a:xfrm>
            <a:off x="3355848" y="2331720"/>
            <a:ext cx="411480" cy="411480"/>
          </a:xfrm>
          <a:prstGeom prst="roundRect">
            <a:avLst>
              <a:gd name="adj" fmla="val 8889"/>
            </a:avLst>
          </a:prstGeom>
          <a:solidFill>
            <a:srgbClr val="FFFFFF"/>
          </a:solidFill>
          <a:ln w="12700">
            <a:solidFill>
              <a:srgbClr val="4A5262"/>
            </a:solidFill>
            <a:prstDash val="solid"/>
          </a:ln>
        </p:spPr>
      </p:sp>
      <p:sp>
        <p:nvSpPr>
          <p:cNvPr id="52" name="Shape 50"/>
          <p:cNvSpPr/>
          <p:nvPr/>
        </p:nvSpPr>
        <p:spPr>
          <a:xfrm>
            <a:off x="3423742" y="2399614"/>
            <a:ext cx="69952" cy="69952"/>
          </a:xfrm>
          <a:prstGeom prst="ellipse">
            <a:avLst/>
          </a:prstGeom>
          <a:solidFill>
            <a:srgbClr val="1A2340"/>
          </a:solidFill>
          <a:ln w="9525">
            <a:solidFill>
              <a:srgbClr val="1A2340"/>
            </a:solidFill>
            <a:prstDash val="solid"/>
          </a:ln>
        </p:spPr>
      </p:sp>
      <p:sp>
        <p:nvSpPr>
          <p:cNvPr id="53" name="Shape 51"/>
          <p:cNvSpPr/>
          <p:nvPr/>
        </p:nvSpPr>
        <p:spPr>
          <a:xfrm>
            <a:off x="3526612" y="2502484"/>
            <a:ext cx="69952" cy="69952"/>
          </a:xfrm>
          <a:prstGeom prst="ellipse">
            <a:avLst/>
          </a:prstGeom>
          <a:solidFill>
            <a:srgbClr val="1A2340"/>
          </a:solidFill>
          <a:ln w="9525">
            <a:solidFill>
              <a:srgbClr val="1A2340"/>
            </a:solidFill>
            <a:prstDash val="solid"/>
          </a:ln>
        </p:spPr>
      </p:sp>
      <p:sp>
        <p:nvSpPr>
          <p:cNvPr id="54" name="Shape 52"/>
          <p:cNvSpPr/>
          <p:nvPr/>
        </p:nvSpPr>
        <p:spPr>
          <a:xfrm>
            <a:off x="3629482" y="2605354"/>
            <a:ext cx="69952" cy="69952"/>
          </a:xfrm>
          <a:prstGeom prst="ellipse">
            <a:avLst/>
          </a:prstGeom>
          <a:solidFill>
            <a:srgbClr val="1A2340"/>
          </a:solidFill>
          <a:ln w="9525">
            <a:solidFill>
              <a:srgbClr val="1A2340"/>
            </a:solidFill>
            <a:prstDash val="solid"/>
          </a:ln>
        </p:spPr>
      </p:sp>
      <p:sp>
        <p:nvSpPr>
          <p:cNvPr id="55" name="Shape 53"/>
          <p:cNvSpPr/>
          <p:nvPr/>
        </p:nvSpPr>
        <p:spPr>
          <a:xfrm>
            <a:off x="868680" y="2880360"/>
            <a:ext cx="411480" cy="411480"/>
          </a:xfrm>
          <a:prstGeom prst="roundRect">
            <a:avLst>
              <a:gd name="adj" fmla="val 8889"/>
            </a:avLst>
          </a:prstGeom>
          <a:solidFill>
            <a:srgbClr val="FFFFFF"/>
          </a:solidFill>
          <a:ln w="12700">
            <a:solidFill>
              <a:srgbClr val="4A5262"/>
            </a:solidFill>
            <a:prstDash val="solid"/>
          </a:ln>
        </p:spPr>
      </p:sp>
      <p:sp>
        <p:nvSpPr>
          <p:cNvPr id="56" name="Shape 54"/>
          <p:cNvSpPr/>
          <p:nvPr/>
        </p:nvSpPr>
        <p:spPr>
          <a:xfrm>
            <a:off x="936574" y="2948254"/>
            <a:ext cx="69952" cy="69952"/>
          </a:xfrm>
          <a:prstGeom prst="ellipse">
            <a:avLst/>
          </a:prstGeom>
          <a:solidFill>
            <a:srgbClr val="1A2340"/>
          </a:solidFill>
          <a:ln w="9525">
            <a:solidFill>
              <a:srgbClr val="1A2340"/>
            </a:solidFill>
            <a:prstDash val="solid"/>
          </a:ln>
        </p:spPr>
      </p:sp>
      <p:sp>
        <p:nvSpPr>
          <p:cNvPr id="57" name="Shape 55"/>
          <p:cNvSpPr/>
          <p:nvPr/>
        </p:nvSpPr>
        <p:spPr>
          <a:xfrm>
            <a:off x="1142314" y="2948254"/>
            <a:ext cx="69952" cy="69952"/>
          </a:xfrm>
          <a:prstGeom prst="ellipse">
            <a:avLst/>
          </a:prstGeom>
          <a:solidFill>
            <a:srgbClr val="1A2340"/>
          </a:solidFill>
          <a:ln w="9525">
            <a:solidFill>
              <a:srgbClr val="1A2340"/>
            </a:solidFill>
            <a:prstDash val="solid"/>
          </a:ln>
        </p:spPr>
      </p:sp>
      <p:sp>
        <p:nvSpPr>
          <p:cNvPr id="58" name="Shape 56"/>
          <p:cNvSpPr/>
          <p:nvPr/>
        </p:nvSpPr>
        <p:spPr>
          <a:xfrm>
            <a:off x="1039444" y="3051124"/>
            <a:ext cx="69952" cy="69952"/>
          </a:xfrm>
          <a:prstGeom prst="ellipse">
            <a:avLst/>
          </a:prstGeom>
          <a:solidFill>
            <a:srgbClr val="1A2340"/>
          </a:solidFill>
          <a:ln w="9525">
            <a:solidFill>
              <a:srgbClr val="1A2340"/>
            </a:solidFill>
            <a:prstDash val="solid"/>
          </a:ln>
        </p:spPr>
      </p:sp>
      <p:sp>
        <p:nvSpPr>
          <p:cNvPr id="59" name="Shape 57"/>
          <p:cNvSpPr/>
          <p:nvPr/>
        </p:nvSpPr>
        <p:spPr>
          <a:xfrm>
            <a:off x="936574" y="3153994"/>
            <a:ext cx="69952" cy="69952"/>
          </a:xfrm>
          <a:prstGeom prst="ellipse">
            <a:avLst/>
          </a:prstGeom>
          <a:solidFill>
            <a:srgbClr val="1A2340"/>
          </a:solidFill>
          <a:ln w="9525">
            <a:solidFill>
              <a:srgbClr val="1A2340"/>
            </a:solidFill>
            <a:prstDash val="solid"/>
          </a:ln>
        </p:spPr>
      </p:sp>
      <p:sp>
        <p:nvSpPr>
          <p:cNvPr id="60" name="Shape 58"/>
          <p:cNvSpPr/>
          <p:nvPr/>
        </p:nvSpPr>
        <p:spPr>
          <a:xfrm>
            <a:off x="1142314" y="3153994"/>
            <a:ext cx="69952" cy="69952"/>
          </a:xfrm>
          <a:prstGeom prst="ellipse">
            <a:avLst/>
          </a:prstGeom>
          <a:solidFill>
            <a:srgbClr val="1A2340"/>
          </a:solidFill>
          <a:ln w="9525">
            <a:solidFill>
              <a:srgbClr val="1A2340"/>
            </a:solidFill>
            <a:prstDash val="solid"/>
          </a:ln>
        </p:spPr>
      </p:sp>
      <p:sp>
        <p:nvSpPr>
          <p:cNvPr id="61" name="Shape 59"/>
          <p:cNvSpPr/>
          <p:nvPr/>
        </p:nvSpPr>
        <p:spPr>
          <a:xfrm>
            <a:off x="1490472" y="2880360"/>
            <a:ext cx="411480" cy="411480"/>
          </a:xfrm>
          <a:prstGeom prst="roundRect">
            <a:avLst>
              <a:gd name="adj" fmla="val 8889"/>
            </a:avLst>
          </a:prstGeom>
          <a:solidFill>
            <a:srgbClr val="FFFFFF"/>
          </a:solidFill>
          <a:ln w="25400">
            <a:solidFill>
              <a:srgbClr val="C8414C"/>
            </a:solidFill>
            <a:prstDash val="solid"/>
          </a:ln>
        </p:spPr>
      </p:sp>
      <p:sp>
        <p:nvSpPr>
          <p:cNvPr id="62" name="Shape 60"/>
          <p:cNvSpPr/>
          <p:nvPr/>
        </p:nvSpPr>
        <p:spPr>
          <a:xfrm>
            <a:off x="1558366" y="2948254"/>
            <a:ext cx="69952" cy="69952"/>
          </a:xfrm>
          <a:prstGeom prst="ellipse">
            <a:avLst/>
          </a:prstGeom>
          <a:solidFill>
            <a:srgbClr val="C8414C"/>
          </a:solidFill>
          <a:ln w="9525">
            <a:solidFill>
              <a:srgbClr val="C8414C"/>
            </a:solidFill>
            <a:prstDash val="solid"/>
          </a:ln>
        </p:spPr>
      </p:sp>
      <p:sp>
        <p:nvSpPr>
          <p:cNvPr id="63" name="Shape 61"/>
          <p:cNvSpPr/>
          <p:nvPr/>
        </p:nvSpPr>
        <p:spPr>
          <a:xfrm>
            <a:off x="1558366" y="3051124"/>
            <a:ext cx="69952" cy="69952"/>
          </a:xfrm>
          <a:prstGeom prst="ellipse">
            <a:avLst/>
          </a:prstGeom>
          <a:solidFill>
            <a:srgbClr val="C8414C"/>
          </a:solidFill>
          <a:ln w="9525">
            <a:solidFill>
              <a:srgbClr val="C8414C"/>
            </a:solidFill>
            <a:prstDash val="solid"/>
          </a:ln>
        </p:spPr>
      </p:sp>
      <p:sp>
        <p:nvSpPr>
          <p:cNvPr id="64" name="Shape 62"/>
          <p:cNvSpPr/>
          <p:nvPr/>
        </p:nvSpPr>
        <p:spPr>
          <a:xfrm>
            <a:off x="1558366" y="3153994"/>
            <a:ext cx="69952" cy="69952"/>
          </a:xfrm>
          <a:prstGeom prst="ellipse">
            <a:avLst/>
          </a:prstGeom>
          <a:solidFill>
            <a:srgbClr val="C8414C"/>
          </a:solidFill>
          <a:ln w="9525">
            <a:solidFill>
              <a:srgbClr val="C8414C"/>
            </a:solidFill>
            <a:prstDash val="solid"/>
          </a:ln>
        </p:spPr>
      </p:sp>
      <p:sp>
        <p:nvSpPr>
          <p:cNvPr id="65" name="Shape 63"/>
          <p:cNvSpPr/>
          <p:nvPr/>
        </p:nvSpPr>
        <p:spPr>
          <a:xfrm>
            <a:off x="1764106" y="2948254"/>
            <a:ext cx="69952" cy="69952"/>
          </a:xfrm>
          <a:prstGeom prst="ellipse">
            <a:avLst/>
          </a:prstGeom>
          <a:solidFill>
            <a:srgbClr val="C8414C"/>
          </a:solidFill>
          <a:ln w="9525">
            <a:solidFill>
              <a:srgbClr val="C8414C"/>
            </a:solidFill>
            <a:prstDash val="solid"/>
          </a:ln>
        </p:spPr>
      </p:sp>
      <p:sp>
        <p:nvSpPr>
          <p:cNvPr id="66" name="Shape 64"/>
          <p:cNvSpPr/>
          <p:nvPr/>
        </p:nvSpPr>
        <p:spPr>
          <a:xfrm>
            <a:off x="1764106" y="3051124"/>
            <a:ext cx="69952" cy="69952"/>
          </a:xfrm>
          <a:prstGeom prst="ellipse">
            <a:avLst/>
          </a:prstGeom>
          <a:solidFill>
            <a:srgbClr val="C8414C"/>
          </a:solidFill>
          <a:ln w="9525">
            <a:solidFill>
              <a:srgbClr val="C8414C"/>
            </a:solidFill>
            <a:prstDash val="solid"/>
          </a:ln>
        </p:spPr>
      </p:sp>
      <p:sp>
        <p:nvSpPr>
          <p:cNvPr id="67" name="Shape 65"/>
          <p:cNvSpPr/>
          <p:nvPr/>
        </p:nvSpPr>
        <p:spPr>
          <a:xfrm>
            <a:off x="1764106" y="3153994"/>
            <a:ext cx="69952" cy="69952"/>
          </a:xfrm>
          <a:prstGeom prst="ellipse">
            <a:avLst/>
          </a:prstGeom>
          <a:solidFill>
            <a:srgbClr val="C8414C"/>
          </a:solidFill>
          <a:ln w="9525">
            <a:solidFill>
              <a:srgbClr val="C8414C"/>
            </a:solidFill>
            <a:prstDash val="solid"/>
          </a:ln>
        </p:spPr>
      </p:sp>
      <p:sp>
        <p:nvSpPr>
          <p:cNvPr id="68" name="Shape 66"/>
          <p:cNvSpPr/>
          <p:nvPr/>
        </p:nvSpPr>
        <p:spPr>
          <a:xfrm>
            <a:off x="2112264" y="2880360"/>
            <a:ext cx="411480" cy="411480"/>
          </a:xfrm>
          <a:prstGeom prst="roundRect">
            <a:avLst>
              <a:gd name="adj" fmla="val 8889"/>
            </a:avLst>
          </a:prstGeom>
          <a:solidFill>
            <a:srgbClr val="FFFFFF"/>
          </a:solidFill>
          <a:ln w="12700">
            <a:solidFill>
              <a:srgbClr val="4A5262"/>
            </a:solidFill>
            <a:prstDash val="solid"/>
          </a:ln>
        </p:spPr>
      </p:sp>
      <p:sp>
        <p:nvSpPr>
          <p:cNvPr id="69" name="Shape 67"/>
          <p:cNvSpPr/>
          <p:nvPr/>
        </p:nvSpPr>
        <p:spPr>
          <a:xfrm>
            <a:off x="2180158" y="2948254"/>
            <a:ext cx="69952" cy="69952"/>
          </a:xfrm>
          <a:prstGeom prst="ellipse">
            <a:avLst/>
          </a:prstGeom>
          <a:solidFill>
            <a:srgbClr val="1A2340"/>
          </a:solidFill>
          <a:ln w="9525">
            <a:solidFill>
              <a:srgbClr val="1A2340"/>
            </a:solidFill>
            <a:prstDash val="solid"/>
          </a:ln>
        </p:spPr>
      </p:sp>
      <p:sp>
        <p:nvSpPr>
          <p:cNvPr id="70" name="Shape 68"/>
          <p:cNvSpPr/>
          <p:nvPr/>
        </p:nvSpPr>
        <p:spPr>
          <a:xfrm>
            <a:off x="2283028" y="3051124"/>
            <a:ext cx="69952" cy="69952"/>
          </a:xfrm>
          <a:prstGeom prst="ellipse">
            <a:avLst/>
          </a:prstGeom>
          <a:solidFill>
            <a:srgbClr val="1A2340"/>
          </a:solidFill>
          <a:ln w="9525">
            <a:solidFill>
              <a:srgbClr val="1A2340"/>
            </a:solidFill>
            <a:prstDash val="solid"/>
          </a:ln>
        </p:spPr>
      </p:sp>
      <p:sp>
        <p:nvSpPr>
          <p:cNvPr id="71" name="Shape 69"/>
          <p:cNvSpPr/>
          <p:nvPr/>
        </p:nvSpPr>
        <p:spPr>
          <a:xfrm>
            <a:off x="2385898" y="3153994"/>
            <a:ext cx="69952" cy="69952"/>
          </a:xfrm>
          <a:prstGeom prst="ellipse">
            <a:avLst/>
          </a:prstGeom>
          <a:solidFill>
            <a:srgbClr val="1A2340"/>
          </a:solidFill>
          <a:ln w="9525">
            <a:solidFill>
              <a:srgbClr val="1A2340"/>
            </a:solidFill>
            <a:prstDash val="solid"/>
          </a:ln>
        </p:spPr>
      </p:sp>
      <p:sp>
        <p:nvSpPr>
          <p:cNvPr id="72" name="Shape 70"/>
          <p:cNvSpPr/>
          <p:nvPr/>
        </p:nvSpPr>
        <p:spPr>
          <a:xfrm>
            <a:off x="2734056" y="2880360"/>
            <a:ext cx="411480" cy="411480"/>
          </a:xfrm>
          <a:prstGeom prst="roundRect">
            <a:avLst>
              <a:gd name="adj" fmla="val 8889"/>
            </a:avLst>
          </a:prstGeom>
          <a:solidFill>
            <a:srgbClr val="FFFFFF"/>
          </a:solidFill>
          <a:ln w="12700">
            <a:solidFill>
              <a:srgbClr val="4A5262"/>
            </a:solidFill>
            <a:prstDash val="solid"/>
          </a:ln>
        </p:spPr>
      </p:sp>
      <p:sp>
        <p:nvSpPr>
          <p:cNvPr id="73" name="Shape 71"/>
          <p:cNvSpPr/>
          <p:nvPr/>
        </p:nvSpPr>
        <p:spPr>
          <a:xfrm>
            <a:off x="2801950" y="2948254"/>
            <a:ext cx="69952" cy="69952"/>
          </a:xfrm>
          <a:prstGeom prst="ellipse">
            <a:avLst/>
          </a:prstGeom>
          <a:solidFill>
            <a:srgbClr val="1A2340"/>
          </a:solidFill>
          <a:ln w="9525">
            <a:solidFill>
              <a:srgbClr val="1A2340"/>
            </a:solidFill>
            <a:prstDash val="solid"/>
          </a:ln>
        </p:spPr>
      </p:sp>
      <p:sp>
        <p:nvSpPr>
          <p:cNvPr id="74" name="Shape 72"/>
          <p:cNvSpPr/>
          <p:nvPr/>
        </p:nvSpPr>
        <p:spPr>
          <a:xfrm>
            <a:off x="3007690" y="3153994"/>
            <a:ext cx="69952" cy="69952"/>
          </a:xfrm>
          <a:prstGeom prst="ellipse">
            <a:avLst/>
          </a:prstGeom>
          <a:solidFill>
            <a:srgbClr val="1A2340"/>
          </a:solidFill>
          <a:ln w="9525">
            <a:solidFill>
              <a:srgbClr val="1A2340"/>
            </a:solidFill>
            <a:prstDash val="solid"/>
          </a:ln>
        </p:spPr>
      </p:sp>
      <p:sp>
        <p:nvSpPr>
          <p:cNvPr id="75" name="Shape 73"/>
          <p:cNvSpPr/>
          <p:nvPr/>
        </p:nvSpPr>
        <p:spPr>
          <a:xfrm>
            <a:off x="3355848" y="2880360"/>
            <a:ext cx="411480" cy="411480"/>
          </a:xfrm>
          <a:prstGeom prst="roundRect">
            <a:avLst>
              <a:gd name="adj" fmla="val 8889"/>
            </a:avLst>
          </a:prstGeom>
          <a:solidFill>
            <a:srgbClr val="FFFFFF"/>
          </a:solidFill>
          <a:ln w="12700">
            <a:solidFill>
              <a:srgbClr val="4A5262"/>
            </a:solidFill>
            <a:prstDash val="solid"/>
          </a:ln>
        </p:spPr>
      </p:sp>
      <p:sp>
        <p:nvSpPr>
          <p:cNvPr id="76" name="Shape 74"/>
          <p:cNvSpPr/>
          <p:nvPr/>
        </p:nvSpPr>
        <p:spPr>
          <a:xfrm>
            <a:off x="3423742" y="2948254"/>
            <a:ext cx="69952" cy="69952"/>
          </a:xfrm>
          <a:prstGeom prst="ellipse">
            <a:avLst/>
          </a:prstGeom>
          <a:solidFill>
            <a:srgbClr val="1A2340"/>
          </a:solidFill>
          <a:ln w="9525">
            <a:solidFill>
              <a:srgbClr val="1A2340"/>
            </a:solidFill>
            <a:prstDash val="solid"/>
          </a:ln>
        </p:spPr>
      </p:sp>
      <p:sp>
        <p:nvSpPr>
          <p:cNvPr id="77" name="Shape 75"/>
          <p:cNvSpPr/>
          <p:nvPr/>
        </p:nvSpPr>
        <p:spPr>
          <a:xfrm>
            <a:off x="3629482" y="2948254"/>
            <a:ext cx="69952" cy="69952"/>
          </a:xfrm>
          <a:prstGeom prst="ellipse">
            <a:avLst/>
          </a:prstGeom>
          <a:solidFill>
            <a:srgbClr val="1A2340"/>
          </a:solidFill>
          <a:ln w="9525">
            <a:solidFill>
              <a:srgbClr val="1A2340"/>
            </a:solidFill>
            <a:prstDash val="solid"/>
          </a:ln>
        </p:spPr>
      </p:sp>
      <p:sp>
        <p:nvSpPr>
          <p:cNvPr id="78" name="Shape 76"/>
          <p:cNvSpPr/>
          <p:nvPr/>
        </p:nvSpPr>
        <p:spPr>
          <a:xfrm>
            <a:off x="3423742" y="3153994"/>
            <a:ext cx="69952" cy="69952"/>
          </a:xfrm>
          <a:prstGeom prst="ellipse">
            <a:avLst/>
          </a:prstGeom>
          <a:solidFill>
            <a:srgbClr val="1A2340"/>
          </a:solidFill>
          <a:ln w="9525">
            <a:solidFill>
              <a:srgbClr val="1A2340"/>
            </a:solidFill>
            <a:prstDash val="solid"/>
          </a:ln>
        </p:spPr>
      </p:sp>
      <p:sp>
        <p:nvSpPr>
          <p:cNvPr id="79" name="Shape 77"/>
          <p:cNvSpPr/>
          <p:nvPr/>
        </p:nvSpPr>
        <p:spPr>
          <a:xfrm>
            <a:off x="3629482" y="3153994"/>
            <a:ext cx="69952" cy="69952"/>
          </a:xfrm>
          <a:prstGeom prst="ellipse">
            <a:avLst/>
          </a:prstGeom>
          <a:solidFill>
            <a:srgbClr val="1A2340"/>
          </a:solidFill>
          <a:ln w="9525">
            <a:solidFill>
              <a:srgbClr val="1A2340"/>
            </a:solidFill>
            <a:prstDash val="solid"/>
          </a:ln>
        </p:spPr>
      </p:sp>
      <p:sp>
        <p:nvSpPr>
          <p:cNvPr id="80" name="Shape 78"/>
          <p:cNvSpPr/>
          <p:nvPr/>
        </p:nvSpPr>
        <p:spPr>
          <a:xfrm>
            <a:off x="4069080" y="2514600"/>
            <a:ext cx="548640" cy="91"/>
          </a:xfrm>
          <a:prstGeom prst="line">
            <a:avLst/>
          </a:prstGeom>
          <a:noFill/>
          <a:ln w="31750">
            <a:solidFill>
              <a:srgbClr val="C8414C"/>
            </a:solidFill>
            <a:prstDash val="solid"/>
            <a:tailEnd type="triangle"/>
          </a:ln>
        </p:spPr>
      </p:sp>
      <p:sp>
        <p:nvSpPr>
          <p:cNvPr id="81" name="Text 79"/>
          <p:cNvSpPr/>
          <p:nvPr/>
        </p:nvSpPr>
        <p:spPr>
          <a:xfrm>
            <a:off x="4023360" y="2148840"/>
            <a:ext cx="6400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remove</a:t>
            </a:r>
            <a:endParaRPr lang="en-US" sz="1050" dirty="0"/>
          </a:p>
        </p:txBody>
      </p:sp>
      <p:sp>
        <p:nvSpPr>
          <p:cNvPr id="82" name="Shape 80"/>
          <p:cNvSpPr/>
          <p:nvPr/>
        </p:nvSpPr>
        <p:spPr>
          <a:xfrm>
            <a:off x="4663440" y="1828800"/>
            <a:ext cx="1143000" cy="1280160"/>
          </a:xfrm>
          <a:prstGeom prst="roundRect">
            <a:avLst>
              <a:gd name="adj" fmla="val 4000"/>
            </a:avLst>
          </a:prstGeom>
          <a:solidFill>
            <a:srgbClr val="FBE9EA"/>
          </a:solidFill>
          <a:ln w="12700">
            <a:solidFill>
              <a:srgbClr val="C8414C"/>
            </a:solidFill>
            <a:prstDash val="solid"/>
          </a:ln>
        </p:spPr>
      </p:sp>
      <p:sp>
        <p:nvSpPr>
          <p:cNvPr id="83" name="Shape 81"/>
          <p:cNvSpPr/>
          <p:nvPr/>
        </p:nvSpPr>
        <p:spPr>
          <a:xfrm>
            <a:off x="4754880" y="1965960"/>
            <a:ext cx="411480" cy="411480"/>
          </a:xfrm>
          <a:prstGeom prst="roundRect">
            <a:avLst>
              <a:gd name="adj" fmla="val 8889"/>
            </a:avLst>
          </a:prstGeom>
          <a:solidFill>
            <a:srgbClr val="FFFFFF"/>
          </a:solidFill>
          <a:ln w="25400">
            <a:solidFill>
              <a:srgbClr val="C8414C"/>
            </a:solidFill>
            <a:prstDash val="solid"/>
          </a:ln>
        </p:spPr>
      </p:sp>
      <p:sp>
        <p:nvSpPr>
          <p:cNvPr id="84" name="Shape 82"/>
          <p:cNvSpPr/>
          <p:nvPr/>
        </p:nvSpPr>
        <p:spPr>
          <a:xfrm>
            <a:off x="4822774" y="2033854"/>
            <a:ext cx="69952" cy="69952"/>
          </a:xfrm>
          <a:prstGeom prst="ellipse">
            <a:avLst/>
          </a:prstGeom>
          <a:solidFill>
            <a:srgbClr val="C8414C"/>
          </a:solidFill>
          <a:ln w="9525">
            <a:solidFill>
              <a:srgbClr val="C8414C"/>
            </a:solidFill>
            <a:prstDash val="solid"/>
          </a:ln>
        </p:spPr>
      </p:sp>
      <p:sp>
        <p:nvSpPr>
          <p:cNvPr id="85" name="Shape 83"/>
          <p:cNvSpPr/>
          <p:nvPr/>
        </p:nvSpPr>
        <p:spPr>
          <a:xfrm>
            <a:off x="4822774" y="2136724"/>
            <a:ext cx="69952" cy="69952"/>
          </a:xfrm>
          <a:prstGeom prst="ellipse">
            <a:avLst/>
          </a:prstGeom>
          <a:solidFill>
            <a:srgbClr val="C8414C"/>
          </a:solidFill>
          <a:ln w="9525">
            <a:solidFill>
              <a:srgbClr val="C8414C"/>
            </a:solidFill>
            <a:prstDash val="solid"/>
          </a:ln>
        </p:spPr>
      </p:sp>
      <p:sp>
        <p:nvSpPr>
          <p:cNvPr id="86" name="Shape 84"/>
          <p:cNvSpPr/>
          <p:nvPr/>
        </p:nvSpPr>
        <p:spPr>
          <a:xfrm>
            <a:off x="4822774" y="2239594"/>
            <a:ext cx="69952" cy="69952"/>
          </a:xfrm>
          <a:prstGeom prst="ellipse">
            <a:avLst/>
          </a:prstGeom>
          <a:solidFill>
            <a:srgbClr val="C8414C"/>
          </a:solidFill>
          <a:ln w="9525">
            <a:solidFill>
              <a:srgbClr val="C8414C"/>
            </a:solidFill>
            <a:prstDash val="solid"/>
          </a:ln>
        </p:spPr>
      </p:sp>
      <p:sp>
        <p:nvSpPr>
          <p:cNvPr id="87" name="Shape 85"/>
          <p:cNvSpPr/>
          <p:nvPr/>
        </p:nvSpPr>
        <p:spPr>
          <a:xfrm>
            <a:off x="5028514" y="2033854"/>
            <a:ext cx="69952" cy="69952"/>
          </a:xfrm>
          <a:prstGeom prst="ellipse">
            <a:avLst/>
          </a:prstGeom>
          <a:solidFill>
            <a:srgbClr val="C8414C"/>
          </a:solidFill>
          <a:ln w="9525">
            <a:solidFill>
              <a:srgbClr val="C8414C"/>
            </a:solidFill>
            <a:prstDash val="solid"/>
          </a:ln>
        </p:spPr>
      </p:sp>
      <p:sp>
        <p:nvSpPr>
          <p:cNvPr id="88" name="Shape 86"/>
          <p:cNvSpPr/>
          <p:nvPr/>
        </p:nvSpPr>
        <p:spPr>
          <a:xfrm>
            <a:off x="5028514" y="2136724"/>
            <a:ext cx="69952" cy="69952"/>
          </a:xfrm>
          <a:prstGeom prst="ellipse">
            <a:avLst/>
          </a:prstGeom>
          <a:solidFill>
            <a:srgbClr val="C8414C"/>
          </a:solidFill>
          <a:ln w="9525">
            <a:solidFill>
              <a:srgbClr val="C8414C"/>
            </a:solidFill>
            <a:prstDash val="solid"/>
          </a:ln>
        </p:spPr>
      </p:sp>
      <p:sp>
        <p:nvSpPr>
          <p:cNvPr id="89" name="Shape 87"/>
          <p:cNvSpPr/>
          <p:nvPr/>
        </p:nvSpPr>
        <p:spPr>
          <a:xfrm>
            <a:off x="5028514" y="2239594"/>
            <a:ext cx="69952" cy="69952"/>
          </a:xfrm>
          <a:prstGeom prst="ellipse">
            <a:avLst/>
          </a:prstGeom>
          <a:solidFill>
            <a:srgbClr val="C8414C"/>
          </a:solidFill>
          <a:ln w="9525">
            <a:solidFill>
              <a:srgbClr val="C8414C"/>
            </a:solidFill>
            <a:prstDash val="solid"/>
          </a:ln>
        </p:spPr>
      </p:sp>
      <p:sp>
        <p:nvSpPr>
          <p:cNvPr id="90" name="Shape 88"/>
          <p:cNvSpPr/>
          <p:nvPr/>
        </p:nvSpPr>
        <p:spPr>
          <a:xfrm>
            <a:off x="5257800" y="1965960"/>
            <a:ext cx="411480" cy="411480"/>
          </a:xfrm>
          <a:prstGeom prst="roundRect">
            <a:avLst>
              <a:gd name="adj" fmla="val 8889"/>
            </a:avLst>
          </a:prstGeom>
          <a:solidFill>
            <a:srgbClr val="FFFFFF"/>
          </a:solidFill>
          <a:ln w="25400">
            <a:solidFill>
              <a:srgbClr val="C8414C"/>
            </a:solidFill>
            <a:prstDash val="solid"/>
          </a:ln>
        </p:spPr>
      </p:sp>
      <p:sp>
        <p:nvSpPr>
          <p:cNvPr id="91" name="Shape 89"/>
          <p:cNvSpPr/>
          <p:nvPr/>
        </p:nvSpPr>
        <p:spPr>
          <a:xfrm>
            <a:off x="5325694" y="2033854"/>
            <a:ext cx="69952" cy="69952"/>
          </a:xfrm>
          <a:prstGeom prst="ellipse">
            <a:avLst/>
          </a:prstGeom>
          <a:solidFill>
            <a:srgbClr val="C8414C"/>
          </a:solidFill>
          <a:ln w="9525">
            <a:solidFill>
              <a:srgbClr val="C8414C"/>
            </a:solidFill>
            <a:prstDash val="solid"/>
          </a:ln>
        </p:spPr>
      </p:sp>
      <p:sp>
        <p:nvSpPr>
          <p:cNvPr id="92" name="Shape 90"/>
          <p:cNvSpPr/>
          <p:nvPr/>
        </p:nvSpPr>
        <p:spPr>
          <a:xfrm>
            <a:off x="5325694" y="2136724"/>
            <a:ext cx="69952" cy="69952"/>
          </a:xfrm>
          <a:prstGeom prst="ellipse">
            <a:avLst/>
          </a:prstGeom>
          <a:solidFill>
            <a:srgbClr val="C8414C"/>
          </a:solidFill>
          <a:ln w="9525">
            <a:solidFill>
              <a:srgbClr val="C8414C"/>
            </a:solidFill>
            <a:prstDash val="solid"/>
          </a:ln>
        </p:spPr>
      </p:sp>
      <p:sp>
        <p:nvSpPr>
          <p:cNvPr id="93" name="Shape 91"/>
          <p:cNvSpPr/>
          <p:nvPr/>
        </p:nvSpPr>
        <p:spPr>
          <a:xfrm>
            <a:off x="5325694" y="2239594"/>
            <a:ext cx="69952" cy="69952"/>
          </a:xfrm>
          <a:prstGeom prst="ellipse">
            <a:avLst/>
          </a:prstGeom>
          <a:solidFill>
            <a:srgbClr val="C8414C"/>
          </a:solidFill>
          <a:ln w="9525">
            <a:solidFill>
              <a:srgbClr val="C8414C"/>
            </a:solidFill>
            <a:prstDash val="solid"/>
          </a:ln>
        </p:spPr>
      </p:sp>
      <p:sp>
        <p:nvSpPr>
          <p:cNvPr id="94" name="Shape 92"/>
          <p:cNvSpPr/>
          <p:nvPr/>
        </p:nvSpPr>
        <p:spPr>
          <a:xfrm>
            <a:off x="5531434" y="2033854"/>
            <a:ext cx="69952" cy="69952"/>
          </a:xfrm>
          <a:prstGeom prst="ellipse">
            <a:avLst/>
          </a:prstGeom>
          <a:solidFill>
            <a:srgbClr val="C8414C"/>
          </a:solidFill>
          <a:ln w="9525">
            <a:solidFill>
              <a:srgbClr val="C8414C"/>
            </a:solidFill>
            <a:prstDash val="solid"/>
          </a:ln>
        </p:spPr>
      </p:sp>
      <p:sp>
        <p:nvSpPr>
          <p:cNvPr id="95" name="Shape 93"/>
          <p:cNvSpPr/>
          <p:nvPr/>
        </p:nvSpPr>
        <p:spPr>
          <a:xfrm>
            <a:off x="5531434" y="2136724"/>
            <a:ext cx="69952" cy="69952"/>
          </a:xfrm>
          <a:prstGeom prst="ellipse">
            <a:avLst/>
          </a:prstGeom>
          <a:solidFill>
            <a:srgbClr val="C8414C"/>
          </a:solidFill>
          <a:ln w="9525">
            <a:solidFill>
              <a:srgbClr val="C8414C"/>
            </a:solidFill>
            <a:prstDash val="solid"/>
          </a:ln>
        </p:spPr>
      </p:sp>
      <p:sp>
        <p:nvSpPr>
          <p:cNvPr id="96" name="Shape 94"/>
          <p:cNvSpPr/>
          <p:nvPr/>
        </p:nvSpPr>
        <p:spPr>
          <a:xfrm>
            <a:off x="5531434" y="2239594"/>
            <a:ext cx="69952" cy="69952"/>
          </a:xfrm>
          <a:prstGeom prst="ellipse">
            <a:avLst/>
          </a:prstGeom>
          <a:solidFill>
            <a:srgbClr val="C8414C"/>
          </a:solidFill>
          <a:ln w="9525">
            <a:solidFill>
              <a:srgbClr val="C8414C"/>
            </a:solidFill>
            <a:prstDash val="solid"/>
          </a:ln>
        </p:spPr>
      </p:sp>
      <p:sp>
        <p:nvSpPr>
          <p:cNvPr id="97" name="Shape 95"/>
          <p:cNvSpPr/>
          <p:nvPr/>
        </p:nvSpPr>
        <p:spPr>
          <a:xfrm>
            <a:off x="5001768" y="2468880"/>
            <a:ext cx="411480" cy="411480"/>
          </a:xfrm>
          <a:prstGeom prst="roundRect">
            <a:avLst>
              <a:gd name="adj" fmla="val 8889"/>
            </a:avLst>
          </a:prstGeom>
          <a:solidFill>
            <a:srgbClr val="FFFFFF"/>
          </a:solidFill>
          <a:ln w="25400">
            <a:solidFill>
              <a:srgbClr val="C8414C"/>
            </a:solidFill>
            <a:prstDash val="solid"/>
          </a:ln>
        </p:spPr>
      </p:sp>
      <p:sp>
        <p:nvSpPr>
          <p:cNvPr id="98" name="Shape 96"/>
          <p:cNvSpPr/>
          <p:nvPr/>
        </p:nvSpPr>
        <p:spPr>
          <a:xfrm>
            <a:off x="5069662" y="2536774"/>
            <a:ext cx="69952" cy="69952"/>
          </a:xfrm>
          <a:prstGeom prst="ellipse">
            <a:avLst/>
          </a:prstGeom>
          <a:solidFill>
            <a:srgbClr val="C8414C"/>
          </a:solidFill>
          <a:ln w="9525">
            <a:solidFill>
              <a:srgbClr val="C8414C"/>
            </a:solidFill>
            <a:prstDash val="solid"/>
          </a:ln>
        </p:spPr>
      </p:sp>
      <p:sp>
        <p:nvSpPr>
          <p:cNvPr id="99" name="Shape 97"/>
          <p:cNvSpPr/>
          <p:nvPr/>
        </p:nvSpPr>
        <p:spPr>
          <a:xfrm>
            <a:off x="5069662" y="2639644"/>
            <a:ext cx="69952" cy="69952"/>
          </a:xfrm>
          <a:prstGeom prst="ellipse">
            <a:avLst/>
          </a:prstGeom>
          <a:solidFill>
            <a:srgbClr val="C8414C"/>
          </a:solidFill>
          <a:ln w="9525">
            <a:solidFill>
              <a:srgbClr val="C8414C"/>
            </a:solidFill>
            <a:prstDash val="solid"/>
          </a:ln>
        </p:spPr>
      </p:sp>
      <p:sp>
        <p:nvSpPr>
          <p:cNvPr id="100" name="Shape 98"/>
          <p:cNvSpPr/>
          <p:nvPr/>
        </p:nvSpPr>
        <p:spPr>
          <a:xfrm>
            <a:off x="5069662" y="2742514"/>
            <a:ext cx="69952" cy="69952"/>
          </a:xfrm>
          <a:prstGeom prst="ellipse">
            <a:avLst/>
          </a:prstGeom>
          <a:solidFill>
            <a:srgbClr val="C8414C"/>
          </a:solidFill>
          <a:ln w="9525">
            <a:solidFill>
              <a:srgbClr val="C8414C"/>
            </a:solidFill>
            <a:prstDash val="solid"/>
          </a:ln>
        </p:spPr>
      </p:sp>
      <p:sp>
        <p:nvSpPr>
          <p:cNvPr id="101" name="Shape 99"/>
          <p:cNvSpPr/>
          <p:nvPr/>
        </p:nvSpPr>
        <p:spPr>
          <a:xfrm>
            <a:off x="5275402" y="2536774"/>
            <a:ext cx="69952" cy="69952"/>
          </a:xfrm>
          <a:prstGeom prst="ellipse">
            <a:avLst/>
          </a:prstGeom>
          <a:solidFill>
            <a:srgbClr val="C8414C"/>
          </a:solidFill>
          <a:ln w="9525">
            <a:solidFill>
              <a:srgbClr val="C8414C"/>
            </a:solidFill>
            <a:prstDash val="solid"/>
          </a:ln>
        </p:spPr>
      </p:sp>
      <p:sp>
        <p:nvSpPr>
          <p:cNvPr id="102" name="Shape 100"/>
          <p:cNvSpPr/>
          <p:nvPr/>
        </p:nvSpPr>
        <p:spPr>
          <a:xfrm>
            <a:off x="5275402" y="2639644"/>
            <a:ext cx="69952" cy="69952"/>
          </a:xfrm>
          <a:prstGeom prst="ellipse">
            <a:avLst/>
          </a:prstGeom>
          <a:solidFill>
            <a:srgbClr val="C8414C"/>
          </a:solidFill>
          <a:ln w="9525">
            <a:solidFill>
              <a:srgbClr val="C8414C"/>
            </a:solidFill>
            <a:prstDash val="solid"/>
          </a:ln>
        </p:spPr>
      </p:sp>
      <p:sp>
        <p:nvSpPr>
          <p:cNvPr id="103" name="Shape 101"/>
          <p:cNvSpPr/>
          <p:nvPr/>
        </p:nvSpPr>
        <p:spPr>
          <a:xfrm>
            <a:off x="5275402" y="2742514"/>
            <a:ext cx="69952" cy="69952"/>
          </a:xfrm>
          <a:prstGeom prst="ellipse">
            <a:avLst/>
          </a:prstGeom>
          <a:solidFill>
            <a:srgbClr val="C8414C"/>
          </a:solidFill>
          <a:ln w="9525">
            <a:solidFill>
              <a:srgbClr val="C8414C"/>
            </a:solidFill>
            <a:prstDash val="solid"/>
          </a:ln>
        </p:spPr>
      </p:sp>
      <p:sp>
        <p:nvSpPr>
          <p:cNvPr id="104" name="Text 102"/>
          <p:cNvSpPr/>
          <p:nvPr/>
        </p:nvSpPr>
        <p:spPr>
          <a:xfrm>
            <a:off x="4617720" y="3154680"/>
            <a:ext cx="123444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"decayed"</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3657600"/>
          <a:ext cx="5120640" cy="914400"/>
        </p:xfrm>
        <a:graphic>
          <a:graphicData uri="http://schemas.openxmlformats.org/drawingml/2006/table">
            <a:tbl>
              <a:tblPr/>
              <a:tblGrid>
                <a:gridCol w="2011680"/>
                <a:gridCol w="3108960"/>
              </a:tblGrid>
              <a:tr h="24688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Real decay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Dice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l" indent="0" marL="0">
                        <a:buNone/>
                      </a:pPr>
                      <a:r>
                        <a:rPr lang="en-US" sz="1050" dirty="0">
                          <a:solidFill>
                            <a:srgbClr val="262B3A"/>
                          </a:solidFill>
                          <a:latin typeface="Calibri" pitchFamily="34" charset="0"/>
                          <a:ea typeface="Calibri" pitchFamily="34" charset="-122"/>
                          <a:cs typeface="Calibri" pitchFamily="34" charset="-120"/>
                        </a:rPr>
                        <a:t>unstable nuclei</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Rolling a six</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B3A"/>
                          </a:solidFill>
                          <a:latin typeface="Calibri" pitchFamily="34" charset="0"/>
                          <a:ea typeface="Calibri" pitchFamily="34" charset="-122"/>
                          <a:cs typeface="Calibri" pitchFamily="34" charset="-120"/>
                        </a:rPr>
                        <a:t>a nucleus decaying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One throw</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l" indent="0" marL="0">
                        <a:buNone/>
                      </a:pPr>
                      <a:r>
                        <a:rPr lang="en-US" sz="1050" dirty="0">
                          <a:solidFill>
                            <a:srgbClr val="262B3A"/>
                          </a:solidFill>
                          <a:latin typeface="Calibri" pitchFamily="34" charset="0"/>
                          <a:ea typeface="Calibri" pitchFamily="34" charset="-122"/>
                          <a:cs typeface="Calibri" pitchFamily="34" charset="-120"/>
                        </a:rPr>
                        <a:t>one unit of time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algn="l" indent="0" marL="0">
                        <a:buNone/>
                      </a:pPr>
                      <a:r>
                        <a:rPr lang="en-US" sz="1050" b="1" dirty="0">
                          <a:solidFill>
                            <a:srgbClr val="262B3A"/>
                          </a:solidFill>
                          <a:latin typeface="Calibri" pitchFamily="34" charset="0"/>
                          <a:ea typeface="Calibri" pitchFamily="34" charset="-122"/>
                          <a:cs typeface="Calibri" pitchFamily="34" charset="-120"/>
                        </a:rPr>
                        <a:t>1 in 6 chance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B3A"/>
                          </a:solidFill>
                          <a:latin typeface="Calibri" pitchFamily="34" charset="0"/>
                          <a:ea typeface="Calibri" pitchFamily="34" charset="-122"/>
                          <a:cs typeface="Calibri" pitchFamily="34" charset="-120"/>
                        </a:rPr>
                        <a:t>same chance every throw</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106" name="Shape 103"/>
          <p:cNvSpPr/>
          <p:nvPr/>
        </p:nvSpPr>
        <p:spPr>
          <a:xfrm>
            <a:off x="6217920" y="1188720"/>
            <a:ext cx="5562295" cy="2331720"/>
          </a:xfrm>
          <a:prstGeom prst="roundRect">
            <a:avLst>
              <a:gd name="adj" fmla="val 2353"/>
            </a:avLst>
          </a:prstGeom>
          <a:solidFill>
            <a:srgbClr val="F5F8FE"/>
          </a:solidFill>
          <a:ln w="9525">
            <a:solidFill>
              <a:srgbClr val="D5DCEB"/>
            </a:solidFill>
            <a:prstDash val="solid"/>
          </a:ln>
        </p:spPr>
      </p:sp>
      <p:sp>
        <p:nvSpPr>
          <p:cNvPr id="107" name="Text 10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108" name="Text 105"/>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Count out </a:t>
            </a:r>
            <a:r>
              <a:rPr lang="en-US" sz="1150" b="1" dirty="0">
                <a:solidFill>
                  <a:srgbClr val="262B3A"/>
                </a:solidFill>
                <a:latin typeface="Calibri" pitchFamily="34" charset="0"/>
                <a:ea typeface="Calibri" pitchFamily="34" charset="-122"/>
                <a:cs typeface="Calibri" pitchFamily="34" charset="-120"/>
              </a:rPr>
              <a:t>120 dice</a:t>
            </a:r>
            <a:r>
              <a:rPr lang="en-US" sz="1150" dirty="0">
                <a:solidFill>
                  <a:srgbClr val="262B3A"/>
                </a:solidFill>
                <a:latin typeface="Calibri" pitchFamily="34" charset="0"/>
                <a:ea typeface="Calibri" pitchFamily="34" charset="-122"/>
                <a:cs typeface="Calibri" pitchFamily="34" charset="-120"/>
              </a:rPr>
              <a:t> (or cubes with one face marked). Throw them all into a tray.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Remove every die showing a </a:t>
            </a:r>
            <a:r>
              <a:rPr lang="en-US" sz="1150" b="1" dirty="0">
                <a:solidFill>
                  <a:srgbClr val="262B3A"/>
                </a:solidFill>
                <a:latin typeface="Calibri" pitchFamily="34" charset="0"/>
                <a:ea typeface="Calibri" pitchFamily="34" charset="-122"/>
                <a:cs typeface="Calibri" pitchFamily="34" charset="-120"/>
              </a:rPr>
              <a:t>six</a:t>
            </a:r>
            <a:r>
              <a:rPr lang="en-US" sz="1150" dirty="0">
                <a:solidFill>
                  <a:srgbClr val="262B3A"/>
                </a:solidFill>
                <a:latin typeface="Calibri" pitchFamily="34" charset="0"/>
                <a:ea typeface="Calibri" pitchFamily="34" charset="-122"/>
                <a:cs typeface="Calibri" pitchFamily="34" charset="-120"/>
              </a:rPr>
              <a:t>: these nuclei have "decayed". Count the dice left.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Throw the remaining dice again. Repeat for </a:t>
            </a:r>
            <a:r>
              <a:rPr lang="en-US" sz="1150" b="1" dirty="0">
                <a:solidFill>
                  <a:srgbClr val="262B3A"/>
                </a:solidFill>
                <a:latin typeface="Calibri" pitchFamily="34" charset="0"/>
                <a:ea typeface="Calibri" pitchFamily="34" charset="-122"/>
                <a:cs typeface="Calibri" pitchFamily="34" charset="-120"/>
              </a:rPr>
              <a:t>10 throws</a:t>
            </a:r>
            <a:r>
              <a:rPr lang="en-US" sz="1150" dirty="0">
                <a:solidFill>
                  <a:srgbClr val="262B3A"/>
                </a:solidFill>
                <a:latin typeface="Calibri" pitchFamily="34" charset="0"/>
                <a:ea typeface="Calibri" pitchFamily="34" charset="-122"/>
                <a:cs typeface="Calibri" pitchFamily="34" charset="-120"/>
              </a:rPr>
              <a:t>, recording the number left each time.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Plot </a:t>
            </a:r>
            <a:r>
              <a:rPr lang="en-US" sz="1150" b="1" dirty="0">
                <a:solidFill>
                  <a:srgbClr val="262B3A"/>
                </a:solidFill>
                <a:latin typeface="Calibri" pitchFamily="34" charset="0"/>
                <a:ea typeface="Calibri" pitchFamily="34" charset="-122"/>
                <a:cs typeface="Calibri" pitchFamily="34" charset="-120"/>
              </a:rPr>
              <a:t>number of dice left (y)</a:t>
            </a:r>
            <a:r>
              <a:rPr lang="en-US" sz="1150" dirty="0">
                <a:solidFill>
                  <a:srgbClr val="262B3A"/>
                </a:solidFill>
                <a:latin typeface="Calibri" pitchFamily="34" charset="0"/>
                <a:ea typeface="Calibri" pitchFamily="34" charset="-122"/>
                <a:cs typeface="Calibri" pitchFamily="34" charset="-120"/>
              </a:rPr>
              <a:t> against </a:t>
            </a:r>
            <a:r>
              <a:rPr lang="en-US" sz="1150" b="1" dirty="0">
                <a:solidFill>
                  <a:srgbClr val="262B3A"/>
                </a:solidFill>
                <a:latin typeface="Calibri" pitchFamily="34" charset="0"/>
                <a:ea typeface="Calibri" pitchFamily="34" charset="-122"/>
                <a:cs typeface="Calibri" pitchFamily="34" charset="-120"/>
              </a:rPr>
              <a:t>throw number (x)</a:t>
            </a:r>
            <a:r>
              <a:rPr lang="en-US" sz="1150" dirty="0">
                <a:solidFill>
                  <a:srgbClr val="262B3A"/>
                </a:solidFill>
                <a:latin typeface="Calibri" pitchFamily="34" charset="0"/>
                <a:ea typeface="Calibri" pitchFamily="34" charset="-122"/>
                <a:cs typeface="Calibri" pitchFamily="34" charset="-120"/>
              </a:rPr>
              <a:t> and draw a smooth curve.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the curve to find the </a:t>
            </a:r>
            <a:r>
              <a:rPr lang="en-US" sz="1150" b="1" dirty="0">
                <a:solidFill>
                  <a:srgbClr val="262B3A"/>
                </a:solidFill>
                <a:latin typeface="Calibri" pitchFamily="34" charset="0"/>
                <a:ea typeface="Calibri" pitchFamily="34" charset="-122"/>
                <a:cs typeface="Calibri" pitchFamily="34" charset="-120"/>
              </a:rPr>
              <a:t>half-life</a:t>
            </a:r>
            <a:r>
              <a:rPr lang="en-US" sz="1150" dirty="0">
                <a:solidFill>
                  <a:srgbClr val="262B3A"/>
                </a:solidFill>
                <a:latin typeface="Calibri" pitchFamily="34" charset="0"/>
                <a:ea typeface="Calibri" pitchFamily="34" charset="-122"/>
                <a:cs typeface="Calibri" pitchFamily="34" charset="-120"/>
              </a:rPr>
              <a:t> in throws.</a:t>
            </a:r>
            <a:endParaRPr lang="en-US" sz="1150" dirty="0"/>
          </a:p>
        </p:txBody>
      </p:sp>
      <p:sp>
        <p:nvSpPr>
          <p:cNvPr id="109" name="Shape 106"/>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110" name="Text 107"/>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111" name="Text 108"/>
          <p:cNvSpPr/>
          <p:nvPr/>
        </p:nvSpPr>
        <p:spPr>
          <a:xfrm>
            <a:off x="6382512" y="4041648"/>
            <a:ext cx="5233111" cy="160020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number of throws (time)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number of dice left (undecayed nuclei)</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same dice, same rule (remove sixes), shake fairly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low hazard: no radioactive source; pick up dropped dice</a:t>
            </a:r>
            <a:endParaRPr lang="en-US" sz="1050" dirty="0"/>
          </a:p>
        </p:txBody>
      </p:sp>
      <p:sp>
        <p:nvSpPr>
          <p:cNvPr id="112" name="Shape 109"/>
          <p:cNvSpPr/>
          <p:nvPr/>
        </p:nvSpPr>
        <p:spPr>
          <a:xfrm>
            <a:off x="411480" y="5833872"/>
            <a:ext cx="11368735" cy="530352"/>
          </a:xfrm>
          <a:prstGeom prst="rect">
            <a:avLst/>
          </a:prstGeom>
          <a:solidFill>
            <a:srgbClr val="FFF4E0"/>
          </a:solidFill>
          <a:ln w="6350">
            <a:solidFill>
              <a:srgbClr val="F1D9A8"/>
            </a:solidFill>
            <a:prstDash val="solid"/>
          </a:ln>
        </p:spPr>
      </p:sp>
      <p:sp>
        <p:nvSpPr>
          <p:cNvPr id="113" name="Shape 110"/>
          <p:cNvSpPr/>
          <p:nvPr/>
        </p:nvSpPr>
        <p:spPr>
          <a:xfrm>
            <a:off x="411480" y="5833872"/>
            <a:ext cx="82296" cy="530352"/>
          </a:xfrm>
          <a:prstGeom prst="rect">
            <a:avLst/>
          </a:prstGeom>
          <a:solidFill>
            <a:srgbClr val="E39A2F"/>
          </a:solidFill>
          <a:ln w="12700">
            <a:solidFill>
              <a:srgbClr val="E39A2F"/>
            </a:solidFill>
            <a:prstDash val="solid"/>
          </a:ln>
        </p:spPr>
      </p:sp>
      <p:sp>
        <p:nvSpPr>
          <p:cNvPr id="114" name="Text 11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this model, what does rolling a six represent? Why is a large number of dice used?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results and half-life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 • sample class results for 120 dice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20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results plotted to scale with a smooth best-fit curve</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545336" y="1417320"/>
            <a:ext cx="91" cy="3291840"/>
          </a:xfrm>
          <a:prstGeom prst="line">
            <a:avLst/>
          </a:prstGeom>
          <a:noFill/>
          <a:ln w="6350">
            <a:solidFill>
              <a:srgbClr val="E6EBF4"/>
            </a:solidFill>
            <a:prstDash val="solid"/>
          </a:ln>
        </p:spPr>
      </p:sp>
      <p:sp>
        <p:nvSpPr>
          <p:cNvPr id="15" name="Shape 13"/>
          <p:cNvSpPr/>
          <p:nvPr/>
        </p:nvSpPr>
        <p:spPr>
          <a:xfrm>
            <a:off x="1764792" y="1417320"/>
            <a:ext cx="91" cy="3291840"/>
          </a:xfrm>
          <a:prstGeom prst="line">
            <a:avLst/>
          </a:prstGeom>
          <a:noFill/>
          <a:ln w="6350">
            <a:solidFill>
              <a:srgbClr val="C9D3E6"/>
            </a:solidFill>
            <a:prstDash val="solid"/>
          </a:ln>
        </p:spPr>
      </p:sp>
      <p:sp>
        <p:nvSpPr>
          <p:cNvPr id="16" name="Shape 14"/>
          <p:cNvSpPr/>
          <p:nvPr/>
        </p:nvSpPr>
        <p:spPr>
          <a:xfrm>
            <a:off x="1984248" y="1417320"/>
            <a:ext cx="91" cy="3291840"/>
          </a:xfrm>
          <a:prstGeom prst="line">
            <a:avLst/>
          </a:prstGeom>
          <a:noFill/>
          <a:ln w="6350">
            <a:solidFill>
              <a:srgbClr val="E6EBF4"/>
            </a:solidFill>
            <a:prstDash val="solid"/>
          </a:ln>
        </p:spPr>
      </p:sp>
      <p:sp>
        <p:nvSpPr>
          <p:cNvPr id="17" name="Shape 15"/>
          <p:cNvSpPr/>
          <p:nvPr/>
        </p:nvSpPr>
        <p:spPr>
          <a:xfrm>
            <a:off x="2203704" y="1417320"/>
            <a:ext cx="91" cy="3291840"/>
          </a:xfrm>
          <a:prstGeom prst="line">
            <a:avLst/>
          </a:prstGeom>
          <a:noFill/>
          <a:ln w="6350">
            <a:solidFill>
              <a:srgbClr val="C9D3E6"/>
            </a:solidFill>
            <a:prstDash val="solid"/>
          </a:ln>
        </p:spPr>
      </p:sp>
      <p:sp>
        <p:nvSpPr>
          <p:cNvPr id="18" name="Shape 16"/>
          <p:cNvSpPr/>
          <p:nvPr/>
        </p:nvSpPr>
        <p:spPr>
          <a:xfrm>
            <a:off x="2423160" y="1417320"/>
            <a:ext cx="91" cy="3291840"/>
          </a:xfrm>
          <a:prstGeom prst="line">
            <a:avLst/>
          </a:prstGeom>
          <a:noFill/>
          <a:ln w="6350">
            <a:solidFill>
              <a:srgbClr val="E6EBF4"/>
            </a:solidFill>
            <a:prstDash val="solid"/>
          </a:ln>
        </p:spPr>
      </p:sp>
      <p:sp>
        <p:nvSpPr>
          <p:cNvPr id="19" name="Shape 17"/>
          <p:cNvSpPr/>
          <p:nvPr/>
        </p:nvSpPr>
        <p:spPr>
          <a:xfrm>
            <a:off x="2642616" y="1417320"/>
            <a:ext cx="91" cy="3291840"/>
          </a:xfrm>
          <a:prstGeom prst="line">
            <a:avLst/>
          </a:prstGeom>
          <a:noFill/>
          <a:ln w="6350">
            <a:solidFill>
              <a:srgbClr val="C9D3E6"/>
            </a:solidFill>
            <a:prstDash val="solid"/>
          </a:ln>
        </p:spPr>
      </p:sp>
      <p:sp>
        <p:nvSpPr>
          <p:cNvPr id="20" name="Shape 18"/>
          <p:cNvSpPr/>
          <p:nvPr/>
        </p:nvSpPr>
        <p:spPr>
          <a:xfrm>
            <a:off x="2862072" y="1417320"/>
            <a:ext cx="91" cy="3291840"/>
          </a:xfrm>
          <a:prstGeom prst="line">
            <a:avLst/>
          </a:prstGeom>
          <a:noFill/>
          <a:ln w="6350">
            <a:solidFill>
              <a:srgbClr val="E6EBF4"/>
            </a:solidFill>
            <a:prstDash val="solid"/>
          </a:ln>
        </p:spPr>
      </p:sp>
      <p:sp>
        <p:nvSpPr>
          <p:cNvPr id="21" name="Shape 19"/>
          <p:cNvSpPr/>
          <p:nvPr/>
        </p:nvSpPr>
        <p:spPr>
          <a:xfrm>
            <a:off x="3081528" y="1417320"/>
            <a:ext cx="91" cy="3291840"/>
          </a:xfrm>
          <a:prstGeom prst="line">
            <a:avLst/>
          </a:prstGeom>
          <a:noFill/>
          <a:ln w="6350">
            <a:solidFill>
              <a:srgbClr val="C9D3E6"/>
            </a:solidFill>
            <a:prstDash val="solid"/>
          </a:ln>
        </p:spPr>
      </p:sp>
      <p:sp>
        <p:nvSpPr>
          <p:cNvPr id="22" name="Shape 20"/>
          <p:cNvSpPr/>
          <p:nvPr/>
        </p:nvSpPr>
        <p:spPr>
          <a:xfrm>
            <a:off x="3300984" y="1417320"/>
            <a:ext cx="91" cy="3291840"/>
          </a:xfrm>
          <a:prstGeom prst="line">
            <a:avLst/>
          </a:prstGeom>
          <a:noFill/>
          <a:ln w="6350">
            <a:solidFill>
              <a:srgbClr val="E6EBF4"/>
            </a:solidFill>
            <a:prstDash val="solid"/>
          </a:ln>
        </p:spPr>
      </p:sp>
      <p:sp>
        <p:nvSpPr>
          <p:cNvPr id="23" name="Shape 21"/>
          <p:cNvSpPr/>
          <p:nvPr/>
        </p:nvSpPr>
        <p:spPr>
          <a:xfrm>
            <a:off x="3520440" y="1417320"/>
            <a:ext cx="91" cy="3291840"/>
          </a:xfrm>
          <a:prstGeom prst="line">
            <a:avLst/>
          </a:prstGeom>
          <a:noFill/>
          <a:ln w="6350">
            <a:solidFill>
              <a:srgbClr val="C9D3E6"/>
            </a:solidFill>
            <a:prstDash val="solid"/>
          </a:ln>
        </p:spPr>
      </p:sp>
      <p:sp>
        <p:nvSpPr>
          <p:cNvPr id="24" name="Shape 22"/>
          <p:cNvSpPr/>
          <p:nvPr/>
        </p:nvSpPr>
        <p:spPr>
          <a:xfrm>
            <a:off x="3739896" y="1417320"/>
            <a:ext cx="91" cy="3291840"/>
          </a:xfrm>
          <a:prstGeom prst="line">
            <a:avLst/>
          </a:prstGeom>
          <a:noFill/>
          <a:ln w="6350">
            <a:solidFill>
              <a:srgbClr val="E6EBF4"/>
            </a:solidFill>
            <a:prstDash val="solid"/>
          </a:ln>
        </p:spPr>
      </p:sp>
      <p:sp>
        <p:nvSpPr>
          <p:cNvPr id="25" name="Shape 23"/>
          <p:cNvSpPr/>
          <p:nvPr/>
        </p:nvSpPr>
        <p:spPr>
          <a:xfrm>
            <a:off x="3959352" y="1417320"/>
            <a:ext cx="91" cy="3291840"/>
          </a:xfrm>
          <a:prstGeom prst="line">
            <a:avLst/>
          </a:prstGeom>
          <a:noFill/>
          <a:ln w="6350">
            <a:solidFill>
              <a:srgbClr val="C9D3E6"/>
            </a:solidFill>
            <a:prstDash val="solid"/>
          </a:ln>
        </p:spPr>
      </p:sp>
      <p:sp>
        <p:nvSpPr>
          <p:cNvPr id="26" name="Shape 24"/>
          <p:cNvSpPr/>
          <p:nvPr/>
        </p:nvSpPr>
        <p:spPr>
          <a:xfrm>
            <a:off x="4178808" y="1417320"/>
            <a:ext cx="91" cy="3291840"/>
          </a:xfrm>
          <a:prstGeom prst="line">
            <a:avLst/>
          </a:prstGeom>
          <a:noFill/>
          <a:ln w="6350">
            <a:solidFill>
              <a:srgbClr val="E6EBF4"/>
            </a:solidFill>
            <a:prstDash val="solid"/>
          </a:ln>
        </p:spPr>
      </p:sp>
      <p:sp>
        <p:nvSpPr>
          <p:cNvPr id="27" name="Shape 25"/>
          <p:cNvSpPr/>
          <p:nvPr/>
        </p:nvSpPr>
        <p:spPr>
          <a:xfrm>
            <a:off x="4398264" y="1417320"/>
            <a:ext cx="91" cy="3291840"/>
          </a:xfrm>
          <a:prstGeom prst="line">
            <a:avLst/>
          </a:prstGeom>
          <a:noFill/>
          <a:ln w="6350">
            <a:solidFill>
              <a:srgbClr val="C9D3E6"/>
            </a:solidFill>
            <a:prstDash val="solid"/>
          </a:ln>
        </p:spPr>
      </p:sp>
      <p:sp>
        <p:nvSpPr>
          <p:cNvPr id="28" name="Shape 26"/>
          <p:cNvSpPr/>
          <p:nvPr/>
        </p:nvSpPr>
        <p:spPr>
          <a:xfrm>
            <a:off x="4617720" y="1417320"/>
            <a:ext cx="91" cy="3291840"/>
          </a:xfrm>
          <a:prstGeom prst="line">
            <a:avLst/>
          </a:prstGeom>
          <a:noFill/>
          <a:ln w="6350">
            <a:solidFill>
              <a:srgbClr val="E6EBF4"/>
            </a:solidFill>
            <a:prstDash val="solid"/>
          </a:ln>
        </p:spPr>
      </p:sp>
      <p:sp>
        <p:nvSpPr>
          <p:cNvPr id="29" name="Shape 27"/>
          <p:cNvSpPr/>
          <p:nvPr/>
        </p:nvSpPr>
        <p:spPr>
          <a:xfrm>
            <a:off x="4837176" y="1417320"/>
            <a:ext cx="91" cy="3291840"/>
          </a:xfrm>
          <a:prstGeom prst="line">
            <a:avLst/>
          </a:prstGeom>
          <a:noFill/>
          <a:ln w="6350">
            <a:solidFill>
              <a:srgbClr val="C9D3E6"/>
            </a:solidFill>
            <a:prstDash val="solid"/>
          </a:ln>
        </p:spPr>
      </p:sp>
      <p:sp>
        <p:nvSpPr>
          <p:cNvPr id="30" name="Shape 28"/>
          <p:cNvSpPr/>
          <p:nvPr/>
        </p:nvSpPr>
        <p:spPr>
          <a:xfrm>
            <a:off x="5056632" y="1417320"/>
            <a:ext cx="91" cy="3291840"/>
          </a:xfrm>
          <a:prstGeom prst="line">
            <a:avLst/>
          </a:prstGeom>
          <a:noFill/>
          <a:ln w="6350">
            <a:solidFill>
              <a:srgbClr val="E6EBF4"/>
            </a:solidFill>
            <a:prstDash val="solid"/>
          </a:ln>
        </p:spPr>
      </p:sp>
      <p:sp>
        <p:nvSpPr>
          <p:cNvPr id="31" name="Shape 29"/>
          <p:cNvSpPr/>
          <p:nvPr/>
        </p:nvSpPr>
        <p:spPr>
          <a:xfrm>
            <a:off x="5276088" y="1417320"/>
            <a:ext cx="91" cy="3291840"/>
          </a:xfrm>
          <a:prstGeom prst="line">
            <a:avLst/>
          </a:prstGeom>
          <a:noFill/>
          <a:ln w="6350">
            <a:solidFill>
              <a:srgbClr val="C9D3E6"/>
            </a:solidFill>
            <a:prstDash val="solid"/>
          </a:ln>
        </p:spPr>
      </p:sp>
      <p:sp>
        <p:nvSpPr>
          <p:cNvPr id="32" name="Shape 30"/>
          <p:cNvSpPr/>
          <p:nvPr/>
        </p:nvSpPr>
        <p:spPr>
          <a:xfrm>
            <a:off x="5495544" y="1417320"/>
            <a:ext cx="91" cy="3291840"/>
          </a:xfrm>
          <a:prstGeom prst="line">
            <a:avLst/>
          </a:prstGeom>
          <a:noFill/>
          <a:ln w="6350">
            <a:solidFill>
              <a:srgbClr val="E6EBF4"/>
            </a:solidFill>
            <a:prstDash val="solid"/>
          </a:ln>
        </p:spPr>
      </p:sp>
      <p:sp>
        <p:nvSpPr>
          <p:cNvPr id="33" name="Shape 31"/>
          <p:cNvSpPr/>
          <p:nvPr/>
        </p:nvSpPr>
        <p:spPr>
          <a:xfrm>
            <a:off x="5715000" y="1417320"/>
            <a:ext cx="91" cy="3291840"/>
          </a:xfrm>
          <a:prstGeom prst="line">
            <a:avLst/>
          </a:prstGeom>
          <a:noFill/>
          <a:ln w="6350">
            <a:solidFill>
              <a:srgbClr val="C9D3E6"/>
            </a:solidFill>
            <a:prstDash val="solid"/>
          </a:ln>
        </p:spPr>
      </p:sp>
      <p:sp>
        <p:nvSpPr>
          <p:cNvPr id="34" name="Shape 32"/>
          <p:cNvSpPr/>
          <p:nvPr/>
        </p:nvSpPr>
        <p:spPr>
          <a:xfrm>
            <a:off x="1325880" y="4709160"/>
            <a:ext cx="4389120" cy="91"/>
          </a:xfrm>
          <a:prstGeom prst="line">
            <a:avLst/>
          </a:prstGeom>
          <a:noFill/>
          <a:ln w="6350">
            <a:solidFill>
              <a:srgbClr val="C9D3E6"/>
            </a:solidFill>
            <a:prstDash val="solid"/>
          </a:ln>
        </p:spPr>
      </p:sp>
      <p:sp>
        <p:nvSpPr>
          <p:cNvPr id="35" name="Shape 33"/>
          <p:cNvSpPr/>
          <p:nvPr/>
        </p:nvSpPr>
        <p:spPr>
          <a:xfrm>
            <a:off x="1325880" y="4434840"/>
            <a:ext cx="4389120" cy="91"/>
          </a:xfrm>
          <a:prstGeom prst="line">
            <a:avLst/>
          </a:prstGeom>
          <a:noFill/>
          <a:ln w="6350">
            <a:solidFill>
              <a:srgbClr val="E6EBF4"/>
            </a:solidFill>
            <a:prstDash val="solid"/>
          </a:ln>
        </p:spPr>
      </p:sp>
      <p:sp>
        <p:nvSpPr>
          <p:cNvPr id="36" name="Shape 34"/>
          <p:cNvSpPr/>
          <p:nvPr/>
        </p:nvSpPr>
        <p:spPr>
          <a:xfrm>
            <a:off x="1325880" y="4160520"/>
            <a:ext cx="4389120" cy="91"/>
          </a:xfrm>
          <a:prstGeom prst="line">
            <a:avLst/>
          </a:prstGeom>
          <a:noFill/>
          <a:ln w="6350">
            <a:solidFill>
              <a:srgbClr val="C9D3E6"/>
            </a:solidFill>
            <a:prstDash val="solid"/>
          </a:ln>
        </p:spPr>
      </p:sp>
      <p:sp>
        <p:nvSpPr>
          <p:cNvPr id="37" name="Shape 35"/>
          <p:cNvSpPr/>
          <p:nvPr/>
        </p:nvSpPr>
        <p:spPr>
          <a:xfrm>
            <a:off x="1325880" y="3886200"/>
            <a:ext cx="4389120" cy="91"/>
          </a:xfrm>
          <a:prstGeom prst="line">
            <a:avLst/>
          </a:prstGeom>
          <a:noFill/>
          <a:ln w="6350">
            <a:solidFill>
              <a:srgbClr val="E6EBF4"/>
            </a:solidFill>
            <a:prstDash val="solid"/>
          </a:ln>
        </p:spPr>
      </p:sp>
      <p:sp>
        <p:nvSpPr>
          <p:cNvPr id="38" name="Shape 36"/>
          <p:cNvSpPr/>
          <p:nvPr/>
        </p:nvSpPr>
        <p:spPr>
          <a:xfrm>
            <a:off x="1325880" y="3611880"/>
            <a:ext cx="4389120" cy="91"/>
          </a:xfrm>
          <a:prstGeom prst="line">
            <a:avLst/>
          </a:prstGeom>
          <a:noFill/>
          <a:ln w="6350">
            <a:solidFill>
              <a:srgbClr val="C9D3E6"/>
            </a:solidFill>
            <a:prstDash val="solid"/>
          </a:ln>
        </p:spPr>
      </p:sp>
      <p:sp>
        <p:nvSpPr>
          <p:cNvPr id="39" name="Shape 37"/>
          <p:cNvSpPr/>
          <p:nvPr/>
        </p:nvSpPr>
        <p:spPr>
          <a:xfrm>
            <a:off x="1325880" y="3337560"/>
            <a:ext cx="4389120" cy="91"/>
          </a:xfrm>
          <a:prstGeom prst="line">
            <a:avLst/>
          </a:prstGeom>
          <a:noFill/>
          <a:ln w="6350">
            <a:solidFill>
              <a:srgbClr val="E6EBF4"/>
            </a:solidFill>
            <a:prstDash val="solid"/>
          </a:ln>
        </p:spPr>
      </p:sp>
      <p:sp>
        <p:nvSpPr>
          <p:cNvPr id="40" name="Shape 38"/>
          <p:cNvSpPr/>
          <p:nvPr/>
        </p:nvSpPr>
        <p:spPr>
          <a:xfrm>
            <a:off x="1325880" y="3063240"/>
            <a:ext cx="4389120" cy="91"/>
          </a:xfrm>
          <a:prstGeom prst="line">
            <a:avLst/>
          </a:prstGeom>
          <a:noFill/>
          <a:ln w="6350">
            <a:solidFill>
              <a:srgbClr val="C9D3E6"/>
            </a:solidFill>
            <a:prstDash val="solid"/>
          </a:ln>
        </p:spPr>
      </p:sp>
      <p:sp>
        <p:nvSpPr>
          <p:cNvPr id="41" name="Shape 39"/>
          <p:cNvSpPr/>
          <p:nvPr/>
        </p:nvSpPr>
        <p:spPr>
          <a:xfrm>
            <a:off x="1325880" y="2788920"/>
            <a:ext cx="4389120" cy="91"/>
          </a:xfrm>
          <a:prstGeom prst="line">
            <a:avLst/>
          </a:prstGeom>
          <a:noFill/>
          <a:ln w="6350">
            <a:solidFill>
              <a:srgbClr val="E6EBF4"/>
            </a:solidFill>
            <a:prstDash val="solid"/>
          </a:ln>
        </p:spPr>
      </p:sp>
      <p:sp>
        <p:nvSpPr>
          <p:cNvPr id="42" name="Shape 40"/>
          <p:cNvSpPr/>
          <p:nvPr/>
        </p:nvSpPr>
        <p:spPr>
          <a:xfrm>
            <a:off x="1325880" y="2514600"/>
            <a:ext cx="4389120" cy="91"/>
          </a:xfrm>
          <a:prstGeom prst="line">
            <a:avLst/>
          </a:prstGeom>
          <a:noFill/>
          <a:ln w="6350">
            <a:solidFill>
              <a:srgbClr val="C9D3E6"/>
            </a:solidFill>
            <a:prstDash val="solid"/>
          </a:ln>
        </p:spPr>
      </p:sp>
      <p:sp>
        <p:nvSpPr>
          <p:cNvPr id="43" name="Shape 41"/>
          <p:cNvSpPr/>
          <p:nvPr/>
        </p:nvSpPr>
        <p:spPr>
          <a:xfrm>
            <a:off x="1325880" y="2240280"/>
            <a:ext cx="4389120" cy="91"/>
          </a:xfrm>
          <a:prstGeom prst="line">
            <a:avLst/>
          </a:prstGeom>
          <a:noFill/>
          <a:ln w="6350">
            <a:solidFill>
              <a:srgbClr val="E6EBF4"/>
            </a:solidFill>
            <a:prstDash val="solid"/>
          </a:ln>
        </p:spPr>
      </p:sp>
      <p:sp>
        <p:nvSpPr>
          <p:cNvPr id="44" name="Shape 42"/>
          <p:cNvSpPr/>
          <p:nvPr/>
        </p:nvSpPr>
        <p:spPr>
          <a:xfrm>
            <a:off x="1325880" y="1965960"/>
            <a:ext cx="4389120" cy="91"/>
          </a:xfrm>
          <a:prstGeom prst="line">
            <a:avLst/>
          </a:prstGeom>
          <a:noFill/>
          <a:ln w="6350">
            <a:solidFill>
              <a:srgbClr val="C9D3E6"/>
            </a:solidFill>
            <a:prstDash val="solid"/>
          </a:ln>
        </p:spPr>
      </p:sp>
      <p:sp>
        <p:nvSpPr>
          <p:cNvPr id="45" name="Shape 43"/>
          <p:cNvSpPr/>
          <p:nvPr/>
        </p:nvSpPr>
        <p:spPr>
          <a:xfrm>
            <a:off x="1325880" y="1691640"/>
            <a:ext cx="4389120" cy="91"/>
          </a:xfrm>
          <a:prstGeom prst="line">
            <a:avLst/>
          </a:prstGeom>
          <a:noFill/>
          <a:ln w="6350">
            <a:solidFill>
              <a:srgbClr val="E6EBF4"/>
            </a:solidFill>
            <a:prstDash val="solid"/>
          </a:ln>
        </p:spPr>
      </p:sp>
      <p:sp>
        <p:nvSpPr>
          <p:cNvPr id="46" name="Shape 44"/>
          <p:cNvSpPr/>
          <p:nvPr/>
        </p:nvSpPr>
        <p:spPr>
          <a:xfrm>
            <a:off x="1325880" y="1417320"/>
            <a:ext cx="4389120" cy="91"/>
          </a:xfrm>
          <a:prstGeom prst="line">
            <a:avLst/>
          </a:prstGeom>
          <a:noFill/>
          <a:ln w="6350">
            <a:solidFill>
              <a:srgbClr val="C9D3E6"/>
            </a:solidFill>
            <a:prstDash val="solid"/>
          </a:ln>
        </p:spPr>
      </p:sp>
      <p:sp>
        <p:nvSpPr>
          <p:cNvPr id="47" name="Shape 45"/>
          <p:cNvSpPr/>
          <p:nvPr/>
        </p:nvSpPr>
        <p:spPr>
          <a:xfrm>
            <a:off x="1325880" y="4709160"/>
            <a:ext cx="4389120" cy="91"/>
          </a:xfrm>
          <a:prstGeom prst="line">
            <a:avLst/>
          </a:prstGeom>
          <a:noFill/>
          <a:ln w="19050">
            <a:solidFill>
              <a:srgbClr val="1A2340"/>
            </a:solidFill>
            <a:prstDash val="solid"/>
          </a:ln>
        </p:spPr>
      </p:sp>
      <p:sp>
        <p:nvSpPr>
          <p:cNvPr id="48" name="Shape 46"/>
          <p:cNvSpPr/>
          <p:nvPr/>
        </p:nvSpPr>
        <p:spPr>
          <a:xfrm flipV="1">
            <a:off x="1325880" y="1417320"/>
            <a:ext cx="91" cy="3291840"/>
          </a:xfrm>
          <a:prstGeom prst="line">
            <a:avLst/>
          </a:prstGeom>
          <a:noFill/>
          <a:ln w="19050">
            <a:solidFill>
              <a:srgbClr val="1A2340"/>
            </a:solidFill>
            <a:prstDash val="solid"/>
          </a:ln>
        </p:spPr>
      </p:sp>
      <p:sp>
        <p:nvSpPr>
          <p:cNvPr id="49" name="Shape 47"/>
          <p:cNvSpPr/>
          <p:nvPr/>
        </p:nvSpPr>
        <p:spPr>
          <a:xfrm>
            <a:off x="1325880" y="4709160"/>
            <a:ext cx="91" cy="54864"/>
          </a:xfrm>
          <a:prstGeom prst="line">
            <a:avLst/>
          </a:prstGeom>
          <a:noFill/>
          <a:ln w="12700">
            <a:solidFill>
              <a:srgbClr val="1A2340"/>
            </a:solidFill>
            <a:prstDash val="solid"/>
          </a:ln>
        </p:spPr>
      </p:sp>
      <p:sp>
        <p:nvSpPr>
          <p:cNvPr id="50" name="Text 48"/>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764792" y="4709160"/>
            <a:ext cx="91" cy="54864"/>
          </a:xfrm>
          <a:prstGeom prst="line">
            <a:avLst/>
          </a:prstGeom>
          <a:noFill/>
          <a:ln w="12700">
            <a:solidFill>
              <a:srgbClr val="1A2340"/>
            </a:solidFill>
            <a:prstDash val="solid"/>
          </a:ln>
        </p:spPr>
      </p:sp>
      <p:sp>
        <p:nvSpPr>
          <p:cNvPr id="52" name="Text 50"/>
          <p:cNvSpPr/>
          <p:nvPr/>
        </p:nvSpPr>
        <p:spPr>
          <a:xfrm>
            <a:off x="1490472"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53" name="Shape 51"/>
          <p:cNvSpPr/>
          <p:nvPr/>
        </p:nvSpPr>
        <p:spPr>
          <a:xfrm>
            <a:off x="2203704" y="4709160"/>
            <a:ext cx="91" cy="54864"/>
          </a:xfrm>
          <a:prstGeom prst="line">
            <a:avLst/>
          </a:prstGeom>
          <a:noFill/>
          <a:ln w="12700">
            <a:solidFill>
              <a:srgbClr val="1A2340"/>
            </a:solidFill>
            <a:prstDash val="solid"/>
          </a:ln>
        </p:spPr>
      </p:sp>
      <p:sp>
        <p:nvSpPr>
          <p:cNvPr id="54" name="Text 52"/>
          <p:cNvSpPr/>
          <p:nvPr/>
        </p:nvSpPr>
        <p:spPr>
          <a:xfrm>
            <a:off x="192938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2642616" y="4709160"/>
            <a:ext cx="91" cy="54864"/>
          </a:xfrm>
          <a:prstGeom prst="line">
            <a:avLst/>
          </a:prstGeom>
          <a:noFill/>
          <a:ln w="12700">
            <a:solidFill>
              <a:srgbClr val="1A2340"/>
            </a:solidFill>
            <a:prstDash val="solid"/>
          </a:ln>
        </p:spPr>
      </p:sp>
      <p:sp>
        <p:nvSpPr>
          <p:cNvPr id="56" name="Text 54"/>
          <p:cNvSpPr/>
          <p:nvPr/>
        </p:nvSpPr>
        <p:spPr>
          <a:xfrm>
            <a:off x="236829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7" name="Shape 55"/>
          <p:cNvSpPr/>
          <p:nvPr/>
        </p:nvSpPr>
        <p:spPr>
          <a:xfrm>
            <a:off x="3081528" y="4709160"/>
            <a:ext cx="91" cy="54864"/>
          </a:xfrm>
          <a:prstGeom prst="line">
            <a:avLst/>
          </a:prstGeom>
          <a:noFill/>
          <a:ln w="12700">
            <a:solidFill>
              <a:srgbClr val="1A2340"/>
            </a:solidFill>
            <a:prstDash val="solid"/>
          </a:ln>
        </p:spPr>
      </p:sp>
      <p:sp>
        <p:nvSpPr>
          <p:cNvPr id="58" name="Text 56"/>
          <p:cNvSpPr/>
          <p:nvPr/>
        </p:nvSpPr>
        <p:spPr>
          <a:xfrm>
            <a:off x="2807208"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9" name="Shape 57"/>
          <p:cNvSpPr/>
          <p:nvPr/>
        </p:nvSpPr>
        <p:spPr>
          <a:xfrm>
            <a:off x="3520440" y="4709160"/>
            <a:ext cx="91" cy="54864"/>
          </a:xfrm>
          <a:prstGeom prst="line">
            <a:avLst/>
          </a:prstGeom>
          <a:noFill/>
          <a:ln w="12700">
            <a:solidFill>
              <a:srgbClr val="1A2340"/>
            </a:solidFill>
            <a:prstDash val="solid"/>
          </a:ln>
        </p:spPr>
      </p:sp>
      <p:sp>
        <p:nvSpPr>
          <p:cNvPr id="60" name="Text 58"/>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61" name="Shape 59"/>
          <p:cNvSpPr/>
          <p:nvPr/>
        </p:nvSpPr>
        <p:spPr>
          <a:xfrm>
            <a:off x="3959352" y="4709160"/>
            <a:ext cx="91" cy="54864"/>
          </a:xfrm>
          <a:prstGeom prst="line">
            <a:avLst/>
          </a:prstGeom>
          <a:noFill/>
          <a:ln w="12700">
            <a:solidFill>
              <a:srgbClr val="1A2340"/>
            </a:solidFill>
            <a:prstDash val="solid"/>
          </a:ln>
        </p:spPr>
      </p:sp>
      <p:sp>
        <p:nvSpPr>
          <p:cNvPr id="62" name="Text 60"/>
          <p:cNvSpPr/>
          <p:nvPr/>
        </p:nvSpPr>
        <p:spPr>
          <a:xfrm>
            <a:off x="3685032"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3" name="Shape 61"/>
          <p:cNvSpPr/>
          <p:nvPr/>
        </p:nvSpPr>
        <p:spPr>
          <a:xfrm>
            <a:off x="4398264" y="4709160"/>
            <a:ext cx="91" cy="54864"/>
          </a:xfrm>
          <a:prstGeom prst="line">
            <a:avLst/>
          </a:prstGeom>
          <a:noFill/>
          <a:ln w="12700">
            <a:solidFill>
              <a:srgbClr val="1A2340"/>
            </a:solidFill>
            <a:prstDash val="solid"/>
          </a:ln>
        </p:spPr>
      </p:sp>
      <p:sp>
        <p:nvSpPr>
          <p:cNvPr id="64" name="Text 62"/>
          <p:cNvSpPr/>
          <p:nvPr/>
        </p:nvSpPr>
        <p:spPr>
          <a:xfrm>
            <a:off x="412394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65" name="Shape 63"/>
          <p:cNvSpPr/>
          <p:nvPr/>
        </p:nvSpPr>
        <p:spPr>
          <a:xfrm>
            <a:off x="4837176" y="4709160"/>
            <a:ext cx="91" cy="54864"/>
          </a:xfrm>
          <a:prstGeom prst="line">
            <a:avLst/>
          </a:prstGeom>
          <a:noFill/>
          <a:ln w="12700">
            <a:solidFill>
              <a:srgbClr val="1A2340"/>
            </a:solidFill>
            <a:prstDash val="solid"/>
          </a:ln>
        </p:spPr>
      </p:sp>
      <p:sp>
        <p:nvSpPr>
          <p:cNvPr id="66" name="Text 64"/>
          <p:cNvSpPr/>
          <p:nvPr/>
        </p:nvSpPr>
        <p:spPr>
          <a:xfrm>
            <a:off x="456285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7" name="Shape 65"/>
          <p:cNvSpPr/>
          <p:nvPr/>
        </p:nvSpPr>
        <p:spPr>
          <a:xfrm>
            <a:off x="5276088" y="4709160"/>
            <a:ext cx="91" cy="54864"/>
          </a:xfrm>
          <a:prstGeom prst="line">
            <a:avLst/>
          </a:prstGeom>
          <a:noFill/>
          <a:ln w="12700">
            <a:solidFill>
              <a:srgbClr val="1A2340"/>
            </a:solidFill>
            <a:prstDash val="solid"/>
          </a:ln>
        </p:spPr>
      </p:sp>
      <p:sp>
        <p:nvSpPr>
          <p:cNvPr id="68" name="Text 66"/>
          <p:cNvSpPr/>
          <p:nvPr/>
        </p:nvSpPr>
        <p:spPr>
          <a:xfrm>
            <a:off x="5001768"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69" name="Shape 67"/>
          <p:cNvSpPr/>
          <p:nvPr/>
        </p:nvSpPr>
        <p:spPr>
          <a:xfrm>
            <a:off x="5715000" y="4709160"/>
            <a:ext cx="91" cy="54864"/>
          </a:xfrm>
          <a:prstGeom prst="line">
            <a:avLst/>
          </a:prstGeom>
          <a:noFill/>
          <a:ln w="12700">
            <a:solidFill>
              <a:srgbClr val="1A2340"/>
            </a:solidFill>
            <a:prstDash val="solid"/>
          </a:ln>
        </p:spPr>
      </p:sp>
      <p:sp>
        <p:nvSpPr>
          <p:cNvPr id="70" name="Text 68"/>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71" name="Shape 69"/>
          <p:cNvSpPr/>
          <p:nvPr/>
        </p:nvSpPr>
        <p:spPr>
          <a:xfrm>
            <a:off x="1271016" y="4709160"/>
            <a:ext cx="54864" cy="91"/>
          </a:xfrm>
          <a:prstGeom prst="line">
            <a:avLst/>
          </a:prstGeom>
          <a:noFill/>
          <a:ln w="12700">
            <a:solidFill>
              <a:srgbClr val="1A2340"/>
            </a:solidFill>
            <a:prstDash val="solid"/>
          </a:ln>
        </p:spPr>
      </p:sp>
      <p:sp>
        <p:nvSpPr>
          <p:cNvPr id="72" name="Text 70"/>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3" name="Shape 71"/>
          <p:cNvSpPr/>
          <p:nvPr/>
        </p:nvSpPr>
        <p:spPr>
          <a:xfrm>
            <a:off x="1271016" y="4160520"/>
            <a:ext cx="54864" cy="91"/>
          </a:xfrm>
          <a:prstGeom prst="line">
            <a:avLst/>
          </a:prstGeom>
          <a:noFill/>
          <a:ln w="12700">
            <a:solidFill>
              <a:srgbClr val="1A2340"/>
            </a:solidFill>
            <a:prstDash val="solid"/>
          </a:ln>
        </p:spPr>
      </p:sp>
      <p:sp>
        <p:nvSpPr>
          <p:cNvPr id="74" name="Text 72"/>
          <p:cNvSpPr/>
          <p:nvPr/>
        </p:nvSpPr>
        <p:spPr>
          <a:xfrm>
            <a:off x="886968" y="4069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5" name="Shape 73"/>
          <p:cNvSpPr/>
          <p:nvPr/>
        </p:nvSpPr>
        <p:spPr>
          <a:xfrm>
            <a:off x="1271016" y="3611880"/>
            <a:ext cx="54864" cy="91"/>
          </a:xfrm>
          <a:prstGeom prst="line">
            <a:avLst/>
          </a:prstGeom>
          <a:noFill/>
          <a:ln w="12700">
            <a:solidFill>
              <a:srgbClr val="1A2340"/>
            </a:solidFill>
            <a:prstDash val="solid"/>
          </a:ln>
        </p:spPr>
      </p:sp>
      <p:sp>
        <p:nvSpPr>
          <p:cNvPr id="76" name="Text 74"/>
          <p:cNvSpPr/>
          <p:nvPr/>
        </p:nvSpPr>
        <p:spPr>
          <a:xfrm>
            <a:off x="886968" y="3520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7" name="Shape 75"/>
          <p:cNvSpPr/>
          <p:nvPr/>
        </p:nvSpPr>
        <p:spPr>
          <a:xfrm>
            <a:off x="1271016" y="3063240"/>
            <a:ext cx="54864" cy="91"/>
          </a:xfrm>
          <a:prstGeom prst="line">
            <a:avLst/>
          </a:prstGeom>
          <a:noFill/>
          <a:ln w="12700">
            <a:solidFill>
              <a:srgbClr val="1A2340"/>
            </a:solidFill>
            <a:prstDash val="solid"/>
          </a:ln>
        </p:spPr>
      </p:sp>
      <p:sp>
        <p:nvSpPr>
          <p:cNvPr id="78" name="Text 76"/>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9" name="Shape 77"/>
          <p:cNvSpPr/>
          <p:nvPr/>
        </p:nvSpPr>
        <p:spPr>
          <a:xfrm>
            <a:off x="1271016" y="2514600"/>
            <a:ext cx="54864" cy="91"/>
          </a:xfrm>
          <a:prstGeom prst="line">
            <a:avLst/>
          </a:prstGeom>
          <a:noFill/>
          <a:ln w="12700">
            <a:solidFill>
              <a:srgbClr val="1A2340"/>
            </a:solidFill>
            <a:prstDash val="solid"/>
          </a:ln>
        </p:spPr>
      </p:sp>
      <p:sp>
        <p:nvSpPr>
          <p:cNvPr id="80" name="Text 78"/>
          <p:cNvSpPr/>
          <p:nvPr/>
        </p:nvSpPr>
        <p:spPr>
          <a:xfrm>
            <a:off x="88696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81" name="Shape 79"/>
          <p:cNvSpPr/>
          <p:nvPr/>
        </p:nvSpPr>
        <p:spPr>
          <a:xfrm>
            <a:off x="1271016" y="1965960"/>
            <a:ext cx="54864" cy="91"/>
          </a:xfrm>
          <a:prstGeom prst="line">
            <a:avLst/>
          </a:prstGeom>
          <a:noFill/>
          <a:ln w="12700">
            <a:solidFill>
              <a:srgbClr val="1A2340"/>
            </a:solidFill>
            <a:prstDash val="solid"/>
          </a:ln>
        </p:spPr>
      </p:sp>
      <p:sp>
        <p:nvSpPr>
          <p:cNvPr id="82" name="Text 80"/>
          <p:cNvSpPr/>
          <p:nvPr/>
        </p:nvSpPr>
        <p:spPr>
          <a:xfrm>
            <a:off x="886968" y="1874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3" name="Shape 81"/>
          <p:cNvSpPr/>
          <p:nvPr/>
        </p:nvSpPr>
        <p:spPr>
          <a:xfrm>
            <a:off x="1271016" y="1417320"/>
            <a:ext cx="54864" cy="91"/>
          </a:xfrm>
          <a:prstGeom prst="line">
            <a:avLst/>
          </a:prstGeom>
          <a:noFill/>
          <a:ln w="12700">
            <a:solidFill>
              <a:srgbClr val="1A2340"/>
            </a:solidFill>
            <a:prstDash val="solid"/>
          </a:ln>
        </p:spPr>
      </p:sp>
      <p:sp>
        <p:nvSpPr>
          <p:cNvPr id="84" name="Text 82"/>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85" name="Text 83"/>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throw number</a:t>
            </a:r>
            <a:endParaRPr lang="en-US" sz="1050" dirty="0"/>
          </a:p>
        </p:txBody>
      </p:sp>
      <p:sp>
        <p:nvSpPr>
          <p:cNvPr id="86" name="Text 84"/>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number of dice left</a:t>
            </a:r>
            <a:endParaRPr lang="en-US" sz="1050" dirty="0"/>
          </a:p>
        </p:txBody>
      </p:sp>
      <p:sp>
        <p:nvSpPr>
          <p:cNvPr id="87" name="Shape 85"/>
          <p:cNvSpPr/>
          <p:nvPr/>
        </p:nvSpPr>
        <p:spPr>
          <a:xfrm>
            <a:off x="1325880" y="1417320"/>
            <a:ext cx="87782" cy="117873"/>
          </a:xfrm>
          <a:prstGeom prst="line">
            <a:avLst/>
          </a:prstGeom>
          <a:noFill/>
          <a:ln w="25400">
            <a:solidFill>
              <a:srgbClr val="2E5BD8"/>
            </a:solidFill>
            <a:prstDash val="solid"/>
          </a:ln>
        </p:spPr>
      </p:sp>
      <p:sp>
        <p:nvSpPr>
          <p:cNvPr id="88" name="Shape 86"/>
          <p:cNvSpPr/>
          <p:nvPr/>
        </p:nvSpPr>
        <p:spPr>
          <a:xfrm>
            <a:off x="1413662" y="1535193"/>
            <a:ext cx="87782" cy="113652"/>
          </a:xfrm>
          <a:prstGeom prst="line">
            <a:avLst/>
          </a:prstGeom>
          <a:noFill/>
          <a:ln w="25400">
            <a:solidFill>
              <a:srgbClr val="2E5BD8"/>
            </a:solidFill>
            <a:prstDash val="solid"/>
          </a:ln>
        </p:spPr>
      </p:sp>
      <p:sp>
        <p:nvSpPr>
          <p:cNvPr id="89" name="Shape 87"/>
          <p:cNvSpPr/>
          <p:nvPr/>
        </p:nvSpPr>
        <p:spPr>
          <a:xfrm>
            <a:off x="1501445" y="1648844"/>
            <a:ext cx="87782" cy="109582"/>
          </a:xfrm>
          <a:prstGeom prst="line">
            <a:avLst/>
          </a:prstGeom>
          <a:noFill/>
          <a:ln w="25400">
            <a:solidFill>
              <a:srgbClr val="2E5BD8"/>
            </a:solidFill>
            <a:prstDash val="solid"/>
          </a:ln>
        </p:spPr>
      </p:sp>
      <p:sp>
        <p:nvSpPr>
          <p:cNvPr id="90" name="Shape 88"/>
          <p:cNvSpPr/>
          <p:nvPr/>
        </p:nvSpPr>
        <p:spPr>
          <a:xfrm>
            <a:off x="1589227" y="1758427"/>
            <a:ext cx="87782" cy="105658"/>
          </a:xfrm>
          <a:prstGeom prst="line">
            <a:avLst/>
          </a:prstGeom>
          <a:noFill/>
          <a:ln w="25400">
            <a:solidFill>
              <a:srgbClr val="2E5BD8"/>
            </a:solidFill>
            <a:prstDash val="solid"/>
          </a:ln>
        </p:spPr>
      </p:sp>
      <p:sp>
        <p:nvSpPr>
          <p:cNvPr id="91" name="Shape 89"/>
          <p:cNvSpPr/>
          <p:nvPr/>
        </p:nvSpPr>
        <p:spPr>
          <a:xfrm>
            <a:off x="1677010" y="1864085"/>
            <a:ext cx="87782" cy="101875"/>
          </a:xfrm>
          <a:prstGeom prst="line">
            <a:avLst/>
          </a:prstGeom>
          <a:noFill/>
          <a:ln w="25400">
            <a:solidFill>
              <a:srgbClr val="2E5BD8"/>
            </a:solidFill>
            <a:prstDash val="solid"/>
          </a:ln>
        </p:spPr>
      </p:sp>
      <p:sp>
        <p:nvSpPr>
          <p:cNvPr id="92" name="Shape 90"/>
          <p:cNvSpPr/>
          <p:nvPr/>
        </p:nvSpPr>
        <p:spPr>
          <a:xfrm>
            <a:off x="1764792" y="1965960"/>
            <a:ext cx="87782" cy="98227"/>
          </a:xfrm>
          <a:prstGeom prst="line">
            <a:avLst/>
          </a:prstGeom>
          <a:noFill/>
          <a:ln w="25400">
            <a:solidFill>
              <a:srgbClr val="2E5BD8"/>
            </a:solidFill>
            <a:prstDash val="solid"/>
          </a:ln>
        </p:spPr>
      </p:sp>
      <p:sp>
        <p:nvSpPr>
          <p:cNvPr id="93" name="Shape 91"/>
          <p:cNvSpPr/>
          <p:nvPr/>
        </p:nvSpPr>
        <p:spPr>
          <a:xfrm>
            <a:off x="1852574" y="2064187"/>
            <a:ext cx="87782" cy="94710"/>
          </a:xfrm>
          <a:prstGeom prst="line">
            <a:avLst/>
          </a:prstGeom>
          <a:noFill/>
          <a:ln w="25400">
            <a:solidFill>
              <a:srgbClr val="2E5BD8"/>
            </a:solidFill>
            <a:prstDash val="solid"/>
          </a:ln>
        </p:spPr>
      </p:sp>
      <p:sp>
        <p:nvSpPr>
          <p:cNvPr id="94" name="Shape 92"/>
          <p:cNvSpPr/>
          <p:nvPr/>
        </p:nvSpPr>
        <p:spPr>
          <a:xfrm>
            <a:off x="1940357" y="2158897"/>
            <a:ext cx="87782" cy="91319"/>
          </a:xfrm>
          <a:prstGeom prst="line">
            <a:avLst/>
          </a:prstGeom>
          <a:noFill/>
          <a:ln w="25400">
            <a:solidFill>
              <a:srgbClr val="2E5BD8"/>
            </a:solidFill>
            <a:prstDash val="solid"/>
          </a:ln>
        </p:spPr>
      </p:sp>
      <p:sp>
        <p:nvSpPr>
          <p:cNvPr id="95" name="Shape 93"/>
          <p:cNvSpPr/>
          <p:nvPr/>
        </p:nvSpPr>
        <p:spPr>
          <a:xfrm>
            <a:off x="2028139" y="2250216"/>
            <a:ext cx="87782" cy="88049"/>
          </a:xfrm>
          <a:prstGeom prst="line">
            <a:avLst/>
          </a:prstGeom>
          <a:noFill/>
          <a:ln w="25400">
            <a:solidFill>
              <a:srgbClr val="2E5BD8"/>
            </a:solidFill>
            <a:prstDash val="solid"/>
          </a:ln>
        </p:spPr>
      </p:sp>
      <p:sp>
        <p:nvSpPr>
          <p:cNvPr id="96" name="Shape 94"/>
          <p:cNvSpPr/>
          <p:nvPr/>
        </p:nvSpPr>
        <p:spPr>
          <a:xfrm>
            <a:off x="2115922" y="2338264"/>
            <a:ext cx="87782" cy="84896"/>
          </a:xfrm>
          <a:prstGeom prst="line">
            <a:avLst/>
          </a:prstGeom>
          <a:noFill/>
          <a:ln w="25400">
            <a:solidFill>
              <a:srgbClr val="2E5BD8"/>
            </a:solidFill>
            <a:prstDash val="solid"/>
          </a:ln>
        </p:spPr>
      </p:sp>
      <p:sp>
        <p:nvSpPr>
          <p:cNvPr id="97" name="Shape 95"/>
          <p:cNvSpPr/>
          <p:nvPr/>
        </p:nvSpPr>
        <p:spPr>
          <a:xfrm>
            <a:off x="2203704" y="2423160"/>
            <a:ext cx="87782" cy="81856"/>
          </a:xfrm>
          <a:prstGeom prst="line">
            <a:avLst/>
          </a:prstGeom>
          <a:noFill/>
          <a:ln w="25400">
            <a:solidFill>
              <a:srgbClr val="2E5BD8"/>
            </a:solidFill>
            <a:prstDash val="solid"/>
          </a:ln>
        </p:spPr>
      </p:sp>
      <p:sp>
        <p:nvSpPr>
          <p:cNvPr id="98" name="Shape 96"/>
          <p:cNvSpPr/>
          <p:nvPr/>
        </p:nvSpPr>
        <p:spPr>
          <a:xfrm>
            <a:off x="2291486" y="2505016"/>
            <a:ext cx="87782" cy="78925"/>
          </a:xfrm>
          <a:prstGeom prst="line">
            <a:avLst/>
          </a:prstGeom>
          <a:noFill/>
          <a:ln w="25400">
            <a:solidFill>
              <a:srgbClr val="2E5BD8"/>
            </a:solidFill>
            <a:prstDash val="solid"/>
          </a:ln>
        </p:spPr>
      </p:sp>
      <p:sp>
        <p:nvSpPr>
          <p:cNvPr id="99" name="Shape 97"/>
          <p:cNvSpPr/>
          <p:nvPr/>
        </p:nvSpPr>
        <p:spPr>
          <a:xfrm>
            <a:off x="2379269" y="2583941"/>
            <a:ext cx="87782" cy="76099"/>
          </a:xfrm>
          <a:prstGeom prst="line">
            <a:avLst/>
          </a:prstGeom>
          <a:noFill/>
          <a:ln w="25400">
            <a:solidFill>
              <a:srgbClr val="2E5BD8"/>
            </a:solidFill>
            <a:prstDash val="solid"/>
          </a:ln>
        </p:spPr>
      </p:sp>
      <p:sp>
        <p:nvSpPr>
          <p:cNvPr id="100" name="Shape 98"/>
          <p:cNvSpPr/>
          <p:nvPr/>
        </p:nvSpPr>
        <p:spPr>
          <a:xfrm>
            <a:off x="2467051" y="2660040"/>
            <a:ext cx="87782" cy="73374"/>
          </a:xfrm>
          <a:prstGeom prst="line">
            <a:avLst/>
          </a:prstGeom>
          <a:noFill/>
          <a:ln w="25400">
            <a:solidFill>
              <a:srgbClr val="2E5BD8"/>
            </a:solidFill>
            <a:prstDash val="solid"/>
          </a:ln>
        </p:spPr>
      </p:sp>
      <p:sp>
        <p:nvSpPr>
          <p:cNvPr id="101" name="Shape 99"/>
          <p:cNvSpPr/>
          <p:nvPr/>
        </p:nvSpPr>
        <p:spPr>
          <a:xfrm>
            <a:off x="2554834" y="2733413"/>
            <a:ext cx="87782" cy="70747"/>
          </a:xfrm>
          <a:prstGeom prst="line">
            <a:avLst/>
          </a:prstGeom>
          <a:noFill/>
          <a:ln w="25400">
            <a:solidFill>
              <a:srgbClr val="2E5BD8"/>
            </a:solidFill>
            <a:prstDash val="solid"/>
          </a:ln>
        </p:spPr>
      </p:sp>
      <p:sp>
        <p:nvSpPr>
          <p:cNvPr id="102" name="Shape 100"/>
          <p:cNvSpPr/>
          <p:nvPr/>
        </p:nvSpPr>
        <p:spPr>
          <a:xfrm>
            <a:off x="2642616" y="2804160"/>
            <a:ext cx="87782" cy="68213"/>
          </a:xfrm>
          <a:prstGeom prst="line">
            <a:avLst/>
          </a:prstGeom>
          <a:noFill/>
          <a:ln w="25400">
            <a:solidFill>
              <a:srgbClr val="2E5BD8"/>
            </a:solidFill>
            <a:prstDash val="solid"/>
          </a:ln>
        </p:spPr>
      </p:sp>
      <p:sp>
        <p:nvSpPr>
          <p:cNvPr id="103" name="Shape 101"/>
          <p:cNvSpPr/>
          <p:nvPr/>
        </p:nvSpPr>
        <p:spPr>
          <a:xfrm>
            <a:off x="2730398" y="2872373"/>
            <a:ext cx="87782" cy="65771"/>
          </a:xfrm>
          <a:prstGeom prst="line">
            <a:avLst/>
          </a:prstGeom>
          <a:noFill/>
          <a:ln w="25400">
            <a:solidFill>
              <a:srgbClr val="2E5BD8"/>
            </a:solidFill>
            <a:prstDash val="solid"/>
          </a:ln>
        </p:spPr>
      </p:sp>
      <p:sp>
        <p:nvSpPr>
          <p:cNvPr id="104" name="Shape 102"/>
          <p:cNvSpPr/>
          <p:nvPr/>
        </p:nvSpPr>
        <p:spPr>
          <a:xfrm>
            <a:off x="2818181" y="2938144"/>
            <a:ext cx="87782" cy="63416"/>
          </a:xfrm>
          <a:prstGeom prst="line">
            <a:avLst/>
          </a:prstGeom>
          <a:noFill/>
          <a:ln w="25400">
            <a:solidFill>
              <a:srgbClr val="2E5BD8"/>
            </a:solidFill>
            <a:prstDash val="solid"/>
          </a:ln>
        </p:spPr>
      </p:sp>
      <p:sp>
        <p:nvSpPr>
          <p:cNvPr id="105" name="Shape 103"/>
          <p:cNvSpPr/>
          <p:nvPr/>
        </p:nvSpPr>
        <p:spPr>
          <a:xfrm>
            <a:off x="2905963" y="3001560"/>
            <a:ext cx="87782" cy="61145"/>
          </a:xfrm>
          <a:prstGeom prst="line">
            <a:avLst/>
          </a:prstGeom>
          <a:noFill/>
          <a:ln w="25400">
            <a:solidFill>
              <a:srgbClr val="2E5BD8"/>
            </a:solidFill>
            <a:prstDash val="solid"/>
          </a:ln>
        </p:spPr>
      </p:sp>
      <p:sp>
        <p:nvSpPr>
          <p:cNvPr id="106" name="Shape 104"/>
          <p:cNvSpPr/>
          <p:nvPr/>
        </p:nvSpPr>
        <p:spPr>
          <a:xfrm>
            <a:off x="2993746" y="3062705"/>
            <a:ext cx="87782" cy="58955"/>
          </a:xfrm>
          <a:prstGeom prst="line">
            <a:avLst/>
          </a:prstGeom>
          <a:noFill/>
          <a:ln w="25400">
            <a:solidFill>
              <a:srgbClr val="2E5BD8"/>
            </a:solidFill>
            <a:prstDash val="solid"/>
          </a:ln>
        </p:spPr>
      </p:sp>
      <p:sp>
        <p:nvSpPr>
          <p:cNvPr id="107" name="Shape 105"/>
          <p:cNvSpPr/>
          <p:nvPr/>
        </p:nvSpPr>
        <p:spPr>
          <a:xfrm>
            <a:off x="3081528" y="3121660"/>
            <a:ext cx="87782" cy="56844"/>
          </a:xfrm>
          <a:prstGeom prst="line">
            <a:avLst/>
          </a:prstGeom>
          <a:noFill/>
          <a:ln w="25400">
            <a:solidFill>
              <a:srgbClr val="2E5BD8"/>
            </a:solidFill>
            <a:prstDash val="solid"/>
          </a:ln>
        </p:spPr>
      </p:sp>
      <p:sp>
        <p:nvSpPr>
          <p:cNvPr id="108" name="Shape 106"/>
          <p:cNvSpPr/>
          <p:nvPr/>
        </p:nvSpPr>
        <p:spPr>
          <a:xfrm>
            <a:off x="3169310" y="3178504"/>
            <a:ext cx="87782" cy="54809"/>
          </a:xfrm>
          <a:prstGeom prst="line">
            <a:avLst/>
          </a:prstGeom>
          <a:noFill/>
          <a:ln w="25400">
            <a:solidFill>
              <a:srgbClr val="2E5BD8"/>
            </a:solidFill>
            <a:prstDash val="solid"/>
          </a:ln>
        </p:spPr>
      </p:sp>
      <p:sp>
        <p:nvSpPr>
          <p:cNvPr id="109" name="Shape 107"/>
          <p:cNvSpPr/>
          <p:nvPr/>
        </p:nvSpPr>
        <p:spPr>
          <a:xfrm>
            <a:off x="3257093" y="3233313"/>
            <a:ext cx="87782" cy="52846"/>
          </a:xfrm>
          <a:prstGeom prst="line">
            <a:avLst/>
          </a:prstGeom>
          <a:noFill/>
          <a:ln w="25400">
            <a:solidFill>
              <a:srgbClr val="2E5BD8"/>
            </a:solidFill>
            <a:prstDash val="solid"/>
          </a:ln>
        </p:spPr>
      </p:sp>
      <p:sp>
        <p:nvSpPr>
          <p:cNvPr id="110" name="Shape 108"/>
          <p:cNvSpPr/>
          <p:nvPr/>
        </p:nvSpPr>
        <p:spPr>
          <a:xfrm>
            <a:off x="3344875" y="3286160"/>
            <a:ext cx="87782" cy="50954"/>
          </a:xfrm>
          <a:prstGeom prst="line">
            <a:avLst/>
          </a:prstGeom>
          <a:noFill/>
          <a:ln w="25400">
            <a:solidFill>
              <a:srgbClr val="2E5BD8"/>
            </a:solidFill>
            <a:prstDash val="solid"/>
          </a:ln>
        </p:spPr>
      </p:sp>
      <p:sp>
        <p:nvSpPr>
          <p:cNvPr id="111" name="Shape 109"/>
          <p:cNvSpPr/>
          <p:nvPr/>
        </p:nvSpPr>
        <p:spPr>
          <a:xfrm>
            <a:off x="3432658" y="3337114"/>
            <a:ext cx="87782" cy="49130"/>
          </a:xfrm>
          <a:prstGeom prst="line">
            <a:avLst/>
          </a:prstGeom>
          <a:noFill/>
          <a:ln w="25400">
            <a:solidFill>
              <a:srgbClr val="2E5BD8"/>
            </a:solidFill>
            <a:prstDash val="solid"/>
          </a:ln>
        </p:spPr>
      </p:sp>
      <p:sp>
        <p:nvSpPr>
          <p:cNvPr id="112" name="Shape 110"/>
          <p:cNvSpPr/>
          <p:nvPr/>
        </p:nvSpPr>
        <p:spPr>
          <a:xfrm>
            <a:off x="3520440" y="3386243"/>
            <a:ext cx="87782" cy="47370"/>
          </a:xfrm>
          <a:prstGeom prst="line">
            <a:avLst/>
          </a:prstGeom>
          <a:noFill/>
          <a:ln w="25400">
            <a:solidFill>
              <a:srgbClr val="2E5BD8"/>
            </a:solidFill>
            <a:prstDash val="solid"/>
          </a:ln>
        </p:spPr>
      </p:sp>
      <p:sp>
        <p:nvSpPr>
          <p:cNvPr id="113" name="Shape 111"/>
          <p:cNvSpPr/>
          <p:nvPr/>
        </p:nvSpPr>
        <p:spPr>
          <a:xfrm>
            <a:off x="3608222" y="3433614"/>
            <a:ext cx="87782" cy="45674"/>
          </a:xfrm>
          <a:prstGeom prst="line">
            <a:avLst/>
          </a:prstGeom>
          <a:noFill/>
          <a:ln w="25400">
            <a:solidFill>
              <a:srgbClr val="2E5BD8"/>
            </a:solidFill>
            <a:prstDash val="solid"/>
          </a:ln>
        </p:spPr>
      </p:sp>
      <p:sp>
        <p:nvSpPr>
          <p:cNvPr id="114" name="Shape 112"/>
          <p:cNvSpPr/>
          <p:nvPr/>
        </p:nvSpPr>
        <p:spPr>
          <a:xfrm>
            <a:off x="3696005" y="3479288"/>
            <a:ext cx="87782" cy="44039"/>
          </a:xfrm>
          <a:prstGeom prst="line">
            <a:avLst/>
          </a:prstGeom>
          <a:noFill/>
          <a:ln w="25400">
            <a:solidFill>
              <a:srgbClr val="2E5BD8"/>
            </a:solidFill>
            <a:prstDash val="solid"/>
          </a:ln>
        </p:spPr>
      </p:sp>
      <p:sp>
        <p:nvSpPr>
          <p:cNvPr id="115" name="Shape 113"/>
          <p:cNvSpPr/>
          <p:nvPr/>
        </p:nvSpPr>
        <p:spPr>
          <a:xfrm>
            <a:off x="3783787" y="3523326"/>
            <a:ext cx="87782" cy="42462"/>
          </a:xfrm>
          <a:prstGeom prst="line">
            <a:avLst/>
          </a:prstGeom>
          <a:noFill/>
          <a:ln w="25400">
            <a:solidFill>
              <a:srgbClr val="2E5BD8"/>
            </a:solidFill>
            <a:prstDash val="solid"/>
          </a:ln>
        </p:spPr>
      </p:sp>
      <p:sp>
        <p:nvSpPr>
          <p:cNvPr id="116" name="Shape 114"/>
          <p:cNvSpPr/>
          <p:nvPr/>
        </p:nvSpPr>
        <p:spPr>
          <a:xfrm>
            <a:off x="3871570" y="3565788"/>
            <a:ext cx="87782" cy="40941"/>
          </a:xfrm>
          <a:prstGeom prst="line">
            <a:avLst/>
          </a:prstGeom>
          <a:noFill/>
          <a:ln w="25400">
            <a:solidFill>
              <a:srgbClr val="2E5BD8"/>
            </a:solidFill>
            <a:prstDash val="solid"/>
          </a:ln>
        </p:spPr>
      </p:sp>
      <p:sp>
        <p:nvSpPr>
          <p:cNvPr id="117" name="Shape 115"/>
          <p:cNvSpPr/>
          <p:nvPr/>
        </p:nvSpPr>
        <p:spPr>
          <a:xfrm>
            <a:off x="3959352" y="3606729"/>
            <a:ext cx="87782" cy="39475"/>
          </a:xfrm>
          <a:prstGeom prst="line">
            <a:avLst/>
          </a:prstGeom>
          <a:noFill/>
          <a:ln w="25400">
            <a:solidFill>
              <a:srgbClr val="2E5BD8"/>
            </a:solidFill>
            <a:prstDash val="solid"/>
          </a:ln>
        </p:spPr>
      </p:sp>
      <p:sp>
        <p:nvSpPr>
          <p:cNvPr id="118" name="Shape 116"/>
          <p:cNvSpPr/>
          <p:nvPr/>
        </p:nvSpPr>
        <p:spPr>
          <a:xfrm>
            <a:off x="4047134" y="3646205"/>
            <a:ext cx="87782" cy="38062"/>
          </a:xfrm>
          <a:prstGeom prst="line">
            <a:avLst/>
          </a:prstGeom>
          <a:noFill/>
          <a:ln w="25400">
            <a:solidFill>
              <a:srgbClr val="2E5BD8"/>
            </a:solidFill>
            <a:prstDash val="solid"/>
          </a:ln>
        </p:spPr>
      </p:sp>
      <p:sp>
        <p:nvSpPr>
          <p:cNvPr id="119" name="Shape 117"/>
          <p:cNvSpPr/>
          <p:nvPr/>
        </p:nvSpPr>
        <p:spPr>
          <a:xfrm>
            <a:off x="4134917" y="3684266"/>
            <a:ext cx="87782" cy="36699"/>
          </a:xfrm>
          <a:prstGeom prst="line">
            <a:avLst/>
          </a:prstGeom>
          <a:noFill/>
          <a:ln w="25400">
            <a:solidFill>
              <a:srgbClr val="2E5BD8"/>
            </a:solidFill>
            <a:prstDash val="solid"/>
          </a:ln>
        </p:spPr>
      </p:sp>
      <p:sp>
        <p:nvSpPr>
          <p:cNvPr id="120" name="Shape 118"/>
          <p:cNvSpPr/>
          <p:nvPr/>
        </p:nvSpPr>
        <p:spPr>
          <a:xfrm>
            <a:off x="4222699" y="3720965"/>
            <a:ext cx="87782" cy="35385"/>
          </a:xfrm>
          <a:prstGeom prst="line">
            <a:avLst/>
          </a:prstGeom>
          <a:noFill/>
          <a:ln w="25400">
            <a:solidFill>
              <a:srgbClr val="2E5BD8"/>
            </a:solidFill>
            <a:prstDash val="solid"/>
          </a:ln>
        </p:spPr>
      </p:sp>
      <p:sp>
        <p:nvSpPr>
          <p:cNvPr id="121" name="Shape 119"/>
          <p:cNvSpPr/>
          <p:nvPr/>
        </p:nvSpPr>
        <p:spPr>
          <a:xfrm>
            <a:off x="4310482" y="3756350"/>
            <a:ext cx="87782" cy="34118"/>
          </a:xfrm>
          <a:prstGeom prst="line">
            <a:avLst/>
          </a:prstGeom>
          <a:noFill/>
          <a:ln w="25400">
            <a:solidFill>
              <a:srgbClr val="2E5BD8"/>
            </a:solidFill>
            <a:prstDash val="solid"/>
          </a:ln>
        </p:spPr>
      </p:sp>
      <p:sp>
        <p:nvSpPr>
          <p:cNvPr id="122" name="Shape 120"/>
          <p:cNvSpPr/>
          <p:nvPr/>
        </p:nvSpPr>
        <p:spPr>
          <a:xfrm>
            <a:off x="4398264" y="3790468"/>
            <a:ext cx="87782" cy="32896"/>
          </a:xfrm>
          <a:prstGeom prst="line">
            <a:avLst/>
          </a:prstGeom>
          <a:noFill/>
          <a:ln w="25400">
            <a:solidFill>
              <a:srgbClr val="2E5BD8"/>
            </a:solidFill>
            <a:prstDash val="solid"/>
          </a:ln>
        </p:spPr>
      </p:sp>
      <p:sp>
        <p:nvSpPr>
          <p:cNvPr id="123" name="Shape 121"/>
          <p:cNvSpPr/>
          <p:nvPr/>
        </p:nvSpPr>
        <p:spPr>
          <a:xfrm>
            <a:off x="4486046" y="3823364"/>
            <a:ext cx="87782" cy="31718"/>
          </a:xfrm>
          <a:prstGeom prst="line">
            <a:avLst/>
          </a:prstGeom>
          <a:noFill/>
          <a:ln w="25400">
            <a:solidFill>
              <a:srgbClr val="2E5BD8"/>
            </a:solidFill>
            <a:prstDash val="solid"/>
          </a:ln>
        </p:spPr>
      </p:sp>
      <p:sp>
        <p:nvSpPr>
          <p:cNvPr id="124" name="Shape 122"/>
          <p:cNvSpPr/>
          <p:nvPr/>
        </p:nvSpPr>
        <p:spPr>
          <a:xfrm>
            <a:off x="4573829" y="3855082"/>
            <a:ext cx="87782" cy="30582"/>
          </a:xfrm>
          <a:prstGeom prst="line">
            <a:avLst/>
          </a:prstGeom>
          <a:noFill/>
          <a:ln w="25400">
            <a:solidFill>
              <a:srgbClr val="2E5BD8"/>
            </a:solidFill>
            <a:prstDash val="solid"/>
          </a:ln>
        </p:spPr>
      </p:sp>
      <p:sp>
        <p:nvSpPr>
          <p:cNvPr id="125" name="Shape 123"/>
          <p:cNvSpPr/>
          <p:nvPr/>
        </p:nvSpPr>
        <p:spPr>
          <a:xfrm>
            <a:off x="4661611" y="3885664"/>
            <a:ext cx="87782" cy="29487"/>
          </a:xfrm>
          <a:prstGeom prst="line">
            <a:avLst/>
          </a:prstGeom>
          <a:noFill/>
          <a:ln w="25400">
            <a:solidFill>
              <a:srgbClr val="2E5BD8"/>
            </a:solidFill>
            <a:prstDash val="solid"/>
          </a:ln>
        </p:spPr>
      </p:sp>
      <p:sp>
        <p:nvSpPr>
          <p:cNvPr id="126" name="Shape 124"/>
          <p:cNvSpPr/>
          <p:nvPr/>
        </p:nvSpPr>
        <p:spPr>
          <a:xfrm>
            <a:off x="4749394" y="3915152"/>
            <a:ext cx="87782" cy="28431"/>
          </a:xfrm>
          <a:prstGeom prst="line">
            <a:avLst/>
          </a:prstGeom>
          <a:noFill/>
          <a:ln w="25400">
            <a:solidFill>
              <a:srgbClr val="2E5BD8"/>
            </a:solidFill>
            <a:prstDash val="solid"/>
          </a:ln>
        </p:spPr>
      </p:sp>
      <p:sp>
        <p:nvSpPr>
          <p:cNvPr id="127" name="Shape 125"/>
          <p:cNvSpPr/>
          <p:nvPr/>
        </p:nvSpPr>
        <p:spPr>
          <a:xfrm>
            <a:off x="4837176" y="3943583"/>
            <a:ext cx="87782" cy="27413"/>
          </a:xfrm>
          <a:prstGeom prst="line">
            <a:avLst/>
          </a:prstGeom>
          <a:noFill/>
          <a:ln w="25400">
            <a:solidFill>
              <a:srgbClr val="2E5BD8"/>
            </a:solidFill>
            <a:prstDash val="solid"/>
          </a:ln>
        </p:spPr>
      </p:sp>
      <p:sp>
        <p:nvSpPr>
          <p:cNvPr id="128" name="Shape 126"/>
          <p:cNvSpPr/>
          <p:nvPr/>
        </p:nvSpPr>
        <p:spPr>
          <a:xfrm>
            <a:off x="4924958" y="3970997"/>
            <a:ext cx="87782" cy="26432"/>
          </a:xfrm>
          <a:prstGeom prst="line">
            <a:avLst/>
          </a:prstGeom>
          <a:noFill/>
          <a:ln w="25400">
            <a:solidFill>
              <a:srgbClr val="2E5BD8"/>
            </a:solidFill>
            <a:prstDash val="solid"/>
          </a:ln>
        </p:spPr>
      </p:sp>
      <p:sp>
        <p:nvSpPr>
          <p:cNvPr id="129" name="Shape 127"/>
          <p:cNvSpPr/>
          <p:nvPr/>
        </p:nvSpPr>
        <p:spPr>
          <a:xfrm>
            <a:off x="5012741" y="3997428"/>
            <a:ext cx="87782" cy="25485"/>
          </a:xfrm>
          <a:prstGeom prst="line">
            <a:avLst/>
          </a:prstGeom>
          <a:noFill/>
          <a:ln w="25400">
            <a:solidFill>
              <a:srgbClr val="2E5BD8"/>
            </a:solidFill>
            <a:prstDash val="solid"/>
          </a:ln>
        </p:spPr>
      </p:sp>
      <p:sp>
        <p:nvSpPr>
          <p:cNvPr id="130" name="Shape 128"/>
          <p:cNvSpPr/>
          <p:nvPr/>
        </p:nvSpPr>
        <p:spPr>
          <a:xfrm>
            <a:off x="5100523" y="4022914"/>
            <a:ext cx="87782" cy="24573"/>
          </a:xfrm>
          <a:prstGeom prst="line">
            <a:avLst/>
          </a:prstGeom>
          <a:noFill/>
          <a:ln w="25400">
            <a:solidFill>
              <a:srgbClr val="2E5BD8"/>
            </a:solidFill>
            <a:prstDash val="solid"/>
          </a:ln>
        </p:spPr>
      </p:sp>
      <p:sp>
        <p:nvSpPr>
          <p:cNvPr id="131" name="Shape 129"/>
          <p:cNvSpPr/>
          <p:nvPr/>
        </p:nvSpPr>
        <p:spPr>
          <a:xfrm>
            <a:off x="5188306" y="4047486"/>
            <a:ext cx="87782" cy="23693"/>
          </a:xfrm>
          <a:prstGeom prst="line">
            <a:avLst/>
          </a:prstGeom>
          <a:noFill/>
          <a:ln w="25400">
            <a:solidFill>
              <a:srgbClr val="2E5BD8"/>
            </a:solidFill>
            <a:prstDash val="solid"/>
          </a:ln>
        </p:spPr>
      </p:sp>
      <p:sp>
        <p:nvSpPr>
          <p:cNvPr id="132" name="Shape 130"/>
          <p:cNvSpPr/>
          <p:nvPr/>
        </p:nvSpPr>
        <p:spPr>
          <a:xfrm>
            <a:off x="5276088" y="4071179"/>
            <a:ext cx="87782" cy="22844"/>
          </a:xfrm>
          <a:prstGeom prst="line">
            <a:avLst/>
          </a:prstGeom>
          <a:noFill/>
          <a:ln w="25400">
            <a:solidFill>
              <a:srgbClr val="2E5BD8"/>
            </a:solidFill>
            <a:prstDash val="solid"/>
          </a:ln>
        </p:spPr>
      </p:sp>
      <p:sp>
        <p:nvSpPr>
          <p:cNvPr id="133" name="Shape 131"/>
          <p:cNvSpPr/>
          <p:nvPr/>
        </p:nvSpPr>
        <p:spPr>
          <a:xfrm>
            <a:off x="5363870" y="4094024"/>
            <a:ext cx="87782" cy="22026"/>
          </a:xfrm>
          <a:prstGeom prst="line">
            <a:avLst/>
          </a:prstGeom>
          <a:noFill/>
          <a:ln w="25400">
            <a:solidFill>
              <a:srgbClr val="2E5BD8"/>
            </a:solidFill>
            <a:prstDash val="solid"/>
          </a:ln>
        </p:spPr>
      </p:sp>
      <p:sp>
        <p:nvSpPr>
          <p:cNvPr id="134" name="Shape 132"/>
          <p:cNvSpPr/>
          <p:nvPr/>
        </p:nvSpPr>
        <p:spPr>
          <a:xfrm>
            <a:off x="5451653" y="4116050"/>
            <a:ext cx="87782" cy="21238"/>
          </a:xfrm>
          <a:prstGeom prst="line">
            <a:avLst/>
          </a:prstGeom>
          <a:noFill/>
          <a:ln w="25400">
            <a:solidFill>
              <a:srgbClr val="2E5BD8"/>
            </a:solidFill>
            <a:prstDash val="solid"/>
          </a:ln>
        </p:spPr>
      </p:sp>
      <p:sp>
        <p:nvSpPr>
          <p:cNvPr id="135" name="Shape 133"/>
          <p:cNvSpPr/>
          <p:nvPr/>
        </p:nvSpPr>
        <p:spPr>
          <a:xfrm>
            <a:off x="5539435" y="4137288"/>
            <a:ext cx="87782" cy="20477"/>
          </a:xfrm>
          <a:prstGeom prst="line">
            <a:avLst/>
          </a:prstGeom>
          <a:noFill/>
          <a:ln w="25400">
            <a:solidFill>
              <a:srgbClr val="2E5BD8"/>
            </a:solidFill>
            <a:prstDash val="solid"/>
          </a:ln>
        </p:spPr>
      </p:sp>
      <p:sp>
        <p:nvSpPr>
          <p:cNvPr id="136" name="Shape 134"/>
          <p:cNvSpPr/>
          <p:nvPr/>
        </p:nvSpPr>
        <p:spPr>
          <a:xfrm>
            <a:off x="5627218" y="4157765"/>
            <a:ext cx="87782" cy="19744"/>
          </a:xfrm>
          <a:prstGeom prst="line">
            <a:avLst/>
          </a:prstGeom>
          <a:noFill/>
          <a:ln w="25400">
            <a:solidFill>
              <a:srgbClr val="2E5BD8"/>
            </a:solidFill>
            <a:prstDash val="solid"/>
          </a:ln>
        </p:spPr>
      </p:sp>
      <p:sp>
        <p:nvSpPr>
          <p:cNvPr id="137" name="Shape 135"/>
          <p:cNvSpPr/>
          <p:nvPr/>
        </p:nvSpPr>
        <p:spPr>
          <a:xfrm>
            <a:off x="1280160" y="1371600"/>
            <a:ext cx="91440" cy="91440"/>
          </a:xfrm>
          <a:prstGeom prst="line">
            <a:avLst/>
          </a:prstGeom>
          <a:noFill/>
          <a:ln w="15875">
            <a:solidFill>
              <a:srgbClr val="1A2340"/>
            </a:solidFill>
            <a:prstDash val="solid"/>
          </a:ln>
        </p:spPr>
      </p:sp>
      <p:sp>
        <p:nvSpPr>
          <p:cNvPr id="138" name="Shape 136"/>
          <p:cNvSpPr/>
          <p:nvPr/>
        </p:nvSpPr>
        <p:spPr>
          <a:xfrm flipV="1">
            <a:off x="1280160" y="1371600"/>
            <a:ext cx="91440" cy="91440"/>
          </a:xfrm>
          <a:prstGeom prst="line">
            <a:avLst/>
          </a:prstGeom>
          <a:noFill/>
          <a:ln w="15875">
            <a:solidFill>
              <a:srgbClr val="1A2340"/>
            </a:solidFill>
            <a:prstDash val="solid"/>
          </a:ln>
        </p:spPr>
      </p:sp>
      <p:sp>
        <p:nvSpPr>
          <p:cNvPr id="139" name="Shape 137"/>
          <p:cNvSpPr/>
          <p:nvPr/>
        </p:nvSpPr>
        <p:spPr>
          <a:xfrm>
            <a:off x="1719072" y="1947672"/>
            <a:ext cx="91440" cy="91440"/>
          </a:xfrm>
          <a:prstGeom prst="line">
            <a:avLst/>
          </a:prstGeom>
          <a:noFill/>
          <a:ln w="15875">
            <a:solidFill>
              <a:srgbClr val="1A2340"/>
            </a:solidFill>
            <a:prstDash val="solid"/>
          </a:ln>
        </p:spPr>
      </p:sp>
      <p:sp>
        <p:nvSpPr>
          <p:cNvPr id="140" name="Shape 138"/>
          <p:cNvSpPr/>
          <p:nvPr/>
        </p:nvSpPr>
        <p:spPr>
          <a:xfrm flipV="1">
            <a:off x="1719072" y="1947672"/>
            <a:ext cx="91440" cy="91440"/>
          </a:xfrm>
          <a:prstGeom prst="line">
            <a:avLst/>
          </a:prstGeom>
          <a:noFill/>
          <a:ln w="15875">
            <a:solidFill>
              <a:srgbClr val="1A2340"/>
            </a:solidFill>
            <a:prstDash val="solid"/>
          </a:ln>
        </p:spPr>
      </p:sp>
      <p:sp>
        <p:nvSpPr>
          <p:cNvPr id="141" name="Shape 139"/>
          <p:cNvSpPr/>
          <p:nvPr/>
        </p:nvSpPr>
        <p:spPr>
          <a:xfrm>
            <a:off x="2157984" y="2331720"/>
            <a:ext cx="91440" cy="91440"/>
          </a:xfrm>
          <a:prstGeom prst="line">
            <a:avLst/>
          </a:prstGeom>
          <a:noFill/>
          <a:ln w="15875">
            <a:solidFill>
              <a:srgbClr val="1A2340"/>
            </a:solidFill>
            <a:prstDash val="solid"/>
          </a:ln>
        </p:spPr>
      </p:sp>
      <p:sp>
        <p:nvSpPr>
          <p:cNvPr id="142" name="Shape 140"/>
          <p:cNvSpPr/>
          <p:nvPr/>
        </p:nvSpPr>
        <p:spPr>
          <a:xfrm flipV="1">
            <a:off x="2157984" y="2331720"/>
            <a:ext cx="91440" cy="91440"/>
          </a:xfrm>
          <a:prstGeom prst="line">
            <a:avLst/>
          </a:prstGeom>
          <a:noFill/>
          <a:ln w="15875">
            <a:solidFill>
              <a:srgbClr val="1A2340"/>
            </a:solidFill>
            <a:prstDash val="solid"/>
          </a:ln>
        </p:spPr>
      </p:sp>
      <p:sp>
        <p:nvSpPr>
          <p:cNvPr id="143" name="Shape 141"/>
          <p:cNvSpPr/>
          <p:nvPr/>
        </p:nvSpPr>
        <p:spPr>
          <a:xfrm>
            <a:off x="2596896" y="2798064"/>
            <a:ext cx="91440" cy="91440"/>
          </a:xfrm>
          <a:prstGeom prst="line">
            <a:avLst/>
          </a:prstGeom>
          <a:noFill/>
          <a:ln w="15875">
            <a:solidFill>
              <a:srgbClr val="1A2340"/>
            </a:solidFill>
            <a:prstDash val="solid"/>
          </a:ln>
        </p:spPr>
      </p:sp>
      <p:sp>
        <p:nvSpPr>
          <p:cNvPr id="144" name="Shape 142"/>
          <p:cNvSpPr/>
          <p:nvPr/>
        </p:nvSpPr>
        <p:spPr>
          <a:xfrm flipV="1">
            <a:off x="2596896" y="2798064"/>
            <a:ext cx="91440" cy="91440"/>
          </a:xfrm>
          <a:prstGeom prst="line">
            <a:avLst/>
          </a:prstGeom>
          <a:noFill/>
          <a:ln w="15875">
            <a:solidFill>
              <a:srgbClr val="1A2340"/>
            </a:solidFill>
            <a:prstDash val="solid"/>
          </a:ln>
        </p:spPr>
      </p:sp>
      <p:sp>
        <p:nvSpPr>
          <p:cNvPr id="145" name="Shape 143"/>
          <p:cNvSpPr/>
          <p:nvPr/>
        </p:nvSpPr>
        <p:spPr>
          <a:xfrm>
            <a:off x="3035808" y="3072384"/>
            <a:ext cx="91440" cy="91440"/>
          </a:xfrm>
          <a:prstGeom prst="line">
            <a:avLst/>
          </a:prstGeom>
          <a:noFill/>
          <a:ln w="15875">
            <a:solidFill>
              <a:srgbClr val="1A2340"/>
            </a:solidFill>
            <a:prstDash val="solid"/>
          </a:ln>
        </p:spPr>
      </p:sp>
      <p:sp>
        <p:nvSpPr>
          <p:cNvPr id="146" name="Shape 144"/>
          <p:cNvSpPr/>
          <p:nvPr/>
        </p:nvSpPr>
        <p:spPr>
          <a:xfrm flipV="1">
            <a:off x="3035808" y="3072384"/>
            <a:ext cx="91440" cy="91440"/>
          </a:xfrm>
          <a:prstGeom prst="line">
            <a:avLst/>
          </a:prstGeom>
          <a:noFill/>
          <a:ln w="15875">
            <a:solidFill>
              <a:srgbClr val="1A2340"/>
            </a:solidFill>
            <a:prstDash val="solid"/>
          </a:ln>
        </p:spPr>
      </p:sp>
      <p:sp>
        <p:nvSpPr>
          <p:cNvPr id="147" name="Shape 145"/>
          <p:cNvSpPr/>
          <p:nvPr/>
        </p:nvSpPr>
        <p:spPr>
          <a:xfrm>
            <a:off x="3474720" y="3374136"/>
            <a:ext cx="91440" cy="91440"/>
          </a:xfrm>
          <a:prstGeom prst="line">
            <a:avLst/>
          </a:prstGeom>
          <a:noFill/>
          <a:ln w="15875">
            <a:solidFill>
              <a:srgbClr val="1A2340"/>
            </a:solidFill>
            <a:prstDash val="solid"/>
          </a:ln>
        </p:spPr>
      </p:sp>
      <p:sp>
        <p:nvSpPr>
          <p:cNvPr id="148" name="Shape 146"/>
          <p:cNvSpPr/>
          <p:nvPr/>
        </p:nvSpPr>
        <p:spPr>
          <a:xfrm flipV="1">
            <a:off x="3474720" y="3374136"/>
            <a:ext cx="91440" cy="91440"/>
          </a:xfrm>
          <a:prstGeom prst="line">
            <a:avLst/>
          </a:prstGeom>
          <a:noFill/>
          <a:ln w="15875">
            <a:solidFill>
              <a:srgbClr val="1A2340"/>
            </a:solidFill>
            <a:prstDash val="solid"/>
          </a:ln>
        </p:spPr>
      </p:sp>
      <p:sp>
        <p:nvSpPr>
          <p:cNvPr id="149" name="Shape 147"/>
          <p:cNvSpPr/>
          <p:nvPr/>
        </p:nvSpPr>
        <p:spPr>
          <a:xfrm>
            <a:off x="3913632" y="3538728"/>
            <a:ext cx="91440" cy="91440"/>
          </a:xfrm>
          <a:prstGeom prst="line">
            <a:avLst/>
          </a:prstGeom>
          <a:noFill/>
          <a:ln w="15875">
            <a:solidFill>
              <a:srgbClr val="1A2340"/>
            </a:solidFill>
            <a:prstDash val="solid"/>
          </a:ln>
        </p:spPr>
      </p:sp>
      <p:sp>
        <p:nvSpPr>
          <p:cNvPr id="150" name="Shape 148"/>
          <p:cNvSpPr/>
          <p:nvPr/>
        </p:nvSpPr>
        <p:spPr>
          <a:xfrm flipV="1">
            <a:off x="3913632" y="3538728"/>
            <a:ext cx="91440" cy="91440"/>
          </a:xfrm>
          <a:prstGeom prst="line">
            <a:avLst/>
          </a:prstGeom>
          <a:noFill/>
          <a:ln w="15875">
            <a:solidFill>
              <a:srgbClr val="1A2340"/>
            </a:solidFill>
            <a:prstDash val="solid"/>
          </a:ln>
        </p:spPr>
      </p:sp>
      <p:sp>
        <p:nvSpPr>
          <p:cNvPr id="151" name="Shape 149"/>
          <p:cNvSpPr/>
          <p:nvPr/>
        </p:nvSpPr>
        <p:spPr>
          <a:xfrm>
            <a:off x="4352544" y="3758184"/>
            <a:ext cx="91440" cy="91440"/>
          </a:xfrm>
          <a:prstGeom prst="line">
            <a:avLst/>
          </a:prstGeom>
          <a:noFill/>
          <a:ln w="15875">
            <a:solidFill>
              <a:srgbClr val="1A2340"/>
            </a:solidFill>
            <a:prstDash val="solid"/>
          </a:ln>
        </p:spPr>
      </p:sp>
      <p:sp>
        <p:nvSpPr>
          <p:cNvPr id="152" name="Shape 150"/>
          <p:cNvSpPr/>
          <p:nvPr/>
        </p:nvSpPr>
        <p:spPr>
          <a:xfrm flipV="1">
            <a:off x="4352544" y="3758184"/>
            <a:ext cx="91440" cy="91440"/>
          </a:xfrm>
          <a:prstGeom prst="line">
            <a:avLst/>
          </a:prstGeom>
          <a:noFill/>
          <a:ln w="15875">
            <a:solidFill>
              <a:srgbClr val="1A2340"/>
            </a:solidFill>
            <a:prstDash val="solid"/>
          </a:ln>
        </p:spPr>
      </p:sp>
      <p:sp>
        <p:nvSpPr>
          <p:cNvPr id="153" name="Shape 151"/>
          <p:cNvSpPr/>
          <p:nvPr/>
        </p:nvSpPr>
        <p:spPr>
          <a:xfrm>
            <a:off x="4791456" y="3867912"/>
            <a:ext cx="91440" cy="91440"/>
          </a:xfrm>
          <a:prstGeom prst="line">
            <a:avLst/>
          </a:prstGeom>
          <a:noFill/>
          <a:ln w="15875">
            <a:solidFill>
              <a:srgbClr val="1A2340"/>
            </a:solidFill>
            <a:prstDash val="solid"/>
          </a:ln>
        </p:spPr>
      </p:sp>
      <p:sp>
        <p:nvSpPr>
          <p:cNvPr id="154" name="Shape 152"/>
          <p:cNvSpPr/>
          <p:nvPr/>
        </p:nvSpPr>
        <p:spPr>
          <a:xfrm flipV="1">
            <a:off x="4791456" y="3867912"/>
            <a:ext cx="91440" cy="91440"/>
          </a:xfrm>
          <a:prstGeom prst="line">
            <a:avLst/>
          </a:prstGeom>
          <a:noFill/>
          <a:ln w="15875">
            <a:solidFill>
              <a:srgbClr val="1A2340"/>
            </a:solidFill>
            <a:prstDash val="solid"/>
          </a:ln>
        </p:spPr>
      </p:sp>
      <p:sp>
        <p:nvSpPr>
          <p:cNvPr id="155" name="Shape 153"/>
          <p:cNvSpPr/>
          <p:nvPr/>
        </p:nvSpPr>
        <p:spPr>
          <a:xfrm>
            <a:off x="5230368" y="4059936"/>
            <a:ext cx="91440" cy="91440"/>
          </a:xfrm>
          <a:prstGeom prst="line">
            <a:avLst/>
          </a:prstGeom>
          <a:noFill/>
          <a:ln w="15875">
            <a:solidFill>
              <a:srgbClr val="1A2340"/>
            </a:solidFill>
            <a:prstDash val="solid"/>
          </a:ln>
        </p:spPr>
      </p:sp>
      <p:sp>
        <p:nvSpPr>
          <p:cNvPr id="156" name="Shape 154"/>
          <p:cNvSpPr/>
          <p:nvPr/>
        </p:nvSpPr>
        <p:spPr>
          <a:xfrm flipV="1">
            <a:off x="5230368" y="4059936"/>
            <a:ext cx="91440" cy="91440"/>
          </a:xfrm>
          <a:prstGeom prst="line">
            <a:avLst/>
          </a:prstGeom>
          <a:noFill/>
          <a:ln w="15875">
            <a:solidFill>
              <a:srgbClr val="1A2340"/>
            </a:solidFill>
            <a:prstDash val="solid"/>
          </a:ln>
        </p:spPr>
      </p:sp>
      <p:sp>
        <p:nvSpPr>
          <p:cNvPr id="157" name="Shape 155"/>
          <p:cNvSpPr/>
          <p:nvPr/>
        </p:nvSpPr>
        <p:spPr>
          <a:xfrm>
            <a:off x="5669280" y="4142232"/>
            <a:ext cx="91440" cy="91440"/>
          </a:xfrm>
          <a:prstGeom prst="line">
            <a:avLst/>
          </a:prstGeom>
          <a:noFill/>
          <a:ln w="15875">
            <a:solidFill>
              <a:srgbClr val="1A2340"/>
            </a:solidFill>
            <a:prstDash val="solid"/>
          </a:ln>
        </p:spPr>
      </p:sp>
      <p:sp>
        <p:nvSpPr>
          <p:cNvPr id="158" name="Shape 156"/>
          <p:cNvSpPr/>
          <p:nvPr/>
        </p:nvSpPr>
        <p:spPr>
          <a:xfrm flipV="1">
            <a:off x="5669280" y="4142232"/>
            <a:ext cx="91440" cy="91440"/>
          </a:xfrm>
          <a:prstGeom prst="line">
            <a:avLst/>
          </a:prstGeom>
          <a:noFill/>
          <a:ln w="15875">
            <a:solidFill>
              <a:srgbClr val="1A2340"/>
            </a:solidFill>
            <a:prstDash val="solid"/>
          </a:ln>
        </p:spPr>
      </p:sp>
      <p:sp>
        <p:nvSpPr>
          <p:cNvPr id="159" name="Shape 157"/>
          <p:cNvSpPr/>
          <p:nvPr/>
        </p:nvSpPr>
        <p:spPr>
          <a:xfrm>
            <a:off x="1325880" y="3063240"/>
            <a:ext cx="1668649" cy="91"/>
          </a:xfrm>
          <a:prstGeom prst="line">
            <a:avLst/>
          </a:prstGeom>
          <a:noFill/>
          <a:ln w="15875">
            <a:solidFill>
              <a:srgbClr val="C8414C"/>
            </a:solidFill>
            <a:prstDash val="dash"/>
          </a:ln>
        </p:spPr>
      </p:sp>
      <p:sp>
        <p:nvSpPr>
          <p:cNvPr id="160" name="Shape 158"/>
          <p:cNvSpPr/>
          <p:nvPr/>
        </p:nvSpPr>
        <p:spPr>
          <a:xfrm>
            <a:off x="2994529" y="3063240"/>
            <a:ext cx="91" cy="1645920"/>
          </a:xfrm>
          <a:prstGeom prst="line">
            <a:avLst/>
          </a:prstGeom>
          <a:noFill/>
          <a:ln w="15875">
            <a:solidFill>
              <a:srgbClr val="C8414C"/>
            </a:solidFill>
            <a:prstDash val="dash"/>
          </a:ln>
        </p:spPr>
      </p:sp>
      <p:sp>
        <p:nvSpPr>
          <p:cNvPr id="161" name="Shape 159"/>
          <p:cNvSpPr/>
          <p:nvPr/>
        </p:nvSpPr>
        <p:spPr>
          <a:xfrm>
            <a:off x="1325880" y="3886200"/>
            <a:ext cx="3337297" cy="91"/>
          </a:xfrm>
          <a:prstGeom prst="line">
            <a:avLst/>
          </a:prstGeom>
          <a:noFill/>
          <a:ln w="15875">
            <a:solidFill>
              <a:srgbClr val="C8414C"/>
            </a:solidFill>
            <a:prstDash val="dash"/>
          </a:ln>
        </p:spPr>
      </p:sp>
      <p:sp>
        <p:nvSpPr>
          <p:cNvPr id="162" name="Shape 160"/>
          <p:cNvSpPr/>
          <p:nvPr/>
        </p:nvSpPr>
        <p:spPr>
          <a:xfrm>
            <a:off x="4663177" y="3886200"/>
            <a:ext cx="91" cy="822960"/>
          </a:xfrm>
          <a:prstGeom prst="line">
            <a:avLst/>
          </a:prstGeom>
          <a:noFill/>
          <a:ln w="15875">
            <a:solidFill>
              <a:srgbClr val="C8414C"/>
            </a:solidFill>
            <a:prstDash val="dash"/>
          </a:ln>
        </p:spPr>
      </p:sp>
      <p:sp>
        <p:nvSpPr>
          <p:cNvPr id="163" name="Text 161"/>
          <p:cNvSpPr/>
          <p:nvPr/>
        </p:nvSpPr>
        <p:spPr>
          <a:xfrm>
            <a:off x="3040249" y="2734056"/>
            <a:ext cx="18288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120 → 60: about 3.8 throws</a:t>
            </a:r>
            <a:endParaRPr lang="en-US" sz="1050" dirty="0"/>
          </a:p>
        </p:txBody>
      </p:sp>
      <p:sp>
        <p:nvSpPr>
          <p:cNvPr id="164" name="Text 162"/>
          <p:cNvSpPr/>
          <p:nvPr/>
        </p:nvSpPr>
        <p:spPr>
          <a:xfrm>
            <a:off x="3059582" y="3968496"/>
            <a:ext cx="1481328"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60 → 30: about 3.8 more</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033272"/>
                <a:gridCol w="411480"/>
                <a:gridCol w="411480"/>
                <a:gridCol w="411480"/>
                <a:gridCol w="411480"/>
                <a:gridCol w="411480"/>
                <a:gridCol w="411480"/>
                <a:gridCol w="411480"/>
                <a:gridCol w="411480"/>
                <a:gridCol w="411480"/>
                <a:gridCol w="411480"/>
                <a:gridCol w="41148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Throw</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Dice left</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99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66" name="Shape 163"/>
          <p:cNvSpPr/>
          <p:nvPr/>
        </p:nvSpPr>
        <p:spPr>
          <a:xfrm>
            <a:off x="6217920" y="2011680"/>
            <a:ext cx="5559552" cy="1828800"/>
          </a:xfrm>
          <a:prstGeom prst="roundRect">
            <a:avLst>
              <a:gd name="adj" fmla="val 3000"/>
            </a:avLst>
          </a:prstGeom>
          <a:solidFill>
            <a:srgbClr val="F5F8FE"/>
          </a:solidFill>
          <a:ln w="9525">
            <a:solidFill>
              <a:srgbClr val="D5DCEB"/>
            </a:solidFill>
            <a:prstDash val="solid"/>
          </a:ln>
        </p:spPr>
      </p:sp>
      <p:sp>
        <p:nvSpPr>
          <p:cNvPr id="167" name="Text 164"/>
          <p:cNvSpPr/>
          <p:nvPr/>
        </p:nvSpPr>
        <p:spPr>
          <a:xfrm>
            <a:off x="6382512" y="210312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168" name="Text 165"/>
          <p:cNvSpPr/>
          <p:nvPr/>
        </p:nvSpPr>
        <p:spPr>
          <a:xfrm>
            <a:off x="6382512" y="2432304"/>
            <a:ext cx="5230368" cy="13350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number left falls quickly at first, then more slowly: the same </a:t>
            </a:r>
            <a:r>
              <a:rPr lang="en-US" sz="1100" b="1" dirty="0">
                <a:solidFill>
                  <a:srgbClr val="262B3A"/>
                </a:solidFill>
                <a:latin typeface="Calibri" pitchFamily="34" charset="0"/>
                <a:ea typeface="Calibri" pitchFamily="34" charset="-122"/>
                <a:cs typeface="Calibri" pitchFamily="34" charset="-120"/>
              </a:rPr>
              <a:t>shape</a:t>
            </a:r>
            <a:r>
              <a:rPr lang="en-US" sz="1100" dirty="0">
                <a:solidFill>
                  <a:srgbClr val="262B3A"/>
                </a:solidFill>
                <a:latin typeface="Calibri" pitchFamily="34" charset="0"/>
                <a:ea typeface="Calibri" pitchFamily="34" charset="-122"/>
                <a:cs typeface="Calibri" pitchFamily="34" charset="-120"/>
              </a:rPr>
              <a:t> as a radioactive decay curve.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Each throw removes about </a:t>
            </a:r>
            <a:r>
              <a:rPr lang="en-US" sz="1100" b="1" dirty="0">
                <a:solidFill>
                  <a:srgbClr val="262B3A"/>
                </a:solidFill>
                <a:latin typeface="Calibri" pitchFamily="34" charset="0"/>
                <a:ea typeface="Calibri" pitchFamily="34" charset="-122"/>
                <a:cs typeface="Calibri" pitchFamily="34" charset="-120"/>
              </a:rPr>
              <a:t>1/6</a:t>
            </a:r>
            <a:r>
              <a:rPr lang="en-US" sz="1100" dirty="0">
                <a:solidFill>
                  <a:srgbClr val="262B3A"/>
                </a:solidFill>
                <a:latin typeface="Calibri" pitchFamily="34" charset="0"/>
                <a:ea typeface="Calibri" pitchFamily="34" charset="-122"/>
                <a:cs typeface="Calibri" pitchFamily="34" charset="-120"/>
              </a:rPr>
              <a:t> of the dice that are left, so the halving time stays the same.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Half-life of the model ≈ </a:t>
            </a:r>
            <a:r>
              <a:rPr lang="en-US" sz="1100" b="1" dirty="0">
                <a:solidFill>
                  <a:srgbClr val="262B3A"/>
                </a:solidFill>
                <a:latin typeface="Calibri" pitchFamily="34" charset="0"/>
                <a:ea typeface="Calibri" pitchFamily="34" charset="-122"/>
                <a:cs typeface="Calibri" pitchFamily="34" charset="-120"/>
              </a:rPr>
              <a:t>3.8 throws</a:t>
            </a:r>
            <a:r>
              <a:rPr lang="en-US" sz="1100" dirty="0">
                <a:solidFill>
                  <a:srgbClr val="262B3A"/>
                </a:solidFill>
                <a:latin typeface="Calibri" pitchFamily="34" charset="0"/>
                <a:ea typeface="Calibri" pitchFamily="34" charset="-122"/>
                <a:cs typeface="Calibri" pitchFamily="34" charset="-120"/>
              </a:rPr>
              <a:t>, whatever the starting number.</a:t>
            </a:r>
            <a:endParaRPr lang="en-US" sz="1100" dirty="0"/>
          </a:p>
        </p:txBody>
      </p:sp>
      <p:sp>
        <p:nvSpPr>
          <p:cNvPr id="169" name="Shape 166"/>
          <p:cNvSpPr/>
          <p:nvPr/>
        </p:nvSpPr>
        <p:spPr>
          <a:xfrm>
            <a:off x="6217920" y="3977640"/>
            <a:ext cx="5559552" cy="1737360"/>
          </a:xfrm>
          <a:prstGeom prst="roundRect">
            <a:avLst>
              <a:gd name="adj" fmla="val 3158"/>
            </a:avLst>
          </a:prstGeom>
          <a:solidFill>
            <a:srgbClr val="FFF4E0"/>
          </a:solidFill>
          <a:ln w="9525">
            <a:solidFill>
              <a:srgbClr val="F1D9A8"/>
            </a:solidFill>
            <a:prstDash val="solid"/>
          </a:ln>
        </p:spPr>
      </p:sp>
      <p:sp>
        <p:nvSpPr>
          <p:cNvPr id="170" name="Text 167"/>
          <p:cNvSpPr/>
          <p:nvPr/>
        </p:nvSpPr>
        <p:spPr>
          <a:xfrm>
            <a:off x="6382512" y="405079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171" name="Text 168"/>
          <p:cNvSpPr/>
          <p:nvPr/>
        </p:nvSpPr>
        <p:spPr>
          <a:xfrm>
            <a:off x="6382512" y="4361688"/>
            <a:ext cx="5230368" cy="12801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Random scatter   </a:t>
            </a:r>
            <a:r>
              <a:rPr lang="en-US" sz="1050" dirty="0">
                <a:solidFill>
                  <a:srgbClr val="262B3A"/>
                </a:solidFill>
                <a:latin typeface="Calibri" pitchFamily="34" charset="0"/>
                <a:ea typeface="Calibri" pitchFamily="34" charset="-122"/>
                <a:cs typeface="Calibri" pitchFamily="34" charset="-120"/>
              </a:rPr>
              <a:t>points do not sit exactly on the curve → repeat and average / use more dice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Miscounting   </a:t>
            </a:r>
            <a:r>
              <a:rPr lang="en-US" sz="1050" dirty="0">
                <a:solidFill>
                  <a:srgbClr val="262B3A"/>
                </a:solidFill>
                <a:latin typeface="Calibri" pitchFamily="34" charset="0"/>
                <a:ea typeface="Calibri" pitchFamily="34" charset="-122"/>
                <a:cs typeface="Calibri" pitchFamily="34" charset="-120"/>
              </a:rPr>
              <a:t>count dice left carefully, or count removed dice as a check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pool class results to make the curve smoother</a:t>
            </a:r>
            <a:endParaRPr lang="en-US" sz="1050" dirty="0"/>
          </a:p>
        </p:txBody>
      </p:sp>
      <p:sp>
        <p:nvSpPr>
          <p:cNvPr id="172" name="Shape 169"/>
          <p:cNvSpPr/>
          <p:nvPr/>
        </p:nvSpPr>
        <p:spPr>
          <a:xfrm>
            <a:off x="411480" y="5833872"/>
            <a:ext cx="11368735" cy="530352"/>
          </a:xfrm>
          <a:prstGeom prst="rect">
            <a:avLst/>
          </a:prstGeom>
          <a:solidFill>
            <a:srgbClr val="FFF4E0"/>
          </a:solidFill>
          <a:ln w="6350">
            <a:solidFill>
              <a:srgbClr val="F1D9A8"/>
            </a:solidFill>
            <a:prstDash val="solid"/>
          </a:ln>
        </p:spPr>
      </p:sp>
      <p:sp>
        <p:nvSpPr>
          <p:cNvPr id="173" name="Shape 170"/>
          <p:cNvSpPr/>
          <p:nvPr/>
        </p:nvSpPr>
        <p:spPr>
          <a:xfrm>
            <a:off x="411480" y="5833872"/>
            <a:ext cx="82296" cy="530352"/>
          </a:xfrm>
          <a:prstGeom prst="rect">
            <a:avLst/>
          </a:prstGeom>
          <a:solidFill>
            <a:srgbClr val="E39A2F"/>
          </a:solidFill>
          <a:ln w="12700">
            <a:solidFill>
              <a:srgbClr val="E39A2F"/>
            </a:solidFill>
            <a:prstDash val="solid"/>
          </a:ln>
        </p:spPr>
      </p:sp>
      <p:sp>
        <p:nvSpPr>
          <p:cNvPr id="174" name="Text 17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about how many dice are left after 5 throws? About how many throws until only 15 dice are left?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 • activity, half-life and the dice model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the </a:t>
            </a:r>
            <a:r>
              <a:rPr lang="en-US" sz="1250" b="1" dirty="0">
                <a:solidFill>
                  <a:srgbClr val="262B3A"/>
                </a:solidFill>
                <a:latin typeface="Calibri" pitchFamily="34" charset="0"/>
                <a:ea typeface="Calibri" pitchFamily="34" charset="-122"/>
                <a:cs typeface="Calibri" pitchFamily="34" charset="-120"/>
              </a:rPr>
              <a:t>half-life</a:t>
            </a:r>
            <a:r>
              <a:rPr lang="en-US" sz="1250" dirty="0">
                <a:solidFill>
                  <a:srgbClr val="262B3A"/>
                </a:solidFill>
                <a:latin typeface="Calibri" pitchFamily="34" charset="0"/>
                <a:ea typeface="Calibri" pitchFamily="34" charset="-122"/>
                <a:cs typeface="Calibri" pitchFamily="34" charset="-120"/>
              </a:rPr>
              <a:t> of a radioactive isotope.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source has an activity of </a:t>
            </a:r>
            <a:r>
              <a:rPr lang="en-US" sz="1250" b="1" dirty="0">
                <a:solidFill>
                  <a:srgbClr val="262B3A"/>
                </a:solidFill>
                <a:latin typeface="Calibri" pitchFamily="34" charset="0"/>
                <a:ea typeface="Calibri" pitchFamily="34" charset="-122"/>
                <a:cs typeface="Calibri" pitchFamily="34" charset="-120"/>
              </a:rPr>
              <a:t>500 Bq</a:t>
            </a:r>
            <a:r>
              <a:rPr lang="en-US" sz="1250" dirty="0">
                <a:solidFill>
                  <a:srgbClr val="262B3A"/>
                </a:solidFill>
                <a:latin typeface="Calibri" pitchFamily="34" charset="0"/>
                <a:ea typeface="Calibri" pitchFamily="34" charset="-122"/>
                <a:cs typeface="Calibri" pitchFamily="34" charset="-120"/>
              </a:rPr>
              <a:t>. What does this mean?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activity of a source falls from </a:t>
            </a:r>
            <a:r>
              <a:rPr lang="en-US" sz="1250" b="1" dirty="0">
                <a:solidFill>
                  <a:srgbClr val="262B3A"/>
                </a:solidFill>
                <a:latin typeface="Calibri" pitchFamily="34" charset="0"/>
                <a:ea typeface="Calibri" pitchFamily="34" charset="-122"/>
                <a:cs typeface="Calibri" pitchFamily="34" charset="-120"/>
              </a:rPr>
              <a:t>600 Bq</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300 Bq</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40 s</a:t>
            </a:r>
            <a:r>
              <a:rPr lang="en-US" sz="1250" dirty="0">
                <a:solidFill>
                  <a:srgbClr val="262B3A"/>
                </a:solidFill>
                <a:latin typeface="Calibri" pitchFamily="34" charset="0"/>
                <a:ea typeface="Calibri" pitchFamily="34" charset="-122"/>
                <a:cs typeface="Calibri" pitchFamily="34" charset="-120"/>
              </a:rPr>
              <a:t>. State its half-life and calculate the activity after a further </a:t>
            </a:r>
            <a:r>
              <a:rPr lang="en-US" sz="1250" b="1" dirty="0">
                <a:solidFill>
                  <a:srgbClr val="262B3A"/>
                </a:solidFill>
                <a:latin typeface="Calibri" pitchFamily="34" charset="0"/>
                <a:ea typeface="Calibri" pitchFamily="34" charset="-122"/>
                <a:cs typeface="Calibri" pitchFamily="34" charset="-120"/>
              </a:rPr>
              <a:t>80 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the dice model is like real radioactive decay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it is different.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Calculations with half-life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 • count the half-lives, then halve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P5.1.8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sample with half-life 3 days, halving every 3 days</a:t>
            </a:r>
            <a:endParaRPr lang="en-US" sz="1000" dirty="0"/>
          </a:p>
        </p:txBody>
      </p:sp>
      <p:sp>
        <p:nvSpPr>
          <p:cNvPr id="10" name="Shape 8"/>
          <p:cNvSpPr/>
          <p:nvPr/>
        </p:nvSpPr>
        <p:spPr>
          <a:xfrm>
            <a:off x="914400" y="1371600"/>
            <a:ext cx="3291840" cy="502920"/>
          </a:xfrm>
          <a:prstGeom prst="roundRect">
            <a:avLst>
              <a:gd name="adj" fmla="val 9091"/>
            </a:avLst>
          </a:prstGeom>
          <a:solidFill>
            <a:srgbClr val="F5F8FE"/>
          </a:solidFill>
          <a:ln w="15875">
            <a:solidFill>
              <a:srgbClr val="2E5BD8"/>
            </a:solidFill>
            <a:prstDash val="solid"/>
          </a:ln>
        </p:spPr>
      </p:sp>
      <p:sp>
        <p:nvSpPr>
          <p:cNvPr id="11" name="Text 9"/>
          <p:cNvSpPr/>
          <p:nvPr/>
        </p:nvSpPr>
        <p:spPr>
          <a:xfrm>
            <a:off x="914400" y="1371600"/>
            <a:ext cx="3291840" cy="50292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6400 Bq</a:t>
            </a:r>
            <a:endParaRPr lang="en-US" sz="1300" dirty="0"/>
          </a:p>
        </p:txBody>
      </p:sp>
      <p:sp>
        <p:nvSpPr>
          <p:cNvPr id="12" name="Text 10"/>
          <p:cNvSpPr/>
          <p:nvPr/>
        </p:nvSpPr>
        <p:spPr>
          <a:xfrm>
            <a:off x="4343400" y="1371600"/>
            <a:ext cx="1463040" cy="502920"/>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day 0</a:t>
            </a:r>
            <a:endParaRPr lang="en-US" sz="1150" dirty="0"/>
          </a:p>
        </p:txBody>
      </p:sp>
      <p:sp>
        <p:nvSpPr>
          <p:cNvPr id="13" name="Shape 11"/>
          <p:cNvSpPr/>
          <p:nvPr/>
        </p:nvSpPr>
        <p:spPr>
          <a:xfrm>
            <a:off x="1371600" y="1892808"/>
            <a:ext cx="91" cy="246888"/>
          </a:xfrm>
          <a:prstGeom prst="line">
            <a:avLst/>
          </a:prstGeom>
          <a:noFill/>
          <a:ln w="22225">
            <a:solidFill>
              <a:srgbClr val="C8414C"/>
            </a:solidFill>
            <a:prstDash val="solid"/>
            <a:tailEnd type="triangle"/>
          </a:ln>
        </p:spPr>
      </p:sp>
      <p:sp>
        <p:nvSpPr>
          <p:cNvPr id="14" name="Text 12"/>
          <p:cNvSpPr/>
          <p:nvPr/>
        </p:nvSpPr>
        <p:spPr>
          <a:xfrm>
            <a:off x="1463040" y="1883664"/>
            <a:ext cx="20116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2  (1 half-life)</a:t>
            </a:r>
            <a:endParaRPr lang="en-US" sz="1050" dirty="0"/>
          </a:p>
        </p:txBody>
      </p:sp>
      <p:sp>
        <p:nvSpPr>
          <p:cNvPr id="15" name="Shape 13"/>
          <p:cNvSpPr/>
          <p:nvPr/>
        </p:nvSpPr>
        <p:spPr>
          <a:xfrm>
            <a:off x="914400" y="2157984"/>
            <a:ext cx="2595504" cy="502920"/>
          </a:xfrm>
          <a:prstGeom prst="roundRect">
            <a:avLst>
              <a:gd name="adj" fmla="val 9091"/>
            </a:avLst>
          </a:prstGeom>
          <a:solidFill>
            <a:srgbClr val="F5F8FE"/>
          </a:solidFill>
          <a:ln w="15875">
            <a:solidFill>
              <a:srgbClr val="2E5BD8"/>
            </a:solidFill>
            <a:prstDash val="solid"/>
          </a:ln>
        </p:spPr>
      </p:sp>
      <p:sp>
        <p:nvSpPr>
          <p:cNvPr id="16" name="Text 14"/>
          <p:cNvSpPr/>
          <p:nvPr/>
        </p:nvSpPr>
        <p:spPr>
          <a:xfrm>
            <a:off x="914400" y="2157984"/>
            <a:ext cx="2595504" cy="50292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3200 Bq</a:t>
            </a:r>
            <a:endParaRPr lang="en-US" sz="1300" dirty="0"/>
          </a:p>
        </p:txBody>
      </p:sp>
      <p:sp>
        <p:nvSpPr>
          <p:cNvPr id="17" name="Text 15"/>
          <p:cNvSpPr/>
          <p:nvPr/>
        </p:nvSpPr>
        <p:spPr>
          <a:xfrm>
            <a:off x="4343400" y="2157984"/>
            <a:ext cx="1463040" cy="502920"/>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day 3</a:t>
            </a:r>
            <a:endParaRPr lang="en-US" sz="1150" dirty="0"/>
          </a:p>
        </p:txBody>
      </p:sp>
      <p:sp>
        <p:nvSpPr>
          <p:cNvPr id="18" name="Shape 16"/>
          <p:cNvSpPr/>
          <p:nvPr/>
        </p:nvSpPr>
        <p:spPr>
          <a:xfrm>
            <a:off x="1371600" y="2679192"/>
            <a:ext cx="91" cy="246888"/>
          </a:xfrm>
          <a:prstGeom prst="line">
            <a:avLst/>
          </a:prstGeom>
          <a:noFill/>
          <a:ln w="22225">
            <a:solidFill>
              <a:srgbClr val="C8414C"/>
            </a:solidFill>
            <a:prstDash val="solid"/>
            <a:tailEnd type="triangle"/>
          </a:ln>
        </p:spPr>
      </p:sp>
      <p:sp>
        <p:nvSpPr>
          <p:cNvPr id="19" name="Text 17"/>
          <p:cNvSpPr/>
          <p:nvPr/>
        </p:nvSpPr>
        <p:spPr>
          <a:xfrm>
            <a:off x="1463040" y="2670048"/>
            <a:ext cx="20116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2  (2 half-lives)</a:t>
            </a:r>
            <a:endParaRPr lang="en-US" sz="1050" dirty="0"/>
          </a:p>
        </p:txBody>
      </p:sp>
      <p:sp>
        <p:nvSpPr>
          <p:cNvPr id="20" name="Shape 18"/>
          <p:cNvSpPr/>
          <p:nvPr/>
        </p:nvSpPr>
        <p:spPr>
          <a:xfrm>
            <a:off x="914400" y="2944368"/>
            <a:ext cx="2103120" cy="502920"/>
          </a:xfrm>
          <a:prstGeom prst="roundRect">
            <a:avLst>
              <a:gd name="adj" fmla="val 9091"/>
            </a:avLst>
          </a:prstGeom>
          <a:solidFill>
            <a:srgbClr val="F5F8FE"/>
          </a:solidFill>
          <a:ln w="15875">
            <a:solidFill>
              <a:srgbClr val="2E5BD8"/>
            </a:solidFill>
            <a:prstDash val="solid"/>
          </a:ln>
        </p:spPr>
      </p:sp>
      <p:sp>
        <p:nvSpPr>
          <p:cNvPr id="21" name="Text 19"/>
          <p:cNvSpPr/>
          <p:nvPr/>
        </p:nvSpPr>
        <p:spPr>
          <a:xfrm>
            <a:off x="914400" y="2944368"/>
            <a:ext cx="2103120" cy="50292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1600 Bq</a:t>
            </a:r>
            <a:endParaRPr lang="en-US" sz="1300" dirty="0"/>
          </a:p>
        </p:txBody>
      </p:sp>
      <p:sp>
        <p:nvSpPr>
          <p:cNvPr id="22" name="Text 20"/>
          <p:cNvSpPr/>
          <p:nvPr/>
        </p:nvSpPr>
        <p:spPr>
          <a:xfrm>
            <a:off x="4343400" y="2944368"/>
            <a:ext cx="1463040" cy="502920"/>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day 6</a:t>
            </a:r>
            <a:endParaRPr lang="en-US" sz="1150" dirty="0"/>
          </a:p>
        </p:txBody>
      </p:sp>
      <p:sp>
        <p:nvSpPr>
          <p:cNvPr id="23" name="Shape 21"/>
          <p:cNvSpPr/>
          <p:nvPr/>
        </p:nvSpPr>
        <p:spPr>
          <a:xfrm>
            <a:off x="1371600" y="3465576"/>
            <a:ext cx="91" cy="246888"/>
          </a:xfrm>
          <a:prstGeom prst="line">
            <a:avLst/>
          </a:prstGeom>
          <a:noFill/>
          <a:ln w="22225">
            <a:solidFill>
              <a:srgbClr val="C8414C"/>
            </a:solidFill>
            <a:prstDash val="solid"/>
            <a:tailEnd type="triangle"/>
          </a:ln>
        </p:spPr>
      </p:sp>
      <p:sp>
        <p:nvSpPr>
          <p:cNvPr id="24" name="Text 22"/>
          <p:cNvSpPr/>
          <p:nvPr/>
        </p:nvSpPr>
        <p:spPr>
          <a:xfrm>
            <a:off x="1463040" y="3456432"/>
            <a:ext cx="20116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2  (3 half-lives)</a:t>
            </a:r>
            <a:endParaRPr lang="en-US" sz="1050" dirty="0"/>
          </a:p>
        </p:txBody>
      </p:sp>
      <p:sp>
        <p:nvSpPr>
          <p:cNvPr id="25" name="Shape 23"/>
          <p:cNvSpPr/>
          <p:nvPr/>
        </p:nvSpPr>
        <p:spPr>
          <a:xfrm>
            <a:off x="914400" y="3730752"/>
            <a:ext cx="1754952" cy="502920"/>
          </a:xfrm>
          <a:prstGeom prst="roundRect">
            <a:avLst>
              <a:gd name="adj" fmla="val 9091"/>
            </a:avLst>
          </a:prstGeom>
          <a:solidFill>
            <a:srgbClr val="F5F8FE"/>
          </a:solidFill>
          <a:ln w="15875">
            <a:solidFill>
              <a:srgbClr val="2E5BD8"/>
            </a:solidFill>
            <a:prstDash val="solid"/>
          </a:ln>
        </p:spPr>
      </p:sp>
      <p:sp>
        <p:nvSpPr>
          <p:cNvPr id="26" name="Text 24"/>
          <p:cNvSpPr/>
          <p:nvPr/>
        </p:nvSpPr>
        <p:spPr>
          <a:xfrm>
            <a:off x="914400" y="3730752"/>
            <a:ext cx="1754952" cy="50292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800 Bq</a:t>
            </a:r>
            <a:endParaRPr lang="en-US" sz="1300" dirty="0"/>
          </a:p>
        </p:txBody>
      </p:sp>
      <p:sp>
        <p:nvSpPr>
          <p:cNvPr id="27" name="Text 25"/>
          <p:cNvSpPr/>
          <p:nvPr/>
        </p:nvSpPr>
        <p:spPr>
          <a:xfrm>
            <a:off x="4343400" y="3730752"/>
            <a:ext cx="1463040" cy="502920"/>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day 9</a:t>
            </a:r>
            <a:endParaRPr lang="en-US" sz="1150" dirty="0"/>
          </a:p>
        </p:txBody>
      </p:sp>
      <p:sp>
        <p:nvSpPr>
          <p:cNvPr id="28" name="Shape 26"/>
          <p:cNvSpPr/>
          <p:nvPr/>
        </p:nvSpPr>
        <p:spPr>
          <a:xfrm>
            <a:off x="1371600" y="4251960"/>
            <a:ext cx="91" cy="246888"/>
          </a:xfrm>
          <a:prstGeom prst="line">
            <a:avLst/>
          </a:prstGeom>
          <a:noFill/>
          <a:ln w="22225">
            <a:solidFill>
              <a:srgbClr val="C8414C"/>
            </a:solidFill>
            <a:prstDash val="solid"/>
            <a:tailEnd type="triangle"/>
          </a:ln>
        </p:spPr>
      </p:sp>
      <p:sp>
        <p:nvSpPr>
          <p:cNvPr id="29" name="Text 27"/>
          <p:cNvSpPr/>
          <p:nvPr/>
        </p:nvSpPr>
        <p:spPr>
          <a:xfrm>
            <a:off x="1463040" y="4242816"/>
            <a:ext cx="20116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2  (4 half-lives)</a:t>
            </a:r>
            <a:endParaRPr lang="en-US" sz="1050" dirty="0"/>
          </a:p>
        </p:txBody>
      </p:sp>
      <p:sp>
        <p:nvSpPr>
          <p:cNvPr id="30" name="Shape 28"/>
          <p:cNvSpPr/>
          <p:nvPr/>
        </p:nvSpPr>
        <p:spPr>
          <a:xfrm>
            <a:off x="914400" y="4517136"/>
            <a:ext cx="1508760" cy="502920"/>
          </a:xfrm>
          <a:prstGeom prst="roundRect">
            <a:avLst>
              <a:gd name="adj" fmla="val 9091"/>
            </a:avLst>
          </a:prstGeom>
          <a:solidFill>
            <a:srgbClr val="FBE9EA"/>
          </a:solidFill>
          <a:ln w="15875">
            <a:solidFill>
              <a:srgbClr val="C8414C"/>
            </a:solidFill>
            <a:prstDash val="solid"/>
          </a:ln>
        </p:spPr>
      </p:sp>
      <p:sp>
        <p:nvSpPr>
          <p:cNvPr id="31" name="Text 29"/>
          <p:cNvSpPr/>
          <p:nvPr/>
        </p:nvSpPr>
        <p:spPr>
          <a:xfrm>
            <a:off x="914400" y="4517136"/>
            <a:ext cx="1508760" cy="502920"/>
          </a:xfrm>
          <a:prstGeom prst="rect">
            <a:avLst/>
          </a:prstGeom>
          <a:noFill/>
          <a:ln/>
        </p:spPr>
        <p:txBody>
          <a:bodyPr wrap="square" lIns="0" tIns="0" rIns="0" bIns="0" rtlCol="0" anchor="ctr"/>
          <a:lstStyle/>
          <a:p>
            <a:pPr algn="ctr" indent="0" marL="0">
              <a:buNone/>
            </a:pPr>
            <a:r>
              <a:rPr lang="en-US" sz="1300" b="1" dirty="0">
                <a:solidFill>
                  <a:srgbClr val="C8414C"/>
                </a:solidFill>
                <a:latin typeface="Calibri" pitchFamily="34" charset="0"/>
                <a:ea typeface="Calibri" pitchFamily="34" charset="-122"/>
                <a:cs typeface="Calibri" pitchFamily="34" charset="-120"/>
              </a:rPr>
              <a:t>400 Bq</a:t>
            </a:r>
            <a:endParaRPr lang="en-US" sz="1300" dirty="0"/>
          </a:p>
        </p:txBody>
      </p:sp>
      <p:sp>
        <p:nvSpPr>
          <p:cNvPr id="32" name="Text 30"/>
          <p:cNvSpPr/>
          <p:nvPr/>
        </p:nvSpPr>
        <p:spPr>
          <a:xfrm>
            <a:off x="4343400" y="4517136"/>
            <a:ext cx="1463040" cy="502920"/>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day 12</a:t>
            </a:r>
            <a:endParaRPr lang="en-US" sz="115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Step 1:</a:t>
            </a:r>
            <a:r>
              <a:rPr lang="en-US" sz="1150" dirty="0">
                <a:solidFill>
                  <a:srgbClr val="262B3A"/>
                </a:solidFill>
                <a:latin typeface="Calibri" pitchFamily="34" charset="0"/>
                <a:ea typeface="Calibri" pitchFamily="34" charset="-122"/>
                <a:cs typeface="Calibri" pitchFamily="34" charset="-120"/>
              </a:rPr>
              <a:t> number of half-lives = time ÷ half-life.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Step 2:</a:t>
            </a:r>
            <a:r>
              <a:rPr lang="en-US" sz="1150" dirty="0">
                <a:solidFill>
                  <a:srgbClr val="262B3A"/>
                </a:solidFill>
                <a:latin typeface="Calibri" pitchFamily="34" charset="0"/>
                <a:ea typeface="Calibri" pitchFamily="34" charset="-122"/>
                <a:cs typeface="Calibri" pitchFamily="34" charset="-120"/>
              </a:rPr>
              <a:t> halve the starting value that many times.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Finding a half-life:</a:t>
            </a:r>
            <a:r>
              <a:rPr lang="en-US" sz="1150" dirty="0">
                <a:solidFill>
                  <a:srgbClr val="262B3A"/>
                </a:solidFill>
                <a:latin typeface="Calibri" pitchFamily="34" charset="0"/>
                <a:ea typeface="Calibri" pitchFamily="34" charset="-122"/>
                <a:cs typeface="Calibri" pitchFamily="34" charset="-120"/>
              </a:rPr>
              <a:t> count how many halvings take the value from start to end, then half-life = time ÷ number of halvings.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the same units of time for both. The value never reaches zero in a whole number of half-lives.</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source has an activity of 6400 Bq and a half-life of 3 days. Calculate its activity after 12 days.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Half-lives   </a:t>
            </a:r>
            <a:r>
              <a:rPr lang="en-US" sz="1100" dirty="0">
                <a:solidFill>
                  <a:srgbClr val="262B3A"/>
                </a:solidFill>
                <a:latin typeface="Calibri" pitchFamily="34" charset="0"/>
                <a:ea typeface="Calibri" pitchFamily="34" charset="-122"/>
                <a:cs typeface="Calibri" pitchFamily="34" charset="-120"/>
              </a:rPr>
              <a:t>12 ÷ 3 = 4</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Halve   </a:t>
            </a:r>
            <a:r>
              <a:rPr lang="en-US" sz="1100" dirty="0">
                <a:solidFill>
                  <a:srgbClr val="262B3A"/>
                </a:solidFill>
                <a:latin typeface="Calibri" pitchFamily="34" charset="0"/>
                <a:ea typeface="Calibri" pitchFamily="34" charset="-122"/>
                <a:cs typeface="Calibri" pitchFamily="34" charset="-120"/>
              </a:rPr>
              <a:t>6400 → 3200 → 1600 → 800 → 400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6400 ÷ 2</a:t>
            </a:r>
            <a:r>
              <a:rPr lang="en-US" sz="1100" baseline="30000" dirty="0">
                <a:solidFill>
                  <a:srgbClr val="262B3A"/>
                </a:solidFill>
                <a:latin typeface="Calibri" pitchFamily="34" charset="0"/>
                <a:ea typeface="Calibri" pitchFamily="34" charset="-122"/>
                <a:cs typeface="Calibri" pitchFamily="34" charset="-120"/>
              </a:rPr>
              <a:t>4</a:t>
            </a:r>
            <a:r>
              <a:rPr lang="en-US" sz="1100" dirty="0">
                <a:solidFill>
                  <a:srgbClr val="262B3A"/>
                </a:solidFill>
                <a:latin typeface="Calibri" pitchFamily="34" charset="0"/>
                <a:ea typeface="Calibri" pitchFamily="34" charset="-122"/>
                <a:cs typeface="Calibri" pitchFamily="34" charset="-120"/>
              </a:rPr>
              <a:t> = 6400 ÷ 16</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activity = 400 Bq</a:t>
            </a:r>
            <a:endParaRPr lang="en-US" sz="110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Iodine-131 has a half-life of 8 days. A sample has an activity of 2000 Bq. Calculate its activity after 24 days.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Net decline as a ratio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P5.1.9 • after n half-lives, 1 part in 2ⁿ remains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P5.1.9  |  23</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shaded area = fraction of undecayed nuclei remaining (to scale)</a:t>
            </a:r>
            <a:endParaRPr lang="en-US" sz="1000" dirty="0"/>
          </a:p>
        </p:txBody>
      </p:sp>
      <p:sp>
        <p:nvSpPr>
          <p:cNvPr id="12" name="Shape 10"/>
          <p:cNvSpPr/>
          <p:nvPr/>
        </p:nvSpPr>
        <p:spPr>
          <a:xfrm>
            <a:off x="914400" y="1371600"/>
            <a:ext cx="2926080" cy="502920"/>
          </a:xfrm>
          <a:prstGeom prst="rect">
            <a:avLst/>
          </a:prstGeom>
          <a:solidFill>
            <a:srgbClr val="FFFFFF"/>
          </a:solidFill>
          <a:ln w="12700">
            <a:solidFill>
              <a:srgbClr val="1A2340"/>
            </a:solidFill>
            <a:prstDash val="solid"/>
          </a:ln>
        </p:spPr>
      </p:sp>
      <p:sp>
        <p:nvSpPr>
          <p:cNvPr id="13" name="Shape 11"/>
          <p:cNvSpPr/>
          <p:nvPr/>
        </p:nvSpPr>
        <p:spPr>
          <a:xfrm>
            <a:off x="914400" y="1371600"/>
            <a:ext cx="2926080" cy="502920"/>
          </a:xfrm>
          <a:prstGeom prst="rect">
            <a:avLst/>
          </a:prstGeom>
          <a:solidFill>
            <a:srgbClr val="C8414C">
              <a:alpha val="85000"/>
            </a:srgbClr>
          </a:solidFill>
          <a:ln/>
        </p:spPr>
      </p:sp>
      <p:sp>
        <p:nvSpPr>
          <p:cNvPr id="14" name="Text 12"/>
          <p:cNvSpPr/>
          <p:nvPr/>
        </p:nvSpPr>
        <p:spPr>
          <a:xfrm>
            <a:off x="411480" y="1371600"/>
            <a:ext cx="457200" cy="50292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n = 0</a:t>
            </a:r>
            <a:endParaRPr lang="en-US" sz="1050" dirty="0"/>
          </a:p>
        </p:txBody>
      </p:sp>
      <p:sp>
        <p:nvSpPr>
          <p:cNvPr id="15" name="Text 13"/>
          <p:cNvSpPr/>
          <p:nvPr/>
        </p:nvSpPr>
        <p:spPr>
          <a:xfrm>
            <a:off x="3977640" y="1371600"/>
            <a:ext cx="1920240" cy="502920"/>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all: 1 : 1</a:t>
            </a:r>
            <a:endParaRPr lang="en-US" sz="1150" dirty="0"/>
          </a:p>
        </p:txBody>
      </p:sp>
      <p:sp>
        <p:nvSpPr>
          <p:cNvPr id="16" name="Shape 14"/>
          <p:cNvSpPr/>
          <p:nvPr/>
        </p:nvSpPr>
        <p:spPr>
          <a:xfrm>
            <a:off x="914400" y="2103120"/>
            <a:ext cx="2926080" cy="502920"/>
          </a:xfrm>
          <a:prstGeom prst="rect">
            <a:avLst/>
          </a:prstGeom>
          <a:solidFill>
            <a:srgbClr val="FFFFFF"/>
          </a:solidFill>
          <a:ln w="12700">
            <a:solidFill>
              <a:srgbClr val="1A2340"/>
            </a:solidFill>
            <a:prstDash val="solid"/>
          </a:ln>
        </p:spPr>
      </p:sp>
      <p:sp>
        <p:nvSpPr>
          <p:cNvPr id="17" name="Shape 15"/>
          <p:cNvSpPr/>
          <p:nvPr/>
        </p:nvSpPr>
        <p:spPr>
          <a:xfrm>
            <a:off x="914400" y="2103120"/>
            <a:ext cx="1463040" cy="502920"/>
          </a:xfrm>
          <a:prstGeom prst="rect">
            <a:avLst/>
          </a:prstGeom>
          <a:solidFill>
            <a:srgbClr val="C8414C">
              <a:alpha val="85000"/>
            </a:srgbClr>
          </a:solidFill>
          <a:ln/>
        </p:spPr>
      </p:sp>
      <p:sp>
        <p:nvSpPr>
          <p:cNvPr id="18" name="Text 16"/>
          <p:cNvSpPr/>
          <p:nvPr/>
        </p:nvSpPr>
        <p:spPr>
          <a:xfrm>
            <a:off x="411480" y="2103120"/>
            <a:ext cx="457200" cy="50292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n = 1</a:t>
            </a:r>
            <a:endParaRPr lang="en-US" sz="1050" dirty="0"/>
          </a:p>
        </p:txBody>
      </p:sp>
      <p:sp>
        <p:nvSpPr>
          <p:cNvPr id="19" name="Text 17"/>
          <p:cNvSpPr/>
          <p:nvPr/>
        </p:nvSpPr>
        <p:spPr>
          <a:xfrm>
            <a:off x="3977640" y="2103120"/>
            <a:ext cx="1920240" cy="502920"/>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1/2 left  →  1 : 2</a:t>
            </a:r>
            <a:endParaRPr lang="en-US" sz="1150" dirty="0"/>
          </a:p>
        </p:txBody>
      </p:sp>
      <p:sp>
        <p:nvSpPr>
          <p:cNvPr id="20" name="Shape 18"/>
          <p:cNvSpPr/>
          <p:nvPr/>
        </p:nvSpPr>
        <p:spPr>
          <a:xfrm>
            <a:off x="914400" y="2834640"/>
            <a:ext cx="2926080" cy="502920"/>
          </a:xfrm>
          <a:prstGeom prst="rect">
            <a:avLst/>
          </a:prstGeom>
          <a:solidFill>
            <a:srgbClr val="FFFFFF"/>
          </a:solidFill>
          <a:ln w="12700">
            <a:solidFill>
              <a:srgbClr val="1A2340"/>
            </a:solidFill>
            <a:prstDash val="solid"/>
          </a:ln>
        </p:spPr>
      </p:sp>
      <p:sp>
        <p:nvSpPr>
          <p:cNvPr id="21" name="Shape 19"/>
          <p:cNvSpPr/>
          <p:nvPr/>
        </p:nvSpPr>
        <p:spPr>
          <a:xfrm>
            <a:off x="914400" y="2834640"/>
            <a:ext cx="731520" cy="502920"/>
          </a:xfrm>
          <a:prstGeom prst="rect">
            <a:avLst/>
          </a:prstGeom>
          <a:solidFill>
            <a:srgbClr val="C8414C">
              <a:alpha val="85000"/>
            </a:srgbClr>
          </a:solidFill>
          <a:ln/>
        </p:spPr>
      </p:sp>
      <p:sp>
        <p:nvSpPr>
          <p:cNvPr id="22" name="Text 20"/>
          <p:cNvSpPr/>
          <p:nvPr/>
        </p:nvSpPr>
        <p:spPr>
          <a:xfrm>
            <a:off x="411480" y="2834640"/>
            <a:ext cx="457200" cy="50292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n = 2</a:t>
            </a:r>
            <a:endParaRPr lang="en-US" sz="1050" dirty="0"/>
          </a:p>
        </p:txBody>
      </p:sp>
      <p:sp>
        <p:nvSpPr>
          <p:cNvPr id="23" name="Text 21"/>
          <p:cNvSpPr/>
          <p:nvPr/>
        </p:nvSpPr>
        <p:spPr>
          <a:xfrm>
            <a:off x="3977640" y="2834640"/>
            <a:ext cx="1920240" cy="502920"/>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1/4 left  →  1 : 4</a:t>
            </a:r>
            <a:endParaRPr lang="en-US" sz="1150" dirty="0"/>
          </a:p>
        </p:txBody>
      </p:sp>
      <p:sp>
        <p:nvSpPr>
          <p:cNvPr id="24" name="Shape 22"/>
          <p:cNvSpPr/>
          <p:nvPr/>
        </p:nvSpPr>
        <p:spPr>
          <a:xfrm>
            <a:off x="914400" y="3566160"/>
            <a:ext cx="2926080" cy="502920"/>
          </a:xfrm>
          <a:prstGeom prst="rect">
            <a:avLst/>
          </a:prstGeom>
          <a:solidFill>
            <a:srgbClr val="FFFFFF"/>
          </a:solidFill>
          <a:ln w="12700">
            <a:solidFill>
              <a:srgbClr val="1A2340"/>
            </a:solidFill>
            <a:prstDash val="solid"/>
          </a:ln>
        </p:spPr>
      </p:sp>
      <p:sp>
        <p:nvSpPr>
          <p:cNvPr id="25" name="Shape 23"/>
          <p:cNvSpPr/>
          <p:nvPr/>
        </p:nvSpPr>
        <p:spPr>
          <a:xfrm>
            <a:off x="914400" y="3566160"/>
            <a:ext cx="365760" cy="502920"/>
          </a:xfrm>
          <a:prstGeom prst="rect">
            <a:avLst/>
          </a:prstGeom>
          <a:solidFill>
            <a:srgbClr val="C8414C">
              <a:alpha val="85000"/>
            </a:srgbClr>
          </a:solidFill>
          <a:ln/>
        </p:spPr>
      </p:sp>
      <p:sp>
        <p:nvSpPr>
          <p:cNvPr id="26" name="Text 24"/>
          <p:cNvSpPr/>
          <p:nvPr/>
        </p:nvSpPr>
        <p:spPr>
          <a:xfrm>
            <a:off x="411480" y="3566160"/>
            <a:ext cx="457200" cy="50292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n = 3</a:t>
            </a:r>
            <a:endParaRPr lang="en-US" sz="1050" dirty="0"/>
          </a:p>
        </p:txBody>
      </p:sp>
      <p:sp>
        <p:nvSpPr>
          <p:cNvPr id="27" name="Text 25"/>
          <p:cNvSpPr/>
          <p:nvPr/>
        </p:nvSpPr>
        <p:spPr>
          <a:xfrm>
            <a:off x="3977640" y="3566160"/>
            <a:ext cx="1920240" cy="502920"/>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1/8 left  →  1 : 8</a:t>
            </a:r>
            <a:endParaRPr lang="en-US" sz="1150" dirty="0"/>
          </a:p>
        </p:txBody>
      </p:sp>
      <p:sp>
        <p:nvSpPr>
          <p:cNvPr id="28" name="Shape 26"/>
          <p:cNvSpPr/>
          <p:nvPr/>
        </p:nvSpPr>
        <p:spPr>
          <a:xfrm>
            <a:off x="914400" y="4297680"/>
            <a:ext cx="2926080" cy="502920"/>
          </a:xfrm>
          <a:prstGeom prst="rect">
            <a:avLst/>
          </a:prstGeom>
          <a:solidFill>
            <a:srgbClr val="FFFFFF"/>
          </a:solidFill>
          <a:ln w="12700">
            <a:solidFill>
              <a:srgbClr val="1A2340"/>
            </a:solidFill>
            <a:prstDash val="solid"/>
          </a:ln>
        </p:spPr>
      </p:sp>
      <p:sp>
        <p:nvSpPr>
          <p:cNvPr id="29" name="Shape 27"/>
          <p:cNvSpPr/>
          <p:nvPr/>
        </p:nvSpPr>
        <p:spPr>
          <a:xfrm>
            <a:off x="914400" y="4297680"/>
            <a:ext cx="182880" cy="502920"/>
          </a:xfrm>
          <a:prstGeom prst="rect">
            <a:avLst/>
          </a:prstGeom>
          <a:solidFill>
            <a:srgbClr val="C8414C">
              <a:alpha val="85000"/>
            </a:srgbClr>
          </a:solidFill>
          <a:ln/>
        </p:spPr>
      </p:sp>
      <p:sp>
        <p:nvSpPr>
          <p:cNvPr id="30" name="Text 28"/>
          <p:cNvSpPr/>
          <p:nvPr/>
        </p:nvSpPr>
        <p:spPr>
          <a:xfrm>
            <a:off x="411480" y="4297680"/>
            <a:ext cx="457200" cy="50292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n = 4</a:t>
            </a:r>
            <a:endParaRPr lang="en-US" sz="1050" dirty="0"/>
          </a:p>
        </p:txBody>
      </p:sp>
      <p:sp>
        <p:nvSpPr>
          <p:cNvPr id="31" name="Text 29"/>
          <p:cNvSpPr/>
          <p:nvPr/>
        </p:nvSpPr>
        <p:spPr>
          <a:xfrm>
            <a:off x="3977640" y="4297680"/>
            <a:ext cx="1920240" cy="502920"/>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1/16 left  →  1 : 16</a:t>
            </a:r>
            <a:endParaRPr lang="en-US" sz="1150" dirty="0"/>
          </a:p>
        </p:txBody>
      </p:sp>
      <p:sp>
        <p:nvSpPr>
          <p:cNvPr id="32" name="Text 30"/>
          <p:cNvSpPr/>
          <p:nvPr/>
        </p:nvSpPr>
        <p:spPr>
          <a:xfrm>
            <a:off x="868680" y="4983480"/>
            <a:ext cx="484632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n = number of half-lives • ratio = remaining : original</a:t>
            </a:r>
            <a:endParaRPr lang="en-US" sz="105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The net decline</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After </a:t>
            </a:r>
            <a:r>
              <a:rPr lang="en-US" sz="1150" b="1" dirty="0">
                <a:solidFill>
                  <a:srgbClr val="262B3A"/>
                </a:solidFill>
                <a:latin typeface="Calibri" pitchFamily="34" charset="0"/>
                <a:ea typeface="Calibri" pitchFamily="34" charset="-122"/>
                <a:cs typeface="Calibri" pitchFamily="34" charset="-120"/>
              </a:rPr>
              <a:t>n</a:t>
            </a:r>
            <a:r>
              <a:rPr lang="en-US" sz="1150" dirty="0">
                <a:solidFill>
                  <a:srgbClr val="262B3A"/>
                </a:solidFill>
                <a:latin typeface="Calibri" pitchFamily="34" charset="0"/>
                <a:ea typeface="Calibri" pitchFamily="34" charset="-122"/>
                <a:cs typeface="Calibri" pitchFamily="34" charset="-120"/>
              </a:rPr>
              <a:t> half-lives, the fraction remaining is </a:t>
            </a:r>
            <a:r>
              <a:rPr lang="en-US" sz="1150" b="1" dirty="0">
                <a:solidFill>
                  <a:srgbClr val="262B3A"/>
                </a:solidFill>
                <a:latin typeface="Calibri" pitchFamily="34" charset="0"/>
                <a:ea typeface="Calibri" pitchFamily="34" charset="-122"/>
                <a:cs typeface="Calibri" pitchFamily="34" charset="-120"/>
              </a:rPr>
              <a:t>(½)ⁿ = 1/2ⁿ</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As a ratio, </a:t>
            </a:r>
            <a:r>
              <a:rPr lang="en-US" sz="1150" b="1" dirty="0">
                <a:solidFill>
                  <a:srgbClr val="262B3A"/>
                </a:solidFill>
                <a:latin typeface="Calibri" pitchFamily="34" charset="0"/>
                <a:ea typeface="Calibri" pitchFamily="34" charset="-122"/>
                <a:cs typeface="Calibri" pitchFamily="34" charset="-120"/>
              </a:rPr>
              <a:t>remaining : original = 1 : 2ⁿ</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net decline</a:t>
            </a:r>
            <a:r>
              <a:rPr lang="en-US" sz="1150" dirty="0">
                <a:solidFill>
                  <a:srgbClr val="262B3A"/>
                </a:solidFill>
                <a:latin typeface="Calibri" pitchFamily="34" charset="0"/>
                <a:ea typeface="Calibri" pitchFamily="34" charset="-122"/>
                <a:cs typeface="Calibri" pitchFamily="34" charset="-120"/>
              </a:rPr>
              <a:t> = the fraction that has decayed = 1 − 1/2ⁿ.</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works for the number of undecayed nuclei, the activity or the count rate.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 must be a </a:t>
            </a:r>
            <a:r>
              <a:rPr lang="en-US" sz="1150" b="1" dirty="0">
                <a:solidFill>
                  <a:srgbClr val="262B3A"/>
                </a:solidFill>
                <a:latin typeface="Calibri" pitchFamily="34" charset="0"/>
                <a:ea typeface="Calibri" pitchFamily="34" charset="-122"/>
                <a:cs typeface="Calibri" pitchFamily="34" charset="-120"/>
              </a:rPr>
              <a:t>whole number</a:t>
            </a:r>
            <a:r>
              <a:rPr lang="en-US" sz="1150" dirty="0">
                <a:solidFill>
                  <a:srgbClr val="262B3A"/>
                </a:solidFill>
                <a:latin typeface="Calibri" pitchFamily="34" charset="0"/>
                <a:ea typeface="Calibri" pitchFamily="34" charset="-122"/>
                <a:cs typeface="Calibri" pitchFamily="34" charset="-120"/>
              </a:rPr>
              <a:t> of half-lives.</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An isotope has a half-life of 6 minutes. What is the ratio of its activity after 30 minutes to its starting activity?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Half-lives   </a:t>
            </a:r>
            <a:r>
              <a:rPr lang="en-US" sz="1100" dirty="0">
                <a:solidFill>
                  <a:srgbClr val="262B3A"/>
                </a:solidFill>
                <a:latin typeface="Calibri" pitchFamily="34" charset="0"/>
                <a:ea typeface="Calibri" pitchFamily="34" charset="-122"/>
                <a:cs typeface="Calibri" pitchFamily="34" charset="-120"/>
              </a:rPr>
              <a:t>30 ÷ 6 = 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Fraction   </a:t>
            </a:r>
            <a:r>
              <a:rPr lang="en-US" sz="1100" dirty="0">
                <a:solidFill>
                  <a:srgbClr val="262B3A"/>
                </a:solidFill>
                <a:latin typeface="Calibri" pitchFamily="34" charset="0"/>
                <a:ea typeface="Calibri" pitchFamily="34" charset="-122"/>
                <a:cs typeface="Calibri" pitchFamily="34" charset="-120"/>
              </a:rPr>
              <a:t>(½)</a:t>
            </a:r>
            <a:r>
              <a:rPr lang="en-US" sz="1100" baseline="30000" dirty="0">
                <a:solidFill>
                  <a:srgbClr val="262B3A"/>
                </a:solidFill>
                <a:latin typeface="Calibri" pitchFamily="34" charset="0"/>
                <a:ea typeface="Calibri" pitchFamily="34" charset="-122"/>
                <a:cs typeface="Calibri" pitchFamily="34" charset="-120"/>
              </a:rPr>
              <a:t>5</a:t>
            </a:r>
            <a:r>
              <a:rPr lang="en-US" sz="1100" dirty="0">
                <a:solidFill>
                  <a:srgbClr val="262B3A"/>
                </a:solidFill>
                <a:latin typeface="Calibri" pitchFamily="34" charset="0"/>
                <a:ea typeface="Calibri" pitchFamily="34" charset="-122"/>
                <a:cs typeface="Calibri" pitchFamily="34" charset="-120"/>
              </a:rPr>
              <a:t> = 1/32</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Decayed   </a:t>
            </a:r>
            <a:r>
              <a:rPr lang="en-US" sz="1100" dirty="0">
                <a:solidFill>
                  <a:srgbClr val="262B3A"/>
                </a:solidFill>
                <a:latin typeface="Calibri" pitchFamily="34" charset="0"/>
                <a:ea typeface="Calibri" pitchFamily="34" charset="-122"/>
                <a:cs typeface="Calibri" pitchFamily="34" charset="-120"/>
              </a:rPr>
              <a:t>1 − 1/32 = 31/32 of the nuclei</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ratio = 1 : 32</a:t>
            </a:r>
            <a:endParaRPr lang="en-US" sz="110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fraction of the original nuclei remains after 6 half-lives? What fraction has decayed?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P5.1.8–P5.1.9 • half-life calculations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24</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sample decays for </a:t>
            </a:r>
            <a:r>
              <a:rPr lang="en-US" sz="1250" b="1" dirty="0">
                <a:solidFill>
                  <a:srgbClr val="262B3A"/>
                </a:solidFill>
                <a:latin typeface="Calibri" pitchFamily="34" charset="0"/>
                <a:ea typeface="Calibri" pitchFamily="34" charset="-122"/>
                <a:cs typeface="Calibri" pitchFamily="34" charset="-120"/>
              </a:rPr>
              <a:t>3 half-lives</a:t>
            </a:r>
            <a:r>
              <a:rPr lang="en-US" sz="1250" dirty="0">
                <a:solidFill>
                  <a:srgbClr val="262B3A"/>
                </a:solidFill>
                <a:latin typeface="Calibri" pitchFamily="34" charset="0"/>
                <a:ea typeface="Calibri" pitchFamily="34" charset="-122"/>
                <a:cs typeface="Calibri" pitchFamily="34" charset="-120"/>
              </a:rPr>
              <a:t>. Give the ratio of the number of undecayed nuclei remaining to the original number.</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Shape 16"/>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9" name="Text 17"/>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sample contains 8.0 × 10</a:t>
            </a:r>
            <a:r>
              <a:rPr lang="en-US" sz="1250" baseline="30000" dirty="0">
                <a:solidFill>
                  <a:srgbClr val="262B3A"/>
                </a:solidFill>
                <a:latin typeface="Calibri" pitchFamily="34" charset="0"/>
                <a:ea typeface="Calibri" pitchFamily="34" charset="-122"/>
                <a:cs typeface="Calibri" pitchFamily="34" charset="-120"/>
              </a:rPr>
              <a:t>6</a:t>
            </a:r>
            <a:r>
              <a:rPr lang="en-US" sz="1250" dirty="0">
                <a:solidFill>
                  <a:srgbClr val="262B3A"/>
                </a:solidFill>
                <a:latin typeface="Calibri" pitchFamily="34" charset="0"/>
                <a:ea typeface="Calibri" pitchFamily="34" charset="-122"/>
                <a:cs typeface="Calibri" pitchFamily="34" charset="-120"/>
              </a:rPr>
              <a:t> undecayed nuclei. Its half-life is </a:t>
            </a:r>
            <a:r>
              <a:rPr lang="en-US" sz="1250" b="1" dirty="0">
                <a:solidFill>
                  <a:srgbClr val="262B3A"/>
                </a:solidFill>
                <a:latin typeface="Calibri" pitchFamily="34" charset="0"/>
                <a:ea typeface="Calibri" pitchFamily="34" charset="-122"/>
                <a:cs typeface="Calibri" pitchFamily="34" charset="-120"/>
              </a:rPr>
              <a:t>2 hours</a:t>
            </a:r>
            <a:r>
              <a:rPr lang="en-US" sz="1250" dirty="0">
                <a:solidFill>
                  <a:srgbClr val="262B3A"/>
                </a:solidFill>
                <a:latin typeface="Calibri" pitchFamily="34" charset="0"/>
                <a:ea typeface="Calibri" pitchFamily="34" charset="-122"/>
                <a:cs typeface="Calibri" pitchFamily="34" charset="-120"/>
              </a:rPr>
              <a:t>. Calculate how many undecayed nuclei remain after </a:t>
            </a:r>
            <a:r>
              <a:rPr lang="en-US" sz="1250" b="1" dirty="0">
                <a:solidFill>
                  <a:srgbClr val="262B3A"/>
                </a:solidFill>
                <a:latin typeface="Calibri" pitchFamily="34" charset="0"/>
                <a:ea typeface="Calibri" pitchFamily="34" charset="-122"/>
                <a:cs typeface="Calibri" pitchFamily="34" charset="-120"/>
              </a:rPr>
              <a:t>10 hours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Text 23"/>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activity of a source falls from </a:t>
            </a:r>
            <a:r>
              <a:rPr lang="en-US" sz="1250" b="1" dirty="0">
                <a:solidFill>
                  <a:srgbClr val="262B3A"/>
                </a:solidFill>
                <a:latin typeface="Calibri" pitchFamily="34" charset="0"/>
                <a:ea typeface="Calibri" pitchFamily="34" charset="-122"/>
                <a:cs typeface="Calibri" pitchFamily="34" charset="-120"/>
              </a:rPr>
              <a:t>4800 Bq</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300 Bq</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20 minutes</a:t>
            </a:r>
            <a:r>
              <a:rPr lang="en-US" sz="1250" dirty="0">
                <a:solidFill>
                  <a:srgbClr val="262B3A"/>
                </a:solidFill>
                <a:latin typeface="Calibri" pitchFamily="34" charset="0"/>
                <a:ea typeface="Calibri" pitchFamily="34" charset="-122"/>
                <a:cs typeface="Calibri" pitchFamily="34" charset="-120"/>
              </a:rPr>
              <a:t>. Calculate the half-life.</a:t>
            </a:r>
            <a:endParaRPr lang="en-US" sz="1250" dirty="0"/>
          </a:p>
        </p:txBody>
      </p:sp>
      <p:sp>
        <p:nvSpPr>
          <p:cNvPr id="26" name="Text 24"/>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Looking ahead: what stops each emission?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Bridge to P5.2 (P5.2.1 penetration) • taught in full and examined in the next deck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 bridge  |  25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absorbers in order: paper, a few mm of aluminium, thick lead</a:t>
            </a:r>
            <a:endParaRPr lang="en-US" sz="1000" dirty="0"/>
          </a:p>
        </p:txBody>
      </p:sp>
      <p:sp>
        <p:nvSpPr>
          <p:cNvPr id="10" name="Shape 8"/>
          <p:cNvSpPr/>
          <p:nvPr/>
        </p:nvSpPr>
        <p:spPr>
          <a:xfrm>
            <a:off x="640080" y="1828800"/>
            <a:ext cx="502920" cy="2651760"/>
          </a:xfrm>
          <a:prstGeom prst="roundRect">
            <a:avLst>
              <a:gd name="adj" fmla="val 7273"/>
            </a:avLst>
          </a:prstGeom>
          <a:solidFill>
            <a:srgbClr val="4A5262"/>
          </a:solidFill>
          <a:ln w="12700">
            <a:solidFill>
              <a:srgbClr val="2E3442"/>
            </a:solidFill>
            <a:prstDash val="solid"/>
          </a:ln>
        </p:spPr>
      </p:sp>
      <p:sp>
        <p:nvSpPr>
          <p:cNvPr id="11" name="Text 9"/>
          <p:cNvSpPr/>
          <p:nvPr/>
        </p:nvSpPr>
        <p:spPr>
          <a:xfrm>
            <a:off x="502920" y="4526280"/>
            <a:ext cx="822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source</a:t>
            </a:r>
            <a:endParaRPr lang="en-US" sz="1050" dirty="0"/>
          </a:p>
        </p:txBody>
      </p:sp>
      <p:sp>
        <p:nvSpPr>
          <p:cNvPr id="12" name="Shape 10"/>
          <p:cNvSpPr/>
          <p:nvPr/>
        </p:nvSpPr>
        <p:spPr>
          <a:xfrm>
            <a:off x="2148840" y="1600200"/>
            <a:ext cx="64008" cy="3063240"/>
          </a:xfrm>
          <a:prstGeom prst="rect">
            <a:avLst/>
          </a:prstGeom>
          <a:solidFill>
            <a:srgbClr val="FFFDF5"/>
          </a:solidFill>
          <a:ln w="9525">
            <a:solidFill>
              <a:srgbClr val="9C8F6A"/>
            </a:solidFill>
            <a:prstDash val="solid"/>
          </a:ln>
        </p:spPr>
      </p:sp>
      <p:sp>
        <p:nvSpPr>
          <p:cNvPr id="13" name="Shape 11"/>
          <p:cNvSpPr/>
          <p:nvPr/>
        </p:nvSpPr>
        <p:spPr>
          <a:xfrm>
            <a:off x="3246120" y="1600200"/>
            <a:ext cx="182880" cy="3063240"/>
          </a:xfrm>
          <a:prstGeom prst="rect">
            <a:avLst/>
          </a:prstGeom>
          <a:solidFill>
            <a:srgbClr val="C9CED8"/>
          </a:solidFill>
          <a:ln w="9525">
            <a:solidFill>
              <a:srgbClr val="7C8598"/>
            </a:solidFill>
            <a:prstDash val="solid"/>
          </a:ln>
        </p:spPr>
      </p:sp>
      <p:sp>
        <p:nvSpPr>
          <p:cNvPr id="14" name="Shape 12"/>
          <p:cNvSpPr/>
          <p:nvPr/>
        </p:nvSpPr>
        <p:spPr>
          <a:xfrm>
            <a:off x="4343400" y="1600200"/>
            <a:ext cx="548640" cy="3063240"/>
          </a:xfrm>
          <a:prstGeom prst="rect">
            <a:avLst/>
          </a:prstGeom>
          <a:solidFill>
            <a:srgbClr val="5A6275"/>
          </a:solidFill>
          <a:ln w="9525">
            <a:solidFill>
              <a:srgbClr val="3B4252"/>
            </a:solidFill>
            <a:prstDash val="solid"/>
          </a:ln>
        </p:spPr>
      </p:sp>
      <p:sp>
        <p:nvSpPr>
          <p:cNvPr id="15" name="Text 13"/>
          <p:cNvSpPr/>
          <p:nvPr/>
        </p:nvSpPr>
        <p:spPr>
          <a:xfrm>
            <a:off x="1645920" y="1298448"/>
            <a:ext cx="1051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paper</a:t>
            </a:r>
            <a:endParaRPr lang="en-US" sz="1050" dirty="0"/>
          </a:p>
        </p:txBody>
      </p:sp>
      <p:sp>
        <p:nvSpPr>
          <p:cNvPr id="16" name="Text 14"/>
          <p:cNvSpPr/>
          <p:nvPr/>
        </p:nvSpPr>
        <p:spPr>
          <a:xfrm>
            <a:off x="2697480" y="1298448"/>
            <a:ext cx="12801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few mm Al</a:t>
            </a:r>
            <a:endParaRPr lang="en-US" sz="1050" dirty="0"/>
          </a:p>
        </p:txBody>
      </p:sp>
      <p:sp>
        <p:nvSpPr>
          <p:cNvPr id="17" name="Text 15"/>
          <p:cNvSpPr/>
          <p:nvPr/>
        </p:nvSpPr>
        <p:spPr>
          <a:xfrm>
            <a:off x="4023360" y="1298448"/>
            <a:ext cx="1188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thick lead</a:t>
            </a:r>
            <a:endParaRPr lang="en-US" sz="1050" dirty="0"/>
          </a:p>
        </p:txBody>
      </p:sp>
      <p:sp>
        <p:nvSpPr>
          <p:cNvPr id="18" name="Shape 16"/>
          <p:cNvSpPr/>
          <p:nvPr/>
        </p:nvSpPr>
        <p:spPr>
          <a:xfrm>
            <a:off x="1188720" y="2194560"/>
            <a:ext cx="941832" cy="91"/>
          </a:xfrm>
          <a:prstGeom prst="line">
            <a:avLst/>
          </a:prstGeom>
          <a:noFill/>
          <a:ln w="38100">
            <a:solidFill>
              <a:srgbClr val="C8414C"/>
            </a:solidFill>
            <a:prstDash val="solid"/>
            <a:tailEnd type="triangle"/>
          </a:ln>
        </p:spPr>
      </p:sp>
      <p:sp>
        <p:nvSpPr>
          <p:cNvPr id="19" name="Text 17"/>
          <p:cNvSpPr/>
          <p:nvPr/>
        </p:nvSpPr>
        <p:spPr>
          <a:xfrm>
            <a:off x="1188720" y="1892808"/>
            <a:ext cx="822960" cy="256032"/>
          </a:xfrm>
          <a:prstGeom prst="rect">
            <a:avLst/>
          </a:prstGeom>
          <a:noFill/>
          <a:ln/>
        </p:spPr>
        <p:txBody>
          <a:bodyPr wrap="square" lIns="0" tIns="0" rIns="0" bIns="0" rtlCol="0" anchor="ctr"/>
          <a:lstStyle/>
          <a:p>
            <a:pPr algn="l" indent="0" marL="0">
              <a:buNone/>
            </a:pPr>
            <a:r>
              <a:rPr lang="en-US" sz="1400" b="1" dirty="0">
                <a:solidFill>
                  <a:srgbClr val="C8414C"/>
                </a:solidFill>
                <a:latin typeface="Calibri" pitchFamily="34" charset="0"/>
                <a:ea typeface="Calibri" pitchFamily="34" charset="-122"/>
                <a:cs typeface="Calibri" pitchFamily="34" charset="-120"/>
              </a:rPr>
              <a:t>α</a:t>
            </a:r>
            <a:endParaRPr lang="en-US" sz="1400" dirty="0"/>
          </a:p>
        </p:txBody>
      </p:sp>
      <p:sp>
        <p:nvSpPr>
          <p:cNvPr id="20" name="Shape 18"/>
          <p:cNvSpPr/>
          <p:nvPr/>
        </p:nvSpPr>
        <p:spPr>
          <a:xfrm>
            <a:off x="1188720" y="3154680"/>
            <a:ext cx="2039112" cy="91"/>
          </a:xfrm>
          <a:prstGeom prst="line">
            <a:avLst/>
          </a:prstGeom>
          <a:noFill/>
          <a:ln w="38100">
            <a:solidFill>
              <a:srgbClr val="2E5BD8"/>
            </a:solidFill>
            <a:prstDash val="solid"/>
            <a:tailEnd type="triangle"/>
          </a:ln>
        </p:spPr>
      </p:sp>
      <p:sp>
        <p:nvSpPr>
          <p:cNvPr id="21" name="Text 19"/>
          <p:cNvSpPr/>
          <p:nvPr/>
        </p:nvSpPr>
        <p:spPr>
          <a:xfrm>
            <a:off x="1188720" y="2852928"/>
            <a:ext cx="822960" cy="256032"/>
          </a:xfrm>
          <a:prstGeom prst="rect">
            <a:avLst/>
          </a:prstGeom>
          <a:noFill/>
          <a:ln/>
        </p:spPr>
        <p:txBody>
          <a:bodyPr wrap="square" lIns="0" tIns="0" rIns="0" bIns="0" rtlCol="0" anchor="ctr"/>
          <a:lstStyle/>
          <a:p>
            <a:pPr algn="l" indent="0" marL="0">
              <a:buNone/>
            </a:pPr>
            <a:r>
              <a:rPr lang="en-US" sz="1400" b="1" dirty="0">
                <a:solidFill>
                  <a:srgbClr val="2E5BD8"/>
                </a:solidFill>
                <a:latin typeface="Calibri" pitchFamily="34" charset="0"/>
                <a:ea typeface="Calibri" pitchFamily="34" charset="-122"/>
                <a:cs typeface="Calibri" pitchFamily="34" charset="-120"/>
              </a:rPr>
              <a:t>β</a:t>
            </a:r>
            <a:endParaRPr lang="en-US" sz="1400" dirty="0"/>
          </a:p>
        </p:txBody>
      </p:sp>
      <p:sp>
        <p:nvSpPr>
          <p:cNvPr id="22" name="Shape 20"/>
          <p:cNvSpPr/>
          <p:nvPr/>
        </p:nvSpPr>
        <p:spPr>
          <a:xfrm flipV="1">
            <a:off x="1188720" y="4086806"/>
            <a:ext cx="21907" cy="27994"/>
          </a:xfrm>
          <a:prstGeom prst="line">
            <a:avLst/>
          </a:prstGeom>
          <a:noFill/>
          <a:ln w="31750">
            <a:solidFill>
              <a:srgbClr val="2E8B57"/>
            </a:solidFill>
            <a:prstDash val="solid"/>
          </a:ln>
        </p:spPr>
      </p:sp>
      <p:sp>
        <p:nvSpPr>
          <p:cNvPr id="23" name="Shape 21"/>
          <p:cNvSpPr/>
          <p:nvPr/>
        </p:nvSpPr>
        <p:spPr>
          <a:xfrm flipV="1">
            <a:off x="1210628" y="4063074"/>
            <a:ext cx="21907" cy="23732"/>
          </a:xfrm>
          <a:prstGeom prst="line">
            <a:avLst/>
          </a:prstGeom>
          <a:noFill/>
          <a:ln w="31750">
            <a:solidFill>
              <a:srgbClr val="2E8B57"/>
            </a:solidFill>
            <a:prstDash val="solid"/>
          </a:ln>
        </p:spPr>
      </p:sp>
      <p:sp>
        <p:nvSpPr>
          <p:cNvPr id="24" name="Shape 22"/>
          <p:cNvSpPr/>
          <p:nvPr/>
        </p:nvSpPr>
        <p:spPr>
          <a:xfrm flipV="1">
            <a:off x="1232535" y="4047216"/>
            <a:ext cx="21907" cy="15857"/>
          </a:xfrm>
          <a:prstGeom prst="line">
            <a:avLst/>
          </a:prstGeom>
          <a:noFill/>
          <a:ln w="31750">
            <a:solidFill>
              <a:srgbClr val="2E8B57"/>
            </a:solidFill>
            <a:prstDash val="solid"/>
          </a:ln>
        </p:spPr>
      </p:sp>
      <p:sp>
        <p:nvSpPr>
          <p:cNvPr id="25" name="Shape 23"/>
          <p:cNvSpPr/>
          <p:nvPr/>
        </p:nvSpPr>
        <p:spPr>
          <a:xfrm flipV="1">
            <a:off x="1254443" y="4041648"/>
            <a:ext cx="21908" cy="5568"/>
          </a:xfrm>
          <a:prstGeom prst="line">
            <a:avLst/>
          </a:prstGeom>
          <a:noFill/>
          <a:ln w="31750">
            <a:solidFill>
              <a:srgbClr val="2E8B57"/>
            </a:solidFill>
            <a:prstDash val="solid"/>
          </a:ln>
        </p:spPr>
      </p:sp>
      <p:sp>
        <p:nvSpPr>
          <p:cNvPr id="26" name="Shape 24"/>
          <p:cNvSpPr/>
          <p:nvPr/>
        </p:nvSpPr>
        <p:spPr>
          <a:xfrm>
            <a:off x="1276350" y="4041648"/>
            <a:ext cx="21907" cy="5568"/>
          </a:xfrm>
          <a:prstGeom prst="line">
            <a:avLst/>
          </a:prstGeom>
          <a:noFill/>
          <a:ln w="31750">
            <a:solidFill>
              <a:srgbClr val="2E8B57"/>
            </a:solidFill>
            <a:prstDash val="solid"/>
          </a:ln>
        </p:spPr>
      </p:sp>
      <p:sp>
        <p:nvSpPr>
          <p:cNvPr id="27" name="Shape 25"/>
          <p:cNvSpPr/>
          <p:nvPr/>
        </p:nvSpPr>
        <p:spPr>
          <a:xfrm>
            <a:off x="1298258" y="4047216"/>
            <a:ext cx="21907" cy="15857"/>
          </a:xfrm>
          <a:prstGeom prst="line">
            <a:avLst/>
          </a:prstGeom>
          <a:noFill/>
          <a:ln w="31750">
            <a:solidFill>
              <a:srgbClr val="2E8B57"/>
            </a:solidFill>
            <a:prstDash val="solid"/>
          </a:ln>
        </p:spPr>
      </p:sp>
      <p:sp>
        <p:nvSpPr>
          <p:cNvPr id="28" name="Shape 26"/>
          <p:cNvSpPr/>
          <p:nvPr/>
        </p:nvSpPr>
        <p:spPr>
          <a:xfrm>
            <a:off x="1320165" y="4063074"/>
            <a:ext cx="21907" cy="23732"/>
          </a:xfrm>
          <a:prstGeom prst="line">
            <a:avLst/>
          </a:prstGeom>
          <a:noFill/>
          <a:ln w="31750">
            <a:solidFill>
              <a:srgbClr val="2E8B57"/>
            </a:solidFill>
            <a:prstDash val="solid"/>
          </a:ln>
        </p:spPr>
      </p:sp>
      <p:sp>
        <p:nvSpPr>
          <p:cNvPr id="29" name="Shape 27"/>
          <p:cNvSpPr/>
          <p:nvPr/>
        </p:nvSpPr>
        <p:spPr>
          <a:xfrm>
            <a:off x="1342073" y="4086806"/>
            <a:ext cx="21907" cy="27994"/>
          </a:xfrm>
          <a:prstGeom prst="line">
            <a:avLst/>
          </a:prstGeom>
          <a:noFill/>
          <a:ln w="31750">
            <a:solidFill>
              <a:srgbClr val="2E8B57"/>
            </a:solidFill>
            <a:prstDash val="solid"/>
          </a:ln>
        </p:spPr>
      </p:sp>
      <p:sp>
        <p:nvSpPr>
          <p:cNvPr id="30" name="Shape 28"/>
          <p:cNvSpPr/>
          <p:nvPr/>
        </p:nvSpPr>
        <p:spPr>
          <a:xfrm>
            <a:off x="1363980" y="4114800"/>
            <a:ext cx="21907" cy="27994"/>
          </a:xfrm>
          <a:prstGeom prst="line">
            <a:avLst/>
          </a:prstGeom>
          <a:noFill/>
          <a:ln w="31750">
            <a:solidFill>
              <a:srgbClr val="2E8B57"/>
            </a:solidFill>
            <a:prstDash val="solid"/>
          </a:ln>
        </p:spPr>
      </p:sp>
      <p:sp>
        <p:nvSpPr>
          <p:cNvPr id="31" name="Shape 29"/>
          <p:cNvSpPr/>
          <p:nvPr/>
        </p:nvSpPr>
        <p:spPr>
          <a:xfrm>
            <a:off x="1385888" y="4142794"/>
            <a:ext cx="21907" cy="23732"/>
          </a:xfrm>
          <a:prstGeom prst="line">
            <a:avLst/>
          </a:prstGeom>
          <a:noFill/>
          <a:ln w="31750">
            <a:solidFill>
              <a:srgbClr val="2E8B57"/>
            </a:solidFill>
            <a:prstDash val="solid"/>
          </a:ln>
        </p:spPr>
      </p:sp>
      <p:sp>
        <p:nvSpPr>
          <p:cNvPr id="32" name="Shape 30"/>
          <p:cNvSpPr/>
          <p:nvPr/>
        </p:nvSpPr>
        <p:spPr>
          <a:xfrm>
            <a:off x="1407795" y="4166526"/>
            <a:ext cx="21907" cy="15857"/>
          </a:xfrm>
          <a:prstGeom prst="line">
            <a:avLst/>
          </a:prstGeom>
          <a:noFill/>
          <a:ln w="31750">
            <a:solidFill>
              <a:srgbClr val="2E8B57"/>
            </a:solidFill>
            <a:prstDash val="solid"/>
          </a:ln>
        </p:spPr>
      </p:sp>
      <p:sp>
        <p:nvSpPr>
          <p:cNvPr id="33" name="Shape 31"/>
          <p:cNvSpPr/>
          <p:nvPr/>
        </p:nvSpPr>
        <p:spPr>
          <a:xfrm>
            <a:off x="1429703" y="4182384"/>
            <a:ext cx="21908" cy="5568"/>
          </a:xfrm>
          <a:prstGeom prst="line">
            <a:avLst/>
          </a:prstGeom>
          <a:noFill/>
          <a:ln w="31750">
            <a:solidFill>
              <a:srgbClr val="2E8B57"/>
            </a:solidFill>
            <a:prstDash val="solid"/>
          </a:ln>
        </p:spPr>
      </p:sp>
      <p:sp>
        <p:nvSpPr>
          <p:cNvPr id="34" name="Shape 32"/>
          <p:cNvSpPr/>
          <p:nvPr/>
        </p:nvSpPr>
        <p:spPr>
          <a:xfrm flipV="1">
            <a:off x="1451610" y="4182384"/>
            <a:ext cx="21907" cy="5568"/>
          </a:xfrm>
          <a:prstGeom prst="line">
            <a:avLst/>
          </a:prstGeom>
          <a:noFill/>
          <a:ln w="31750">
            <a:solidFill>
              <a:srgbClr val="2E8B57"/>
            </a:solidFill>
            <a:prstDash val="solid"/>
          </a:ln>
        </p:spPr>
      </p:sp>
      <p:sp>
        <p:nvSpPr>
          <p:cNvPr id="35" name="Shape 33"/>
          <p:cNvSpPr/>
          <p:nvPr/>
        </p:nvSpPr>
        <p:spPr>
          <a:xfrm flipV="1">
            <a:off x="1473518" y="4166526"/>
            <a:ext cx="21907" cy="15857"/>
          </a:xfrm>
          <a:prstGeom prst="line">
            <a:avLst/>
          </a:prstGeom>
          <a:noFill/>
          <a:ln w="31750">
            <a:solidFill>
              <a:srgbClr val="2E8B57"/>
            </a:solidFill>
            <a:prstDash val="solid"/>
          </a:ln>
        </p:spPr>
      </p:sp>
      <p:sp>
        <p:nvSpPr>
          <p:cNvPr id="36" name="Shape 34"/>
          <p:cNvSpPr/>
          <p:nvPr/>
        </p:nvSpPr>
        <p:spPr>
          <a:xfrm flipV="1">
            <a:off x="1495425" y="4142794"/>
            <a:ext cx="21907" cy="23732"/>
          </a:xfrm>
          <a:prstGeom prst="line">
            <a:avLst/>
          </a:prstGeom>
          <a:noFill/>
          <a:ln w="31750">
            <a:solidFill>
              <a:srgbClr val="2E8B57"/>
            </a:solidFill>
            <a:prstDash val="solid"/>
          </a:ln>
        </p:spPr>
      </p:sp>
      <p:sp>
        <p:nvSpPr>
          <p:cNvPr id="37" name="Shape 35"/>
          <p:cNvSpPr/>
          <p:nvPr/>
        </p:nvSpPr>
        <p:spPr>
          <a:xfrm flipV="1">
            <a:off x="1517333" y="4114800"/>
            <a:ext cx="21907" cy="27994"/>
          </a:xfrm>
          <a:prstGeom prst="line">
            <a:avLst/>
          </a:prstGeom>
          <a:noFill/>
          <a:ln w="31750">
            <a:solidFill>
              <a:srgbClr val="2E8B57"/>
            </a:solidFill>
            <a:prstDash val="solid"/>
          </a:ln>
        </p:spPr>
      </p:sp>
      <p:sp>
        <p:nvSpPr>
          <p:cNvPr id="38" name="Shape 36"/>
          <p:cNvSpPr/>
          <p:nvPr/>
        </p:nvSpPr>
        <p:spPr>
          <a:xfrm flipV="1">
            <a:off x="1539240" y="4086806"/>
            <a:ext cx="21908" cy="27994"/>
          </a:xfrm>
          <a:prstGeom prst="line">
            <a:avLst/>
          </a:prstGeom>
          <a:noFill/>
          <a:ln w="31750">
            <a:solidFill>
              <a:srgbClr val="2E8B57"/>
            </a:solidFill>
            <a:prstDash val="solid"/>
          </a:ln>
        </p:spPr>
      </p:sp>
      <p:sp>
        <p:nvSpPr>
          <p:cNvPr id="39" name="Shape 37"/>
          <p:cNvSpPr/>
          <p:nvPr/>
        </p:nvSpPr>
        <p:spPr>
          <a:xfrm flipV="1">
            <a:off x="1561148" y="4063074"/>
            <a:ext cx="21907" cy="23732"/>
          </a:xfrm>
          <a:prstGeom prst="line">
            <a:avLst/>
          </a:prstGeom>
          <a:noFill/>
          <a:ln w="31750">
            <a:solidFill>
              <a:srgbClr val="2E8B57"/>
            </a:solidFill>
            <a:prstDash val="solid"/>
          </a:ln>
        </p:spPr>
      </p:sp>
      <p:sp>
        <p:nvSpPr>
          <p:cNvPr id="40" name="Shape 38"/>
          <p:cNvSpPr/>
          <p:nvPr/>
        </p:nvSpPr>
        <p:spPr>
          <a:xfrm flipV="1">
            <a:off x="1583055" y="4047216"/>
            <a:ext cx="21907" cy="15857"/>
          </a:xfrm>
          <a:prstGeom prst="line">
            <a:avLst/>
          </a:prstGeom>
          <a:noFill/>
          <a:ln w="31750">
            <a:solidFill>
              <a:srgbClr val="2E8B57"/>
            </a:solidFill>
            <a:prstDash val="solid"/>
          </a:ln>
        </p:spPr>
      </p:sp>
      <p:sp>
        <p:nvSpPr>
          <p:cNvPr id="41" name="Shape 39"/>
          <p:cNvSpPr/>
          <p:nvPr/>
        </p:nvSpPr>
        <p:spPr>
          <a:xfrm flipV="1">
            <a:off x="1604963" y="4041648"/>
            <a:ext cx="21907" cy="5568"/>
          </a:xfrm>
          <a:prstGeom prst="line">
            <a:avLst/>
          </a:prstGeom>
          <a:noFill/>
          <a:ln w="31750">
            <a:solidFill>
              <a:srgbClr val="2E8B57"/>
            </a:solidFill>
            <a:prstDash val="solid"/>
          </a:ln>
        </p:spPr>
      </p:sp>
      <p:sp>
        <p:nvSpPr>
          <p:cNvPr id="42" name="Shape 40"/>
          <p:cNvSpPr/>
          <p:nvPr/>
        </p:nvSpPr>
        <p:spPr>
          <a:xfrm>
            <a:off x="1626870" y="4041648"/>
            <a:ext cx="21907" cy="5568"/>
          </a:xfrm>
          <a:prstGeom prst="line">
            <a:avLst/>
          </a:prstGeom>
          <a:noFill/>
          <a:ln w="31750">
            <a:solidFill>
              <a:srgbClr val="2E8B57"/>
            </a:solidFill>
            <a:prstDash val="solid"/>
          </a:ln>
        </p:spPr>
      </p:sp>
      <p:sp>
        <p:nvSpPr>
          <p:cNvPr id="43" name="Shape 41"/>
          <p:cNvSpPr/>
          <p:nvPr/>
        </p:nvSpPr>
        <p:spPr>
          <a:xfrm>
            <a:off x="1648778" y="4047216"/>
            <a:ext cx="21907" cy="15857"/>
          </a:xfrm>
          <a:prstGeom prst="line">
            <a:avLst/>
          </a:prstGeom>
          <a:noFill/>
          <a:ln w="31750">
            <a:solidFill>
              <a:srgbClr val="2E8B57"/>
            </a:solidFill>
            <a:prstDash val="solid"/>
          </a:ln>
        </p:spPr>
      </p:sp>
      <p:sp>
        <p:nvSpPr>
          <p:cNvPr id="44" name="Shape 42"/>
          <p:cNvSpPr/>
          <p:nvPr/>
        </p:nvSpPr>
        <p:spPr>
          <a:xfrm>
            <a:off x="1670685" y="4063074"/>
            <a:ext cx="21907" cy="23732"/>
          </a:xfrm>
          <a:prstGeom prst="line">
            <a:avLst/>
          </a:prstGeom>
          <a:noFill/>
          <a:ln w="31750">
            <a:solidFill>
              <a:srgbClr val="2E8B57"/>
            </a:solidFill>
            <a:prstDash val="solid"/>
          </a:ln>
        </p:spPr>
      </p:sp>
      <p:sp>
        <p:nvSpPr>
          <p:cNvPr id="45" name="Shape 43"/>
          <p:cNvSpPr/>
          <p:nvPr/>
        </p:nvSpPr>
        <p:spPr>
          <a:xfrm>
            <a:off x="1692593" y="4086806"/>
            <a:ext cx="21907" cy="27994"/>
          </a:xfrm>
          <a:prstGeom prst="line">
            <a:avLst/>
          </a:prstGeom>
          <a:noFill/>
          <a:ln w="31750">
            <a:solidFill>
              <a:srgbClr val="2E8B57"/>
            </a:solidFill>
            <a:prstDash val="solid"/>
          </a:ln>
        </p:spPr>
      </p:sp>
      <p:sp>
        <p:nvSpPr>
          <p:cNvPr id="46" name="Shape 44"/>
          <p:cNvSpPr/>
          <p:nvPr/>
        </p:nvSpPr>
        <p:spPr>
          <a:xfrm>
            <a:off x="1714500" y="4114800"/>
            <a:ext cx="21907" cy="27994"/>
          </a:xfrm>
          <a:prstGeom prst="line">
            <a:avLst/>
          </a:prstGeom>
          <a:noFill/>
          <a:ln w="31750">
            <a:solidFill>
              <a:srgbClr val="2E8B57"/>
            </a:solidFill>
            <a:prstDash val="solid"/>
          </a:ln>
        </p:spPr>
      </p:sp>
      <p:sp>
        <p:nvSpPr>
          <p:cNvPr id="47" name="Shape 45"/>
          <p:cNvSpPr/>
          <p:nvPr/>
        </p:nvSpPr>
        <p:spPr>
          <a:xfrm>
            <a:off x="1736408" y="4142794"/>
            <a:ext cx="21907" cy="23732"/>
          </a:xfrm>
          <a:prstGeom prst="line">
            <a:avLst/>
          </a:prstGeom>
          <a:noFill/>
          <a:ln w="31750">
            <a:solidFill>
              <a:srgbClr val="2E8B57"/>
            </a:solidFill>
            <a:prstDash val="solid"/>
          </a:ln>
        </p:spPr>
      </p:sp>
      <p:sp>
        <p:nvSpPr>
          <p:cNvPr id="48" name="Shape 46"/>
          <p:cNvSpPr/>
          <p:nvPr/>
        </p:nvSpPr>
        <p:spPr>
          <a:xfrm>
            <a:off x="1758315" y="4166526"/>
            <a:ext cx="21908" cy="15857"/>
          </a:xfrm>
          <a:prstGeom prst="line">
            <a:avLst/>
          </a:prstGeom>
          <a:noFill/>
          <a:ln w="31750">
            <a:solidFill>
              <a:srgbClr val="2E8B57"/>
            </a:solidFill>
            <a:prstDash val="solid"/>
          </a:ln>
        </p:spPr>
      </p:sp>
      <p:sp>
        <p:nvSpPr>
          <p:cNvPr id="49" name="Shape 47"/>
          <p:cNvSpPr/>
          <p:nvPr/>
        </p:nvSpPr>
        <p:spPr>
          <a:xfrm>
            <a:off x="1780223" y="4182384"/>
            <a:ext cx="21907" cy="5568"/>
          </a:xfrm>
          <a:prstGeom prst="line">
            <a:avLst/>
          </a:prstGeom>
          <a:noFill/>
          <a:ln w="31750">
            <a:solidFill>
              <a:srgbClr val="2E8B57"/>
            </a:solidFill>
            <a:prstDash val="solid"/>
          </a:ln>
        </p:spPr>
      </p:sp>
      <p:sp>
        <p:nvSpPr>
          <p:cNvPr id="50" name="Shape 48"/>
          <p:cNvSpPr/>
          <p:nvPr/>
        </p:nvSpPr>
        <p:spPr>
          <a:xfrm flipV="1">
            <a:off x="1802130" y="4182384"/>
            <a:ext cx="21907" cy="5568"/>
          </a:xfrm>
          <a:prstGeom prst="line">
            <a:avLst/>
          </a:prstGeom>
          <a:noFill/>
          <a:ln w="31750">
            <a:solidFill>
              <a:srgbClr val="2E8B57"/>
            </a:solidFill>
            <a:prstDash val="solid"/>
          </a:ln>
        </p:spPr>
      </p:sp>
      <p:sp>
        <p:nvSpPr>
          <p:cNvPr id="51" name="Shape 49"/>
          <p:cNvSpPr/>
          <p:nvPr/>
        </p:nvSpPr>
        <p:spPr>
          <a:xfrm flipV="1">
            <a:off x="1824038" y="4166526"/>
            <a:ext cx="21907" cy="15857"/>
          </a:xfrm>
          <a:prstGeom prst="line">
            <a:avLst/>
          </a:prstGeom>
          <a:noFill/>
          <a:ln w="31750">
            <a:solidFill>
              <a:srgbClr val="2E8B57"/>
            </a:solidFill>
            <a:prstDash val="solid"/>
          </a:ln>
        </p:spPr>
      </p:sp>
      <p:sp>
        <p:nvSpPr>
          <p:cNvPr id="52" name="Shape 50"/>
          <p:cNvSpPr/>
          <p:nvPr/>
        </p:nvSpPr>
        <p:spPr>
          <a:xfrm flipV="1">
            <a:off x="1845945" y="4142794"/>
            <a:ext cx="21908" cy="23732"/>
          </a:xfrm>
          <a:prstGeom prst="line">
            <a:avLst/>
          </a:prstGeom>
          <a:noFill/>
          <a:ln w="31750">
            <a:solidFill>
              <a:srgbClr val="2E8B57"/>
            </a:solidFill>
            <a:prstDash val="solid"/>
          </a:ln>
        </p:spPr>
      </p:sp>
      <p:sp>
        <p:nvSpPr>
          <p:cNvPr id="53" name="Shape 51"/>
          <p:cNvSpPr/>
          <p:nvPr/>
        </p:nvSpPr>
        <p:spPr>
          <a:xfrm flipV="1">
            <a:off x="1867853" y="4114800"/>
            <a:ext cx="21907" cy="27994"/>
          </a:xfrm>
          <a:prstGeom prst="line">
            <a:avLst/>
          </a:prstGeom>
          <a:noFill/>
          <a:ln w="31750">
            <a:solidFill>
              <a:srgbClr val="2E8B57"/>
            </a:solidFill>
            <a:prstDash val="solid"/>
          </a:ln>
        </p:spPr>
      </p:sp>
      <p:sp>
        <p:nvSpPr>
          <p:cNvPr id="54" name="Shape 52"/>
          <p:cNvSpPr/>
          <p:nvPr/>
        </p:nvSpPr>
        <p:spPr>
          <a:xfrm flipV="1">
            <a:off x="1889760" y="4086806"/>
            <a:ext cx="21907" cy="27994"/>
          </a:xfrm>
          <a:prstGeom prst="line">
            <a:avLst/>
          </a:prstGeom>
          <a:noFill/>
          <a:ln w="31750">
            <a:solidFill>
              <a:srgbClr val="2E8B57"/>
            </a:solidFill>
            <a:prstDash val="solid"/>
          </a:ln>
        </p:spPr>
      </p:sp>
      <p:sp>
        <p:nvSpPr>
          <p:cNvPr id="55" name="Shape 53"/>
          <p:cNvSpPr/>
          <p:nvPr/>
        </p:nvSpPr>
        <p:spPr>
          <a:xfrm flipV="1">
            <a:off x="1911668" y="4063074"/>
            <a:ext cx="21907" cy="23732"/>
          </a:xfrm>
          <a:prstGeom prst="line">
            <a:avLst/>
          </a:prstGeom>
          <a:noFill/>
          <a:ln w="31750">
            <a:solidFill>
              <a:srgbClr val="2E8B57"/>
            </a:solidFill>
            <a:prstDash val="solid"/>
          </a:ln>
        </p:spPr>
      </p:sp>
      <p:sp>
        <p:nvSpPr>
          <p:cNvPr id="56" name="Shape 54"/>
          <p:cNvSpPr/>
          <p:nvPr/>
        </p:nvSpPr>
        <p:spPr>
          <a:xfrm flipV="1">
            <a:off x="1933575" y="4047216"/>
            <a:ext cx="21907" cy="15857"/>
          </a:xfrm>
          <a:prstGeom prst="line">
            <a:avLst/>
          </a:prstGeom>
          <a:noFill/>
          <a:ln w="31750">
            <a:solidFill>
              <a:srgbClr val="2E8B57"/>
            </a:solidFill>
            <a:prstDash val="solid"/>
          </a:ln>
        </p:spPr>
      </p:sp>
      <p:sp>
        <p:nvSpPr>
          <p:cNvPr id="57" name="Shape 55"/>
          <p:cNvSpPr/>
          <p:nvPr/>
        </p:nvSpPr>
        <p:spPr>
          <a:xfrm flipV="1">
            <a:off x="1955483" y="4041648"/>
            <a:ext cx="21907" cy="5568"/>
          </a:xfrm>
          <a:prstGeom prst="line">
            <a:avLst/>
          </a:prstGeom>
          <a:noFill/>
          <a:ln w="31750">
            <a:solidFill>
              <a:srgbClr val="2E8B57"/>
            </a:solidFill>
            <a:prstDash val="solid"/>
          </a:ln>
        </p:spPr>
      </p:sp>
      <p:sp>
        <p:nvSpPr>
          <p:cNvPr id="58" name="Shape 56"/>
          <p:cNvSpPr/>
          <p:nvPr/>
        </p:nvSpPr>
        <p:spPr>
          <a:xfrm>
            <a:off x="1977390" y="4041648"/>
            <a:ext cx="21907" cy="5568"/>
          </a:xfrm>
          <a:prstGeom prst="line">
            <a:avLst/>
          </a:prstGeom>
          <a:noFill/>
          <a:ln w="31750">
            <a:solidFill>
              <a:srgbClr val="2E8B57"/>
            </a:solidFill>
            <a:prstDash val="solid"/>
          </a:ln>
        </p:spPr>
      </p:sp>
      <p:sp>
        <p:nvSpPr>
          <p:cNvPr id="59" name="Shape 57"/>
          <p:cNvSpPr/>
          <p:nvPr/>
        </p:nvSpPr>
        <p:spPr>
          <a:xfrm>
            <a:off x="1999298" y="4047216"/>
            <a:ext cx="21907" cy="15857"/>
          </a:xfrm>
          <a:prstGeom prst="line">
            <a:avLst/>
          </a:prstGeom>
          <a:noFill/>
          <a:ln w="31750">
            <a:solidFill>
              <a:srgbClr val="2E8B57"/>
            </a:solidFill>
            <a:prstDash val="solid"/>
          </a:ln>
        </p:spPr>
      </p:sp>
      <p:sp>
        <p:nvSpPr>
          <p:cNvPr id="60" name="Shape 58"/>
          <p:cNvSpPr/>
          <p:nvPr/>
        </p:nvSpPr>
        <p:spPr>
          <a:xfrm>
            <a:off x="2021205" y="4063074"/>
            <a:ext cx="21907" cy="23732"/>
          </a:xfrm>
          <a:prstGeom prst="line">
            <a:avLst/>
          </a:prstGeom>
          <a:noFill/>
          <a:ln w="31750">
            <a:solidFill>
              <a:srgbClr val="2E8B57"/>
            </a:solidFill>
            <a:prstDash val="solid"/>
          </a:ln>
        </p:spPr>
      </p:sp>
      <p:sp>
        <p:nvSpPr>
          <p:cNvPr id="61" name="Shape 59"/>
          <p:cNvSpPr/>
          <p:nvPr/>
        </p:nvSpPr>
        <p:spPr>
          <a:xfrm>
            <a:off x="2043113" y="4086806"/>
            <a:ext cx="21907" cy="27994"/>
          </a:xfrm>
          <a:prstGeom prst="line">
            <a:avLst/>
          </a:prstGeom>
          <a:noFill/>
          <a:ln w="31750">
            <a:solidFill>
              <a:srgbClr val="2E8B57"/>
            </a:solidFill>
            <a:prstDash val="solid"/>
          </a:ln>
        </p:spPr>
      </p:sp>
      <p:sp>
        <p:nvSpPr>
          <p:cNvPr id="62" name="Shape 60"/>
          <p:cNvSpPr/>
          <p:nvPr/>
        </p:nvSpPr>
        <p:spPr>
          <a:xfrm>
            <a:off x="2065020" y="4114800"/>
            <a:ext cx="21907" cy="27994"/>
          </a:xfrm>
          <a:prstGeom prst="line">
            <a:avLst/>
          </a:prstGeom>
          <a:noFill/>
          <a:ln w="31750">
            <a:solidFill>
              <a:srgbClr val="2E8B57"/>
            </a:solidFill>
            <a:prstDash val="solid"/>
          </a:ln>
        </p:spPr>
      </p:sp>
      <p:sp>
        <p:nvSpPr>
          <p:cNvPr id="63" name="Shape 61"/>
          <p:cNvSpPr/>
          <p:nvPr/>
        </p:nvSpPr>
        <p:spPr>
          <a:xfrm>
            <a:off x="2086928" y="4142794"/>
            <a:ext cx="21908" cy="23732"/>
          </a:xfrm>
          <a:prstGeom prst="line">
            <a:avLst/>
          </a:prstGeom>
          <a:noFill/>
          <a:ln w="31750">
            <a:solidFill>
              <a:srgbClr val="2E8B57"/>
            </a:solidFill>
            <a:prstDash val="solid"/>
          </a:ln>
        </p:spPr>
      </p:sp>
      <p:sp>
        <p:nvSpPr>
          <p:cNvPr id="64" name="Shape 62"/>
          <p:cNvSpPr/>
          <p:nvPr/>
        </p:nvSpPr>
        <p:spPr>
          <a:xfrm>
            <a:off x="2108835" y="4166526"/>
            <a:ext cx="21907" cy="15857"/>
          </a:xfrm>
          <a:prstGeom prst="line">
            <a:avLst/>
          </a:prstGeom>
          <a:noFill/>
          <a:ln w="31750">
            <a:solidFill>
              <a:srgbClr val="2E8B57"/>
            </a:solidFill>
            <a:prstDash val="solid"/>
          </a:ln>
        </p:spPr>
      </p:sp>
      <p:sp>
        <p:nvSpPr>
          <p:cNvPr id="65" name="Shape 63"/>
          <p:cNvSpPr/>
          <p:nvPr/>
        </p:nvSpPr>
        <p:spPr>
          <a:xfrm>
            <a:off x="2130743" y="4182384"/>
            <a:ext cx="21908" cy="5568"/>
          </a:xfrm>
          <a:prstGeom prst="line">
            <a:avLst/>
          </a:prstGeom>
          <a:noFill/>
          <a:ln w="31750">
            <a:solidFill>
              <a:srgbClr val="2E8B57"/>
            </a:solidFill>
            <a:prstDash val="solid"/>
          </a:ln>
        </p:spPr>
      </p:sp>
      <p:sp>
        <p:nvSpPr>
          <p:cNvPr id="66" name="Shape 64"/>
          <p:cNvSpPr/>
          <p:nvPr/>
        </p:nvSpPr>
        <p:spPr>
          <a:xfrm flipV="1">
            <a:off x="2152650" y="4182384"/>
            <a:ext cx="21907" cy="5568"/>
          </a:xfrm>
          <a:prstGeom prst="line">
            <a:avLst/>
          </a:prstGeom>
          <a:noFill/>
          <a:ln w="31750">
            <a:solidFill>
              <a:srgbClr val="2E8B57"/>
            </a:solidFill>
            <a:prstDash val="solid"/>
          </a:ln>
        </p:spPr>
      </p:sp>
      <p:sp>
        <p:nvSpPr>
          <p:cNvPr id="67" name="Shape 65"/>
          <p:cNvSpPr/>
          <p:nvPr/>
        </p:nvSpPr>
        <p:spPr>
          <a:xfrm flipV="1">
            <a:off x="2174558" y="4166526"/>
            <a:ext cx="21908" cy="15857"/>
          </a:xfrm>
          <a:prstGeom prst="line">
            <a:avLst/>
          </a:prstGeom>
          <a:noFill/>
          <a:ln w="31750">
            <a:solidFill>
              <a:srgbClr val="2E8B57"/>
            </a:solidFill>
            <a:prstDash val="solid"/>
          </a:ln>
        </p:spPr>
      </p:sp>
      <p:sp>
        <p:nvSpPr>
          <p:cNvPr id="68" name="Shape 66"/>
          <p:cNvSpPr/>
          <p:nvPr/>
        </p:nvSpPr>
        <p:spPr>
          <a:xfrm flipV="1">
            <a:off x="2196465" y="4142794"/>
            <a:ext cx="21907" cy="23732"/>
          </a:xfrm>
          <a:prstGeom prst="line">
            <a:avLst/>
          </a:prstGeom>
          <a:noFill/>
          <a:ln w="31750">
            <a:solidFill>
              <a:srgbClr val="2E8B57"/>
            </a:solidFill>
            <a:prstDash val="solid"/>
          </a:ln>
        </p:spPr>
      </p:sp>
      <p:sp>
        <p:nvSpPr>
          <p:cNvPr id="69" name="Shape 67"/>
          <p:cNvSpPr/>
          <p:nvPr/>
        </p:nvSpPr>
        <p:spPr>
          <a:xfrm flipV="1">
            <a:off x="2218373" y="4114800"/>
            <a:ext cx="21908" cy="27994"/>
          </a:xfrm>
          <a:prstGeom prst="line">
            <a:avLst/>
          </a:prstGeom>
          <a:noFill/>
          <a:ln w="31750">
            <a:solidFill>
              <a:srgbClr val="2E8B57"/>
            </a:solidFill>
            <a:prstDash val="solid"/>
          </a:ln>
        </p:spPr>
      </p:sp>
      <p:sp>
        <p:nvSpPr>
          <p:cNvPr id="70" name="Shape 68"/>
          <p:cNvSpPr/>
          <p:nvPr/>
        </p:nvSpPr>
        <p:spPr>
          <a:xfrm flipV="1">
            <a:off x="2240280" y="4086806"/>
            <a:ext cx="21907" cy="27994"/>
          </a:xfrm>
          <a:prstGeom prst="line">
            <a:avLst/>
          </a:prstGeom>
          <a:noFill/>
          <a:ln w="31750">
            <a:solidFill>
              <a:srgbClr val="2E8B57"/>
            </a:solidFill>
            <a:prstDash val="solid"/>
          </a:ln>
        </p:spPr>
      </p:sp>
      <p:sp>
        <p:nvSpPr>
          <p:cNvPr id="71" name="Shape 69"/>
          <p:cNvSpPr/>
          <p:nvPr/>
        </p:nvSpPr>
        <p:spPr>
          <a:xfrm flipV="1">
            <a:off x="2262188" y="4063074"/>
            <a:ext cx="21907" cy="23732"/>
          </a:xfrm>
          <a:prstGeom prst="line">
            <a:avLst/>
          </a:prstGeom>
          <a:noFill/>
          <a:ln w="31750">
            <a:solidFill>
              <a:srgbClr val="2E8B57"/>
            </a:solidFill>
            <a:prstDash val="solid"/>
          </a:ln>
        </p:spPr>
      </p:sp>
      <p:sp>
        <p:nvSpPr>
          <p:cNvPr id="72" name="Shape 70"/>
          <p:cNvSpPr/>
          <p:nvPr/>
        </p:nvSpPr>
        <p:spPr>
          <a:xfrm flipV="1">
            <a:off x="2284095" y="4047216"/>
            <a:ext cx="21907" cy="15857"/>
          </a:xfrm>
          <a:prstGeom prst="line">
            <a:avLst/>
          </a:prstGeom>
          <a:noFill/>
          <a:ln w="31750">
            <a:solidFill>
              <a:srgbClr val="2E8B57"/>
            </a:solidFill>
            <a:prstDash val="solid"/>
          </a:ln>
        </p:spPr>
      </p:sp>
      <p:sp>
        <p:nvSpPr>
          <p:cNvPr id="73" name="Shape 71"/>
          <p:cNvSpPr/>
          <p:nvPr/>
        </p:nvSpPr>
        <p:spPr>
          <a:xfrm flipV="1">
            <a:off x="2306003" y="4041648"/>
            <a:ext cx="21907" cy="5568"/>
          </a:xfrm>
          <a:prstGeom prst="line">
            <a:avLst/>
          </a:prstGeom>
          <a:noFill/>
          <a:ln w="31750">
            <a:solidFill>
              <a:srgbClr val="2E8B57"/>
            </a:solidFill>
            <a:prstDash val="solid"/>
          </a:ln>
        </p:spPr>
      </p:sp>
      <p:sp>
        <p:nvSpPr>
          <p:cNvPr id="74" name="Shape 72"/>
          <p:cNvSpPr/>
          <p:nvPr/>
        </p:nvSpPr>
        <p:spPr>
          <a:xfrm>
            <a:off x="2327910" y="4041648"/>
            <a:ext cx="21908" cy="5568"/>
          </a:xfrm>
          <a:prstGeom prst="line">
            <a:avLst/>
          </a:prstGeom>
          <a:noFill/>
          <a:ln w="31750">
            <a:solidFill>
              <a:srgbClr val="2E8B57"/>
            </a:solidFill>
            <a:prstDash val="solid"/>
          </a:ln>
        </p:spPr>
      </p:sp>
      <p:sp>
        <p:nvSpPr>
          <p:cNvPr id="75" name="Shape 73"/>
          <p:cNvSpPr/>
          <p:nvPr/>
        </p:nvSpPr>
        <p:spPr>
          <a:xfrm>
            <a:off x="2349818" y="4047216"/>
            <a:ext cx="21907" cy="15857"/>
          </a:xfrm>
          <a:prstGeom prst="line">
            <a:avLst/>
          </a:prstGeom>
          <a:noFill/>
          <a:ln w="31750">
            <a:solidFill>
              <a:srgbClr val="2E8B57"/>
            </a:solidFill>
            <a:prstDash val="solid"/>
          </a:ln>
        </p:spPr>
      </p:sp>
      <p:sp>
        <p:nvSpPr>
          <p:cNvPr id="76" name="Shape 74"/>
          <p:cNvSpPr/>
          <p:nvPr/>
        </p:nvSpPr>
        <p:spPr>
          <a:xfrm>
            <a:off x="2371725" y="4063074"/>
            <a:ext cx="21907" cy="23732"/>
          </a:xfrm>
          <a:prstGeom prst="line">
            <a:avLst/>
          </a:prstGeom>
          <a:noFill/>
          <a:ln w="31750">
            <a:solidFill>
              <a:srgbClr val="2E8B57"/>
            </a:solidFill>
            <a:prstDash val="solid"/>
          </a:ln>
        </p:spPr>
      </p:sp>
      <p:sp>
        <p:nvSpPr>
          <p:cNvPr id="77" name="Shape 75"/>
          <p:cNvSpPr/>
          <p:nvPr/>
        </p:nvSpPr>
        <p:spPr>
          <a:xfrm>
            <a:off x="2393633" y="4086806"/>
            <a:ext cx="21907" cy="27994"/>
          </a:xfrm>
          <a:prstGeom prst="line">
            <a:avLst/>
          </a:prstGeom>
          <a:noFill/>
          <a:ln w="31750">
            <a:solidFill>
              <a:srgbClr val="2E8B57"/>
            </a:solidFill>
            <a:prstDash val="solid"/>
          </a:ln>
        </p:spPr>
      </p:sp>
      <p:sp>
        <p:nvSpPr>
          <p:cNvPr id="78" name="Shape 76"/>
          <p:cNvSpPr/>
          <p:nvPr/>
        </p:nvSpPr>
        <p:spPr>
          <a:xfrm>
            <a:off x="2415540" y="4114800"/>
            <a:ext cx="21908" cy="27994"/>
          </a:xfrm>
          <a:prstGeom prst="line">
            <a:avLst/>
          </a:prstGeom>
          <a:noFill/>
          <a:ln w="31750">
            <a:solidFill>
              <a:srgbClr val="2E8B57"/>
            </a:solidFill>
            <a:prstDash val="solid"/>
          </a:ln>
        </p:spPr>
      </p:sp>
      <p:sp>
        <p:nvSpPr>
          <p:cNvPr id="79" name="Shape 77"/>
          <p:cNvSpPr/>
          <p:nvPr/>
        </p:nvSpPr>
        <p:spPr>
          <a:xfrm>
            <a:off x="2437448" y="4142794"/>
            <a:ext cx="21907" cy="23732"/>
          </a:xfrm>
          <a:prstGeom prst="line">
            <a:avLst/>
          </a:prstGeom>
          <a:noFill/>
          <a:ln w="31750">
            <a:solidFill>
              <a:srgbClr val="2E8B57"/>
            </a:solidFill>
            <a:prstDash val="solid"/>
          </a:ln>
        </p:spPr>
      </p:sp>
      <p:sp>
        <p:nvSpPr>
          <p:cNvPr id="80" name="Shape 78"/>
          <p:cNvSpPr/>
          <p:nvPr/>
        </p:nvSpPr>
        <p:spPr>
          <a:xfrm>
            <a:off x="2459355" y="4166526"/>
            <a:ext cx="21908" cy="15857"/>
          </a:xfrm>
          <a:prstGeom prst="line">
            <a:avLst/>
          </a:prstGeom>
          <a:noFill/>
          <a:ln w="31750">
            <a:solidFill>
              <a:srgbClr val="2E8B57"/>
            </a:solidFill>
            <a:prstDash val="solid"/>
          </a:ln>
        </p:spPr>
      </p:sp>
      <p:sp>
        <p:nvSpPr>
          <p:cNvPr id="81" name="Shape 79"/>
          <p:cNvSpPr/>
          <p:nvPr/>
        </p:nvSpPr>
        <p:spPr>
          <a:xfrm>
            <a:off x="2481263" y="4182384"/>
            <a:ext cx="21907" cy="5568"/>
          </a:xfrm>
          <a:prstGeom prst="line">
            <a:avLst/>
          </a:prstGeom>
          <a:noFill/>
          <a:ln w="31750">
            <a:solidFill>
              <a:srgbClr val="2E8B57"/>
            </a:solidFill>
            <a:prstDash val="solid"/>
          </a:ln>
        </p:spPr>
      </p:sp>
      <p:sp>
        <p:nvSpPr>
          <p:cNvPr id="82" name="Shape 80"/>
          <p:cNvSpPr/>
          <p:nvPr/>
        </p:nvSpPr>
        <p:spPr>
          <a:xfrm flipV="1">
            <a:off x="2503170" y="4182384"/>
            <a:ext cx="21908" cy="5568"/>
          </a:xfrm>
          <a:prstGeom prst="line">
            <a:avLst/>
          </a:prstGeom>
          <a:noFill/>
          <a:ln w="31750">
            <a:solidFill>
              <a:srgbClr val="2E8B57"/>
            </a:solidFill>
            <a:prstDash val="solid"/>
          </a:ln>
        </p:spPr>
      </p:sp>
      <p:sp>
        <p:nvSpPr>
          <p:cNvPr id="83" name="Shape 81"/>
          <p:cNvSpPr/>
          <p:nvPr/>
        </p:nvSpPr>
        <p:spPr>
          <a:xfrm flipV="1">
            <a:off x="2525078" y="4166526"/>
            <a:ext cx="21907" cy="15857"/>
          </a:xfrm>
          <a:prstGeom prst="line">
            <a:avLst/>
          </a:prstGeom>
          <a:noFill/>
          <a:ln w="31750">
            <a:solidFill>
              <a:srgbClr val="2E8B57"/>
            </a:solidFill>
            <a:prstDash val="solid"/>
          </a:ln>
        </p:spPr>
      </p:sp>
      <p:sp>
        <p:nvSpPr>
          <p:cNvPr id="84" name="Shape 82"/>
          <p:cNvSpPr/>
          <p:nvPr/>
        </p:nvSpPr>
        <p:spPr>
          <a:xfrm flipV="1">
            <a:off x="2546985" y="4142794"/>
            <a:ext cx="21908" cy="23732"/>
          </a:xfrm>
          <a:prstGeom prst="line">
            <a:avLst/>
          </a:prstGeom>
          <a:noFill/>
          <a:ln w="31750">
            <a:solidFill>
              <a:srgbClr val="2E8B57"/>
            </a:solidFill>
            <a:prstDash val="solid"/>
          </a:ln>
        </p:spPr>
      </p:sp>
      <p:sp>
        <p:nvSpPr>
          <p:cNvPr id="85" name="Shape 83"/>
          <p:cNvSpPr/>
          <p:nvPr/>
        </p:nvSpPr>
        <p:spPr>
          <a:xfrm flipV="1">
            <a:off x="2568893" y="4114800"/>
            <a:ext cx="21907" cy="27994"/>
          </a:xfrm>
          <a:prstGeom prst="line">
            <a:avLst/>
          </a:prstGeom>
          <a:noFill/>
          <a:ln w="31750">
            <a:solidFill>
              <a:srgbClr val="2E8B57"/>
            </a:solidFill>
            <a:prstDash val="solid"/>
          </a:ln>
        </p:spPr>
      </p:sp>
      <p:sp>
        <p:nvSpPr>
          <p:cNvPr id="86" name="Shape 84"/>
          <p:cNvSpPr/>
          <p:nvPr/>
        </p:nvSpPr>
        <p:spPr>
          <a:xfrm flipV="1">
            <a:off x="2590800" y="4086806"/>
            <a:ext cx="21907" cy="27994"/>
          </a:xfrm>
          <a:prstGeom prst="line">
            <a:avLst/>
          </a:prstGeom>
          <a:noFill/>
          <a:ln w="31750">
            <a:solidFill>
              <a:srgbClr val="2E8B57"/>
            </a:solidFill>
            <a:prstDash val="solid"/>
          </a:ln>
        </p:spPr>
      </p:sp>
      <p:sp>
        <p:nvSpPr>
          <p:cNvPr id="87" name="Shape 85"/>
          <p:cNvSpPr/>
          <p:nvPr/>
        </p:nvSpPr>
        <p:spPr>
          <a:xfrm flipV="1">
            <a:off x="2612708" y="4063074"/>
            <a:ext cx="21907" cy="23732"/>
          </a:xfrm>
          <a:prstGeom prst="line">
            <a:avLst/>
          </a:prstGeom>
          <a:noFill/>
          <a:ln w="31750">
            <a:solidFill>
              <a:srgbClr val="2E8B57"/>
            </a:solidFill>
            <a:prstDash val="solid"/>
          </a:ln>
        </p:spPr>
      </p:sp>
      <p:sp>
        <p:nvSpPr>
          <p:cNvPr id="88" name="Shape 86"/>
          <p:cNvSpPr/>
          <p:nvPr/>
        </p:nvSpPr>
        <p:spPr>
          <a:xfrm flipV="1">
            <a:off x="2634615" y="4047216"/>
            <a:ext cx="21907" cy="15857"/>
          </a:xfrm>
          <a:prstGeom prst="line">
            <a:avLst/>
          </a:prstGeom>
          <a:noFill/>
          <a:ln w="31750">
            <a:solidFill>
              <a:srgbClr val="2E8B57"/>
            </a:solidFill>
            <a:prstDash val="solid"/>
          </a:ln>
        </p:spPr>
      </p:sp>
      <p:sp>
        <p:nvSpPr>
          <p:cNvPr id="89" name="Shape 87"/>
          <p:cNvSpPr/>
          <p:nvPr/>
        </p:nvSpPr>
        <p:spPr>
          <a:xfrm flipV="1">
            <a:off x="2656523" y="4041648"/>
            <a:ext cx="21908" cy="5568"/>
          </a:xfrm>
          <a:prstGeom prst="line">
            <a:avLst/>
          </a:prstGeom>
          <a:noFill/>
          <a:ln w="31750">
            <a:solidFill>
              <a:srgbClr val="2E8B57"/>
            </a:solidFill>
            <a:prstDash val="solid"/>
          </a:ln>
        </p:spPr>
      </p:sp>
      <p:sp>
        <p:nvSpPr>
          <p:cNvPr id="90" name="Shape 88"/>
          <p:cNvSpPr/>
          <p:nvPr/>
        </p:nvSpPr>
        <p:spPr>
          <a:xfrm>
            <a:off x="2678430" y="4041648"/>
            <a:ext cx="21907" cy="5568"/>
          </a:xfrm>
          <a:prstGeom prst="line">
            <a:avLst/>
          </a:prstGeom>
          <a:noFill/>
          <a:ln w="31750">
            <a:solidFill>
              <a:srgbClr val="2E8B57"/>
            </a:solidFill>
            <a:prstDash val="solid"/>
          </a:ln>
        </p:spPr>
      </p:sp>
      <p:sp>
        <p:nvSpPr>
          <p:cNvPr id="91" name="Shape 89"/>
          <p:cNvSpPr/>
          <p:nvPr/>
        </p:nvSpPr>
        <p:spPr>
          <a:xfrm>
            <a:off x="2700338" y="4047216"/>
            <a:ext cx="21907" cy="15857"/>
          </a:xfrm>
          <a:prstGeom prst="line">
            <a:avLst/>
          </a:prstGeom>
          <a:noFill/>
          <a:ln w="31750">
            <a:solidFill>
              <a:srgbClr val="2E8B57"/>
            </a:solidFill>
            <a:prstDash val="solid"/>
          </a:ln>
        </p:spPr>
      </p:sp>
      <p:sp>
        <p:nvSpPr>
          <p:cNvPr id="92" name="Shape 90"/>
          <p:cNvSpPr/>
          <p:nvPr/>
        </p:nvSpPr>
        <p:spPr>
          <a:xfrm>
            <a:off x="2722245" y="4063074"/>
            <a:ext cx="21907" cy="23732"/>
          </a:xfrm>
          <a:prstGeom prst="line">
            <a:avLst/>
          </a:prstGeom>
          <a:noFill/>
          <a:ln w="31750">
            <a:solidFill>
              <a:srgbClr val="2E8B57"/>
            </a:solidFill>
            <a:prstDash val="solid"/>
          </a:ln>
        </p:spPr>
      </p:sp>
      <p:sp>
        <p:nvSpPr>
          <p:cNvPr id="93" name="Shape 91"/>
          <p:cNvSpPr/>
          <p:nvPr/>
        </p:nvSpPr>
        <p:spPr>
          <a:xfrm>
            <a:off x="2744153" y="4086806"/>
            <a:ext cx="21908" cy="27994"/>
          </a:xfrm>
          <a:prstGeom prst="line">
            <a:avLst/>
          </a:prstGeom>
          <a:noFill/>
          <a:ln w="31750">
            <a:solidFill>
              <a:srgbClr val="2E8B57"/>
            </a:solidFill>
            <a:prstDash val="solid"/>
          </a:ln>
        </p:spPr>
      </p:sp>
      <p:sp>
        <p:nvSpPr>
          <p:cNvPr id="94" name="Shape 92"/>
          <p:cNvSpPr/>
          <p:nvPr/>
        </p:nvSpPr>
        <p:spPr>
          <a:xfrm>
            <a:off x="2766060" y="4114800"/>
            <a:ext cx="21907" cy="27994"/>
          </a:xfrm>
          <a:prstGeom prst="line">
            <a:avLst/>
          </a:prstGeom>
          <a:noFill/>
          <a:ln w="31750">
            <a:solidFill>
              <a:srgbClr val="2E8B57"/>
            </a:solidFill>
            <a:prstDash val="solid"/>
          </a:ln>
        </p:spPr>
      </p:sp>
      <p:sp>
        <p:nvSpPr>
          <p:cNvPr id="95" name="Shape 93"/>
          <p:cNvSpPr/>
          <p:nvPr/>
        </p:nvSpPr>
        <p:spPr>
          <a:xfrm>
            <a:off x="2787968" y="4142794"/>
            <a:ext cx="21908" cy="23732"/>
          </a:xfrm>
          <a:prstGeom prst="line">
            <a:avLst/>
          </a:prstGeom>
          <a:noFill/>
          <a:ln w="31750">
            <a:solidFill>
              <a:srgbClr val="2E8B57"/>
            </a:solidFill>
            <a:prstDash val="solid"/>
          </a:ln>
        </p:spPr>
      </p:sp>
      <p:sp>
        <p:nvSpPr>
          <p:cNvPr id="96" name="Shape 94"/>
          <p:cNvSpPr/>
          <p:nvPr/>
        </p:nvSpPr>
        <p:spPr>
          <a:xfrm>
            <a:off x="2809875" y="4166526"/>
            <a:ext cx="21907" cy="15857"/>
          </a:xfrm>
          <a:prstGeom prst="line">
            <a:avLst/>
          </a:prstGeom>
          <a:noFill/>
          <a:ln w="31750">
            <a:solidFill>
              <a:srgbClr val="2E8B57"/>
            </a:solidFill>
            <a:prstDash val="solid"/>
          </a:ln>
        </p:spPr>
      </p:sp>
      <p:sp>
        <p:nvSpPr>
          <p:cNvPr id="97" name="Shape 95"/>
          <p:cNvSpPr/>
          <p:nvPr/>
        </p:nvSpPr>
        <p:spPr>
          <a:xfrm>
            <a:off x="2831783" y="4182384"/>
            <a:ext cx="21908" cy="5568"/>
          </a:xfrm>
          <a:prstGeom prst="line">
            <a:avLst/>
          </a:prstGeom>
          <a:noFill/>
          <a:ln w="31750">
            <a:solidFill>
              <a:srgbClr val="2E8B57"/>
            </a:solidFill>
            <a:prstDash val="solid"/>
          </a:ln>
        </p:spPr>
      </p:sp>
      <p:sp>
        <p:nvSpPr>
          <p:cNvPr id="98" name="Shape 96"/>
          <p:cNvSpPr/>
          <p:nvPr/>
        </p:nvSpPr>
        <p:spPr>
          <a:xfrm flipV="1">
            <a:off x="2853690" y="4182384"/>
            <a:ext cx="21907" cy="5568"/>
          </a:xfrm>
          <a:prstGeom prst="line">
            <a:avLst/>
          </a:prstGeom>
          <a:noFill/>
          <a:ln w="31750">
            <a:solidFill>
              <a:srgbClr val="2E8B57"/>
            </a:solidFill>
            <a:prstDash val="solid"/>
          </a:ln>
        </p:spPr>
      </p:sp>
      <p:sp>
        <p:nvSpPr>
          <p:cNvPr id="99" name="Shape 97"/>
          <p:cNvSpPr/>
          <p:nvPr/>
        </p:nvSpPr>
        <p:spPr>
          <a:xfrm flipV="1">
            <a:off x="2875598" y="4166526"/>
            <a:ext cx="21907" cy="15857"/>
          </a:xfrm>
          <a:prstGeom prst="line">
            <a:avLst/>
          </a:prstGeom>
          <a:noFill/>
          <a:ln w="31750">
            <a:solidFill>
              <a:srgbClr val="2E8B57"/>
            </a:solidFill>
            <a:prstDash val="solid"/>
          </a:ln>
        </p:spPr>
      </p:sp>
      <p:sp>
        <p:nvSpPr>
          <p:cNvPr id="100" name="Shape 98"/>
          <p:cNvSpPr/>
          <p:nvPr/>
        </p:nvSpPr>
        <p:spPr>
          <a:xfrm flipV="1">
            <a:off x="2897505" y="4142794"/>
            <a:ext cx="21907" cy="23732"/>
          </a:xfrm>
          <a:prstGeom prst="line">
            <a:avLst/>
          </a:prstGeom>
          <a:noFill/>
          <a:ln w="31750">
            <a:solidFill>
              <a:srgbClr val="2E8B57"/>
            </a:solidFill>
            <a:prstDash val="solid"/>
          </a:ln>
        </p:spPr>
      </p:sp>
      <p:sp>
        <p:nvSpPr>
          <p:cNvPr id="101" name="Shape 99"/>
          <p:cNvSpPr/>
          <p:nvPr/>
        </p:nvSpPr>
        <p:spPr>
          <a:xfrm flipV="1">
            <a:off x="2919413" y="4114800"/>
            <a:ext cx="21907" cy="27994"/>
          </a:xfrm>
          <a:prstGeom prst="line">
            <a:avLst/>
          </a:prstGeom>
          <a:noFill/>
          <a:ln w="31750">
            <a:solidFill>
              <a:srgbClr val="2E8B57"/>
            </a:solidFill>
            <a:prstDash val="solid"/>
          </a:ln>
        </p:spPr>
      </p:sp>
      <p:sp>
        <p:nvSpPr>
          <p:cNvPr id="102" name="Shape 100"/>
          <p:cNvSpPr/>
          <p:nvPr/>
        </p:nvSpPr>
        <p:spPr>
          <a:xfrm flipV="1">
            <a:off x="2941320" y="4086806"/>
            <a:ext cx="21907" cy="27994"/>
          </a:xfrm>
          <a:prstGeom prst="line">
            <a:avLst/>
          </a:prstGeom>
          <a:noFill/>
          <a:ln w="31750">
            <a:solidFill>
              <a:srgbClr val="2E8B57"/>
            </a:solidFill>
            <a:prstDash val="solid"/>
          </a:ln>
        </p:spPr>
      </p:sp>
      <p:sp>
        <p:nvSpPr>
          <p:cNvPr id="103" name="Shape 101"/>
          <p:cNvSpPr/>
          <p:nvPr/>
        </p:nvSpPr>
        <p:spPr>
          <a:xfrm flipV="1">
            <a:off x="2963227" y="4063074"/>
            <a:ext cx="21908" cy="23732"/>
          </a:xfrm>
          <a:prstGeom prst="line">
            <a:avLst/>
          </a:prstGeom>
          <a:noFill/>
          <a:ln w="31750">
            <a:solidFill>
              <a:srgbClr val="2E8B57"/>
            </a:solidFill>
            <a:prstDash val="solid"/>
          </a:ln>
        </p:spPr>
      </p:sp>
      <p:sp>
        <p:nvSpPr>
          <p:cNvPr id="104" name="Shape 102"/>
          <p:cNvSpPr/>
          <p:nvPr/>
        </p:nvSpPr>
        <p:spPr>
          <a:xfrm flipV="1">
            <a:off x="2985135" y="4047216"/>
            <a:ext cx="21908" cy="15857"/>
          </a:xfrm>
          <a:prstGeom prst="line">
            <a:avLst/>
          </a:prstGeom>
          <a:noFill/>
          <a:ln w="31750">
            <a:solidFill>
              <a:srgbClr val="2E8B57"/>
            </a:solidFill>
            <a:prstDash val="solid"/>
          </a:ln>
        </p:spPr>
      </p:sp>
      <p:sp>
        <p:nvSpPr>
          <p:cNvPr id="105" name="Shape 103"/>
          <p:cNvSpPr/>
          <p:nvPr/>
        </p:nvSpPr>
        <p:spPr>
          <a:xfrm flipV="1">
            <a:off x="3007043" y="4041648"/>
            <a:ext cx="21907" cy="5568"/>
          </a:xfrm>
          <a:prstGeom prst="line">
            <a:avLst/>
          </a:prstGeom>
          <a:noFill/>
          <a:ln w="31750">
            <a:solidFill>
              <a:srgbClr val="2E8B57"/>
            </a:solidFill>
            <a:prstDash val="solid"/>
          </a:ln>
        </p:spPr>
      </p:sp>
      <p:sp>
        <p:nvSpPr>
          <p:cNvPr id="106" name="Shape 104"/>
          <p:cNvSpPr/>
          <p:nvPr/>
        </p:nvSpPr>
        <p:spPr>
          <a:xfrm>
            <a:off x="3028950" y="4041648"/>
            <a:ext cx="21908" cy="5568"/>
          </a:xfrm>
          <a:prstGeom prst="line">
            <a:avLst/>
          </a:prstGeom>
          <a:noFill/>
          <a:ln w="31750">
            <a:solidFill>
              <a:srgbClr val="2E8B57"/>
            </a:solidFill>
            <a:prstDash val="solid"/>
          </a:ln>
        </p:spPr>
      </p:sp>
      <p:sp>
        <p:nvSpPr>
          <p:cNvPr id="107" name="Shape 105"/>
          <p:cNvSpPr/>
          <p:nvPr/>
        </p:nvSpPr>
        <p:spPr>
          <a:xfrm>
            <a:off x="3050858" y="4047216"/>
            <a:ext cx="21907" cy="15857"/>
          </a:xfrm>
          <a:prstGeom prst="line">
            <a:avLst/>
          </a:prstGeom>
          <a:noFill/>
          <a:ln w="31750">
            <a:solidFill>
              <a:srgbClr val="2E8B57"/>
            </a:solidFill>
            <a:prstDash val="solid"/>
          </a:ln>
        </p:spPr>
      </p:sp>
      <p:sp>
        <p:nvSpPr>
          <p:cNvPr id="108" name="Shape 106"/>
          <p:cNvSpPr/>
          <p:nvPr/>
        </p:nvSpPr>
        <p:spPr>
          <a:xfrm>
            <a:off x="3072765" y="4063074"/>
            <a:ext cx="21908" cy="23732"/>
          </a:xfrm>
          <a:prstGeom prst="line">
            <a:avLst/>
          </a:prstGeom>
          <a:noFill/>
          <a:ln w="31750">
            <a:solidFill>
              <a:srgbClr val="2E8B57"/>
            </a:solidFill>
            <a:prstDash val="solid"/>
          </a:ln>
        </p:spPr>
      </p:sp>
      <p:sp>
        <p:nvSpPr>
          <p:cNvPr id="109" name="Shape 107"/>
          <p:cNvSpPr/>
          <p:nvPr/>
        </p:nvSpPr>
        <p:spPr>
          <a:xfrm>
            <a:off x="3094673" y="4086806"/>
            <a:ext cx="21907" cy="27994"/>
          </a:xfrm>
          <a:prstGeom prst="line">
            <a:avLst/>
          </a:prstGeom>
          <a:noFill/>
          <a:ln w="31750">
            <a:solidFill>
              <a:srgbClr val="2E8B57"/>
            </a:solidFill>
            <a:prstDash val="solid"/>
          </a:ln>
        </p:spPr>
      </p:sp>
      <p:sp>
        <p:nvSpPr>
          <p:cNvPr id="110" name="Shape 108"/>
          <p:cNvSpPr/>
          <p:nvPr/>
        </p:nvSpPr>
        <p:spPr>
          <a:xfrm>
            <a:off x="3116580" y="4114800"/>
            <a:ext cx="21908" cy="27994"/>
          </a:xfrm>
          <a:prstGeom prst="line">
            <a:avLst/>
          </a:prstGeom>
          <a:noFill/>
          <a:ln w="31750">
            <a:solidFill>
              <a:srgbClr val="2E8B57"/>
            </a:solidFill>
            <a:prstDash val="solid"/>
          </a:ln>
        </p:spPr>
      </p:sp>
      <p:sp>
        <p:nvSpPr>
          <p:cNvPr id="111" name="Shape 109"/>
          <p:cNvSpPr/>
          <p:nvPr/>
        </p:nvSpPr>
        <p:spPr>
          <a:xfrm>
            <a:off x="3138488" y="4142794"/>
            <a:ext cx="21907" cy="23732"/>
          </a:xfrm>
          <a:prstGeom prst="line">
            <a:avLst/>
          </a:prstGeom>
          <a:noFill/>
          <a:ln w="31750">
            <a:solidFill>
              <a:srgbClr val="2E8B57"/>
            </a:solidFill>
            <a:prstDash val="solid"/>
          </a:ln>
        </p:spPr>
      </p:sp>
      <p:sp>
        <p:nvSpPr>
          <p:cNvPr id="112" name="Shape 110"/>
          <p:cNvSpPr/>
          <p:nvPr/>
        </p:nvSpPr>
        <p:spPr>
          <a:xfrm>
            <a:off x="3160395" y="4166526"/>
            <a:ext cx="21908" cy="15857"/>
          </a:xfrm>
          <a:prstGeom prst="line">
            <a:avLst/>
          </a:prstGeom>
          <a:noFill/>
          <a:ln w="31750">
            <a:solidFill>
              <a:srgbClr val="2E8B57"/>
            </a:solidFill>
            <a:prstDash val="solid"/>
          </a:ln>
        </p:spPr>
      </p:sp>
      <p:sp>
        <p:nvSpPr>
          <p:cNvPr id="113" name="Shape 111"/>
          <p:cNvSpPr/>
          <p:nvPr/>
        </p:nvSpPr>
        <p:spPr>
          <a:xfrm>
            <a:off x="3182303" y="4182384"/>
            <a:ext cx="21908" cy="5568"/>
          </a:xfrm>
          <a:prstGeom prst="line">
            <a:avLst/>
          </a:prstGeom>
          <a:noFill/>
          <a:ln w="31750">
            <a:solidFill>
              <a:srgbClr val="2E8B57"/>
            </a:solidFill>
            <a:prstDash val="solid"/>
          </a:ln>
        </p:spPr>
      </p:sp>
      <p:sp>
        <p:nvSpPr>
          <p:cNvPr id="114" name="Shape 112"/>
          <p:cNvSpPr/>
          <p:nvPr/>
        </p:nvSpPr>
        <p:spPr>
          <a:xfrm flipV="1">
            <a:off x="3204210" y="4182384"/>
            <a:ext cx="21907" cy="5568"/>
          </a:xfrm>
          <a:prstGeom prst="line">
            <a:avLst/>
          </a:prstGeom>
          <a:noFill/>
          <a:ln w="31750">
            <a:solidFill>
              <a:srgbClr val="2E8B57"/>
            </a:solidFill>
            <a:prstDash val="solid"/>
          </a:ln>
        </p:spPr>
      </p:sp>
      <p:sp>
        <p:nvSpPr>
          <p:cNvPr id="115" name="Shape 113"/>
          <p:cNvSpPr/>
          <p:nvPr/>
        </p:nvSpPr>
        <p:spPr>
          <a:xfrm flipV="1">
            <a:off x="3226118" y="4166526"/>
            <a:ext cx="21907" cy="15857"/>
          </a:xfrm>
          <a:prstGeom prst="line">
            <a:avLst/>
          </a:prstGeom>
          <a:noFill/>
          <a:ln w="31750">
            <a:solidFill>
              <a:srgbClr val="2E8B57"/>
            </a:solidFill>
            <a:prstDash val="solid"/>
          </a:ln>
        </p:spPr>
      </p:sp>
      <p:sp>
        <p:nvSpPr>
          <p:cNvPr id="116" name="Shape 114"/>
          <p:cNvSpPr/>
          <p:nvPr/>
        </p:nvSpPr>
        <p:spPr>
          <a:xfrm flipV="1">
            <a:off x="3248025" y="4142794"/>
            <a:ext cx="21908" cy="23732"/>
          </a:xfrm>
          <a:prstGeom prst="line">
            <a:avLst/>
          </a:prstGeom>
          <a:noFill/>
          <a:ln w="31750">
            <a:solidFill>
              <a:srgbClr val="2E8B57"/>
            </a:solidFill>
            <a:prstDash val="solid"/>
          </a:ln>
        </p:spPr>
      </p:sp>
      <p:sp>
        <p:nvSpPr>
          <p:cNvPr id="117" name="Shape 115"/>
          <p:cNvSpPr/>
          <p:nvPr/>
        </p:nvSpPr>
        <p:spPr>
          <a:xfrm flipV="1">
            <a:off x="3269933" y="4114800"/>
            <a:ext cx="21908" cy="27994"/>
          </a:xfrm>
          <a:prstGeom prst="line">
            <a:avLst/>
          </a:prstGeom>
          <a:noFill/>
          <a:ln w="31750">
            <a:solidFill>
              <a:srgbClr val="2E8B57"/>
            </a:solidFill>
            <a:prstDash val="solid"/>
          </a:ln>
        </p:spPr>
      </p:sp>
      <p:sp>
        <p:nvSpPr>
          <p:cNvPr id="118" name="Shape 116"/>
          <p:cNvSpPr/>
          <p:nvPr/>
        </p:nvSpPr>
        <p:spPr>
          <a:xfrm flipV="1">
            <a:off x="3291840" y="4086806"/>
            <a:ext cx="21907" cy="27994"/>
          </a:xfrm>
          <a:prstGeom prst="line">
            <a:avLst/>
          </a:prstGeom>
          <a:noFill/>
          <a:ln w="31750">
            <a:solidFill>
              <a:srgbClr val="2E8B57"/>
            </a:solidFill>
            <a:prstDash val="solid"/>
          </a:ln>
        </p:spPr>
      </p:sp>
      <p:sp>
        <p:nvSpPr>
          <p:cNvPr id="119" name="Shape 117"/>
          <p:cNvSpPr/>
          <p:nvPr/>
        </p:nvSpPr>
        <p:spPr>
          <a:xfrm flipV="1">
            <a:off x="3313748" y="4063074"/>
            <a:ext cx="21908" cy="23732"/>
          </a:xfrm>
          <a:prstGeom prst="line">
            <a:avLst/>
          </a:prstGeom>
          <a:noFill/>
          <a:ln w="31750">
            <a:solidFill>
              <a:srgbClr val="2E8B57"/>
            </a:solidFill>
            <a:prstDash val="solid"/>
          </a:ln>
        </p:spPr>
      </p:sp>
      <p:sp>
        <p:nvSpPr>
          <p:cNvPr id="120" name="Shape 118"/>
          <p:cNvSpPr/>
          <p:nvPr/>
        </p:nvSpPr>
        <p:spPr>
          <a:xfrm flipV="1">
            <a:off x="3335655" y="4047216"/>
            <a:ext cx="21907" cy="15857"/>
          </a:xfrm>
          <a:prstGeom prst="line">
            <a:avLst/>
          </a:prstGeom>
          <a:noFill/>
          <a:ln w="31750">
            <a:solidFill>
              <a:srgbClr val="2E8B57"/>
            </a:solidFill>
            <a:prstDash val="solid"/>
          </a:ln>
        </p:spPr>
      </p:sp>
      <p:sp>
        <p:nvSpPr>
          <p:cNvPr id="121" name="Shape 119"/>
          <p:cNvSpPr/>
          <p:nvPr/>
        </p:nvSpPr>
        <p:spPr>
          <a:xfrm flipV="1">
            <a:off x="3357563" y="4041648"/>
            <a:ext cx="21908" cy="5568"/>
          </a:xfrm>
          <a:prstGeom prst="line">
            <a:avLst/>
          </a:prstGeom>
          <a:noFill/>
          <a:ln w="31750">
            <a:solidFill>
              <a:srgbClr val="2E8B57"/>
            </a:solidFill>
            <a:prstDash val="solid"/>
          </a:ln>
        </p:spPr>
      </p:sp>
      <p:sp>
        <p:nvSpPr>
          <p:cNvPr id="122" name="Shape 120"/>
          <p:cNvSpPr/>
          <p:nvPr/>
        </p:nvSpPr>
        <p:spPr>
          <a:xfrm>
            <a:off x="3379470" y="4041648"/>
            <a:ext cx="21907" cy="5568"/>
          </a:xfrm>
          <a:prstGeom prst="line">
            <a:avLst/>
          </a:prstGeom>
          <a:noFill/>
          <a:ln w="31750">
            <a:solidFill>
              <a:srgbClr val="2E8B57"/>
            </a:solidFill>
            <a:prstDash val="solid"/>
          </a:ln>
        </p:spPr>
      </p:sp>
      <p:sp>
        <p:nvSpPr>
          <p:cNvPr id="123" name="Shape 121"/>
          <p:cNvSpPr/>
          <p:nvPr/>
        </p:nvSpPr>
        <p:spPr>
          <a:xfrm>
            <a:off x="3401378" y="4047216"/>
            <a:ext cx="21908" cy="15857"/>
          </a:xfrm>
          <a:prstGeom prst="line">
            <a:avLst/>
          </a:prstGeom>
          <a:noFill/>
          <a:ln w="31750">
            <a:solidFill>
              <a:srgbClr val="2E8B57"/>
            </a:solidFill>
            <a:prstDash val="solid"/>
          </a:ln>
        </p:spPr>
      </p:sp>
      <p:sp>
        <p:nvSpPr>
          <p:cNvPr id="124" name="Shape 122"/>
          <p:cNvSpPr/>
          <p:nvPr/>
        </p:nvSpPr>
        <p:spPr>
          <a:xfrm>
            <a:off x="3423285" y="4063074"/>
            <a:ext cx="21907" cy="23732"/>
          </a:xfrm>
          <a:prstGeom prst="line">
            <a:avLst/>
          </a:prstGeom>
          <a:noFill/>
          <a:ln w="31750">
            <a:solidFill>
              <a:srgbClr val="2E8B57"/>
            </a:solidFill>
            <a:prstDash val="solid"/>
          </a:ln>
        </p:spPr>
      </p:sp>
      <p:sp>
        <p:nvSpPr>
          <p:cNvPr id="125" name="Shape 123"/>
          <p:cNvSpPr/>
          <p:nvPr/>
        </p:nvSpPr>
        <p:spPr>
          <a:xfrm>
            <a:off x="3445193" y="4086806"/>
            <a:ext cx="21908" cy="27994"/>
          </a:xfrm>
          <a:prstGeom prst="line">
            <a:avLst/>
          </a:prstGeom>
          <a:noFill/>
          <a:ln w="31750">
            <a:solidFill>
              <a:srgbClr val="2E8B57"/>
            </a:solidFill>
            <a:prstDash val="solid"/>
          </a:ln>
        </p:spPr>
      </p:sp>
      <p:sp>
        <p:nvSpPr>
          <p:cNvPr id="126" name="Shape 124"/>
          <p:cNvSpPr/>
          <p:nvPr/>
        </p:nvSpPr>
        <p:spPr>
          <a:xfrm>
            <a:off x="3467100" y="4114800"/>
            <a:ext cx="21907" cy="27994"/>
          </a:xfrm>
          <a:prstGeom prst="line">
            <a:avLst/>
          </a:prstGeom>
          <a:noFill/>
          <a:ln w="31750">
            <a:solidFill>
              <a:srgbClr val="2E8B57"/>
            </a:solidFill>
            <a:prstDash val="solid"/>
          </a:ln>
        </p:spPr>
      </p:sp>
      <p:sp>
        <p:nvSpPr>
          <p:cNvPr id="127" name="Shape 125"/>
          <p:cNvSpPr/>
          <p:nvPr/>
        </p:nvSpPr>
        <p:spPr>
          <a:xfrm>
            <a:off x="3489008" y="4142794"/>
            <a:ext cx="21908" cy="23732"/>
          </a:xfrm>
          <a:prstGeom prst="line">
            <a:avLst/>
          </a:prstGeom>
          <a:noFill/>
          <a:ln w="31750">
            <a:solidFill>
              <a:srgbClr val="2E8B57"/>
            </a:solidFill>
            <a:prstDash val="solid"/>
          </a:ln>
        </p:spPr>
      </p:sp>
      <p:sp>
        <p:nvSpPr>
          <p:cNvPr id="128" name="Shape 126"/>
          <p:cNvSpPr/>
          <p:nvPr/>
        </p:nvSpPr>
        <p:spPr>
          <a:xfrm>
            <a:off x="3510915" y="4166526"/>
            <a:ext cx="21908" cy="15857"/>
          </a:xfrm>
          <a:prstGeom prst="line">
            <a:avLst/>
          </a:prstGeom>
          <a:noFill/>
          <a:ln w="31750">
            <a:solidFill>
              <a:srgbClr val="2E8B57"/>
            </a:solidFill>
            <a:prstDash val="solid"/>
          </a:ln>
        </p:spPr>
      </p:sp>
      <p:sp>
        <p:nvSpPr>
          <p:cNvPr id="129" name="Shape 127"/>
          <p:cNvSpPr/>
          <p:nvPr/>
        </p:nvSpPr>
        <p:spPr>
          <a:xfrm>
            <a:off x="3532823" y="4182384"/>
            <a:ext cx="21907" cy="5568"/>
          </a:xfrm>
          <a:prstGeom prst="line">
            <a:avLst/>
          </a:prstGeom>
          <a:noFill/>
          <a:ln w="31750">
            <a:solidFill>
              <a:srgbClr val="2E8B57"/>
            </a:solidFill>
            <a:prstDash val="solid"/>
          </a:ln>
        </p:spPr>
      </p:sp>
      <p:sp>
        <p:nvSpPr>
          <p:cNvPr id="130" name="Shape 128"/>
          <p:cNvSpPr/>
          <p:nvPr/>
        </p:nvSpPr>
        <p:spPr>
          <a:xfrm flipV="1">
            <a:off x="3554730" y="4182384"/>
            <a:ext cx="21907" cy="5568"/>
          </a:xfrm>
          <a:prstGeom prst="line">
            <a:avLst/>
          </a:prstGeom>
          <a:noFill/>
          <a:ln w="31750">
            <a:solidFill>
              <a:srgbClr val="2E8B57"/>
            </a:solidFill>
            <a:prstDash val="solid"/>
          </a:ln>
        </p:spPr>
      </p:sp>
      <p:sp>
        <p:nvSpPr>
          <p:cNvPr id="131" name="Shape 129"/>
          <p:cNvSpPr/>
          <p:nvPr/>
        </p:nvSpPr>
        <p:spPr>
          <a:xfrm flipV="1">
            <a:off x="3576637" y="4166526"/>
            <a:ext cx="21908" cy="15857"/>
          </a:xfrm>
          <a:prstGeom prst="line">
            <a:avLst/>
          </a:prstGeom>
          <a:noFill/>
          <a:ln w="31750">
            <a:solidFill>
              <a:srgbClr val="2E8B57"/>
            </a:solidFill>
            <a:prstDash val="solid"/>
          </a:ln>
        </p:spPr>
      </p:sp>
      <p:sp>
        <p:nvSpPr>
          <p:cNvPr id="132" name="Shape 130"/>
          <p:cNvSpPr/>
          <p:nvPr/>
        </p:nvSpPr>
        <p:spPr>
          <a:xfrm flipV="1">
            <a:off x="3598545" y="4142794"/>
            <a:ext cx="21908" cy="23732"/>
          </a:xfrm>
          <a:prstGeom prst="line">
            <a:avLst/>
          </a:prstGeom>
          <a:noFill/>
          <a:ln w="31750">
            <a:solidFill>
              <a:srgbClr val="2E8B57"/>
            </a:solidFill>
            <a:prstDash val="solid"/>
          </a:ln>
        </p:spPr>
      </p:sp>
      <p:sp>
        <p:nvSpPr>
          <p:cNvPr id="133" name="Shape 131"/>
          <p:cNvSpPr/>
          <p:nvPr/>
        </p:nvSpPr>
        <p:spPr>
          <a:xfrm flipV="1">
            <a:off x="3620453" y="4114800"/>
            <a:ext cx="21907" cy="27994"/>
          </a:xfrm>
          <a:prstGeom prst="line">
            <a:avLst/>
          </a:prstGeom>
          <a:noFill/>
          <a:ln w="31750">
            <a:solidFill>
              <a:srgbClr val="2E8B57"/>
            </a:solidFill>
            <a:prstDash val="solid"/>
          </a:ln>
        </p:spPr>
      </p:sp>
      <p:sp>
        <p:nvSpPr>
          <p:cNvPr id="134" name="Shape 132"/>
          <p:cNvSpPr/>
          <p:nvPr/>
        </p:nvSpPr>
        <p:spPr>
          <a:xfrm flipV="1">
            <a:off x="3642360" y="4086806"/>
            <a:ext cx="21908" cy="27994"/>
          </a:xfrm>
          <a:prstGeom prst="line">
            <a:avLst/>
          </a:prstGeom>
          <a:noFill/>
          <a:ln w="31750">
            <a:solidFill>
              <a:srgbClr val="2E8B57"/>
            </a:solidFill>
            <a:prstDash val="solid"/>
          </a:ln>
        </p:spPr>
      </p:sp>
      <p:sp>
        <p:nvSpPr>
          <p:cNvPr id="135" name="Shape 133"/>
          <p:cNvSpPr/>
          <p:nvPr/>
        </p:nvSpPr>
        <p:spPr>
          <a:xfrm flipV="1">
            <a:off x="3664268" y="4063074"/>
            <a:ext cx="21907" cy="23732"/>
          </a:xfrm>
          <a:prstGeom prst="line">
            <a:avLst/>
          </a:prstGeom>
          <a:noFill/>
          <a:ln w="31750">
            <a:solidFill>
              <a:srgbClr val="2E8B57"/>
            </a:solidFill>
            <a:prstDash val="solid"/>
          </a:ln>
        </p:spPr>
      </p:sp>
      <p:sp>
        <p:nvSpPr>
          <p:cNvPr id="136" name="Shape 134"/>
          <p:cNvSpPr/>
          <p:nvPr/>
        </p:nvSpPr>
        <p:spPr>
          <a:xfrm flipV="1">
            <a:off x="3686175" y="4047216"/>
            <a:ext cx="21908" cy="15857"/>
          </a:xfrm>
          <a:prstGeom prst="line">
            <a:avLst/>
          </a:prstGeom>
          <a:noFill/>
          <a:ln w="31750">
            <a:solidFill>
              <a:srgbClr val="2E8B57"/>
            </a:solidFill>
            <a:prstDash val="solid"/>
          </a:ln>
        </p:spPr>
      </p:sp>
      <p:sp>
        <p:nvSpPr>
          <p:cNvPr id="137" name="Shape 135"/>
          <p:cNvSpPr/>
          <p:nvPr/>
        </p:nvSpPr>
        <p:spPr>
          <a:xfrm flipV="1">
            <a:off x="3708083" y="4041648"/>
            <a:ext cx="21907" cy="5568"/>
          </a:xfrm>
          <a:prstGeom prst="line">
            <a:avLst/>
          </a:prstGeom>
          <a:noFill/>
          <a:ln w="31750">
            <a:solidFill>
              <a:srgbClr val="2E8B57"/>
            </a:solidFill>
            <a:prstDash val="solid"/>
          </a:ln>
        </p:spPr>
      </p:sp>
      <p:sp>
        <p:nvSpPr>
          <p:cNvPr id="138" name="Shape 136"/>
          <p:cNvSpPr/>
          <p:nvPr/>
        </p:nvSpPr>
        <p:spPr>
          <a:xfrm>
            <a:off x="3729990" y="4041648"/>
            <a:ext cx="21908" cy="5568"/>
          </a:xfrm>
          <a:prstGeom prst="line">
            <a:avLst/>
          </a:prstGeom>
          <a:noFill/>
          <a:ln w="31750">
            <a:solidFill>
              <a:srgbClr val="2E8B57"/>
            </a:solidFill>
            <a:prstDash val="solid"/>
          </a:ln>
        </p:spPr>
      </p:sp>
      <p:sp>
        <p:nvSpPr>
          <p:cNvPr id="139" name="Shape 137"/>
          <p:cNvSpPr/>
          <p:nvPr/>
        </p:nvSpPr>
        <p:spPr>
          <a:xfrm>
            <a:off x="3751898" y="4047216"/>
            <a:ext cx="21907" cy="15857"/>
          </a:xfrm>
          <a:prstGeom prst="line">
            <a:avLst/>
          </a:prstGeom>
          <a:noFill/>
          <a:ln w="31750">
            <a:solidFill>
              <a:srgbClr val="2E8B57"/>
            </a:solidFill>
            <a:prstDash val="solid"/>
          </a:ln>
        </p:spPr>
      </p:sp>
      <p:sp>
        <p:nvSpPr>
          <p:cNvPr id="140" name="Shape 138"/>
          <p:cNvSpPr/>
          <p:nvPr/>
        </p:nvSpPr>
        <p:spPr>
          <a:xfrm>
            <a:off x="3773805" y="4063074"/>
            <a:ext cx="21908" cy="23732"/>
          </a:xfrm>
          <a:prstGeom prst="line">
            <a:avLst/>
          </a:prstGeom>
          <a:noFill/>
          <a:ln w="31750">
            <a:solidFill>
              <a:srgbClr val="2E8B57"/>
            </a:solidFill>
            <a:prstDash val="solid"/>
          </a:ln>
        </p:spPr>
      </p:sp>
      <p:sp>
        <p:nvSpPr>
          <p:cNvPr id="141" name="Shape 139"/>
          <p:cNvSpPr/>
          <p:nvPr/>
        </p:nvSpPr>
        <p:spPr>
          <a:xfrm>
            <a:off x="3795713" y="4086806"/>
            <a:ext cx="21907" cy="27994"/>
          </a:xfrm>
          <a:prstGeom prst="line">
            <a:avLst/>
          </a:prstGeom>
          <a:noFill/>
          <a:ln w="31750">
            <a:solidFill>
              <a:srgbClr val="2E8B57"/>
            </a:solidFill>
            <a:prstDash val="solid"/>
          </a:ln>
        </p:spPr>
      </p:sp>
      <p:sp>
        <p:nvSpPr>
          <p:cNvPr id="142" name="Shape 140"/>
          <p:cNvSpPr/>
          <p:nvPr/>
        </p:nvSpPr>
        <p:spPr>
          <a:xfrm>
            <a:off x="3817620" y="4114800"/>
            <a:ext cx="21908" cy="27994"/>
          </a:xfrm>
          <a:prstGeom prst="line">
            <a:avLst/>
          </a:prstGeom>
          <a:noFill/>
          <a:ln w="31750">
            <a:solidFill>
              <a:srgbClr val="2E8B57"/>
            </a:solidFill>
            <a:prstDash val="solid"/>
          </a:ln>
        </p:spPr>
      </p:sp>
      <p:sp>
        <p:nvSpPr>
          <p:cNvPr id="143" name="Shape 141"/>
          <p:cNvSpPr/>
          <p:nvPr/>
        </p:nvSpPr>
        <p:spPr>
          <a:xfrm>
            <a:off x="3839528" y="4142794"/>
            <a:ext cx="21908" cy="23732"/>
          </a:xfrm>
          <a:prstGeom prst="line">
            <a:avLst/>
          </a:prstGeom>
          <a:noFill/>
          <a:ln w="31750">
            <a:solidFill>
              <a:srgbClr val="2E8B57"/>
            </a:solidFill>
            <a:prstDash val="solid"/>
          </a:ln>
        </p:spPr>
      </p:sp>
      <p:sp>
        <p:nvSpPr>
          <p:cNvPr id="144" name="Shape 142"/>
          <p:cNvSpPr/>
          <p:nvPr/>
        </p:nvSpPr>
        <p:spPr>
          <a:xfrm>
            <a:off x="3861435" y="4166526"/>
            <a:ext cx="21907" cy="15857"/>
          </a:xfrm>
          <a:prstGeom prst="line">
            <a:avLst/>
          </a:prstGeom>
          <a:noFill/>
          <a:ln w="31750">
            <a:solidFill>
              <a:srgbClr val="2E8B57"/>
            </a:solidFill>
            <a:prstDash val="solid"/>
          </a:ln>
        </p:spPr>
      </p:sp>
      <p:sp>
        <p:nvSpPr>
          <p:cNvPr id="145" name="Shape 143"/>
          <p:cNvSpPr/>
          <p:nvPr/>
        </p:nvSpPr>
        <p:spPr>
          <a:xfrm>
            <a:off x="3883343" y="4182384"/>
            <a:ext cx="21907" cy="5568"/>
          </a:xfrm>
          <a:prstGeom prst="line">
            <a:avLst/>
          </a:prstGeom>
          <a:noFill/>
          <a:ln w="31750">
            <a:solidFill>
              <a:srgbClr val="2E8B57"/>
            </a:solidFill>
            <a:prstDash val="solid"/>
          </a:ln>
        </p:spPr>
      </p:sp>
      <p:sp>
        <p:nvSpPr>
          <p:cNvPr id="146" name="Shape 144"/>
          <p:cNvSpPr/>
          <p:nvPr/>
        </p:nvSpPr>
        <p:spPr>
          <a:xfrm flipV="1">
            <a:off x="3905250" y="4182384"/>
            <a:ext cx="21908" cy="5568"/>
          </a:xfrm>
          <a:prstGeom prst="line">
            <a:avLst/>
          </a:prstGeom>
          <a:noFill/>
          <a:ln w="31750">
            <a:solidFill>
              <a:srgbClr val="2E8B57"/>
            </a:solidFill>
            <a:prstDash val="solid"/>
          </a:ln>
        </p:spPr>
      </p:sp>
      <p:sp>
        <p:nvSpPr>
          <p:cNvPr id="147" name="Shape 145"/>
          <p:cNvSpPr/>
          <p:nvPr/>
        </p:nvSpPr>
        <p:spPr>
          <a:xfrm flipV="1">
            <a:off x="3927158" y="4166526"/>
            <a:ext cx="21908" cy="15857"/>
          </a:xfrm>
          <a:prstGeom prst="line">
            <a:avLst/>
          </a:prstGeom>
          <a:noFill/>
          <a:ln w="31750">
            <a:solidFill>
              <a:srgbClr val="2E8B57"/>
            </a:solidFill>
            <a:prstDash val="solid"/>
          </a:ln>
        </p:spPr>
      </p:sp>
      <p:sp>
        <p:nvSpPr>
          <p:cNvPr id="148" name="Shape 146"/>
          <p:cNvSpPr/>
          <p:nvPr/>
        </p:nvSpPr>
        <p:spPr>
          <a:xfrm flipV="1">
            <a:off x="3949065" y="4142794"/>
            <a:ext cx="21907" cy="23732"/>
          </a:xfrm>
          <a:prstGeom prst="line">
            <a:avLst/>
          </a:prstGeom>
          <a:noFill/>
          <a:ln w="31750">
            <a:solidFill>
              <a:srgbClr val="2E8B57"/>
            </a:solidFill>
            <a:prstDash val="solid"/>
          </a:ln>
        </p:spPr>
      </p:sp>
      <p:sp>
        <p:nvSpPr>
          <p:cNvPr id="149" name="Shape 147"/>
          <p:cNvSpPr/>
          <p:nvPr/>
        </p:nvSpPr>
        <p:spPr>
          <a:xfrm flipV="1">
            <a:off x="3970973" y="4114800"/>
            <a:ext cx="21908" cy="27994"/>
          </a:xfrm>
          <a:prstGeom prst="line">
            <a:avLst/>
          </a:prstGeom>
          <a:noFill/>
          <a:ln w="31750">
            <a:solidFill>
              <a:srgbClr val="2E8B57"/>
            </a:solidFill>
            <a:prstDash val="solid"/>
          </a:ln>
        </p:spPr>
      </p:sp>
      <p:sp>
        <p:nvSpPr>
          <p:cNvPr id="150" name="Shape 148"/>
          <p:cNvSpPr/>
          <p:nvPr/>
        </p:nvSpPr>
        <p:spPr>
          <a:xfrm flipV="1">
            <a:off x="3992880" y="4086806"/>
            <a:ext cx="21907" cy="27994"/>
          </a:xfrm>
          <a:prstGeom prst="line">
            <a:avLst/>
          </a:prstGeom>
          <a:noFill/>
          <a:ln w="31750">
            <a:solidFill>
              <a:srgbClr val="2E8B57"/>
            </a:solidFill>
            <a:prstDash val="solid"/>
          </a:ln>
        </p:spPr>
      </p:sp>
      <p:sp>
        <p:nvSpPr>
          <p:cNvPr id="151" name="Shape 149"/>
          <p:cNvSpPr/>
          <p:nvPr/>
        </p:nvSpPr>
        <p:spPr>
          <a:xfrm flipV="1">
            <a:off x="4014788" y="4063074"/>
            <a:ext cx="21908" cy="23732"/>
          </a:xfrm>
          <a:prstGeom prst="line">
            <a:avLst/>
          </a:prstGeom>
          <a:noFill/>
          <a:ln w="31750">
            <a:solidFill>
              <a:srgbClr val="2E8B57"/>
            </a:solidFill>
            <a:prstDash val="solid"/>
          </a:ln>
        </p:spPr>
      </p:sp>
      <p:sp>
        <p:nvSpPr>
          <p:cNvPr id="152" name="Shape 150"/>
          <p:cNvSpPr/>
          <p:nvPr/>
        </p:nvSpPr>
        <p:spPr>
          <a:xfrm flipV="1">
            <a:off x="4036695" y="4047216"/>
            <a:ext cx="21907" cy="15857"/>
          </a:xfrm>
          <a:prstGeom prst="line">
            <a:avLst/>
          </a:prstGeom>
          <a:noFill/>
          <a:ln w="31750">
            <a:solidFill>
              <a:srgbClr val="2E8B57"/>
            </a:solidFill>
            <a:prstDash val="solid"/>
          </a:ln>
        </p:spPr>
      </p:sp>
      <p:sp>
        <p:nvSpPr>
          <p:cNvPr id="153" name="Shape 151"/>
          <p:cNvSpPr/>
          <p:nvPr/>
        </p:nvSpPr>
        <p:spPr>
          <a:xfrm flipV="1">
            <a:off x="4058603" y="4041648"/>
            <a:ext cx="21908" cy="5568"/>
          </a:xfrm>
          <a:prstGeom prst="line">
            <a:avLst/>
          </a:prstGeom>
          <a:noFill/>
          <a:ln w="31750">
            <a:solidFill>
              <a:srgbClr val="2E8B57"/>
            </a:solidFill>
            <a:prstDash val="solid"/>
          </a:ln>
        </p:spPr>
      </p:sp>
      <p:sp>
        <p:nvSpPr>
          <p:cNvPr id="154" name="Shape 152"/>
          <p:cNvSpPr/>
          <p:nvPr/>
        </p:nvSpPr>
        <p:spPr>
          <a:xfrm>
            <a:off x="4080510" y="4041648"/>
            <a:ext cx="21907" cy="5568"/>
          </a:xfrm>
          <a:prstGeom prst="line">
            <a:avLst/>
          </a:prstGeom>
          <a:noFill/>
          <a:ln w="31750">
            <a:solidFill>
              <a:srgbClr val="2E8B57"/>
            </a:solidFill>
            <a:prstDash val="solid"/>
          </a:ln>
        </p:spPr>
      </p:sp>
      <p:sp>
        <p:nvSpPr>
          <p:cNvPr id="155" name="Shape 153"/>
          <p:cNvSpPr/>
          <p:nvPr/>
        </p:nvSpPr>
        <p:spPr>
          <a:xfrm>
            <a:off x="4102418" y="4047216"/>
            <a:ext cx="21908" cy="15857"/>
          </a:xfrm>
          <a:prstGeom prst="line">
            <a:avLst/>
          </a:prstGeom>
          <a:noFill/>
          <a:ln w="31750">
            <a:solidFill>
              <a:srgbClr val="2E8B57"/>
            </a:solidFill>
            <a:prstDash val="solid"/>
          </a:ln>
        </p:spPr>
      </p:sp>
      <p:sp>
        <p:nvSpPr>
          <p:cNvPr id="156" name="Shape 154"/>
          <p:cNvSpPr/>
          <p:nvPr/>
        </p:nvSpPr>
        <p:spPr>
          <a:xfrm>
            <a:off x="4124325" y="4063074"/>
            <a:ext cx="21907" cy="23732"/>
          </a:xfrm>
          <a:prstGeom prst="line">
            <a:avLst/>
          </a:prstGeom>
          <a:noFill/>
          <a:ln w="31750">
            <a:solidFill>
              <a:srgbClr val="2E8B57"/>
            </a:solidFill>
            <a:prstDash val="solid"/>
          </a:ln>
        </p:spPr>
      </p:sp>
      <p:sp>
        <p:nvSpPr>
          <p:cNvPr id="157" name="Shape 155"/>
          <p:cNvSpPr/>
          <p:nvPr/>
        </p:nvSpPr>
        <p:spPr>
          <a:xfrm>
            <a:off x="4146233" y="4086806"/>
            <a:ext cx="21908" cy="27994"/>
          </a:xfrm>
          <a:prstGeom prst="line">
            <a:avLst/>
          </a:prstGeom>
          <a:noFill/>
          <a:ln w="31750">
            <a:solidFill>
              <a:srgbClr val="2E8B57"/>
            </a:solidFill>
            <a:prstDash val="solid"/>
          </a:ln>
        </p:spPr>
      </p:sp>
      <p:sp>
        <p:nvSpPr>
          <p:cNvPr id="158" name="Shape 156"/>
          <p:cNvSpPr/>
          <p:nvPr/>
        </p:nvSpPr>
        <p:spPr>
          <a:xfrm>
            <a:off x="4168140" y="4114800"/>
            <a:ext cx="21908" cy="27994"/>
          </a:xfrm>
          <a:prstGeom prst="line">
            <a:avLst/>
          </a:prstGeom>
          <a:noFill/>
          <a:ln w="31750">
            <a:solidFill>
              <a:srgbClr val="2E8B57"/>
            </a:solidFill>
            <a:prstDash val="solid"/>
          </a:ln>
        </p:spPr>
      </p:sp>
      <p:sp>
        <p:nvSpPr>
          <p:cNvPr id="159" name="Shape 157"/>
          <p:cNvSpPr/>
          <p:nvPr/>
        </p:nvSpPr>
        <p:spPr>
          <a:xfrm>
            <a:off x="4190048" y="4142794"/>
            <a:ext cx="21907" cy="23732"/>
          </a:xfrm>
          <a:prstGeom prst="line">
            <a:avLst/>
          </a:prstGeom>
          <a:noFill/>
          <a:ln w="31750">
            <a:solidFill>
              <a:srgbClr val="2E8B57"/>
            </a:solidFill>
            <a:prstDash val="solid"/>
          </a:ln>
        </p:spPr>
      </p:sp>
      <p:sp>
        <p:nvSpPr>
          <p:cNvPr id="160" name="Shape 158"/>
          <p:cNvSpPr/>
          <p:nvPr/>
        </p:nvSpPr>
        <p:spPr>
          <a:xfrm>
            <a:off x="4211955" y="4166526"/>
            <a:ext cx="21907" cy="15857"/>
          </a:xfrm>
          <a:prstGeom prst="line">
            <a:avLst/>
          </a:prstGeom>
          <a:noFill/>
          <a:ln w="31750">
            <a:solidFill>
              <a:srgbClr val="2E8B57"/>
            </a:solidFill>
            <a:prstDash val="solid"/>
          </a:ln>
        </p:spPr>
      </p:sp>
      <p:sp>
        <p:nvSpPr>
          <p:cNvPr id="161" name="Shape 159"/>
          <p:cNvSpPr/>
          <p:nvPr/>
        </p:nvSpPr>
        <p:spPr>
          <a:xfrm>
            <a:off x="4233863" y="4182384"/>
            <a:ext cx="21908" cy="5568"/>
          </a:xfrm>
          <a:prstGeom prst="line">
            <a:avLst/>
          </a:prstGeom>
          <a:noFill/>
          <a:ln w="31750">
            <a:solidFill>
              <a:srgbClr val="2E8B57"/>
            </a:solidFill>
            <a:prstDash val="solid"/>
          </a:ln>
        </p:spPr>
      </p:sp>
      <p:sp>
        <p:nvSpPr>
          <p:cNvPr id="162" name="Shape 160"/>
          <p:cNvSpPr/>
          <p:nvPr/>
        </p:nvSpPr>
        <p:spPr>
          <a:xfrm flipV="1">
            <a:off x="4255770" y="4182384"/>
            <a:ext cx="21908" cy="5568"/>
          </a:xfrm>
          <a:prstGeom prst="line">
            <a:avLst/>
          </a:prstGeom>
          <a:noFill/>
          <a:ln w="31750">
            <a:solidFill>
              <a:srgbClr val="2E8B57"/>
            </a:solidFill>
            <a:prstDash val="solid"/>
          </a:ln>
        </p:spPr>
      </p:sp>
      <p:sp>
        <p:nvSpPr>
          <p:cNvPr id="163" name="Shape 161"/>
          <p:cNvSpPr/>
          <p:nvPr/>
        </p:nvSpPr>
        <p:spPr>
          <a:xfrm flipV="1">
            <a:off x="4277678" y="4166526"/>
            <a:ext cx="21907" cy="15857"/>
          </a:xfrm>
          <a:prstGeom prst="line">
            <a:avLst/>
          </a:prstGeom>
          <a:noFill/>
          <a:ln w="31750">
            <a:solidFill>
              <a:srgbClr val="2E8B57"/>
            </a:solidFill>
            <a:prstDash val="solid"/>
          </a:ln>
        </p:spPr>
      </p:sp>
      <p:sp>
        <p:nvSpPr>
          <p:cNvPr id="164" name="Shape 162"/>
          <p:cNvSpPr/>
          <p:nvPr/>
        </p:nvSpPr>
        <p:spPr>
          <a:xfrm flipV="1">
            <a:off x="4299585" y="4142794"/>
            <a:ext cx="21908" cy="23732"/>
          </a:xfrm>
          <a:prstGeom prst="line">
            <a:avLst/>
          </a:prstGeom>
          <a:noFill/>
          <a:ln w="31750">
            <a:solidFill>
              <a:srgbClr val="2E8B57"/>
            </a:solidFill>
            <a:prstDash val="solid"/>
          </a:ln>
        </p:spPr>
      </p:sp>
      <p:sp>
        <p:nvSpPr>
          <p:cNvPr id="165" name="Shape 163"/>
          <p:cNvSpPr/>
          <p:nvPr/>
        </p:nvSpPr>
        <p:spPr>
          <a:xfrm flipV="1">
            <a:off x="4321493" y="4114800"/>
            <a:ext cx="21907" cy="27994"/>
          </a:xfrm>
          <a:prstGeom prst="line">
            <a:avLst/>
          </a:prstGeom>
          <a:noFill/>
          <a:ln w="31750">
            <a:solidFill>
              <a:srgbClr val="2E8B57"/>
            </a:solidFill>
            <a:prstDash val="solid"/>
          </a:ln>
        </p:spPr>
      </p:sp>
      <p:sp>
        <p:nvSpPr>
          <p:cNvPr id="166" name="Shape 164"/>
          <p:cNvSpPr/>
          <p:nvPr/>
        </p:nvSpPr>
        <p:spPr>
          <a:xfrm flipV="1">
            <a:off x="4892040" y="4100803"/>
            <a:ext cx="15240" cy="13997"/>
          </a:xfrm>
          <a:prstGeom prst="line">
            <a:avLst/>
          </a:prstGeom>
          <a:noFill/>
          <a:ln w="12700">
            <a:solidFill>
              <a:srgbClr val="2E8B57"/>
            </a:solidFill>
            <a:prstDash val="solid"/>
          </a:ln>
        </p:spPr>
      </p:sp>
      <p:sp>
        <p:nvSpPr>
          <p:cNvPr id="167" name="Shape 165"/>
          <p:cNvSpPr/>
          <p:nvPr/>
        </p:nvSpPr>
        <p:spPr>
          <a:xfrm flipV="1">
            <a:off x="4907280" y="4088937"/>
            <a:ext cx="15240" cy="11866"/>
          </a:xfrm>
          <a:prstGeom prst="line">
            <a:avLst/>
          </a:prstGeom>
          <a:noFill/>
          <a:ln w="12700">
            <a:solidFill>
              <a:srgbClr val="2E8B57"/>
            </a:solidFill>
            <a:prstDash val="solid"/>
          </a:ln>
        </p:spPr>
      </p:sp>
      <p:sp>
        <p:nvSpPr>
          <p:cNvPr id="168" name="Shape 166"/>
          <p:cNvSpPr/>
          <p:nvPr/>
        </p:nvSpPr>
        <p:spPr>
          <a:xfrm flipV="1">
            <a:off x="4922520" y="4081008"/>
            <a:ext cx="15240" cy="7929"/>
          </a:xfrm>
          <a:prstGeom prst="line">
            <a:avLst/>
          </a:prstGeom>
          <a:noFill/>
          <a:ln w="12700">
            <a:solidFill>
              <a:srgbClr val="2E8B57"/>
            </a:solidFill>
            <a:prstDash val="solid"/>
          </a:ln>
        </p:spPr>
      </p:sp>
      <p:sp>
        <p:nvSpPr>
          <p:cNvPr id="169" name="Shape 167"/>
          <p:cNvSpPr/>
          <p:nvPr/>
        </p:nvSpPr>
        <p:spPr>
          <a:xfrm flipV="1">
            <a:off x="4937760" y="4078224"/>
            <a:ext cx="15240" cy="2784"/>
          </a:xfrm>
          <a:prstGeom prst="line">
            <a:avLst/>
          </a:prstGeom>
          <a:noFill/>
          <a:ln w="12700">
            <a:solidFill>
              <a:srgbClr val="2E8B57"/>
            </a:solidFill>
            <a:prstDash val="solid"/>
          </a:ln>
        </p:spPr>
      </p:sp>
      <p:sp>
        <p:nvSpPr>
          <p:cNvPr id="170" name="Shape 168"/>
          <p:cNvSpPr/>
          <p:nvPr/>
        </p:nvSpPr>
        <p:spPr>
          <a:xfrm>
            <a:off x="4953000" y="4078224"/>
            <a:ext cx="15240" cy="2784"/>
          </a:xfrm>
          <a:prstGeom prst="line">
            <a:avLst/>
          </a:prstGeom>
          <a:noFill/>
          <a:ln w="12700">
            <a:solidFill>
              <a:srgbClr val="2E8B57"/>
            </a:solidFill>
            <a:prstDash val="solid"/>
          </a:ln>
        </p:spPr>
      </p:sp>
      <p:sp>
        <p:nvSpPr>
          <p:cNvPr id="171" name="Shape 169"/>
          <p:cNvSpPr/>
          <p:nvPr/>
        </p:nvSpPr>
        <p:spPr>
          <a:xfrm>
            <a:off x="4968240" y="4081008"/>
            <a:ext cx="15240" cy="7929"/>
          </a:xfrm>
          <a:prstGeom prst="line">
            <a:avLst/>
          </a:prstGeom>
          <a:noFill/>
          <a:ln w="12700">
            <a:solidFill>
              <a:srgbClr val="2E8B57"/>
            </a:solidFill>
            <a:prstDash val="solid"/>
          </a:ln>
        </p:spPr>
      </p:sp>
      <p:sp>
        <p:nvSpPr>
          <p:cNvPr id="172" name="Shape 170"/>
          <p:cNvSpPr/>
          <p:nvPr/>
        </p:nvSpPr>
        <p:spPr>
          <a:xfrm>
            <a:off x="4983480" y="4088937"/>
            <a:ext cx="15240" cy="11866"/>
          </a:xfrm>
          <a:prstGeom prst="line">
            <a:avLst/>
          </a:prstGeom>
          <a:noFill/>
          <a:ln w="12700">
            <a:solidFill>
              <a:srgbClr val="2E8B57"/>
            </a:solidFill>
            <a:prstDash val="solid"/>
          </a:ln>
        </p:spPr>
      </p:sp>
      <p:sp>
        <p:nvSpPr>
          <p:cNvPr id="173" name="Shape 171"/>
          <p:cNvSpPr/>
          <p:nvPr/>
        </p:nvSpPr>
        <p:spPr>
          <a:xfrm>
            <a:off x="4998720" y="4100803"/>
            <a:ext cx="15240" cy="13997"/>
          </a:xfrm>
          <a:prstGeom prst="line">
            <a:avLst/>
          </a:prstGeom>
          <a:noFill/>
          <a:ln w="12700">
            <a:solidFill>
              <a:srgbClr val="2E8B57"/>
            </a:solidFill>
            <a:prstDash val="solid"/>
          </a:ln>
        </p:spPr>
      </p:sp>
      <p:sp>
        <p:nvSpPr>
          <p:cNvPr id="174" name="Shape 172"/>
          <p:cNvSpPr/>
          <p:nvPr/>
        </p:nvSpPr>
        <p:spPr>
          <a:xfrm>
            <a:off x="5013960" y="4114800"/>
            <a:ext cx="15240" cy="13997"/>
          </a:xfrm>
          <a:prstGeom prst="line">
            <a:avLst/>
          </a:prstGeom>
          <a:noFill/>
          <a:ln w="12700">
            <a:solidFill>
              <a:srgbClr val="2E8B57"/>
            </a:solidFill>
            <a:prstDash val="solid"/>
          </a:ln>
        </p:spPr>
      </p:sp>
      <p:sp>
        <p:nvSpPr>
          <p:cNvPr id="175" name="Shape 173"/>
          <p:cNvSpPr/>
          <p:nvPr/>
        </p:nvSpPr>
        <p:spPr>
          <a:xfrm>
            <a:off x="5029200" y="4128797"/>
            <a:ext cx="15240" cy="11866"/>
          </a:xfrm>
          <a:prstGeom prst="line">
            <a:avLst/>
          </a:prstGeom>
          <a:noFill/>
          <a:ln w="12700">
            <a:solidFill>
              <a:srgbClr val="2E8B57"/>
            </a:solidFill>
            <a:prstDash val="solid"/>
          </a:ln>
        </p:spPr>
      </p:sp>
      <p:sp>
        <p:nvSpPr>
          <p:cNvPr id="176" name="Shape 174"/>
          <p:cNvSpPr/>
          <p:nvPr/>
        </p:nvSpPr>
        <p:spPr>
          <a:xfrm>
            <a:off x="5044440" y="4140663"/>
            <a:ext cx="15240" cy="7929"/>
          </a:xfrm>
          <a:prstGeom prst="line">
            <a:avLst/>
          </a:prstGeom>
          <a:noFill/>
          <a:ln w="12700">
            <a:solidFill>
              <a:srgbClr val="2E8B57"/>
            </a:solidFill>
            <a:prstDash val="solid"/>
          </a:ln>
        </p:spPr>
      </p:sp>
      <p:sp>
        <p:nvSpPr>
          <p:cNvPr id="177" name="Shape 175"/>
          <p:cNvSpPr/>
          <p:nvPr/>
        </p:nvSpPr>
        <p:spPr>
          <a:xfrm>
            <a:off x="5059680" y="4148592"/>
            <a:ext cx="15240" cy="2784"/>
          </a:xfrm>
          <a:prstGeom prst="line">
            <a:avLst/>
          </a:prstGeom>
          <a:noFill/>
          <a:ln w="12700">
            <a:solidFill>
              <a:srgbClr val="2E8B57"/>
            </a:solidFill>
            <a:prstDash val="solid"/>
          </a:ln>
        </p:spPr>
      </p:sp>
      <p:sp>
        <p:nvSpPr>
          <p:cNvPr id="178" name="Shape 176"/>
          <p:cNvSpPr/>
          <p:nvPr/>
        </p:nvSpPr>
        <p:spPr>
          <a:xfrm flipV="1">
            <a:off x="5074920" y="4148592"/>
            <a:ext cx="15240" cy="2784"/>
          </a:xfrm>
          <a:prstGeom prst="line">
            <a:avLst/>
          </a:prstGeom>
          <a:noFill/>
          <a:ln w="12700">
            <a:solidFill>
              <a:srgbClr val="2E8B57"/>
            </a:solidFill>
            <a:prstDash val="solid"/>
          </a:ln>
        </p:spPr>
      </p:sp>
      <p:sp>
        <p:nvSpPr>
          <p:cNvPr id="179" name="Shape 177"/>
          <p:cNvSpPr/>
          <p:nvPr/>
        </p:nvSpPr>
        <p:spPr>
          <a:xfrm flipV="1">
            <a:off x="5090160" y="4140663"/>
            <a:ext cx="15240" cy="7929"/>
          </a:xfrm>
          <a:prstGeom prst="line">
            <a:avLst/>
          </a:prstGeom>
          <a:noFill/>
          <a:ln w="12700">
            <a:solidFill>
              <a:srgbClr val="2E8B57"/>
            </a:solidFill>
            <a:prstDash val="solid"/>
          </a:ln>
        </p:spPr>
      </p:sp>
      <p:sp>
        <p:nvSpPr>
          <p:cNvPr id="180" name="Shape 178"/>
          <p:cNvSpPr/>
          <p:nvPr/>
        </p:nvSpPr>
        <p:spPr>
          <a:xfrm flipV="1">
            <a:off x="5105400" y="4128797"/>
            <a:ext cx="15240" cy="11866"/>
          </a:xfrm>
          <a:prstGeom prst="line">
            <a:avLst/>
          </a:prstGeom>
          <a:noFill/>
          <a:ln w="12700">
            <a:solidFill>
              <a:srgbClr val="2E8B57"/>
            </a:solidFill>
            <a:prstDash val="solid"/>
          </a:ln>
        </p:spPr>
      </p:sp>
      <p:sp>
        <p:nvSpPr>
          <p:cNvPr id="181" name="Shape 179"/>
          <p:cNvSpPr/>
          <p:nvPr/>
        </p:nvSpPr>
        <p:spPr>
          <a:xfrm flipV="1">
            <a:off x="5120640" y="4114800"/>
            <a:ext cx="15240" cy="13997"/>
          </a:xfrm>
          <a:prstGeom prst="line">
            <a:avLst/>
          </a:prstGeom>
          <a:noFill/>
          <a:ln w="12700">
            <a:solidFill>
              <a:srgbClr val="2E8B57"/>
            </a:solidFill>
            <a:prstDash val="solid"/>
          </a:ln>
        </p:spPr>
      </p:sp>
      <p:sp>
        <p:nvSpPr>
          <p:cNvPr id="182" name="Shape 180"/>
          <p:cNvSpPr/>
          <p:nvPr/>
        </p:nvSpPr>
        <p:spPr>
          <a:xfrm flipV="1">
            <a:off x="5135880" y="4100803"/>
            <a:ext cx="15240" cy="13997"/>
          </a:xfrm>
          <a:prstGeom prst="line">
            <a:avLst/>
          </a:prstGeom>
          <a:noFill/>
          <a:ln w="12700">
            <a:solidFill>
              <a:srgbClr val="2E8B57"/>
            </a:solidFill>
            <a:prstDash val="solid"/>
          </a:ln>
        </p:spPr>
      </p:sp>
      <p:sp>
        <p:nvSpPr>
          <p:cNvPr id="183" name="Shape 181"/>
          <p:cNvSpPr/>
          <p:nvPr/>
        </p:nvSpPr>
        <p:spPr>
          <a:xfrm flipV="1">
            <a:off x="5151120" y="4088937"/>
            <a:ext cx="15240" cy="11866"/>
          </a:xfrm>
          <a:prstGeom prst="line">
            <a:avLst/>
          </a:prstGeom>
          <a:noFill/>
          <a:ln w="12700">
            <a:solidFill>
              <a:srgbClr val="2E8B57"/>
            </a:solidFill>
            <a:prstDash val="solid"/>
          </a:ln>
        </p:spPr>
      </p:sp>
      <p:sp>
        <p:nvSpPr>
          <p:cNvPr id="184" name="Shape 182"/>
          <p:cNvSpPr/>
          <p:nvPr/>
        </p:nvSpPr>
        <p:spPr>
          <a:xfrm flipV="1">
            <a:off x="5166360" y="4081008"/>
            <a:ext cx="15240" cy="7929"/>
          </a:xfrm>
          <a:prstGeom prst="line">
            <a:avLst/>
          </a:prstGeom>
          <a:noFill/>
          <a:ln w="12700">
            <a:solidFill>
              <a:srgbClr val="2E8B57"/>
            </a:solidFill>
            <a:prstDash val="solid"/>
          </a:ln>
        </p:spPr>
      </p:sp>
      <p:sp>
        <p:nvSpPr>
          <p:cNvPr id="185" name="Shape 183"/>
          <p:cNvSpPr/>
          <p:nvPr/>
        </p:nvSpPr>
        <p:spPr>
          <a:xfrm flipV="1">
            <a:off x="5181600" y="4078224"/>
            <a:ext cx="15240" cy="2784"/>
          </a:xfrm>
          <a:prstGeom prst="line">
            <a:avLst/>
          </a:prstGeom>
          <a:noFill/>
          <a:ln w="12700">
            <a:solidFill>
              <a:srgbClr val="2E8B57"/>
            </a:solidFill>
            <a:prstDash val="solid"/>
          </a:ln>
        </p:spPr>
      </p:sp>
      <p:sp>
        <p:nvSpPr>
          <p:cNvPr id="186" name="Shape 184"/>
          <p:cNvSpPr/>
          <p:nvPr/>
        </p:nvSpPr>
        <p:spPr>
          <a:xfrm>
            <a:off x="5196840" y="4078224"/>
            <a:ext cx="15240" cy="2784"/>
          </a:xfrm>
          <a:prstGeom prst="line">
            <a:avLst/>
          </a:prstGeom>
          <a:noFill/>
          <a:ln w="12700">
            <a:solidFill>
              <a:srgbClr val="2E8B57"/>
            </a:solidFill>
            <a:prstDash val="solid"/>
          </a:ln>
        </p:spPr>
      </p:sp>
      <p:sp>
        <p:nvSpPr>
          <p:cNvPr id="187" name="Shape 185"/>
          <p:cNvSpPr/>
          <p:nvPr/>
        </p:nvSpPr>
        <p:spPr>
          <a:xfrm>
            <a:off x="5212080" y="4081008"/>
            <a:ext cx="15240" cy="7929"/>
          </a:xfrm>
          <a:prstGeom prst="line">
            <a:avLst/>
          </a:prstGeom>
          <a:noFill/>
          <a:ln w="12700">
            <a:solidFill>
              <a:srgbClr val="2E8B57"/>
            </a:solidFill>
            <a:prstDash val="solid"/>
          </a:ln>
        </p:spPr>
      </p:sp>
      <p:sp>
        <p:nvSpPr>
          <p:cNvPr id="188" name="Shape 186"/>
          <p:cNvSpPr/>
          <p:nvPr/>
        </p:nvSpPr>
        <p:spPr>
          <a:xfrm>
            <a:off x="5227320" y="4088937"/>
            <a:ext cx="15240" cy="11866"/>
          </a:xfrm>
          <a:prstGeom prst="line">
            <a:avLst/>
          </a:prstGeom>
          <a:noFill/>
          <a:ln w="12700">
            <a:solidFill>
              <a:srgbClr val="2E8B57"/>
            </a:solidFill>
            <a:prstDash val="solid"/>
          </a:ln>
        </p:spPr>
      </p:sp>
      <p:sp>
        <p:nvSpPr>
          <p:cNvPr id="189" name="Shape 187"/>
          <p:cNvSpPr/>
          <p:nvPr/>
        </p:nvSpPr>
        <p:spPr>
          <a:xfrm>
            <a:off x="5242560" y="4100803"/>
            <a:ext cx="15240" cy="13997"/>
          </a:xfrm>
          <a:prstGeom prst="line">
            <a:avLst/>
          </a:prstGeom>
          <a:noFill/>
          <a:ln w="12700">
            <a:solidFill>
              <a:srgbClr val="2E8B57"/>
            </a:solidFill>
            <a:prstDash val="solid"/>
          </a:ln>
        </p:spPr>
      </p:sp>
      <p:sp>
        <p:nvSpPr>
          <p:cNvPr id="190" name="Shape 188"/>
          <p:cNvSpPr/>
          <p:nvPr/>
        </p:nvSpPr>
        <p:spPr>
          <a:xfrm>
            <a:off x="5257800" y="4114800"/>
            <a:ext cx="15240" cy="13997"/>
          </a:xfrm>
          <a:prstGeom prst="line">
            <a:avLst/>
          </a:prstGeom>
          <a:noFill/>
          <a:ln w="12700">
            <a:solidFill>
              <a:srgbClr val="2E8B57"/>
            </a:solidFill>
            <a:prstDash val="solid"/>
          </a:ln>
        </p:spPr>
      </p:sp>
      <p:sp>
        <p:nvSpPr>
          <p:cNvPr id="191" name="Shape 189"/>
          <p:cNvSpPr/>
          <p:nvPr/>
        </p:nvSpPr>
        <p:spPr>
          <a:xfrm>
            <a:off x="5273040" y="4128797"/>
            <a:ext cx="15240" cy="11866"/>
          </a:xfrm>
          <a:prstGeom prst="line">
            <a:avLst/>
          </a:prstGeom>
          <a:noFill/>
          <a:ln w="12700">
            <a:solidFill>
              <a:srgbClr val="2E8B57"/>
            </a:solidFill>
            <a:prstDash val="solid"/>
          </a:ln>
        </p:spPr>
      </p:sp>
      <p:sp>
        <p:nvSpPr>
          <p:cNvPr id="192" name="Shape 190"/>
          <p:cNvSpPr/>
          <p:nvPr/>
        </p:nvSpPr>
        <p:spPr>
          <a:xfrm>
            <a:off x="5288280" y="4140663"/>
            <a:ext cx="15240" cy="7929"/>
          </a:xfrm>
          <a:prstGeom prst="line">
            <a:avLst/>
          </a:prstGeom>
          <a:noFill/>
          <a:ln w="12700">
            <a:solidFill>
              <a:srgbClr val="2E8B57"/>
            </a:solidFill>
            <a:prstDash val="solid"/>
          </a:ln>
        </p:spPr>
      </p:sp>
      <p:sp>
        <p:nvSpPr>
          <p:cNvPr id="193" name="Shape 191"/>
          <p:cNvSpPr/>
          <p:nvPr/>
        </p:nvSpPr>
        <p:spPr>
          <a:xfrm>
            <a:off x="5303520" y="4148592"/>
            <a:ext cx="15240" cy="2784"/>
          </a:xfrm>
          <a:prstGeom prst="line">
            <a:avLst/>
          </a:prstGeom>
          <a:noFill/>
          <a:ln w="12700">
            <a:solidFill>
              <a:srgbClr val="2E8B57"/>
            </a:solidFill>
            <a:prstDash val="solid"/>
          </a:ln>
        </p:spPr>
      </p:sp>
      <p:sp>
        <p:nvSpPr>
          <p:cNvPr id="194" name="Shape 192"/>
          <p:cNvSpPr/>
          <p:nvPr/>
        </p:nvSpPr>
        <p:spPr>
          <a:xfrm flipV="1">
            <a:off x="5318760" y="4148592"/>
            <a:ext cx="15240" cy="2784"/>
          </a:xfrm>
          <a:prstGeom prst="line">
            <a:avLst/>
          </a:prstGeom>
          <a:noFill/>
          <a:ln w="12700">
            <a:solidFill>
              <a:srgbClr val="2E8B57"/>
            </a:solidFill>
            <a:prstDash val="solid"/>
          </a:ln>
        </p:spPr>
      </p:sp>
      <p:sp>
        <p:nvSpPr>
          <p:cNvPr id="195" name="Shape 193"/>
          <p:cNvSpPr/>
          <p:nvPr/>
        </p:nvSpPr>
        <p:spPr>
          <a:xfrm flipV="1">
            <a:off x="5334000" y="4140663"/>
            <a:ext cx="15240" cy="7929"/>
          </a:xfrm>
          <a:prstGeom prst="line">
            <a:avLst/>
          </a:prstGeom>
          <a:noFill/>
          <a:ln w="12700">
            <a:solidFill>
              <a:srgbClr val="2E8B57"/>
            </a:solidFill>
            <a:prstDash val="solid"/>
          </a:ln>
        </p:spPr>
      </p:sp>
      <p:sp>
        <p:nvSpPr>
          <p:cNvPr id="196" name="Shape 194"/>
          <p:cNvSpPr/>
          <p:nvPr/>
        </p:nvSpPr>
        <p:spPr>
          <a:xfrm flipV="1">
            <a:off x="5349240" y="4128797"/>
            <a:ext cx="15240" cy="11866"/>
          </a:xfrm>
          <a:prstGeom prst="line">
            <a:avLst/>
          </a:prstGeom>
          <a:noFill/>
          <a:ln w="12700">
            <a:solidFill>
              <a:srgbClr val="2E8B57"/>
            </a:solidFill>
            <a:prstDash val="solid"/>
          </a:ln>
        </p:spPr>
      </p:sp>
      <p:sp>
        <p:nvSpPr>
          <p:cNvPr id="197" name="Shape 195"/>
          <p:cNvSpPr/>
          <p:nvPr/>
        </p:nvSpPr>
        <p:spPr>
          <a:xfrm flipV="1">
            <a:off x="5364480" y="4114800"/>
            <a:ext cx="15240" cy="13997"/>
          </a:xfrm>
          <a:prstGeom prst="line">
            <a:avLst/>
          </a:prstGeom>
          <a:noFill/>
          <a:ln w="12700">
            <a:solidFill>
              <a:srgbClr val="2E8B57"/>
            </a:solidFill>
            <a:prstDash val="solid"/>
          </a:ln>
        </p:spPr>
      </p:sp>
      <p:sp>
        <p:nvSpPr>
          <p:cNvPr id="198" name="Shape 196"/>
          <p:cNvSpPr/>
          <p:nvPr/>
        </p:nvSpPr>
        <p:spPr>
          <a:xfrm flipV="1">
            <a:off x="5379720" y="4100803"/>
            <a:ext cx="15240" cy="13997"/>
          </a:xfrm>
          <a:prstGeom prst="line">
            <a:avLst/>
          </a:prstGeom>
          <a:noFill/>
          <a:ln w="12700">
            <a:solidFill>
              <a:srgbClr val="2E8B57"/>
            </a:solidFill>
            <a:prstDash val="solid"/>
          </a:ln>
        </p:spPr>
      </p:sp>
      <p:sp>
        <p:nvSpPr>
          <p:cNvPr id="199" name="Shape 197"/>
          <p:cNvSpPr/>
          <p:nvPr/>
        </p:nvSpPr>
        <p:spPr>
          <a:xfrm flipV="1">
            <a:off x="5394960" y="4088937"/>
            <a:ext cx="15240" cy="11866"/>
          </a:xfrm>
          <a:prstGeom prst="line">
            <a:avLst/>
          </a:prstGeom>
          <a:noFill/>
          <a:ln w="12700">
            <a:solidFill>
              <a:srgbClr val="2E8B57"/>
            </a:solidFill>
            <a:prstDash val="solid"/>
          </a:ln>
        </p:spPr>
      </p:sp>
      <p:sp>
        <p:nvSpPr>
          <p:cNvPr id="200" name="Shape 198"/>
          <p:cNvSpPr/>
          <p:nvPr/>
        </p:nvSpPr>
        <p:spPr>
          <a:xfrm flipV="1">
            <a:off x="5410200" y="4081008"/>
            <a:ext cx="15240" cy="7929"/>
          </a:xfrm>
          <a:prstGeom prst="line">
            <a:avLst/>
          </a:prstGeom>
          <a:noFill/>
          <a:ln w="12700">
            <a:solidFill>
              <a:srgbClr val="2E8B57"/>
            </a:solidFill>
            <a:prstDash val="solid"/>
          </a:ln>
        </p:spPr>
      </p:sp>
      <p:sp>
        <p:nvSpPr>
          <p:cNvPr id="201" name="Shape 199"/>
          <p:cNvSpPr/>
          <p:nvPr/>
        </p:nvSpPr>
        <p:spPr>
          <a:xfrm flipV="1">
            <a:off x="5425440" y="4078224"/>
            <a:ext cx="15240" cy="2784"/>
          </a:xfrm>
          <a:prstGeom prst="line">
            <a:avLst/>
          </a:prstGeom>
          <a:noFill/>
          <a:ln w="12700">
            <a:solidFill>
              <a:srgbClr val="2E8B57"/>
            </a:solidFill>
            <a:prstDash val="solid"/>
          </a:ln>
        </p:spPr>
      </p:sp>
      <p:sp>
        <p:nvSpPr>
          <p:cNvPr id="202" name="Shape 200"/>
          <p:cNvSpPr/>
          <p:nvPr/>
        </p:nvSpPr>
        <p:spPr>
          <a:xfrm>
            <a:off x="5440680" y="4078224"/>
            <a:ext cx="15240" cy="2784"/>
          </a:xfrm>
          <a:prstGeom prst="line">
            <a:avLst/>
          </a:prstGeom>
          <a:noFill/>
          <a:ln w="12700">
            <a:solidFill>
              <a:srgbClr val="2E8B57"/>
            </a:solidFill>
            <a:prstDash val="solid"/>
          </a:ln>
        </p:spPr>
      </p:sp>
      <p:sp>
        <p:nvSpPr>
          <p:cNvPr id="203" name="Shape 201"/>
          <p:cNvSpPr/>
          <p:nvPr/>
        </p:nvSpPr>
        <p:spPr>
          <a:xfrm>
            <a:off x="5455920" y="4081008"/>
            <a:ext cx="15240" cy="7929"/>
          </a:xfrm>
          <a:prstGeom prst="line">
            <a:avLst/>
          </a:prstGeom>
          <a:noFill/>
          <a:ln w="12700">
            <a:solidFill>
              <a:srgbClr val="2E8B57"/>
            </a:solidFill>
            <a:prstDash val="solid"/>
          </a:ln>
        </p:spPr>
      </p:sp>
      <p:sp>
        <p:nvSpPr>
          <p:cNvPr id="204" name="Shape 202"/>
          <p:cNvSpPr/>
          <p:nvPr/>
        </p:nvSpPr>
        <p:spPr>
          <a:xfrm>
            <a:off x="5471160" y="4088937"/>
            <a:ext cx="15240" cy="11866"/>
          </a:xfrm>
          <a:prstGeom prst="line">
            <a:avLst/>
          </a:prstGeom>
          <a:noFill/>
          <a:ln w="12700">
            <a:solidFill>
              <a:srgbClr val="2E8B57"/>
            </a:solidFill>
            <a:prstDash val="solid"/>
          </a:ln>
        </p:spPr>
      </p:sp>
      <p:sp>
        <p:nvSpPr>
          <p:cNvPr id="205" name="Shape 203"/>
          <p:cNvSpPr/>
          <p:nvPr/>
        </p:nvSpPr>
        <p:spPr>
          <a:xfrm>
            <a:off x="5486400" y="4100803"/>
            <a:ext cx="15240" cy="13997"/>
          </a:xfrm>
          <a:prstGeom prst="line">
            <a:avLst/>
          </a:prstGeom>
          <a:noFill/>
          <a:ln w="12700">
            <a:solidFill>
              <a:srgbClr val="2E8B57"/>
            </a:solidFill>
            <a:prstDash val="solid"/>
          </a:ln>
        </p:spPr>
      </p:sp>
      <p:sp>
        <p:nvSpPr>
          <p:cNvPr id="206" name="Shape 204"/>
          <p:cNvSpPr/>
          <p:nvPr/>
        </p:nvSpPr>
        <p:spPr>
          <a:xfrm>
            <a:off x="5501640" y="4114800"/>
            <a:ext cx="15240" cy="13997"/>
          </a:xfrm>
          <a:prstGeom prst="line">
            <a:avLst/>
          </a:prstGeom>
          <a:noFill/>
          <a:ln w="12700">
            <a:solidFill>
              <a:srgbClr val="2E8B57"/>
            </a:solidFill>
            <a:prstDash val="solid"/>
          </a:ln>
        </p:spPr>
      </p:sp>
      <p:sp>
        <p:nvSpPr>
          <p:cNvPr id="207" name="Shape 205"/>
          <p:cNvSpPr/>
          <p:nvPr/>
        </p:nvSpPr>
        <p:spPr>
          <a:xfrm>
            <a:off x="5516880" y="4128797"/>
            <a:ext cx="15240" cy="11866"/>
          </a:xfrm>
          <a:prstGeom prst="line">
            <a:avLst/>
          </a:prstGeom>
          <a:noFill/>
          <a:ln w="12700">
            <a:solidFill>
              <a:srgbClr val="2E8B57"/>
            </a:solidFill>
            <a:prstDash val="solid"/>
          </a:ln>
        </p:spPr>
      </p:sp>
      <p:sp>
        <p:nvSpPr>
          <p:cNvPr id="208" name="Shape 206"/>
          <p:cNvSpPr/>
          <p:nvPr/>
        </p:nvSpPr>
        <p:spPr>
          <a:xfrm>
            <a:off x="5532120" y="4140663"/>
            <a:ext cx="15240" cy="7929"/>
          </a:xfrm>
          <a:prstGeom prst="line">
            <a:avLst/>
          </a:prstGeom>
          <a:noFill/>
          <a:ln w="12700">
            <a:solidFill>
              <a:srgbClr val="2E8B57"/>
            </a:solidFill>
            <a:prstDash val="solid"/>
          </a:ln>
        </p:spPr>
      </p:sp>
      <p:sp>
        <p:nvSpPr>
          <p:cNvPr id="209" name="Shape 207"/>
          <p:cNvSpPr/>
          <p:nvPr/>
        </p:nvSpPr>
        <p:spPr>
          <a:xfrm>
            <a:off x="5547360" y="4148592"/>
            <a:ext cx="15240" cy="2784"/>
          </a:xfrm>
          <a:prstGeom prst="line">
            <a:avLst/>
          </a:prstGeom>
          <a:noFill/>
          <a:ln w="12700">
            <a:solidFill>
              <a:srgbClr val="2E8B57"/>
            </a:solidFill>
            <a:prstDash val="solid"/>
          </a:ln>
        </p:spPr>
      </p:sp>
      <p:sp>
        <p:nvSpPr>
          <p:cNvPr id="210" name="Shape 208"/>
          <p:cNvSpPr/>
          <p:nvPr/>
        </p:nvSpPr>
        <p:spPr>
          <a:xfrm flipV="1">
            <a:off x="5562600" y="4148592"/>
            <a:ext cx="15240" cy="2784"/>
          </a:xfrm>
          <a:prstGeom prst="line">
            <a:avLst/>
          </a:prstGeom>
          <a:noFill/>
          <a:ln w="12700">
            <a:solidFill>
              <a:srgbClr val="2E8B57"/>
            </a:solidFill>
            <a:prstDash val="solid"/>
          </a:ln>
        </p:spPr>
      </p:sp>
      <p:sp>
        <p:nvSpPr>
          <p:cNvPr id="211" name="Shape 209"/>
          <p:cNvSpPr/>
          <p:nvPr/>
        </p:nvSpPr>
        <p:spPr>
          <a:xfrm flipV="1">
            <a:off x="5577840" y="4140663"/>
            <a:ext cx="15240" cy="7929"/>
          </a:xfrm>
          <a:prstGeom prst="line">
            <a:avLst/>
          </a:prstGeom>
          <a:noFill/>
          <a:ln w="12700">
            <a:solidFill>
              <a:srgbClr val="2E8B57"/>
            </a:solidFill>
            <a:prstDash val="solid"/>
          </a:ln>
        </p:spPr>
      </p:sp>
      <p:sp>
        <p:nvSpPr>
          <p:cNvPr id="212" name="Shape 210"/>
          <p:cNvSpPr/>
          <p:nvPr/>
        </p:nvSpPr>
        <p:spPr>
          <a:xfrm flipV="1">
            <a:off x="5593080" y="4128797"/>
            <a:ext cx="15240" cy="11866"/>
          </a:xfrm>
          <a:prstGeom prst="line">
            <a:avLst/>
          </a:prstGeom>
          <a:noFill/>
          <a:ln w="12700">
            <a:solidFill>
              <a:srgbClr val="2E8B57"/>
            </a:solidFill>
            <a:prstDash val="solid"/>
          </a:ln>
        </p:spPr>
      </p:sp>
      <p:sp>
        <p:nvSpPr>
          <p:cNvPr id="213" name="Shape 211"/>
          <p:cNvSpPr/>
          <p:nvPr/>
        </p:nvSpPr>
        <p:spPr>
          <a:xfrm flipV="1">
            <a:off x="5608320" y="4114800"/>
            <a:ext cx="15240" cy="13997"/>
          </a:xfrm>
          <a:prstGeom prst="line">
            <a:avLst/>
          </a:prstGeom>
          <a:noFill/>
          <a:ln w="12700">
            <a:solidFill>
              <a:srgbClr val="2E8B57"/>
            </a:solidFill>
            <a:prstDash val="solid"/>
          </a:ln>
        </p:spPr>
      </p:sp>
      <p:sp>
        <p:nvSpPr>
          <p:cNvPr id="214" name="Shape 212"/>
          <p:cNvSpPr/>
          <p:nvPr/>
        </p:nvSpPr>
        <p:spPr>
          <a:xfrm>
            <a:off x="5577840" y="4114800"/>
            <a:ext cx="228600" cy="91"/>
          </a:xfrm>
          <a:prstGeom prst="line">
            <a:avLst/>
          </a:prstGeom>
          <a:noFill/>
          <a:ln w="12700">
            <a:solidFill>
              <a:srgbClr val="2E8B57"/>
            </a:solidFill>
            <a:prstDash val="solid"/>
            <a:tailEnd type="triangle"/>
          </a:ln>
        </p:spPr>
      </p:sp>
      <p:sp>
        <p:nvSpPr>
          <p:cNvPr id="215" name="Text 213"/>
          <p:cNvSpPr/>
          <p:nvPr/>
        </p:nvSpPr>
        <p:spPr>
          <a:xfrm>
            <a:off x="1188720" y="3767328"/>
            <a:ext cx="822960" cy="256032"/>
          </a:xfrm>
          <a:prstGeom prst="rect">
            <a:avLst/>
          </a:prstGeom>
          <a:noFill/>
          <a:ln/>
        </p:spPr>
        <p:txBody>
          <a:bodyPr wrap="square" lIns="0" tIns="0" rIns="0" bIns="0" rtlCol="0" anchor="ctr"/>
          <a:lstStyle/>
          <a:p>
            <a:pPr algn="l" indent="0" marL="0">
              <a:buNone/>
            </a:pPr>
            <a:r>
              <a:rPr lang="en-US" sz="1400" b="1" dirty="0">
                <a:solidFill>
                  <a:srgbClr val="2E8B57"/>
                </a:solidFill>
                <a:latin typeface="Calibri" pitchFamily="34" charset="0"/>
                <a:ea typeface="Calibri" pitchFamily="34" charset="-122"/>
                <a:cs typeface="Calibri" pitchFamily="34" charset="-120"/>
              </a:rPr>
              <a:t>γ</a:t>
            </a:r>
            <a:endParaRPr lang="en-US" sz="1400" dirty="0"/>
          </a:p>
        </p:txBody>
      </p:sp>
      <p:sp>
        <p:nvSpPr>
          <p:cNvPr id="216" name="Text 214"/>
          <p:cNvSpPr/>
          <p:nvPr/>
        </p:nvSpPr>
        <p:spPr>
          <a:xfrm>
            <a:off x="4892040" y="4224528"/>
            <a:ext cx="114300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weaker</a:t>
            </a:r>
            <a:endParaRPr lang="en-US" sz="1050" dirty="0"/>
          </a:p>
        </p:txBody>
      </p:sp>
      <p:sp>
        <p:nvSpPr>
          <p:cNvPr id="217" name="Text 215"/>
          <p:cNvSpPr/>
          <p:nvPr/>
        </p:nvSpPr>
        <p:spPr>
          <a:xfrm>
            <a:off x="640080" y="4800600"/>
            <a:ext cx="51206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(range in air: α a few cm; β up to about a metre; γ very far)</a:t>
            </a:r>
            <a:endParaRPr lang="en-US" sz="1050" dirty="0"/>
          </a:p>
        </p:txBody>
      </p:sp>
      <p:sp>
        <p:nvSpPr>
          <p:cNvPr id="218" name="Shape 216"/>
          <p:cNvSpPr/>
          <p:nvPr/>
        </p:nvSpPr>
        <p:spPr>
          <a:xfrm>
            <a:off x="6217920" y="1188720"/>
            <a:ext cx="5562295" cy="2331720"/>
          </a:xfrm>
          <a:prstGeom prst="roundRect">
            <a:avLst>
              <a:gd name="adj" fmla="val 2353"/>
            </a:avLst>
          </a:prstGeom>
          <a:solidFill>
            <a:srgbClr val="F5F8FE"/>
          </a:solidFill>
          <a:ln w="9525">
            <a:solidFill>
              <a:srgbClr val="D5DCEB"/>
            </a:solidFill>
            <a:prstDash val="solid"/>
          </a:ln>
        </p:spPr>
      </p:sp>
      <p:sp>
        <p:nvSpPr>
          <p:cNvPr id="219" name="Text 2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Penetration and ionisation</a:t>
            </a:r>
            <a:endParaRPr lang="en-US" sz="1300" dirty="0"/>
          </a:p>
        </p:txBody>
      </p:sp>
      <p:sp>
        <p:nvSpPr>
          <p:cNvPr id="220" name="Text 218"/>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stopped by a sheet of </a:t>
            </a:r>
            <a:r>
              <a:rPr lang="en-US" sz="1150" b="1" dirty="0">
                <a:solidFill>
                  <a:srgbClr val="262B3A"/>
                </a:solidFill>
                <a:latin typeface="Calibri" pitchFamily="34" charset="0"/>
                <a:ea typeface="Calibri" pitchFamily="34" charset="-122"/>
                <a:cs typeface="Calibri" pitchFamily="34" charset="-120"/>
              </a:rPr>
              <a:t>paper</a:t>
            </a:r>
            <a:r>
              <a:rPr lang="en-US" sz="1150" dirty="0">
                <a:solidFill>
                  <a:srgbClr val="262B3A"/>
                </a:solidFill>
                <a:latin typeface="Calibri" pitchFamily="34" charset="0"/>
                <a:ea typeface="Calibri" pitchFamily="34" charset="-122"/>
                <a:cs typeface="Calibri" pitchFamily="34" charset="-120"/>
              </a:rPr>
              <a:t> (or a few cm of air). </a:t>
            </a:r>
            <a:r>
              <a:rPr lang="en-US" sz="1150" b="1" dirty="0">
                <a:solidFill>
                  <a:srgbClr val="262B3A"/>
                </a:solidFill>
                <a:latin typeface="Calibri" pitchFamily="34" charset="0"/>
                <a:ea typeface="Calibri" pitchFamily="34" charset="-122"/>
                <a:cs typeface="Calibri" pitchFamily="34" charset="-120"/>
              </a:rPr>
              <a:t>Most strongly ionising.</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passes through paper; stopped by a </a:t>
            </a:r>
            <a:r>
              <a:rPr lang="en-US" sz="1150" b="1" dirty="0">
                <a:solidFill>
                  <a:srgbClr val="262B3A"/>
                </a:solidFill>
                <a:latin typeface="Calibri" pitchFamily="34" charset="0"/>
                <a:ea typeface="Calibri" pitchFamily="34" charset="-122"/>
                <a:cs typeface="Calibri" pitchFamily="34" charset="-120"/>
              </a:rPr>
              <a:t>few millimetres of aluminium</a:t>
            </a:r>
            <a:r>
              <a:rPr lang="en-US" sz="1150" dirty="0">
                <a:solidFill>
                  <a:srgbClr val="262B3A"/>
                </a:solidFill>
                <a:latin typeface="Calibri" pitchFamily="34" charset="0"/>
                <a:ea typeface="Calibri" pitchFamily="34" charset="-122"/>
                <a:cs typeface="Calibri" pitchFamily="34" charset="-120"/>
              </a:rPr>
              <a:t>. Moderately ionising.</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passes through paper and aluminium; </a:t>
            </a:r>
            <a:r>
              <a:rPr lang="en-US" sz="1150" b="1" dirty="0">
                <a:solidFill>
                  <a:srgbClr val="262B3A"/>
                </a:solidFill>
                <a:latin typeface="Calibri" pitchFamily="34" charset="0"/>
                <a:ea typeface="Calibri" pitchFamily="34" charset="-122"/>
                <a:cs typeface="Calibri" pitchFamily="34" charset="-120"/>
              </a:rPr>
              <a:t>reduced but not fully stopped</a:t>
            </a:r>
            <a:r>
              <a:rPr lang="en-US" sz="1150" dirty="0">
                <a:solidFill>
                  <a:srgbClr val="262B3A"/>
                </a:solidFill>
                <a:latin typeface="Calibri" pitchFamily="34" charset="0"/>
                <a:ea typeface="Calibri" pitchFamily="34" charset="-122"/>
                <a:cs typeface="Calibri" pitchFamily="34" charset="-120"/>
              </a:rPr>
              <a:t> by thick </a:t>
            </a:r>
            <a:r>
              <a:rPr lang="en-US" sz="1150" b="1" dirty="0">
                <a:solidFill>
                  <a:srgbClr val="262B3A"/>
                </a:solidFill>
                <a:latin typeface="Calibri" pitchFamily="34" charset="0"/>
                <a:ea typeface="Calibri" pitchFamily="34" charset="-122"/>
                <a:cs typeface="Calibri" pitchFamily="34" charset="-120"/>
              </a:rPr>
              <a:t>lead or concrete</a:t>
            </a:r>
            <a:r>
              <a:rPr lang="en-US" sz="1150" dirty="0">
                <a:solidFill>
                  <a:srgbClr val="262B3A"/>
                </a:solidFill>
                <a:latin typeface="Calibri" pitchFamily="34" charset="0"/>
                <a:ea typeface="Calibri" pitchFamily="34" charset="-122"/>
                <a:cs typeface="Calibri" pitchFamily="34" charset="-120"/>
              </a:rPr>
              <a:t>. Weakly ionising.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more strongly an emission ionises, the faster it loses energy, so the less penetrating it is.</a:t>
            </a:r>
            <a:endParaRPr lang="en-US" sz="1150" dirty="0"/>
          </a:p>
        </p:txBody>
      </p:sp>
      <p:sp>
        <p:nvSpPr>
          <p:cNvPr id="221" name="Shape 219"/>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222" name="Text 220"/>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Identify the emission</a:t>
            </a:r>
            <a:endParaRPr lang="en-US" sz="1300" dirty="0"/>
          </a:p>
        </p:txBody>
      </p:sp>
      <p:sp>
        <p:nvSpPr>
          <p:cNvPr id="223" name="Text 221"/>
          <p:cNvSpPr/>
          <p:nvPr/>
        </p:nvSpPr>
        <p:spPr>
          <a:xfrm>
            <a:off x="6382512" y="4041648"/>
            <a:ext cx="5233111"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Count rates from a source (background already subtracted):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No absorber   </a:t>
            </a:r>
            <a:r>
              <a:rPr lang="en-US" sz="1050" dirty="0">
                <a:solidFill>
                  <a:srgbClr val="262B3A"/>
                </a:solidFill>
                <a:latin typeface="Calibri" pitchFamily="34" charset="0"/>
                <a:ea typeface="Calibri" pitchFamily="34" charset="-122"/>
                <a:cs typeface="Calibri" pitchFamily="34" charset="-120"/>
              </a:rPr>
              <a:t>300 counts/min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Paper   </a:t>
            </a:r>
            <a:r>
              <a:rPr lang="en-US" sz="1050" dirty="0">
                <a:solidFill>
                  <a:srgbClr val="262B3A"/>
                </a:solidFill>
                <a:latin typeface="Calibri" pitchFamily="34" charset="0"/>
                <a:ea typeface="Calibri" pitchFamily="34" charset="-122"/>
                <a:cs typeface="Calibri" pitchFamily="34" charset="-120"/>
              </a:rPr>
              <a:t>298 counts/min → no alpha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5 mm aluminium   </a:t>
            </a:r>
            <a:r>
              <a:rPr lang="en-US" sz="1050" dirty="0">
                <a:solidFill>
                  <a:srgbClr val="262B3A"/>
                </a:solidFill>
                <a:latin typeface="Calibri" pitchFamily="34" charset="0"/>
                <a:ea typeface="Calibri" pitchFamily="34" charset="-122"/>
                <a:cs typeface="Calibri" pitchFamily="34" charset="-120"/>
              </a:rPr>
              <a:t>0 counts/min → stopped by Al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source emits </a:t>
            </a:r>
            <a:r>
              <a:rPr lang="en-US" sz="1050" b="1" dirty="0">
                <a:solidFill>
                  <a:srgbClr val="C8414C"/>
                </a:solidFill>
                <a:latin typeface="Calibri" pitchFamily="34" charset="0"/>
                <a:ea typeface="Calibri" pitchFamily="34" charset="-122"/>
                <a:cs typeface="Calibri" pitchFamily="34" charset="-120"/>
              </a:rPr>
              <a:t>beta</a:t>
            </a:r>
            <a:r>
              <a:rPr lang="en-US" sz="1050" b="1" dirty="0">
                <a:solidFill>
                  <a:srgbClr val="C8414C"/>
                </a:solidFill>
                <a:latin typeface="Calibri" pitchFamily="34" charset="0"/>
                <a:ea typeface="Calibri" pitchFamily="34" charset="-122"/>
                <a:cs typeface="Calibri" pitchFamily="34" charset="-120"/>
              </a:rPr>
              <a:t> only</a:t>
            </a:r>
            <a:endParaRPr lang="en-US" sz="1050" dirty="0"/>
          </a:p>
        </p:txBody>
      </p:sp>
      <p:sp>
        <p:nvSpPr>
          <p:cNvPr id="224" name="Shape 222"/>
          <p:cNvSpPr/>
          <p:nvPr/>
        </p:nvSpPr>
        <p:spPr>
          <a:xfrm>
            <a:off x="411480" y="5833872"/>
            <a:ext cx="11368735" cy="530352"/>
          </a:xfrm>
          <a:prstGeom prst="rect">
            <a:avLst/>
          </a:prstGeom>
          <a:solidFill>
            <a:srgbClr val="FFF4E0"/>
          </a:solidFill>
          <a:ln w="6350">
            <a:solidFill>
              <a:srgbClr val="F1D9A8"/>
            </a:solidFill>
            <a:prstDash val="solid"/>
          </a:ln>
        </p:spPr>
      </p:sp>
      <p:sp>
        <p:nvSpPr>
          <p:cNvPr id="225" name="Shape 223"/>
          <p:cNvSpPr/>
          <p:nvPr/>
        </p:nvSpPr>
        <p:spPr>
          <a:xfrm>
            <a:off x="411480" y="5833872"/>
            <a:ext cx="82296" cy="530352"/>
          </a:xfrm>
          <a:prstGeom prst="rect">
            <a:avLst/>
          </a:prstGeom>
          <a:solidFill>
            <a:srgbClr val="E39A2F"/>
          </a:solidFill>
          <a:ln w="12700">
            <a:solidFill>
              <a:srgbClr val="E39A2F"/>
            </a:solidFill>
            <a:prstDash val="solid"/>
          </a:ln>
        </p:spPr>
      </p:sp>
      <p:sp>
        <p:nvSpPr>
          <p:cNvPr id="226" name="Text 2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count rate falls sharply when paper is added, then stays the same when 5 mm of aluminium is added. Which emissions are present?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P5.1 What is radioactivity?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26</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Nucleus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Tiny positive centre of an atom; contains protons and neutrons and almost all the mass.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Proton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Particle in the nucleus with relative charge +1 and relative mass 1.</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Neutron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Particle in the nucleus with no charge and relative mass 1.</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Electron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Negative particle (−1) outside the nucleus; very small mass.</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Atomic number (Z)</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Number of protons in the nucleus; fixes the element and the charge.</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Mass number (A)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Number of protons + neutrons in the nucleus.</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Isotopes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Atoms of the same element with different numbers of neutrons.</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Unstable nucleus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nucleus that can decay by giving out radiation.</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Radioactive decay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Random change of an unstable nucleus, emitting α, β, γ or neutrons.</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Random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Cannot predict which nucleus will decay or when.</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Alpha particle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2 protons + 2 neutrons (helium nucleus): A falls by 4, Z by 2.</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Beta particle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Fast electron from the nucleus: Z rises by 1, A unchanged.</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Gamma ray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High-frequency EM radiation from the nucleus: A and Z unchanged.</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Activity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Number of decays per second, in becquerels (Bq).</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Half-life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Time for the number of undecayed nuclei, or the activity, to halve.</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Net decline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Fall after n half-lives: ratio remaining : original = 1 : 2ⁿ.</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P5.1.3–P5.1.9 • answer every part • 13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27</a:t>
            </a:r>
            <a:endParaRPr lang="en-US" sz="1000" dirty="0"/>
          </a:p>
        </p:txBody>
      </p:sp>
      <p:sp>
        <p:nvSpPr>
          <p:cNvPr id="10" name="Text 8"/>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Radon-222 is a radioactive gas found in some homes. Its nucleus is written </a:t>
            </a:r>
            <a:r>
              <a:rPr lang="en-US" sz="1200" i="1" baseline="30000" dirty="0">
                <a:solidFill>
                  <a:srgbClr val="262B3A"/>
                </a:solidFill>
                <a:latin typeface="Calibri" pitchFamily="34" charset="0"/>
                <a:ea typeface="Calibri" pitchFamily="34" charset="-122"/>
                <a:cs typeface="Calibri" pitchFamily="34" charset="-120"/>
              </a:rPr>
              <a:t>222</a:t>
            </a:r>
            <a:r>
              <a:rPr lang="en-US" sz="1200" i="1" baseline="-40000" dirty="0">
                <a:solidFill>
                  <a:srgbClr val="262B3A"/>
                </a:solidFill>
                <a:latin typeface="Calibri" pitchFamily="34" charset="0"/>
                <a:ea typeface="Calibri" pitchFamily="34" charset="-122"/>
                <a:cs typeface="Calibri" pitchFamily="34" charset="-120"/>
              </a:rPr>
              <a:t>86</a:t>
            </a:r>
            <a:r>
              <a:rPr lang="en-US" sz="1200" i="1" dirty="0">
                <a:solidFill>
                  <a:srgbClr val="262B3A"/>
                </a:solidFill>
                <a:latin typeface="Calibri" pitchFamily="34" charset="0"/>
                <a:ea typeface="Calibri" pitchFamily="34" charset="-122"/>
                <a:cs typeface="Calibri" pitchFamily="34" charset="-120"/>
              </a:rPr>
              <a:t>Rn. It decays by emitting an alpha particle to form polonium (Po).</a:t>
            </a:r>
            <a:endParaRPr lang="en-US" sz="1200" dirty="0"/>
          </a:p>
        </p:txBody>
      </p:sp>
      <p:sp>
        <p:nvSpPr>
          <p:cNvPr id="11" name="Shape 9"/>
          <p:cNvSpPr/>
          <p:nvPr/>
        </p:nvSpPr>
        <p:spPr>
          <a:xfrm>
            <a:off x="411480" y="1719072"/>
            <a:ext cx="5570068" cy="1441704"/>
          </a:xfrm>
          <a:prstGeom prst="roundRect">
            <a:avLst>
              <a:gd name="adj" fmla="val 3171"/>
            </a:avLst>
          </a:prstGeom>
          <a:solidFill>
            <a:srgbClr val="F5F8FE"/>
          </a:solidFill>
          <a:ln w="9525">
            <a:solidFill>
              <a:srgbClr val="D5DCEB"/>
            </a:solidFill>
            <a:prstDash val="solid"/>
          </a:ln>
        </p:spPr>
      </p:sp>
      <p:sp>
        <p:nvSpPr>
          <p:cNvPr id="12" name="Text 10"/>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State the number of </a:t>
            </a:r>
            <a:r>
              <a:rPr lang="en-US" sz="1200" b="1" dirty="0">
                <a:solidFill>
                  <a:srgbClr val="262B3A"/>
                </a:solidFill>
                <a:latin typeface="Calibri" pitchFamily="34" charset="0"/>
                <a:ea typeface="Calibri" pitchFamily="34" charset="-122"/>
                <a:cs typeface="Calibri" pitchFamily="34" charset="-120"/>
              </a:rPr>
              <a:t>protons</a:t>
            </a:r>
            <a:r>
              <a:rPr lang="en-US" sz="1200" dirty="0">
                <a:solidFill>
                  <a:srgbClr val="262B3A"/>
                </a:solidFill>
                <a:latin typeface="Calibri" pitchFamily="34" charset="0"/>
                <a:ea typeface="Calibri" pitchFamily="34" charset="-122"/>
                <a:cs typeface="Calibri" pitchFamily="34" charset="-120"/>
              </a:rPr>
              <a:t> and the number of </a:t>
            </a:r>
            <a:r>
              <a:rPr lang="en-US" sz="1200" b="1" dirty="0">
                <a:solidFill>
                  <a:srgbClr val="262B3A"/>
                </a:solidFill>
                <a:latin typeface="Calibri" pitchFamily="34" charset="0"/>
                <a:ea typeface="Calibri" pitchFamily="34" charset="-122"/>
                <a:cs typeface="Calibri" pitchFamily="34" charset="-120"/>
              </a:rPr>
              <a:t>neutrons</a:t>
            </a:r>
            <a:r>
              <a:rPr lang="en-US" sz="1200" dirty="0">
                <a:solidFill>
                  <a:srgbClr val="262B3A"/>
                </a:solidFill>
                <a:latin typeface="Calibri" pitchFamily="34" charset="0"/>
                <a:ea typeface="Calibri" pitchFamily="34" charset="-122"/>
                <a:cs typeface="Calibri" pitchFamily="34" charset="-120"/>
              </a:rPr>
              <a:t> in a radon-222 nucleus.</a:t>
            </a:r>
            <a:endParaRPr lang="en-US" sz="1200" dirty="0"/>
          </a:p>
        </p:txBody>
      </p:sp>
      <p:sp>
        <p:nvSpPr>
          <p:cNvPr id="13" name="Text 11"/>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4" name="Shape 12"/>
          <p:cNvSpPr/>
          <p:nvPr/>
        </p:nvSpPr>
        <p:spPr>
          <a:xfrm>
            <a:off x="411480" y="3270504"/>
            <a:ext cx="5570068" cy="1441704"/>
          </a:xfrm>
          <a:prstGeom prst="roundRect">
            <a:avLst>
              <a:gd name="adj" fmla="val 3171"/>
            </a:avLst>
          </a:prstGeom>
          <a:solidFill>
            <a:srgbClr val="FFFFFF"/>
          </a:solidFill>
          <a:ln w="9525">
            <a:solidFill>
              <a:srgbClr val="D5DCEB"/>
            </a:solidFill>
            <a:prstDash val="solid"/>
          </a:ln>
        </p:spPr>
      </p:sp>
      <p:sp>
        <p:nvSpPr>
          <p:cNvPr id="15" name="Text 13"/>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Radon-220 (</a:t>
            </a:r>
            <a:r>
              <a:rPr lang="en-US" sz="1200" baseline="30000" dirty="0">
                <a:solidFill>
                  <a:srgbClr val="262B3A"/>
                </a:solidFill>
                <a:latin typeface="Calibri" pitchFamily="34" charset="0"/>
                <a:ea typeface="Calibri" pitchFamily="34" charset="-122"/>
                <a:cs typeface="Calibri" pitchFamily="34" charset="-120"/>
              </a:rPr>
              <a:t>220</a:t>
            </a:r>
            <a:r>
              <a:rPr lang="en-US" sz="1200" baseline="-40000" dirty="0">
                <a:solidFill>
                  <a:srgbClr val="262B3A"/>
                </a:solidFill>
                <a:latin typeface="Calibri" pitchFamily="34" charset="0"/>
                <a:ea typeface="Calibri" pitchFamily="34" charset="-122"/>
                <a:cs typeface="Calibri" pitchFamily="34" charset="-120"/>
              </a:rPr>
              <a:t>86</a:t>
            </a:r>
            <a:r>
              <a:rPr lang="en-US" sz="1200" dirty="0">
                <a:solidFill>
                  <a:srgbClr val="262B3A"/>
                </a:solidFill>
                <a:latin typeface="Calibri" pitchFamily="34" charset="0"/>
                <a:ea typeface="Calibri" pitchFamily="34" charset="-122"/>
                <a:cs typeface="Calibri" pitchFamily="34" charset="-120"/>
              </a:rPr>
              <a:t>Rn) is another isotope of radon. Explain why radon-220 and radon-222 are isotopes of the same element.</a:t>
            </a:r>
            <a:endParaRPr lang="en-US" sz="1200" dirty="0"/>
          </a:p>
        </p:txBody>
      </p:sp>
      <p:sp>
        <p:nvSpPr>
          <p:cNvPr id="16" name="Text 14"/>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4821936"/>
            <a:ext cx="5570068" cy="1441704"/>
          </a:xfrm>
          <a:prstGeom prst="roundRect">
            <a:avLst>
              <a:gd name="adj" fmla="val 3171"/>
            </a:avLst>
          </a:prstGeom>
          <a:solidFill>
            <a:srgbClr val="F5F8FE"/>
          </a:solidFill>
          <a:ln w="9525">
            <a:solidFill>
              <a:srgbClr val="D5DCEB"/>
            </a:solidFill>
            <a:prstDash val="solid"/>
          </a:ln>
        </p:spPr>
      </p:sp>
      <p:sp>
        <p:nvSpPr>
          <p:cNvPr id="18" name="Text 16"/>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Complete the equation for the decay by giving the </a:t>
            </a:r>
            <a:r>
              <a:rPr lang="en-US" sz="1200" b="1" dirty="0">
                <a:solidFill>
                  <a:srgbClr val="262B3A"/>
                </a:solidFill>
                <a:latin typeface="Calibri" pitchFamily="34" charset="0"/>
                <a:ea typeface="Calibri" pitchFamily="34" charset="-122"/>
                <a:cs typeface="Calibri" pitchFamily="34" charset="-120"/>
              </a:rPr>
              <a:t>mass number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atomic number</a:t>
            </a:r>
            <a:r>
              <a:rPr lang="en-US" sz="1200" dirty="0">
                <a:solidFill>
                  <a:srgbClr val="262B3A"/>
                </a:solidFill>
                <a:latin typeface="Calibri" pitchFamily="34" charset="0"/>
                <a:ea typeface="Calibri" pitchFamily="34" charset="-122"/>
                <a:cs typeface="Calibri" pitchFamily="34" charset="-120"/>
              </a:rPr>
              <a:t> of the polonium nucleus:   </a:t>
            </a:r>
            <a:r>
              <a:rPr lang="en-US" sz="1200" baseline="30000" dirty="0">
                <a:solidFill>
                  <a:srgbClr val="262B3A"/>
                </a:solidFill>
                <a:latin typeface="Calibri" pitchFamily="34" charset="0"/>
                <a:ea typeface="Calibri" pitchFamily="34" charset="-122"/>
                <a:cs typeface="Calibri" pitchFamily="34" charset="-120"/>
              </a:rPr>
              <a:t>222</a:t>
            </a:r>
            <a:r>
              <a:rPr lang="en-US" sz="1200" baseline="-40000" dirty="0">
                <a:solidFill>
                  <a:srgbClr val="262B3A"/>
                </a:solidFill>
                <a:latin typeface="Calibri" pitchFamily="34" charset="0"/>
                <a:ea typeface="Calibri" pitchFamily="34" charset="-122"/>
                <a:cs typeface="Calibri" pitchFamily="34" charset="-120"/>
              </a:rPr>
              <a:t>86</a:t>
            </a:r>
            <a:r>
              <a:rPr lang="en-US" sz="1200" dirty="0">
                <a:solidFill>
                  <a:srgbClr val="262B3A"/>
                </a:solidFill>
                <a:latin typeface="Calibri" pitchFamily="34" charset="0"/>
                <a:ea typeface="Calibri" pitchFamily="34" charset="-122"/>
                <a:cs typeface="Calibri" pitchFamily="34" charset="-120"/>
              </a:rPr>
              <a:t>Rn → </a:t>
            </a:r>
            <a:r>
              <a:rPr lang="en-US" sz="1200" baseline="30000" dirty="0">
                <a:solidFill>
                  <a:srgbClr val="262B3A"/>
                </a:solidFill>
                <a:latin typeface="Calibri" pitchFamily="34" charset="0"/>
                <a:ea typeface="Calibri" pitchFamily="34" charset="-122"/>
                <a:cs typeface="Calibri" pitchFamily="34" charset="-120"/>
              </a:rPr>
              <a:t>A</a:t>
            </a:r>
            <a:r>
              <a:rPr lang="en-US" sz="1200" baseline="-40000" dirty="0">
                <a:solidFill>
                  <a:srgbClr val="262B3A"/>
                </a:solidFill>
                <a:latin typeface="Calibri" pitchFamily="34" charset="0"/>
                <a:ea typeface="Calibri" pitchFamily="34" charset="-122"/>
                <a:cs typeface="Calibri" pitchFamily="34" charset="-120"/>
              </a:rPr>
              <a:t>Z</a:t>
            </a:r>
            <a:r>
              <a:rPr lang="en-US" sz="1200" dirty="0">
                <a:solidFill>
                  <a:srgbClr val="262B3A"/>
                </a:solidFill>
                <a:latin typeface="Calibri" pitchFamily="34" charset="0"/>
                <a:ea typeface="Calibri" pitchFamily="34" charset="-122"/>
                <a:cs typeface="Calibri" pitchFamily="34" charset="-120"/>
              </a:rPr>
              <a:t>Po + </a:t>
            </a:r>
            <a:r>
              <a:rPr lang="en-US" sz="1200" baseline="30000" dirty="0">
                <a:solidFill>
                  <a:srgbClr val="262B3A"/>
                </a:solidFill>
                <a:latin typeface="Calibri" pitchFamily="34" charset="0"/>
                <a:ea typeface="Calibri" pitchFamily="34" charset="-122"/>
                <a:cs typeface="Calibri" pitchFamily="34" charset="-120"/>
              </a:rPr>
              <a:t>4</a:t>
            </a:r>
            <a:r>
              <a:rPr lang="en-US" sz="1200" baseline="-40000" dirty="0">
                <a:solidFill>
                  <a:srgbClr val="262B3A"/>
                </a:solidFill>
                <a:latin typeface="Calibri" pitchFamily="34" charset="0"/>
                <a:ea typeface="Calibri" pitchFamily="34" charset="-122"/>
                <a:cs typeface="Calibri" pitchFamily="34" charset="-120"/>
              </a:rPr>
              <a:t>2</a:t>
            </a:r>
            <a:r>
              <a:rPr lang="en-US" sz="1200" dirty="0">
                <a:solidFill>
                  <a:srgbClr val="262B3A"/>
                </a:solidFill>
                <a:latin typeface="Calibri" pitchFamily="34" charset="0"/>
                <a:ea typeface="Calibri" pitchFamily="34" charset="-122"/>
                <a:cs typeface="Calibri" pitchFamily="34" charset="-120"/>
              </a:rPr>
              <a:t>He</a:t>
            </a:r>
            <a:endParaRPr lang="en-US" sz="1200" dirty="0"/>
          </a:p>
        </p:txBody>
      </p:sp>
      <p:sp>
        <p:nvSpPr>
          <p:cNvPr id="19" name="Text 17"/>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6210148" y="1719072"/>
            <a:ext cx="5570068" cy="1554337"/>
          </a:xfrm>
          <a:prstGeom prst="roundRect">
            <a:avLst>
              <a:gd name="adj" fmla="val 2941"/>
            </a:avLst>
          </a:prstGeom>
          <a:solidFill>
            <a:srgbClr val="F5F8FE"/>
          </a:solidFill>
          <a:ln w="9525">
            <a:solidFill>
              <a:srgbClr val="D5DCEB"/>
            </a:solidFill>
            <a:prstDash val="solid"/>
          </a:ln>
        </p:spPr>
      </p:sp>
      <p:sp>
        <p:nvSpPr>
          <p:cNvPr id="21" name="Text 19"/>
          <p:cNvSpPr/>
          <p:nvPr/>
        </p:nvSpPr>
        <p:spPr>
          <a:xfrm>
            <a:off x="6347308" y="1792224"/>
            <a:ext cx="5295748" cy="118857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The activity of a sample of radon-222 falls from </a:t>
            </a:r>
            <a:r>
              <a:rPr lang="en-US" sz="1200" b="1" dirty="0">
                <a:solidFill>
                  <a:srgbClr val="262B3A"/>
                </a:solidFill>
                <a:latin typeface="Calibri" pitchFamily="34" charset="0"/>
                <a:ea typeface="Calibri" pitchFamily="34" charset="-122"/>
                <a:cs typeface="Calibri" pitchFamily="34" charset="-120"/>
              </a:rPr>
              <a:t>1600 Bq</a:t>
            </a:r>
            <a:r>
              <a:rPr lang="en-US" sz="1200" dirty="0">
                <a:solidFill>
                  <a:srgbClr val="262B3A"/>
                </a:solidFill>
                <a:latin typeface="Calibri" pitchFamily="34" charset="0"/>
                <a:ea typeface="Calibri" pitchFamily="34" charset="-122"/>
                <a:cs typeface="Calibri" pitchFamily="34" charset="-120"/>
              </a:rPr>
              <a:t> to </a:t>
            </a:r>
            <a:r>
              <a:rPr lang="en-US" sz="1200" b="1" dirty="0">
                <a:solidFill>
                  <a:srgbClr val="262B3A"/>
                </a:solidFill>
                <a:latin typeface="Calibri" pitchFamily="34" charset="0"/>
                <a:ea typeface="Calibri" pitchFamily="34" charset="-122"/>
                <a:cs typeface="Calibri" pitchFamily="34" charset="-120"/>
              </a:rPr>
              <a:t>200 Bq</a:t>
            </a:r>
            <a:r>
              <a:rPr lang="en-US" sz="1200" dirty="0">
                <a:solidFill>
                  <a:srgbClr val="262B3A"/>
                </a:solidFill>
                <a:latin typeface="Calibri" pitchFamily="34" charset="0"/>
                <a:ea typeface="Calibri" pitchFamily="34" charset="-122"/>
                <a:cs typeface="Calibri" pitchFamily="34" charset="-120"/>
              </a:rPr>
              <a:t> in </a:t>
            </a:r>
            <a:r>
              <a:rPr lang="en-US" sz="1200" b="1" dirty="0">
                <a:solidFill>
                  <a:srgbClr val="262B3A"/>
                </a:solidFill>
                <a:latin typeface="Calibri" pitchFamily="34" charset="0"/>
                <a:ea typeface="Calibri" pitchFamily="34" charset="-122"/>
                <a:cs typeface="Calibri" pitchFamily="34" charset="-120"/>
              </a:rPr>
              <a:t>11.4 days</a:t>
            </a:r>
            <a:r>
              <a:rPr lang="en-US" sz="1200" dirty="0">
                <a:solidFill>
                  <a:srgbClr val="262B3A"/>
                </a:solidFill>
                <a:latin typeface="Calibri" pitchFamily="34" charset="0"/>
                <a:ea typeface="Calibri" pitchFamily="34" charset="-122"/>
                <a:cs typeface="Calibri" pitchFamily="34" charset="-120"/>
              </a:rPr>
              <a:t>. Calculate the half-life of radon-222.</a:t>
            </a:r>
            <a:endParaRPr lang="en-US" sz="1200" dirty="0"/>
          </a:p>
        </p:txBody>
      </p:sp>
      <p:sp>
        <p:nvSpPr>
          <p:cNvPr id="22" name="Text 20"/>
          <p:cNvSpPr/>
          <p:nvPr/>
        </p:nvSpPr>
        <p:spPr>
          <a:xfrm>
            <a:off x="10317175" y="296251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6210148" y="3383137"/>
            <a:ext cx="5570068" cy="1554337"/>
          </a:xfrm>
          <a:prstGeom prst="roundRect">
            <a:avLst>
              <a:gd name="adj" fmla="val 2941"/>
            </a:avLst>
          </a:prstGeom>
          <a:solidFill>
            <a:srgbClr val="FFFFFF"/>
          </a:solidFill>
          <a:ln w="9525">
            <a:solidFill>
              <a:srgbClr val="D5DCEB"/>
            </a:solidFill>
            <a:prstDash val="solid"/>
          </a:ln>
        </p:spPr>
      </p:sp>
      <p:sp>
        <p:nvSpPr>
          <p:cNvPr id="24" name="Text 22"/>
          <p:cNvSpPr/>
          <p:nvPr/>
        </p:nvSpPr>
        <p:spPr>
          <a:xfrm>
            <a:off x="6347308" y="3456289"/>
            <a:ext cx="5295748" cy="118857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Scientists cannot predict when a particular radon nucleus will decay, but they can give a value for its half-life. Explain why.</a:t>
            </a:r>
            <a:endParaRPr lang="en-US" sz="1200" dirty="0"/>
          </a:p>
        </p:txBody>
      </p:sp>
      <p:sp>
        <p:nvSpPr>
          <p:cNvPr id="25" name="Text 23"/>
          <p:cNvSpPr/>
          <p:nvPr/>
        </p:nvSpPr>
        <p:spPr>
          <a:xfrm>
            <a:off x="10317175" y="462657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5047202"/>
            <a:ext cx="5570068" cy="1216438"/>
          </a:xfrm>
          <a:prstGeom prst="roundRect">
            <a:avLst>
              <a:gd name="adj" fmla="val 3759"/>
            </a:avLst>
          </a:prstGeom>
          <a:solidFill>
            <a:srgbClr val="F5F8FE"/>
          </a:solidFill>
          <a:ln w="9525">
            <a:solidFill>
              <a:srgbClr val="D5DCEB"/>
            </a:solidFill>
            <a:prstDash val="solid"/>
          </a:ln>
        </p:spPr>
      </p:sp>
      <p:sp>
        <p:nvSpPr>
          <p:cNvPr id="27" name="Text 25"/>
          <p:cNvSpPr/>
          <p:nvPr/>
        </p:nvSpPr>
        <p:spPr>
          <a:xfrm>
            <a:off x="6347308" y="5120354"/>
            <a:ext cx="4792828" cy="85067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Calculate the ratio of the activity after </a:t>
            </a:r>
            <a:r>
              <a:rPr lang="en-US" sz="1200" b="1" dirty="0">
                <a:solidFill>
                  <a:srgbClr val="262B3A"/>
                </a:solidFill>
                <a:latin typeface="Calibri" pitchFamily="34" charset="0"/>
                <a:ea typeface="Calibri" pitchFamily="34" charset="-122"/>
                <a:cs typeface="Calibri" pitchFamily="34" charset="-120"/>
              </a:rPr>
              <a:t>19 days</a:t>
            </a:r>
            <a:r>
              <a:rPr lang="en-US" sz="1200" dirty="0">
                <a:solidFill>
                  <a:srgbClr val="262B3A"/>
                </a:solidFill>
                <a:latin typeface="Calibri" pitchFamily="34" charset="0"/>
                <a:ea typeface="Calibri" pitchFamily="34" charset="-122"/>
                <a:cs typeface="Calibri" pitchFamily="34" charset="-120"/>
              </a:rPr>
              <a:t> to the starting activity. Use your answer to (d).</a:t>
            </a:r>
            <a:endParaRPr lang="en-US" sz="1200" dirty="0"/>
          </a:p>
        </p:txBody>
      </p:sp>
      <p:sp>
        <p:nvSpPr>
          <p:cNvPr id="28" name="Shape 26"/>
          <p:cNvSpPr/>
          <p:nvPr/>
        </p:nvSpPr>
        <p:spPr>
          <a:xfrm>
            <a:off x="11231575" y="5120354"/>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512035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P5.1 What is radioactivity?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P5.1 What is radioactivity?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29</a:t>
            </a:r>
            <a:endParaRPr lang="en-US" sz="1000" dirty="0"/>
          </a:p>
        </p:txBody>
      </p:sp>
      <p:sp>
        <p:nvSpPr>
          <p:cNvPr id="10" name="Text 8"/>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Foundation: answer Q1–Q4, Q6 and Q7 (15 marks). Higher: answer all questions.</a:t>
            </a:r>
            <a:endParaRPr lang="en-US" sz="1150" dirty="0"/>
          </a:p>
        </p:txBody>
      </p:sp>
      <p:sp>
        <p:nvSpPr>
          <p:cNvPr id="11" name="Shape 9"/>
          <p:cNvSpPr/>
          <p:nvPr/>
        </p:nvSpPr>
        <p:spPr>
          <a:xfrm>
            <a:off x="411480" y="1517904"/>
            <a:ext cx="5570068" cy="1120140"/>
          </a:xfrm>
          <a:prstGeom prst="roundRect">
            <a:avLst>
              <a:gd name="adj" fmla="val 4082"/>
            </a:avLst>
          </a:prstGeom>
          <a:solidFill>
            <a:srgbClr val="F5F8FE"/>
          </a:solidFill>
          <a:ln w="9525">
            <a:solidFill>
              <a:srgbClr val="D5DCEB"/>
            </a:solidFill>
            <a:prstDash val="solid"/>
          </a:ln>
        </p:spPr>
      </p:sp>
      <p:sp>
        <p:nvSpPr>
          <p:cNvPr id="12" name="Text 10"/>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the typical radius of an atom. Give your answer in standard form.</a:t>
            </a:r>
            <a:endParaRPr lang="en-US" sz="1150" dirty="0"/>
          </a:p>
        </p:txBody>
      </p:sp>
      <p:sp>
        <p:nvSpPr>
          <p:cNvPr id="13" name="Text 11"/>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4" name="Shape 12"/>
          <p:cNvSpPr/>
          <p:nvPr/>
        </p:nvSpPr>
        <p:spPr>
          <a:xfrm>
            <a:off x="411480" y="2747772"/>
            <a:ext cx="5570068" cy="1120140"/>
          </a:xfrm>
          <a:prstGeom prst="roundRect">
            <a:avLst>
              <a:gd name="adj" fmla="val 4082"/>
            </a:avLst>
          </a:prstGeom>
          <a:solidFill>
            <a:srgbClr val="F5F8FE"/>
          </a:solidFill>
          <a:ln w="9525">
            <a:solidFill>
              <a:srgbClr val="D5DCEB"/>
            </a:solidFill>
            <a:prstDash val="solid"/>
          </a:ln>
        </p:spPr>
      </p:sp>
      <p:sp>
        <p:nvSpPr>
          <p:cNvPr id="15" name="Text 13"/>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Tritium (</a:t>
            </a:r>
            <a:r>
              <a:rPr lang="en-US" sz="1150" baseline="30000" dirty="0">
                <a:solidFill>
                  <a:srgbClr val="262B3A"/>
                </a:solidFill>
                <a:latin typeface="Calibri" pitchFamily="34" charset="0"/>
                <a:ea typeface="Calibri" pitchFamily="34" charset="-122"/>
                <a:cs typeface="Calibri" pitchFamily="34" charset="-120"/>
              </a:rPr>
              <a:t>3</a:t>
            </a:r>
            <a:r>
              <a:rPr lang="en-US" sz="1150" baseline="-40000"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H) decays by beta emission to helium (He). Write a balanced equation for this decay.</a:t>
            </a:r>
            <a:endParaRPr lang="en-US" sz="1150" dirty="0"/>
          </a:p>
        </p:txBody>
      </p:sp>
      <p:sp>
        <p:nvSpPr>
          <p:cNvPr id="16" name="Text 14"/>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3977640"/>
            <a:ext cx="5570068" cy="1120140"/>
          </a:xfrm>
          <a:prstGeom prst="roundRect">
            <a:avLst>
              <a:gd name="adj" fmla="val 4082"/>
            </a:avLst>
          </a:prstGeom>
          <a:solidFill>
            <a:srgbClr val="F5F8FE"/>
          </a:solidFill>
          <a:ln w="9525">
            <a:solidFill>
              <a:srgbClr val="D5DCEB"/>
            </a:solidFill>
            <a:prstDash val="solid"/>
          </a:ln>
        </p:spPr>
      </p:sp>
      <p:sp>
        <p:nvSpPr>
          <p:cNvPr id="18" name="Text 16"/>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Explain why a nucleus that emits a </a:t>
            </a:r>
            <a:r>
              <a:rPr lang="en-US" sz="1150" b="1" dirty="0">
                <a:solidFill>
                  <a:srgbClr val="262B3A"/>
                </a:solidFill>
                <a:latin typeface="Calibri" pitchFamily="34" charset="0"/>
                <a:ea typeface="Calibri" pitchFamily="34" charset="-122"/>
                <a:cs typeface="Calibri" pitchFamily="34" charset="-120"/>
              </a:rPr>
              <a:t>neutron</a:t>
            </a:r>
            <a:r>
              <a:rPr lang="en-US" sz="1150" dirty="0">
                <a:solidFill>
                  <a:srgbClr val="262B3A"/>
                </a:solidFill>
                <a:latin typeface="Calibri" pitchFamily="34" charset="0"/>
                <a:ea typeface="Calibri" pitchFamily="34" charset="-122"/>
                <a:cs typeface="Calibri" pitchFamily="34" charset="-120"/>
              </a:rPr>
              <a:t> is still the same element.</a:t>
            </a:r>
            <a:endParaRPr lang="en-US" sz="1150" dirty="0"/>
          </a:p>
        </p:txBody>
      </p:sp>
      <p:sp>
        <p:nvSpPr>
          <p:cNvPr id="19" name="Text 17"/>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5207508"/>
            <a:ext cx="5570068" cy="1120140"/>
          </a:xfrm>
          <a:prstGeom prst="roundRect">
            <a:avLst>
              <a:gd name="adj" fmla="val 4082"/>
            </a:avLst>
          </a:prstGeom>
          <a:solidFill>
            <a:srgbClr val="F5F8FE"/>
          </a:solidFill>
          <a:ln w="9525">
            <a:solidFill>
              <a:srgbClr val="D5DCEB"/>
            </a:solidFill>
            <a:prstDash val="solid"/>
          </a:ln>
        </p:spPr>
      </p:sp>
      <p:sp>
        <p:nvSpPr>
          <p:cNvPr id="21" name="Text 19"/>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source has an activity of </a:t>
            </a:r>
            <a:r>
              <a:rPr lang="en-US" sz="1150" b="1" dirty="0">
                <a:solidFill>
                  <a:srgbClr val="262B3A"/>
                </a:solidFill>
                <a:latin typeface="Calibri" pitchFamily="34" charset="0"/>
                <a:ea typeface="Calibri" pitchFamily="34" charset="-122"/>
                <a:cs typeface="Calibri" pitchFamily="34" charset="-120"/>
              </a:rPr>
              <a:t>960 Bq</a:t>
            </a:r>
            <a:r>
              <a:rPr lang="en-US" sz="1150" dirty="0">
                <a:solidFill>
                  <a:srgbClr val="262B3A"/>
                </a:solidFill>
                <a:latin typeface="Calibri" pitchFamily="34" charset="0"/>
                <a:ea typeface="Calibri" pitchFamily="34" charset="-122"/>
                <a:cs typeface="Calibri" pitchFamily="34" charset="-120"/>
              </a:rPr>
              <a:t> and a half-life of </a:t>
            </a:r>
            <a:r>
              <a:rPr lang="en-US" sz="1150" b="1" dirty="0">
                <a:solidFill>
                  <a:srgbClr val="262B3A"/>
                </a:solidFill>
                <a:latin typeface="Calibri" pitchFamily="34" charset="0"/>
                <a:ea typeface="Calibri" pitchFamily="34" charset="-122"/>
                <a:cs typeface="Calibri" pitchFamily="34" charset="-120"/>
              </a:rPr>
              <a:t>5 minutes</a:t>
            </a:r>
            <a:r>
              <a:rPr lang="en-US" sz="1150" dirty="0">
                <a:solidFill>
                  <a:srgbClr val="262B3A"/>
                </a:solidFill>
                <a:latin typeface="Calibri" pitchFamily="34" charset="0"/>
                <a:ea typeface="Calibri" pitchFamily="34" charset="-122"/>
                <a:cs typeface="Calibri" pitchFamily="34" charset="-120"/>
              </a:rPr>
              <a:t>. Calculate its activity after </a:t>
            </a:r>
            <a:r>
              <a:rPr lang="en-US" sz="1150" b="1" dirty="0">
                <a:solidFill>
                  <a:srgbClr val="262B3A"/>
                </a:solidFill>
                <a:latin typeface="Calibri" pitchFamily="34" charset="0"/>
                <a:ea typeface="Calibri" pitchFamily="34" charset="-122"/>
                <a:cs typeface="Calibri" pitchFamily="34" charset="-120"/>
              </a:rPr>
              <a:t>20 minutes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2" name="Text 20"/>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1517904"/>
            <a:ext cx="5570068" cy="1067509"/>
          </a:xfrm>
          <a:prstGeom prst="roundRect">
            <a:avLst>
              <a:gd name="adj" fmla="val 4283"/>
            </a:avLst>
          </a:prstGeom>
          <a:solidFill>
            <a:srgbClr val="F5F8FE"/>
          </a:solidFill>
          <a:ln w="9525">
            <a:solidFill>
              <a:srgbClr val="D5DCEB"/>
            </a:solidFill>
            <a:prstDash val="solid"/>
          </a:ln>
        </p:spPr>
      </p:sp>
      <p:sp>
        <p:nvSpPr>
          <p:cNvPr id="24" name="Text 22"/>
          <p:cNvSpPr/>
          <p:nvPr/>
        </p:nvSpPr>
        <p:spPr>
          <a:xfrm>
            <a:off x="6347308" y="1591056"/>
            <a:ext cx="479282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sample decays for </a:t>
            </a:r>
            <a:r>
              <a:rPr lang="en-US" sz="1150" b="1" dirty="0">
                <a:solidFill>
                  <a:srgbClr val="262B3A"/>
                </a:solidFill>
                <a:latin typeface="Calibri" pitchFamily="34" charset="0"/>
                <a:ea typeface="Calibri" pitchFamily="34" charset="-122"/>
                <a:cs typeface="Calibri" pitchFamily="34" charset="-120"/>
              </a:rPr>
              <a:t>3 half-lives</a:t>
            </a:r>
            <a:r>
              <a:rPr lang="en-US" sz="1150" dirty="0">
                <a:solidFill>
                  <a:srgbClr val="262B3A"/>
                </a:solidFill>
                <a:latin typeface="Calibri" pitchFamily="34" charset="0"/>
                <a:ea typeface="Calibri" pitchFamily="34" charset="-122"/>
                <a:cs typeface="Calibri" pitchFamily="34" charset="-120"/>
              </a:rPr>
              <a:t>. Calculate the ratio of decayed nuclei to undecayed nuclei.</a:t>
            </a:r>
            <a:endParaRPr lang="en-US" sz="1150" dirty="0"/>
          </a:p>
        </p:txBody>
      </p:sp>
      <p:sp>
        <p:nvSpPr>
          <p:cNvPr id="25" name="Shape 23"/>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229280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2695141"/>
            <a:ext cx="5570068" cy="1067509"/>
          </a:xfrm>
          <a:prstGeom prst="roundRect">
            <a:avLst>
              <a:gd name="adj" fmla="val 4283"/>
            </a:avLst>
          </a:prstGeom>
          <a:solidFill>
            <a:srgbClr val="F5F8FE"/>
          </a:solidFill>
          <a:ln w="9525">
            <a:solidFill>
              <a:srgbClr val="D5DCEB"/>
            </a:solidFill>
            <a:prstDash val="solid"/>
          </a:ln>
        </p:spPr>
      </p:sp>
      <p:sp>
        <p:nvSpPr>
          <p:cNvPr id="29" name="Text 27"/>
          <p:cNvSpPr/>
          <p:nvPr/>
        </p:nvSpPr>
        <p:spPr>
          <a:xfrm>
            <a:off x="6347308" y="2768293"/>
            <a:ext cx="529574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Polonium-210 (</a:t>
            </a:r>
            <a:r>
              <a:rPr lang="en-US" sz="1150" baseline="30000" dirty="0">
                <a:solidFill>
                  <a:srgbClr val="262B3A"/>
                </a:solidFill>
                <a:latin typeface="Calibri" pitchFamily="34" charset="0"/>
                <a:ea typeface="Calibri" pitchFamily="34" charset="-122"/>
                <a:cs typeface="Calibri" pitchFamily="34" charset="-120"/>
              </a:rPr>
              <a:t>210</a:t>
            </a:r>
            <a:r>
              <a:rPr lang="en-US" sz="1150" baseline="-40000" dirty="0">
                <a:solidFill>
                  <a:srgbClr val="262B3A"/>
                </a:solidFill>
                <a:latin typeface="Calibri" pitchFamily="34" charset="0"/>
                <a:ea typeface="Calibri" pitchFamily="34" charset="-122"/>
                <a:cs typeface="Calibri" pitchFamily="34" charset="-120"/>
              </a:rPr>
              <a:t>84</a:t>
            </a:r>
            <a:r>
              <a:rPr lang="en-US" sz="1150" dirty="0">
                <a:solidFill>
                  <a:srgbClr val="262B3A"/>
                </a:solidFill>
                <a:latin typeface="Calibri" pitchFamily="34" charset="0"/>
                <a:ea typeface="Calibri" pitchFamily="34" charset="-122"/>
                <a:cs typeface="Calibri" pitchFamily="34" charset="-120"/>
              </a:rPr>
              <a:t>Po) emits an alpha particle and becomes lead (Pb). Write the balanced equation.</a:t>
            </a:r>
            <a:endParaRPr lang="en-US" sz="1150" dirty="0"/>
          </a:p>
        </p:txBody>
      </p:sp>
      <p:sp>
        <p:nvSpPr>
          <p:cNvPr id="30" name="Text 28"/>
          <p:cNvSpPr/>
          <p:nvPr/>
        </p:nvSpPr>
        <p:spPr>
          <a:xfrm>
            <a:off x="10317175" y="347004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872378"/>
            <a:ext cx="5570068" cy="2455270"/>
          </a:xfrm>
          <a:prstGeom prst="roundRect">
            <a:avLst>
              <a:gd name="adj" fmla="val 1862"/>
            </a:avLst>
          </a:prstGeom>
          <a:solidFill>
            <a:srgbClr val="FFF4E0"/>
          </a:solidFill>
          <a:ln w="9525">
            <a:solidFill>
              <a:srgbClr val="F1D9A8"/>
            </a:solidFill>
            <a:prstDash val="solid"/>
          </a:ln>
        </p:spPr>
      </p:sp>
      <p:sp>
        <p:nvSpPr>
          <p:cNvPr id="32" name="Text 30"/>
          <p:cNvSpPr/>
          <p:nvPr/>
        </p:nvSpPr>
        <p:spPr>
          <a:xfrm>
            <a:off x="6347308" y="3945530"/>
            <a:ext cx="5295748" cy="210779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A teacher uses 100 dice to model radioactive decay. Describe how the model works and how it can be used to find a "half-life". Explain how the model is like real radioactive decay and how it is different.</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P5.1 What is radioactivity?</dc:title>
  <dc:subject>PptxGenJS Presentation</dc:subject>
  <dc:creator>GCSE Physics</dc:creator>
  <cp:lastModifiedBy>GCSE Physics</cp:lastModifiedBy>
  <cp:revision>1</cp:revision>
  <dcterms:created xsi:type="dcterms:W3CDTF">2026-10-29T17:23:32Z</dcterms:created>
  <dcterms:modified xsi:type="dcterms:W3CDTF">2026-10-29T17:23:32Z</dcterms:modified>
</cp:coreProperties>
</file>