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P5.2 How can radioactive materials be used safely? is Part 2 of 2 in J260 Chapter P5 and the last deck in the chapter. P5.3 (fission and fusion) is in Physics B (J259) only.
The cover title is shortened to fit; the full sub-topic title is in the footer.
Spec wording and numbering in this deck were reconstructed from search extracts because ocr.org.uk could not be fetched: see SPEC_P5_2.md before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P5.2 statement is believed to be Higher-only (UNVERIFIED). The HT pill appears only on practice questions that use the P5.1.9 net-decline ratio.
Codes "P5.2" mark content taught within the P5.2 statements (background, cell damage) whose exact J260 code was not confirmed. IaS = Ideas about Science (risk). See SPEC_P5_2.md.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P5 has two sub-topics in Combined Science: P5.1 and P5.2. P5.3 is separate science (J259) only.
OCR topic summary (search extract): "In Topic P5.2 learners learn about the penetration properties of ionising radiation" and how radioactive materials are handled safely, including in health settings, and how to interpret risk data.
Dose in sieverts: no J260 statement was found, so it appears only in the speaker notes (slides 11, 12 and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Alpha: 2 protons + 2 neutrons (a helium nucleus). Beta: a high-speed electron emitted from the nucleus.
2. The time for the number of undecayed nuclei (or the activity) to halve. Activity in becquerels (Bq).
3. 12 ÷ 4 = 3 half-lives; 1200 → 600 → 300 → 150 Bq.
4. A = 241 − 4 = 237; Z = 95 − 2 = 93 (²³⁷₉₃Np).
5. Alpha is stopped by paper; beta by a few mm of aluminium.
6. Able to remove electrons from atoms, making ions. UV, X-rays or gamma 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Alpha is very strongly ionising (1); it loses a little energy at each ionisation, so it loses all its energy after a short distance / few cm (1).
The numbers of ion pairs drawn are illustrative only. Typical figures: alpha makes tens of thousands of ion pairs per cm of air; beta about a hundred; gamma very few.
This re-teaches the P5.1 bridge slide (25)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Only gamma passes through 3 mm of aluminium (beta is stopped by a few mm). Gamma is the most penetrating.
Ranges are typical values: alpha about 3–7 cm in air; beta tens of cm to a few m depending on energy (about 1 m is the usual GCSE figure); gamma intensity falls with distance but it is not stopped by air.
Absorbers drawn correctly: alpha ends at the paper face, beta passes paper and ends inside the aluminium, gamma passes both and leaves the lead weaker.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7 marks)
Q1 [1]: alpha, beta, gamma (1).
Q2 [2]: Electrons are removed from (or added to) atoms (1); forming charged particles / ions (1).
Q3 [2]: It causes many ionisations per cm / interacts strongly with atoms (1); so it loses its energy quickly and is stopped after a short distance / by paper (1).
Q4 [2]: Aluminium (1); a few mm, e.g. 3–5 mm (1). Accept other metals of similar thickness.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Alpha only travels a few cm in air; if the tube is further away, alpha would never reach it, so the paper test would be meaningless (1). Background radiation is always present; it adds to every reading, so it must be subtracted to find the count rate from the source alone (1).
This is a teacher demonstration: under UK school rules (CLEAPSS L93), students under 16 should not handle sealed sources; they may observe. No PAG is named for P5.2 (UNVERIFIED): it is used here as a suggested practical. Equipment: sealed sources (e.g. Am-241, Sr-90, Co-60 or a mixed unknown), GM tube and counter (or ratemeter), absorber set, holders, tongs, lead-lined storage box, metre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Radioactive decay is random, so repeated counts vary by more than this (the three no-absorber counts range from 517 to 531) (1). A drop of 4 is within that variation, so it is not significant (1).
All means and corrected values are checked in node: background mean 24; corrected 500, 496, 162, 34 counts/min. Beta contribution ≈ 496 − 162 = 334 counts/min.
Note: the aluminium also absorbs a very little gamma; this is ignored at GCSE.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7 marks)
Q1 [1]: 120 ÷ 5 = 24 counts/min (1).
Q2 [1]: 750 − 24 = 726 counts/min (1). ECF.
Q3 [3]: Corrected count with Al = 30 − 24 = 6 ≈ 0 / about background (1); so beta is present (stopped by Al) (1); no alpha as paper makes no difference, and no gamma as nothing above background passes the Al (1).
Q4 [2]: Any two: handle with tongs; keep at arm's length / point away from people; return to lead-lined box straight away / minimise time; students stand well back; wash hands (1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At high altitude there is less atmosphere above to absorb cosmic rays, and pilots spend many hours a year there (1–2).
Pie values: UK average from the HPA/PHE 2010 review (HPA-CRCE-026 summary, rounded): radon 50%, medical 15%, gamma from ground and buildings 13%, cosmic 12%, food and drink (internal) 9.5%, other &lt;1% (shown as 0.5% so the chart sums to 100%, checked in node). The later RIFE 2023 summary gives 48% radon, 16% medical, 13% terrestrial gamma, 12% cosmic, 11% intakes. Textbook charts differ slightly.
DOSE (notes only – no J260 statement found): the UK average is about 2.7 mSv per year; radon alone is about 1.35 mSv. The sievert (Sv) measures the effect of radiation on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Radiation ionises atoms/molecules in cells (1); this damages DNA, causing a mutation (1); the mutated cell can divide uncontrollably, forming a tumour/cancer (1).
DOSE (notes only, no J260 statement found): the effect of radiation on the body is measured as dose in sieverts (Sv); the risk of cancer increases with dose. Links: B1 (DNA, cell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[3]: Natural: any two of radon gas; rocks/soil/building materials; cosmic rays; food and drink (1 each). Man-made: medical X-rays/scans; nuclear fallout; nuclear power/industry (1).
Q2 [1]: 50 ÷ 15 = 3.3 times (1). Accept 3 to 3.5.
Q3 [3]: It ionises atoms/molecules in cells (1); damages DNA (1); cell dies or mutates and divides uncontrollably → cancer (1).
Q4 [1]: Different rocks (e.g. granite) release more radon / emit more gamma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Lead apron: shielding against irradiation (1). Sealed suit and mask: stop radioactive particles getting on the skin or being breathed in, i.e. contamination (1).
Spec P5.2.3 (UNVERIFIED number): "recall the differences between contamination and irradiation effects and compare the hazards associated with each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Outside the body alpha is stopped by air/the dead layer of skin (and the detector case), so it cannot reach living cells (1). Radon is breathed in (contamination), so alpha is emitted right next to living lung cells and is very strongly ionising there (1).
This slide covers both P5.2.3 (contamination vs irradiation) and P5.2.2 (hazard depends on the radiation emitted).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Its activity falls only very slowly, so it stays hazardous for thousands of years (it takes many half-lives for the activity to fall to a safe level) (1–2).
Graph drawn to scale from A = 800 × 0.5^(t/2) and A = 200 × 0.5^(t/8): for the same number of nuclei, activity is inversely proportional to half-life (8/2 = 4×). Curves cross at t = 16/3 ≈ 5.3 days (checked in node).
GRADE 7–9 note: "same number of nuclei, so a shorter half-life means more decays per second" is the key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Irradiation: exposure to radiation from a source outside the object/body (1); contamination: radioactive atoms/material get on or into the object/body (1).
Q2 [3]: Outside: alpha is stopped by skin/air so does not reach living cells (1); inside: alpha is absorbed by nearby living cells (1); it is the most strongly ionising, so causes most damage (1).
Q3 [2]: Q (1); its activity falls more slowly so it remains radioactive / hazardous for much longer (1).
Q4 [1]: 120 000 ÷ 24 000 = 5 half-lives; (½)⁵ = 1/32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Alpha cannot pass out of the body, so the camera would detect nothing (1); and it is very strongly ionising inside the body, so it would damage cells (1).
P5.2.4 (UNVERIFIED number): "describe the different uses of nuclear radiations for exploration of internal organs, and for control or destruction of unwanted tissue". Tc-99m half-life 6.0 h; it also has a low-energy gamma (140 keV), good for cameras. The tracer is a deliberate contamination; the benefit outweighs the small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Gamma is very penetrating, so it passes through the packaging and reaches every part of the equipment (1); beta might be stopped by the packaging/equipment and not reach all the bacteria (1). Packs stay sealed, so the equipment stays sterile.
Co-60 half-life 5.27 years, gamma emitter (also used for food irradiation). Modern radiotherapy mostly uses X-ray beams from linear accelerators; "gamma or external beams" is the GCSE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Americium-241 (1). Alpha: strongly ionises the air inside the detector, but cannot get out of the case / is stopped by a few cm of air (1). Half-life 432 years: the activity stays almost constant over the life of the detector, so it does not need replacing (1).
Half-life values: Tc-99m 6.0 h; I-131 8.0 d; Co-60 5.27 y; Sr-90 28.8 y; Am-241 432 y; Po-210 138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Gamma passes out of the body / can be detected outside (1); weakly ionising so less damage to cells (1).
Q2 [2]: Seconds: activity would fall too low before the scan is finished / before it reaches the organ (1); years: the patient would stay radioactive / receive a dose for a long time (1).
Q3 [2]: 24 ÷ 8 = 3 half-lives (1); 400 → 200 → 100 → 50 MBq (1).
Q4 [2]: It has been irradiated, not contaminated (1); so it does not become radioactive / emits no radiation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Gamma (1): beta would be completely stopped by 1 cm of steel, so the count would not change with thickness; gamma is partly absorbed, so its count rate changes with thickness (1).
Smoke detector source: Am-241 (alpha, half-life 432 years), sealed inside the detector. These "other uses" are taught as context for choosing isotopes; they are not confirmed as a separate J260 statement (see SPEC_P5_2.md).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Gamma passes through gloves (and the body) almost unaffected, so gloves give no shielding from gamma (1); gloves stop radioactive material getting on the skin, i.e. they protect against contamination (1).
Film badge: the windows let you tell which radiation caused the exposure; the darkness shows the dose. Modern badges are often electronic or TLD dosimeters, but the principle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Radiation is invisible and unfamiliar; the risk is imposed, not chosen; an accident could be catastrophic. Driving is familiar, voluntary and feels under their control, so its (actually larger) risk is perceived as smaller (2 marks for two reasons).
Ideas about Science (risk): J260 IaS statements cover identifying risks and benefits, the difference between actual and perceived risk, and decisions based on balancing them (wording UNVERIFIED). DOSE (notes only): a typical Tc-99m scan gives a dose of a few mSv, similar to one or two years of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6 (total 8 marks)
Q1 [2]: Beta is partly absorbed by paper (1); so the count rate changes when the thickness changes (alpha would be completely stopped; gamma would pass straight through) (1).
Q2 [3]: Any three: tongs/remote handling; gloves; lead shielding/screen/lead-lined syringe; minimise time; maximise distance; wear a film badge/dosimeter (1 each).
Q3 [2]: How big people think the risk is (1); may be larger if unfamiliar/invisible/imposed/catastrophic, or smaller if familiar/voluntary (1).
Q4 [1]: Benefit (early warning of fire, saving lives) far outweighs the very small risk (alpha cannot escape the case)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hide the definitions, students say them,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Alpha is strongly ionising (1); so it ionises the air in the detector to make a current / smoke absorbs it, changing the current (1).
(b) [2]: Alpha has a short range in air / is stopped by the case or a few cm of air (1); it cannot penetrate the skin / reach living cells from outside the body (1).
(c) [3]: 270 − 30 = 240 counts/min (1); paper makes no significant difference → no alpha (1); aluminium reduces it to about background (32 − 30 = 2) → beta only, no gamma (1).
(d) [2]: Activity stays (almost) constant for the life of the detector (1); so it does not need replacing / the current stays steady (1).
(e) [2]: Contamination: the source is inside the body, next to living cells (1); alpha is highly ionising and all of its energy is absorbed by nearby cells, damaging DNA (1).
(f) [2]: 1296 ÷ 432 = 3 half-lives (1); (½)³ → ratio 1 : 8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Radon (gas) (1).
2 [2]: Irradiation: exposed to radiation from an outside source; does not become radioactive (1). Contamination: radioactive atoms/material get on or in the object/person (1).
3 [2]: e.g. tongs – increases distance / prevents contamination of hands (1); store in lead-lined box – shielding (1); minimise time – smaller dose. One mark per precaution with reason.
4 [2]: 1218 ÷ 2 = 609 counts/min (1); 609 − 18 = 591 counts/min (1).
5 [2]: 24 ÷ 6 = 4 half-lives (1); (½)⁴ → 1 : 16 (1).
6 [2]: Gamma is very penetrating – passes through the packaging (1); kills bacteria without making the instruments radioactive / packs stay sealed so remain sterile (1).
7 [6]: OCR level-of-response mark scheme (6 marks). Read the whole answer, decide the level from the content descriptor, then the mark within the level from the quality of the line of reasoning. Use the indicative scientific points below.
Level 3 (5–6 marks): Explains why the type of radiation AND the half-life make Tc-99m suitable, describes at least one benefit and one risk, AND makes a justified judgement. There is a well-developed line of reasoning which is clear and logically structured. The information presented is relevant and substantiated.
Level 2 (3–4 marks): Explains why the type of radiation OR the half-life makes it suitable, AND gives a benefit or a risk. There is a line of reasoning presented with some structure. The information presented is relevant and supported by some evidence.
Level 1 (1–2 marks): Gives simple statements about the radiation type, half-life, a benefit or a risk. There is an attempt at a logical structure with a line of reasoning. The information is in the most part relevant.
0 marks: no response or no response worthy of credit.
Indicative scientific points may include:
 • Benefit: the scan shows how well the kidneys are working / finds problems early, so treatment can start; avoids surgery.
 • Gamma passes out of the body, so it can be detected by a gamma camera outside the patient.
 • Gamma is weakly ionising, so it causes little damage to cells as it passes through.
 • Half-life of 6 hours is long enough to collect in the kidneys and complete the scan.
 • Half-life is short, so the activity falls quickly: after 24 hours only 1/16 (about 6%) remains; the patient is not radioactive for long.
 • Risk: it is contamination (inside the body), so the patient receives a dose; ionising radiation can damage DNA and slightly increase the chance of cancer.
 • Risk reduced by using the smallest activity that gives a clear image; staff use shielding/tongs/distance and wear film badges.
 • An alpha or long half-life isotope would be much more dangerous; beta would not escape the body as well.
 • Judgement: the benefit of diagnosis is much greater than the small risk, so its use is justified.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4A"/>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2B4C9B"/>
          </a:solidFill>
          <a:ln w="12700">
            <a:solidFill>
              <a:srgbClr val="2B4C9B"/>
            </a:solidFill>
            <a:prstDash val="solid"/>
          </a:ln>
        </p:spPr>
      </p:sp>
      <p:sp>
        <p:nvSpPr>
          <p:cNvPr id="3" name="Shape 1"/>
          <p:cNvSpPr/>
          <p:nvPr/>
        </p:nvSpPr>
        <p:spPr>
          <a:xfrm>
            <a:off x="9326880" y="2377440"/>
            <a:ext cx="4937760" cy="4937760"/>
          </a:xfrm>
          <a:prstGeom prst="ellipse">
            <a:avLst/>
          </a:prstGeom>
          <a:solidFill>
            <a:srgbClr val="3A63C9">
              <a:alpha val="85000"/>
            </a:srgbClr>
          </a:solidFill>
          <a:ln w="12700">
            <a:solidFill>
              <a:srgbClr val="3A63C9"/>
            </a:solidFill>
            <a:prstDash val="solid"/>
          </a:ln>
        </p:spPr>
      </p:sp>
      <p:sp>
        <p:nvSpPr>
          <p:cNvPr id="4" name="Shape 2"/>
          <p:cNvSpPr/>
          <p:nvPr/>
        </p:nvSpPr>
        <p:spPr>
          <a:xfrm>
            <a:off x="0" y="0"/>
            <a:ext cx="164592" cy="6858000"/>
          </a:xfrm>
          <a:prstGeom prst="rect">
            <a:avLst/>
          </a:prstGeom>
          <a:solidFill>
            <a:srgbClr val="3A63C9"/>
          </a:solidFill>
          <a:ln w="12700">
            <a:solidFill>
              <a:srgbClr val="3A63C9"/>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9F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P5.2  Using radioactive materials safely</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9D5F2"/>
                </a:solidFill>
                <a:latin typeface="Georgia" pitchFamily="34" charset="0"/>
                <a:ea typeface="Georgia" pitchFamily="34" charset="-122"/>
                <a:cs typeface="Georgia" pitchFamily="34" charset="-120"/>
              </a:rPr>
              <a:t>Penetration and ionisation, background radiation, hazards, and uses in medicine and industry</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CE4F7"/>
                </a:solidFill>
                <a:latin typeface="Calibri" pitchFamily="34" charset="0"/>
                <a:ea typeface="Calibri" pitchFamily="34" charset="-122"/>
                <a:cs typeface="Calibri" pitchFamily="34" charset="-120"/>
              </a:rPr>
              <a:t>Ionisation  •  Penetration  •  Background  •  Irradiation  •  Contamination  •  Tracer  •  Radiotherapy  •  Risk</a:t>
            </a:r>
            <a:endParaRPr lang="en-US" sz="1300" dirty="0"/>
          </a:p>
        </p:txBody>
      </p:sp>
      <p:sp>
        <p:nvSpPr>
          <p:cNvPr id="10" name="Shape 8"/>
          <p:cNvSpPr/>
          <p:nvPr/>
        </p:nvSpPr>
        <p:spPr>
          <a:xfrm>
            <a:off x="731520" y="3886200"/>
            <a:ext cx="457200" cy="457200"/>
          </a:xfrm>
          <a:prstGeom prst="ellipse">
            <a:avLst/>
          </a:prstGeom>
          <a:solidFill>
            <a:srgbClr val="3A63C9"/>
          </a:solidFill>
          <a:ln w="12700">
            <a:solidFill>
              <a:srgbClr val="9F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P5.2.1–P5.2.4 • suggested practical: identifying radiation with absorbers and a GM tube</a:t>
            </a:r>
            <a:endParaRPr lang="en-US" sz="1400" dirty="0"/>
          </a:p>
        </p:txBody>
      </p:sp>
      <p:sp>
        <p:nvSpPr>
          <p:cNvPr id="13" name="Shape 11"/>
          <p:cNvSpPr/>
          <p:nvPr/>
        </p:nvSpPr>
        <p:spPr>
          <a:xfrm>
            <a:off x="731520" y="4507992"/>
            <a:ext cx="457200" cy="457200"/>
          </a:xfrm>
          <a:prstGeom prst="ellipse">
            <a:avLst/>
          </a:prstGeom>
          <a:solidFill>
            <a:srgbClr val="3A63C9"/>
          </a:solidFill>
          <a:ln w="12700">
            <a:solidFill>
              <a:srgbClr val="9F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HT pill = Higher tier only (P5.1.9 ratio questions in the practice)</a:t>
            </a:r>
            <a:endParaRPr lang="en-US" sz="1400" dirty="0"/>
          </a:p>
        </p:txBody>
      </p:sp>
      <p:sp>
        <p:nvSpPr>
          <p:cNvPr id="16" name="Shape 14"/>
          <p:cNvSpPr/>
          <p:nvPr/>
        </p:nvSpPr>
        <p:spPr>
          <a:xfrm>
            <a:off x="731520" y="5129784"/>
            <a:ext cx="457200" cy="457200"/>
          </a:xfrm>
          <a:prstGeom prst="ellipse">
            <a:avLst/>
          </a:prstGeom>
          <a:solidFill>
            <a:srgbClr val="3A63C9"/>
          </a:solidFill>
          <a:ln w="12700">
            <a:solidFill>
              <a:srgbClr val="9F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Ionisation and penetration • background • hazards • medical and other uses • risk</a:t>
            </a:r>
            <a:endParaRPr lang="en-US" sz="1400" dirty="0"/>
          </a:p>
        </p:txBody>
      </p:sp>
      <p:sp>
        <p:nvSpPr>
          <p:cNvPr id="19" name="Shape 17"/>
          <p:cNvSpPr/>
          <p:nvPr/>
        </p:nvSpPr>
        <p:spPr>
          <a:xfrm>
            <a:off x="731520" y="5769864"/>
            <a:ext cx="4626864" cy="365760"/>
          </a:xfrm>
          <a:prstGeom prst="roundRect">
            <a:avLst>
              <a:gd name="adj" fmla="val 50000"/>
            </a:avLst>
          </a:prstGeom>
          <a:solidFill>
            <a:srgbClr val="16213E"/>
          </a:solidFill>
          <a:ln w="15875">
            <a:solidFill>
              <a:srgbClr val="F5A742"/>
            </a:solidFill>
            <a:prstDash val="solid"/>
          </a:ln>
        </p:spPr>
      </p:sp>
      <p:sp>
        <p:nvSpPr>
          <p:cNvPr id="20" name="Text 18"/>
          <p:cNvSpPr/>
          <p:nvPr/>
        </p:nvSpPr>
        <p:spPr>
          <a:xfrm>
            <a:off x="731520" y="5769864"/>
            <a:ext cx="4626864"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2 of 2 in Chapter P5: Radioactive materials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A9B4CF"/>
                </a:solidFill>
                <a:latin typeface="Calibri" pitchFamily="34" charset="0"/>
                <a:ea typeface="Calibri" pitchFamily="34" charset="-122"/>
                <a:cs typeface="Calibri" pitchFamily="34" charset="-120"/>
              </a:rPr>
              <a:t>OCR J260 Combined Science B • P5.2 How can radioactive materials be used safely?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P5.2.1–P5.2.4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2E5BD8"/>
          </a:solidFill>
          <a:ln w="12700">
            <a:solidFill>
              <a:srgbClr val="2E5BD8"/>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P5.2.1   </a:t>
            </a:r>
            <a:r>
              <a:rPr lang="en-US" sz="1200" dirty="0">
                <a:solidFill>
                  <a:srgbClr val="262B3A"/>
                </a:solidFill>
                <a:latin typeface="Calibri" pitchFamily="34" charset="0"/>
                <a:ea typeface="Calibri" pitchFamily="34" charset="-122"/>
                <a:cs typeface="Calibri" pitchFamily="34" charset="-120"/>
              </a:rPr>
              <a:t>Recall the differences in </a:t>
            </a:r>
            <a:r>
              <a:rPr lang="en-US" sz="1200" b="1" dirty="0">
                <a:solidFill>
                  <a:srgbClr val="262B3A"/>
                </a:solidFill>
                <a:latin typeface="Calibri" pitchFamily="34" charset="0"/>
                <a:ea typeface="Calibri" pitchFamily="34" charset="-122"/>
                <a:cs typeface="Calibri" pitchFamily="34" charset="-120"/>
              </a:rPr>
              <a:t>penetration</a:t>
            </a:r>
            <a:r>
              <a:rPr lang="en-US" sz="1200" dirty="0">
                <a:solidFill>
                  <a:srgbClr val="262B3A"/>
                </a:solidFill>
                <a:latin typeface="Calibri" pitchFamily="34" charset="0"/>
                <a:ea typeface="Calibri" pitchFamily="34" charset="-122"/>
                <a:cs typeface="Calibri" pitchFamily="34" charset="-120"/>
              </a:rPr>
              <a:t> of alpha, beta and gamma, and link them to </a:t>
            </a:r>
            <a:r>
              <a:rPr lang="en-US" sz="1200" b="1" dirty="0">
                <a:solidFill>
                  <a:srgbClr val="262B3A"/>
                </a:solidFill>
                <a:latin typeface="Calibri" pitchFamily="34" charset="0"/>
                <a:ea typeface="Calibri" pitchFamily="34" charset="-122"/>
                <a:cs typeface="Calibri" pitchFamily="34" charset="-120"/>
              </a:rPr>
              <a:t>ionising power</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range in air</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02920" y="2194560"/>
            <a:ext cx="457200" cy="457200"/>
          </a:xfrm>
          <a:prstGeom prst="ellipse">
            <a:avLst/>
          </a:prstGeom>
          <a:solidFill>
            <a:srgbClr val="2E5BD8"/>
          </a:solidFill>
          <a:ln w="12700">
            <a:solidFill>
              <a:srgbClr val="2E5BD8"/>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P5.2.1   </a:t>
            </a:r>
            <a:r>
              <a:rPr lang="en-US" sz="1200" dirty="0">
                <a:solidFill>
                  <a:srgbClr val="262B3A"/>
                </a:solidFill>
                <a:latin typeface="Calibri" pitchFamily="34" charset="0"/>
                <a:ea typeface="Calibri" pitchFamily="34" charset="-122"/>
                <a:cs typeface="Calibri" pitchFamily="34" charset="-120"/>
              </a:rPr>
              <a:t>Use absorbers and a GM tube to </a:t>
            </a:r>
            <a:r>
              <a:rPr lang="en-US" sz="1200" b="1" dirty="0">
                <a:solidFill>
                  <a:srgbClr val="262B3A"/>
                </a:solidFill>
                <a:latin typeface="Calibri" pitchFamily="34" charset="0"/>
                <a:ea typeface="Calibri" pitchFamily="34" charset="-122"/>
                <a:cs typeface="Calibri" pitchFamily="34" charset="-120"/>
              </a:rPr>
              <a:t>identify</a:t>
            </a:r>
            <a:r>
              <a:rPr lang="en-US" sz="1200" dirty="0">
                <a:solidFill>
                  <a:srgbClr val="262B3A"/>
                </a:solidFill>
                <a:latin typeface="Calibri" pitchFamily="34" charset="0"/>
                <a:ea typeface="Calibri" pitchFamily="34" charset="-122"/>
                <a:cs typeface="Calibri" pitchFamily="34" charset="-120"/>
              </a:rPr>
              <a:t> radiation, </a:t>
            </a:r>
            <a:r>
              <a:rPr lang="en-US" sz="1200" b="1" dirty="0">
                <a:solidFill>
                  <a:srgbClr val="262B3A"/>
                </a:solidFill>
                <a:latin typeface="Calibri" pitchFamily="34" charset="0"/>
                <a:ea typeface="Calibri" pitchFamily="34" charset="-122"/>
                <a:cs typeface="Calibri" pitchFamily="34" charset="-120"/>
              </a:rPr>
              <a:t>correcting</a:t>
            </a:r>
            <a:r>
              <a:rPr lang="en-US" sz="1200" dirty="0">
                <a:solidFill>
                  <a:srgbClr val="262B3A"/>
                </a:solidFill>
                <a:latin typeface="Calibri" pitchFamily="34" charset="0"/>
                <a:ea typeface="Calibri" pitchFamily="34" charset="-122"/>
                <a:cs typeface="Calibri" pitchFamily="34" charset="-120"/>
              </a:rPr>
              <a:t> count rates for background (suggested practical).</a:t>
            </a:r>
            <a:endParaRPr lang="en-US" sz="1100" dirty="0"/>
          </a:p>
        </p:txBody>
      </p:sp>
      <p:sp>
        <p:nvSpPr>
          <p:cNvPr id="14" name="Shape 12"/>
          <p:cNvSpPr/>
          <p:nvPr/>
        </p:nvSpPr>
        <p:spPr>
          <a:xfrm>
            <a:off x="502920" y="3063240"/>
            <a:ext cx="457200" cy="457200"/>
          </a:xfrm>
          <a:prstGeom prst="ellipse">
            <a:avLst/>
          </a:prstGeom>
          <a:solidFill>
            <a:srgbClr val="2E5BD8"/>
          </a:solidFill>
          <a:ln w="12700">
            <a:solidFill>
              <a:srgbClr val="2E5BD8"/>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P5.2   </a:t>
            </a:r>
            <a:r>
              <a:rPr lang="en-US" sz="1200" dirty="0">
                <a:solidFill>
                  <a:srgbClr val="262B3A"/>
                </a:solidFill>
                <a:latin typeface="Calibri" pitchFamily="34" charset="0"/>
                <a:ea typeface="Calibri" pitchFamily="34" charset="-122"/>
                <a:cs typeface="Calibri" pitchFamily="34" charset="-120"/>
              </a:rPr>
              <a:t>Describe the sources of </a:t>
            </a:r>
            <a:r>
              <a:rPr lang="en-US" sz="1200" b="1" dirty="0">
                <a:solidFill>
                  <a:srgbClr val="262B3A"/>
                </a:solidFill>
                <a:latin typeface="Calibri" pitchFamily="34" charset="0"/>
                <a:ea typeface="Calibri" pitchFamily="34" charset="-122"/>
                <a:cs typeface="Calibri" pitchFamily="34" charset="-120"/>
              </a:rPr>
              <a:t>background radiation</a:t>
            </a:r>
            <a:r>
              <a:rPr lang="en-US" sz="1200" dirty="0">
                <a:solidFill>
                  <a:srgbClr val="262B3A"/>
                </a:solidFill>
                <a:latin typeface="Calibri" pitchFamily="34" charset="0"/>
                <a:ea typeface="Calibri" pitchFamily="34" charset="-122"/>
                <a:cs typeface="Calibri" pitchFamily="34" charset="-120"/>
              </a:rPr>
              <a:t> and read a pie chart of them.</a:t>
            </a:r>
            <a:endParaRPr lang="en-US" sz="1100" dirty="0"/>
          </a:p>
        </p:txBody>
      </p:sp>
      <p:sp>
        <p:nvSpPr>
          <p:cNvPr id="17" name="Shape 15"/>
          <p:cNvSpPr/>
          <p:nvPr/>
        </p:nvSpPr>
        <p:spPr>
          <a:xfrm>
            <a:off x="502920" y="3931920"/>
            <a:ext cx="457200" cy="457200"/>
          </a:xfrm>
          <a:prstGeom prst="ellipse">
            <a:avLst/>
          </a:prstGeom>
          <a:solidFill>
            <a:srgbClr val="2E5BD8"/>
          </a:solidFill>
          <a:ln w="12700">
            <a:solidFill>
              <a:srgbClr val="2E5BD8"/>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P5.2   </a:t>
            </a:r>
            <a:r>
              <a:rPr lang="en-US" sz="1200" dirty="0">
                <a:solidFill>
                  <a:srgbClr val="262B3A"/>
                </a:solidFill>
                <a:latin typeface="Calibri" pitchFamily="34" charset="0"/>
                <a:ea typeface="Calibri" pitchFamily="34" charset="-122"/>
                <a:cs typeface="Calibri" pitchFamily="34" charset="-120"/>
              </a:rPr>
              <a:t>Explain how ionising radiation can </a:t>
            </a:r>
            <a:r>
              <a:rPr lang="en-US" sz="1200" b="1" dirty="0">
                <a:solidFill>
                  <a:srgbClr val="262B3A"/>
                </a:solidFill>
                <a:latin typeface="Calibri" pitchFamily="34" charset="0"/>
                <a:ea typeface="Calibri" pitchFamily="34" charset="-122"/>
                <a:cs typeface="Calibri" pitchFamily="34" charset="-120"/>
              </a:rPr>
              <a:t>damage cells and DNA</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263640" y="1325880"/>
            <a:ext cx="457200" cy="457200"/>
          </a:xfrm>
          <a:prstGeom prst="ellipse">
            <a:avLst/>
          </a:prstGeom>
          <a:solidFill>
            <a:srgbClr val="2E5BD8"/>
          </a:solidFill>
          <a:ln w="12700">
            <a:solidFill>
              <a:srgbClr val="2E5BD8"/>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P5.2.3   </a:t>
            </a:r>
            <a:r>
              <a:rPr lang="en-US" sz="1200" dirty="0">
                <a:solidFill>
                  <a:srgbClr val="262B3A"/>
                </a:solidFill>
                <a:latin typeface="Calibri" pitchFamily="34" charset="0"/>
                <a:ea typeface="Calibri" pitchFamily="34" charset="-122"/>
                <a:cs typeface="Calibri" pitchFamily="34" charset="-120"/>
              </a:rPr>
              <a:t>Recall the difference between </a:t>
            </a:r>
            <a:r>
              <a:rPr lang="en-US" sz="1200" b="1" dirty="0">
                <a:solidFill>
                  <a:srgbClr val="262B3A"/>
                </a:solidFill>
                <a:latin typeface="Calibri" pitchFamily="34" charset="0"/>
                <a:ea typeface="Calibri" pitchFamily="34" charset="-122"/>
                <a:cs typeface="Calibri" pitchFamily="34" charset="-120"/>
              </a:rPr>
              <a:t>contamination</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irradiation</a:t>
            </a:r>
            <a:r>
              <a:rPr lang="en-US" sz="1200" dirty="0">
                <a:solidFill>
                  <a:srgbClr val="262B3A"/>
                </a:solidFill>
                <a:latin typeface="Calibri" pitchFamily="34" charset="0"/>
                <a:ea typeface="Calibri" pitchFamily="34" charset="-122"/>
                <a:cs typeface="Calibri" pitchFamily="34" charset="-120"/>
              </a:rPr>
              <a:t>, and compare their hazards.</a:t>
            </a:r>
            <a:endParaRPr lang="en-US" sz="1100" dirty="0"/>
          </a:p>
        </p:txBody>
      </p:sp>
      <p:sp>
        <p:nvSpPr>
          <p:cNvPr id="23" name="Shape 21"/>
          <p:cNvSpPr/>
          <p:nvPr/>
        </p:nvSpPr>
        <p:spPr>
          <a:xfrm>
            <a:off x="6263640" y="2194560"/>
            <a:ext cx="457200" cy="457200"/>
          </a:xfrm>
          <a:prstGeom prst="ellipse">
            <a:avLst/>
          </a:prstGeom>
          <a:solidFill>
            <a:srgbClr val="2E5BD8"/>
          </a:solidFill>
          <a:ln w="12700">
            <a:solidFill>
              <a:srgbClr val="2E5BD8"/>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P5.2.2   </a:t>
            </a:r>
            <a:r>
              <a:rPr lang="en-US" sz="1200" dirty="0">
                <a:solidFill>
                  <a:srgbClr val="262B3A"/>
                </a:solidFill>
                <a:latin typeface="Calibri" pitchFamily="34" charset="0"/>
                <a:ea typeface="Calibri" pitchFamily="34" charset="-122"/>
                <a:cs typeface="Calibri" pitchFamily="34" charset="-120"/>
              </a:rPr>
              <a:t>Explain why hazards depend on the </a:t>
            </a:r>
            <a:r>
              <a:rPr lang="en-US" sz="1200" b="1" dirty="0">
                <a:solidFill>
                  <a:srgbClr val="262B3A"/>
                </a:solidFill>
                <a:latin typeface="Calibri" pitchFamily="34" charset="0"/>
                <a:ea typeface="Calibri" pitchFamily="34" charset="-122"/>
                <a:cs typeface="Calibri" pitchFamily="34" charset="-120"/>
              </a:rPr>
              <a:t>type of radiation</a:t>
            </a:r>
            <a:r>
              <a:rPr lang="en-US" sz="1200" dirty="0">
                <a:solidFill>
                  <a:srgbClr val="262B3A"/>
                </a:solidFill>
                <a:latin typeface="Calibri" pitchFamily="34" charset="0"/>
                <a:ea typeface="Calibri" pitchFamily="34" charset="-122"/>
                <a:cs typeface="Calibri" pitchFamily="34" charset="-120"/>
              </a:rPr>
              <a:t> and the </a:t>
            </a:r>
            <a:r>
              <a:rPr lang="en-US" sz="1200" b="1" dirty="0">
                <a:solidFill>
                  <a:srgbClr val="262B3A"/>
                </a:solidFill>
                <a:latin typeface="Calibri" pitchFamily="34" charset="0"/>
                <a:ea typeface="Calibri" pitchFamily="34" charset="-122"/>
                <a:cs typeface="Calibri" pitchFamily="34" charset="-120"/>
              </a:rPr>
              <a:t>half-life</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6263640" y="3063240"/>
            <a:ext cx="457200" cy="457200"/>
          </a:xfrm>
          <a:prstGeom prst="ellipse">
            <a:avLst/>
          </a:prstGeom>
          <a:solidFill>
            <a:srgbClr val="2E5BD8"/>
          </a:solidFill>
          <a:ln w="12700">
            <a:solidFill>
              <a:srgbClr val="2E5BD8"/>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P5.2.4   </a:t>
            </a:r>
            <a:r>
              <a:rPr lang="en-US" sz="1200" dirty="0">
                <a:solidFill>
                  <a:srgbClr val="262B3A"/>
                </a:solidFill>
                <a:latin typeface="Calibri" pitchFamily="34" charset="0"/>
                <a:ea typeface="Calibri" pitchFamily="34" charset="-122"/>
                <a:cs typeface="Calibri" pitchFamily="34" charset="-120"/>
              </a:rPr>
              <a:t>Describe medical uses: </a:t>
            </a:r>
            <a:r>
              <a:rPr lang="en-US" sz="1200" b="1" dirty="0">
                <a:solidFill>
                  <a:srgbClr val="262B3A"/>
                </a:solidFill>
                <a:latin typeface="Calibri" pitchFamily="34" charset="0"/>
                <a:ea typeface="Calibri" pitchFamily="34" charset="-122"/>
                <a:cs typeface="Calibri" pitchFamily="34" charset="-120"/>
              </a:rPr>
              <a:t>tracers</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radiotherapy</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sterilising</a:t>
            </a:r>
            <a:r>
              <a:rPr lang="en-US" sz="1200" dirty="0">
                <a:solidFill>
                  <a:srgbClr val="262B3A"/>
                </a:solidFill>
                <a:latin typeface="Calibri" pitchFamily="34" charset="0"/>
                <a:ea typeface="Calibri" pitchFamily="34" charset="-122"/>
                <a:cs typeface="Calibri" pitchFamily="34" charset="-120"/>
              </a:rPr>
              <a:t>; choose a suitable isotope.</a:t>
            </a:r>
            <a:endParaRPr lang="en-US" sz="1100" dirty="0"/>
          </a:p>
        </p:txBody>
      </p:sp>
      <p:sp>
        <p:nvSpPr>
          <p:cNvPr id="29" name="Shape 27"/>
          <p:cNvSpPr/>
          <p:nvPr/>
        </p:nvSpPr>
        <p:spPr>
          <a:xfrm>
            <a:off x="6263640" y="3931920"/>
            <a:ext cx="457200" cy="457200"/>
          </a:xfrm>
          <a:prstGeom prst="ellipse">
            <a:avLst/>
          </a:prstGeom>
          <a:solidFill>
            <a:srgbClr val="2E5BD8"/>
          </a:solidFill>
          <a:ln w="12700">
            <a:solidFill>
              <a:srgbClr val="2E5BD8"/>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2E5BD8"/>
                </a:solidFill>
                <a:latin typeface="Calibri" pitchFamily="34" charset="0"/>
                <a:ea typeface="Calibri" pitchFamily="34" charset="-122"/>
                <a:cs typeface="Calibri" pitchFamily="34" charset="-120"/>
              </a:rPr>
              <a:t>IaS   </a:t>
            </a:r>
            <a:r>
              <a:rPr lang="en-US" sz="1200" dirty="0">
                <a:solidFill>
                  <a:srgbClr val="262B3A"/>
                </a:solidFill>
                <a:latin typeface="Calibri" pitchFamily="34" charset="0"/>
                <a:ea typeface="Calibri" pitchFamily="34" charset="-122"/>
                <a:cs typeface="Calibri" pitchFamily="34" charset="-120"/>
              </a:rPr>
              <a:t>Describe other uses and </a:t>
            </a:r>
            <a:r>
              <a:rPr lang="en-US" sz="1200" b="1" dirty="0">
                <a:solidFill>
                  <a:srgbClr val="262B3A"/>
                </a:solidFill>
                <a:latin typeface="Calibri" pitchFamily="34" charset="0"/>
                <a:ea typeface="Calibri" pitchFamily="34" charset="-122"/>
                <a:cs typeface="Calibri" pitchFamily="34" charset="-120"/>
              </a:rPr>
              <a:t>safety precautions</a:t>
            </a:r>
            <a:r>
              <a:rPr lang="en-US" sz="1200" dirty="0">
                <a:solidFill>
                  <a:srgbClr val="262B3A"/>
                </a:solidFill>
                <a:latin typeface="Calibri" pitchFamily="34" charset="0"/>
                <a:ea typeface="Calibri" pitchFamily="34" charset="-122"/>
                <a:cs typeface="Calibri" pitchFamily="34" charset="-120"/>
              </a:rPr>
              <a:t>; weigh </a:t>
            </a:r>
            <a:r>
              <a:rPr lang="en-US" sz="1200" b="1" dirty="0">
                <a:solidFill>
                  <a:srgbClr val="262B3A"/>
                </a:solidFill>
                <a:latin typeface="Calibri" pitchFamily="34" charset="0"/>
                <a:ea typeface="Calibri" pitchFamily="34" charset="-122"/>
                <a:cs typeface="Calibri" pitchFamily="34" charset="-120"/>
              </a:rPr>
              <a:t>risk against benefit</a:t>
            </a:r>
            <a:r>
              <a:rPr lang="en-US" sz="1200" dirty="0">
                <a:solidFill>
                  <a:srgbClr val="262B3A"/>
                </a:solidFill>
                <a:latin typeface="Calibri" pitchFamily="34" charset="0"/>
                <a:ea typeface="Calibri" pitchFamily="34" charset="-122"/>
                <a:cs typeface="Calibri" pitchFamily="34" charset="-120"/>
              </a:rPr>
              <a:t> and explain </a:t>
            </a:r>
            <a:r>
              <a:rPr lang="en-US" sz="1200" b="1" dirty="0">
                <a:solidFill>
                  <a:srgbClr val="262B3A"/>
                </a:solidFill>
                <a:latin typeface="Calibri" pitchFamily="34" charset="0"/>
                <a:ea typeface="Calibri" pitchFamily="34" charset="-122"/>
                <a:cs typeface="Calibri" pitchFamily="34" charset="-120"/>
              </a:rPr>
              <a:t>perceived risk</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Chapter P5 Radioactive materials • P5.2 is Part 2 of 2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A2340"/>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P5.2</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Using materials safely</a:t>
            </a:r>
            <a:endParaRPr lang="en-US" sz="1250" dirty="0"/>
          </a:p>
        </p:txBody>
      </p:sp>
      <p:sp>
        <p:nvSpPr>
          <p:cNvPr id="10" name="Shape 8"/>
          <p:cNvSpPr/>
          <p:nvPr/>
        </p:nvSpPr>
        <p:spPr>
          <a:xfrm>
            <a:off x="914400" y="1920240"/>
            <a:ext cx="91" cy="3758184"/>
          </a:xfrm>
          <a:prstGeom prst="line">
            <a:avLst/>
          </a:prstGeom>
          <a:noFill/>
          <a:ln w="19050">
            <a:solidFill>
              <a:srgbClr val="2E5BD8"/>
            </a:solidFill>
            <a:prstDash val="solid"/>
          </a:ln>
        </p:spPr>
      </p:sp>
      <p:sp>
        <p:nvSpPr>
          <p:cNvPr id="11" name="Shape 9"/>
          <p:cNvSpPr/>
          <p:nvPr/>
        </p:nvSpPr>
        <p:spPr>
          <a:xfrm>
            <a:off x="914400" y="2386584"/>
            <a:ext cx="411480" cy="91"/>
          </a:xfrm>
          <a:prstGeom prst="line">
            <a:avLst/>
          </a:prstGeom>
          <a:noFill/>
          <a:ln w="19050">
            <a:solidFill>
              <a:srgbClr val="2E5BD8"/>
            </a:solidFill>
            <a:prstDash val="solid"/>
          </a:ln>
        </p:spPr>
      </p:sp>
      <p:sp>
        <p:nvSpPr>
          <p:cNvPr id="12" name="Shape 10"/>
          <p:cNvSpPr/>
          <p:nvPr/>
        </p:nvSpPr>
        <p:spPr>
          <a:xfrm>
            <a:off x="1325880" y="2103120"/>
            <a:ext cx="5120640" cy="566928"/>
          </a:xfrm>
          <a:prstGeom prst="roundRect">
            <a:avLst>
              <a:gd name="adj" fmla="val 8065"/>
            </a:avLst>
          </a:prstGeom>
          <a:solidFill>
            <a:srgbClr val="F5F8FE"/>
          </a:solidFill>
          <a:ln w="12700">
            <a:solidFill>
              <a:srgbClr val="D5DCEB"/>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P5.2.1   </a:t>
            </a:r>
            <a:r>
              <a:rPr lang="en-US" sz="1100" dirty="0">
                <a:solidFill>
                  <a:srgbClr val="262B3A"/>
                </a:solidFill>
                <a:latin typeface="Calibri" pitchFamily="34" charset="0"/>
                <a:ea typeface="Calibri" pitchFamily="34" charset="-122"/>
                <a:cs typeface="Calibri" pitchFamily="34" charset="-120"/>
              </a:rPr>
              <a:t>Ionisation, penetration, range; absorbers practical</a:t>
            </a:r>
            <a:endParaRPr lang="en-US" sz="1100" dirty="0"/>
          </a:p>
        </p:txBody>
      </p:sp>
      <p:sp>
        <p:nvSpPr>
          <p:cNvPr id="14" name="Shape 12"/>
          <p:cNvSpPr/>
          <p:nvPr/>
        </p:nvSpPr>
        <p:spPr>
          <a:xfrm>
            <a:off x="5257800" y="2249424"/>
            <a:ext cx="1097280" cy="274320"/>
          </a:xfrm>
          <a:prstGeom prst="roundRect">
            <a:avLst>
              <a:gd name="adj" fmla="val 50000"/>
            </a:avLst>
          </a:prstGeom>
          <a:solidFill>
            <a:srgbClr val="2E5BD8"/>
          </a:solidFill>
          <a:ln w="12700">
            <a:solidFill>
              <a:srgbClr val="2E5BD8"/>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2E5BD8"/>
            </a:solidFill>
            <a:prstDash val="solid"/>
          </a:ln>
        </p:spPr>
      </p:sp>
      <p:sp>
        <p:nvSpPr>
          <p:cNvPr id="17" name="Shape 15"/>
          <p:cNvSpPr/>
          <p:nvPr/>
        </p:nvSpPr>
        <p:spPr>
          <a:xfrm>
            <a:off x="1325880" y="2761488"/>
            <a:ext cx="5120640" cy="566928"/>
          </a:xfrm>
          <a:prstGeom prst="roundRect">
            <a:avLst>
              <a:gd name="adj" fmla="val 8065"/>
            </a:avLst>
          </a:prstGeom>
          <a:solidFill>
            <a:srgbClr val="F5F8FE"/>
          </a:solidFill>
          <a:ln w="12700">
            <a:solidFill>
              <a:srgbClr val="D5DCEB"/>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P5.2   </a:t>
            </a:r>
            <a:r>
              <a:rPr lang="en-US" sz="1100" dirty="0">
                <a:solidFill>
                  <a:srgbClr val="262B3A"/>
                </a:solidFill>
                <a:latin typeface="Calibri" pitchFamily="34" charset="0"/>
                <a:ea typeface="Calibri" pitchFamily="34" charset="-122"/>
                <a:cs typeface="Calibri" pitchFamily="34" charset="-120"/>
              </a:rPr>
              <a:t>Background radiation and damage to cells</a:t>
            </a:r>
            <a:endParaRPr lang="en-US" sz="1100" dirty="0"/>
          </a:p>
        </p:txBody>
      </p:sp>
      <p:sp>
        <p:nvSpPr>
          <p:cNvPr id="19" name="Shape 17"/>
          <p:cNvSpPr/>
          <p:nvPr/>
        </p:nvSpPr>
        <p:spPr>
          <a:xfrm>
            <a:off x="5257800" y="2907792"/>
            <a:ext cx="1097280" cy="274320"/>
          </a:xfrm>
          <a:prstGeom prst="roundRect">
            <a:avLst>
              <a:gd name="adj" fmla="val 50000"/>
            </a:avLst>
          </a:prstGeom>
          <a:solidFill>
            <a:srgbClr val="2E5BD8"/>
          </a:solidFill>
          <a:ln w="12700">
            <a:solidFill>
              <a:srgbClr val="2E5BD8"/>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2E5BD8"/>
            </a:solidFill>
            <a:prstDash val="solid"/>
          </a:ln>
        </p:spPr>
      </p:sp>
      <p:sp>
        <p:nvSpPr>
          <p:cNvPr id="22" name="Shape 20"/>
          <p:cNvSpPr/>
          <p:nvPr/>
        </p:nvSpPr>
        <p:spPr>
          <a:xfrm>
            <a:off x="1325880" y="3419856"/>
            <a:ext cx="5120640" cy="566928"/>
          </a:xfrm>
          <a:prstGeom prst="roundRect">
            <a:avLst>
              <a:gd name="adj" fmla="val 8065"/>
            </a:avLst>
          </a:prstGeom>
          <a:solidFill>
            <a:srgbClr val="F5F8FE"/>
          </a:solidFill>
          <a:ln w="12700">
            <a:solidFill>
              <a:srgbClr val="D5DCEB"/>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P5.2.3   </a:t>
            </a:r>
            <a:r>
              <a:rPr lang="en-US" sz="1100" dirty="0">
                <a:solidFill>
                  <a:srgbClr val="262B3A"/>
                </a:solidFill>
                <a:latin typeface="Calibri" pitchFamily="34" charset="0"/>
                <a:ea typeface="Calibri" pitchFamily="34" charset="-122"/>
                <a:cs typeface="Calibri" pitchFamily="34" charset="-120"/>
              </a:rPr>
              <a:t>Contamination and irradiation; inside vs outside</a:t>
            </a:r>
            <a:endParaRPr lang="en-US" sz="1100" dirty="0"/>
          </a:p>
        </p:txBody>
      </p:sp>
      <p:sp>
        <p:nvSpPr>
          <p:cNvPr id="24" name="Shape 22"/>
          <p:cNvSpPr/>
          <p:nvPr/>
        </p:nvSpPr>
        <p:spPr>
          <a:xfrm>
            <a:off x="5257800" y="3566160"/>
            <a:ext cx="1097280" cy="274320"/>
          </a:xfrm>
          <a:prstGeom prst="roundRect">
            <a:avLst>
              <a:gd name="adj" fmla="val 50000"/>
            </a:avLst>
          </a:prstGeom>
          <a:solidFill>
            <a:srgbClr val="2E5BD8"/>
          </a:solidFill>
          <a:ln w="12700">
            <a:solidFill>
              <a:srgbClr val="2E5BD8"/>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2E5BD8"/>
            </a:solidFill>
            <a:prstDash val="solid"/>
          </a:ln>
        </p:spPr>
      </p:sp>
      <p:sp>
        <p:nvSpPr>
          <p:cNvPr id="27" name="Shape 25"/>
          <p:cNvSpPr/>
          <p:nvPr/>
        </p:nvSpPr>
        <p:spPr>
          <a:xfrm>
            <a:off x="1325880" y="4078224"/>
            <a:ext cx="5120640" cy="566928"/>
          </a:xfrm>
          <a:prstGeom prst="roundRect">
            <a:avLst>
              <a:gd name="adj" fmla="val 8065"/>
            </a:avLst>
          </a:prstGeom>
          <a:solidFill>
            <a:srgbClr val="F5F8FE"/>
          </a:solidFill>
          <a:ln w="12700">
            <a:solidFill>
              <a:srgbClr val="D5DCEB"/>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P5.2.2   </a:t>
            </a:r>
            <a:r>
              <a:rPr lang="en-US" sz="1100" dirty="0">
                <a:solidFill>
                  <a:srgbClr val="262B3A"/>
                </a:solidFill>
                <a:latin typeface="Calibri" pitchFamily="34" charset="0"/>
                <a:ea typeface="Calibri" pitchFamily="34" charset="-122"/>
                <a:cs typeface="Calibri" pitchFamily="34" charset="-120"/>
              </a:rPr>
              <a:t>Hazard depends on radiation type and half-life</a:t>
            </a:r>
            <a:endParaRPr lang="en-US" sz="1100" dirty="0"/>
          </a:p>
        </p:txBody>
      </p:sp>
      <p:sp>
        <p:nvSpPr>
          <p:cNvPr id="29" name="Shape 27"/>
          <p:cNvSpPr/>
          <p:nvPr/>
        </p:nvSpPr>
        <p:spPr>
          <a:xfrm>
            <a:off x="5257800" y="4224528"/>
            <a:ext cx="1097280" cy="274320"/>
          </a:xfrm>
          <a:prstGeom prst="roundRect">
            <a:avLst>
              <a:gd name="adj" fmla="val 50000"/>
            </a:avLst>
          </a:prstGeom>
          <a:solidFill>
            <a:srgbClr val="2E5BD8"/>
          </a:solidFill>
          <a:ln w="12700">
            <a:solidFill>
              <a:srgbClr val="2E5BD8"/>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2E5BD8"/>
            </a:solidFill>
            <a:prstDash val="solid"/>
          </a:ln>
        </p:spPr>
      </p:sp>
      <p:sp>
        <p:nvSpPr>
          <p:cNvPr id="32" name="Shape 30"/>
          <p:cNvSpPr/>
          <p:nvPr/>
        </p:nvSpPr>
        <p:spPr>
          <a:xfrm>
            <a:off x="1325880" y="4736592"/>
            <a:ext cx="5120640" cy="566928"/>
          </a:xfrm>
          <a:prstGeom prst="roundRect">
            <a:avLst>
              <a:gd name="adj" fmla="val 8065"/>
            </a:avLst>
          </a:prstGeom>
          <a:solidFill>
            <a:srgbClr val="F5F8FE"/>
          </a:solidFill>
          <a:ln w="12700">
            <a:solidFill>
              <a:srgbClr val="D5DCEB"/>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P5.2.4   </a:t>
            </a:r>
            <a:r>
              <a:rPr lang="en-US" sz="1100" dirty="0">
                <a:solidFill>
                  <a:srgbClr val="262B3A"/>
                </a:solidFill>
                <a:latin typeface="Calibri" pitchFamily="34" charset="0"/>
                <a:ea typeface="Calibri" pitchFamily="34" charset="-122"/>
                <a:cs typeface="Calibri" pitchFamily="34" charset="-120"/>
              </a:rPr>
              <a:t>Medicine: tracers, radiotherapy, sterilising</a:t>
            </a:r>
            <a:endParaRPr lang="en-US" sz="1100" dirty="0"/>
          </a:p>
        </p:txBody>
      </p:sp>
      <p:sp>
        <p:nvSpPr>
          <p:cNvPr id="34" name="Shape 32"/>
          <p:cNvSpPr/>
          <p:nvPr/>
        </p:nvSpPr>
        <p:spPr>
          <a:xfrm>
            <a:off x="5257800" y="4882896"/>
            <a:ext cx="1097280" cy="274320"/>
          </a:xfrm>
          <a:prstGeom prst="roundRect">
            <a:avLst>
              <a:gd name="adj" fmla="val 50000"/>
            </a:avLst>
          </a:prstGeom>
          <a:solidFill>
            <a:srgbClr val="2E5BD8"/>
          </a:solidFill>
          <a:ln w="12700">
            <a:solidFill>
              <a:srgbClr val="2E5BD8"/>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2E5BD8"/>
            </a:solidFill>
            <a:prstDash val="solid"/>
          </a:ln>
        </p:spPr>
      </p:sp>
      <p:sp>
        <p:nvSpPr>
          <p:cNvPr id="37" name="Shape 35"/>
          <p:cNvSpPr/>
          <p:nvPr/>
        </p:nvSpPr>
        <p:spPr>
          <a:xfrm>
            <a:off x="1325880" y="5394960"/>
            <a:ext cx="5120640" cy="566928"/>
          </a:xfrm>
          <a:prstGeom prst="roundRect">
            <a:avLst>
              <a:gd name="adj" fmla="val 8065"/>
            </a:avLst>
          </a:prstGeom>
          <a:solidFill>
            <a:srgbClr val="F5F8FE"/>
          </a:solidFill>
          <a:ln w="12700">
            <a:solidFill>
              <a:srgbClr val="D5DCEB"/>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2E5BD8"/>
                </a:solidFill>
                <a:latin typeface="Calibri" pitchFamily="34" charset="0"/>
                <a:ea typeface="Calibri" pitchFamily="34" charset="-122"/>
                <a:cs typeface="Calibri" pitchFamily="34" charset="-120"/>
              </a:rPr>
              <a:t>IaS   </a:t>
            </a:r>
            <a:r>
              <a:rPr lang="en-US" sz="1100" dirty="0">
                <a:solidFill>
                  <a:srgbClr val="262B3A"/>
                </a:solidFill>
                <a:latin typeface="Calibri" pitchFamily="34" charset="0"/>
                <a:ea typeface="Calibri" pitchFamily="34" charset="-122"/>
                <a:cs typeface="Calibri" pitchFamily="34" charset="-120"/>
              </a:rPr>
              <a:t>Other uses, safety, risk and benefit</a:t>
            </a:r>
            <a:endParaRPr lang="en-US" sz="1100" dirty="0"/>
          </a:p>
        </p:txBody>
      </p:sp>
      <p:sp>
        <p:nvSpPr>
          <p:cNvPr id="39" name="Shape 37"/>
          <p:cNvSpPr/>
          <p:nvPr/>
        </p:nvSpPr>
        <p:spPr>
          <a:xfrm>
            <a:off x="5257800" y="5541264"/>
            <a:ext cx="1097280" cy="274320"/>
          </a:xfrm>
          <a:prstGeom prst="roundRect">
            <a:avLst>
              <a:gd name="adj" fmla="val 50000"/>
            </a:avLst>
          </a:prstGeom>
          <a:solidFill>
            <a:srgbClr val="2E5BD8"/>
          </a:solidFill>
          <a:ln w="12700">
            <a:solidFill>
              <a:srgbClr val="2E5BD8"/>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P5.1 emissions and half-life • P1.1 ionising radiation • B1 cells and DNA</a:t>
            </a:r>
            <a:endParaRPr lang="en-US" sz="1050" dirty="0"/>
          </a:p>
        </p:txBody>
      </p:sp>
      <p:sp>
        <p:nvSpPr>
          <p:cNvPr id="42" name="Shape 40"/>
          <p:cNvSpPr/>
          <p:nvPr/>
        </p:nvSpPr>
        <p:spPr>
          <a:xfrm>
            <a:off x="6720840" y="1234440"/>
            <a:ext cx="5056632" cy="2514600"/>
          </a:xfrm>
          <a:prstGeom prst="roundRect">
            <a:avLst>
              <a:gd name="adj" fmla="val 2182"/>
            </a:avLst>
          </a:prstGeom>
          <a:solidFill>
            <a:srgbClr val="1F2A4A"/>
          </a:solidFill>
          <a:ln/>
        </p:spPr>
      </p:sp>
      <p:sp>
        <p:nvSpPr>
          <p:cNvPr id="43" name="Text 41"/>
          <p:cNvSpPr/>
          <p:nvPr/>
        </p:nvSpPr>
        <p:spPr>
          <a:xfrm>
            <a:off x="6903720" y="132588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P5 in J260</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P5.1 What is radioactivity?</a:t>
            </a:r>
            <a:r>
              <a:rPr lang="en-US" sz="1150" dirty="0">
                <a:solidFill>
                  <a:srgbClr val="E6ECFA"/>
                </a:solidFill>
                <a:latin typeface="Calibri" pitchFamily="34" charset="0"/>
                <a:ea typeface="Calibri" pitchFamily="34" charset="-122"/>
                <a:cs typeface="Calibri" pitchFamily="34" charset="-120"/>
              </a:rPr>
              <a:t> Nuclei, isotopes, decay equations, half-life.</a:t>
            </a:r>
            <a:endParaRPr lang="en-US" sz="1500" dirty="0"/>
          </a:p>
          <a:p>
            <a:pPr marL="152400" indent="-152400">
              <a:spcAft>
                <a:spcPts val="300"/>
              </a:spcAft>
              <a:buSzPct val="100000"/>
              <a:buChar char="▪"/>
            </a:pPr>
            <a:r>
              <a:rPr lang="en-US" sz="1150" b="1" dirty="0">
                <a:solidFill>
                  <a:srgbClr val="E6ECFA"/>
                </a:solidFill>
                <a:latin typeface="Calibri" pitchFamily="34" charset="0"/>
                <a:ea typeface="Calibri" pitchFamily="34" charset="-122"/>
                <a:cs typeface="Calibri" pitchFamily="34" charset="-120"/>
              </a:rPr>
              <a:t>P5.2 How can radioactive materials be used safely?</a:t>
            </a:r>
            <a:r>
              <a:rPr lang="en-US" sz="1150" dirty="0">
                <a:solidFill>
                  <a:srgbClr val="E6ECFA"/>
                </a:solidFill>
                <a:latin typeface="Calibri" pitchFamily="34" charset="0"/>
                <a:ea typeface="Calibri" pitchFamily="34" charset="-122"/>
                <a:cs typeface="Calibri" pitchFamily="34" charset="-120"/>
              </a:rPr>
              <a:t> (this deck, the last in P5)</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P5.3 (fission and fusion) is in </a:t>
            </a:r>
            <a:r>
              <a:rPr lang="en-US" sz="1150" b="1" dirty="0">
                <a:solidFill>
                  <a:srgbClr val="E6ECFA"/>
                </a:solidFill>
                <a:latin typeface="Calibri" pitchFamily="34" charset="0"/>
                <a:ea typeface="Calibri" pitchFamily="34" charset="-122"/>
                <a:cs typeface="Calibri" pitchFamily="34" charset="-120"/>
              </a:rPr>
              <a:t>Physics B J259 only</a:t>
            </a:r>
            <a:r>
              <a:rPr lang="en-US" sz="1150" dirty="0">
                <a:solidFill>
                  <a:srgbClr val="E6ECF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50" dirty="0">
                <a:solidFill>
                  <a:srgbClr val="E6ECFA"/>
                </a:solidFill>
                <a:latin typeface="Calibri" pitchFamily="34" charset="0"/>
                <a:ea typeface="Calibri" pitchFamily="34" charset="-122"/>
                <a:cs typeface="Calibri" pitchFamily="34" charset="-120"/>
              </a:rPr>
              <a:t>Next chapter: </a:t>
            </a:r>
            <a:r>
              <a:rPr lang="en-US" sz="1150" b="1" dirty="0">
                <a:solidFill>
                  <a:srgbClr val="E6ECFA"/>
                </a:solidFill>
                <a:latin typeface="Calibri" pitchFamily="34" charset="0"/>
                <a:ea typeface="Calibri" pitchFamily="34" charset="-122"/>
                <a:cs typeface="Calibri" pitchFamily="34" charset="-120"/>
              </a:rPr>
              <a:t>P6 Matter – models and explanations</a:t>
            </a:r>
            <a:r>
              <a:rPr lang="en-US" sz="1150" dirty="0">
                <a:solidFill>
                  <a:srgbClr val="E6ECFA"/>
                </a:solidFill>
                <a:latin typeface="Calibri" pitchFamily="34" charset="0"/>
                <a:ea typeface="Calibri" pitchFamily="34" charset="-122"/>
                <a:cs typeface="Calibri" pitchFamily="34" charset="-120"/>
              </a:rPr>
              <a:t>.</a:t>
            </a:r>
            <a:endParaRPr lang="en-US" sz="1500" dirty="0"/>
          </a:p>
        </p:txBody>
      </p:sp>
      <p:sp>
        <p:nvSpPr>
          <p:cNvPr id="44" name="Shape 42"/>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45" name="Text 43"/>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All the P5.2 content is for </a:t>
            </a:r>
            <a:r>
              <a:rPr lang="en-US" sz="1150" b="1" dirty="0">
                <a:solidFill>
                  <a:srgbClr val="262B3A"/>
                </a:solidFill>
                <a:latin typeface="Calibri" pitchFamily="34" charset="0"/>
                <a:ea typeface="Calibri" pitchFamily="34" charset="-122"/>
                <a:cs typeface="Calibri" pitchFamily="34" charset="-120"/>
              </a:rPr>
              <a:t>both tiers</a:t>
            </a:r>
            <a:r>
              <a:rPr lang="en-US" sz="1150" dirty="0">
                <a:solidFill>
                  <a:srgbClr val="262B3A"/>
                </a:solidFill>
                <a:latin typeface="Calibri" pitchFamily="34" charset="0"/>
                <a:ea typeface="Calibri" pitchFamily="34" charset="-122"/>
                <a:cs typeface="Calibri" pitchFamily="34" charset="-120"/>
              </a:rPr>
              <a:t>. The </a:t>
            </a:r>
            <a:r>
              <a:rPr lang="en-US" sz="1150" b="1" dirty="0">
                <a:solidFill>
                  <a:srgbClr val="262B3A"/>
                </a:solidFill>
                <a:latin typeface="Calibri" pitchFamily="34" charset="0"/>
                <a:ea typeface="Calibri" pitchFamily="34" charset="-122"/>
                <a:cs typeface="Calibri" pitchFamily="34" charset="-120"/>
              </a:rPr>
              <a:t>HT</a:t>
            </a:r>
            <a:r>
              <a:rPr lang="en-US" sz="1150" dirty="0">
                <a:solidFill>
                  <a:srgbClr val="262B3A"/>
                </a:solidFill>
                <a:latin typeface="Calibri" pitchFamily="34" charset="0"/>
                <a:ea typeface="Calibri" pitchFamily="34" charset="-122"/>
                <a:cs typeface="Calibri" pitchFamily="34" charset="-120"/>
              </a:rPr>
              <a:t> pill marks only practice questions that use the P5.1.9 ratio.</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P5.1 slide 25 previewed penetration. Slides 5–6 here </a:t>
            </a:r>
            <a:r>
              <a:rPr lang="en-US" sz="1150" b="1" dirty="0">
                <a:solidFill>
                  <a:srgbClr val="262B3A"/>
                </a:solidFill>
                <a:latin typeface="Calibri" pitchFamily="34" charset="0"/>
                <a:ea typeface="Calibri" pitchFamily="34" charset="-122"/>
                <a:cs typeface="Calibri" pitchFamily="34" charset="-120"/>
              </a:rPr>
              <a:t>re-teach it in full</a:t>
            </a:r>
            <a:r>
              <a:rPr lang="en-US" sz="115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Foundation homework: Q1–Q4, Q6 and Q7 (15 marks).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Recall from P5.1 and P1.1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5F8FE"/>
          </a:solidFill>
          <a:ln w="9525">
            <a:solidFill>
              <a:srgbClr val="D5DCEB"/>
            </a:solidFill>
            <a:prstDash val="solid"/>
          </a:ln>
        </p:spPr>
      </p:sp>
      <p:sp>
        <p:nvSpPr>
          <p:cNvPr id="9" name="Shape 7"/>
          <p:cNvSpPr/>
          <p:nvPr/>
        </p:nvSpPr>
        <p:spPr>
          <a:xfrm>
            <a:off x="548640" y="1371600"/>
            <a:ext cx="438912" cy="438912"/>
          </a:xfrm>
          <a:prstGeom prst="ellipse">
            <a:avLst/>
          </a:prstGeom>
          <a:solidFill>
            <a:srgbClr val="2E5BD8"/>
          </a:solidFill>
          <a:ln w="12700">
            <a:solidFill>
              <a:srgbClr val="2E5BD8"/>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P5.1.5 • emissions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an </a:t>
            </a:r>
            <a:r>
              <a:rPr lang="en-US" sz="1250" b="1" dirty="0">
                <a:solidFill>
                  <a:srgbClr val="262B3A"/>
                </a:solidFill>
                <a:latin typeface="Calibri" pitchFamily="34" charset="0"/>
                <a:ea typeface="Calibri" pitchFamily="34" charset="-122"/>
                <a:cs typeface="Calibri" pitchFamily="34" charset="-120"/>
              </a:rPr>
              <a:t>alpha particle</a:t>
            </a:r>
            <a:r>
              <a:rPr lang="en-US" sz="1250" dirty="0">
                <a:solidFill>
                  <a:srgbClr val="262B3A"/>
                </a:solidFill>
                <a:latin typeface="Calibri" pitchFamily="34" charset="0"/>
                <a:ea typeface="Calibri" pitchFamily="34" charset="-122"/>
                <a:cs typeface="Calibri" pitchFamily="34" charset="-120"/>
              </a:rPr>
              <a:t> made of? What is a </a:t>
            </a:r>
            <a:r>
              <a:rPr lang="en-US" sz="1250" b="1" dirty="0">
                <a:solidFill>
                  <a:srgbClr val="262B3A"/>
                </a:solidFill>
                <a:latin typeface="Calibri" pitchFamily="34" charset="0"/>
                <a:ea typeface="Calibri" pitchFamily="34" charset="-122"/>
                <a:cs typeface="Calibri" pitchFamily="34" charset="-120"/>
              </a:rPr>
              <a:t>beta particle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3" name="Shape 11"/>
          <p:cNvSpPr/>
          <p:nvPr/>
        </p:nvSpPr>
        <p:spPr>
          <a:xfrm>
            <a:off x="4251960" y="1234440"/>
            <a:ext cx="3657600" cy="2011680"/>
          </a:xfrm>
          <a:prstGeom prst="roundRect">
            <a:avLst>
              <a:gd name="adj" fmla="val 2727"/>
            </a:avLst>
          </a:prstGeom>
          <a:solidFill>
            <a:srgbClr val="F5F8FE"/>
          </a:solidFill>
          <a:ln w="9525">
            <a:solidFill>
              <a:srgbClr val="D5DCEB"/>
            </a:solidFill>
            <a:prstDash val="solid"/>
          </a:ln>
        </p:spPr>
      </p:sp>
      <p:sp>
        <p:nvSpPr>
          <p:cNvPr id="14" name="Shape 12"/>
          <p:cNvSpPr/>
          <p:nvPr/>
        </p:nvSpPr>
        <p:spPr>
          <a:xfrm>
            <a:off x="4389120" y="1371600"/>
            <a:ext cx="438912" cy="438912"/>
          </a:xfrm>
          <a:prstGeom prst="ellipse">
            <a:avLst/>
          </a:prstGeom>
          <a:solidFill>
            <a:srgbClr val="2E5BD8"/>
          </a:solidFill>
          <a:ln w="12700">
            <a:solidFill>
              <a:srgbClr val="2E5BD8"/>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P5.1.8 • half-life</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Define </a:t>
            </a:r>
            <a:r>
              <a:rPr lang="en-US" sz="1250" b="1" dirty="0">
                <a:solidFill>
                  <a:srgbClr val="262B3A"/>
                </a:solidFill>
                <a:latin typeface="Calibri" pitchFamily="34" charset="0"/>
                <a:ea typeface="Calibri" pitchFamily="34" charset="-122"/>
                <a:cs typeface="Calibri" pitchFamily="34" charset="-120"/>
              </a:rPr>
              <a:t>half-life</a:t>
            </a:r>
            <a:r>
              <a:rPr lang="en-US" sz="1250" dirty="0">
                <a:solidFill>
                  <a:srgbClr val="262B3A"/>
                </a:solidFill>
                <a:latin typeface="Calibri" pitchFamily="34" charset="0"/>
                <a:ea typeface="Calibri" pitchFamily="34" charset="-122"/>
                <a:cs typeface="Calibri" pitchFamily="34" charset="-120"/>
              </a:rPr>
              <a:t>. What is the unit of </a:t>
            </a:r>
            <a:r>
              <a:rPr lang="en-US" sz="1250" b="1" dirty="0">
                <a:solidFill>
                  <a:srgbClr val="262B3A"/>
                </a:solidFill>
                <a:latin typeface="Calibri" pitchFamily="34" charset="0"/>
                <a:ea typeface="Calibri" pitchFamily="34" charset="-122"/>
                <a:cs typeface="Calibri" pitchFamily="34" charset="-120"/>
              </a:rPr>
              <a:t>activity</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5F8FE"/>
          </a:solidFill>
          <a:ln w="9525">
            <a:solidFill>
              <a:srgbClr val="D5DCEB"/>
            </a:solidFill>
            <a:prstDash val="solid"/>
          </a:ln>
        </p:spPr>
      </p:sp>
      <p:sp>
        <p:nvSpPr>
          <p:cNvPr id="19" name="Shape 17"/>
          <p:cNvSpPr/>
          <p:nvPr/>
        </p:nvSpPr>
        <p:spPr>
          <a:xfrm>
            <a:off x="8229600" y="1371600"/>
            <a:ext cx="438912" cy="438912"/>
          </a:xfrm>
          <a:prstGeom prst="ellipse">
            <a:avLst/>
          </a:prstGeom>
          <a:solidFill>
            <a:srgbClr val="2E5BD8"/>
          </a:solidFill>
          <a:ln w="12700">
            <a:solidFill>
              <a:srgbClr val="2E5BD8"/>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P5.1.8 • half-life</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source has an activity of </a:t>
            </a:r>
            <a:r>
              <a:rPr lang="en-US" sz="1250" b="1" dirty="0">
                <a:solidFill>
                  <a:srgbClr val="262B3A"/>
                </a:solidFill>
                <a:latin typeface="Calibri" pitchFamily="34" charset="0"/>
                <a:ea typeface="Calibri" pitchFamily="34" charset="-122"/>
                <a:cs typeface="Calibri" pitchFamily="34" charset="-120"/>
              </a:rPr>
              <a:t>1200 Bq</a:t>
            </a:r>
            <a:r>
              <a:rPr lang="en-US" sz="1250" dirty="0">
                <a:solidFill>
                  <a:srgbClr val="262B3A"/>
                </a:solidFill>
                <a:latin typeface="Calibri" pitchFamily="34" charset="0"/>
                <a:ea typeface="Calibri" pitchFamily="34" charset="-122"/>
                <a:cs typeface="Calibri" pitchFamily="34" charset="-120"/>
              </a:rPr>
              <a:t> and a half-life of </a:t>
            </a:r>
            <a:r>
              <a:rPr lang="en-US" sz="1250" b="1" dirty="0">
                <a:solidFill>
                  <a:srgbClr val="262B3A"/>
                </a:solidFill>
                <a:latin typeface="Calibri" pitchFamily="34" charset="0"/>
                <a:ea typeface="Calibri" pitchFamily="34" charset="-122"/>
                <a:cs typeface="Calibri" pitchFamily="34" charset="-120"/>
              </a:rPr>
              <a:t>4 hours</a:t>
            </a:r>
            <a:r>
              <a:rPr lang="en-US" sz="1250" dirty="0">
                <a:solidFill>
                  <a:srgbClr val="262B3A"/>
                </a:solidFill>
                <a:latin typeface="Calibri" pitchFamily="34" charset="0"/>
                <a:ea typeface="Calibri" pitchFamily="34" charset="-122"/>
                <a:cs typeface="Calibri" pitchFamily="34" charset="-120"/>
              </a:rPr>
              <a:t>. What is its activity after </a:t>
            </a:r>
            <a:r>
              <a:rPr lang="en-US" sz="1250" b="1" dirty="0">
                <a:solidFill>
                  <a:srgbClr val="262B3A"/>
                </a:solidFill>
                <a:latin typeface="Calibri" pitchFamily="34" charset="0"/>
                <a:ea typeface="Calibri" pitchFamily="34" charset="-122"/>
                <a:cs typeface="Calibri" pitchFamily="34" charset="-120"/>
              </a:rPr>
              <a:t>12 hours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3" name="Shape 21"/>
          <p:cNvSpPr/>
          <p:nvPr/>
        </p:nvSpPr>
        <p:spPr>
          <a:xfrm>
            <a:off x="411480" y="3429000"/>
            <a:ext cx="3657600" cy="2011680"/>
          </a:xfrm>
          <a:prstGeom prst="roundRect">
            <a:avLst>
              <a:gd name="adj" fmla="val 2727"/>
            </a:avLst>
          </a:prstGeom>
          <a:solidFill>
            <a:srgbClr val="F5F8FE"/>
          </a:solidFill>
          <a:ln w="9525">
            <a:solidFill>
              <a:srgbClr val="D5DCEB"/>
            </a:solidFill>
            <a:prstDash val="solid"/>
          </a:ln>
        </p:spPr>
      </p:sp>
      <p:sp>
        <p:nvSpPr>
          <p:cNvPr id="24" name="Shape 22"/>
          <p:cNvSpPr/>
          <p:nvPr/>
        </p:nvSpPr>
        <p:spPr>
          <a:xfrm>
            <a:off x="548640" y="3566160"/>
            <a:ext cx="438912" cy="438912"/>
          </a:xfrm>
          <a:prstGeom prst="ellipse">
            <a:avLst/>
          </a:prstGeom>
          <a:solidFill>
            <a:srgbClr val="2E5BD8"/>
          </a:solidFill>
          <a:ln w="12700">
            <a:solidFill>
              <a:srgbClr val="2E5BD8"/>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P5.1.7 • nuclear equations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Americium-241 (</a:t>
            </a:r>
            <a:r>
              <a:rPr lang="en-US" sz="1250" baseline="30000" dirty="0">
                <a:solidFill>
                  <a:srgbClr val="262B3A"/>
                </a:solidFill>
                <a:latin typeface="Calibri" pitchFamily="34" charset="0"/>
                <a:ea typeface="Calibri" pitchFamily="34" charset="-122"/>
                <a:cs typeface="Calibri" pitchFamily="34" charset="-120"/>
              </a:rPr>
              <a:t>241</a:t>
            </a:r>
            <a:r>
              <a:rPr lang="en-US" sz="1250" baseline="-40000" dirty="0">
                <a:solidFill>
                  <a:srgbClr val="262B3A"/>
                </a:solidFill>
                <a:latin typeface="Calibri" pitchFamily="34" charset="0"/>
                <a:ea typeface="Calibri" pitchFamily="34" charset="-122"/>
                <a:cs typeface="Calibri" pitchFamily="34" charset="-120"/>
              </a:rPr>
              <a:t>95</a:t>
            </a:r>
            <a:r>
              <a:rPr lang="en-US" sz="1250" dirty="0">
                <a:solidFill>
                  <a:srgbClr val="262B3A"/>
                </a:solidFill>
                <a:latin typeface="Calibri" pitchFamily="34" charset="0"/>
                <a:ea typeface="Calibri" pitchFamily="34" charset="-122"/>
                <a:cs typeface="Calibri" pitchFamily="34" charset="-120"/>
              </a:rPr>
              <a:t>Am) emits an alpha particle and becomes neptunium (Np). Give the A and Z of the Np nucleus.</a:t>
            </a:r>
            <a:endParaRPr lang="en-US" sz="1250" dirty="0"/>
          </a:p>
        </p:txBody>
      </p:sp>
      <p:sp>
        <p:nvSpPr>
          <p:cNvPr id="28" name="Shape 26"/>
          <p:cNvSpPr/>
          <p:nvPr/>
        </p:nvSpPr>
        <p:spPr>
          <a:xfrm>
            <a:off x="4251960" y="3429000"/>
            <a:ext cx="3657600" cy="2011680"/>
          </a:xfrm>
          <a:prstGeom prst="roundRect">
            <a:avLst>
              <a:gd name="adj" fmla="val 2727"/>
            </a:avLst>
          </a:prstGeom>
          <a:solidFill>
            <a:srgbClr val="F5F8FE"/>
          </a:solidFill>
          <a:ln w="9525">
            <a:solidFill>
              <a:srgbClr val="D5DCEB"/>
            </a:solidFill>
            <a:prstDash val="solid"/>
          </a:ln>
        </p:spPr>
      </p:sp>
      <p:sp>
        <p:nvSpPr>
          <p:cNvPr id="29" name="Shape 27"/>
          <p:cNvSpPr/>
          <p:nvPr/>
        </p:nvSpPr>
        <p:spPr>
          <a:xfrm>
            <a:off x="4389120" y="3566160"/>
            <a:ext cx="438912" cy="438912"/>
          </a:xfrm>
          <a:prstGeom prst="ellipse">
            <a:avLst/>
          </a:prstGeom>
          <a:solidFill>
            <a:srgbClr val="2E5BD8"/>
          </a:solidFill>
          <a:ln w="12700">
            <a:solidFill>
              <a:srgbClr val="2E5BD8"/>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P5.1 bridge • penetration</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Which emission is stopped by </a:t>
            </a:r>
            <a:r>
              <a:rPr lang="en-US" sz="1250" b="1" dirty="0">
                <a:solidFill>
                  <a:srgbClr val="262B3A"/>
                </a:solidFill>
                <a:latin typeface="Calibri" pitchFamily="34" charset="0"/>
                <a:ea typeface="Calibri" pitchFamily="34" charset="-122"/>
                <a:cs typeface="Calibri" pitchFamily="34" charset="-120"/>
              </a:rPr>
              <a:t>paper</a:t>
            </a:r>
            <a:r>
              <a:rPr lang="en-US" sz="1250" dirty="0">
                <a:solidFill>
                  <a:srgbClr val="262B3A"/>
                </a:solidFill>
                <a:latin typeface="Calibri" pitchFamily="34" charset="0"/>
                <a:ea typeface="Calibri" pitchFamily="34" charset="-122"/>
                <a:cs typeface="Calibri" pitchFamily="34" charset="-120"/>
              </a:rPr>
              <a:t>? Which is stopped by a few mm of </a:t>
            </a:r>
            <a:r>
              <a:rPr lang="en-US" sz="1250" b="1" dirty="0">
                <a:solidFill>
                  <a:srgbClr val="262B3A"/>
                </a:solidFill>
                <a:latin typeface="Calibri" pitchFamily="34" charset="0"/>
                <a:ea typeface="Calibri" pitchFamily="34" charset="-122"/>
                <a:cs typeface="Calibri" pitchFamily="34" charset="-120"/>
              </a:rPr>
              <a:t>aluminium</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5F8FE"/>
          </a:solidFill>
          <a:ln w="9525">
            <a:solidFill>
              <a:srgbClr val="D5DCEB"/>
            </a:solidFill>
            <a:prstDash val="solid"/>
          </a:ln>
        </p:spPr>
      </p:sp>
      <p:sp>
        <p:nvSpPr>
          <p:cNvPr id="34" name="Shape 32"/>
          <p:cNvSpPr/>
          <p:nvPr/>
        </p:nvSpPr>
        <p:spPr>
          <a:xfrm>
            <a:off x="8229600" y="3566160"/>
            <a:ext cx="438912" cy="438912"/>
          </a:xfrm>
          <a:prstGeom prst="ellipse">
            <a:avLst/>
          </a:prstGeom>
          <a:solidFill>
            <a:srgbClr val="2E5BD8"/>
          </a:solidFill>
          <a:ln w="12700">
            <a:solidFill>
              <a:srgbClr val="2E5BD8"/>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2E5BD8"/>
                </a:solidFill>
                <a:latin typeface="Calibri" pitchFamily="34" charset="0"/>
                <a:ea typeface="Calibri" pitchFamily="34" charset="-122"/>
                <a:cs typeface="Calibri" pitchFamily="34" charset="-120"/>
              </a:rPr>
              <a:t>P1.1 • ionising radiation</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does </a:t>
            </a:r>
            <a:r>
              <a:rPr lang="en-US" sz="1250" b="1" dirty="0">
                <a:solidFill>
                  <a:srgbClr val="262B3A"/>
                </a:solidFill>
                <a:latin typeface="Calibri" pitchFamily="34" charset="0"/>
                <a:ea typeface="Calibri" pitchFamily="34" charset="-122"/>
                <a:cs typeface="Calibri" pitchFamily="34" charset="-120"/>
              </a:rPr>
              <a:t>ionising</a:t>
            </a:r>
            <a:r>
              <a:rPr lang="en-US" sz="1250" dirty="0">
                <a:solidFill>
                  <a:srgbClr val="262B3A"/>
                </a:solidFill>
                <a:latin typeface="Calibri" pitchFamily="34" charset="0"/>
                <a:ea typeface="Calibri" pitchFamily="34" charset="-122"/>
                <a:cs typeface="Calibri" pitchFamily="34" charset="-120"/>
              </a:rPr>
              <a:t> mean? Name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ionising part of the EM spectrum.</a:t>
            </a:r>
            <a:endParaRPr lang="en-US" sz="1250" dirty="0"/>
          </a:p>
        </p:txBody>
      </p:sp>
      <p:sp>
        <p:nvSpPr>
          <p:cNvPr id="38" name="Shape 36"/>
          <p:cNvSpPr/>
          <p:nvPr/>
        </p:nvSpPr>
        <p:spPr>
          <a:xfrm>
            <a:off x="411480" y="5715000"/>
            <a:ext cx="11368735" cy="548640"/>
          </a:xfrm>
          <a:prstGeom prst="rect">
            <a:avLst/>
          </a:prstGeom>
          <a:solidFill>
            <a:srgbClr val="EEF2FA"/>
          </a:solidFill>
          <a:ln w="12700">
            <a:solidFill>
              <a:srgbClr val="D5DCEB"/>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2E5BD8"/>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Ionising power of alpha, beta and gamma</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P5.2.1 • why some emissions ionise much more than others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P5.2.1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NOT to scale: tracks in air with the ions they make</a:t>
            </a:r>
            <a:endParaRPr lang="en-US" sz="1000" dirty="0"/>
          </a:p>
        </p:txBody>
      </p:sp>
      <p:sp>
        <p:nvSpPr>
          <p:cNvPr id="10" name="Text 8"/>
          <p:cNvSpPr/>
          <p:nvPr/>
        </p:nvSpPr>
        <p:spPr>
          <a:xfrm>
            <a:off x="640080" y="1325880"/>
            <a:ext cx="5120640" cy="237744"/>
          </a:xfrm>
          <a:prstGeom prst="rect">
            <a:avLst/>
          </a:prstGeom>
          <a:noFill/>
          <a:ln/>
        </p:spPr>
        <p:txBody>
          <a:bodyPr wrap="square" lIns="0" tIns="0" rIns="0" bIns="0" rtlCol="0" anchor="ctr"/>
          <a:lstStyle/>
          <a:p>
            <a:pPr algn="ctr" indent="0" marL="0">
              <a:buNone/>
            </a:pPr>
            <a:r>
              <a:rPr lang="en-US" sz="1100" b="1" dirty="0">
                <a:solidFill>
                  <a:srgbClr val="1A2340"/>
                </a:solidFill>
                <a:latin typeface="Calibri" pitchFamily="34" charset="0"/>
                <a:ea typeface="Calibri" pitchFamily="34" charset="-122"/>
                <a:cs typeface="Calibri" pitchFamily="34" charset="-120"/>
              </a:rPr>
              <a:t>Ionisation: radiation knocks an electron off an atom</a:t>
            </a:r>
            <a:endParaRPr lang="en-US" sz="1100" dirty="0"/>
          </a:p>
        </p:txBody>
      </p:sp>
      <p:sp>
        <p:nvSpPr>
          <p:cNvPr id="11" name="Shape 9"/>
          <p:cNvSpPr/>
          <p:nvPr/>
        </p:nvSpPr>
        <p:spPr>
          <a:xfrm>
            <a:off x="1033272" y="1673352"/>
            <a:ext cx="768096" cy="768096"/>
          </a:xfrm>
          <a:prstGeom prst="ellipse">
            <a:avLst/>
          </a:prstGeom>
          <a:solidFill>
            <a:srgbClr val="E4EBF8"/>
          </a:solidFill>
          <a:ln w="12700">
            <a:solidFill>
              <a:srgbClr val="2E5BD8"/>
            </a:solidFill>
            <a:prstDash val="dash"/>
          </a:ln>
        </p:spPr>
      </p:sp>
      <p:sp>
        <p:nvSpPr>
          <p:cNvPr id="12" name="Shape 10"/>
          <p:cNvSpPr/>
          <p:nvPr/>
        </p:nvSpPr>
        <p:spPr>
          <a:xfrm>
            <a:off x="1344168" y="1984248"/>
            <a:ext cx="146304" cy="146304"/>
          </a:xfrm>
          <a:prstGeom prst="ellipse">
            <a:avLst/>
          </a:prstGeom>
          <a:solidFill>
            <a:srgbClr val="C8414C"/>
          </a:solidFill>
          <a:ln w="9525">
            <a:solidFill>
              <a:srgbClr val="8E2A33"/>
            </a:solidFill>
            <a:prstDash val="solid"/>
          </a:ln>
        </p:spPr>
      </p:sp>
      <p:sp>
        <p:nvSpPr>
          <p:cNvPr id="13" name="Shape 11"/>
          <p:cNvSpPr/>
          <p:nvPr/>
        </p:nvSpPr>
        <p:spPr>
          <a:xfrm>
            <a:off x="1614626" y="1790941"/>
            <a:ext cx="109728" cy="109728"/>
          </a:xfrm>
          <a:prstGeom prst="ellipse">
            <a:avLst/>
          </a:prstGeom>
          <a:solidFill>
            <a:srgbClr val="2E5BD8"/>
          </a:solidFill>
          <a:ln w="9525">
            <a:solidFill>
              <a:srgbClr val="1F3F9E"/>
            </a:solidFill>
            <a:prstDash val="solid"/>
          </a:ln>
        </p:spPr>
      </p:sp>
      <p:sp>
        <p:nvSpPr>
          <p:cNvPr id="14" name="Shape 12"/>
          <p:cNvSpPr/>
          <p:nvPr/>
        </p:nvSpPr>
        <p:spPr>
          <a:xfrm>
            <a:off x="1053124" y="2115124"/>
            <a:ext cx="109728" cy="109728"/>
          </a:xfrm>
          <a:prstGeom prst="ellipse">
            <a:avLst/>
          </a:prstGeom>
          <a:solidFill>
            <a:srgbClr val="2E5BD8"/>
          </a:solidFill>
          <a:ln w="9525">
            <a:solidFill>
              <a:srgbClr val="1F3F9E"/>
            </a:solidFill>
            <a:prstDash val="solid"/>
          </a:ln>
        </p:spPr>
      </p:sp>
      <p:sp>
        <p:nvSpPr>
          <p:cNvPr id="15" name="Shape 13"/>
          <p:cNvSpPr/>
          <p:nvPr/>
        </p:nvSpPr>
        <p:spPr>
          <a:xfrm flipV="1">
            <a:off x="594360" y="2103120"/>
            <a:ext cx="548640" cy="210312"/>
          </a:xfrm>
          <a:prstGeom prst="line">
            <a:avLst/>
          </a:prstGeom>
          <a:noFill/>
          <a:ln w="25400">
            <a:solidFill>
              <a:srgbClr val="C8414C"/>
            </a:solidFill>
            <a:prstDash val="solid"/>
            <a:tailEnd type="triangle"/>
          </a:ln>
        </p:spPr>
      </p:sp>
      <p:sp>
        <p:nvSpPr>
          <p:cNvPr id="16" name="Shape 14"/>
          <p:cNvSpPr/>
          <p:nvPr/>
        </p:nvSpPr>
        <p:spPr>
          <a:xfrm flipV="1">
            <a:off x="1828800" y="1645920"/>
            <a:ext cx="502920" cy="274320"/>
          </a:xfrm>
          <a:prstGeom prst="line">
            <a:avLst/>
          </a:prstGeom>
          <a:noFill/>
          <a:ln w="19050">
            <a:solidFill>
              <a:srgbClr val="2E5BD8"/>
            </a:solidFill>
            <a:prstDash val="solid"/>
            <a:tailEnd type="triangle"/>
          </a:ln>
        </p:spPr>
      </p:sp>
      <p:sp>
        <p:nvSpPr>
          <p:cNvPr id="17" name="Shape 15"/>
          <p:cNvSpPr/>
          <p:nvPr/>
        </p:nvSpPr>
        <p:spPr>
          <a:xfrm>
            <a:off x="2340864" y="1554480"/>
            <a:ext cx="109728" cy="109728"/>
          </a:xfrm>
          <a:prstGeom prst="ellipse">
            <a:avLst/>
          </a:prstGeom>
          <a:solidFill>
            <a:srgbClr val="2E5BD8"/>
          </a:solidFill>
          <a:ln w="9525">
            <a:solidFill>
              <a:srgbClr val="1F3F9E"/>
            </a:solidFill>
            <a:prstDash val="solid"/>
          </a:ln>
        </p:spPr>
      </p:sp>
      <p:sp>
        <p:nvSpPr>
          <p:cNvPr id="18" name="Text 16"/>
          <p:cNvSpPr/>
          <p:nvPr/>
        </p:nvSpPr>
        <p:spPr>
          <a:xfrm>
            <a:off x="2514600" y="1490472"/>
            <a:ext cx="146304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electron removed</a:t>
            </a:r>
            <a:endParaRPr lang="en-US" sz="1050" dirty="0"/>
          </a:p>
        </p:txBody>
      </p:sp>
      <p:sp>
        <p:nvSpPr>
          <p:cNvPr id="19" name="Text 17"/>
          <p:cNvSpPr/>
          <p:nvPr/>
        </p:nvSpPr>
        <p:spPr>
          <a:xfrm>
            <a:off x="1874520" y="2148840"/>
            <a:ext cx="2377440" cy="256032"/>
          </a:xfrm>
          <a:prstGeom prst="rect">
            <a:avLst/>
          </a:prstGeom>
          <a:noFill/>
          <a:ln/>
        </p:spPr>
        <p:txBody>
          <a:bodyPr wrap="square" lIns="0" tIns="0" rIns="0" bIns="0" rtlCol="0" anchor="ctr"/>
          <a:lstStyle/>
          <a:p>
            <a:pPr algn="l" indent="0" marL="0">
              <a:buNone/>
            </a:pPr>
            <a:r>
              <a:rPr lang="en-US" sz="1050" dirty="0">
                <a:solidFill>
                  <a:srgbClr val="C8414C"/>
                </a:solidFill>
                <a:latin typeface="Calibri" pitchFamily="34" charset="0"/>
                <a:ea typeface="Calibri" pitchFamily="34" charset="-122"/>
                <a:cs typeface="Calibri" pitchFamily="34" charset="-120"/>
              </a:rPr>
              <a:t>atom left as a </a:t>
            </a:r>
            <a:r>
              <a:rPr lang="en-US" sz="1050" b="1" dirty="0">
                <a:solidFill>
                  <a:srgbClr val="C8414C"/>
                </a:solidFill>
                <a:latin typeface="Calibri" pitchFamily="34" charset="0"/>
                <a:ea typeface="Calibri" pitchFamily="34" charset="-122"/>
                <a:cs typeface="Calibri" pitchFamily="34" charset="-120"/>
              </a:rPr>
              <a:t>positive ion</a:t>
            </a:r>
            <a:endParaRPr lang="en-US" sz="1050" dirty="0"/>
          </a:p>
        </p:txBody>
      </p:sp>
      <p:sp>
        <p:nvSpPr>
          <p:cNvPr id="20" name="Shape 18"/>
          <p:cNvSpPr/>
          <p:nvPr/>
        </p:nvSpPr>
        <p:spPr>
          <a:xfrm>
            <a:off x="594360" y="2834640"/>
            <a:ext cx="347472" cy="2240280"/>
          </a:xfrm>
          <a:prstGeom prst="roundRect">
            <a:avLst>
              <a:gd name="adj" fmla="val 10526"/>
            </a:avLst>
          </a:prstGeom>
          <a:solidFill>
            <a:srgbClr val="4A5262"/>
          </a:solidFill>
          <a:ln w="12700">
            <a:solidFill>
              <a:srgbClr val="2E3442"/>
            </a:solidFill>
            <a:prstDash val="solid"/>
          </a:ln>
        </p:spPr>
      </p:sp>
      <p:sp>
        <p:nvSpPr>
          <p:cNvPr id="21" name="Text 19"/>
          <p:cNvSpPr/>
          <p:nvPr/>
        </p:nvSpPr>
        <p:spPr>
          <a:xfrm>
            <a:off x="411480" y="5102352"/>
            <a:ext cx="731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source</a:t>
            </a:r>
            <a:endParaRPr lang="en-US" sz="1050" dirty="0"/>
          </a:p>
        </p:txBody>
      </p:sp>
      <p:sp>
        <p:nvSpPr>
          <p:cNvPr id="22" name="Shape 20"/>
          <p:cNvSpPr/>
          <p:nvPr/>
        </p:nvSpPr>
        <p:spPr>
          <a:xfrm>
            <a:off x="1051560" y="3154680"/>
            <a:ext cx="1188720" cy="91"/>
          </a:xfrm>
          <a:prstGeom prst="line">
            <a:avLst/>
          </a:prstGeom>
          <a:noFill/>
          <a:ln w="38100">
            <a:solidFill>
              <a:srgbClr val="C8414C"/>
            </a:solidFill>
            <a:prstDash val="solid"/>
          </a:ln>
        </p:spPr>
      </p:sp>
      <p:sp>
        <p:nvSpPr>
          <p:cNvPr id="23" name="Shape 21"/>
          <p:cNvSpPr/>
          <p:nvPr/>
        </p:nvSpPr>
        <p:spPr>
          <a:xfrm>
            <a:off x="1110996" y="2902991"/>
            <a:ext cx="64008" cy="64008"/>
          </a:xfrm>
          <a:prstGeom prst="ellipse">
            <a:avLst/>
          </a:prstGeom>
          <a:solidFill>
            <a:srgbClr val="F2B8BD"/>
          </a:solidFill>
          <a:ln w="9525">
            <a:solidFill>
              <a:srgbClr val="C8414C"/>
            </a:solidFill>
            <a:prstDash val="solid"/>
          </a:ln>
        </p:spPr>
      </p:sp>
      <p:sp>
        <p:nvSpPr>
          <p:cNvPr id="24" name="Text 22"/>
          <p:cNvSpPr/>
          <p:nvPr/>
        </p:nvSpPr>
        <p:spPr>
          <a:xfrm>
            <a:off x="1110996" y="290299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25" name="Shape 23"/>
          <p:cNvSpPr/>
          <p:nvPr/>
        </p:nvSpPr>
        <p:spPr>
          <a:xfrm>
            <a:off x="1120597" y="2986202"/>
            <a:ext cx="44806" cy="44806"/>
          </a:xfrm>
          <a:prstGeom prst="ellipse">
            <a:avLst/>
          </a:prstGeom>
          <a:solidFill>
            <a:srgbClr val="2E5BD8"/>
          </a:solidFill>
          <a:ln w="9525">
            <a:solidFill>
              <a:srgbClr val="1F3F9E"/>
            </a:solidFill>
            <a:prstDash val="solid"/>
          </a:ln>
        </p:spPr>
      </p:sp>
      <p:sp>
        <p:nvSpPr>
          <p:cNvPr id="26" name="Shape 24"/>
          <p:cNvSpPr/>
          <p:nvPr/>
        </p:nvSpPr>
        <p:spPr>
          <a:xfrm>
            <a:off x="1207008" y="2902991"/>
            <a:ext cx="64008" cy="64008"/>
          </a:xfrm>
          <a:prstGeom prst="ellipse">
            <a:avLst/>
          </a:prstGeom>
          <a:solidFill>
            <a:srgbClr val="F2B8BD"/>
          </a:solidFill>
          <a:ln w="9525">
            <a:solidFill>
              <a:srgbClr val="C8414C"/>
            </a:solidFill>
            <a:prstDash val="solid"/>
          </a:ln>
        </p:spPr>
      </p:sp>
      <p:sp>
        <p:nvSpPr>
          <p:cNvPr id="27" name="Text 25"/>
          <p:cNvSpPr/>
          <p:nvPr/>
        </p:nvSpPr>
        <p:spPr>
          <a:xfrm>
            <a:off x="1207008" y="290299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28" name="Shape 26"/>
          <p:cNvSpPr/>
          <p:nvPr/>
        </p:nvSpPr>
        <p:spPr>
          <a:xfrm>
            <a:off x="1216609" y="2986202"/>
            <a:ext cx="44806" cy="44806"/>
          </a:xfrm>
          <a:prstGeom prst="ellipse">
            <a:avLst/>
          </a:prstGeom>
          <a:solidFill>
            <a:srgbClr val="2E5BD8"/>
          </a:solidFill>
          <a:ln w="9525">
            <a:solidFill>
              <a:srgbClr val="1F3F9E"/>
            </a:solidFill>
            <a:prstDash val="solid"/>
          </a:ln>
        </p:spPr>
      </p:sp>
      <p:sp>
        <p:nvSpPr>
          <p:cNvPr id="29" name="Shape 27"/>
          <p:cNvSpPr/>
          <p:nvPr/>
        </p:nvSpPr>
        <p:spPr>
          <a:xfrm>
            <a:off x="1303020" y="2902991"/>
            <a:ext cx="64008" cy="64008"/>
          </a:xfrm>
          <a:prstGeom prst="ellipse">
            <a:avLst/>
          </a:prstGeom>
          <a:solidFill>
            <a:srgbClr val="F2B8BD"/>
          </a:solidFill>
          <a:ln w="9525">
            <a:solidFill>
              <a:srgbClr val="C8414C"/>
            </a:solidFill>
            <a:prstDash val="solid"/>
          </a:ln>
        </p:spPr>
      </p:sp>
      <p:sp>
        <p:nvSpPr>
          <p:cNvPr id="30" name="Text 28"/>
          <p:cNvSpPr/>
          <p:nvPr/>
        </p:nvSpPr>
        <p:spPr>
          <a:xfrm>
            <a:off x="1303020" y="290299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1312621" y="2986202"/>
            <a:ext cx="44806" cy="44806"/>
          </a:xfrm>
          <a:prstGeom prst="ellipse">
            <a:avLst/>
          </a:prstGeom>
          <a:solidFill>
            <a:srgbClr val="2E5BD8"/>
          </a:solidFill>
          <a:ln w="9525">
            <a:solidFill>
              <a:srgbClr val="1F3F9E"/>
            </a:solidFill>
            <a:prstDash val="solid"/>
          </a:ln>
        </p:spPr>
      </p:sp>
      <p:sp>
        <p:nvSpPr>
          <p:cNvPr id="32" name="Shape 30"/>
          <p:cNvSpPr/>
          <p:nvPr/>
        </p:nvSpPr>
        <p:spPr>
          <a:xfrm>
            <a:off x="1399032" y="2902991"/>
            <a:ext cx="64008" cy="64008"/>
          </a:xfrm>
          <a:prstGeom prst="ellipse">
            <a:avLst/>
          </a:prstGeom>
          <a:solidFill>
            <a:srgbClr val="F2B8BD"/>
          </a:solidFill>
          <a:ln w="9525">
            <a:solidFill>
              <a:srgbClr val="C8414C"/>
            </a:solidFill>
            <a:prstDash val="solid"/>
          </a:ln>
        </p:spPr>
      </p:sp>
      <p:sp>
        <p:nvSpPr>
          <p:cNvPr id="33" name="Text 31"/>
          <p:cNvSpPr/>
          <p:nvPr/>
        </p:nvSpPr>
        <p:spPr>
          <a:xfrm>
            <a:off x="1399032" y="290299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34" name="Shape 32"/>
          <p:cNvSpPr/>
          <p:nvPr/>
        </p:nvSpPr>
        <p:spPr>
          <a:xfrm>
            <a:off x="1408633" y="2986202"/>
            <a:ext cx="44806" cy="44806"/>
          </a:xfrm>
          <a:prstGeom prst="ellipse">
            <a:avLst/>
          </a:prstGeom>
          <a:solidFill>
            <a:srgbClr val="2E5BD8"/>
          </a:solidFill>
          <a:ln w="9525">
            <a:solidFill>
              <a:srgbClr val="1F3F9E"/>
            </a:solidFill>
            <a:prstDash val="solid"/>
          </a:ln>
        </p:spPr>
      </p:sp>
      <p:sp>
        <p:nvSpPr>
          <p:cNvPr id="35" name="Shape 33"/>
          <p:cNvSpPr/>
          <p:nvPr/>
        </p:nvSpPr>
        <p:spPr>
          <a:xfrm>
            <a:off x="1495044" y="2902991"/>
            <a:ext cx="64008" cy="64008"/>
          </a:xfrm>
          <a:prstGeom prst="ellipse">
            <a:avLst/>
          </a:prstGeom>
          <a:solidFill>
            <a:srgbClr val="F2B8BD"/>
          </a:solidFill>
          <a:ln w="9525">
            <a:solidFill>
              <a:srgbClr val="C8414C"/>
            </a:solidFill>
            <a:prstDash val="solid"/>
          </a:ln>
        </p:spPr>
      </p:sp>
      <p:sp>
        <p:nvSpPr>
          <p:cNvPr id="36" name="Text 34"/>
          <p:cNvSpPr/>
          <p:nvPr/>
        </p:nvSpPr>
        <p:spPr>
          <a:xfrm>
            <a:off x="1495044" y="290299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37" name="Shape 35"/>
          <p:cNvSpPr/>
          <p:nvPr/>
        </p:nvSpPr>
        <p:spPr>
          <a:xfrm>
            <a:off x="1504645" y="2986202"/>
            <a:ext cx="44806" cy="44806"/>
          </a:xfrm>
          <a:prstGeom prst="ellipse">
            <a:avLst/>
          </a:prstGeom>
          <a:solidFill>
            <a:srgbClr val="2E5BD8"/>
          </a:solidFill>
          <a:ln w="9525">
            <a:solidFill>
              <a:srgbClr val="1F3F9E"/>
            </a:solidFill>
            <a:prstDash val="solid"/>
          </a:ln>
        </p:spPr>
      </p:sp>
      <p:sp>
        <p:nvSpPr>
          <p:cNvPr id="38" name="Shape 36"/>
          <p:cNvSpPr/>
          <p:nvPr/>
        </p:nvSpPr>
        <p:spPr>
          <a:xfrm>
            <a:off x="1591056" y="2902991"/>
            <a:ext cx="64008" cy="64008"/>
          </a:xfrm>
          <a:prstGeom prst="ellipse">
            <a:avLst/>
          </a:prstGeom>
          <a:solidFill>
            <a:srgbClr val="F2B8BD"/>
          </a:solidFill>
          <a:ln w="9525">
            <a:solidFill>
              <a:srgbClr val="C8414C"/>
            </a:solidFill>
            <a:prstDash val="solid"/>
          </a:ln>
        </p:spPr>
      </p:sp>
      <p:sp>
        <p:nvSpPr>
          <p:cNvPr id="39" name="Text 37"/>
          <p:cNvSpPr/>
          <p:nvPr/>
        </p:nvSpPr>
        <p:spPr>
          <a:xfrm>
            <a:off x="1591056" y="290299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40" name="Shape 38"/>
          <p:cNvSpPr/>
          <p:nvPr/>
        </p:nvSpPr>
        <p:spPr>
          <a:xfrm>
            <a:off x="1600657" y="2986202"/>
            <a:ext cx="44806" cy="44806"/>
          </a:xfrm>
          <a:prstGeom prst="ellipse">
            <a:avLst/>
          </a:prstGeom>
          <a:solidFill>
            <a:srgbClr val="2E5BD8"/>
          </a:solidFill>
          <a:ln w="9525">
            <a:solidFill>
              <a:srgbClr val="1F3F9E"/>
            </a:solidFill>
            <a:prstDash val="solid"/>
          </a:ln>
        </p:spPr>
      </p:sp>
      <p:sp>
        <p:nvSpPr>
          <p:cNvPr id="41" name="Shape 39"/>
          <p:cNvSpPr/>
          <p:nvPr/>
        </p:nvSpPr>
        <p:spPr>
          <a:xfrm>
            <a:off x="1687068" y="2902991"/>
            <a:ext cx="64008" cy="64008"/>
          </a:xfrm>
          <a:prstGeom prst="ellipse">
            <a:avLst/>
          </a:prstGeom>
          <a:solidFill>
            <a:srgbClr val="F2B8BD"/>
          </a:solidFill>
          <a:ln w="9525">
            <a:solidFill>
              <a:srgbClr val="C8414C"/>
            </a:solidFill>
            <a:prstDash val="solid"/>
          </a:ln>
        </p:spPr>
      </p:sp>
      <p:sp>
        <p:nvSpPr>
          <p:cNvPr id="42" name="Text 40"/>
          <p:cNvSpPr/>
          <p:nvPr/>
        </p:nvSpPr>
        <p:spPr>
          <a:xfrm>
            <a:off x="1687068" y="290299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43" name="Shape 41"/>
          <p:cNvSpPr/>
          <p:nvPr/>
        </p:nvSpPr>
        <p:spPr>
          <a:xfrm>
            <a:off x="1696669" y="2986202"/>
            <a:ext cx="44806" cy="44806"/>
          </a:xfrm>
          <a:prstGeom prst="ellipse">
            <a:avLst/>
          </a:prstGeom>
          <a:solidFill>
            <a:srgbClr val="2E5BD8"/>
          </a:solidFill>
          <a:ln w="9525">
            <a:solidFill>
              <a:srgbClr val="1F3F9E"/>
            </a:solidFill>
            <a:prstDash val="solid"/>
          </a:ln>
        </p:spPr>
      </p:sp>
      <p:sp>
        <p:nvSpPr>
          <p:cNvPr id="44" name="Shape 42"/>
          <p:cNvSpPr/>
          <p:nvPr/>
        </p:nvSpPr>
        <p:spPr>
          <a:xfrm>
            <a:off x="1783080" y="2902991"/>
            <a:ext cx="64008" cy="64008"/>
          </a:xfrm>
          <a:prstGeom prst="ellipse">
            <a:avLst/>
          </a:prstGeom>
          <a:solidFill>
            <a:srgbClr val="F2B8BD"/>
          </a:solidFill>
          <a:ln w="9525">
            <a:solidFill>
              <a:srgbClr val="C8414C"/>
            </a:solidFill>
            <a:prstDash val="solid"/>
          </a:ln>
        </p:spPr>
      </p:sp>
      <p:sp>
        <p:nvSpPr>
          <p:cNvPr id="45" name="Text 43"/>
          <p:cNvSpPr/>
          <p:nvPr/>
        </p:nvSpPr>
        <p:spPr>
          <a:xfrm>
            <a:off x="1783080" y="290299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46" name="Shape 44"/>
          <p:cNvSpPr/>
          <p:nvPr/>
        </p:nvSpPr>
        <p:spPr>
          <a:xfrm>
            <a:off x="1792681" y="2986202"/>
            <a:ext cx="44806" cy="44806"/>
          </a:xfrm>
          <a:prstGeom prst="ellipse">
            <a:avLst/>
          </a:prstGeom>
          <a:solidFill>
            <a:srgbClr val="2E5BD8"/>
          </a:solidFill>
          <a:ln w="9525">
            <a:solidFill>
              <a:srgbClr val="1F3F9E"/>
            </a:solidFill>
            <a:prstDash val="solid"/>
          </a:ln>
        </p:spPr>
      </p:sp>
      <p:sp>
        <p:nvSpPr>
          <p:cNvPr id="47" name="Shape 45"/>
          <p:cNvSpPr/>
          <p:nvPr/>
        </p:nvSpPr>
        <p:spPr>
          <a:xfrm>
            <a:off x="1879092" y="2902991"/>
            <a:ext cx="64008" cy="64008"/>
          </a:xfrm>
          <a:prstGeom prst="ellipse">
            <a:avLst/>
          </a:prstGeom>
          <a:solidFill>
            <a:srgbClr val="F2B8BD"/>
          </a:solidFill>
          <a:ln w="9525">
            <a:solidFill>
              <a:srgbClr val="C8414C"/>
            </a:solidFill>
            <a:prstDash val="solid"/>
          </a:ln>
        </p:spPr>
      </p:sp>
      <p:sp>
        <p:nvSpPr>
          <p:cNvPr id="48" name="Text 46"/>
          <p:cNvSpPr/>
          <p:nvPr/>
        </p:nvSpPr>
        <p:spPr>
          <a:xfrm>
            <a:off x="1879092" y="290299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49" name="Shape 47"/>
          <p:cNvSpPr/>
          <p:nvPr/>
        </p:nvSpPr>
        <p:spPr>
          <a:xfrm>
            <a:off x="1888693" y="2986202"/>
            <a:ext cx="44806" cy="44806"/>
          </a:xfrm>
          <a:prstGeom prst="ellipse">
            <a:avLst/>
          </a:prstGeom>
          <a:solidFill>
            <a:srgbClr val="2E5BD8"/>
          </a:solidFill>
          <a:ln w="9525">
            <a:solidFill>
              <a:srgbClr val="1F3F9E"/>
            </a:solidFill>
            <a:prstDash val="solid"/>
          </a:ln>
        </p:spPr>
      </p:sp>
      <p:sp>
        <p:nvSpPr>
          <p:cNvPr id="50" name="Shape 48"/>
          <p:cNvSpPr/>
          <p:nvPr/>
        </p:nvSpPr>
        <p:spPr>
          <a:xfrm>
            <a:off x="1975104" y="2902991"/>
            <a:ext cx="64008" cy="64008"/>
          </a:xfrm>
          <a:prstGeom prst="ellipse">
            <a:avLst/>
          </a:prstGeom>
          <a:solidFill>
            <a:srgbClr val="F2B8BD"/>
          </a:solidFill>
          <a:ln w="9525">
            <a:solidFill>
              <a:srgbClr val="C8414C"/>
            </a:solidFill>
            <a:prstDash val="solid"/>
          </a:ln>
        </p:spPr>
      </p:sp>
      <p:sp>
        <p:nvSpPr>
          <p:cNvPr id="51" name="Text 49"/>
          <p:cNvSpPr/>
          <p:nvPr/>
        </p:nvSpPr>
        <p:spPr>
          <a:xfrm>
            <a:off x="1975104" y="290299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52" name="Shape 50"/>
          <p:cNvSpPr/>
          <p:nvPr/>
        </p:nvSpPr>
        <p:spPr>
          <a:xfrm>
            <a:off x="1984705" y="2986202"/>
            <a:ext cx="44806" cy="44806"/>
          </a:xfrm>
          <a:prstGeom prst="ellipse">
            <a:avLst/>
          </a:prstGeom>
          <a:solidFill>
            <a:srgbClr val="2E5BD8"/>
          </a:solidFill>
          <a:ln w="9525">
            <a:solidFill>
              <a:srgbClr val="1F3F9E"/>
            </a:solidFill>
            <a:prstDash val="solid"/>
          </a:ln>
        </p:spPr>
      </p:sp>
      <p:sp>
        <p:nvSpPr>
          <p:cNvPr id="53" name="Shape 51"/>
          <p:cNvSpPr/>
          <p:nvPr/>
        </p:nvSpPr>
        <p:spPr>
          <a:xfrm>
            <a:off x="2071116" y="2902991"/>
            <a:ext cx="64008" cy="64008"/>
          </a:xfrm>
          <a:prstGeom prst="ellipse">
            <a:avLst/>
          </a:prstGeom>
          <a:solidFill>
            <a:srgbClr val="F2B8BD"/>
          </a:solidFill>
          <a:ln w="9525">
            <a:solidFill>
              <a:srgbClr val="C8414C"/>
            </a:solidFill>
            <a:prstDash val="solid"/>
          </a:ln>
        </p:spPr>
      </p:sp>
      <p:sp>
        <p:nvSpPr>
          <p:cNvPr id="54" name="Text 52"/>
          <p:cNvSpPr/>
          <p:nvPr/>
        </p:nvSpPr>
        <p:spPr>
          <a:xfrm>
            <a:off x="2071116" y="290299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55" name="Shape 53"/>
          <p:cNvSpPr/>
          <p:nvPr/>
        </p:nvSpPr>
        <p:spPr>
          <a:xfrm>
            <a:off x="2080717" y="2986202"/>
            <a:ext cx="44806" cy="44806"/>
          </a:xfrm>
          <a:prstGeom prst="ellipse">
            <a:avLst/>
          </a:prstGeom>
          <a:solidFill>
            <a:srgbClr val="2E5BD8"/>
          </a:solidFill>
          <a:ln w="9525">
            <a:solidFill>
              <a:srgbClr val="1F3F9E"/>
            </a:solidFill>
            <a:prstDash val="solid"/>
          </a:ln>
        </p:spPr>
      </p:sp>
      <p:sp>
        <p:nvSpPr>
          <p:cNvPr id="56" name="Shape 54"/>
          <p:cNvSpPr/>
          <p:nvPr/>
        </p:nvSpPr>
        <p:spPr>
          <a:xfrm>
            <a:off x="2167128" y="2902991"/>
            <a:ext cx="64008" cy="64008"/>
          </a:xfrm>
          <a:prstGeom prst="ellipse">
            <a:avLst/>
          </a:prstGeom>
          <a:solidFill>
            <a:srgbClr val="F2B8BD"/>
          </a:solidFill>
          <a:ln w="9525">
            <a:solidFill>
              <a:srgbClr val="C8414C"/>
            </a:solidFill>
            <a:prstDash val="solid"/>
          </a:ln>
        </p:spPr>
      </p:sp>
      <p:sp>
        <p:nvSpPr>
          <p:cNvPr id="57" name="Text 55"/>
          <p:cNvSpPr/>
          <p:nvPr/>
        </p:nvSpPr>
        <p:spPr>
          <a:xfrm>
            <a:off x="2167128" y="290299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58" name="Shape 56"/>
          <p:cNvSpPr/>
          <p:nvPr/>
        </p:nvSpPr>
        <p:spPr>
          <a:xfrm>
            <a:off x="2176729" y="2986202"/>
            <a:ext cx="44806" cy="44806"/>
          </a:xfrm>
          <a:prstGeom prst="ellipse">
            <a:avLst/>
          </a:prstGeom>
          <a:solidFill>
            <a:srgbClr val="2E5BD8"/>
          </a:solidFill>
          <a:ln w="9525">
            <a:solidFill>
              <a:srgbClr val="1F3F9E"/>
            </a:solidFill>
            <a:prstDash val="solid"/>
          </a:ln>
        </p:spPr>
      </p:sp>
      <p:sp>
        <p:nvSpPr>
          <p:cNvPr id="59" name="Text 57"/>
          <p:cNvSpPr/>
          <p:nvPr/>
        </p:nvSpPr>
        <p:spPr>
          <a:xfrm>
            <a:off x="2377440" y="2880360"/>
            <a:ext cx="3291840" cy="457200"/>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α</a:t>
            </a:r>
            <a:r>
              <a:rPr lang="en-US" sz="1050" dirty="0">
                <a:solidFill>
                  <a:srgbClr val="C8414C"/>
                </a:solidFill>
                <a:latin typeface="Calibri" pitchFamily="34" charset="0"/>
                <a:ea typeface="Calibri" pitchFamily="34" charset="-122"/>
                <a:cs typeface="Calibri" pitchFamily="34" charset="-120"/>
              </a:rPr>
              <a:t>: many ions per cm, stops after a few cm</a:t>
            </a:r>
            <a:endParaRPr lang="en-US" sz="1050" dirty="0"/>
          </a:p>
        </p:txBody>
      </p:sp>
      <p:sp>
        <p:nvSpPr>
          <p:cNvPr id="60" name="Shape 58"/>
          <p:cNvSpPr/>
          <p:nvPr/>
        </p:nvSpPr>
        <p:spPr>
          <a:xfrm>
            <a:off x="1051560" y="3977640"/>
            <a:ext cx="3657600" cy="91"/>
          </a:xfrm>
          <a:prstGeom prst="line">
            <a:avLst/>
          </a:prstGeom>
          <a:noFill/>
          <a:ln w="25400">
            <a:solidFill>
              <a:srgbClr val="2E5BD8"/>
            </a:solidFill>
            <a:prstDash val="solid"/>
          </a:ln>
        </p:spPr>
      </p:sp>
      <p:sp>
        <p:nvSpPr>
          <p:cNvPr id="61" name="Shape 59"/>
          <p:cNvSpPr/>
          <p:nvPr/>
        </p:nvSpPr>
        <p:spPr>
          <a:xfrm>
            <a:off x="1293876" y="3725951"/>
            <a:ext cx="64008" cy="64008"/>
          </a:xfrm>
          <a:prstGeom prst="ellipse">
            <a:avLst/>
          </a:prstGeom>
          <a:solidFill>
            <a:srgbClr val="F2B8BD"/>
          </a:solidFill>
          <a:ln w="9525">
            <a:solidFill>
              <a:srgbClr val="C8414C"/>
            </a:solidFill>
            <a:prstDash val="solid"/>
          </a:ln>
        </p:spPr>
      </p:sp>
      <p:sp>
        <p:nvSpPr>
          <p:cNvPr id="62" name="Text 60"/>
          <p:cNvSpPr/>
          <p:nvPr/>
        </p:nvSpPr>
        <p:spPr>
          <a:xfrm>
            <a:off x="1293876" y="372595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63" name="Shape 61"/>
          <p:cNvSpPr/>
          <p:nvPr/>
        </p:nvSpPr>
        <p:spPr>
          <a:xfrm>
            <a:off x="1303477" y="3809162"/>
            <a:ext cx="44806" cy="44806"/>
          </a:xfrm>
          <a:prstGeom prst="ellipse">
            <a:avLst/>
          </a:prstGeom>
          <a:solidFill>
            <a:srgbClr val="2E5BD8"/>
          </a:solidFill>
          <a:ln w="9525">
            <a:solidFill>
              <a:srgbClr val="1F3F9E"/>
            </a:solidFill>
            <a:prstDash val="solid"/>
          </a:ln>
        </p:spPr>
      </p:sp>
      <p:sp>
        <p:nvSpPr>
          <p:cNvPr id="64" name="Shape 62"/>
          <p:cNvSpPr/>
          <p:nvPr/>
        </p:nvSpPr>
        <p:spPr>
          <a:xfrm>
            <a:off x="1888236" y="3725951"/>
            <a:ext cx="64008" cy="64008"/>
          </a:xfrm>
          <a:prstGeom prst="ellipse">
            <a:avLst/>
          </a:prstGeom>
          <a:solidFill>
            <a:srgbClr val="F2B8BD"/>
          </a:solidFill>
          <a:ln w="9525">
            <a:solidFill>
              <a:srgbClr val="C8414C"/>
            </a:solidFill>
            <a:prstDash val="solid"/>
          </a:ln>
        </p:spPr>
      </p:sp>
      <p:sp>
        <p:nvSpPr>
          <p:cNvPr id="65" name="Text 63"/>
          <p:cNvSpPr/>
          <p:nvPr/>
        </p:nvSpPr>
        <p:spPr>
          <a:xfrm>
            <a:off x="1888236" y="372595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66" name="Shape 64"/>
          <p:cNvSpPr/>
          <p:nvPr/>
        </p:nvSpPr>
        <p:spPr>
          <a:xfrm>
            <a:off x="1897837" y="3809162"/>
            <a:ext cx="44806" cy="44806"/>
          </a:xfrm>
          <a:prstGeom prst="ellipse">
            <a:avLst/>
          </a:prstGeom>
          <a:solidFill>
            <a:srgbClr val="2E5BD8"/>
          </a:solidFill>
          <a:ln w="9525">
            <a:solidFill>
              <a:srgbClr val="1F3F9E"/>
            </a:solidFill>
            <a:prstDash val="solid"/>
          </a:ln>
        </p:spPr>
      </p:sp>
      <p:sp>
        <p:nvSpPr>
          <p:cNvPr id="67" name="Shape 65"/>
          <p:cNvSpPr/>
          <p:nvPr/>
        </p:nvSpPr>
        <p:spPr>
          <a:xfrm>
            <a:off x="2482596" y="3725951"/>
            <a:ext cx="64008" cy="64008"/>
          </a:xfrm>
          <a:prstGeom prst="ellipse">
            <a:avLst/>
          </a:prstGeom>
          <a:solidFill>
            <a:srgbClr val="F2B8BD"/>
          </a:solidFill>
          <a:ln w="9525">
            <a:solidFill>
              <a:srgbClr val="C8414C"/>
            </a:solidFill>
            <a:prstDash val="solid"/>
          </a:ln>
        </p:spPr>
      </p:sp>
      <p:sp>
        <p:nvSpPr>
          <p:cNvPr id="68" name="Text 66"/>
          <p:cNvSpPr/>
          <p:nvPr/>
        </p:nvSpPr>
        <p:spPr>
          <a:xfrm>
            <a:off x="2482596" y="372595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69" name="Shape 67"/>
          <p:cNvSpPr/>
          <p:nvPr/>
        </p:nvSpPr>
        <p:spPr>
          <a:xfrm>
            <a:off x="2492197" y="3809162"/>
            <a:ext cx="44806" cy="44806"/>
          </a:xfrm>
          <a:prstGeom prst="ellipse">
            <a:avLst/>
          </a:prstGeom>
          <a:solidFill>
            <a:srgbClr val="2E5BD8"/>
          </a:solidFill>
          <a:ln w="9525">
            <a:solidFill>
              <a:srgbClr val="1F3F9E"/>
            </a:solidFill>
            <a:prstDash val="solid"/>
          </a:ln>
        </p:spPr>
      </p:sp>
      <p:sp>
        <p:nvSpPr>
          <p:cNvPr id="70" name="Shape 68"/>
          <p:cNvSpPr/>
          <p:nvPr/>
        </p:nvSpPr>
        <p:spPr>
          <a:xfrm>
            <a:off x="3076956" y="3725951"/>
            <a:ext cx="64008" cy="64008"/>
          </a:xfrm>
          <a:prstGeom prst="ellipse">
            <a:avLst/>
          </a:prstGeom>
          <a:solidFill>
            <a:srgbClr val="F2B8BD"/>
          </a:solidFill>
          <a:ln w="9525">
            <a:solidFill>
              <a:srgbClr val="C8414C"/>
            </a:solidFill>
            <a:prstDash val="solid"/>
          </a:ln>
        </p:spPr>
      </p:sp>
      <p:sp>
        <p:nvSpPr>
          <p:cNvPr id="71" name="Text 69"/>
          <p:cNvSpPr/>
          <p:nvPr/>
        </p:nvSpPr>
        <p:spPr>
          <a:xfrm>
            <a:off x="3076956" y="372595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72" name="Shape 70"/>
          <p:cNvSpPr/>
          <p:nvPr/>
        </p:nvSpPr>
        <p:spPr>
          <a:xfrm>
            <a:off x="3086557" y="3809162"/>
            <a:ext cx="44806" cy="44806"/>
          </a:xfrm>
          <a:prstGeom prst="ellipse">
            <a:avLst/>
          </a:prstGeom>
          <a:solidFill>
            <a:srgbClr val="2E5BD8"/>
          </a:solidFill>
          <a:ln w="9525">
            <a:solidFill>
              <a:srgbClr val="1F3F9E"/>
            </a:solidFill>
            <a:prstDash val="solid"/>
          </a:ln>
        </p:spPr>
      </p:sp>
      <p:sp>
        <p:nvSpPr>
          <p:cNvPr id="73" name="Shape 71"/>
          <p:cNvSpPr/>
          <p:nvPr/>
        </p:nvSpPr>
        <p:spPr>
          <a:xfrm>
            <a:off x="3671316" y="3725951"/>
            <a:ext cx="64008" cy="64008"/>
          </a:xfrm>
          <a:prstGeom prst="ellipse">
            <a:avLst/>
          </a:prstGeom>
          <a:solidFill>
            <a:srgbClr val="F2B8BD"/>
          </a:solidFill>
          <a:ln w="9525">
            <a:solidFill>
              <a:srgbClr val="C8414C"/>
            </a:solidFill>
            <a:prstDash val="solid"/>
          </a:ln>
        </p:spPr>
      </p:sp>
      <p:sp>
        <p:nvSpPr>
          <p:cNvPr id="74" name="Text 72"/>
          <p:cNvSpPr/>
          <p:nvPr/>
        </p:nvSpPr>
        <p:spPr>
          <a:xfrm>
            <a:off x="3671316" y="372595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75" name="Shape 73"/>
          <p:cNvSpPr/>
          <p:nvPr/>
        </p:nvSpPr>
        <p:spPr>
          <a:xfrm>
            <a:off x="3680917" y="3809162"/>
            <a:ext cx="44806" cy="44806"/>
          </a:xfrm>
          <a:prstGeom prst="ellipse">
            <a:avLst/>
          </a:prstGeom>
          <a:solidFill>
            <a:srgbClr val="2E5BD8"/>
          </a:solidFill>
          <a:ln w="9525">
            <a:solidFill>
              <a:srgbClr val="1F3F9E"/>
            </a:solidFill>
            <a:prstDash val="solid"/>
          </a:ln>
        </p:spPr>
      </p:sp>
      <p:sp>
        <p:nvSpPr>
          <p:cNvPr id="76" name="Shape 74"/>
          <p:cNvSpPr/>
          <p:nvPr/>
        </p:nvSpPr>
        <p:spPr>
          <a:xfrm>
            <a:off x="4265676" y="3725951"/>
            <a:ext cx="64008" cy="64008"/>
          </a:xfrm>
          <a:prstGeom prst="ellipse">
            <a:avLst/>
          </a:prstGeom>
          <a:solidFill>
            <a:srgbClr val="F2B8BD"/>
          </a:solidFill>
          <a:ln w="9525">
            <a:solidFill>
              <a:srgbClr val="C8414C"/>
            </a:solidFill>
            <a:prstDash val="solid"/>
          </a:ln>
        </p:spPr>
      </p:sp>
      <p:sp>
        <p:nvSpPr>
          <p:cNvPr id="77" name="Text 75"/>
          <p:cNvSpPr/>
          <p:nvPr/>
        </p:nvSpPr>
        <p:spPr>
          <a:xfrm>
            <a:off x="4265676" y="372595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78" name="Shape 76"/>
          <p:cNvSpPr/>
          <p:nvPr/>
        </p:nvSpPr>
        <p:spPr>
          <a:xfrm>
            <a:off x="4275277" y="3809162"/>
            <a:ext cx="44806" cy="44806"/>
          </a:xfrm>
          <a:prstGeom prst="ellipse">
            <a:avLst/>
          </a:prstGeom>
          <a:solidFill>
            <a:srgbClr val="2E5BD8"/>
          </a:solidFill>
          <a:ln w="9525">
            <a:solidFill>
              <a:srgbClr val="1F3F9E"/>
            </a:solidFill>
            <a:prstDash val="solid"/>
          </a:ln>
        </p:spPr>
      </p:sp>
      <p:sp>
        <p:nvSpPr>
          <p:cNvPr id="79" name="Text 77"/>
          <p:cNvSpPr/>
          <p:nvPr/>
        </p:nvSpPr>
        <p:spPr>
          <a:xfrm>
            <a:off x="2514600" y="4023360"/>
            <a:ext cx="347472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β</a:t>
            </a:r>
            <a:r>
              <a:rPr lang="en-US" sz="1050" dirty="0">
                <a:solidFill>
                  <a:srgbClr val="2E5BD8"/>
                </a:solidFill>
                <a:latin typeface="Calibri" pitchFamily="34" charset="0"/>
                <a:ea typeface="Calibri" pitchFamily="34" charset="-122"/>
                <a:cs typeface="Calibri" pitchFamily="34" charset="-120"/>
              </a:rPr>
              <a:t>: fewer ions per cm, goes further</a:t>
            </a:r>
            <a:endParaRPr lang="en-US" sz="1050" dirty="0"/>
          </a:p>
        </p:txBody>
      </p:sp>
      <p:sp>
        <p:nvSpPr>
          <p:cNvPr id="80" name="Shape 78"/>
          <p:cNvSpPr/>
          <p:nvPr/>
        </p:nvSpPr>
        <p:spPr>
          <a:xfrm>
            <a:off x="1051560" y="4800600"/>
            <a:ext cx="29147" cy="20996"/>
          </a:xfrm>
          <a:prstGeom prst="line">
            <a:avLst/>
          </a:prstGeom>
          <a:noFill/>
          <a:ln w="22225">
            <a:solidFill>
              <a:srgbClr val="2E8B57"/>
            </a:solidFill>
            <a:prstDash val="solid"/>
          </a:ln>
        </p:spPr>
      </p:sp>
      <p:sp>
        <p:nvSpPr>
          <p:cNvPr id="81" name="Shape 79"/>
          <p:cNvSpPr/>
          <p:nvPr/>
        </p:nvSpPr>
        <p:spPr>
          <a:xfrm>
            <a:off x="1080707" y="4821596"/>
            <a:ext cx="29146" cy="17799"/>
          </a:xfrm>
          <a:prstGeom prst="line">
            <a:avLst/>
          </a:prstGeom>
          <a:noFill/>
          <a:ln w="22225">
            <a:solidFill>
              <a:srgbClr val="2E8B57"/>
            </a:solidFill>
            <a:prstDash val="solid"/>
          </a:ln>
        </p:spPr>
      </p:sp>
      <p:sp>
        <p:nvSpPr>
          <p:cNvPr id="82" name="Shape 80"/>
          <p:cNvSpPr/>
          <p:nvPr/>
        </p:nvSpPr>
        <p:spPr>
          <a:xfrm>
            <a:off x="1109853" y="4839395"/>
            <a:ext cx="29147" cy="11893"/>
          </a:xfrm>
          <a:prstGeom prst="line">
            <a:avLst/>
          </a:prstGeom>
          <a:noFill/>
          <a:ln w="22225">
            <a:solidFill>
              <a:srgbClr val="2E8B57"/>
            </a:solidFill>
            <a:prstDash val="solid"/>
          </a:ln>
        </p:spPr>
      </p:sp>
      <p:sp>
        <p:nvSpPr>
          <p:cNvPr id="83" name="Shape 81"/>
          <p:cNvSpPr/>
          <p:nvPr/>
        </p:nvSpPr>
        <p:spPr>
          <a:xfrm>
            <a:off x="1139000" y="4851288"/>
            <a:ext cx="29146" cy="4176"/>
          </a:xfrm>
          <a:prstGeom prst="line">
            <a:avLst/>
          </a:prstGeom>
          <a:noFill/>
          <a:ln w="22225">
            <a:solidFill>
              <a:srgbClr val="2E8B57"/>
            </a:solidFill>
            <a:prstDash val="solid"/>
          </a:ln>
        </p:spPr>
      </p:sp>
      <p:sp>
        <p:nvSpPr>
          <p:cNvPr id="84" name="Shape 82"/>
          <p:cNvSpPr/>
          <p:nvPr/>
        </p:nvSpPr>
        <p:spPr>
          <a:xfrm flipV="1">
            <a:off x="1168146" y="4851288"/>
            <a:ext cx="29147" cy="4176"/>
          </a:xfrm>
          <a:prstGeom prst="line">
            <a:avLst/>
          </a:prstGeom>
          <a:noFill/>
          <a:ln w="22225">
            <a:solidFill>
              <a:srgbClr val="2E8B57"/>
            </a:solidFill>
            <a:prstDash val="solid"/>
          </a:ln>
        </p:spPr>
      </p:sp>
      <p:sp>
        <p:nvSpPr>
          <p:cNvPr id="85" name="Shape 83"/>
          <p:cNvSpPr/>
          <p:nvPr/>
        </p:nvSpPr>
        <p:spPr>
          <a:xfrm flipV="1">
            <a:off x="1197293" y="4839395"/>
            <a:ext cx="29146" cy="11893"/>
          </a:xfrm>
          <a:prstGeom prst="line">
            <a:avLst/>
          </a:prstGeom>
          <a:noFill/>
          <a:ln w="22225">
            <a:solidFill>
              <a:srgbClr val="2E8B57"/>
            </a:solidFill>
            <a:prstDash val="solid"/>
          </a:ln>
        </p:spPr>
      </p:sp>
      <p:sp>
        <p:nvSpPr>
          <p:cNvPr id="86" name="Shape 84"/>
          <p:cNvSpPr/>
          <p:nvPr/>
        </p:nvSpPr>
        <p:spPr>
          <a:xfrm flipV="1">
            <a:off x="1226439" y="4821596"/>
            <a:ext cx="29147" cy="17799"/>
          </a:xfrm>
          <a:prstGeom prst="line">
            <a:avLst/>
          </a:prstGeom>
          <a:noFill/>
          <a:ln w="22225">
            <a:solidFill>
              <a:srgbClr val="2E8B57"/>
            </a:solidFill>
            <a:prstDash val="solid"/>
          </a:ln>
        </p:spPr>
      </p:sp>
      <p:sp>
        <p:nvSpPr>
          <p:cNvPr id="87" name="Shape 85"/>
          <p:cNvSpPr/>
          <p:nvPr/>
        </p:nvSpPr>
        <p:spPr>
          <a:xfrm flipV="1">
            <a:off x="1255586" y="4800600"/>
            <a:ext cx="29146" cy="20996"/>
          </a:xfrm>
          <a:prstGeom prst="line">
            <a:avLst/>
          </a:prstGeom>
          <a:noFill/>
          <a:ln w="22225">
            <a:solidFill>
              <a:srgbClr val="2E8B57"/>
            </a:solidFill>
            <a:prstDash val="solid"/>
          </a:ln>
        </p:spPr>
      </p:sp>
      <p:sp>
        <p:nvSpPr>
          <p:cNvPr id="88" name="Shape 86"/>
          <p:cNvSpPr/>
          <p:nvPr/>
        </p:nvSpPr>
        <p:spPr>
          <a:xfrm flipV="1">
            <a:off x="1284732" y="4779604"/>
            <a:ext cx="29147" cy="20996"/>
          </a:xfrm>
          <a:prstGeom prst="line">
            <a:avLst/>
          </a:prstGeom>
          <a:noFill/>
          <a:ln w="22225">
            <a:solidFill>
              <a:srgbClr val="2E8B57"/>
            </a:solidFill>
            <a:prstDash val="solid"/>
          </a:ln>
        </p:spPr>
      </p:sp>
      <p:sp>
        <p:nvSpPr>
          <p:cNvPr id="89" name="Shape 87"/>
          <p:cNvSpPr/>
          <p:nvPr/>
        </p:nvSpPr>
        <p:spPr>
          <a:xfrm flipV="1">
            <a:off x="1313879" y="4761805"/>
            <a:ext cx="29147" cy="17799"/>
          </a:xfrm>
          <a:prstGeom prst="line">
            <a:avLst/>
          </a:prstGeom>
          <a:noFill/>
          <a:ln w="22225">
            <a:solidFill>
              <a:srgbClr val="2E8B57"/>
            </a:solidFill>
            <a:prstDash val="solid"/>
          </a:ln>
        </p:spPr>
      </p:sp>
      <p:sp>
        <p:nvSpPr>
          <p:cNvPr id="90" name="Shape 88"/>
          <p:cNvSpPr/>
          <p:nvPr/>
        </p:nvSpPr>
        <p:spPr>
          <a:xfrm flipV="1">
            <a:off x="1343025" y="4749912"/>
            <a:ext cx="29146" cy="11893"/>
          </a:xfrm>
          <a:prstGeom prst="line">
            <a:avLst/>
          </a:prstGeom>
          <a:noFill/>
          <a:ln w="22225">
            <a:solidFill>
              <a:srgbClr val="2E8B57"/>
            </a:solidFill>
            <a:prstDash val="solid"/>
          </a:ln>
        </p:spPr>
      </p:sp>
      <p:sp>
        <p:nvSpPr>
          <p:cNvPr id="91" name="Shape 89"/>
          <p:cNvSpPr/>
          <p:nvPr/>
        </p:nvSpPr>
        <p:spPr>
          <a:xfrm flipV="1">
            <a:off x="1372172" y="4745736"/>
            <a:ext cx="29146" cy="4176"/>
          </a:xfrm>
          <a:prstGeom prst="line">
            <a:avLst/>
          </a:prstGeom>
          <a:noFill/>
          <a:ln w="22225">
            <a:solidFill>
              <a:srgbClr val="2E8B57"/>
            </a:solidFill>
            <a:prstDash val="solid"/>
          </a:ln>
        </p:spPr>
      </p:sp>
      <p:sp>
        <p:nvSpPr>
          <p:cNvPr id="92" name="Shape 90"/>
          <p:cNvSpPr/>
          <p:nvPr/>
        </p:nvSpPr>
        <p:spPr>
          <a:xfrm>
            <a:off x="1401318" y="4745736"/>
            <a:ext cx="29147" cy="4176"/>
          </a:xfrm>
          <a:prstGeom prst="line">
            <a:avLst/>
          </a:prstGeom>
          <a:noFill/>
          <a:ln w="22225">
            <a:solidFill>
              <a:srgbClr val="2E8B57"/>
            </a:solidFill>
            <a:prstDash val="solid"/>
          </a:ln>
        </p:spPr>
      </p:sp>
      <p:sp>
        <p:nvSpPr>
          <p:cNvPr id="93" name="Shape 91"/>
          <p:cNvSpPr/>
          <p:nvPr/>
        </p:nvSpPr>
        <p:spPr>
          <a:xfrm>
            <a:off x="1430464" y="4749912"/>
            <a:ext cx="29147" cy="11893"/>
          </a:xfrm>
          <a:prstGeom prst="line">
            <a:avLst/>
          </a:prstGeom>
          <a:noFill/>
          <a:ln w="22225">
            <a:solidFill>
              <a:srgbClr val="2E8B57"/>
            </a:solidFill>
            <a:prstDash val="solid"/>
          </a:ln>
        </p:spPr>
      </p:sp>
      <p:sp>
        <p:nvSpPr>
          <p:cNvPr id="94" name="Shape 92"/>
          <p:cNvSpPr/>
          <p:nvPr/>
        </p:nvSpPr>
        <p:spPr>
          <a:xfrm>
            <a:off x="1459611" y="4761805"/>
            <a:ext cx="29146" cy="17799"/>
          </a:xfrm>
          <a:prstGeom prst="line">
            <a:avLst/>
          </a:prstGeom>
          <a:noFill/>
          <a:ln w="22225">
            <a:solidFill>
              <a:srgbClr val="2E8B57"/>
            </a:solidFill>
            <a:prstDash val="solid"/>
          </a:ln>
        </p:spPr>
      </p:sp>
      <p:sp>
        <p:nvSpPr>
          <p:cNvPr id="95" name="Shape 93"/>
          <p:cNvSpPr/>
          <p:nvPr/>
        </p:nvSpPr>
        <p:spPr>
          <a:xfrm>
            <a:off x="1488757" y="4779604"/>
            <a:ext cx="29147" cy="20996"/>
          </a:xfrm>
          <a:prstGeom prst="line">
            <a:avLst/>
          </a:prstGeom>
          <a:noFill/>
          <a:ln w="22225">
            <a:solidFill>
              <a:srgbClr val="2E8B57"/>
            </a:solidFill>
            <a:prstDash val="solid"/>
          </a:ln>
        </p:spPr>
      </p:sp>
      <p:sp>
        <p:nvSpPr>
          <p:cNvPr id="96" name="Shape 94"/>
          <p:cNvSpPr/>
          <p:nvPr/>
        </p:nvSpPr>
        <p:spPr>
          <a:xfrm>
            <a:off x="1517904" y="4800600"/>
            <a:ext cx="29147" cy="20996"/>
          </a:xfrm>
          <a:prstGeom prst="line">
            <a:avLst/>
          </a:prstGeom>
          <a:noFill/>
          <a:ln w="22225">
            <a:solidFill>
              <a:srgbClr val="2E8B57"/>
            </a:solidFill>
            <a:prstDash val="solid"/>
          </a:ln>
        </p:spPr>
      </p:sp>
      <p:sp>
        <p:nvSpPr>
          <p:cNvPr id="97" name="Shape 95"/>
          <p:cNvSpPr/>
          <p:nvPr/>
        </p:nvSpPr>
        <p:spPr>
          <a:xfrm>
            <a:off x="1547051" y="4821596"/>
            <a:ext cx="29146" cy="17799"/>
          </a:xfrm>
          <a:prstGeom prst="line">
            <a:avLst/>
          </a:prstGeom>
          <a:noFill/>
          <a:ln w="22225">
            <a:solidFill>
              <a:srgbClr val="2E8B57"/>
            </a:solidFill>
            <a:prstDash val="solid"/>
          </a:ln>
        </p:spPr>
      </p:sp>
      <p:sp>
        <p:nvSpPr>
          <p:cNvPr id="98" name="Shape 96"/>
          <p:cNvSpPr/>
          <p:nvPr/>
        </p:nvSpPr>
        <p:spPr>
          <a:xfrm>
            <a:off x="1576197" y="4839395"/>
            <a:ext cx="29146" cy="11893"/>
          </a:xfrm>
          <a:prstGeom prst="line">
            <a:avLst/>
          </a:prstGeom>
          <a:noFill/>
          <a:ln w="22225">
            <a:solidFill>
              <a:srgbClr val="2E8B57"/>
            </a:solidFill>
            <a:prstDash val="solid"/>
          </a:ln>
        </p:spPr>
      </p:sp>
      <p:sp>
        <p:nvSpPr>
          <p:cNvPr id="99" name="Shape 97"/>
          <p:cNvSpPr/>
          <p:nvPr/>
        </p:nvSpPr>
        <p:spPr>
          <a:xfrm>
            <a:off x="1605343" y="4851288"/>
            <a:ext cx="29147" cy="4176"/>
          </a:xfrm>
          <a:prstGeom prst="line">
            <a:avLst/>
          </a:prstGeom>
          <a:noFill/>
          <a:ln w="22225">
            <a:solidFill>
              <a:srgbClr val="2E8B57"/>
            </a:solidFill>
            <a:prstDash val="solid"/>
          </a:ln>
        </p:spPr>
      </p:sp>
      <p:sp>
        <p:nvSpPr>
          <p:cNvPr id="100" name="Shape 98"/>
          <p:cNvSpPr/>
          <p:nvPr/>
        </p:nvSpPr>
        <p:spPr>
          <a:xfrm flipV="1">
            <a:off x="1634490" y="4851288"/>
            <a:ext cx="29147" cy="4176"/>
          </a:xfrm>
          <a:prstGeom prst="line">
            <a:avLst/>
          </a:prstGeom>
          <a:noFill/>
          <a:ln w="22225">
            <a:solidFill>
              <a:srgbClr val="2E8B57"/>
            </a:solidFill>
            <a:prstDash val="solid"/>
          </a:ln>
        </p:spPr>
      </p:sp>
      <p:sp>
        <p:nvSpPr>
          <p:cNvPr id="101" name="Shape 99"/>
          <p:cNvSpPr/>
          <p:nvPr/>
        </p:nvSpPr>
        <p:spPr>
          <a:xfrm flipV="1">
            <a:off x="1663637" y="4839395"/>
            <a:ext cx="29146" cy="11893"/>
          </a:xfrm>
          <a:prstGeom prst="line">
            <a:avLst/>
          </a:prstGeom>
          <a:noFill/>
          <a:ln w="22225">
            <a:solidFill>
              <a:srgbClr val="2E8B57"/>
            </a:solidFill>
            <a:prstDash val="solid"/>
          </a:ln>
        </p:spPr>
      </p:sp>
      <p:sp>
        <p:nvSpPr>
          <p:cNvPr id="102" name="Shape 100"/>
          <p:cNvSpPr/>
          <p:nvPr/>
        </p:nvSpPr>
        <p:spPr>
          <a:xfrm flipV="1">
            <a:off x="1692783" y="4821596"/>
            <a:ext cx="29146" cy="17799"/>
          </a:xfrm>
          <a:prstGeom prst="line">
            <a:avLst/>
          </a:prstGeom>
          <a:noFill/>
          <a:ln w="22225">
            <a:solidFill>
              <a:srgbClr val="2E8B57"/>
            </a:solidFill>
            <a:prstDash val="solid"/>
          </a:ln>
        </p:spPr>
      </p:sp>
      <p:sp>
        <p:nvSpPr>
          <p:cNvPr id="103" name="Shape 101"/>
          <p:cNvSpPr/>
          <p:nvPr/>
        </p:nvSpPr>
        <p:spPr>
          <a:xfrm flipV="1">
            <a:off x="1721929" y="4800600"/>
            <a:ext cx="29147" cy="20996"/>
          </a:xfrm>
          <a:prstGeom prst="line">
            <a:avLst/>
          </a:prstGeom>
          <a:noFill/>
          <a:ln w="22225">
            <a:solidFill>
              <a:srgbClr val="2E8B57"/>
            </a:solidFill>
            <a:prstDash val="solid"/>
          </a:ln>
        </p:spPr>
      </p:sp>
      <p:sp>
        <p:nvSpPr>
          <p:cNvPr id="104" name="Shape 102"/>
          <p:cNvSpPr/>
          <p:nvPr/>
        </p:nvSpPr>
        <p:spPr>
          <a:xfrm flipV="1">
            <a:off x="1751076" y="4779604"/>
            <a:ext cx="29147" cy="20996"/>
          </a:xfrm>
          <a:prstGeom prst="line">
            <a:avLst/>
          </a:prstGeom>
          <a:noFill/>
          <a:ln w="22225">
            <a:solidFill>
              <a:srgbClr val="2E8B57"/>
            </a:solidFill>
            <a:prstDash val="solid"/>
          </a:ln>
        </p:spPr>
      </p:sp>
      <p:sp>
        <p:nvSpPr>
          <p:cNvPr id="105" name="Shape 103"/>
          <p:cNvSpPr/>
          <p:nvPr/>
        </p:nvSpPr>
        <p:spPr>
          <a:xfrm flipV="1">
            <a:off x="1780223" y="4761805"/>
            <a:ext cx="29146" cy="17799"/>
          </a:xfrm>
          <a:prstGeom prst="line">
            <a:avLst/>
          </a:prstGeom>
          <a:noFill/>
          <a:ln w="22225">
            <a:solidFill>
              <a:srgbClr val="2E8B57"/>
            </a:solidFill>
            <a:prstDash val="solid"/>
          </a:ln>
        </p:spPr>
      </p:sp>
      <p:sp>
        <p:nvSpPr>
          <p:cNvPr id="106" name="Shape 104"/>
          <p:cNvSpPr/>
          <p:nvPr/>
        </p:nvSpPr>
        <p:spPr>
          <a:xfrm flipV="1">
            <a:off x="1809369" y="4749912"/>
            <a:ext cx="29147" cy="11893"/>
          </a:xfrm>
          <a:prstGeom prst="line">
            <a:avLst/>
          </a:prstGeom>
          <a:noFill/>
          <a:ln w="22225">
            <a:solidFill>
              <a:srgbClr val="2E8B57"/>
            </a:solidFill>
            <a:prstDash val="solid"/>
          </a:ln>
        </p:spPr>
      </p:sp>
      <p:sp>
        <p:nvSpPr>
          <p:cNvPr id="107" name="Shape 105"/>
          <p:cNvSpPr/>
          <p:nvPr/>
        </p:nvSpPr>
        <p:spPr>
          <a:xfrm flipV="1">
            <a:off x="1838516" y="4745736"/>
            <a:ext cx="29146" cy="4176"/>
          </a:xfrm>
          <a:prstGeom prst="line">
            <a:avLst/>
          </a:prstGeom>
          <a:noFill/>
          <a:ln w="22225">
            <a:solidFill>
              <a:srgbClr val="2E8B57"/>
            </a:solidFill>
            <a:prstDash val="solid"/>
          </a:ln>
        </p:spPr>
      </p:sp>
      <p:sp>
        <p:nvSpPr>
          <p:cNvPr id="108" name="Shape 106"/>
          <p:cNvSpPr/>
          <p:nvPr/>
        </p:nvSpPr>
        <p:spPr>
          <a:xfrm>
            <a:off x="1867662" y="4745736"/>
            <a:ext cx="29147" cy="4176"/>
          </a:xfrm>
          <a:prstGeom prst="line">
            <a:avLst/>
          </a:prstGeom>
          <a:noFill/>
          <a:ln w="22225">
            <a:solidFill>
              <a:srgbClr val="2E8B57"/>
            </a:solidFill>
            <a:prstDash val="solid"/>
          </a:ln>
        </p:spPr>
      </p:sp>
      <p:sp>
        <p:nvSpPr>
          <p:cNvPr id="109" name="Shape 107"/>
          <p:cNvSpPr/>
          <p:nvPr/>
        </p:nvSpPr>
        <p:spPr>
          <a:xfrm>
            <a:off x="1896808" y="4749912"/>
            <a:ext cx="29146" cy="11893"/>
          </a:xfrm>
          <a:prstGeom prst="line">
            <a:avLst/>
          </a:prstGeom>
          <a:noFill/>
          <a:ln w="22225">
            <a:solidFill>
              <a:srgbClr val="2E8B57"/>
            </a:solidFill>
            <a:prstDash val="solid"/>
          </a:ln>
        </p:spPr>
      </p:sp>
      <p:sp>
        <p:nvSpPr>
          <p:cNvPr id="110" name="Shape 108"/>
          <p:cNvSpPr/>
          <p:nvPr/>
        </p:nvSpPr>
        <p:spPr>
          <a:xfrm>
            <a:off x="1925955" y="4761805"/>
            <a:ext cx="29146" cy="17799"/>
          </a:xfrm>
          <a:prstGeom prst="line">
            <a:avLst/>
          </a:prstGeom>
          <a:noFill/>
          <a:ln w="22225">
            <a:solidFill>
              <a:srgbClr val="2E8B57"/>
            </a:solidFill>
            <a:prstDash val="solid"/>
          </a:ln>
        </p:spPr>
      </p:sp>
      <p:sp>
        <p:nvSpPr>
          <p:cNvPr id="111" name="Shape 109"/>
          <p:cNvSpPr/>
          <p:nvPr/>
        </p:nvSpPr>
        <p:spPr>
          <a:xfrm>
            <a:off x="1955101" y="4779604"/>
            <a:ext cx="29147" cy="20996"/>
          </a:xfrm>
          <a:prstGeom prst="line">
            <a:avLst/>
          </a:prstGeom>
          <a:noFill/>
          <a:ln w="22225">
            <a:solidFill>
              <a:srgbClr val="2E8B57"/>
            </a:solidFill>
            <a:prstDash val="solid"/>
          </a:ln>
        </p:spPr>
      </p:sp>
      <p:sp>
        <p:nvSpPr>
          <p:cNvPr id="112" name="Shape 110"/>
          <p:cNvSpPr/>
          <p:nvPr/>
        </p:nvSpPr>
        <p:spPr>
          <a:xfrm>
            <a:off x="1984248" y="4800600"/>
            <a:ext cx="29146" cy="20996"/>
          </a:xfrm>
          <a:prstGeom prst="line">
            <a:avLst/>
          </a:prstGeom>
          <a:noFill/>
          <a:ln w="22225">
            <a:solidFill>
              <a:srgbClr val="2E8B57"/>
            </a:solidFill>
            <a:prstDash val="solid"/>
          </a:ln>
        </p:spPr>
      </p:sp>
      <p:sp>
        <p:nvSpPr>
          <p:cNvPr id="113" name="Shape 111"/>
          <p:cNvSpPr/>
          <p:nvPr/>
        </p:nvSpPr>
        <p:spPr>
          <a:xfrm>
            <a:off x="2013394" y="4821596"/>
            <a:ext cx="29146" cy="17799"/>
          </a:xfrm>
          <a:prstGeom prst="line">
            <a:avLst/>
          </a:prstGeom>
          <a:noFill/>
          <a:ln w="22225">
            <a:solidFill>
              <a:srgbClr val="2E8B57"/>
            </a:solidFill>
            <a:prstDash val="solid"/>
          </a:ln>
        </p:spPr>
      </p:sp>
      <p:sp>
        <p:nvSpPr>
          <p:cNvPr id="114" name="Shape 112"/>
          <p:cNvSpPr/>
          <p:nvPr/>
        </p:nvSpPr>
        <p:spPr>
          <a:xfrm>
            <a:off x="2042541" y="4839395"/>
            <a:ext cx="29147" cy="11893"/>
          </a:xfrm>
          <a:prstGeom prst="line">
            <a:avLst/>
          </a:prstGeom>
          <a:noFill/>
          <a:ln w="22225">
            <a:solidFill>
              <a:srgbClr val="2E8B57"/>
            </a:solidFill>
            <a:prstDash val="solid"/>
          </a:ln>
        </p:spPr>
      </p:sp>
      <p:sp>
        <p:nvSpPr>
          <p:cNvPr id="115" name="Shape 113"/>
          <p:cNvSpPr/>
          <p:nvPr/>
        </p:nvSpPr>
        <p:spPr>
          <a:xfrm>
            <a:off x="2071688" y="4851288"/>
            <a:ext cx="29146" cy="4176"/>
          </a:xfrm>
          <a:prstGeom prst="line">
            <a:avLst/>
          </a:prstGeom>
          <a:noFill/>
          <a:ln w="22225">
            <a:solidFill>
              <a:srgbClr val="2E8B57"/>
            </a:solidFill>
            <a:prstDash val="solid"/>
          </a:ln>
        </p:spPr>
      </p:sp>
      <p:sp>
        <p:nvSpPr>
          <p:cNvPr id="116" name="Shape 114"/>
          <p:cNvSpPr/>
          <p:nvPr/>
        </p:nvSpPr>
        <p:spPr>
          <a:xfrm flipV="1">
            <a:off x="2100834" y="4851288"/>
            <a:ext cx="29146" cy="4176"/>
          </a:xfrm>
          <a:prstGeom prst="line">
            <a:avLst/>
          </a:prstGeom>
          <a:noFill/>
          <a:ln w="22225">
            <a:solidFill>
              <a:srgbClr val="2E8B57"/>
            </a:solidFill>
            <a:prstDash val="solid"/>
          </a:ln>
        </p:spPr>
      </p:sp>
      <p:sp>
        <p:nvSpPr>
          <p:cNvPr id="117" name="Shape 115"/>
          <p:cNvSpPr/>
          <p:nvPr/>
        </p:nvSpPr>
        <p:spPr>
          <a:xfrm flipV="1">
            <a:off x="2129981" y="4839395"/>
            <a:ext cx="29147" cy="11893"/>
          </a:xfrm>
          <a:prstGeom prst="line">
            <a:avLst/>
          </a:prstGeom>
          <a:noFill/>
          <a:ln w="22225">
            <a:solidFill>
              <a:srgbClr val="2E8B57"/>
            </a:solidFill>
            <a:prstDash val="solid"/>
          </a:ln>
        </p:spPr>
      </p:sp>
      <p:sp>
        <p:nvSpPr>
          <p:cNvPr id="118" name="Shape 116"/>
          <p:cNvSpPr/>
          <p:nvPr/>
        </p:nvSpPr>
        <p:spPr>
          <a:xfrm flipV="1">
            <a:off x="2159127" y="4821596"/>
            <a:ext cx="29146" cy="17799"/>
          </a:xfrm>
          <a:prstGeom prst="line">
            <a:avLst/>
          </a:prstGeom>
          <a:noFill/>
          <a:ln w="22225">
            <a:solidFill>
              <a:srgbClr val="2E8B57"/>
            </a:solidFill>
            <a:prstDash val="solid"/>
          </a:ln>
        </p:spPr>
      </p:sp>
      <p:sp>
        <p:nvSpPr>
          <p:cNvPr id="119" name="Shape 117"/>
          <p:cNvSpPr/>
          <p:nvPr/>
        </p:nvSpPr>
        <p:spPr>
          <a:xfrm flipV="1">
            <a:off x="2188273" y="4800600"/>
            <a:ext cx="29147" cy="20996"/>
          </a:xfrm>
          <a:prstGeom prst="line">
            <a:avLst/>
          </a:prstGeom>
          <a:noFill/>
          <a:ln w="22225">
            <a:solidFill>
              <a:srgbClr val="2E8B57"/>
            </a:solidFill>
            <a:prstDash val="solid"/>
          </a:ln>
        </p:spPr>
      </p:sp>
      <p:sp>
        <p:nvSpPr>
          <p:cNvPr id="120" name="Shape 118"/>
          <p:cNvSpPr/>
          <p:nvPr/>
        </p:nvSpPr>
        <p:spPr>
          <a:xfrm flipV="1">
            <a:off x="2217420" y="4779604"/>
            <a:ext cx="29146" cy="20996"/>
          </a:xfrm>
          <a:prstGeom prst="line">
            <a:avLst/>
          </a:prstGeom>
          <a:noFill/>
          <a:ln w="22225">
            <a:solidFill>
              <a:srgbClr val="2E8B57"/>
            </a:solidFill>
            <a:prstDash val="solid"/>
          </a:ln>
        </p:spPr>
      </p:sp>
      <p:sp>
        <p:nvSpPr>
          <p:cNvPr id="121" name="Shape 119"/>
          <p:cNvSpPr/>
          <p:nvPr/>
        </p:nvSpPr>
        <p:spPr>
          <a:xfrm flipV="1">
            <a:off x="2246566" y="4761805"/>
            <a:ext cx="29146" cy="17799"/>
          </a:xfrm>
          <a:prstGeom prst="line">
            <a:avLst/>
          </a:prstGeom>
          <a:noFill/>
          <a:ln w="22225">
            <a:solidFill>
              <a:srgbClr val="2E8B57"/>
            </a:solidFill>
            <a:prstDash val="solid"/>
          </a:ln>
        </p:spPr>
      </p:sp>
      <p:sp>
        <p:nvSpPr>
          <p:cNvPr id="122" name="Shape 120"/>
          <p:cNvSpPr/>
          <p:nvPr/>
        </p:nvSpPr>
        <p:spPr>
          <a:xfrm flipV="1">
            <a:off x="2275713" y="4749912"/>
            <a:ext cx="29147" cy="11893"/>
          </a:xfrm>
          <a:prstGeom prst="line">
            <a:avLst/>
          </a:prstGeom>
          <a:noFill/>
          <a:ln w="22225">
            <a:solidFill>
              <a:srgbClr val="2E8B57"/>
            </a:solidFill>
            <a:prstDash val="solid"/>
          </a:ln>
        </p:spPr>
      </p:sp>
      <p:sp>
        <p:nvSpPr>
          <p:cNvPr id="123" name="Shape 121"/>
          <p:cNvSpPr/>
          <p:nvPr/>
        </p:nvSpPr>
        <p:spPr>
          <a:xfrm flipV="1">
            <a:off x="2304860" y="4745736"/>
            <a:ext cx="29147" cy="4176"/>
          </a:xfrm>
          <a:prstGeom prst="line">
            <a:avLst/>
          </a:prstGeom>
          <a:noFill/>
          <a:ln w="22225">
            <a:solidFill>
              <a:srgbClr val="2E8B57"/>
            </a:solidFill>
            <a:prstDash val="solid"/>
          </a:ln>
        </p:spPr>
      </p:sp>
      <p:sp>
        <p:nvSpPr>
          <p:cNvPr id="124" name="Shape 122"/>
          <p:cNvSpPr/>
          <p:nvPr/>
        </p:nvSpPr>
        <p:spPr>
          <a:xfrm>
            <a:off x="2334006" y="4745736"/>
            <a:ext cx="29146" cy="4176"/>
          </a:xfrm>
          <a:prstGeom prst="line">
            <a:avLst/>
          </a:prstGeom>
          <a:noFill/>
          <a:ln w="22225">
            <a:solidFill>
              <a:srgbClr val="2E8B57"/>
            </a:solidFill>
            <a:prstDash val="solid"/>
          </a:ln>
        </p:spPr>
      </p:sp>
      <p:sp>
        <p:nvSpPr>
          <p:cNvPr id="125" name="Shape 123"/>
          <p:cNvSpPr/>
          <p:nvPr/>
        </p:nvSpPr>
        <p:spPr>
          <a:xfrm>
            <a:off x="2363152" y="4749912"/>
            <a:ext cx="29147" cy="11893"/>
          </a:xfrm>
          <a:prstGeom prst="line">
            <a:avLst/>
          </a:prstGeom>
          <a:noFill/>
          <a:ln w="22225">
            <a:solidFill>
              <a:srgbClr val="2E8B57"/>
            </a:solidFill>
            <a:prstDash val="solid"/>
          </a:ln>
        </p:spPr>
      </p:sp>
      <p:sp>
        <p:nvSpPr>
          <p:cNvPr id="126" name="Shape 124"/>
          <p:cNvSpPr/>
          <p:nvPr/>
        </p:nvSpPr>
        <p:spPr>
          <a:xfrm>
            <a:off x="2392299" y="4761805"/>
            <a:ext cx="29146" cy="17799"/>
          </a:xfrm>
          <a:prstGeom prst="line">
            <a:avLst/>
          </a:prstGeom>
          <a:noFill/>
          <a:ln w="22225">
            <a:solidFill>
              <a:srgbClr val="2E8B57"/>
            </a:solidFill>
            <a:prstDash val="solid"/>
          </a:ln>
        </p:spPr>
      </p:sp>
      <p:sp>
        <p:nvSpPr>
          <p:cNvPr id="127" name="Shape 125"/>
          <p:cNvSpPr/>
          <p:nvPr/>
        </p:nvSpPr>
        <p:spPr>
          <a:xfrm>
            <a:off x="2421446" y="4779604"/>
            <a:ext cx="29146" cy="20996"/>
          </a:xfrm>
          <a:prstGeom prst="line">
            <a:avLst/>
          </a:prstGeom>
          <a:noFill/>
          <a:ln w="22225">
            <a:solidFill>
              <a:srgbClr val="2E8B57"/>
            </a:solidFill>
            <a:prstDash val="solid"/>
          </a:ln>
        </p:spPr>
      </p:sp>
      <p:sp>
        <p:nvSpPr>
          <p:cNvPr id="128" name="Shape 126"/>
          <p:cNvSpPr/>
          <p:nvPr/>
        </p:nvSpPr>
        <p:spPr>
          <a:xfrm>
            <a:off x="2450592" y="4800600"/>
            <a:ext cx="29147" cy="20996"/>
          </a:xfrm>
          <a:prstGeom prst="line">
            <a:avLst/>
          </a:prstGeom>
          <a:noFill/>
          <a:ln w="22225">
            <a:solidFill>
              <a:srgbClr val="2E8B57"/>
            </a:solidFill>
            <a:prstDash val="solid"/>
          </a:ln>
        </p:spPr>
      </p:sp>
      <p:sp>
        <p:nvSpPr>
          <p:cNvPr id="129" name="Shape 127"/>
          <p:cNvSpPr/>
          <p:nvPr/>
        </p:nvSpPr>
        <p:spPr>
          <a:xfrm>
            <a:off x="2479739" y="4821596"/>
            <a:ext cx="29146" cy="17799"/>
          </a:xfrm>
          <a:prstGeom prst="line">
            <a:avLst/>
          </a:prstGeom>
          <a:noFill/>
          <a:ln w="22225">
            <a:solidFill>
              <a:srgbClr val="2E8B57"/>
            </a:solidFill>
            <a:prstDash val="solid"/>
          </a:ln>
        </p:spPr>
      </p:sp>
      <p:sp>
        <p:nvSpPr>
          <p:cNvPr id="130" name="Shape 128"/>
          <p:cNvSpPr/>
          <p:nvPr/>
        </p:nvSpPr>
        <p:spPr>
          <a:xfrm>
            <a:off x="2508885" y="4839395"/>
            <a:ext cx="29146" cy="11893"/>
          </a:xfrm>
          <a:prstGeom prst="line">
            <a:avLst/>
          </a:prstGeom>
          <a:noFill/>
          <a:ln w="22225">
            <a:solidFill>
              <a:srgbClr val="2E8B57"/>
            </a:solidFill>
            <a:prstDash val="solid"/>
          </a:ln>
        </p:spPr>
      </p:sp>
      <p:sp>
        <p:nvSpPr>
          <p:cNvPr id="131" name="Shape 129"/>
          <p:cNvSpPr/>
          <p:nvPr/>
        </p:nvSpPr>
        <p:spPr>
          <a:xfrm>
            <a:off x="2538032" y="4851288"/>
            <a:ext cx="29147" cy="4176"/>
          </a:xfrm>
          <a:prstGeom prst="line">
            <a:avLst/>
          </a:prstGeom>
          <a:noFill/>
          <a:ln w="22225">
            <a:solidFill>
              <a:srgbClr val="2E8B57"/>
            </a:solidFill>
            <a:prstDash val="solid"/>
          </a:ln>
        </p:spPr>
      </p:sp>
      <p:sp>
        <p:nvSpPr>
          <p:cNvPr id="132" name="Shape 130"/>
          <p:cNvSpPr/>
          <p:nvPr/>
        </p:nvSpPr>
        <p:spPr>
          <a:xfrm flipV="1">
            <a:off x="2567178" y="4851288"/>
            <a:ext cx="29146" cy="4176"/>
          </a:xfrm>
          <a:prstGeom prst="line">
            <a:avLst/>
          </a:prstGeom>
          <a:noFill/>
          <a:ln w="22225">
            <a:solidFill>
              <a:srgbClr val="2E8B57"/>
            </a:solidFill>
            <a:prstDash val="solid"/>
          </a:ln>
        </p:spPr>
      </p:sp>
      <p:sp>
        <p:nvSpPr>
          <p:cNvPr id="133" name="Shape 131"/>
          <p:cNvSpPr/>
          <p:nvPr/>
        </p:nvSpPr>
        <p:spPr>
          <a:xfrm flipV="1">
            <a:off x="2596324" y="4839395"/>
            <a:ext cx="29147" cy="11893"/>
          </a:xfrm>
          <a:prstGeom prst="line">
            <a:avLst/>
          </a:prstGeom>
          <a:noFill/>
          <a:ln w="22225">
            <a:solidFill>
              <a:srgbClr val="2E8B57"/>
            </a:solidFill>
            <a:prstDash val="solid"/>
          </a:ln>
        </p:spPr>
      </p:sp>
      <p:sp>
        <p:nvSpPr>
          <p:cNvPr id="134" name="Shape 132"/>
          <p:cNvSpPr/>
          <p:nvPr/>
        </p:nvSpPr>
        <p:spPr>
          <a:xfrm flipV="1">
            <a:off x="2625471" y="4821596"/>
            <a:ext cx="29146" cy="17799"/>
          </a:xfrm>
          <a:prstGeom prst="line">
            <a:avLst/>
          </a:prstGeom>
          <a:noFill/>
          <a:ln w="22225">
            <a:solidFill>
              <a:srgbClr val="2E8B57"/>
            </a:solidFill>
            <a:prstDash val="solid"/>
          </a:ln>
        </p:spPr>
      </p:sp>
      <p:sp>
        <p:nvSpPr>
          <p:cNvPr id="135" name="Shape 133"/>
          <p:cNvSpPr/>
          <p:nvPr/>
        </p:nvSpPr>
        <p:spPr>
          <a:xfrm flipV="1">
            <a:off x="2654617" y="4800600"/>
            <a:ext cx="29146" cy="20996"/>
          </a:xfrm>
          <a:prstGeom prst="line">
            <a:avLst/>
          </a:prstGeom>
          <a:noFill/>
          <a:ln w="22225">
            <a:solidFill>
              <a:srgbClr val="2E8B57"/>
            </a:solidFill>
            <a:prstDash val="solid"/>
          </a:ln>
        </p:spPr>
      </p:sp>
      <p:sp>
        <p:nvSpPr>
          <p:cNvPr id="136" name="Shape 134"/>
          <p:cNvSpPr/>
          <p:nvPr/>
        </p:nvSpPr>
        <p:spPr>
          <a:xfrm flipV="1">
            <a:off x="2683764" y="4779604"/>
            <a:ext cx="29147" cy="20996"/>
          </a:xfrm>
          <a:prstGeom prst="line">
            <a:avLst/>
          </a:prstGeom>
          <a:noFill/>
          <a:ln w="22225">
            <a:solidFill>
              <a:srgbClr val="2E8B57"/>
            </a:solidFill>
            <a:prstDash val="solid"/>
          </a:ln>
        </p:spPr>
      </p:sp>
      <p:sp>
        <p:nvSpPr>
          <p:cNvPr id="137" name="Shape 135"/>
          <p:cNvSpPr/>
          <p:nvPr/>
        </p:nvSpPr>
        <p:spPr>
          <a:xfrm flipV="1">
            <a:off x="2712911" y="4761805"/>
            <a:ext cx="29146" cy="17799"/>
          </a:xfrm>
          <a:prstGeom prst="line">
            <a:avLst/>
          </a:prstGeom>
          <a:noFill/>
          <a:ln w="22225">
            <a:solidFill>
              <a:srgbClr val="2E8B57"/>
            </a:solidFill>
            <a:prstDash val="solid"/>
          </a:ln>
        </p:spPr>
      </p:sp>
      <p:sp>
        <p:nvSpPr>
          <p:cNvPr id="138" name="Shape 136"/>
          <p:cNvSpPr/>
          <p:nvPr/>
        </p:nvSpPr>
        <p:spPr>
          <a:xfrm flipV="1">
            <a:off x="2742057" y="4749912"/>
            <a:ext cx="29146" cy="11893"/>
          </a:xfrm>
          <a:prstGeom prst="line">
            <a:avLst/>
          </a:prstGeom>
          <a:noFill/>
          <a:ln w="22225">
            <a:solidFill>
              <a:srgbClr val="2E8B57"/>
            </a:solidFill>
            <a:prstDash val="solid"/>
          </a:ln>
        </p:spPr>
      </p:sp>
      <p:sp>
        <p:nvSpPr>
          <p:cNvPr id="139" name="Shape 137"/>
          <p:cNvSpPr/>
          <p:nvPr/>
        </p:nvSpPr>
        <p:spPr>
          <a:xfrm flipV="1">
            <a:off x="2771203" y="4745736"/>
            <a:ext cx="29147" cy="4176"/>
          </a:xfrm>
          <a:prstGeom prst="line">
            <a:avLst/>
          </a:prstGeom>
          <a:noFill/>
          <a:ln w="22225">
            <a:solidFill>
              <a:srgbClr val="2E8B57"/>
            </a:solidFill>
            <a:prstDash val="solid"/>
          </a:ln>
        </p:spPr>
      </p:sp>
      <p:sp>
        <p:nvSpPr>
          <p:cNvPr id="140" name="Shape 138"/>
          <p:cNvSpPr/>
          <p:nvPr/>
        </p:nvSpPr>
        <p:spPr>
          <a:xfrm>
            <a:off x="2800350" y="4745736"/>
            <a:ext cx="29146" cy="4176"/>
          </a:xfrm>
          <a:prstGeom prst="line">
            <a:avLst/>
          </a:prstGeom>
          <a:noFill/>
          <a:ln w="22225">
            <a:solidFill>
              <a:srgbClr val="2E8B57"/>
            </a:solidFill>
            <a:prstDash val="solid"/>
          </a:ln>
        </p:spPr>
      </p:sp>
      <p:sp>
        <p:nvSpPr>
          <p:cNvPr id="141" name="Shape 139"/>
          <p:cNvSpPr/>
          <p:nvPr/>
        </p:nvSpPr>
        <p:spPr>
          <a:xfrm>
            <a:off x="2829496" y="4749912"/>
            <a:ext cx="29147" cy="11893"/>
          </a:xfrm>
          <a:prstGeom prst="line">
            <a:avLst/>
          </a:prstGeom>
          <a:noFill/>
          <a:ln w="22225">
            <a:solidFill>
              <a:srgbClr val="2E8B57"/>
            </a:solidFill>
            <a:prstDash val="solid"/>
          </a:ln>
        </p:spPr>
      </p:sp>
      <p:sp>
        <p:nvSpPr>
          <p:cNvPr id="142" name="Shape 140"/>
          <p:cNvSpPr/>
          <p:nvPr/>
        </p:nvSpPr>
        <p:spPr>
          <a:xfrm>
            <a:off x="2858643" y="4761805"/>
            <a:ext cx="29146" cy="17799"/>
          </a:xfrm>
          <a:prstGeom prst="line">
            <a:avLst/>
          </a:prstGeom>
          <a:noFill/>
          <a:ln w="22225">
            <a:solidFill>
              <a:srgbClr val="2E8B57"/>
            </a:solidFill>
            <a:prstDash val="solid"/>
          </a:ln>
        </p:spPr>
      </p:sp>
      <p:sp>
        <p:nvSpPr>
          <p:cNvPr id="143" name="Shape 141"/>
          <p:cNvSpPr/>
          <p:nvPr/>
        </p:nvSpPr>
        <p:spPr>
          <a:xfrm>
            <a:off x="2887789" y="4779604"/>
            <a:ext cx="29147" cy="20996"/>
          </a:xfrm>
          <a:prstGeom prst="line">
            <a:avLst/>
          </a:prstGeom>
          <a:noFill/>
          <a:ln w="22225">
            <a:solidFill>
              <a:srgbClr val="2E8B57"/>
            </a:solidFill>
            <a:prstDash val="solid"/>
          </a:ln>
        </p:spPr>
      </p:sp>
      <p:sp>
        <p:nvSpPr>
          <p:cNvPr id="144" name="Shape 142"/>
          <p:cNvSpPr/>
          <p:nvPr/>
        </p:nvSpPr>
        <p:spPr>
          <a:xfrm>
            <a:off x="2916936" y="4800600"/>
            <a:ext cx="29146" cy="20996"/>
          </a:xfrm>
          <a:prstGeom prst="line">
            <a:avLst/>
          </a:prstGeom>
          <a:noFill/>
          <a:ln w="22225">
            <a:solidFill>
              <a:srgbClr val="2E8B57"/>
            </a:solidFill>
            <a:prstDash val="solid"/>
          </a:ln>
        </p:spPr>
      </p:sp>
      <p:sp>
        <p:nvSpPr>
          <p:cNvPr id="145" name="Shape 143"/>
          <p:cNvSpPr/>
          <p:nvPr/>
        </p:nvSpPr>
        <p:spPr>
          <a:xfrm>
            <a:off x="2946083" y="4821596"/>
            <a:ext cx="29146" cy="17799"/>
          </a:xfrm>
          <a:prstGeom prst="line">
            <a:avLst/>
          </a:prstGeom>
          <a:noFill/>
          <a:ln w="22225">
            <a:solidFill>
              <a:srgbClr val="2E8B57"/>
            </a:solidFill>
            <a:prstDash val="solid"/>
          </a:ln>
        </p:spPr>
      </p:sp>
      <p:sp>
        <p:nvSpPr>
          <p:cNvPr id="146" name="Shape 144"/>
          <p:cNvSpPr/>
          <p:nvPr/>
        </p:nvSpPr>
        <p:spPr>
          <a:xfrm>
            <a:off x="2975229" y="4839395"/>
            <a:ext cx="29147" cy="11893"/>
          </a:xfrm>
          <a:prstGeom prst="line">
            <a:avLst/>
          </a:prstGeom>
          <a:noFill/>
          <a:ln w="22225">
            <a:solidFill>
              <a:srgbClr val="2E8B57"/>
            </a:solidFill>
            <a:prstDash val="solid"/>
          </a:ln>
        </p:spPr>
      </p:sp>
      <p:sp>
        <p:nvSpPr>
          <p:cNvPr id="147" name="Shape 145"/>
          <p:cNvSpPr/>
          <p:nvPr/>
        </p:nvSpPr>
        <p:spPr>
          <a:xfrm>
            <a:off x="3004376" y="4851288"/>
            <a:ext cx="29146" cy="4176"/>
          </a:xfrm>
          <a:prstGeom prst="line">
            <a:avLst/>
          </a:prstGeom>
          <a:noFill/>
          <a:ln w="22225">
            <a:solidFill>
              <a:srgbClr val="2E8B57"/>
            </a:solidFill>
            <a:prstDash val="solid"/>
          </a:ln>
        </p:spPr>
      </p:sp>
      <p:sp>
        <p:nvSpPr>
          <p:cNvPr id="148" name="Shape 146"/>
          <p:cNvSpPr/>
          <p:nvPr/>
        </p:nvSpPr>
        <p:spPr>
          <a:xfrm flipV="1">
            <a:off x="3033522" y="4851288"/>
            <a:ext cx="29146" cy="4176"/>
          </a:xfrm>
          <a:prstGeom prst="line">
            <a:avLst/>
          </a:prstGeom>
          <a:noFill/>
          <a:ln w="22225">
            <a:solidFill>
              <a:srgbClr val="2E8B57"/>
            </a:solidFill>
            <a:prstDash val="solid"/>
          </a:ln>
        </p:spPr>
      </p:sp>
      <p:sp>
        <p:nvSpPr>
          <p:cNvPr id="149" name="Shape 147"/>
          <p:cNvSpPr/>
          <p:nvPr/>
        </p:nvSpPr>
        <p:spPr>
          <a:xfrm flipV="1">
            <a:off x="3062669" y="4839395"/>
            <a:ext cx="29146" cy="11893"/>
          </a:xfrm>
          <a:prstGeom prst="line">
            <a:avLst/>
          </a:prstGeom>
          <a:noFill/>
          <a:ln w="22225">
            <a:solidFill>
              <a:srgbClr val="2E8B57"/>
            </a:solidFill>
            <a:prstDash val="solid"/>
          </a:ln>
        </p:spPr>
      </p:sp>
      <p:sp>
        <p:nvSpPr>
          <p:cNvPr id="150" name="Shape 148"/>
          <p:cNvSpPr/>
          <p:nvPr/>
        </p:nvSpPr>
        <p:spPr>
          <a:xfrm flipV="1">
            <a:off x="3091815" y="4821596"/>
            <a:ext cx="29146" cy="17799"/>
          </a:xfrm>
          <a:prstGeom prst="line">
            <a:avLst/>
          </a:prstGeom>
          <a:noFill/>
          <a:ln w="22225">
            <a:solidFill>
              <a:srgbClr val="2E8B57"/>
            </a:solidFill>
            <a:prstDash val="solid"/>
          </a:ln>
        </p:spPr>
      </p:sp>
      <p:sp>
        <p:nvSpPr>
          <p:cNvPr id="151" name="Shape 149"/>
          <p:cNvSpPr/>
          <p:nvPr/>
        </p:nvSpPr>
        <p:spPr>
          <a:xfrm flipV="1">
            <a:off x="3120961" y="4800600"/>
            <a:ext cx="29147" cy="20996"/>
          </a:xfrm>
          <a:prstGeom prst="line">
            <a:avLst/>
          </a:prstGeom>
          <a:noFill/>
          <a:ln w="22225">
            <a:solidFill>
              <a:srgbClr val="2E8B57"/>
            </a:solidFill>
            <a:prstDash val="solid"/>
          </a:ln>
        </p:spPr>
      </p:sp>
      <p:sp>
        <p:nvSpPr>
          <p:cNvPr id="152" name="Shape 150"/>
          <p:cNvSpPr/>
          <p:nvPr/>
        </p:nvSpPr>
        <p:spPr>
          <a:xfrm flipV="1">
            <a:off x="3150108" y="4779604"/>
            <a:ext cx="29146" cy="20996"/>
          </a:xfrm>
          <a:prstGeom prst="line">
            <a:avLst/>
          </a:prstGeom>
          <a:noFill/>
          <a:ln w="22225">
            <a:solidFill>
              <a:srgbClr val="2E8B57"/>
            </a:solidFill>
            <a:prstDash val="solid"/>
          </a:ln>
        </p:spPr>
      </p:sp>
      <p:sp>
        <p:nvSpPr>
          <p:cNvPr id="153" name="Shape 151"/>
          <p:cNvSpPr/>
          <p:nvPr/>
        </p:nvSpPr>
        <p:spPr>
          <a:xfrm flipV="1">
            <a:off x="3179254" y="4761805"/>
            <a:ext cx="29147" cy="17799"/>
          </a:xfrm>
          <a:prstGeom prst="line">
            <a:avLst/>
          </a:prstGeom>
          <a:noFill/>
          <a:ln w="22225">
            <a:solidFill>
              <a:srgbClr val="2E8B57"/>
            </a:solidFill>
            <a:prstDash val="solid"/>
          </a:ln>
        </p:spPr>
      </p:sp>
      <p:sp>
        <p:nvSpPr>
          <p:cNvPr id="154" name="Shape 152"/>
          <p:cNvSpPr/>
          <p:nvPr/>
        </p:nvSpPr>
        <p:spPr>
          <a:xfrm flipV="1">
            <a:off x="3208401" y="4749912"/>
            <a:ext cx="29146" cy="11893"/>
          </a:xfrm>
          <a:prstGeom prst="line">
            <a:avLst/>
          </a:prstGeom>
          <a:noFill/>
          <a:ln w="22225">
            <a:solidFill>
              <a:srgbClr val="2E8B57"/>
            </a:solidFill>
            <a:prstDash val="solid"/>
          </a:ln>
        </p:spPr>
      </p:sp>
      <p:sp>
        <p:nvSpPr>
          <p:cNvPr id="155" name="Shape 153"/>
          <p:cNvSpPr/>
          <p:nvPr/>
        </p:nvSpPr>
        <p:spPr>
          <a:xfrm flipV="1">
            <a:off x="3237548" y="4745736"/>
            <a:ext cx="29146" cy="4176"/>
          </a:xfrm>
          <a:prstGeom prst="line">
            <a:avLst/>
          </a:prstGeom>
          <a:noFill/>
          <a:ln w="22225">
            <a:solidFill>
              <a:srgbClr val="2E8B57"/>
            </a:solidFill>
            <a:prstDash val="solid"/>
          </a:ln>
        </p:spPr>
      </p:sp>
      <p:sp>
        <p:nvSpPr>
          <p:cNvPr id="156" name="Shape 154"/>
          <p:cNvSpPr/>
          <p:nvPr/>
        </p:nvSpPr>
        <p:spPr>
          <a:xfrm>
            <a:off x="3266694" y="4745736"/>
            <a:ext cx="29146" cy="4176"/>
          </a:xfrm>
          <a:prstGeom prst="line">
            <a:avLst/>
          </a:prstGeom>
          <a:noFill/>
          <a:ln w="22225">
            <a:solidFill>
              <a:srgbClr val="2E8B57"/>
            </a:solidFill>
            <a:prstDash val="solid"/>
          </a:ln>
        </p:spPr>
      </p:sp>
      <p:sp>
        <p:nvSpPr>
          <p:cNvPr id="157" name="Shape 155"/>
          <p:cNvSpPr/>
          <p:nvPr/>
        </p:nvSpPr>
        <p:spPr>
          <a:xfrm>
            <a:off x="3295840" y="4749912"/>
            <a:ext cx="29146" cy="11893"/>
          </a:xfrm>
          <a:prstGeom prst="line">
            <a:avLst/>
          </a:prstGeom>
          <a:noFill/>
          <a:ln w="22225">
            <a:solidFill>
              <a:srgbClr val="2E8B57"/>
            </a:solidFill>
            <a:prstDash val="solid"/>
          </a:ln>
        </p:spPr>
      </p:sp>
      <p:sp>
        <p:nvSpPr>
          <p:cNvPr id="158" name="Shape 156"/>
          <p:cNvSpPr/>
          <p:nvPr/>
        </p:nvSpPr>
        <p:spPr>
          <a:xfrm>
            <a:off x="3324987" y="4761805"/>
            <a:ext cx="29147" cy="17799"/>
          </a:xfrm>
          <a:prstGeom prst="line">
            <a:avLst/>
          </a:prstGeom>
          <a:noFill/>
          <a:ln w="22225">
            <a:solidFill>
              <a:srgbClr val="2E8B57"/>
            </a:solidFill>
            <a:prstDash val="solid"/>
          </a:ln>
        </p:spPr>
      </p:sp>
      <p:sp>
        <p:nvSpPr>
          <p:cNvPr id="159" name="Shape 157"/>
          <p:cNvSpPr/>
          <p:nvPr/>
        </p:nvSpPr>
        <p:spPr>
          <a:xfrm>
            <a:off x="3354134" y="4779604"/>
            <a:ext cx="29146" cy="20996"/>
          </a:xfrm>
          <a:prstGeom prst="line">
            <a:avLst/>
          </a:prstGeom>
          <a:noFill/>
          <a:ln w="22225">
            <a:solidFill>
              <a:srgbClr val="2E8B57"/>
            </a:solidFill>
            <a:prstDash val="solid"/>
          </a:ln>
        </p:spPr>
      </p:sp>
      <p:sp>
        <p:nvSpPr>
          <p:cNvPr id="160" name="Shape 158"/>
          <p:cNvSpPr/>
          <p:nvPr/>
        </p:nvSpPr>
        <p:spPr>
          <a:xfrm>
            <a:off x="3383280" y="4800600"/>
            <a:ext cx="29146" cy="20996"/>
          </a:xfrm>
          <a:prstGeom prst="line">
            <a:avLst/>
          </a:prstGeom>
          <a:noFill/>
          <a:ln w="22225">
            <a:solidFill>
              <a:srgbClr val="2E8B57"/>
            </a:solidFill>
            <a:prstDash val="solid"/>
          </a:ln>
        </p:spPr>
      </p:sp>
      <p:sp>
        <p:nvSpPr>
          <p:cNvPr id="161" name="Shape 159"/>
          <p:cNvSpPr/>
          <p:nvPr/>
        </p:nvSpPr>
        <p:spPr>
          <a:xfrm>
            <a:off x="3412426" y="4821596"/>
            <a:ext cx="29146" cy="17799"/>
          </a:xfrm>
          <a:prstGeom prst="line">
            <a:avLst/>
          </a:prstGeom>
          <a:noFill/>
          <a:ln w="22225">
            <a:solidFill>
              <a:srgbClr val="2E8B57"/>
            </a:solidFill>
            <a:prstDash val="solid"/>
          </a:ln>
        </p:spPr>
      </p:sp>
      <p:sp>
        <p:nvSpPr>
          <p:cNvPr id="162" name="Shape 160"/>
          <p:cNvSpPr/>
          <p:nvPr/>
        </p:nvSpPr>
        <p:spPr>
          <a:xfrm>
            <a:off x="3441573" y="4839395"/>
            <a:ext cx="29147" cy="11893"/>
          </a:xfrm>
          <a:prstGeom prst="line">
            <a:avLst/>
          </a:prstGeom>
          <a:noFill/>
          <a:ln w="22225">
            <a:solidFill>
              <a:srgbClr val="2E8B57"/>
            </a:solidFill>
            <a:prstDash val="solid"/>
          </a:ln>
        </p:spPr>
      </p:sp>
      <p:sp>
        <p:nvSpPr>
          <p:cNvPr id="163" name="Shape 161"/>
          <p:cNvSpPr/>
          <p:nvPr/>
        </p:nvSpPr>
        <p:spPr>
          <a:xfrm>
            <a:off x="3470720" y="4851288"/>
            <a:ext cx="29146" cy="4176"/>
          </a:xfrm>
          <a:prstGeom prst="line">
            <a:avLst/>
          </a:prstGeom>
          <a:noFill/>
          <a:ln w="22225">
            <a:solidFill>
              <a:srgbClr val="2E8B57"/>
            </a:solidFill>
            <a:prstDash val="solid"/>
          </a:ln>
        </p:spPr>
      </p:sp>
      <p:sp>
        <p:nvSpPr>
          <p:cNvPr id="164" name="Shape 162"/>
          <p:cNvSpPr/>
          <p:nvPr/>
        </p:nvSpPr>
        <p:spPr>
          <a:xfrm flipV="1">
            <a:off x="3499866" y="4851288"/>
            <a:ext cx="29146" cy="4176"/>
          </a:xfrm>
          <a:prstGeom prst="line">
            <a:avLst/>
          </a:prstGeom>
          <a:noFill/>
          <a:ln w="22225">
            <a:solidFill>
              <a:srgbClr val="2E8B57"/>
            </a:solidFill>
            <a:prstDash val="solid"/>
          </a:ln>
        </p:spPr>
      </p:sp>
      <p:sp>
        <p:nvSpPr>
          <p:cNvPr id="165" name="Shape 163"/>
          <p:cNvSpPr/>
          <p:nvPr/>
        </p:nvSpPr>
        <p:spPr>
          <a:xfrm flipV="1">
            <a:off x="3529012" y="4839395"/>
            <a:ext cx="29146" cy="11893"/>
          </a:xfrm>
          <a:prstGeom prst="line">
            <a:avLst/>
          </a:prstGeom>
          <a:noFill/>
          <a:ln w="22225">
            <a:solidFill>
              <a:srgbClr val="2E8B57"/>
            </a:solidFill>
            <a:prstDash val="solid"/>
          </a:ln>
        </p:spPr>
      </p:sp>
      <p:sp>
        <p:nvSpPr>
          <p:cNvPr id="166" name="Shape 164"/>
          <p:cNvSpPr/>
          <p:nvPr/>
        </p:nvSpPr>
        <p:spPr>
          <a:xfrm flipV="1">
            <a:off x="3558159" y="4821596"/>
            <a:ext cx="29146" cy="17799"/>
          </a:xfrm>
          <a:prstGeom prst="line">
            <a:avLst/>
          </a:prstGeom>
          <a:noFill/>
          <a:ln w="22225">
            <a:solidFill>
              <a:srgbClr val="2E8B57"/>
            </a:solidFill>
            <a:prstDash val="solid"/>
          </a:ln>
        </p:spPr>
      </p:sp>
      <p:sp>
        <p:nvSpPr>
          <p:cNvPr id="167" name="Shape 165"/>
          <p:cNvSpPr/>
          <p:nvPr/>
        </p:nvSpPr>
        <p:spPr>
          <a:xfrm flipV="1">
            <a:off x="3587305" y="4800600"/>
            <a:ext cx="29147" cy="20996"/>
          </a:xfrm>
          <a:prstGeom prst="line">
            <a:avLst/>
          </a:prstGeom>
          <a:noFill/>
          <a:ln w="22225">
            <a:solidFill>
              <a:srgbClr val="2E8B57"/>
            </a:solidFill>
            <a:prstDash val="solid"/>
          </a:ln>
        </p:spPr>
      </p:sp>
      <p:sp>
        <p:nvSpPr>
          <p:cNvPr id="168" name="Shape 166"/>
          <p:cNvSpPr/>
          <p:nvPr/>
        </p:nvSpPr>
        <p:spPr>
          <a:xfrm flipV="1">
            <a:off x="3616452" y="4779604"/>
            <a:ext cx="29146" cy="20996"/>
          </a:xfrm>
          <a:prstGeom prst="line">
            <a:avLst/>
          </a:prstGeom>
          <a:noFill/>
          <a:ln w="22225">
            <a:solidFill>
              <a:srgbClr val="2E8B57"/>
            </a:solidFill>
            <a:prstDash val="solid"/>
          </a:ln>
        </p:spPr>
      </p:sp>
      <p:sp>
        <p:nvSpPr>
          <p:cNvPr id="169" name="Shape 167"/>
          <p:cNvSpPr/>
          <p:nvPr/>
        </p:nvSpPr>
        <p:spPr>
          <a:xfrm flipV="1">
            <a:off x="3645599" y="4761805"/>
            <a:ext cx="29146" cy="17799"/>
          </a:xfrm>
          <a:prstGeom prst="line">
            <a:avLst/>
          </a:prstGeom>
          <a:noFill/>
          <a:ln w="22225">
            <a:solidFill>
              <a:srgbClr val="2E8B57"/>
            </a:solidFill>
            <a:prstDash val="solid"/>
          </a:ln>
        </p:spPr>
      </p:sp>
      <p:sp>
        <p:nvSpPr>
          <p:cNvPr id="170" name="Shape 168"/>
          <p:cNvSpPr/>
          <p:nvPr/>
        </p:nvSpPr>
        <p:spPr>
          <a:xfrm flipV="1">
            <a:off x="3674745" y="4749912"/>
            <a:ext cx="29147" cy="11893"/>
          </a:xfrm>
          <a:prstGeom prst="line">
            <a:avLst/>
          </a:prstGeom>
          <a:noFill/>
          <a:ln w="22225">
            <a:solidFill>
              <a:srgbClr val="2E8B57"/>
            </a:solidFill>
            <a:prstDash val="solid"/>
          </a:ln>
        </p:spPr>
      </p:sp>
      <p:sp>
        <p:nvSpPr>
          <p:cNvPr id="171" name="Shape 169"/>
          <p:cNvSpPr/>
          <p:nvPr/>
        </p:nvSpPr>
        <p:spPr>
          <a:xfrm flipV="1">
            <a:off x="3703892" y="4745736"/>
            <a:ext cx="29146" cy="4176"/>
          </a:xfrm>
          <a:prstGeom prst="line">
            <a:avLst/>
          </a:prstGeom>
          <a:noFill/>
          <a:ln w="22225">
            <a:solidFill>
              <a:srgbClr val="2E8B57"/>
            </a:solidFill>
            <a:prstDash val="solid"/>
          </a:ln>
        </p:spPr>
      </p:sp>
      <p:sp>
        <p:nvSpPr>
          <p:cNvPr id="172" name="Shape 170"/>
          <p:cNvSpPr/>
          <p:nvPr/>
        </p:nvSpPr>
        <p:spPr>
          <a:xfrm>
            <a:off x="3733038" y="4745736"/>
            <a:ext cx="29147" cy="4176"/>
          </a:xfrm>
          <a:prstGeom prst="line">
            <a:avLst/>
          </a:prstGeom>
          <a:noFill/>
          <a:ln w="22225">
            <a:solidFill>
              <a:srgbClr val="2E8B57"/>
            </a:solidFill>
            <a:prstDash val="solid"/>
          </a:ln>
        </p:spPr>
      </p:sp>
      <p:sp>
        <p:nvSpPr>
          <p:cNvPr id="173" name="Shape 171"/>
          <p:cNvSpPr/>
          <p:nvPr/>
        </p:nvSpPr>
        <p:spPr>
          <a:xfrm>
            <a:off x="3762185" y="4749912"/>
            <a:ext cx="29147" cy="11893"/>
          </a:xfrm>
          <a:prstGeom prst="line">
            <a:avLst/>
          </a:prstGeom>
          <a:noFill/>
          <a:ln w="22225">
            <a:solidFill>
              <a:srgbClr val="2E8B57"/>
            </a:solidFill>
            <a:prstDash val="solid"/>
          </a:ln>
        </p:spPr>
      </p:sp>
      <p:sp>
        <p:nvSpPr>
          <p:cNvPr id="174" name="Shape 172"/>
          <p:cNvSpPr/>
          <p:nvPr/>
        </p:nvSpPr>
        <p:spPr>
          <a:xfrm>
            <a:off x="3791331" y="4761805"/>
            <a:ext cx="29146" cy="17799"/>
          </a:xfrm>
          <a:prstGeom prst="line">
            <a:avLst/>
          </a:prstGeom>
          <a:noFill/>
          <a:ln w="22225">
            <a:solidFill>
              <a:srgbClr val="2E8B57"/>
            </a:solidFill>
            <a:prstDash val="solid"/>
          </a:ln>
        </p:spPr>
      </p:sp>
      <p:sp>
        <p:nvSpPr>
          <p:cNvPr id="175" name="Shape 173"/>
          <p:cNvSpPr/>
          <p:nvPr/>
        </p:nvSpPr>
        <p:spPr>
          <a:xfrm>
            <a:off x="3820477" y="4779604"/>
            <a:ext cx="29146" cy="20996"/>
          </a:xfrm>
          <a:prstGeom prst="line">
            <a:avLst/>
          </a:prstGeom>
          <a:noFill/>
          <a:ln w="22225">
            <a:solidFill>
              <a:srgbClr val="2E8B57"/>
            </a:solidFill>
            <a:prstDash val="solid"/>
          </a:ln>
        </p:spPr>
      </p:sp>
      <p:sp>
        <p:nvSpPr>
          <p:cNvPr id="176" name="Shape 174"/>
          <p:cNvSpPr/>
          <p:nvPr/>
        </p:nvSpPr>
        <p:spPr>
          <a:xfrm>
            <a:off x="3849624" y="4800600"/>
            <a:ext cx="29147" cy="20996"/>
          </a:xfrm>
          <a:prstGeom prst="line">
            <a:avLst/>
          </a:prstGeom>
          <a:noFill/>
          <a:ln w="22225">
            <a:solidFill>
              <a:srgbClr val="2E8B57"/>
            </a:solidFill>
            <a:prstDash val="solid"/>
          </a:ln>
        </p:spPr>
      </p:sp>
      <p:sp>
        <p:nvSpPr>
          <p:cNvPr id="177" name="Shape 175"/>
          <p:cNvSpPr/>
          <p:nvPr/>
        </p:nvSpPr>
        <p:spPr>
          <a:xfrm>
            <a:off x="3878770" y="4821596"/>
            <a:ext cx="29147" cy="17799"/>
          </a:xfrm>
          <a:prstGeom prst="line">
            <a:avLst/>
          </a:prstGeom>
          <a:noFill/>
          <a:ln w="22225">
            <a:solidFill>
              <a:srgbClr val="2E8B57"/>
            </a:solidFill>
            <a:prstDash val="solid"/>
          </a:ln>
        </p:spPr>
      </p:sp>
      <p:sp>
        <p:nvSpPr>
          <p:cNvPr id="178" name="Shape 176"/>
          <p:cNvSpPr/>
          <p:nvPr/>
        </p:nvSpPr>
        <p:spPr>
          <a:xfrm>
            <a:off x="3907917" y="4839395"/>
            <a:ext cx="29146" cy="11893"/>
          </a:xfrm>
          <a:prstGeom prst="line">
            <a:avLst/>
          </a:prstGeom>
          <a:noFill/>
          <a:ln w="22225">
            <a:solidFill>
              <a:srgbClr val="2E8B57"/>
            </a:solidFill>
            <a:prstDash val="solid"/>
          </a:ln>
        </p:spPr>
      </p:sp>
      <p:sp>
        <p:nvSpPr>
          <p:cNvPr id="179" name="Shape 177"/>
          <p:cNvSpPr/>
          <p:nvPr/>
        </p:nvSpPr>
        <p:spPr>
          <a:xfrm>
            <a:off x="3937063" y="4851288"/>
            <a:ext cx="29147" cy="4176"/>
          </a:xfrm>
          <a:prstGeom prst="line">
            <a:avLst/>
          </a:prstGeom>
          <a:noFill/>
          <a:ln w="22225">
            <a:solidFill>
              <a:srgbClr val="2E8B57"/>
            </a:solidFill>
            <a:prstDash val="solid"/>
          </a:ln>
        </p:spPr>
      </p:sp>
      <p:sp>
        <p:nvSpPr>
          <p:cNvPr id="180" name="Shape 178"/>
          <p:cNvSpPr/>
          <p:nvPr/>
        </p:nvSpPr>
        <p:spPr>
          <a:xfrm flipV="1">
            <a:off x="3966210" y="4851288"/>
            <a:ext cx="29146" cy="4176"/>
          </a:xfrm>
          <a:prstGeom prst="line">
            <a:avLst/>
          </a:prstGeom>
          <a:noFill/>
          <a:ln w="22225">
            <a:solidFill>
              <a:srgbClr val="2E8B57"/>
            </a:solidFill>
            <a:prstDash val="solid"/>
          </a:ln>
        </p:spPr>
      </p:sp>
      <p:sp>
        <p:nvSpPr>
          <p:cNvPr id="181" name="Shape 179"/>
          <p:cNvSpPr/>
          <p:nvPr/>
        </p:nvSpPr>
        <p:spPr>
          <a:xfrm flipV="1">
            <a:off x="3995357" y="4839395"/>
            <a:ext cx="29146" cy="11893"/>
          </a:xfrm>
          <a:prstGeom prst="line">
            <a:avLst/>
          </a:prstGeom>
          <a:noFill/>
          <a:ln w="22225">
            <a:solidFill>
              <a:srgbClr val="2E8B57"/>
            </a:solidFill>
            <a:prstDash val="solid"/>
          </a:ln>
        </p:spPr>
      </p:sp>
      <p:sp>
        <p:nvSpPr>
          <p:cNvPr id="182" name="Shape 180"/>
          <p:cNvSpPr/>
          <p:nvPr/>
        </p:nvSpPr>
        <p:spPr>
          <a:xfrm flipV="1">
            <a:off x="4024503" y="4821596"/>
            <a:ext cx="29147" cy="17799"/>
          </a:xfrm>
          <a:prstGeom prst="line">
            <a:avLst/>
          </a:prstGeom>
          <a:noFill/>
          <a:ln w="22225">
            <a:solidFill>
              <a:srgbClr val="2E8B57"/>
            </a:solidFill>
            <a:prstDash val="solid"/>
          </a:ln>
        </p:spPr>
      </p:sp>
      <p:sp>
        <p:nvSpPr>
          <p:cNvPr id="183" name="Shape 181"/>
          <p:cNvSpPr/>
          <p:nvPr/>
        </p:nvSpPr>
        <p:spPr>
          <a:xfrm flipV="1">
            <a:off x="4053650" y="4800600"/>
            <a:ext cx="29146" cy="20996"/>
          </a:xfrm>
          <a:prstGeom prst="line">
            <a:avLst/>
          </a:prstGeom>
          <a:noFill/>
          <a:ln w="22225">
            <a:solidFill>
              <a:srgbClr val="2E8B57"/>
            </a:solidFill>
            <a:prstDash val="solid"/>
          </a:ln>
        </p:spPr>
      </p:sp>
      <p:sp>
        <p:nvSpPr>
          <p:cNvPr id="184" name="Shape 182"/>
          <p:cNvSpPr/>
          <p:nvPr/>
        </p:nvSpPr>
        <p:spPr>
          <a:xfrm flipV="1">
            <a:off x="4082796" y="4779604"/>
            <a:ext cx="29146" cy="20996"/>
          </a:xfrm>
          <a:prstGeom prst="line">
            <a:avLst/>
          </a:prstGeom>
          <a:noFill/>
          <a:ln w="22225">
            <a:solidFill>
              <a:srgbClr val="2E8B57"/>
            </a:solidFill>
            <a:prstDash val="solid"/>
          </a:ln>
        </p:spPr>
      </p:sp>
      <p:sp>
        <p:nvSpPr>
          <p:cNvPr id="185" name="Shape 183"/>
          <p:cNvSpPr/>
          <p:nvPr/>
        </p:nvSpPr>
        <p:spPr>
          <a:xfrm flipV="1">
            <a:off x="4111942" y="4761805"/>
            <a:ext cx="29147" cy="17799"/>
          </a:xfrm>
          <a:prstGeom prst="line">
            <a:avLst/>
          </a:prstGeom>
          <a:noFill/>
          <a:ln w="22225">
            <a:solidFill>
              <a:srgbClr val="2E8B57"/>
            </a:solidFill>
            <a:prstDash val="solid"/>
          </a:ln>
        </p:spPr>
      </p:sp>
      <p:sp>
        <p:nvSpPr>
          <p:cNvPr id="186" name="Shape 184"/>
          <p:cNvSpPr/>
          <p:nvPr/>
        </p:nvSpPr>
        <p:spPr>
          <a:xfrm flipV="1">
            <a:off x="4141089" y="4749912"/>
            <a:ext cx="29147" cy="11893"/>
          </a:xfrm>
          <a:prstGeom prst="line">
            <a:avLst/>
          </a:prstGeom>
          <a:noFill/>
          <a:ln w="22225">
            <a:solidFill>
              <a:srgbClr val="2E8B57"/>
            </a:solidFill>
            <a:prstDash val="solid"/>
          </a:ln>
        </p:spPr>
      </p:sp>
      <p:sp>
        <p:nvSpPr>
          <p:cNvPr id="187" name="Shape 185"/>
          <p:cNvSpPr/>
          <p:nvPr/>
        </p:nvSpPr>
        <p:spPr>
          <a:xfrm flipV="1">
            <a:off x="4170236" y="4745736"/>
            <a:ext cx="29146" cy="4176"/>
          </a:xfrm>
          <a:prstGeom prst="line">
            <a:avLst/>
          </a:prstGeom>
          <a:noFill/>
          <a:ln w="22225">
            <a:solidFill>
              <a:srgbClr val="2E8B57"/>
            </a:solidFill>
            <a:prstDash val="solid"/>
          </a:ln>
        </p:spPr>
      </p:sp>
      <p:sp>
        <p:nvSpPr>
          <p:cNvPr id="188" name="Shape 186"/>
          <p:cNvSpPr/>
          <p:nvPr/>
        </p:nvSpPr>
        <p:spPr>
          <a:xfrm>
            <a:off x="4199382" y="4745736"/>
            <a:ext cx="29147" cy="4176"/>
          </a:xfrm>
          <a:prstGeom prst="line">
            <a:avLst/>
          </a:prstGeom>
          <a:noFill/>
          <a:ln w="22225">
            <a:solidFill>
              <a:srgbClr val="2E8B57"/>
            </a:solidFill>
            <a:prstDash val="solid"/>
          </a:ln>
        </p:spPr>
      </p:sp>
      <p:sp>
        <p:nvSpPr>
          <p:cNvPr id="189" name="Shape 187"/>
          <p:cNvSpPr/>
          <p:nvPr/>
        </p:nvSpPr>
        <p:spPr>
          <a:xfrm>
            <a:off x="4228529" y="4749912"/>
            <a:ext cx="29147" cy="11893"/>
          </a:xfrm>
          <a:prstGeom prst="line">
            <a:avLst/>
          </a:prstGeom>
          <a:noFill/>
          <a:ln w="22225">
            <a:solidFill>
              <a:srgbClr val="2E8B57"/>
            </a:solidFill>
            <a:prstDash val="solid"/>
          </a:ln>
        </p:spPr>
      </p:sp>
      <p:sp>
        <p:nvSpPr>
          <p:cNvPr id="190" name="Shape 188"/>
          <p:cNvSpPr/>
          <p:nvPr/>
        </p:nvSpPr>
        <p:spPr>
          <a:xfrm>
            <a:off x="4257675" y="4761805"/>
            <a:ext cx="29146" cy="17799"/>
          </a:xfrm>
          <a:prstGeom prst="line">
            <a:avLst/>
          </a:prstGeom>
          <a:noFill/>
          <a:ln w="22225">
            <a:solidFill>
              <a:srgbClr val="2E8B57"/>
            </a:solidFill>
            <a:prstDash val="solid"/>
          </a:ln>
        </p:spPr>
      </p:sp>
      <p:sp>
        <p:nvSpPr>
          <p:cNvPr id="191" name="Shape 189"/>
          <p:cNvSpPr/>
          <p:nvPr/>
        </p:nvSpPr>
        <p:spPr>
          <a:xfrm>
            <a:off x="4286821" y="4779604"/>
            <a:ext cx="29146" cy="20996"/>
          </a:xfrm>
          <a:prstGeom prst="line">
            <a:avLst/>
          </a:prstGeom>
          <a:noFill/>
          <a:ln w="22225">
            <a:solidFill>
              <a:srgbClr val="2E8B57"/>
            </a:solidFill>
            <a:prstDash val="solid"/>
          </a:ln>
        </p:spPr>
      </p:sp>
      <p:sp>
        <p:nvSpPr>
          <p:cNvPr id="192" name="Shape 190"/>
          <p:cNvSpPr/>
          <p:nvPr/>
        </p:nvSpPr>
        <p:spPr>
          <a:xfrm>
            <a:off x="4315968" y="4800600"/>
            <a:ext cx="29147" cy="20996"/>
          </a:xfrm>
          <a:prstGeom prst="line">
            <a:avLst/>
          </a:prstGeom>
          <a:noFill/>
          <a:ln w="22225">
            <a:solidFill>
              <a:srgbClr val="2E8B57"/>
            </a:solidFill>
            <a:prstDash val="solid"/>
          </a:ln>
        </p:spPr>
      </p:sp>
      <p:sp>
        <p:nvSpPr>
          <p:cNvPr id="193" name="Shape 191"/>
          <p:cNvSpPr/>
          <p:nvPr/>
        </p:nvSpPr>
        <p:spPr>
          <a:xfrm>
            <a:off x="4345115" y="4821596"/>
            <a:ext cx="29146" cy="17799"/>
          </a:xfrm>
          <a:prstGeom prst="line">
            <a:avLst/>
          </a:prstGeom>
          <a:noFill/>
          <a:ln w="22225">
            <a:solidFill>
              <a:srgbClr val="2E8B57"/>
            </a:solidFill>
            <a:prstDash val="solid"/>
          </a:ln>
        </p:spPr>
      </p:sp>
      <p:sp>
        <p:nvSpPr>
          <p:cNvPr id="194" name="Shape 192"/>
          <p:cNvSpPr/>
          <p:nvPr/>
        </p:nvSpPr>
        <p:spPr>
          <a:xfrm>
            <a:off x="4374261" y="4839395"/>
            <a:ext cx="29147" cy="11893"/>
          </a:xfrm>
          <a:prstGeom prst="line">
            <a:avLst/>
          </a:prstGeom>
          <a:noFill/>
          <a:ln w="22225">
            <a:solidFill>
              <a:srgbClr val="2E8B57"/>
            </a:solidFill>
            <a:prstDash val="solid"/>
          </a:ln>
        </p:spPr>
      </p:sp>
      <p:sp>
        <p:nvSpPr>
          <p:cNvPr id="195" name="Shape 193"/>
          <p:cNvSpPr/>
          <p:nvPr/>
        </p:nvSpPr>
        <p:spPr>
          <a:xfrm>
            <a:off x="4403408" y="4851288"/>
            <a:ext cx="29147" cy="4176"/>
          </a:xfrm>
          <a:prstGeom prst="line">
            <a:avLst/>
          </a:prstGeom>
          <a:noFill/>
          <a:ln w="22225">
            <a:solidFill>
              <a:srgbClr val="2E8B57"/>
            </a:solidFill>
            <a:prstDash val="solid"/>
          </a:ln>
        </p:spPr>
      </p:sp>
      <p:sp>
        <p:nvSpPr>
          <p:cNvPr id="196" name="Shape 194"/>
          <p:cNvSpPr/>
          <p:nvPr/>
        </p:nvSpPr>
        <p:spPr>
          <a:xfrm flipV="1">
            <a:off x="4432554" y="4851288"/>
            <a:ext cx="29146" cy="4176"/>
          </a:xfrm>
          <a:prstGeom prst="line">
            <a:avLst/>
          </a:prstGeom>
          <a:noFill/>
          <a:ln w="22225">
            <a:solidFill>
              <a:srgbClr val="2E8B57"/>
            </a:solidFill>
            <a:prstDash val="solid"/>
          </a:ln>
        </p:spPr>
      </p:sp>
      <p:sp>
        <p:nvSpPr>
          <p:cNvPr id="197" name="Shape 195"/>
          <p:cNvSpPr/>
          <p:nvPr/>
        </p:nvSpPr>
        <p:spPr>
          <a:xfrm flipV="1">
            <a:off x="4461701" y="4839395"/>
            <a:ext cx="29147" cy="11893"/>
          </a:xfrm>
          <a:prstGeom prst="line">
            <a:avLst/>
          </a:prstGeom>
          <a:noFill/>
          <a:ln w="22225">
            <a:solidFill>
              <a:srgbClr val="2E8B57"/>
            </a:solidFill>
            <a:prstDash val="solid"/>
          </a:ln>
        </p:spPr>
      </p:sp>
      <p:sp>
        <p:nvSpPr>
          <p:cNvPr id="198" name="Shape 196"/>
          <p:cNvSpPr/>
          <p:nvPr/>
        </p:nvSpPr>
        <p:spPr>
          <a:xfrm flipV="1">
            <a:off x="4490847" y="4821596"/>
            <a:ext cx="29147" cy="17799"/>
          </a:xfrm>
          <a:prstGeom prst="line">
            <a:avLst/>
          </a:prstGeom>
          <a:noFill/>
          <a:ln w="22225">
            <a:solidFill>
              <a:srgbClr val="2E8B57"/>
            </a:solidFill>
            <a:prstDash val="solid"/>
          </a:ln>
        </p:spPr>
      </p:sp>
      <p:sp>
        <p:nvSpPr>
          <p:cNvPr id="199" name="Shape 197"/>
          <p:cNvSpPr/>
          <p:nvPr/>
        </p:nvSpPr>
        <p:spPr>
          <a:xfrm flipV="1">
            <a:off x="4519994" y="4800600"/>
            <a:ext cx="29146" cy="20996"/>
          </a:xfrm>
          <a:prstGeom prst="line">
            <a:avLst/>
          </a:prstGeom>
          <a:noFill/>
          <a:ln w="22225">
            <a:solidFill>
              <a:srgbClr val="2E8B57"/>
            </a:solidFill>
            <a:prstDash val="solid"/>
          </a:ln>
        </p:spPr>
      </p:sp>
      <p:sp>
        <p:nvSpPr>
          <p:cNvPr id="200" name="Shape 198"/>
          <p:cNvSpPr/>
          <p:nvPr/>
        </p:nvSpPr>
        <p:spPr>
          <a:xfrm flipV="1">
            <a:off x="4549140" y="4779604"/>
            <a:ext cx="29146" cy="20996"/>
          </a:xfrm>
          <a:prstGeom prst="line">
            <a:avLst/>
          </a:prstGeom>
          <a:noFill/>
          <a:ln w="22225">
            <a:solidFill>
              <a:srgbClr val="2E8B57"/>
            </a:solidFill>
            <a:prstDash val="solid"/>
          </a:ln>
        </p:spPr>
      </p:sp>
      <p:sp>
        <p:nvSpPr>
          <p:cNvPr id="201" name="Shape 199"/>
          <p:cNvSpPr/>
          <p:nvPr/>
        </p:nvSpPr>
        <p:spPr>
          <a:xfrm flipV="1">
            <a:off x="4578286" y="4761805"/>
            <a:ext cx="29147" cy="17799"/>
          </a:xfrm>
          <a:prstGeom prst="line">
            <a:avLst/>
          </a:prstGeom>
          <a:noFill/>
          <a:ln w="22225">
            <a:solidFill>
              <a:srgbClr val="2E8B57"/>
            </a:solidFill>
            <a:prstDash val="solid"/>
          </a:ln>
        </p:spPr>
      </p:sp>
      <p:sp>
        <p:nvSpPr>
          <p:cNvPr id="202" name="Shape 200"/>
          <p:cNvSpPr/>
          <p:nvPr/>
        </p:nvSpPr>
        <p:spPr>
          <a:xfrm flipV="1">
            <a:off x="4607433" y="4749912"/>
            <a:ext cx="29147" cy="11893"/>
          </a:xfrm>
          <a:prstGeom prst="line">
            <a:avLst/>
          </a:prstGeom>
          <a:noFill/>
          <a:ln w="22225">
            <a:solidFill>
              <a:srgbClr val="2E8B57"/>
            </a:solidFill>
            <a:prstDash val="solid"/>
          </a:ln>
        </p:spPr>
      </p:sp>
      <p:sp>
        <p:nvSpPr>
          <p:cNvPr id="203" name="Shape 201"/>
          <p:cNvSpPr/>
          <p:nvPr/>
        </p:nvSpPr>
        <p:spPr>
          <a:xfrm flipV="1">
            <a:off x="4636580" y="4745736"/>
            <a:ext cx="29146" cy="4176"/>
          </a:xfrm>
          <a:prstGeom prst="line">
            <a:avLst/>
          </a:prstGeom>
          <a:noFill/>
          <a:ln w="22225">
            <a:solidFill>
              <a:srgbClr val="2E8B57"/>
            </a:solidFill>
            <a:prstDash val="solid"/>
          </a:ln>
        </p:spPr>
      </p:sp>
      <p:sp>
        <p:nvSpPr>
          <p:cNvPr id="204" name="Shape 202"/>
          <p:cNvSpPr/>
          <p:nvPr/>
        </p:nvSpPr>
        <p:spPr>
          <a:xfrm>
            <a:off x="4665726" y="4745736"/>
            <a:ext cx="29147" cy="4176"/>
          </a:xfrm>
          <a:prstGeom prst="line">
            <a:avLst/>
          </a:prstGeom>
          <a:noFill/>
          <a:ln w="22225">
            <a:solidFill>
              <a:srgbClr val="2E8B57"/>
            </a:solidFill>
            <a:prstDash val="solid"/>
          </a:ln>
        </p:spPr>
      </p:sp>
      <p:sp>
        <p:nvSpPr>
          <p:cNvPr id="205" name="Shape 203"/>
          <p:cNvSpPr/>
          <p:nvPr/>
        </p:nvSpPr>
        <p:spPr>
          <a:xfrm>
            <a:off x="4694872" y="4749912"/>
            <a:ext cx="29147" cy="11893"/>
          </a:xfrm>
          <a:prstGeom prst="line">
            <a:avLst/>
          </a:prstGeom>
          <a:noFill/>
          <a:ln w="22225">
            <a:solidFill>
              <a:srgbClr val="2E8B57"/>
            </a:solidFill>
            <a:prstDash val="solid"/>
          </a:ln>
        </p:spPr>
      </p:sp>
      <p:sp>
        <p:nvSpPr>
          <p:cNvPr id="206" name="Shape 204"/>
          <p:cNvSpPr/>
          <p:nvPr/>
        </p:nvSpPr>
        <p:spPr>
          <a:xfrm>
            <a:off x="4724019" y="4761805"/>
            <a:ext cx="29146" cy="17799"/>
          </a:xfrm>
          <a:prstGeom prst="line">
            <a:avLst/>
          </a:prstGeom>
          <a:noFill/>
          <a:ln w="22225">
            <a:solidFill>
              <a:srgbClr val="2E8B57"/>
            </a:solidFill>
            <a:prstDash val="solid"/>
          </a:ln>
        </p:spPr>
      </p:sp>
      <p:sp>
        <p:nvSpPr>
          <p:cNvPr id="207" name="Shape 205"/>
          <p:cNvSpPr/>
          <p:nvPr/>
        </p:nvSpPr>
        <p:spPr>
          <a:xfrm>
            <a:off x="4753165" y="4779604"/>
            <a:ext cx="29147" cy="20996"/>
          </a:xfrm>
          <a:prstGeom prst="line">
            <a:avLst/>
          </a:prstGeom>
          <a:noFill/>
          <a:ln w="22225">
            <a:solidFill>
              <a:srgbClr val="2E8B57"/>
            </a:solidFill>
            <a:prstDash val="solid"/>
          </a:ln>
        </p:spPr>
      </p:sp>
      <p:sp>
        <p:nvSpPr>
          <p:cNvPr id="208" name="Shape 206"/>
          <p:cNvSpPr/>
          <p:nvPr/>
        </p:nvSpPr>
        <p:spPr>
          <a:xfrm>
            <a:off x="4782312" y="4800600"/>
            <a:ext cx="29146" cy="20996"/>
          </a:xfrm>
          <a:prstGeom prst="line">
            <a:avLst/>
          </a:prstGeom>
          <a:noFill/>
          <a:ln w="22225">
            <a:solidFill>
              <a:srgbClr val="2E8B57"/>
            </a:solidFill>
            <a:prstDash val="solid"/>
          </a:ln>
        </p:spPr>
      </p:sp>
      <p:sp>
        <p:nvSpPr>
          <p:cNvPr id="209" name="Shape 207"/>
          <p:cNvSpPr/>
          <p:nvPr/>
        </p:nvSpPr>
        <p:spPr>
          <a:xfrm>
            <a:off x="4811459" y="4821596"/>
            <a:ext cx="29146" cy="17799"/>
          </a:xfrm>
          <a:prstGeom prst="line">
            <a:avLst/>
          </a:prstGeom>
          <a:noFill/>
          <a:ln w="22225">
            <a:solidFill>
              <a:srgbClr val="2E8B57"/>
            </a:solidFill>
            <a:prstDash val="solid"/>
          </a:ln>
        </p:spPr>
      </p:sp>
      <p:sp>
        <p:nvSpPr>
          <p:cNvPr id="210" name="Shape 208"/>
          <p:cNvSpPr/>
          <p:nvPr/>
        </p:nvSpPr>
        <p:spPr>
          <a:xfrm>
            <a:off x="4840605" y="4839395"/>
            <a:ext cx="29146" cy="11893"/>
          </a:xfrm>
          <a:prstGeom prst="line">
            <a:avLst/>
          </a:prstGeom>
          <a:noFill/>
          <a:ln w="22225">
            <a:solidFill>
              <a:srgbClr val="2E8B57"/>
            </a:solidFill>
            <a:prstDash val="solid"/>
          </a:ln>
        </p:spPr>
      </p:sp>
      <p:sp>
        <p:nvSpPr>
          <p:cNvPr id="211" name="Shape 209"/>
          <p:cNvSpPr/>
          <p:nvPr/>
        </p:nvSpPr>
        <p:spPr>
          <a:xfrm>
            <a:off x="4869751" y="4851288"/>
            <a:ext cx="29147" cy="4176"/>
          </a:xfrm>
          <a:prstGeom prst="line">
            <a:avLst/>
          </a:prstGeom>
          <a:noFill/>
          <a:ln w="22225">
            <a:solidFill>
              <a:srgbClr val="2E8B57"/>
            </a:solidFill>
            <a:prstDash val="solid"/>
          </a:ln>
        </p:spPr>
      </p:sp>
      <p:sp>
        <p:nvSpPr>
          <p:cNvPr id="212" name="Shape 210"/>
          <p:cNvSpPr/>
          <p:nvPr/>
        </p:nvSpPr>
        <p:spPr>
          <a:xfrm flipV="1">
            <a:off x="4898898" y="4851288"/>
            <a:ext cx="29146" cy="4176"/>
          </a:xfrm>
          <a:prstGeom prst="line">
            <a:avLst/>
          </a:prstGeom>
          <a:noFill/>
          <a:ln w="22225">
            <a:solidFill>
              <a:srgbClr val="2E8B57"/>
            </a:solidFill>
            <a:prstDash val="solid"/>
          </a:ln>
        </p:spPr>
      </p:sp>
      <p:sp>
        <p:nvSpPr>
          <p:cNvPr id="213" name="Shape 211"/>
          <p:cNvSpPr/>
          <p:nvPr/>
        </p:nvSpPr>
        <p:spPr>
          <a:xfrm flipV="1">
            <a:off x="4928044" y="4839395"/>
            <a:ext cx="29147" cy="11893"/>
          </a:xfrm>
          <a:prstGeom prst="line">
            <a:avLst/>
          </a:prstGeom>
          <a:noFill/>
          <a:ln w="22225">
            <a:solidFill>
              <a:srgbClr val="2E8B57"/>
            </a:solidFill>
            <a:prstDash val="solid"/>
          </a:ln>
        </p:spPr>
      </p:sp>
      <p:sp>
        <p:nvSpPr>
          <p:cNvPr id="214" name="Shape 212"/>
          <p:cNvSpPr/>
          <p:nvPr/>
        </p:nvSpPr>
        <p:spPr>
          <a:xfrm flipV="1">
            <a:off x="4957191" y="4821596"/>
            <a:ext cx="29146" cy="17799"/>
          </a:xfrm>
          <a:prstGeom prst="line">
            <a:avLst/>
          </a:prstGeom>
          <a:noFill/>
          <a:ln w="22225">
            <a:solidFill>
              <a:srgbClr val="2E8B57"/>
            </a:solidFill>
            <a:prstDash val="solid"/>
          </a:ln>
        </p:spPr>
      </p:sp>
      <p:sp>
        <p:nvSpPr>
          <p:cNvPr id="215" name="Shape 213"/>
          <p:cNvSpPr/>
          <p:nvPr/>
        </p:nvSpPr>
        <p:spPr>
          <a:xfrm flipV="1">
            <a:off x="4986338" y="4800600"/>
            <a:ext cx="29146" cy="20996"/>
          </a:xfrm>
          <a:prstGeom prst="line">
            <a:avLst/>
          </a:prstGeom>
          <a:noFill/>
          <a:ln w="22225">
            <a:solidFill>
              <a:srgbClr val="2E8B57"/>
            </a:solidFill>
            <a:prstDash val="solid"/>
          </a:ln>
        </p:spPr>
      </p:sp>
      <p:sp>
        <p:nvSpPr>
          <p:cNvPr id="216" name="Shape 214"/>
          <p:cNvSpPr/>
          <p:nvPr/>
        </p:nvSpPr>
        <p:spPr>
          <a:xfrm flipV="1">
            <a:off x="5015484" y="4779604"/>
            <a:ext cx="29146" cy="20996"/>
          </a:xfrm>
          <a:prstGeom prst="line">
            <a:avLst/>
          </a:prstGeom>
          <a:noFill/>
          <a:ln w="22225">
            <a:solidFill>
              <a:srgbClr val="2E8B57"/>
            </a:solidFill>
            <a:prstDash val="solid"/>
          </a:ln>
        </p:spPr>
      </p:sp>
      <p:sp>
        <p:nvSpPr>
          <p:cNvPr id="217" name="Shape 215"/>
          <p:cNvSpPr/>
          <p:nvPr/>
        </p:nvSpPr>
        <p:spPr>
          <a:xfrm flipV="1">
            <a:off x="5044630" y="4761805"/>
            <a:ext cx="29147" cy="17799"/>
          </a:xfrm>
          <a:prstGeom prst="line">
            <a:avLst/>
          </a:prstGeom>
          <a:noFill/>
          <a:ln w="22225">
            <a:solidFill>
              <a:srgbClr val="2E8B57"/>
            </a:solidFill>
            <a:prstDash val="solid"/>
          </a:ln>
        </p:spPr>
      </p:sp>
      <p:sp>
        <p:nvSpPr>
          <p:cNvPr id="218" name="Shape 216"/>
          <p:cNvSpPr/>
          <p:nvPr/>
        </p:nvSpPr>
        <p:spPr>
          <a:xfrm flipV="1">
            <a:off x="5073777" y="4749912"/>
            <a:ext cx="29146" cy="11893"/>
          </a:xfrm>
          <a:prstGeom prst="line">
            <a:avLst/>
          </a:prstGeom>
          <a:noFill/>
          <a:ln w="22225">
            <a:solidFill>
              <a:srgbClr val="2E8B57"/>
            </a:solidFill>
            <a:prstDash val="solid"/>
          </a:ln>
        </p:spPr>
      </p:sp>
      <p:sp>
        <p:nvSpPr>
          <p:cNvPr id="219" name="Shape 217"/>
          <p:cNvSpPr/>
          <p:nvPr/>
        </p:nvSpPr>
        <p:spPr>
          <a:xfrm flipV="1">
            <a:off x="5102924" y="4745736"/>
            <a:ext cx="29146" cy="4176"/>
          </a:xfrm>
          <a:prstGeom prst="line">
            <a:avLst/>
          </a:prstGeom>
          <a:noFill/>
          <a:ln w="22225">
            <a:solidFill>
              <a:srgbClr val="2E8B57"/>
            </a:solidFill>
            <a:prstDash val="solid"/>
          </a:ln>
        </p:spPr>
      </p:sp>
      <p:sp>
        <p:nvSpPr>
          <p:cNvPr id="220" name="Shape 218"/>
          <p:cNvSpPr/>
          <p:nvPr/>
        </p:nvSpPr>
        <p:spPr>
          <a:xfrm>
            <a:off x="5132070" y="4745736"/>
            <a:ext cx="29147" cy="4176"/>
          </a:xfrm>
          <a:prstGeom prst="line">
            <a:avLst/>
          </a:prstGeom>
          <a:noFill/>
          <a:ln w="22225">
            <a:solidFill>
              <a:srgbClr val="2E8B57"/>
            </a:solidFill>
            <a:prstDash val="solid"/>
          </a:ln>
        </p:spPr>
      </p:sp>
      <p:sp>
        <p:nvSpPr>
          <p:cNvPr id="221" name="Shape 219"/>
          <p:cNvSpPr/>
          <p:nvPr/>
        </p:nvSpPr>
        <p:spPr>
          <a:xfrm>
            <a:off x="5161217" y="4749912"/>
            <a:ext cx="29146" cy="11893"/>
          </a:xfrm>
          <a:prstGeom prst="line">
            <a:avLst/>
          </a:prstGeom>
          <a:noFill/>
          <a:ln w="22225">
            <a:solidFill>
              <a:srgbClr val="2E8B57"/>
            </a:solidFill>
            <a:prstDash val="solid"/>
          </a:ln>
        </p:spPr>
      </p:sp>
      <p:sp>
        <p:nvSpPr>
          <p:cNvPr id="222" name="Shape 220"/>
          <p:cNvSpPr/>
          <p:nvPr/>
        </p:nvSpPr>
        <p:spPr>
          <a:xfrm>
            <a:off x="5190363" y="4761805"/>
            <a:ext cx="29146" cy="17799"/>
          </a:xfrm>
          <a:prstGeom prst="line">
            <a:avLst/>
          </a:prstGeom>
          <a:noFill/>
          <a:ln w="22225">
            <a:solidFill>
              <a:srgbClr val="2E8B57"/>
            </a:solidFill>
            <a:prstDash val="solid"/>
          </a:ln>
        </p:spPr>
      </p:sp>
      <p:sp>
        <p:nvSpPr>
          <p:cNvPr id="223" name="Shape 221"/>
          <p:cNvSpPr/>
          <p:nvPr/>
        </p:nvSpPr>
        <p:spPr>
          <a:xfrm>
            <a:off x="5219509" y="4779604"/>
            <a:ext cx="29147" cy="20996"/>
          </a:xfrm>
          <a:prstGeom prst="line">
            <a:avLst/>
          </a:prstGeom>
          <a:noFill/>
          <a:ln w="22225">
            <a:solidFill>
              <a:srgbClr val="2E8B57"/>
            </a:solidFill>
            <a:prstDash val="solid"/>
          </a:ln>
        </p:spPr>
      </p:sp>
      <p:sp>
        <p:nvSpPr>
          <p:cNvPr id="224" name="Shape 222"/>
          <p:cNvSpPr/>
          <p:nvPr/>
        </p:nvSpPr>
        <p:spPr>
          <a:xfrm>
            <a:off x="5248656" y="4800600"/>
            <a:ext cx="29146" cy="20996"/>
          </a:xfrm>
          <a:prstGeom prst="line">
            <a:avLst/>
          </a:prstGeom>
          <a:noFill/>
          <a:ln w="22225">
            <a:solidFill>
              <a:srgbClr val="2E8B57"/>
            </a:solidFill>
            <a:prstDash val="solid"/>
          </a:ln>
        </p:spPr>
      </p:sp>
      <p:sp>
        <p:nvSpPr>
          <p:cNvPr id="225" name="Shape 223"/>
          <p:cNvSpPr/>
          <p:nvPr/>
        </p:nvSpPr>
        <p:spPr>
          <a:xfrm>
            <a:off x="5277803" y="4821596"/>
            <a:ext cx="29146" cy="17799"/>
          </a:xfrm>
          <a:prstGeom prst="line">
            <a:avLst/>
          </a:prstGeom>
          <a:noFill/>
          <a:ln w="22225">
            <a:solidFill>
              <a:srgbClr val="2E8B57"/>
            </a:solidFill>
            <a:prstDash val="solid"/>
          </a:ln>
        </p:spPr>
      </p:sp>
      <p:sp>
        <p:nvSpPr>
          <p:cNvPr id="226" name="Shape 224"/>
          <p:cNvSpPr/>
          <p:nvPr/>
        </p:nvSpPr>
        <p:spPr>
          <a:xfrm>
            <a:off x="5306949" y="4839395"/>
            <a:ext cx="29146" cy="11893"/>
          </a:xfrm>
          <a:prstGeom prst="line">
            <a:avLst/>
          </a:prstGeom>
          <a:noFill/>
          <a:ln w="22225">
            <a:solidFill>
              <a:srgbClr val="2E8B57"/>
            </a:solidFill>
            <a:prstDash val="solid"/>
          </a:ln>
        </p:spPr>
      </p:sp>
      <p:sp>
        <p:nvSpPr>
          <p:cNvPr id="227" name="Shape 225"/>
          <p:cNvSpPr/>
          <p:nvPr/>
        </p:nvSpPr>
        <p:spPr>
          <a:xfrm>
            <a:off x="5336095" y="4851288"/>
            <a:ext cx="29147" cy="4176"/>
          </a:xfrm>
          <a:prstGeom prst="line">
            <a:avLst/>
          </a:prstGeom>
          <a:noFill/>
          <a:ln w="22225">
            <a:solidFill>
              <a:srgbClr val="2E8B57"/>
            </a:solidFill>
            <a:prstDash val="solid"/>
          </a:ln>
        </p:spPr>
      </p:sp>
      <p:sp>
        <p:nvSpPr>
          <p:cNvPr id="228" name="Shape 226"/>
          <p:cNvSpPr/>
          <p:nvPr/>
        </p:nvSpPr>
        <p:spPr>
          <a:xfrm flipV="1">
            <a:off x="5365242" y="4851288"/>
            <a:ext cx="29146" cy="4176"/>
          </a:xfrm>
          <a:prstGeom prst="line">
            <a:avLst/>
          </a:prstGeom>
          <a:noFill/>
          <a:ln w="22225">
            <a:solidFill>
              <a:srgbClr val="2E8B57"/>
            </a:solidFill>
            <a:prstDash val="solid"/>
          </a:ln>
        </p:spPr>
      </p:sp>
      <p:sp>
        <p:nvSpPr>
          <p:cNvPr id="229" name="Shape 227"/>
          <p:cNvSpPr/>
          <p:nvPr/>
        </p:nvSpPr>
        <p:spPr>
          <a:xfrm flipV="1">
            <a:off x="5394388" y="4839395"/>
            <a:ext cx="29147" cy="11893"/>
          </a:xfrm>
          <a:prstGeom prst="line">
            <a:avLst/>
          </a:prstGeom>
          <a:noFill/>
          <a:ln w="22225">
            <a:solidFill>
              <a:srgbClr val="2E8B57"/>
            </a:solidFill>
            <a:prstDash val="solid"/>
          </a:ln>
        </p:spPr>
      </p:sp>
      <p:sp>
        <p:nvSpPr>
          <p:cNvPr id="230" name="Shape 228"/>
          <p:cNvSpPr/>
          <p:nvPr/>
        </p:nvSpPr>
        <p:spPr>
          <a:xfrm flipV="1">
            <a:off x="5423535" y="4821596"/>
            <a:ext cx="29146" cy="17799"/>
          </a:xfrm>
          <a:prstGeom prst="line">
            <a:avLst/>
          </a:prstGeom>
          <a:noFill/>
          <a:ln w="22225">
            <a:solidFill>
              <a:srgbClr val="2E8B57"/>
            </a:solidFill>
            <a:prstDash val="solid"/>
          </a:ln>
        </p:spPr>
      </p:sp>
      <p:sp>
        <p:nvSpPr>
          <p:cNvPr id="231" name="Shape 229"/>
          <p:cNvSpPr/>
          <p:nvPr/>
        </p:nvSpPr>
        <p:spPr>
          <a:xfrm flipV="1">
            <a:off x="5452682" y="4800600"/>
            <a:ext cx="29146" cy="20996"/>
          </a:xfrm>
          <a:prstGeom prst="line">
            <a:avLst/>
          </a:prstGeom>
          <a:noFill/>
          <a:ln w="22225">
            <a:solidFill>
              <a:srgbClr val="2E8B57"/>
            </a:solidFill>
            <a:prstDash val="solid"/>
          </a:ln>
        </p:spPr>
      </p:sp>
      <p:sp>
        <p:nvSpPr>
          <p:cNvPr id="232" name="Shape 230"/>
          <p:cNvSpPr/>
          <p:nvPr/>
        </p:nvSpPr>
        <p:spPr>
          <a:xfrm flipV="1">
            <a:off x="5481828" y="4779604"/>
            <a:ext cx="29147" cy="20996"/>
          </a:xfrm>
          <a:prstGeom prst="line">
            <a:avLst/>
          </a:prstGeom>
          <a:noFill/>
          <a:ln w="22225">
            <a:solidFill>
              <a:srgbClr val="2E8B57"/>
            </a:solidFill>
            <a:prstDash val="solid"/>
          </a:ln>
        </p:spPr>
      </p:sp>
      <p:sp>
        <p:nvSpPr>
          <p:cNvPr id="233" name="Shape 231"/>
          <p:cNvSpPr/>
          <p:nvPr/>
        </p:nvSpPr>
        <p:spPr>
          <a:xfrm flipV="1">
            <a:off x="5510975" y="4761805"/>
            <a:ext cx="29146" cy="17799"/>
          </a:xfrm>
          <a:prstGeom prst="line">
            <a:avLst/>
          </a:prstGeom>
          <a:noFill/>
          <a:ln w="22225">
            <a:solidFill>
              <a:srgbClr val="2E8B57"/>
            </a:solidFill>
            <a:prstDash val="solid"/>
          </a:ln>
        </p:spPr>
      </p:sp>
      <p:sp>
        <p:nvSpPr>
          <p:cNvPr id="234" name="Shape 232"/>
          <p:cNvSpPr/>
          <p:nvPr/>
        </p:nvSpPr>
        <p:spPr>
          <a:xfrm flipV="1">
            <a:off x="5540121" y="4749912"/>
            <a:ext cx="29146" cy="11893"/>
          </a:xfrm>
          <a:prstGeom prst="line">
            <a:avLst/>
          </a:prstGeom>
          <a:noFill/>
          <a:ln w="22225">
            <a:solidFill>
              <a:srgbClr val="2E8B57"/>
            </a:solidFill>
            <a:prstDash val="solid"/>
          </a:ln>
        </p:spPr>
      </p:sp>
      <p:sp>
        <p:nvSpPr>
          <p:cNvPr id="235" name="Shape 233"/>
          <p:cNvSpPr/>
          <p:nvPr/>
        </p:nvSpPr>
        <p:spPr>
          <a:xfrm flipV="1">
            <a:off x="5569267" y="4745736"/>
            <a:ext cx="29146" cy="4176"/>
          </a:xfrm>
          <a:prstGeom prst="line">
            <a:avLst/>
          </a:prstGeom>
          <a:noFill/>
          <a:ln w="22225">
            <a:solidFill>
              <a:srgbClr val="2E8B57"/>
            </a:solidFill>
            <a:prstDash val="solid"/>
          </a:ln>
        </p:spPr>
      </p:sp>
      <p:sp>
        <p:nvSpPr>
          <p:cNvPr id="236" name="Shape 234"/>
          <p:cNvSpPr/>
          <p:nvPr/>
        </p:nvSpPr>
        <p:spPr>
          <a:xfrm>
            <a:off x="5598414" y="4745736"/>
            <a:ext cx="29147" cy="4176"/>
          </a:xfrm>
          <a:prstGeom prst="line">
            <a:avLst/>
          </a:prstGeom>
          <a:noFill/>
          <a:ln w="22225">
            <a:solidFill>
              <a:srgbClr val="2E8B57"/>
            </a:solidFill>
            <a:prstDash val="solid"/>
          </a:ln>
        </p:spPr>
      </p:sp>
      <p:sp>
        <p:nvSpPr>
          <p:cNvPr id="237" name="Shape 235"/>
          <p:cNvSpPr/>
          <p:nvPr/>
        </p:nvSpPr>
        <p:spPr>
          <a:xfrm>
            <a:off x="5627561" y="4749912"/>
            <a:ext cx="29146" cy="11893"/>
          </a:xfrm>
          <a:prstGeom prst="line">
            <a:avLst/>
          </a:prstGeom>
          <a:noFill/>
          <a:ln w="22225">
            <a:solidFill>
              <a:srgbClr val="2E8B57"/>
            </a:solidFill>
            <a:prstDash val="solid"/>
          </a:ln>
        </p:spPr>
      </p:sp>
      <p:sp>
        <p:nvSpPr>
          <p:cNvPr id="238" name="Shape 236"/>
          <p:cNvSpPr/>
          <p:nvPr/>
        </p:nvSpPr>
        <p:spPr>
          <a:xfrm>
            <a:off x="5656707" y="4761805"/>
            <a:ext cx="29146" cy="17799"/>
          </a:xfrm>
          <a:prstGeom prst="line">
            <a:avLst/>
          </a:prstGeom>
          <a:noFill/>
          <a:ln w="22225">
            <a:solidFill>
              <a:srgbClr val="2E8B57"/>
            </a:solidFill>
            <a:prstDash val="solid"/>
          </a:ln>
        </p:spPr>
      </p:sp>
      <p:sp>
        <p:nvSpPr>
          <p:cNvPr id="239" name="Shape 237"/>
          <p:cNvSpPr/>
          <p:nvPr/>
        </p:nvSpPr>
        <p:spPr>
          <a:xfrm>
            <a:off x="5685853" y="4779604"/>
            <a:ext cx="29147" cy="20996"/>
          </a:xfrm>
          <a:prstGeom prst="line">
            <a:avLst/>
          </a:prstGeom>
          <a:noFill/>
          <a:ln w="22225">
            <a:solidFill>
              <a:srgbClr val="2E8B57"/>
            </a:solidFill>
            <a:prstDash val="solid"/>
          </a:ln>
        </p:spPr>
      </p:sp>
      <p:sp>
        <p:nvSpPr>
          <p:cNvPr id="240" name="Shape 238"/>
          <p:cNvSpPr/>
          <p:nvPr/>
        </p:nvSpPr>
        <p:spPr>
          <a:xfrm>
            <a:off x="3031236" y="4530623"/>
            <a:ext cx="64008" cy="64008"/>
          </a:xfrm>
          <a:prstGeom prst="ellipse">
            <a:avLst/>
          </a:prstGeom>
          <a:solidFill>
            <a:srgbClr val="F2B8BD"/>
          </a:solidFill>
          <a:ln w="9525">
            <a:solidFill>
              <a:srgbClr val="C8414C"/>
            </a:solidFill>
            <a:prstDash val="solid"/>
          </a:ln>
        </p:spPr>
      </p:sp>
      <p:sp>
        <p:nvSpPr>
          <p:cNvPr id="241" name="Text 239"/>
          <p:cNvSpPr/>
          <p:nvPr/>
        </p:nvSpPr>
        <p:spPr>
          <a:xfrm>
            <a:off x="3031236" y="4530623"/>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242" name="Shape 240"/>
          <p:cNvSpPr/>
          <p:nvPr/>
        </p:nvSpPr>
        <p:spPr>
          <a:xfrm>
            <a:off x="3040837" y="4613834"/>
            <a:ext cx="44806" cy="44806"/>
          </a:xfrm>
          <a:prstGeom prst="ellipse">
            <a:avLst/>
          </a:prstGeom>
          <a:solidFill>
            <a:srgbClr val="2E5BD8"/>
          </a:solidFill>
          <a:ln w="9525">
            <a:solidFill>
              <a:srgbClr val="1F3F9E"/>
            </a:solidFill>
            <a:prstDash val="solid"/>
          </a:ln>
        </p:spPr>
      </p:sp>
      <p:sp>
        <p:nvSpPr>
          <p:cNvPr id="243" name="Text 241"/>
          <p:cNvSpPr/>
          <p:nvPr/>
        </p:nvSpPr>
        <p:spPr>
          <a:xfrm>
            <a:off x="1143000" y="4873752"/>
            <a:ext cx="448056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γ</a:t>
            </a:r>
            <a:r>
              <a:rPr lang="en-US" sz="1050" dirty="0">
                <a:solidFill>
                  <a:srgbClr val="2E8B57"/>
                </a:solidFill>
                <a:latin typeface="Calibri" pitchFamily="34" charset="0"/>
                <a:ea typeface="Calibri" pitchFamily="34" charset="-122"/>
                <a:cs typeface="Calibri" pitchFamily="34" charset="-120"/>
              </a:rPr>
              <a:t>: very few ions, travels a long way</a:t>
            </a:r>
            <a:endParaRPr lang="en-US" sz="1050" dirty="0"/>
          </a:p>
        </p:txBody>
      </p:sp>
      <p:sp>
        <p:nvSpPr>
          <p:cNvPr id="244" name="Shape 24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45" name="Text 24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Ionising power</a:t>
            </a:r>
            <a:endParaRPr lang="en-US" sz="1300" dirty="0"/>
          </a:p>
        </p:txBody>
      </p:sp>
      <p:sp>
        <p:nvSpPr>
          <p:cNvPr id="246" name="Text 24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Ionisation</a:t>
            </a:r>
            <a:r>
              <a:rPr lang="en-US" sz="1150" dirty="0">
                <a:solidFill>
                  <a:srgbClr val="262B3A"/>
                </a:solidFill>
                <a:latin typeface="Calibri" pitchFamily="34" charset="0"/>
                <a:ea typeface="Calibri" pitchFamily="34" charset="-122"/>
                <a:cs typeface="Calibri" pitchFamily="34" charset="-120"/>
              </a:rPr>
              <a:t>: radiation knocks electrons out of atoms, leaving charged </a:t>
            </a:r>
            <a:r>
              <a:rPr lang="en-US" sz="1150" b="1" dirty="0">
                <a:solidFill>
                  <a:srgbClr val="262B3A"/>
                </a:solidFill>
                <a:latin typeface="Calibri" pitchFamily="34" charset="0"/>
                <a:ea typeface="Calibri" pitchFamily="34" charset="-122"/>
                <a:cs typeface="Calibri" pitchFamily="34" charset="-120"/>
              </a:rPr>
              <a:t>ions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Alpha</a:t>
            </a:r>
            <a:r>
              <a:rPr lang="en-US" sz="1150" dirty="0">
                <a:solidFill>
                  <a:srgbClr val="262B3A"/>
                </a:solidFill>
                <a:latin typeface="Calibri" pitchFamily="34" charset="0"/>
                <a:ea typeface="Calibri" pitchFamily="34" charset="-122"/>
                <a:cs typeface="Calibri" pitchFamily="34" charset="-120"/>
              </a:rPr>
              <a:t> is the </a:t>
            </a:r>
            <a:r>
              <a:rPr lang="en-US" sz="1150" b="1" dirty="0">
                <a:solidFill>
                  <a:srgbClr val="262B3A"/>
                </a:solidFill>
                <a:latin typeface="Calibri" pitchFamily="34" charset="0"/>
                <a:ea typeface="Calibri" pitchFamily="34" charset="-122"/>
                <a:cs typeface="Calibri" pitchFamily="34" charset="-120"/>
              </a:rPr>
              <a:t>most</a:t>
            </a:r>
            <a:r>
              <a:rPr lang="en-US" sz="1150" dirty="0">
                <a:solidFill>
                  <a:srgbClr val="262B3A"/>
                </a:solidFill>
                <a:latin typeface="Calibri" pitchFamily="34" charset="0"/>
                <a:ea typeface="Calibri" pitchFamily="34" charset="-122"/>
                <a:cs typeface="Calibri" pitchFamily="34" charset="-120"/>
              </a:rPr>
              <a:t> strongly ionising: large mass, charge +2 and slow, so it hits many atoms close together.</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Beta</a:t>
            </a:r>
            <a:r>
              <a:rPr lang="en-US" sz="1150" dirty="0">
                <a:solidFill>
                  <a:srgbClr val="262B3A"/>
                </a:solidFill>
                <a:latin typeface="Calibri" pitchFamily="34" charset="0"/>
                <a:ea typeface="Calibri" pitchFamily="34" charset="-122"/>
                <a:cs typeface="Calibri" pitchFamily="34" charset="-120"/>
              </a:rPr>
              <a:t> is </a:t>
            </a:r>
            <a:r>
              <a:rPr lang="en-US" sz="1150" b="1" dirty="0">
                <a:solidFill>
                  <a:srgbClr val="262B3A"/>
                </a:solidFill>
                <a:latin typeface="Calibri" pitchFamily="34" charset="0"/>
                <a:ea typeface="Calibri" pitchFamily="34" charset="-122"/>
                <a:cs typeface="Calibri" pitchFamily="34" charset="-120"/>
              </a:rPr>
              <a:t>moderately</a:t>
            </a:r>
            <a:r>
              <a:rPr lang="en-US" sz="1150" dirty="0">
                <a:solidFill>
                  <a:srgbClr val="262B3A"/>
                </a:solidFill>
                <a:latin typeface="Calibri" pitchFamily="34" charset="0"/>
                <a:ea typeface="Calibri" pitchFamily="34" charset="-122"/>
                <a:cs typeface="Calibri" pitchFamily="34" charset="-120"/>
              </a:rPr>
              <a:t> ionising: small mass, charge −1, fast.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Gamma</a:t>
            </a:r>
            <a:r>
              <a:rPr lang="en-US" sz="1150" dirty="0">
                <a:solidFill>
                  <a:srgbClr val="262B3A"/>
                </a:solidFill>
                <a:latin typeface="Calibri" pitchFamily="34" charset="0"/>
                <a:ea typeface="Calibri" pitchFamily="34" charset="-122"/>
                <a:cs typeface="Calibri" pitchFamily="34" charset="-120"/>
              </a:rPr>
              <a:t> is the </a:t>
            </a:r>
            <a:r>
              <a:rPr lang="en-US" sz="1150" b="1" dirty="0">
                <a:solidFill>
                  <a:srgbClr val="262B3A"/>
                </a:solidFill>
                <a:latin typeface="Calibri" pitchFamily="34" charset="0"/>
                <a:ea typeface="Calibri" pitchFamily="34" charset="-122"/>
                <a:cs typeface="Calibri" pitchFamily="34" charset="-120"/>
              </a:rPr>
              <a:t>least</a:t>
            </a:r>
            <a:r>
              <a:rPr lang="en-US" sz="1150" dirty="0">
                <a:solidFill>
                  <a:srgbClr val="262B3A"/>
                </a:solidFill>
                <a:latin typeface="Calibri" pitchFamily="34" charset="0"/>
                <a:ea typeface="Calibri" pitchFamily="34" charset="-122"/>
                <a:cs typeface="Calibri" pitchFamily="34" charset="-120"/>
              </a:rPr>
              <a:t> ionising: no mass and no charge; it rarely interacts.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Each ionisation takes energy. Strong ionisers lose their energy quickly, so they </a:t>
            </a:r>
            <a:r>
              <a:rPr lang="en-US" sz="1150" b="1" dirty="0">
                <a:solidFill>
                  <a:srgbClr val="262B3A"/>
                </a:solidFill>
                <a:latin typeface="Calibri" pitchFamily="34" charset="0"/>
                <a:ea typeface="Calibri" pitchFamily="34" charset="-122"/>
                <a:cs typeface="Calibri" pitchFamily="34" charset="-120"/>
              </a:rPr>
              <a:t>travel less far</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47" name="Shape 24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48" name="Text 24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Link: ionising power ↔ range</a:t>
            </a:r>
            <a:endParaRPr lang="en-US" sz="1300" dirty="0"/>
          </a:p>
        </p:txBody>
      </p:sp>
      <p:sp>
        <p:nvSpPr>
          <p:cNvPr id="249" name="Text 247"/>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Alpha   </a:t>
            </a:r>
            <a:r>
              <a:rPr lang="en-US" sz="1100" dirty="0">
                <a:solidFill>
                  <a:srgbClr val="262B3A"/>
                </a:solidFill>
                <a:latin typeface="Calibri" pitchFamily="34" charset="0"/>
                <a:ea typeface="Calibri" pitchFamily="34" charset="-122"/>
                <a:cs typeface="Calibri" pitchFamily="34" charset="-120"/>
              </a:rPr>
              <a:t>many ions per cm → energy used up in a few cm</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Beta   </a:t>
            </a:r>
            <a:r>
              <a:rPr lang="en-US" sz="1100" dirty="0">
                <a:solidFill>
                  <a:srgbClr val="262B3A"/>
                </a:solidFill>
                <a:latin typeface="Calibri" pitchFamily="34" charset="0"/>
                <a:ea typeface="Calibri" pitchFamily="34" charset="-122"/>
                <a:cs typeface="Calibri" pitchFamily="34" charset="-120"/>
              </a:rPr>
              <a:t>fewer ions per cm → travels about a metre in air</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Gamma   </a:t>
            </a:r>
            <a:r>
              <a:rPr lang="en-US" sz="1100" dirty="0">
                <a:solidFill>
                  <a:srgbClr val="262B3A"/>
                </a:solidFill>
                <a:latin typeface="Calibri" pitchFamily="34" charset="0"/>
                <a:ea typeface="Calibri" pitchFamily="34" charset="-122"/>
                <a:cs typeface="Calibri" pitchFamily="34" charset="-120"/>
              </a:rPr>
              <a:t>very few ions → travels a very long way</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the </a:t>
            </a:r>
            <a:r>
              <a:rPr lang="en-US" sz="1100" b="1" dirty="0">
                <a:solidFill>
                  <a:srgbClr val="C8414C"/>
                </a:solidFill>
                <a:latin typeface="Calibri" pitchFamily="34" charset="0"/>
                <a:ea typeface="Calibri" pitchFamily="34" charset="-122"/>
                <a:cs typeface="Calibri" pitchFamily="34" charset="-120"/>
              </a:rPr>
              <a:t>more</a:t>
            </a:r>
            <a:r>
              <a:rPr lang="en-US" sz="1100" b="1" dirty="0">
                <a:solidFill>
                  <a:srgbClr val="C8414C"/>
                </a:solidFill>
                <a:latin typeface="Calibri" pitchFamily="34" charset="0"/>
                <a:ea typeface="Calibri" pitchFamily="34" charset="-122"/>
                <a:cs typeface="Calibri" pitchFamily="34" charset="-120"/>
              </a:rPr>
              <a:t> ionising, the </a:t>
            </a:r>
            <a:r>
              <a:rPr lang="en-US" sz="1100" b="1" dirty="0">
                <a:solidFill>
                  <a:srgbClr val="C8414C"/>
                </a:solidFill>
                <a:latin typeface="Calibri" pitchFamily="34" charset="0"/>
                <a:ea typeface="Calibri" pitchFamily="34" charset="-122"/>
                <a:cs typeface="Calibri" pitchFamily="34" charset="-120"/>
              </a:rPr>
              <a:t>less</a:t>
            </a:r>
            <a:r>
              <a:rPr lang="en-US" sz="1100" b="1" dirty="0">
                <a:solidFill>
                  <a:srgbClr val="C8414C"/>
                </a:solidFill>
                <a:latin typeface="Calibri" pitchFamily="34" charset="0"/>
                <a:ea typeface="Calibri" pitchFamily="34" charset="-122"/>
                <a:cs typeface="Calibri" pitchFamily="34" charset="-120"/>
              </a:rPr>
              <a:t> penetrating</a:t>
            </a:r>
            <a:endParaRPr lang="en-US" sz="1100" dirty="0"/>
          </a:p>
        </p:txBody>
      </p:sp>
      <p:sp>
        <p:nvSpPr>
          <p:cNvPr id="250" name="Shape 248"/>
          <p:cNvSpPr/>
          <p:nvPr/>
        </p:nvSpPr>
        <p:spPr>
          <a:xfrm>
            <a:off x="411480" y="5833872"/>
            <a:ext cx="11368735" cy="530352"/>
          </a:xfrm>
          <a:prstGeom prst="rect">
            <a:avLst/>
          </a:prstGeom>
          <a:solidFill>
            <a:srgbClr val="FFF4E0"/>
          </a:solidFill>
          <a:ln w="6350">
            <a:solidFill>
              <a:srgbClr val="F1D9A8"/>
            </a:solidFill>
            <a:prstDash val="solid"/>
          </a:ln>
        </p:spPr>
      </p:sp>
      <p:sp>
        <p:nvSpPr>
          <p:cNvPr id="251" name="Shape 249"/>
          <p:cNvSpPr/>
          <p:nvPr/>
        </p:nvSpPr>
        <p:spPr>
          <a:xfrm>
            <a:off x="411480" y="5833872"/>
            <a:ext cx="82296" cy="530352"/>
          </a:xfrm>
          <a:prstGeom prst="rect">
            <a:avLst/>
          </a:prstGeom>
          <a:solidFill>
            <a:srgbClr val="E39A2F"/>
          </a:solidFill>
          <a:ln w="12700">
            <a:solidFill>
              <a:srgbClr val="E39A2F"/>
            </a:solidFill>
            <a:prstDash val="solid"/>
          </a:ln>
        </p:spPr>
      </p:sp>
      <p:sp>
        <p:nvSpPr>
          <p:cNvPr id="252" name="Text 25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an alpha particle travels only a few centimetres in air.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Penetration and range in air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P5.2.1 • what stops alpha, beta and gamma</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P5.2.1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absorbers: paper, about 5 mm aluminium, several cm of lead</a:t>
            </a:r>
            <a:endParaRPr lang="en-US" sz="1000" dirty="0"/>
          </a:p>
        </p:txBody>
      </p:sp>
      <p:sp>
        <p:nvSpPr>
          <p:cNvPr id="10" name="Shape 8"/>
          <p:cNvSpPr/>
          <p:nvPr/>
        </p:nvSpPr>
        <p:spPr>
          <a:xfrm>
            <a:off x="640080" y="1600200"/>
            <a:ext cx="457200" cy="2377440"/>
          </a:xfrm>
          <a:prstGeom prst="roundRect">
            <a:avLst>
              <a:gd name="adj" fmla="val 8000"/>
            </a:avLst>
          </a:prstGeom>
          <a:solidFill>
            <a:srgbClr val="4A5262"/>
          </a:solidFill>
          <a:ln w="12700">
            <a:solidFill>
              <a:srgbClr val="2E3442"/>
            </a:solidFill>
            <a:prstDash val="solid"/>
          </a:ln>
        </p:spPr>
      </p:sp>
      <p:sp>
        <p:nvSpPr>
          <p:cNvPr id="11" name="Text 9"/>
          <p:cNvSpPr/>
          <p:nvPr/>
        </p:nvSpPr>
        <p:spPr>
          <a:xfrm>
            <a:off x="502920" y="4005072"/>
            <a:ext cx="731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source</a:t>
            </a:r>
            <a:endParaRPr lang="en-US" sz="1050" dirty="0"/>
          </a:p>
        </p:txBody>
      </p:sp>
      <p:sp>
        <p:nvSpPr>
          <p:cNvPr id="12" name="Shape 10"/>
          <p:cNvSpPr/>
          <p:nvPr/>
        </p:nvSpPr>
        <p:spPr>
          <a:xfrm>
            <a:off x="2103120" y="1463040"/>
            <a:ext cx="54864" cy="2514600"/>
          </a:xfrm>
          <a:prstGeom prst="rect">
            <a:avLst/>
          </a:prstGeom>
          <a:solidFill>
            <a:srgbClr val="FFFDF5"/>
          </a:solidFill>
          <a:ln w="9525">
            <a:solidFill>
              <a:srgbClr val="9C8F6A"/>
            </a:solidFill>
            <a:prstDash val="solid"/>
          </a:ln>
        </p:spPr>
      </p:sp>
      <p:sp>
        <p:nvSpPr>
          <p:cNvPr id="13" name="Shape 11"/>
          <p:cNvSpPr/>
          <p:nvPr/>
        </p:nvSpPr>
        <p:spPr>
          <a:xfrm>
            <a:off x="3154680" y="1463040"/>
            <a:ext cx="182880" cy="2514600"/>
          </a:xfrm>
          <a:prstGeom prst="rect">
            <a:avLst/>
          </a:prstGeom>
          <a:solidFill>
            <a:srgbClr val="C9CED8"/>
          </a:solidFill>
          <a:ln w="9525">
            <a:solidFill>
              <a:srgbClr val="7C8598"/>
            </a:solidFill>
            <a:prstDash val="solid"/>
          </a:ln>
        </p:spPr>
      </p:sp>
      <p:sp>
        <p:nvSpPr>
          <p:cNvPr id="14" name="Shape 12"/>
          <p:cNvSpPr/>
          <p:nvPr/>
        </p:nvSpPr>
        <p:spPr>
          <a:xfrm>
            <a:off x="4206240" y="1463040"/>
            <a:ext cx="502920" cy="2514600"/>
          </a:xfrm>
          <a:prstGeom prst="rect">
            <a:avLst/>
          </a:prstGeom>
          <a:solidFill>
            <a:srgbClr val="5A6275"/>
          </a:solidFill>
          <a:ln w="9525">
            <a:solidFill>
              <a:srgbClr val="3B4252"/>
            </a:solidFill>
            <a:prstDash val="solid"/>
          </a:ln>
        </p:spPr>
      </p:sp>
      <p:sp>
        <p:nvSpPr>
          <p:cNvPr id="15" name="Text 13"/>
          <p:cNvSpPr/>
          <p:nvPr/>
        </p:nvSpPr>
        <p:spPr>
          <a:xfrm>
            <a:off x="1645920" y="1216152"/>
            <a:ext cx="969264"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paper</a:t>
            </a:r>
            <a:endParaRPr lang="en-US" sz="1050" dirty="0"/>
          </a:p>
        </p:txBody>
      </p:sp>
      <p:sp>
        <p:nvSpPr>
          <p:cNvPr id="16" name="Text 14"/>
          <p:cNvSpPr/>
          <p:nvPr/>
        </p:nvSpPr>
        <p:spPr>
          <a:xfrm>
            <a:off x="2697480" y="1216152"/>
            <a:ext cx="10972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aluminium</a:t>
            </a:r>
            <a:endParaRPr lang="en-US" sz="1050" dirty="0"/>
          </a:p>
        </p:txBody>
      </p:sp>
      <p:sp>
        <p:nvSpPr>
          <p:cNvPr id="17" name="Text 15"/>
          <p:cNvSpPr/>
          <p:nvPr/>
        </p:nvSpPr>
        <p:spPr>
          <a:xfrm>
            <a:off x="3931920" y="1216152"/>
            <a:ext cx="1051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lead</a:t>
            </a:r>
            <a:endParaRPr lang="en-US" sz="1050" dirty="0"/>
          </a:p>
        </p:txBody>
      </p:sp>
      <p:sp>
        <p:nvSpPr>
          <p:cNvPr id="18" name="Shape 16"/>
          <p:cNvSpPr/>
          <p:nvPr/>
        </p:nvSpPr>
        <p:spPr>
          <a:xfrm>
            <a:off x="1143000" y="1920240"/>
            <a:ext cx="950976" cy="91"/>
          </a:xfrm>
          <a:prstGeom prst="line">
            <a:avLst/>
          </a:prstGeom>
          <a:noFill/>
          <a:ln w="38100">
            <a:solidFill>
              <a:srgbClr val="C8414C"/>
            </a:solidFill>
            <a:prstDash val="solid"/>
            <a:tailEnd type="triangle"/>
          </a:ln>
        </p:spPr>
      </p:sp>
      <p:sp>
        <p:nvSpPr>
          <p:cNvPr id="19" name="Text 17"/>
          <p:cNvSpPr/>
          <p:nvPr/>
        </p:nvSpPr>
        <p:spPr>
          <a:xfrm>
            <a:off x="1188720" y="1618488"/>
            <a:ext cx="548640" cy="256032"/>
          </a:xfrm>
          <a:prstGeom prst="rect">
            <a:avLst/>
          </a:prstGeom>
          <a:noFill/>
          <a:ln/>
        </p:spPr>
        <p:txBody>
          <a:bodyPr wrap="square" lIns="0" tIns="0" rIns="0" bIns="0" rtlCol="0" anchor="ctr"/>
          <a:lstStyle/>
          <a:p>
            <a:pPr algn="l" indent="0" marL="0">
              <a:buNone/>
            </a:pPr>
            <a:r>
              <a:rPr lang="en-US" sz="1400" b="1" dirty="0">
                <a:solidFill>
                  <a:srgbClr val="C8414C"/>
                </a:solidFill>
                <a:latin typeface="Calibri" pitchFamily="34" charset="0"/>
                <a:ea typeface="Calibri" pitchFamily="34" charset="-122"/>
                <a:cs typeface="Calibri" pitchFamily="34" charset="-120"/>
              </a:rPr>
              <a:t>α</a:t>
            </a:r>
            <a:endParaRPr lang="en-US" sz="1400" dirty="0"/>
          </a:p>
        </p:txBody>
      </p:sp>
      <p:sp>
        <p:nvSpPr>
          <p:cNvPr id="20" name="Shape 18"/>
          <p:cNvSpPr/>
          <p:nvPr/>
        </p:nvSpPr>
        <p:spPr>
          <a:xfrm>
            <a:off x="1143000" y="2788920"/>
            <a:ext cx="2084832" cy="91"/>
          </a:xfrm>
          <a:prstGeom prst="line">
            <a:avLst/>
          </a:prstGeom>
          <a:noFill/>
          <a:ln w="38100">
            <a:solidFill>
              <a:srgbClr val="2E5BD8"/>
            </a:solidFill>
            <a:prstDash val="solid"/>
          </a:ln>
        </p:spPr>
      </p:sp>
      <p:sp>
        <p:nvSpPr>
          <p:cNvPr id="21" name="Shape 19"/>
          <p:cNvSpPr/>
          <p:nvPr/>
        </p:nvSpPr>
        <p:spPr>
          <a:xfrm>
            <a:off x="3182112" y="2743200"/>
            <a:ext cx="91440" cy="91440"/>
          </a:xfrm>
          <a:prstGeom prst="ellipse">
            <a:avLst/>
          </a:prstGeom>
          <a:solidFill>
            <a:srgbClr val="2E5BD8"/>
          </a:solidFill>
          <a:ln w="9525">
            <a:solidFill>
              <a:srgbClr val="2E5BD8"/>
            </a:solidFill>
            <a:prstDash val="solid"/>
          </a:ln>
        </p:spPr>
      </p:sp>
      <p:sp>
        <p:nvSpPr>
          <p:cNvPr id="22" name="Text 20"/>
          <p:cNvSpPr/>
          <p:nvPr/>
        </p:nvSpPr>
        <p:spPr>
          <a:xfrm>
            <a:off x="1188720" y="2487168"/>
            <a:ext cx="548640" cy="256032"/>
          </a:xfrm>
          <a:prstGeom prst="rect">
            <a:avLst/>
          </a:prstGeom>
          <a:noFill/>
          <a:ln/>
        </p:spPr>
        <p:txBody>
          <a:bodyPr wrap="square" lIns="0" tIns="0" rIns="0" bIns="0" rtlCol="0" anchor="ctr"/>
          <a:lstStyle/>
          <a:p>
            <a:pPr algn="l" indent="0" marL="0">
              <a:buNone/>
            </a:pPr>
            <a:r>
              <a:rPr lang="en-US" sz="1400" b="1" dirty="0">
                <a:solidFill>
                  <a:srgbClr val="2E5BD8"/>
                </a:solidFill>
                <a:latin typeface="Calibri" pitchFamily="34" charset="0"/>
                <a:ea typeface="Calibri" pitchFamily="34" charset="-122"/>
                <a:cs typeface="Calibri" pitchFamily="34" charset="-120"/>
              </a:rPr>
              <a:t>β</a:t>
            </a:r>
            <a:endParaRPr lang="en-US" sz="1400" dirty="0"/>
          </a:p>
        </p:txBody>
      </p:sp>
      <p:sp>
        <p:nvSpPr>
          <p:cNvPr id="23" name="Shape 21"/>
          <p:cNvSpPr/>
          <p:nvPr/>
        </p:nvSpPr>
        <p:spPr>
          <a:xfrm>
            <a:off x="1143000" y="3657600"/>
            <a:ext cx="21273" cy="27994"/>
          </a:xfrm>
          <a:prstGeom prst="line">
            <a:avLst/>
          </a:prstGeom>
          <a:noFill/>
          <a:ln w="31750">
            <a:solidFill>
              <a:srgbClr val="2E8B57"/>
            </a:solidFill>
            <a:prstDash val="solid"/>
          </a:ln>
        </p:spPr>
      </p:sp>
      <p:sp>
        <p:nvSpPr>
          <p:cNvPr id="24" name="Shape 22"/>
          <p:cNvSpPr/>
          <p:nvPr/>
        </p:nvSpPr>
        <p:spPr>
          <a:xfrm>
            <a:off x="1164273" y="3685594"/>
            <a:ext cx="21272" cy="23732"/>
          </a:xfrm>
          <a:prstGeom prst="line">
            <a:avLst/>
          </a:prstGeom>
          <a:noFill/>
          <a:ln w="31750">
            <a:solidFill>
              <a:srgbClr val="2E8B57"/>
            </a:solidFill>
            <a:prstDash val="solid"/>
          </a:ln>
        </p:spPr>
      </p:sp>
      <p:sp>
        <p:nvSpPr>
          <p:cNvPr id="25" name="Shape 23"/>
          <p:cNvSpPr/>
          <p:nvPr/>
        </p:nvSpPr>
        <p:spPr>
          <a:xfrm>
            <a:off x="1185545" y="3709326"/>
            <a:ext cx="21273" cy="15857"/>
          </a:xfrm>
          <a:prstGeom prst="line">
            <a:avLst/>
          </a:prstGeom>
          <a:noFill/>
          <a:ln w="31750">
            <a:solidFill>
              <a:srgbClr val="2E8B57"/>
            </a:solidFill>
            <a:prstDash val="solid"/>
          </a:ln>
        </p:spPr>
      </p:sp>
      <p:sp>
        <p:nvSpPr>
          <p:cNvPr id="26" name="Shape 24"/>
          <p:cNvSpPr/>
          <p:nvPr/>
        </p:nvSpPr>
        <p:spPr>
          <a:xfrm>
            <a:off x="1206818" y="3725184"/>
            <a:ext cx="21272" cy="5568"/>
          </a:xfrm>
          <a:prstGeom prst="line">
            <a:avLst/>
          </a:prstGeom>
          <a:noFill/>
          <a:ln w="31750">
            <a:solidFill>
              <a:srgbClr val="2E8B57"/>
            </a:solidFill>
            <a:prstDash val="solid"/>
          </a:ln>
        </p:spPr>
      </p:sp>
      <p:sp>
        <p:nvSpPr>
          <p:cNvPr id="27" name="Shape 25"/>
          <p:cNvSpPr/>
          <p:nvPr/>
        </p:nvSpPr>
        <p:spPr>
          <a:xfrm flipV="1">
            <a:off x="1228090" y="3725184"/>
            <a:ext cx="21273" cy="5568"/>
          </a:xfrm>
          <a:prstGeom prst="line">
            <a:avLst/>
          </a:prstGeom>
          <a:noFill/>
          <a:ln w="31750">
            <a:solidFill>
              <a:srgbClr val="2E8B57"/>
            </a:solidFill>
            <a:prstDash val="solid"/>
          </a:ln>
        </p:spPr>
      </p:sp>
      <p:sp>
        <p:nvSpPr>
          <p:cNvPr id="28" name="Shape 26"/>
          <p:cNvSpPr/>
          <p:nvPr/>
        </p:nvSpPr>
        <p:spPr>
          <a:xfrm flipV="1">
            <a:off x="1249363" y="3709326"/>
            <a:ext cx="21273" cy="15857"/>
          </a:xfrm>
          <a:prstGeom prst="line">
            <a:avLst/>
          </a:prstGeom>
          <a:noFill/>
          <a:ln w="31750">
            <a:solidFill>
              <a:srgbClr val="2E8B57"/>
            </a:solidFill>
            <a:prstDash val="solid"/>
          </a:ln>
        </p:spPr>
      </p:sp>
      <p:sp>
        <p:nvSpPr>
          <p:cNvPr id="29" name="Shape 27"/>
          <p:cNvSpPr/>
          <p:nvPr/>
        </p:nvSpPr>
        <p:spPr>
          <a:xfrm flipV="1">
            <a:off x="1270635" y="3685594"/>
            <a:ext cx="21272" cy="23732"/>
          </a:xfrm>
          <a:prstGeom prst="line">
            <a:avLst/>
          </a:prstGeom>
          <a:noFill/>
          <a:ln w="31750">
            <a:solidFill>
              <a:srgbClr val="2E8B57"/>
            </a:solidFill>
            <a:prstDash val="solid"/>
          </a:ln>
        </p:spPr>
      </p:sp>
      <p:sp>
        <p:nvSpPr>
          <p:cNvPr id="30" name="Shape 28"/>
          <p:cNvSpPr/>
          <p:nvPr/>
        </p:nvSpPr>
        <p:spPr>
          <a:xfrm flipV="1">
            <a:off x="1291908" y="3657600"/>
            <a:ext cx="21273" cy="27994"/>
          </a:xfrm>
          <a:prstGeom prst="line">
            <a:avLst/>
          </a:prstGeom>
          <a:noFill/>
          <a:ln w="31750">
            <a:solidFill>
              <a:srgbClr val="2E8B57"/>
            </a:solidFill>
            <a:prstDash val="solid"/>
          </a:ln>
        </p:spPr>
      </p:sp>
      <p:sp>
        <p:nvSpPr>
          <p:cNvPr id="31" name="Shape 29"/>
          <p:cNvSpPr/>
          <p:nvPr/>
        </p:nvSpPr>
        <p:spPr>
          <a:xfrm flipV="1">
            <a:off x="1313180" y="3629606"/>
            <a:ext cx="21273" cy="27994"/>
          </a:xfrm>
          <a:prstGeom prst="line">
            <a:avLst/>
          </a:prstGeom>
          <a:noFill/>
          <a:ln w="31750">
            <a:solidFill>
              <a:srgbClr val="2E8B57"/>
            </a:solidFill>
            <a:prstDash val="solid"/>
          </a:ln>
        </p:spPr>
      </p:sp>
      <p:sp>
        <p:nvSpPr>
          <p:cNvPr id="32" name="Shape 30"/>
          <p:cNvSpPr/>
          <p:nvPr/>
        </p:nvSpPr>
        <p:spPr>
          <a:xfrm flipV="1">
            <a:off x="1334453" y="3605874"/>
            <a:ext cx="21272" cy="23732"/>
          </a:xfrm>
          <a:prstGeom prst="line">
            <a:avLst/>
          </a:prstGeom>
          <a:noFill/>
          <a:ln w="31750">
            <a:solidFill>
              <a:srgbClr val="2E8B57"/>
            </a:solidFill>
            <a:prstDash val="solid"/>
          </a:ln>
        </p:spPr>
      </p:sp>
      <p:sp>
        <p:nvSpPr>
          <p:cNvPr id="33" name="Shape 31"/>
          <p:cNvSpPr/>
          <p:nvPr/>
        </p:nvSpPr>
        <p:spPr>
          <a:xfrm flipV="1">
            <a:off x="1355725" y="3590016"/>
            <a:ext cx="21273" cy="15857"/>
          </a:xfrm>
          <a:prstGeom prst="line">
            <a:avLst/>
          </a:prstGeom>
          <a:noFill/>
          <a:ln w="31750">
            <a:solidFill>
              <a:srgbClr val="2E8B57"/>
            </a:solidFill>
            <a:prstDash val="solid"/>
          </a:ln>
        </p:spPr>
      </p:sp>
      <p:sp>
        <p:nvSpPr>
          <p:cNvPr id="34" name="Shape 32"/>
          <p:cNvSpPr/>
          <p:nvPr/>
        </p:nvSpPr>
        <p:spPr>
          <a:xfrm flipV="1">
            <a:off x="1376998" y="3584448"/>
            <a:ext cx="21272" cy="5568"/>
          </a:xfrm>
          <a:prstGeom prst="line">
            <a:avLst/>
          </a:prstGeom>
          <a:noFill/>
          <a:ln w="31750">
            <a:solidFill>
              <a:srgbClr val="2E8B57"/>
            </a:solidFill>
            <a:prstDash val="solid"/>
          </a:ln>
        </p:spPr>
      </p:sp>
      <p:sp>
        <p:nvSpPr>
          <p:cNvPr id="35" name="Shape 33"/>
          <p:cNvSpPr/>
          <p:nvPr/>
        </p:nvSpPr>
        <p:spPr>
          <a:xfrm>
            <a:off x="1398270" y="3584448"/>
            <a:ext cx="21273" cy="5568"/>
          </a:xfrm>
          <a:prstGeom prst="line">
            <a:avLst/>
          </a:prstGeom>
          <a:noFill/>
          <a:ln w="31750">
            <a:solidFill>
              <a:srgbClr val="2E8B57"/>
            </a:solidFill>
            <a:prstDash val="solid"/>
          </a:ln>
        </p:spPr>
      </p:sp>
      <p:sp>
        <p:nvSpPr>
          <p:cNvPr id="36" name="Shape 34"/>
          <p:cNvSpPr/>
          <p:nvPr/>
        </p:nvSpPr>
        <p:spPr>
          <a:xfrm>
            <a:off x="1419543" y="3590016"/>
            <a:ext cx="21272" cy="15857"/>
          </a:xfrm>
          <a:prstGeom prst="line">
            <a:avLst/>
          </a:prstGeom>
          <a:noFill/>
          <a:ln w="31750">
            <a:solidFill>
              <a:srgbClr val="2E8B57"/>
            </a:solidFill>
            <a:prstDash val="solid"/>
          </a:ln>
        </p:spPr>
      </p:sp>
      <p:sp>
        <p:nvSpPr>
          <p:cNvPr id="37" name="Shape 35"/>
          <p:cNvSpPr/>
          <p:nvPr/>
        </p:nvSpPr>
        <p:spPr>
          <a:xfrm>
            <a:off x="1440815" y="3605874"/>
            <a:ext cx="21273" cy="23732"/>
          </a:xfrm>
          <a:prstGeom prst="line">
            <a:avLst/>
          </a:prstGeom>
          <a:noFill/>
          <a:ln w="31750">
            <a:solidFill>
              <a:srgbClr val="2E8B57"/>
            </a:solidFill>
            <a:prstDash val="solid"/>
          </a:ln>
        </p:spPr>
      </p:sp>
      <p:sp>
        <p:nvSpPr>
          <p:cNvPr id="38" name="Shape 36"/>
          <p:cNvSpPr/>
          <p:nvPr/>
        </p:nvSpPr>
        <p:spPr>
          <a:xfrm>
            <a:off x="1462088" y="3629606"/>
            <a:ext cx="21273" cy="27994"/>
          </a:xfrm>
          <a:prstGeom prst="line">
            <a:avLst/>
          </a:prstGeom>
          <a:noFill/>
          <a:ln w="31750">
            <a:solidFill>
              <a:srgbClr val="2E8B57"/>
            </a:solidFill>
            <a:prstDash val="solid"/>
          </a:ln>
        </p:spPr>
      </p:sp>
      <p:sp>
        <p:nvSpPr>
          <p:cNvPr id="39" name="Shape 37"/>
          <p:cNvSpPr/>
          <p:nvPr/>
        </p:nvSpPr>
        <p:spPr>
          <a:xfrm>
            <a:off x="1483360" y="3657600"/>
            <a:ext cx="21272" cy="27994"/>
          </a:xfrm>
          <a:prstGeom prst="line">
            <a:avLst/>
          </a:prstGeom>
          <a:noFill/>
          <a:ln w="31750">
            <a:solidFill>
              <a:srgbClr val="2E8B57"/>
            </a:solidFill>
            <a:prstDash val="solid"/>
          </a:ln>
        </p:spPr>
      </p:sp>
      <p:sp>
        <p:nvSpPr>
          <p:cNvPr id="40" name="Shape 38"/>
          <p:cNvSpPr/>
          <p:nvPr/>
        </p:nvSpPr>
        <p:spPr>
          <a:xfrm>
            <a:off x="1504632" y="3685594"/>
            <a:ext cx="21273" cy="23732"/>
          </a:xfrm>
          <a:prstGeom prst="line">
            <a:avLst/>
          </a:prstGeom>
          <a:noFill/>
          <a:ln w="31750">
            <a:solidFill>
              <a:srgbClr val="2E8B57"/>
            </a:solidFill>
            <a:prstDash val="solid"/>
          </a:ln>
        </p:spPr>
      </p:sp>
      <p:sp>
        <p:nvSpPr>
          <p:cNvPr id="41" name="Shape 39"/>
          <p:cNvSpPr/>
          <p:nvPr/>
        </p:nvSpPr>
        <p:spPr>
          <a:xfrm>
            <a:off x="1525905" y="3709326"/>
            <a:ext cx="21273" cy="15857"/>
          </a:xfrm>
          <a:prstGeom prst="line">
            <a:avLst/>
          </a:prstGeom>
          <a:noFill/>
          <a:ln w="31750">
            <a:solidFill>
              <a:srgbClr val="2E8B57"/>
            </a:solidFill>
            <a:prstDash val="solid"/>
          </a:ln>
        </p:spPr>
      </p:sp>
      <p:sp>
        <p:nvSpPr>
          <p:cNvPr id="42" name="Shape 40"/>
          <p:cNvSpPr/>
          <p:nvPr/>
        </p:nvSpPr>
        <p:spPr>
          <a:xfrm>
            <a:off x="1547178" y="3725184"/>
            <a:ext cx="21272" cy="5568"/>
          </a:xfrm>
          <a:prstGeom prst="line">
            <a:avLst/>
          </a:prstGeom>
          <a:noFill/>
          <a:ln w="31750">
            <a:solidFill>
              <a:srgbClr val="2E8B57"/>
            </a:solidFill>
            <a:prstDash val="solid"/>
          </a:ln>
        </p:spPr>
      </p:sp>
      <p:sp>
        <p:nvSpPr>
          <p:cNvPr id="43" name="Shape 41"/>
          <p:cNvSpPr/>
          <p:nvPr/>
        </p:nvSpPr>
        <p:spPr>
          <a:xfrm flipV="1">
            <a:off x="1568450" y="3725184"/>
            <a:ext cx="21273" cy="5568"/>
          </a:xfrm>
          <a:prstGeom prst="line">
            <a:avLst/>
          </a:prstGeom>
          <a:noFill/>
          <a:ln w="31750">
            <a:solidFill>
              <a:srgbClr val="2E8B57"/>
            </a:solidFill>
            <a:prstDash val="solid"/>
          </a:ln>
        </p:spPr>
      </p:sp>
      <p:sp>
        <p:nvSpPr>
          <p:cNvPr id="44" name="Shape 42"/>
          <p:cNvSpPr/>
          <p:nvPr/>
        </p:nvSpPr>
        <p:spPr>
          <a:xfrm flipV="1">
            <a:off x="1589723" y="3709326"/>
            <a:ext cx="21273" cy="15857"/>
          </a:xfrm>
          <a:prstGeom prst="line">
            <a:avLst/>
          </a:prstGeom>
          <a:noFill/>
          <a:ln w="31750">
            <a:solidFill>
              <a:srgbClr val="2E8B57"/>
            </a:solidFill>
            <a:prstDash val="solid"/>
          </a:ln>
        </p:spPr>
      </p:sp>
      <p:sp>
        <p:nvSpPr>
          <p:cNvPr id="45" name="Shape 43"/>
          <p:cNvSpPr/>
          <p:nvPr/>
        </p:nvSpPr>
        <p:spPr>
          <a:xfrm flipV="1">
            <a:off x="1610995" y="3685594"/>
            <a:ext cx="21272" cy="23732"/>
          </a:xfrm>
          <a:prstGeom prst="line">
            <a:avLst/>
          </a:prstGeom>
          <a:noFill/>
          <a:ln w="31750">
            <a:solidFill>
              <a:srgbClr val="2E8B57"/>
            </a:solidFill>
            <a:prstDash val="solid"/>
          </a:ln>
        </p:spPr>
      </p:sp>
      <p:sp>
        <p:nvSpPr>
          <p:cNvPr id="46" name="Shape 44"/>
          <p:cNvSpPr/>
          <p:nvPr/>
        </p:nvSpPr>
        <p:spPr>
          <a:xfrm flipV="1">
            <a:off x="1632268" y="3657600"/>
            <a:ext cx="21272" cy="27994"/>
          </a:xfrm>
          <a:prstGeom prst="line">
            <a:avLst/>
          </a:prstGeom>
          <a:noFill/>
          <a:ln w="31750">
            <a:solidFill>
              <a:srgbClr val="2E8B57"/>
            </a:solidFill>
            <a:prstDash val="solid"/>
          </a:ln>
        </p:spPr>
      </p:sp>
      <p:sp>
        <p:nvSpPr>
          <p:cNvPr id="47" name="Shape 45"/>
          <p:cNvSpPr/>
          <p:nvPr/>
        </p:nvSpPr>
        <p:spPr>
          <a:xfrm flipV="1">
            <a:off x="1653540" y="3629606"/>
            <a:ext cx="21273" cy="27994"/>
          </a:xfrm>
          <a:prstGeom prst="line">
            <a:avLst/>
          </a:prstGeom>
          <a:noFill/>
          <a:ln w="31750">
            <a:solidFill>
              <a:srgbClr val="2E8B57"/>
            </a:solidFill>
            <a:prstDash val="solid"/>
          </a:ln>
        </p:spPr>
      </p:sp>
      <p:sp>
        <p:nvSpPr>
          <p:cNvPr id="48" name="Shape 46"/>
          <p:cNvSpPr/>
          <p:nvPr/>
        </p:nvSpPr>
        <p:spPr>
          <a:xfrm flipV="1">
            <a:off x="1674813" y="3605874"/>
            <a:ext cx="21273" cy="23732"/>
          </a:xfrm>
          <a:prstGeom prst="line">
            <a:avLst/>
          </a:prstGeom>
          <a:noFill/>
          <a:ln w="31750">
            <a:solidFill>
              <a:srgbClr val="2E8B57"/>
            </a:solidFill>
            <a:prstDash val="solid"/>
          </a:ln>
        </p:spPr>
      </p:sp>
      <p:sp>
        <p:nvSpPr>
          <p:cNvPr id="49" name="Shape 47"/>
          <p:cNvSpPr/>
          <p:nvPr/>
        </p:nvSpPr>
        <p:spPr>
          <a:xfrm flipV="1">
            <a:off x="1696085" y="3590016"/>
            <a:ext cx="21272" cy="15857"/>
          </a:xfrm>
          <a:prstGeom prst="line">
            <a:avLst/>
          </a:prstGeom>
          <a:noFill/>
          <a:ln w="31750">
            <a:solidFill>
              <a:srgbClr val="2E8B57"/>
            </a:solidFill>
            <a:prstDash val="solid"/>
          </a:ln>
        </p:spPr>
      </p:sp>
      <p:sp>
        <p:nvSpPr>
          <p:cNvPr id="50" name="Shape 48"/>
          <p:cNvSpPr/>
          <p:nvPr/>
        </p:nvSpPr>
        <p:spPr>
          <a:xfrm flipV="1">
            <a:off x="1717357" y="3584448"/>
            <a:ext cx="21273" cy="5568"/>
          </a:xfrm>
          <a:prstGeom prst="line">
            <a:avLst/>
          </a:prstGeom>
          <a:noFill/>
          <a:ln w="31750">
            <a:solidFill>
              <a:srgbClr val="2E8B57"/>
            </a:solidFill>
            <a:prstDash val="solid"/>
          </a:ln>
        </p:spPr>
      </p:sp>
      <p:sp>
        <p:nvSpPr>
          <p:cNvPr id="51" name="Shape 49"/>
          <p:cNvSpPr/>
          <p:nvPr/>
        </p:nvSpPr>
        <p:spPr>
          <a:xfrm>
            <a:off x="1738630" y="3584448"/>
            <a:ext cx="21273" cy="5568"/>
          </a:xfrm>
          <a:prstGeom prst="line">
            <a:avLst/>
          </a:prstGeom>
          <a:noFill/>
          <a:ln w="31750">
            <a:solidFill>
              <a:srgbClr val="2E8B57"/>
            </a:solidFill>
            <a:prstDash val="solid"/>
          </a:ln>
        </p:spPr>
      </p:sp>
      <p:sp>
        <p:nvSpPr>
          <p:cNvPr id="52" name="Shape 50"/>
          <p:cNvSpPr/>
          <p:nvPr/>
        </p:nvSpPr>
        <p:spPr>
          <a:xfrm>
            <a:off x="1759903" y="3590016"/>
            <a:ext cx="21272" cy="15857"/>
          </a:xfrm>
          <a:prstGeom prst="line">
            <a:avLst/>
          </a:prstGeom>
          <a:noFill/>
          <a:ln w="31750">
            <a:solidFill>
              <a:srgbClr val="2E8B57"/>
            </a:solidFill>
            <a:prstDash val="solid"/>
          </a:ln>
        </p:spPr>
      </p:sp>
      <p:sp>
        <p:nvSpPr>
          <p:cNvPr id="53" name="Shape 51"/>
          <p:cNvSpPr/>
          <p:nvPr/>
        </p:nvSpPr>
        <p:spPr>
          <a:xfrm>
            <a:off x="1781175" y="3605874"/>
            <a:ext cx="21273" cy="23732"/>
          </a:xfrm>
          <a:prstGeom prst="line">
            <a:avLst/>
          </a:prstGeom>
          <a:noFill/>
          <a:ln w="31750">
            <a:solidFill>
              <a:srgbClr val="2E8B57"/>
            </a:solidFill>
            <a:prstDash val="solid"/>
          </a:ln>
        </p:spPr>
      </p:sp>
      <p:sp>
        <p:nvSpPr>
          <p:cNvPr id="54" name="Shape 52"/>
          <p:cNvSpPr/>
          <p:nvPr/>
        </p:nvSpPr>
        <p:spPr>
          <a:xfrm>
            <a:off x="1802448" y="3629606"/>
            <a:ext cx="21273" cy="27994"/>
          </a:xfrm>
          <a:prstGeom prst="line">
            <a:avLst/>
          </a:prstGeom>
          <a:noFill/>
          <a:ln w="31750">
            <a:solidFill>
              <a:srgbClr val="2E8B57"/>
            </a:solidFill>
            <a:prstDash val="solid"/>
          </a:ln>
        </p:spPr>
      </p:sp>
      <p:sp>
        <p:nvSpPr>
          <p:cNvPr id="55" name="Shape 53"/>
          <p:cNvSpPr/>
          <p:nvPr/>
        </p:nvSpPr>
        <p:spPr>
          <a:xfrm>
            <a:off x="1823720" y="3657600"/>
            <a:ext cx="21272" cy="27994"/>
          </a:xfrm>
          <a:prstGeom prst="line">
            <a:avLst/>
          </a:prstGeom>
          <a:noFill/>
          <a:ln w="31750">
            <a:solidFill>
              <a:srgbClr val="2E8B57"/>
            </a:solidFill>
            <a:prstDash val="solid"/>
          </a:ln>
        </p:spPr>
      </p:sp>
      <p:sp>
        <p:nvSpPr>
          <p:cNvPr id="56" name="Shape 54"/>
          <p:cNvSpPr/>
          <p:nvPr/>
        </p:nvSpPr>
        <p:spPr>
          <a:xfrm>
            <a:off x="1844993" y="3685594"/>
            <a:ext cx="21272" cy="23732"/>
          </a:xfrm>
          <a:prstGeom prst="line">
            <a:avLst/>
          </a:prstGeom>
          <a:noFill/>
          <a:ln w="31750">
            <a:solidFill>
              <a:srgbClr val="2E8B57"/>
            </a:solidFill>
            <a:prstDash val="solid"/>
          </a:ln>
        </p:spPr>
      </p:sp>
      <p:sp>
        <p:nvSpPr>
          <p:cNvPr id="57" name="Shape 55"/>
          <p:cNvSpPr/>
          <p:nvPr/>
        </p:nvSpPr>
        <p:spPr>
          <a:xfrm>
            <a:off x="1866265" y="3709326"/>
            <a:ext cx="21273" cy="15857"/>
          </a:xfrm>
          <a:prstGeom prst="line">
            <a:avLst/>
          </a:prstGeom>
          <a:noFill/>
          <a:ln w="31750">
            <a:solidFill>
              <a:srgbClr val="2E8B57"/>
            </a:solidFill>
            <a:prstDash val="solid"/>
          </a:ln>
        </p:spPr>
      </p:sp>
      <p:sp>
        <p:nvSpPr>
          <p:cNvPr id="58" name="Shape 56"/>
          <p:cNvSpPr/>
          <p:nvPr/>
        </p:nvSpPr>
        <p:spPr>
          <a:xfrm>
            <a:off x="1887538" y="3725184"/>
            <a:ext cx="21272" cy="5568"/>
          </a:xfrm>
          <a:prstGeom prst="line">
            <a:avLst/>
          </a:prstGeom>
          <a:noFill/>
          <a:ln w="31750">
            <a:solidFill>
              <a:srgbClr val="2E8B57"/>
            </a:solidFill>
            <a:prstDash val="solid"/>
          </a:ln>
        </p:spPr>
      </p:sp>
      <p:sp>
        <p:nvSpPr>
          <p:cNvPr id="59" name="Shape 57"/>
          <p:cNvSpPr/>
          <p:nvPr/>
        </p:nvSpPr>
        <p:spPr>
          <a:xfrm flipV="1">
            <a:off x="1908810" y="3725184"/>
            <a:ext cx="21272" cy="5568"/>
          </a:xfrm>
          <a:prstGeom prst="line">
            <a:avLst/>
          </a:prstGeom>
          <a:noFill/>
          <a:ln w="31750">
            <a:solidFill>
              <a:srgbClr val="2E8B57"/>
            </a:solidFill>
            <a:prstDash val="solid"/>
          </a:ln>
        </p:spPr>
      </p:sp>
      <p:sp>
        <p:nvSpPr>
          <p:cNvPr id="60" name="Shape 58"/>
          <p:cNvSpPr/>
          <p:nvPr/>
        </p:nvSpPr>
        <p:spPr>
          <a:xfrm flipV="1">
            <a:off x="1930082" y="3709326"/>
            <a:ext cx="21273" cy="15857"/>
          </a:xfrm>
          <a:prstGeom prst="line">
            <a:avLst/>
          </a:prstGeom>
          <a:noFill/>
          <a:ln w="31750">
            <a:solidFill>
              <a:srgbClr val="2E8B57"/>
            </a:solidFill>
            <a:prstDash val="solid"/>
          </a:ln>
        </p:spPr>
      </p:sp>
      <p:sp>
        <p:nvSpPr>
          <p:cNvPr id="61" name="Shape 59"/>
          <p:cNvSpPr/>
          <p:nvPr/>
        </p:nvSpPr>
        <p:spPr>
          <a:xfrm flipV="1">
            <a:off x="1951355" y="3685594"/>
            <a:ext cx="21272" cy="23732"/>
          </a:xfrm>
          <a:prstGeom prst="line">
            <a:avLst/>
          </a:prstGeom>
          <a:noFill/>
          <a:ln w="31750">
            <a:solidFill>
              <a:srgbClr val="2E8B57"/>
            </a:solidFill>
            <a:prstDash val="solid"/>
          </a:ln>
        </p:spPr>
      </p:sp>
      <p:sp>
        <p:nvSpPr>
          <p:cNvPr id="62" name="Shape 60"/>
          <p:cNvSpPr/>
          <p:nvPr/>
        </p:nvSpPr>
        <p:spPr>
          <a:xfrm flipV="1">
            <a:off x="1972628" y="3657600"/>
            <a:ext cx="21272" cy="27994"/>
          </a:xfrm>
          <a:prstGeom prst="line">
            <a:avLst/>
          </a:prstGeom>
          <a:noFill/>
          <a:ln w="31750">
            <a:solidFill>
              <a:srgbClr val="2E8B57"/>
            </a:solidFill>
            <a:prstDash val="solid"/>
          </a:ln>
        </p:spPr>
      </p:sp>
      <p:sp>
        <p:nvSpPr>
          <p:cNvPr id="63" name="Shape 61"/>
          <p:cNvSpPr/>
          <p:nvPr/>
        </p:nvSpPr>
        <p:spPr>
          <a:xfrm flipV="1">
            <a:off x="1993900" y="3629606"/>
            <a:ext cx="21272" cy="27994"/>
          </a:xfrm>
          <a:prstGeom prst="line">
            <a:avLst/>
          </a:prstGeom>
          <a:noFill/>
          <a:ln w="31750">
            <a:solidFill>
              <a:srgbClr val="2E8B57"/>
            </a:solidFill>
            <a:prstDash val="solid"/>
          </a:ln>
        </p:spPr>
      </p:sp>
      <p:sp>
        <p:nvSpPr>
          <p:cNvPr id="64" name="Shape 62"/>
          <p:cNvSpPr/>
          <p:nvPr/>
        </p:nvSpPr>
        <p:spPr>
          <a:xfrm flipV="1">
            <a:off x="2015172" y="3605874"/>
            <a:ext cx="21273" cy="23732"/>
          </a:xfrm>
          <a:prstGeom prst="line">
            <a:avLst/>
          </a:prstGeom>
          <a:noFill/>
          <a:ln w="31750">
            <a:solidFill>
              <a:srgbClr val="2E8B57"/>
            </a:solidFill>
            <a:prstDash val="solid"/>
          </a:ln>
        </p:spPr>
      </p:sp>
      <p:sp>
        <p:nvSpPr>
          <p:cNvPr id="65" name="Shape 63"/>
          <p:cNvSpPr/>
          <p:nvPr/>
        </p:nvSpPr>
        <p:spPr>
          <a:xfrm flipV="1">
            <a:off x="2036445" y="3590016"/>
            <a:ext cx="21272" cy="15857"/>
          </a:xfrm>
          <a:prstGeom prst="line">
            <a:avLst/>
          </a:prstGeom>
          <a:noFill/>
          <a:ln w="31750">
            <a:solidFill>
              <a:srgbClr val="2E8B57"/>
            </a:solidFill>
            <a:prstDash val="solid"/>
          </a:ln>
        </p:spPr>
      </p:sp>
      <p:sp>
        <p:nvSpPr>
          <p:cNvPr id="66" name="Shape 64"/>
          <p:cNvSpPr/>
          <p:nvPr/>
        </p:nvSpPr>
        <p:spPr>
          <a:xfrm flipV="1">
            <a:off x="2057717" y="3584448"/>
            <a:ext cx="21273" cy="5568"/>
          </a:xfrm>
          <a:prstGeom prst="line">
            <a:avLst/>
          </a:prstGeom>
          <a:noFill/>
          <a:ln w="31750">
            <a:solidFill>
              <a:srgbClr val="2E8B57"/>
            </a:solidFill>
            <a:prstDash val="solid"/>
          </a:ln>
        </p:spPr>
      </p:sp>
      <p:sp>
        <p:nvSpPr>
          <p:cNvPr id="67" name="Shape 65"/>
          <p:cNvSpPr/>
          <p:nvPr/>
        </p:nvSpPr>
        <p:spPr>
          <a:xfrm>
            <a:off x="2078990" y="3584448"/>
            <a:ext cx="21272" cy="5568"/>
          </a:xfrm>
          <a:prstGeom prst="line">
            <a:avLst/>
          </a:prstGeom>
          <a:noFill/>
          <a:ln w="31750">
            <a:solidFill>
              <a:srgbClr val="2E8B57"/>
            </a:solidFill>
            <a:prstDash val="solid"/>
          </a:ln>
        </p:spPr>
      </p:sp>
      <p:sp>
        <p:nvSpPr>
          <p:cNvPr id="68" name="Shape 66"/>
          <p:cNvSpPr/>
          <p:nvPr/>
        </p:nvSpPr>
        <p:spPr>
          <a:xfrm>
            <a:off x="2100263" y="3590016"/>
            <a:ext cx="21272" cy="15857"/>
          </a:xfrm>
          <a:prstGeom prst="line">
            <a:avLst/>
          </a:prstGeom>
          <a:noFill/>
          <a:ln w="31750">
            <a:solidFill>
              <a:srgbClr val="2E8B57"/>
            </a:solidFill>
            <a:prstDash val="solid"/>
          </a:ln>
        </p:spPr>
      </p:sp>
      <p:sp>
        <p:nvSpPr>
          <p:cNvPr id="69" name="Shape 67"/>
          <p:cNvSpPr/>
          <p:nvPr/>
        </p:nvSpPr>
        <p:spPr>
          <a:xfrm>
            <a:off x="2121535" y="3605874"/>
            <a:ext cx="21272" cy="23732"/>
          </a:xfrm>
          <a:prstGeom prst="line">
            <a:avLst/>
          </a:prstGeom>
          <a:noFill/>
          <a:ln w="31750">
            <a:solidFill>
              <a:srgbClr val="2E8B57"/>
            </a:solidFill>
            <a:prstDash val="solid"/>
          </a:ln>
        </p:spPr>
      </p:sp>
      <p:sp>
        <p:nvSpPr>
          <p:cNvPr id="70" name="Shape 68"/>
          <p:cNvSpPr/>
          <p:nvPr/>
        </p:nvSpPr>
        <p:spPr>
          <a:xfrm>
            <a:off x="2142807" y="3629606"/>
            <a:ext cx="21272" cy="27994"/>
          </a:xfrm>
          <a:prstGeom prst="line">
            <a:avLst/>
          </a:prstGeom>
          <a:noFill/>
          <a:ln w="31750">
            <a:solidFill>
              <a:srgbClr val="2E8B57"/>
            </a:solidFill>
            <a:prstDash val="solid"/>
          </a:ln>
        </p:spPr>
      </p:sp>
      <p:sp>
        <p:nvSpPr>
          <p:cNvPr id="71" name="Shape 69"/>
          <p:cNvSpPr/>
          <p:nvPr/>
        </p:nvSpPr>
        <p:spPr>
          <a:xfrm>
            <a:off x="2164080" y="3657600"/>
            <a:ext cx="21273" cy="27994"/>
          </a:xfrm>
          <a:prstGeom prst="line">
            <a:avLst/>
          </a:prstGeom>
          <a:noFill/>
          <a:ln w="31750">
            <a:solidFill>
              <a:srgbClr val="2E8B57"/>
            </a:solidFill>
            <a:prstDash val="solid"/>
          </a:ln>
        </p:spPr>
      </p:sp>
      <p:sp>
        <p:nvSpPr>
          <p:cNvPr id="72" name="Shape 70"/>
          <p:cNvSpPr/>
          <p:nvPr/>
        </p:nvSpPr>
        <p:spPr>
          <a:xfrm>
            <a:off x="2185353" y="3685594"/>
            <a:ext cx="21272" cy="23732"/>
          </a:xfrm>
          <a:prstGeom prst="line">
            <a:avLst/>
          </a:prstGeom>
          <a:noFill/>
          <a:ln w="31750">
            <a:solidFill>
              <a:srgbClr val="2E8B57"/>
            </a:solidFill>
            <a:prstDash val="solid"/>
          </a:ln>
        </p:spPr>
      </p:sp>
      <p:sp>
        <p:nvSpPr>
          <p:cNvPr id="73" name="Shape 71"/>
          <p:cNvSpPr/>
          <p:nvPr/>
        </p:nvSpPr>
        <p:spPr>
          <a:xfrm>
            <a:off x="2206625" y="3709326"/>
            <a:ext cx="21273" cy="15857"/>
          </a:xfrm>
          <a:prstGeom prst="line">
            <a:avLst/>
          </a:prstGeom>
          <a:noFill/>
          <a:ln w="31750">
            <a:solidFill>
              <a:srgbClr val="2E8B57"/>
            </a:solidFill>
            <a:prstDash val="solid"/>
          </a:ln>
        </p:spPr>
      </p:sp>
      <p:sp>
        <p:nvSpPr>
          <p:cNvPr id="74" name="Shape 72"/>
          <p:cNvSpPr/>
          <p:nvPr/>
        </p:nvSpPr>
        <p:spPr>
          <a:xfrm>
            <a:off x="2227898" y="3725184"/>
            <a:ext cx="21272" cy="5568"/>
          </a:xfrm>
          <a:prstGeom prst="line">
            <a:avLst/>
          </a:prstGeom>
          <a:noFill/>
          <a:ln w="31750">
            <a:solidFill>
              <a:srgbClr val="2E8B57"/>
            </a:solidFill>
            <a:prstDash val="solid"/>
          </a:ln>
        </p:spPr>
      </p:sp>
      <p:sp>
        <p:nvSpPr>
          <p:cNvPr id="75" name="Shape 73"/>
          <p:cNvSpPr/>
          <p:nvPr/>
        </p:nvSpPr>
        <p:spPr>
          <a:xfrm flipV="1">
            <a:off x="2249170" y="3725184"/>
            <a:ext cx="21272" cy="5568"/>
          </a:xfrm>
          <a:prstGeom prst="line">
            <a:avLst/>
          </a:prstGeom>
          <a:noFill/>
          <a:ln w="31750">
            <a:solidFill>
              <a:srgbClr val="2E8B57"/>
            </a:solidFill>
            <a:prstDash val="solid"/>
          </a:ln>
        </p:spPr>
      </p:sp>
      <p:sp>
        <p:nvSpPr>
          <p:cNvPr id="76" name="Shape 74"/>
          <p:cNvSpPr/>
          <p:nvPr/>
        </p:nvSpPr>
        <p:spPr>
          <a:xfrm flipV="1">
            <a:off x="2270443" y="3709326"/>
            <a:ext cx="21272" cy="15857"/>
          </a:xfrm>
          <a:prstGeom prst="line">
            <a:avLst/>
          </a:prstGeom>
          <a:noFill/>
          <a:ln w="31750">
            <a:solidFill>
              <a:srgbClr val="2E8B57"/>
            </a:solidFill>
            <a:prstDash val="solid"/>
          </a:ln>
        </p:spPr>
      </p:sp>
      <p:sp>
        <p:nvSpPr>
          <p:cNvPr id="77" name="Shape 75"/>
          <p:cNvSpPr/>
          <p:nvPr/>
        </p:nvSpPr>
        <p:spPr>
          <a:xfrm flipV="1">
            <a:off x="2291715" y="3685594"/>
            <a:ext cx="21272" cy="23732"/>
          </a:xfrm>
          <a:prstGeom prst="line">
            <a:avLst/>
          </a:prstGeom>
          <a:noFill/>
          <a:ln w="31750">
            <a:solidFill>
              <a:srgbClr val="2E8B57"/>
            </a:solidFill>
            <a:prstDash val="solid"/>
          </a:ln>
        </p:spPr>
      </p:sp>
      <p:sp>
        <p:nvSpPr>
          <p:cNvPr id="78" name="Shape 76"/>
          <p:cNvSpPr/>
          <p:nvPr/>
        </p:nvSpPr>
        <p:spPr>
          <a:xfrm flipV="1">
            <a:off x="2312987" y="3657600"/>
            <a:ext cx="21273" cy="27994"/>
          </a:xfrm>
          <a:prstGeom prst="line">
            <a:avLst/>
          </a:prstGeom>
          <a:noFill/>
          <a:ln w="31750">
            <a:solidFill>
              <a:srgbClr val="2E8B57"/>
            </a:solidFill>
            <a:prstDash val="solid"/>
          </a:ln>
        </p:spPr>
      </p:sp>
      <p:sp>
        <p:nvSpPr>
          <p:cNvPr id="79" name="Shape 77"/>
          <p:cNvSpPr/>
          <p:nvPr/>
        </p:nvSpPr>
        <p:spPr>
          <a:xfrm flipV="1">
            <a:off x="2334260" y="3629606"/>
            <a:ext cx="21273" cy="27994"/>
          </a:xfrm>
          <a:prstGeom prst="line">
            <a:avLst/>
          </a:prstGeom>
          <a:noFill/>
          <a:ln w="31750">
            <a:solidFill>
              <a:srgbClr val="2E8B57"/>
            </a:solidFill>
            <a:prstDash val="solid"/>
          </a:ln>
        </p:spPr>
      </p:sp>
      <p:sp>
        <p:nvSpPr>
          <p:cNvPr id="80" name="Shape 78"/>
          <p:cNvSpPr/>
          <p:nvPr/>
        </p:nvSpPr>
        <p:spPr>
          <a:xfrm flipV="1">
            <a:off x="2355533" y="3605874"/>
            <a:ext cx="21272" cy="23732"/>
          </a:xfrm>
          <a:prstGeom prst="line">
            <a:avLst/>
          </a:prstGeom>
          <a:noFill/>
          <a:ln w="31750">
            <a:solidFill>
              <a:srgbClr val="2E8B57"/>
            </a:solidFill>
            <a:prstDash val="solid"/>
          </a:ln>
        </p:spPr>
      </p:sp>
      <p:sp>
        <p:nvSpPr>
          <p:cNvPr id="81" name="Shape 79"/>
          <p:cNvSpPr/>
          <p:nvPr/>
        </p:nvSpPr>
        <p:spPr>
          <a:xfrm flipV="1">
            <a:off x="2376805" y="3590016"/>
            <a:ext cx="21272" cy="15857"/>
          </a:xfrm>
          <a:prstGeom prst="line">
            <a:avLst/>
          </a:prstGeom>
          <a:noFill/>
          <a:ln w="31750">
            <a:solidFill>
              <a:srgbClr val="2E8B57"/>
            </a:solidFill>
            <a:prstDash val="solid"/>
          </a:ln>
        </p:spPr>
      </p:sp>
      <p:sp>
        <p:nvSpPr>
          <p:cNvPr id="82" name="Shape 80"/>
          <p:cNvSpPr/>
          <p:nvPr/>
        </p:nvSpPr>
        <p:spPr>
          <a:xfrm flipV="1">
            <a:off x="2398078" y="3584448"/>
            <a:ext cx="21272" cy="5568"/>
          </a:xfrm>
          <a:prstGeom prst="line">
            <a:avLst/>
          </a:prstGeom>
          <a:noFill/>
          <a:ln w="31750">
            <a:solidFill>
              <a:srgbClr val="2E8B57"/>
            </a:solidFill>
            <a:prstDash val="solid"/>
          </a:ln>
        </p:spPr>
      </p:sp>
      <p:sp>
        <p:nvSpPr>
          <p:cNvPr id="83" name="Shape 81"/>
          <p:cNvSpPr/>
          <p:nvPr/>
        </p:nvSpPr>
        <p:spPr>
          <a:xfrm>
            <a:off x="2419350" y="3584448"/>
            <a:ext cx="21272" cy="5568"/>
          </a:xfrm>
          <a:prstGeom prst="line">
            <a:avLst/>
          </a:prstGeom>
          <a:noFill/>
          <a:ln w="31750">
            <a:solidFill>
              <a:srgbClr val="2E8B57"/>
            </a:solidFill>
            <a:prstDash val="solid"/>
          </a:ln>
        </p:spPr>
      </p:sp>
      <p:sp>
        <p:nvSpPr>
          <p:cNvPr id="84" name="Shape 82"/>
          <p:cNvSpPr/>
          <p:nvPr/>
        </p:nvSpPr>
        <p:spPr>
          <a:xfrm>
            <a:off x="2440622" y="3590016"/>
            <a:ext cx="21273" cy="15857"/>
          </a:xfrm>
          <a:prstGeom prst="line">
            <a:avLst/>
          </a:prstGeom>
          <a:noFill/>
          <a:ln w="31750">
            <a:solidFill>
              <a:srgbClr val="2E8B57"/>
            </a:solidFill>
            <a:prstDash val="solid"/>
          </a:ln>
        </p:spPr>
      </p:sp>
      <p:sp>
        <p:nvSpPr>
          <p:cNvPr id="85" name="Shape 83"/>
          <p:cNvSpPr/>
          <p:nvPr/>
        </p:nvSpPr>
        <p:spPr>
          <a:xfrm>
            <a:off x="2461895" y="3605874"/>
            <a:ext cx="21272" cy="23732"/>
          </a:xfrm>
          <a:prstGeom prst="line">
            <a:avLst/>
          </a:prstGeom>
          <a:noFill/>
          <a:ln w="31750">
            <a:solidFill>
              <a:srgbClr val="2E8B57"/>
            </a:solidFill>
            <a:prstDash val="solid"/>
          </a:ln>
        </p:spPr>
      </p:sp>
      <p:sp>
        <p:nvSpPr>
          <p:cNvPr id="86" name="Shape 84"/>
          <p:cNvSpPr/>
          <p:nvPr/>
        </p:nvSpPr>
        <p:spPr>
          <a:xfrm>
            <a:off x="2483167" y="3629606"/>
            <a:ext cx="21273" cy="27994"/>
          </a:xfrm>
          <a:prstGeom prst="line">
            <a:avLst/>
          </a:prstGeom>
          <a:noFill/>
          <a:ln w="31750">
            <a:solidFill>
              <a:srgbClr val="2E8B57"/>
            </a:solidFill>
            <a:prstDash val="solid"/>
          </a:ln>
        </p:spPr>
      </p:sp>
      <p:sp>
        <p:nvSpPr>
          <p:cNvPr id="87" name="Shape 85"/>
          <p:cNvSpPr/>
          <p:nvPr/>
        </p:nvSpPr>
        <p:spPr>
          <a:xfrm>
            <a:off x="2504440" y="3657600"/>
            <a:ext cx="21272" cy="27994"/>
          </a:xfrm>
          <a:prstGeom prst="line">
            <a:avLst/>
          </a:prstGeom>
          <a:noFill/>
          <a:ln w="31750">
            <a:solidFill>
              <a:srgbClr val="2E8B57"/>
            </a:solidFill>
            <a:prstDash val="solid"/>
          </a:ln>
        </p:spPr>
      </p:sp>
      <p:sp>
        <p:nvSpPr>
          <p:cNvPr id="88" name="Shape 86"/>
          <p:cNvSpPr/>
          <p:nvPr/>
        </p:nvSpPr>
        <p:spPr>
          <a:xfrm>
            <a:off x="2525713" y="3685594"/>
            <a:ext cx="21272" cy="23732"/>
          </a:xfrm>
          <a:prstGeom prst="line">
            <a:avLst/>
          </a:prstGeom>
          <a:noFill/>
          <a:ln w="31750">
            <a:solidFill>
              <a:srgbClr val="2E8B57"/>
            </a:solidFill>
            <a:prstDash val="solid"/>
          </a:ln>
        </p:spPr>
      </p:sp>
      <p:sp>
        <p:nvSpPr>
          <p:cNvPr id="89" name="Shape 87"/>
          <p:cNvSpPr/>
          <p:nvPr/>
        </p:nvSpPr>
        <p:spPr>
          <a:xfrm>
            <a:off x="2546985" y="3709326"/>
            <a:ext cx="21272" cy="15857"/>
          </a:xfrm>
          <a:prstGeom prst="line">
            <a:avLst/>
          </a:prstGeom>
          <a:noFill/>
          <a:ln w="31750">
            <a:solidFill>
              <a:srgbClr val="2E8B57"/>
            </a:solidFill>
            <a:prstDash val="solid"/>
          </a:ln>
        </p:spPr>
      </p:sp>
      <p:sp>
        <p:nvSpPr>
          <p:cNvPr id="90" name="Shape 88"/>
          <p:cNvSpPr/>
          <p:nvPr/>
        </p:nvSpPr>
        <p:spPr>
          <a:xfrm>
            <a:off x="2568257" y="3725184"/>
            <a:ext cx="21272" cy="5568"/>
          </a:xfrm>
          <a:prstGeom prst="line">
            <a:avLst/>
          </a:prstGeom>
          <a:noFill/>
          <a:ln w="31750">
            <a:solidFill>
              <a:srgbClr val="2E8B57"/>
            </a:solidFill>
            <a:prstDash val="solid"/>
          </a:ln>
        </p:spPr>
      </p:sp>
      <p:sp>
        <p:nvSpPr>
          <p:cNvPr id="91" name="Shape 89"/>
          <p:cNvSpPr/>
          <p:nvPr/>
        </p:nvSpPr>
        <p:spPr>
          <a:xfrm flipV="1">
            <a:off x="2589530" y="3725184"/>
            <a:ext cx="21273" cy="5568"/>
          </a:xfrm>
          <a:prstGeom prst="line">
            <a:avLst/>
          </a:prstGeom>
          <a:noFill/>
          <a:ln w="31750">
            <a:solidFill>
              <a:srgbClr val="2E8B57"/>
            </a:solidFill>
            <a:prstDash val="solid"/>
          </a:ln>
        </p:spPr>
      </p:sp>
      <p:sp>
        <p:nvSpPr>
          <p:cNvPr id="92" name="Shape 90"/>
          <p:cNvSpPr/>
          <p:nvPr/>
        </p:nvSpPr>
        <p:spPr>
          <a:xfrm flipV="1">
            <a:off x="2610803" y="3709326"/>
            <a:ext cx="21273" cy="15857"/>
          </a:xfrm>
          <a:prstGeom prst="line">
            <a:avLst/>
          </a:prstGeom>
          <a:noFill/>
          <a:ln w="31750">
            <a:solidFill>
              <a:srgbClr val="2E8B57"/>
            </a:solidFill>
            <a:prstDash val="solid"/>
          </a:ln>
        </p:spPr>
      </p:sp>
      <p:sp>
        <p:nvSpPr>
          <p:cNvPr id="93" name="Shape 91"/>
          <p:cNvSpPr/>
          <p:nvPr/>
        </p:nvSpPr>
        <p:spPr>
          <a:xfrm flipV="1">
            <a:off x="2632075" y="3685594"/>
            <a:ext cx="21272" cy="23732"/>
          </a:xfrm>
          <a:prstGeom prst="line">
            <a:avLst/>
          </a:prstGeom>
          <a:noFill/>
          <a:ln w="31750">
            <a:solidFill>
              <a:srgbClr val="2E8B57"/>
            </a:solidFill>
            <a:prstDash val="solid"/>
          </a:ln>
        </p:spPr>
      </p:sp>
      <p:sp>
        <p:nvSpPr>
          <p:cNvPr id="94" name="Shape 92"/>
          <p:cNvSpPr/>
          <p:nvPr/>
        </p:nvSpPr>
        <p:spPr>
          <a:xfrm flipV="1">
            <a:off x="2653348" y="3657600"/>
            <a:ext cx="21272" cy="27994"/>
          </a:xfrm>
          <a:prstGeom prst="line">
            <a:avLst/>
          </a:prstGeom>
          <a:noFill/>
          <a:ln w="31750">
            <a:solidFill>
              <a:srgbClr val="2E8B57"/>
            </a:solidFill>
            <a:prstDash val="solid"/>
          </a:ln>
        </p:spPr>
      </p:sp>
      <p:sp>
        <p:nvSpPr>
          <p:cNvPr id="95" name="Shape 93"/>
          <p:cNvSpPr/>
          <p:nvPr/>
        </p:nvSpPr>
        <p:spPr>
          <a:xfrm flipV="1">
            <a:off x="2674620" y="3629606"/>
            <a:ext cx="21272" cy="27994"/>
          </a:xfrm>
          <a:prstGeom prst="line">
            <a:avLst/>
          </a:prstGeom>
          <a:noFill/>
          <a:ln w="31750">
            <a:solidFill>
              <a:srgbClr val="2E8B57"/>
            </a:solidFill>
            <a:prstDash val="solid"/>
          </a:ln>
        </p:spPr>
      </p:sp>
      <p:sp>
        <p:nvSpPr>
          <p:cNvPr id="96" name="Shape 94"/>
          <p:cNvSpPr/>
          <p:nvPr/>
        </p:nvSpPr>
        <p:spPr>
          <a:xfrm flipV="1">
            <a:off x="2695892" y="3605874"/>
            <a:ext cx="21272" cy="23732"/>
          </a:xfrm>
          <a:prstGeom prst="line">
            <a:avLst/>
          </a:prstGeom>
          <a:noFill/>
          <a:ln w="31750">
            <a:solidFill>
              <a:srgbClr val="2E8B57"/>
            </a:solidFill>
            <a:prstDash val="solid"/>
          </a:ln>
        </p:spPr>
      </p:sp>
      <p:sp>
        <p:nvSpPr>
          <p:cNvPr id="97" name="Shape 95"/>
          <p:cNvSpPr/>
          <p:nvPr/>
        </p:nvSpPr>
        <p:spPr>
          <a:xfrm flipV="1">
            <a:off x="2717165" y="3590016"/>
            <a:ext cx="21273" cy="15857"/>
          </a:xfrm>
          <a:prstGeom prst="line">
            <a:avLst/>
          </a:prstGeom>
          <a:noFill/>
          <a:ln w="31750">
            <a:solidFill>
              <a:srgbClr val="2E8B57"/>
            </a:solidFill>
            <a:prstDash val="solid"/>
          </a:ln>
        </p:spPr>
      </p:sp>
      <p:sp>
        <p:nvSpPr>
          <p:cNvPr id="98" name="Shape 96"/>
          <p:cNvSpPr/>
          <p:nvPr/>
        </p:nvSpPr>
        <p:spPr>
          <a:xfrm flipV="1">
            <a:off x="2738438" y="3584448"/>
            <a:ext cx="21273" cy="5568"/>
          </a:xfrm>
          <a:prstGeom prst="line">
            <a:avLst/>
          </a:prstGeom>
          <a:noFill/>
          <a:ln w="31750">
            <a:solidFill>
              <a:srgbClr val="2E8B57"/>
            </a:solidFill>
            <a:prstDash val="solid"/>
          </a:ln>
        </p:spPr>
      </p:sp>
      <p:sp>
        <p:nvSpPr>
          <p:cNvPr id="99" name="Shape 97"/>
          <p:cNvSpPr/>
          <p:nvPr/>
        </p:nvSpPr>
        <p:spPr>
          <a:xfrm>
            <a:off x="2759710" y="3584448"/>
            <a:ext cx="21272" cy="5568"/>
          </a:xfrm>
          <a:prstGeom prst="line">
            <a:avLst/>
          </a:prstGeom>
          <a:noFill/>
          <a:ln w="31750">
            <a:solidFill>
              <a:srgbClr val="2E8B57"/>
            </a:solidFill>
            <a:prstDash val="solid"/>
          </a:ln>
        </p:spPr>
      </p:sp>
      <p:sp>
        <p:nvSpPr>
          <p:cNvPr id="100" name="Shape 98"/>
          <p:cNvSpPr/>
          <p:nvPr/>
        </p:nvSpPr>
        <p:spPr>
          <a:xfrm>
            <a:off x="2780983" y="3590016"/>
            <a:ext cx="21272" cy="15857"/>
          </a:xfrm>
          <a:prstGeom prst="line">
            <a:avLst/>
          </a:prstGeom>
          <a:noFill/>
          <a:ln w="31750">
            <a:solidFill>
              <a:srgbClr val="2E8B57"/>
            </a:solidFill>
            <a:prstDash val="solid"/>
          </a:ln>
        </p:spPr>
      </p:sp>
      <p:sp>
        <p:nvSpPr>
          <p:cNvPr id="101" name="Shape 99"/>
          <p:cNvSpPr/>
          <p:nvPr/>
        </p:nvSpPr>
        <p:spPr>
          <a:xfrm>
            <a:off x="2802255" y="3605874"/>
            <a:ext cx="21272" cy="23732"/>
          </a:xfrm>
          <a:prstGeom prst="line">
            <a:avLst/>
          </a:prstGeom>
          <a:noFill/>
          <a:ln w="31750">
            <a:solidFill>
              <a:srgbClr val="2E8B57"/>
            </a:solidFill>
            <a:prstDash val="solid"/>
          </a:ln>
        </p:spPr>
      </p:sp>
      <p:sp>
        <p:nvSpPr>
          <p:cNvPr id="102" name="Shape 100"/>
          <p:cNvSpPr/>
          <p:nvPr/>
        </p:nvSpPr>
        <p:spPr>
          <a:xfrm>
            <a:off x="2823527" y="3629606"/>
            <a:ext cx="21272" cy="27994"/>
          </a:xfrm>
          <a:prstGeom prst="line">
            <a:avLst/>
          </a:prstGeom>
          <a:noFill/>
          <a:ln w="31750">
            <a:solidFill>
              <a:srgbClr val="2E8B57"/>
            </a:solidFill>
            <a:prstDash val="solid"/>
          </a:ln>
        </p:spPr>
      </p:sp>
      <p:sp>
        <p:nvSpPr>
          <p:cNvPr id="103" name="Shape 101"/>
          <p:cNvSpPr/>
          <p:nvPr/>
        </p:nvSpPr>
        <p:spPr>
          <a:xfrm>
            <a:off x="2844800" y="3657600"/>
            <a:ext cx="21273" cy="27994"/>
          </a:xfrm>
          <a:prstGeom prst="line">
            <a:avLst/>
          </a:prstGeom>
          <a:noFill/>
          <a:ln w="31750">
            <a:solidFill>
              <a:srgbClr val="2E8B57"/>
            </a:solidFill>
            <a:prstDash val="solid"/>
          </a:ln>
        </p:spPr>
      </p:sp>
      <p:sp>
        <p:nvSpPr>
          <p:cNvPr id="104" name="Shape 102"/>
          <p:cNvSpPr/>
          <p:nvPr/>
        </p:nvSpPr>
        <p:spPr>
          <a:xfrm>
            <a:off x="2866073" y="3685594"/>
            <a:ext cx="21272" cy="23732"/>
          </a:xfrm>
          <a:prstGeom prst="line">
            <a:avLst/>
          </a:prstGeom>
          <a:noFill/>
          <a:ln w="31750">
            <a:solidFill>
              <a:srgbClr val="2E8B57"/>
            </a:solidFill>
            <a:prstDash val="solid"/>
          </a:ln>
        </p:spPr>
      </p:sp>
      <p:sp>
        <p:nvSpPr>
          <p:cNvPr id="105" name="Shape 103"/>
          <p:cNvSpPr/>
          <p:nvPr/>
        </p:nvSpPr>
        <p:spPr>
          <a:xfrm>
            <a:off x="2887345" y="3709326"/>
            <a:ext cx="21272" cy="15857"/>
          </a:xfrm>
          <a:prstGeom prst="line">
            <a:avLst/>
          </a:prstGeom>
          <a:noFill/>
          <a:ln w="31750">
            <a:solidFill>
              <a:srgbClr val="2E8B57"/>
            </a:solidFill>
            <a:prstDash val="solid"/>
          </a:ln>
        </p:spPr>
      </p:sp>
      <p:sp>
        <p:nvSpPr>
          <p:cNvPr id="106" name="Shape 104"/>
          <p:cNvSpPr/>
          <p:nvPr/>
        </p:nvSpPr>
        <p:spPr>
          <a:xfrm>
            <a:off x="2908617" y="3725184"/>
            <a:ext cx="21273" cy="5568"/>
          </a:xfrm>
          <a:prstGeom prst="line">
            <a:avLst/>
          </a:prstGeom>
          <a:noFill/>
          <a:ln w="31750">
            <a:solidFill>
              <a:srgbClr val="2E8B57"/>
            </a:solidFill>
            <a:prstDash val="solid"/>
          </a:ln>
        </p:spPr>
      </p:sp>
      <p:sp>
        <p:nvSpPr>
          <p:cNvPr id="107" name="Shape 105"/>
          <p:cNvSpPr/>
          <p:nvPr/>
        </p:nvSpPr>
        <p:spPr>
          <a:xfrm flipV="1">
            <a:off x="2929890" y="3725184"/>
            <a:ext cx="21272" cy="5568"/>
          </a:xfrm>
          <a:prstGeom prst="line">
            <a:avLst/>
          </a:prstGeom>
          <a:noFill/>
          <a:ln w="31750">
            <a:solidFill>
              <a:srgbClr val="2E8B57"/>
            </a:solidFill>
            <a:prstDash val="solid"/>
          </a:ln>
        </p:spPr>
      </p:sp>
      <p:sp>
        <p:nvSpPr>
          <p:cNvPr id="108" name="Shape 106"/>
          <p:cNvSpPr/>
          <p:nvPr/>
        </p:nvSpPr>
        <p:spPr>
          <a:xfrm flipV="1">
            <a:off x="2951163" y="3709326"/>
            <a:ext cx="21272" cy="15857"/>
          </a:xfrm>
          <a:prstGeom prst="line">
            <a:avLst/>
          </a:prstGeom>
          <a:noFill/>
          <a:ln w="31750">
            <a:solidFill>
              <a:srgbClr val="2E8B57"/>
            </a:solidFill>
            <a:prstDash val="solid"/>
          </a:ln>
        </p:spPr>
      </p:sp>
      <p:sp>
        <p:nvSpPr>
          <p:cNvPr id="109" name="Shape 107"/>
          <p:cNvSpPr/>
          <p:nvPr/>
        </p:nvSpPr>
        <p:spPr>
          <a:xfrm flipV="1">
            <a:off x="2972435" y="3685594"/>
            <a:ext cx="21272" cy="23732"/>
          </a:xfrm>
          <a:prstGeom prst="line">
            <a:avLst/>
          </a:prstGeom>
          <a:noFill/>
          <a:ln w="31750">
            <a:solidFill>
              <a:srgbClr val="2E8B57"/>
            </a:solidFill>
            <a:prstDash val="solid"/>
          </a:ln>
        </p:spPr>
      </p:sp>
      <p:sp>
        <p:nvSpPr>
          <p:cNvPr id="110" name="Shape 108"/>
          <p:cNvSpPr/>
          <p:nvPr/>
        </p:nvSpPr>
        <p:spPr>
          <a:xfrm flipV="1">
            <a:off x="2993707" y="3657600"/>
            <a:ext cx="21273" cy="27994"/>
          </a:xfrm>
          <a:prstGeom prst="line">
            <a:avLst/>
          </a:prstGeom>
          <a:noFill/>
          <a:ln w="31750">
            <a:solidFill>
              <a:srgbClr val="2E8B57"/>
            </a:solidFill>
            <a:prstDash val="solid"/>
          </a:ln>
        </p:spPr>
      </p:sp>
      <p:sp>
        <p:nvSpPr>
          <p:cNvPr id="111" name="Shape 109"/>
          <p:cNvSpPr/>
          <p:nvPr/>
        </p:nvSpPr>
        <p:spPr>
          <a:xfrm flipV="1">
            <a:off x="3014980" y="3629606"/>
            <a:ext cx="21272" cy="27994"/>
          </a:xfrm>
          <a:prstGeom prst="line">
            <a:avLst/>
          </a:prstGeom>
          <a:noFill/>
          <a:ln w="31750">
            <a:solidFill>
              <a:srgbClr val="2E8B57"/>
            </a:solidFill>
            <a:prstDash val="solid"/>
          </a:ln>
        </p:spPr>
      </p:sp>
      <p:sp>
        <p:nvSpPr>
          <p:cNvPr id="112" name="Shape 110"/>
          <p:cNvSpPr/>
          <p:nvPr/>
        </p:nvSpPr>
        <p:spPr>
          <a:xfrm flipV="1">
            <a:off x="3036252" y="3605874"/>
            <a:ext cx="21273" cy="23732"/>
          </a:xfrm>
          <a:prstGeom prst="line">
            <a:avLst/>
          </a:prstGeom>
          <a:noFill/>
          <a:ln w="31750">
            <a:solidFill>
              <a:srgbClr val="2E8B57"/>
            </a:solidFill>
            <a:prstDash val="solid"/>
          </a:ln>
        </p:spPr>
      </p:sp>
      <p:sp>
        <p:nvSpPr>
          <p:cNvPr id="113" name="Shape 111"/>
          <p:cNvSpPr/>
          <p:nvPr/>
        </p:nvSpPr>
        <p:spPr>
          <a:xfrm flipV="1">
            <a:off x="3057525" y="3590016"/>
            <a:ext cx="21272" cy="15857"/>
          </a:xfrm>
          <a:prstGeom prst="line">
            <a:avLst/>
          </a:prstGeom>
          <a:noFill/>
          <a:ln w="31750">
            <a:solidFill>
              <a:srgbClr val="2E8B57"/>
            </a:solidFill>
            <a:prstDash val="solid"/>
          </a:ln>
        </p:spPr>
      </p:sp>
      <p:sp>
        <p:nvSpPr>
          <p:cNvPr id="114" name="Shape 112"/>
          <p:cNvSpPr/>
          <p:nvPr/>
        </p:nvSpPr>
        <p:spPr>
          <a:xfrm flipV="1">
            <a:off x="3078798" y="3584448"/>
            <a:ext cx="21272" cy="5568"/>
          </a:xfrm>
          <a:prstGeom prst="line">
            <a:avLst/>
          </a:prstGeom>
          <a:noFill/>
          <a:ln w="31750">
            <a:solidFill>
              <a:srgbClr val="2E8B57"/>
            </a:solidFill>
            <a:prstDash val="solid"/>
          </a:ln>
        </p:spPr>
      </p:sp>
      <p:sp>
        <p:nvSpPr>
          <p:cNvPr id="115" name="Shape 113"/>
          <p:cNvSpPr/>
          <p:nvPr/>
        </p:nvSpPr>
        <p:spPr>
          <a:xfrm>
            <a:off x="3100070" y="3584448"/>
            <a:ext cx="21273" cy="5568"/>
          </a:xfrm>
          <a:prstGeom prst="line">
            <a:avLst/>
          </a:prstGeom>
          <a:noFill/>
          <a:ln w="31750">
            <a:solidFill>
              <a:srgbClr val="2E8B57"/>
            </a:solidFill>
            <a:prstDash val="solid"/>
          </a:ln>
        </p:spPr>
      </p:sp>
      <p:sp>
        <p:nvSpPr>
          <p:cNvPr id="116" name="Shape 114"/>
          <p:cNvSpPr/>
          <p:nvPr/>
        </p:nvSpPr>
        <p:spPr>
          <a:xfrm>
            <a:off x="3121343" y="3590016"/>
            <a:ext cx="21272" cy="15857"/>
          </a:xfrm>
          <a:prstGeom prst="line">
            <a:avLst/>
          </a:prstGeom>
          <a:noFill/>
          <a:ln w="31750">
            <a:solidFill>
              <a:srgbClr val="2E8B57"/>
            </a:solidFill>
            <a:prstDash val="solid"/>
          </a:ln>
        </p:spPr>
      </p:sp>
      <p:sp>
        <p:nvSpPr>
          <p:cNvPr id="117" name="Shape 115"/>
          <p:cNvSpPr/>
          <p:nvPr/>
        </p:nvSpPr>
        <p:spPr>
          <a:xfrm>
            <a:off x="3142615" y="3605874"/>
            <a:ext cx="21272" cy="23732"/>
          </a:xfrm>
          <a:prstGeom prst="line">
            <a:avLst/>
          </a:prstGeom>
          <a:noFill/>
          <a:ln w="31750">
            <a:solidFill>
              <a:srgbClr val="2E8B57"/>
            </a:solidFill>
            <a:prstDash val="solid"/>
          </a:ln>
        </p:spPr>
      </p:sp>
      <p:sp>
        <p:nvSpPr>
          <p:cNvPr id="118" name="Shape 116"/>
          <p:cNvSpPr/>
          <p:nvPr/>
        </p:nvSpPr>
        <p:spPr>
          <a:xfrm>
            <a:off x="3163888" y="3629606"/>
            <a:ext cx="21272" cy="27994"/>
          </a:xfrm>
          <a:prstGeom prst="line">
            <a:avLst/>
          </a:prstGeom>
          <a:noFill/>
          <a:ln w="31750">
            <a:solidFill>
              <a:srgbClr val="2E8B57"/>
            </a:solidFill>
            <a:prstDash val="solid"/>
          </a:ln>
        </p:spPr>
      </p:sp>
      <p:sp>
        <p:nvSpPr>
          <p:cNvPr id="119" name="Shape 117"/>
          <p:cNvSpPr/>
          <p:nvPr/>
        </p:nvSpPr>
        <p:spPr>
          <a:xfrm>
            <a:off x="3185160" y="3657600"/>
            <a:ext cx="21273" cy="27994"/>
          </a:xfrm>
          <a:prstGeom prst="line">
            <a:avLst/>
          </a:prstGeom>
          <a:noFill/>
          <a:ln w="31750">
            <a:solidFill>
              <a:srgbClr val="2E8B57"/>
            </a:solidFill>
            <a:prstDash val="solid"/>
          </a:ln>
        </p:spPr>
      </p:sp>
      <p:sp>
        <p:nvSpPr>
          <p:cNvPr id="120" name="Shape 118"/>
          <p:cNvSpPr/>
          <p:nvPr/>
        </p:nvSpPr>
        <p:spPr>
          <a:xfrm>
            <a:off x="3206433" y="3685594"/>
            <a:ext cx="21272" cy="23732"/>
          </a:xfrm>
          <a:prstGeom prst="line">
            <a:avLst/>
          </a:prstGeom>
          <a:noFill/>
          <a:ln w="31750">
            <a:solidFill>
              <a:srgbClr val="2E8B57"/>
            </a:solidFill>
            <a:prstDash val="solid"/>
          </a:ln>
        </p:spPr>
      </p:sp>
      <p:sp>
        <p:nvSpPr>
          <p:cNvPr id="121" name="Shape 119"/>
          <p:cNvSpPr/>
          <p:nvPr/>
        </p:nvSpPr>
        <p:spPr>
          <a:xfrm>
            <a:off x="3227705" y="3709326"/>
            <a:ext cx="21272" cy="15857"/>
          </a:xfrm>
          <a:prstGeom prst="line">
            <a:avLst/>
          </a:prstGeom>
          <a:noFill/>
          <a:ln w="31750">
            <a:solidFill>
              <a:srgbClr val="2E8B57"/>
            </a:solidFill>
            <a:prstDash val="solid"/>
          </a:ln>
        </p:spPr>
      </p:sp>
      <p:sp>
        <p:nvSpPr>
          <p:cNvPr id="122" name="Shape 120"/>
          <p:cNvSpPr/>
          <p:nvPr/>
        </p:nvSpPr>
        <p:spPr>
          <a:xfrm>
            <a:off x="3248977" y="3725184"/>
            <a:ext cx="21272" cy="5568"/>
          </a:xfrm>
          <a:prstGeom prst="line">
            <a:avLst/>
          </a:prstGeom>
          <a:noFill/>
          <a:ln w="31750">
            <a:solidFill>
              <a:srgbClr val="2E8B57"/>
            </a:solidFill>
            <a:prstDash val="solid"/>
          </a:ln>
        </p:spPr>
      </p:sp>
      <p:sp>
        <p:nvSpPr>
          <p:cNvPr id="123" name="Shape 121"/>
          <p:cNvSpPr/>
          <p:nvPr/>
        </p:nvSpPr>
        <p:spPr>
          <a:xfrm flipV="1">
            <a:off x="3270250" y="3725184"/>
            <a:ext cx="21272" cy="5568"/>
          </a:xfrm>
          <a:prstGeom prst="line">
            <a:avLst/>
          </a:prstGeom>
          <a:noFill/>
          <a:ln w="31750">
            <a:solidFill>
              <a:srgbClr val="2E8B57"/>
            </a:solidFill>
            <a:prstDash val="solid"/>
          </a:ln>
        </p:spPr>
      </p:sp>
      <p:sp>
        <p:nvSpPr>
          <p:cNvPr id="124" name="Shape 122"/>
          <p:cNvSpPr/>
          <p:nvPr/>
        </p:nvSpPr>
        <p:spPr>
          <a:xfrm flipV="1">
            <a:off x="3291522" y="3709326"/>
            <a:ext cx="21273" cy="15857"/>
          </a:xfrm>
          <a:prstGeom prst="line">
            <a:avLst/>
          </a:prstGeom>
          <a:noFill/>
          <a:ln w="31750">
            <a:solidFill>
              <a:srgbClr val="2E8B57"/>
            </a:solidFill>
            <a:prstDash val="solid"/>
          </a:ln>
        </p:spPr>
      </p:sp>
      <p:sp>
        <p:nvSpPr>
          <p:cNvPr id="125" name="Shape 123"/>
          <p:cNvSpPr/>
          <p:nvPr/>
        </p:nvSpPr>
        <p:spPr>
          <a:xfrm flipV="1">
            <a:off x="3312795" y="3685594"/>
            <a:ext cx="21273" cy="23732"/>
          </a:xfrm>
          <a:prstGeom prst="line">
            <a:avLst/>
          </a:prstGeom>
          <a:noFill/>
          <a:ln w="31750">
            <a:solidFill>
              <a:srgbClr val="2E8B57"/>
            </a:solidFill>
            <a:prstDash val="solid"/>
          </a:ln>
        </p:spPr>
      </p:sp>
      <p:sp>
        <p:nvSpPr>
          <p:cNvPr id="126" name="Shape 124"/>
          <p:cNvSpPr/>
          <p:nvPr/>
        </p:nvSpPr>
        <p:spPr>
          <a:xfrm flipV="1">
            <a:off x="3334068" y="3657600"/>
            <a:ext cx="21272" cy="27994"/>
          </a:xfrm>
          <a:prstGeom prst="line">
            <a:avLst/>
          </a:prstGeom>
          <a:noFill/>
          <a:ln w="31750">
            <a:solidFill>
              <a:srgbClr val="2E8B57"/>
            </a:solidFill>
            <a:prstDash val="solid"/>
          </a:ln>
        </p:spPr>
      </p:sp>
      <p:sp>
        <p:nvSpPr>
          <p:cNvPr id="127" name="Shape 125"/>
          <p:cNvSpPr/>
          <p:nvPr/>
        </p:nvSpPr>
        <p:spPr>
          <a:xfrm flipV="1">
            <a:off x="3355340" y="3629606"/>
            <a:ext cx="21272" cy="27994"/>
          </a:xfrm>
          <a:prstGeom prst="line">
            <a:avLst/>
          </a:prstGeom>
          <a:noFill/>
          <a:ln w="31750">
            <a:solidFill>
              <a:srgbClr val="2E8B57"/>
            </a:solidFill>
            <a:prstDash val="solid"/>
          </a:ln>
        </p:spPr>
      </p:sp>
      <p:sp>
        <p:nvSpPr>
          <p:cNvPr id="128" name="Shape 126"/>
          <p:cNvSpPr/>
          <p:nvPr/>
        </p:nvSpPr>
        <p:spPr>
          <a:xfrm flipV="1">
            <a:off x="3376612" y="3605874"/>
            <a:ext cx="21273" cy="23732"/>
          </a:xfrm>
          <a:prstGeom prst="line">
            <a:avLst/>
          </a:prstGeom>
          <a:noFill/>
          <a:ln w="31750">
            <a:solidFill>
              <a:srgbClr val="2E8B57"/>
            </a:solidFill>
            <a:prstDash val="solid"/>
          </a:ln>
        </p:spPr>
      </p:sp>
      <p:sp>
        <p:nvSpPr>
          <p:cNvPr id="129" name="Shape 127"/>
          <p:cNvSpPr/>
          <p:nvPr/>
        </p:nvSpPr>
        <p:spPr>
          <a:xfrm flipV="1">
            <a:off x="3397885" y="3590016"/>
            <a:ext cx="21272" cy="15857"/>
          </a:xfrm>
          <a:prstGeom prst="line">
            <a:avLst/>
          </a:prstGeom>
          <a:noFill/>
          <a:ln w="31750">
            <a:solidFill>
              <a:srgbClr val="2E8B57"/>
            </a:solidFill>
            <a:prstDash val="solid"/>
          </a:ln>
        </p:spPr>
      </p:sp>
      <p:sp>
        <p:nvSpPr>
          <p:cNvPr id="130" name="Shape 128"/>
          <p:cNvSpPr/>
          <p:nvPr/>
        </p:nvSpPr>
        <p:spPr>
          <a:xfrm flipV="1">
            <a:off x="3419158" y="3584448"/>
            <a:ext cx="21272" cy="5568"/>
          </a:xfrm>
          <a:prstGeom prst="line">
            <a:avLst/>
          </a:prstGeom>
          <a:noFill/>
          <a:ln w="31750">
            <a:solidFill>
              <a:srgbClr val="2E8B57"/>
            </a:solidFill>
            <a:prstDash val="solid"/>
          </a:ln>
        </p:spPr>
      </p:sp>
      <p:sp>
        <p:nvSpPr>
          <p:cNvPr id="131" name="Shape 129"/>
          <p:cNvSpPr/>
          <p:nvPr/>
        </p:nvSpPr>
        <p:spPr>
          <a:xfrm>
            <a:off x="3440430" y="3584448"/>
            <a:ext cx="21272" cy="5568"/>
          </a:xfrm>
          <a:prstGeom prst="line">
            <a:avLst/>
          </a:prstGeom>
          <a:noFill/>
          <a:ln w="31750">
            <a:solidFill>
              <a:srgbClr val="2E8B57"/>
            </a:solidFill>
            <a:prstDash val="solid"/>
          </a:ln>
        </p:spPr>
      </p:sp>
      <p:sp>
        <p:nvSpPr>
          <p:cNvPr id="132" name="Shape 130"/>
          <p:cNvSpPr/>
          <p:nvPr/>
        </p:nvSpPr>
        <p:spPr>
          <a:xfrm>
            <a:off x="3461702" y="3590016"/>
            <a:ext cx="21272" cy="15857"/>
          </a:xfrm>
          <a:prstGeom prst="line">
            <a:avLst/>
          </a:prstGeom>
          <a:noFill/>
          <a:ln w="31750">
            <a:solidFill>
              <a:srgbClr val="2E8B57"/>
            </a:solidFill>
            <a:prstDash val="solid"/>
          </a:ln>
        </p:spPr>
      </p:sp>
      <p:sp>
        <p:nvSpPr>
          <p:cNvPr id="133" name="Shape 131"/>
          <p:cNvSpPr/>
          <p:nvPr/>
        </p:nvSpPr>
        <p:spPr>
          <a:xfrm>
            <a:off x="3482975" y="3605874"/>
            <a:ext cx="21273" cy="23732"/>
          </a:xfrm>
          <a:prstGeom prst="line">
            <a:avLst/>
          </a:prstGeom>
          <a:noFill/>
          <a:ln w="31750">
            <a:solidFill>
              <a:srgbClr val="2E8B57"/>
            </a:solidFill>
            <a:prstDash val="solid"/>
          </a:ln>
        </p:spPr>
      </p:sp>
      <p:sp>
        <p:nvSpPr>
          <p:cNvPr id="134" name="Shape 132"/>
          <p:cNvSpPr/>
          <p:nvPr/>
        </p:nvSpPr>
        <p:spPr>
          <a:xfrm>
            <a:off x="3504248" y="3629606"/>
            <a:ext cx="21272" cy="27994"/>
          </a:xfrm>
          <a:prstGeom prst="line">
            <a:avLst/>
          </a:prstGeom>
          <a:noFill/>
          <a:ln w="31750">
            <a:solidFill>
              <a:srgbClr val="2E8B57"/>
            </a:solidFill>
            <a:prstDash val="solid"/>
          </a:ln>
        </p:spPr>
      </p:sp>
      <p:sp>
        <p:nvSpPr>
          <p:cNvPr id="135" name="Shape 133"/>
          <p:cNvSpPr/>
          <p:nvPr/>
        </p:nvSpPr>
        <p:spPr>
          <a:xfrm>
            <a:off x="3525520" y="3657600"/>
            <a:ext cx="21272" cy="27994"/>
          </a:xfrm>
          <a:prstGeom prst="line">
            <a:avLst/>
          </a:prstGeom>
          <a:noFill/>
          <a:ln w="31750">
            <a:solidFill>
              <a:srgbClr val="2E8B57"/>
            </a:solidFill>
            <a:prstDash val="solid"/>
          </a:ln>
        </p:spPr>
      </p:sp>
      <p:sp>
        <p:nvSpPr>
          <p:cNvPr id="136" name="Shape 134"/>
          <p:cNvSpPr/>
          <p:nvPr/>
        </p:nvSpPr>
        <p:spPr>
          <a:xfrm>
            <a:off x="3546792" y="3685594"/>
            <a:ext cx="21273" cy="23732"/>
          </a:xfrm>
          <a:prstGeom prst="line">
            <a:avLst/>
          </a:prstGeom>
          <a:noFill/>
          <a:ln w="31750">
            <a:solidFill>
              <a:srgbClr val="2E8B57"/>
            </a:solidFill>
            <a:prstDash val="solid"/>
          </a:ln>
        </p:spPr>
      </p:sp>
      <p:sp>
        <p:nvSpPr>
          <p:cNvPr id="137" name="Shape 135"/>
          <p:cNvSpPr/>
          <p:nvPr/>
        </p:nvSpPr>
        <p:spPr>
          <a:xfrm>
            <a:off x="3568065" y="3709326"/>
            <a:ext cx="21273" cy="15857"/>
          </a:xfrm>
          <a:prstGeom prst="line">
            <a:avLst/>
          </a:prstGeom>
          <a:noFill/>
          <a:ln w="31750">
            <a:solidFill>
              <a:srgbClr val="2E8B57"/>
            </a:solidFill>
            <a:prstDash val="solid"/>
          </a:ln>
        </p:spPr>
      </p:sp>
      <p:sp>
        <p:nvSpPr>
          <p:cNvPr id="138" name="Shape 136"/>
          <p:cNvSpPr/>
          <p:nvPr/>
        </p:nvSpPr>
        <p:spPr>
          <a:xfrm>
            <a:off x="3589338" y="3725184"/>
            <a:ext cx="21272" cy="5568"/>
          </a:xfrm>
          <a:prstGeom prst="line">
            <a:avLst/>
          </a:prstGeom>
          <a:noFill/>
          <a:ln w="31750">
            <a:solidFill>
              <a:srgbClr val="2E8B57"/>
            </a:solidFill>
            <a:prstDash val="solid"/>
          </a:ln>
        </p:spPr>
      </p:sp>
      <p:sp>
        <p:nvSpPr>
          <p:cNvPr id="139" name="Shape 137"/>
          <p:cNvSpPr/>
          <p:nvPr/>
        </p:nvSpPr>
        <p:spPr>
          <a:xfrm flipV="1">
            <a:off x="3610610" y="3725184"/>
            <a:ext cx="21272" cy="5568"/>
          </a:xfrm>
          <a:prstGeom prst="line">
            <a:avLst/>
          </a:prstGeom>
          <a:noFill/>
          <a:ln w="31750">
            <a:solidFill>
              <a:srgbClr val="2E8B57"/>
            </a:solidFill>
            <a:prstDash val="solid"/>
          </a:ln>
        </p:spPr>
      </p:sp>
      <p:sp>
        <p:nvSpPr>
          <p:cNvPr id="140" name="Shape 138"/>
          <p:cNvSpPr/>
          <p:nvPr/>
        </p:nvSpPr>
        <p:spPr>
          <a:xfrm flipV="1">
            <a:off x="3631883" y="3709326"/>
            <a:ext cx="21272" cy="15857"/>
          </a:xfrm>
          <a:prstGeom prst="line">
            <a:avLst/>
          </a:prstGeom>
          <a:noFill/>
          <a:ln w="31750">
            <a:solidFill>
              <a:srgbClr val="2E8B57"/>
            </a:solidFill>
            <a:prstDash val="solid"/>
          </a:ln>
        </p:spPr>
      </p:sp>
      <p:sp>
        <p:nvSpPr>
          <p:cNvPr id="141" name="Shape 139"/>
          <p:cNvSpPr/>
          <p:nvPr/>
        </p:nvSpPr>
        <p:spPr>
          <a:xfrm flipV="1">
            <a:off x="3653155" y="3685594"/>
            <a:ext cx="21272" cy="23732"/>
          </a:xfrm>
          <a:prstGeom prst="line">
            <a:avLst/>
          </a:prstGeom>
          <a:noFill/>
          <a:ln w="31750">
            <a:solidFill>
              <a:srgbClr val="2E8B57"/>
            </a:solidFill>
            <a:prstDash val="solid"/>
          </a:ln>
        </p:spPr>
      </p:sp>
      <p:sp>
        <p:nvSpPr>
          <p:cNvPr id="142" name="Shape 140"/>
          <p:cNvSpPr/>
          <p:nvPr/>
        </p:nvSpPr>
        <p:spPr>
          <a:xfrm flipV="1">
            <a:off x="3674427" y="3657600"/>
            <a:ext cx="21272" cy="27994"/>
          </a:xfrm>
          <a:prstGeom prst="line">
            <a:avLst/>
          </a:prstGeom>
          <a:noFill/>
          <a:ln w="31750">
            <a:solidFill>
              <a:srgbClr val="2E8B57"/>
            </a:solidFill>
            <a:prstDash val="solid"/>
          </a:ln>
        </p:spPr>
      </p:sp>
      <p:sp>
        <p:nvSpPr>
          <p:cNvPr id="143" name="Shape 141"/>
          <p:cNvSpPr/>
          <p:nvPr/>
        </p:nvSpPr>
        <p:spPr>
          <a:xfrm flipV="1">
            <a:off x="3695700" y="3629606"/>
            <a:ext cx="21273" cy="27994"/>
          </a:xfrm>
          <a:prstGeom prst="line">
            <a:avLst/>
          </a:prstGeom>
          <a:noFill/>
          <a:ln w="31750">
            <a:solidFill>
              <a:srgbClr val="2E8B57"/>
            </a:solidFill>
            <a:prstDash val="solid"/>
          </a:ln>
        </p:spPr>
      </p:sp>
      <p:sp>
        <p:nvSpPr>
          <p:cNvPr id="144" name="Shape 142"/>
          <p:cNvSpPr/>
          <p:nvPr/>
        </p:nvSpPr>
        <p:spPr>
          <a:xfrm flipV="1">
            <a:off x="3716973" y="3605874"/>
            <a:ext cx="21272" cy="23732"/>
          </a:xfrm>
          <a:prstGeom prst="line">
            <a:avLst/>
          </a:prstGeom>
          <a:noFill/>
          <a:ln w="31750">
            <a:solidFill>
              <a:srgbClr val="2E8B57"/>
            </a:solidFill>
            <a:prstDash val="solid"/>
          </a:ln>
        </p:spPr>
      </p:sp>
      <p:sp>
        <p:nvSpPr>
          <p:cNvPr id="145" name="Shape 143"/>
          <p:cNvSpPr/>
          <p:nvPr/>
        </p:nvSpPr>
        <p:spPr>
          <a:xfrm flipV="1">
            <a:off x="3738245" y="3590016"/>
            <a:ext cx="21273" cy="15857"/>
          </a:xfrm>
          <a:prstGeom prst="line">
            <a:avLst/>
          </a:prstGeom>
          <a:noFill/>
          <a:ln w="31750">
            <a:solidFill>
              <a:srgbClr val="2E8B57"/>
            </a:solidFill>
            <a:prstDash val="solid"/>
          </a:ln>
        </p:spPr>
      </p:sp>
      <p:sp>
        <p:nvSpPr>
          <p:cNvPr id="146" name="Shape 144"/>
          <p:cNvSpPr/>
          <p:nvPr/>
        </p:nvSpPr>
        <p:spPr>
          <a:xfrm flipV="1">
            <a:off x="3759518" y="3584448"/>
            <a:ext cx="21272" cy="5568"/>
          </a:xfrm>
          <a:prstGeom prst="line">
            <a:avLst/>
          </a:prstGeom>
          <a:noFill/>
          <a:ln w="31750">
            <a:solidFill>
              <a:srgbClr val="2E8B57"/>
            </a:solidFill>
            <a:prstDash val="solid"/>
          </a:ln>
        </p:spPr>
      </p:sp>
      <p:sp>
        <p:nvSpPr>
          <p:cNvPr id="147" name="Shape 145"/>
          <p:cNvSpPr/>
          <p:nvPr/>
        </p:nvSpPr>
        <p:spPr>
          <a:xfrm>
            <a:off x="3780790" y="3584448"/>
            <a:ext cx="21272" cy="5568"/>
          </a:xfrm>
          <a:prstGeom prst="line">
            <a:avLst/>
          </a:prstGeom>
          <a:noFill/>
          <a:ln w="31750">
            <a:solidFill>
              <a:srgbClr val="2E8B57"/>
            </a:solidFill>
            <a:prstDash val="solid"/>
          </a:ln>
        </p:spPr>
      </p:sp>
      <p:sp>
        <p:nvSpPr>
          <p:cNvPr id="148" name="Shape 146"/>
          <p:cNvSpPr/>
          <p:nvPr/>
        </p:nvSpPr>
        <p:spPr>
          <a:xfrm>
            <a:off x="3802062" y="3590016"/>
            <a:ext cx="21272" cy="15857"/>
          </a:xfrm>
          <a:prstGeom prst="line">
            <a:avLst/>
          </a:prstGeom>
          <a:noFill/>
          <a:ln w="31750">
            <a:solidFill>
              <a:srgbClr val="2E8B57"/>
            </a:solidFill>
            <a:prstDash val="solid"/>
          </a:ln>
        </p:spPr>
      </p:sp>
      <p:sp>
        <p:nvSpPr>
          <p:cNvPr id="149" name="Shape 147"/>
          <p:cNvSpPr/>
          <p:nvPr/>
        </p:nvSpPr>
        <p:spPr>
          <a:xfrm>
            <a:off x="3823335" y="3605874"/>
            <a:ext cx="21272" cy="23732"/>
          </a:xfrm>
          <a:prstGeom prst="line">
            <a:avLst/>
          </a:prstGeom>
          <a:noFill/>
          <a:ln w="31750">
            <a:solidFill>
              <a:srgbClr val="2E8B57"/>
            </a:solidFill>
            <a:prstDash val="solid"/>
          </a:ln>
        </p:spPr>
      </p:sp>
      <p:sp>
        <p:nvSpPr>
          <p:cNvPr id="150" name="Shape 148"/>
          <p:cNvSpPr/>
          <p:nvPr/>
        </p:nvSpPr>
        <p:spPr>
          <a:xfrm>
            <a:off x="3844607" y="3629606"/>
            <a:ext cx="21273" cy="27994"/>
          </a:xfrm>
          <a:prstGeom prst="line">
            <a:avLst/>
          </a:prstGeom>
          <a:noFill/>
          <a:ln w="31750">
            <a:solidFill>
              <a:srgbClr val="2E8B57"/>
            </a:solidFill>
            <a:prstDash val="solid"/>
          </a:ln>
        </p:spPr>
      </p:sp>
      <p:sp>
        <p:nvSpPr>
          <p:cNvPr id="151" name="Shape 149"/>
          <p:cNvSpPr/>
          <p:nvPr/>
        </p:nvSpPr>
        <p:spPr>
          <a:xfrm>
            <a:off x="3865880" y="3657600"/>
            <a:ext cx="21272" cy="27994"/>
          </a:xfrm>
          <a:prstGeom prst="line">
            <a:avLst/>
          </a:prstGeom>
          <a:noFill/>
          <a:ln w="31750">
            <a:solidFill>
              <a:srgbClr val="2E8B57"/>
            </a:solidFill>
            <a:prstDash val="solid"/>
          </a:ln>
        </p:spPr>
      </p:sp>
      <p:sp>
        <p:nvSpPr>
          <p:cNvPr id="152" name="Shape 150"/>
          <p:cNvSpPr/>
          <p:nvPr/>
        </p:nvSpPr>
        <p:spPr>
          <a:xfrm>
            <a:off x="3887153" y="3685594"/>
            <a:ext cx="21272" cy="23732"/>
          </a:xfrm>
          <a:prstGeom prst="line">
            <a:avLst/>
          </a:prstGeom>
          <a:noFill/>
          <a:ln w="31750">
            <a:solidFill>
              <a:srgbClr val="2E8B57"/>
            </a:solidFill>
            <a:prstDash val="solid"/>
          </a:ln>
        </p:spPr>
      </p:sp>
      <p:sp>
        <p:nvSpPr>
          <p:cNvPr id="153" name="Shape 151"/>
          <p:cNvSpPr/>
          <p:nvPr/>
        </p:nvSpPr>
        <p:spPr>
          <a:xfrm>
            <a:off x="3908425" y="3709326"/>
            <a:ext cx="21272" cy="15857"/>
          </a:xfrm>
          <a:prstGeom prst="line">
            <a:avLst/>
          </a:prstGeom>
          <a:noFill/>
          <a:ln w="31750">
            <a:solidFill>
              <a:srgbClr val="2E8B57"/>
            </a:solidFill>
            <a:prstDash val="solid"/>
          </a:ln>
        </p:spPr>
      </p:sp>
      <p:sp>
        <p:nvSpPr>
          <p:cNvPr id="154" name="Shape 152"/>
          <p:cNvSpPr/>
          <p:nvPr/>
        </p:nvSpPr>
        <p:spPr>
          <a:xfrm>
            <a:off x="3929697" y="3725184"/>
            <a:ext cx="21272" cy="5568"/>
          </a:xfrm>
          <a:prstGeom prst="line">
            <a:avLst/>
          </a:prstGeom>
          <a:noFill/>
          <a:ln w="31750">
            <a:solidFill>
              <a:srgbClr val="2E8B57"/>
            </a:solidFill>
            <a:prstDash val="solid"/>
          </a:ln>
        </p:spPr>
      </p:sp>
      <p:sp>
        <p:nvSpPr>
          <p:cNvPr id="155" name="Shape 153"/>
          <p:cNvSpPr/>
          <p:nvPr/>
        </p:nvSpPr>
        <p:spPr>
          <a:xfrm flipV="1">
            <a:off x="3950970" y="3725184"/>
            <a:ext cx="21273" cy="5568"/>
          </a:xfrm>
          <a:prstGeom prst="line">
            <a:avLst/>
          </a:prstGeom>
          <a:noFill/>
          <a:ln w="31750">
            <a:solidFill>
              <a:srgbClr val="2E8B57"/>
            </a:solidFill>
            <a:prstDash val="solid"/>
          </a:ln>
        </p:spPr>
      </p:sp>
      <p:sp>
        <p:nvSpPr>
          <p:cNvPr id="156" name="Shape 154"/>
          <p:cNvSpPr/>
          <p:nvPr/>
        </p:nvSpPr>
        <p:spPr>
          <a:xfrm flipV="1">
            <a:off x="3972243" y="3709326"/>
            <a:ext cx="21272" cy="15857"/>
          </a:xfrm>
          <a:prstGeom prst="line">
            <a:avLst/>
          </a:prstGeom>
          <a:noFill/>
          <a:ln w="31750">
            <a:solidFill>
              <a:srgbClr val="2E8B57"/>
            </a:solidFill>
            <a:prstDash val="solid"/>
          </a:ln>
        </p:spPr>
      </p:sp>
      <p:sp>
        <p:nvSpPr>
          <p:cNvPr id="157" name="Shape 155"/>
          <p:cNvSpPr/>
          <p:nvPr/>
        </p:nvSpPr>
        <p:spPr>
          <a:xfrm flipV="1">
            <a:off x="3993515" y="3685594"/>
            <a:ext cx="21273" cy="23732"/>
          </a:xfrm>
          <a:prstGeom prst="line">
            <a:avLst/>
          </a:prstGeom>
          <a:noFill/>
          <a:ln w="31750">
            <a:solidFill>
              <a:srgbClr val="2E8B57"/>
            </a:solidFill>
            <a:prstDash val="solid"/>
          </a:ln>
        </p:spPr>
      </p:sp>
      <p:sp>
        <p:nvSpPr>
          <p:cNvPr id="158" name="Shape 156"/>
          <p:cNvSpPr/>
          <p:nvPr/>
        </p:nvSpPr>
        <p:spPr>
          <a:xfrm flipV="1">
            <a:off x="4014788" y="3657600"/>
            <a:ext cx="21272" cy="27994"/>
          </a:xfrm>
          <a:prstGeom prst="line">
            <a:avLst/>
          </a:prstGeom>
          <a:noFill/>
          <a:ln w="31750">
            <a:solidFill>
              <a:srgbClr val="2E8B57"/>
            </a:solidFill>
            <a:prstDash val="solid"/>
          </a:ln>
        </p:spPr>
      </p:sp>
      <p:sp>
        <p:nvSpPr>
          <p:cNvPr id="159" name="Shape 157"/>
          <p:cNvSpPr/>
          <p:nvPr/>
        </p:nvSpPr>
        <p:spPr>
          <a:xfrm flipV="1">
            <a:off x="4036060" y="3629606"/>
            <a:ext cx="21273" cy="27994"/>
          </a:xfrm>
          <a:prstGeom prst="line">
            <a:avLst/>
          </a:prstGeom>
          <a:noFill/>
          <a:ln w="31750">
            <a:solidFill>
              <a:srgbClr val="2E8B57"/>
            </a:solidFill>
            <a:prstDash val="solid"/>
          </a:ln>
        </p:spPr>
      </p:sp>
      <p:sp>
        <p:nvSpPr>
          <p:cNvPr id="160" name="Shape 158"/>
          <p:cNvSpPr/>
          <p:nvPr/>
        </p:nvSpPr>
        <p:spPr>
          <a:xfrm flipV="1">
            <a:off x="4057332" y="3605874"/>
            <a:ext cx="21272" cy="23732"/>
          </a:xfrm>
          <a:prstGeom prst="line">
            <a:avLst/>
          </a:prstGeom>
          <a:noFill/>
          <a:ln w="31750">
            <a:solidFill>
              <a:srgbClr val="2E8B57"/>
            </a:solidFill>
            <a:prstDash val="solid"/>
          </a:ln>
        </p:spPr>
      </p:sp>
      <p:sp>
        <p:nvSpPr>
          <p:cNvPr id="161" name="Shape 159"/>
          <p:cNvSpPr/>
          <p:nvPr/>
        </p:nvSpPr>
        <p:spPr>
          <a:xfrm flipV="1">
            <a:off x="4078605" y="3590016"/>
            <a:ext cx="21272" cy="15857"/>
          </a:xfrm>
          <a:prstGeom prst="line">
            <a:avLst/>
          </a:prstGeom>
          <a:noFill/>
          <a:ln w="31750">
            <a:solidFill>
              <a:srgbClr val="2E8B57"/>
            </a:solidFill>
            <a:prstDash val="solid"/>
          </a:ln>
        </p:spPr>
      </p:sp>
      <p:sp>
        <p:nvSpPr>
          <p:cNvPr id="162" name="Shape 160"/>
          <p:cNvSpPr/>
          <p:nvPr/>
        </p:nvSpPr>
        <p:spPr>
          <a:xfrm flipV="1">
            <a:off x="4099877" y="3584448"/>
            <a:ext cx="21273" cy="5568"/>
          </a:xfrm>
          <a:prstGeom prst="line">
            <a:avLst/>
          </a:prstGeom>
          <a:noFill/>
          <a:ln w="31750">
            <a:solidFill>
              <a:srgbClr val="2E8B57"/>
            </a:solidFill>
            <a:prstDash val="solid"/>
          </a:ln>
        </p:spPr>
      </p:sp>
      <p:sp>
        <p:nvSpPr>
          <p:cNvPr id="163" name="Shape 161"/>
          <p:cNvSpPr/>
          <p:nvPr/>
        </p:nvSpPr>
        <p:spPr>
          <a:xfrm>
            <a:off x="4121150" y="3584448"/>
            <a:ext cx="21272" cy="5568"/>
          </a:xfrm>
          <a:prstGeom prst="line">
            <a:avLst/>
          </a:prstGeom>
          <a:noFill/>
          <a:ln w="31750">
            <a:solidFill>
              <a:srgbClr val="2E8B57"/>
            </a:solidFill>
            <a:prstDash val="solid"/>
          </a:ln>
        </p:spPr>
      </p:sp>
      <p:sp>
        <p:nvSpPr>
          <p:cNvPr id="164" name="Shape 162"/>
          <p:cNvSpPr/>
          <p:nvPr/>
        </p:nvSpPr>
        <p:spPr>
          <a:xfrm>
            <a:off x="4142422" y="3590016"/>
            <a:ext cx="21273" cy="15857"/>
          </a:xfrm>
          <a:prstGeom prst="line">
            <a:avLst/>
          </a:prstGeom>
          <a:noFill/>
          <a:ln w="31750">
            <a:solidFill>
              <a:srgbClr val="2E8B57"/>
            </a:solidFill>
            <a:prstDash val="solid"/>
          </a:ln>
        </p:spPr>
      </p:sp>
      <p:sp>
        <p:nvSpPr>
          <p:cNvPr id="165" name="Shape 163"/>
          <p:cNvSpPr/>
          <p:nvPr/>
        </p:nvSpPr>
        <p:spPr>
          <a:xfrm>
            <a:off x="4163695" y="3605874"/>
            <a:ext cx="21272" cy="23732"/>
          </a:xfrm>
          <a:prstGeom prst="line">
            <a:avLst/>
          </a:prstGeom>
          <a:noFill/>
          <a:ln w="31750">
            <a:solidFill>
              <a:srgbClr val="2E8B57"/>
            </a:solidFill>
            <a:prstDash val="solid"/>
          </a:ln>
        </p:spPr>
      </p:sp>
      <p:sp>
        <p:nvSpPr>
          <p:cNvPr id="166" name="Shape 164"/>
          <p:cNvSpPr/>
          <p:nvPr/>
        </p:nvSpPr>
        <p:spPr>
          <a:xfrm>
            <a:off x="4184968" y="3629606"/>
            <a:ext cx="21272" cy="27994"/>
          </a:xfrm>
          <a:prstGeom prst="line">
            <a:avLst/>
          </a:prstGeom>
          <a:noFill/>
          <a:ln w="31750">
            <a:solidFill>
              <a:srgbClr val="2E8B57"/>
            </a:solidFill>
            <a:prstDash val="solid"/>
          </a:ln>
        </p:spPr>
      </p:sp>
      <p:sp>
        <p:nvSpPr>
          <p:cNvPr id="167" name="Shape 165"/>
          <p:cNvSpPr/>
          <p:nvPr/>
        </p:nvSpPr>
        <p:spPr>
          <a:xfrm>
            <a:off x="4709160" y="3657600"/>
            <a:ext cx="18097" cy="12247"/>
          </a:xfrm>
          <a:prstGeom prst="line">
            <a:avLst/>
          </a:prstGeom>
          <a:noFill/>
          <a:ln w="12700">
            <a:solidFill>
              <a:srgbClr val="2E8B57"/>
            </a:solidFill>
            <a:prstDash val="solid"/>
          </a:ln>
        </p:spPr>
      </p:sp>
      <p:sp>
        <p:nvSpPr>
          <p:cNvPr id="168" name="Shape 166"/>
          <p:cNvSpPr/>
          <p:nvPr/>
        </p:nvSpPr>
        <p:spPr>
          <a:xfrm>
            <a:off x="4727257" y="3669847"/>
            <a:ext cx="18098" cy="10383"/>
          </a:xfrm>
          <a:prstGeom prst="line">
            <a:avLst/>
          </a:prstGeom>
          <a:noFill/>
          <a:ln w="12700">
            <a:solidFill>
              <a:srgbClr val="2E8B57"/>
            </a:solidFill>
            <a:prstDash val="solid"/>
          </a:ln>
        </p:spPr>
      </p:sp>
      <p:sp>
        <p:nvSpPr>
          <p:cNvPr id="169" name="Shape 167"/>
          <p:cNvSpPr/>
          <p:nvPr/>
        </p:nvSpPr>
        <p:spPr>
          <a:xfrm>
            <a:off x="4745355" y="3680230"/>
            <a:ext cx="18097" cy="6938"/>
          </a:xfrm>
          <a:prstGeom prst="line">
            <a:avLst/>
          </a:prstGeom>
          <a:noFill/>
          <a:ln w="12700">
            <a:solidFill>
              <a:srgbClr val="2E8B57"/>
            </a:solidFill>
            <a:prstDash val="solid"/>
          </a:ln>
        </p:spPr>
      </p:sp>
      <p:sp>
        <p:nvSpPr>
          <p:cNvPr id="170" name="Shape 168"/>
          <p:cNvSpPr/>
          <p:nvPr/>
        </p:nvSpPr>
        <p:spPr>
          <a:xfrm>
            <a:off x="4763453" y="3687168"/>
            <a:ext cx="18097" cy="2436"/>
          </a:xfrm>
          <a:prstGeom prst="line">
            <a:avLst/>
          </a:prstGeom>
          <a:noFill/>
          <a:ln w="12700">
            <a:solidFill>
              <a:srgbClr val="2E8B57"/>
            </a:solidFill>
            <a:prstDash val="solid"/>
          </a:ln>
        </p:spPr>
      </p:sp>
      <p:sp>
        <p:nvSpPr>
          <p:cNvPr id="171" name="Shape 169"/>
          <p:cNvSpPr/>
          <p:nvPr/>
        </p:nvSpPr>
        <p:spPr>
          <a:xfrm flipV="1">
            <a:off x="4781550" y="3687168"/>
            <a:ext cx="18097" cy="2436"/>
          </a:xfrm>
          <a:prstGeom prst="line">
            <a:avLst/>
          </a:prstGeom>
          <a:noFill/>
          <a:ln w="12700">
            <a:solidFill>
              <a:srgbClr val="2E8B57"/>
            </a:solidFill>
            <a:prstDash val="solid"/>
          </a:ln>
        </p:spPr>
      </p:sp>
      <p:sp>
        <p:nvSpPr>
          <p:cNvPr id="172" name="Shape 170"/>
          <p:cNvSpPr/>
          <p:nvPr/>
        </p:nvSpPr>
        <p:spPr>
          <a:xfrm flipV="1">
            <a:off x="4799647" y="3680230"/>
            <a:ext cx="18098" cy="6938"/>
          </a:xfrm>
          <a:prstGeom prst="line">
            <a:avLst/>
          </a:prstGeom>
          <a:noFill/>
          <a:ln w="12700">
            <a:solidFill>
              <a:srgbClr val="2E8B57"/>
            </a:solidFill>
            <a:prstDash val="solid"/>
          </a:ln>
        </p:spPr>
      </p:sp>
      <p:sp>
        <p:nvSpPr>
          <p:cNvPr id="173" name="Shape 171"/>
          <p:cNvSpPr/>
          <p:nvPr/>
        </p:nvSpPr>
        <p:spPr>
          <a:xfrm flipV="1">
            <a:off x="4817745" y="3669847"/>
            <a:ext cx="18097" cy="10383"/>
          </a:xfrm>
          <a:prstGeom prst="line">
            <a:avLst/>
          </a:prstGeom>
          <a:noFill/>
          <a:ln w="12700">
            <a:solidFill>
              <a:srgbClr val="2E8B57"/>
            </a:solidFill>
            <a:prstDash val="solid"/>
          </a:ln>
        </p:spPr>
      </p:sp>
      <p:sp>
        <p:nvSpPr>
          <p:cNvPr id="174" name="Shape 172"/>
          <p:cNvSpPr/>
          <p:nvPr/>
        </p:nvSpPr>
        <p:spPr>
          <a:xfrm flipV="1">
            <a:off x="4835843" y="3657600"/>
            <a:ext cx="18097" cy="12247"/>
          </a:xfrm>
          <a:prstGeom prst="line">
            <a:avLst/>
          </a:prstGeom>
          <a:noFill/>
          <a:ln w="12700">
            <a:solidFill>
              <a:srgbClr val="2E8B57"/>
            </a:solidFill>
            <a:prstDash val="solid"/>
          </a:ln>
        </p:spPr>
      </p:sp>
      <p:sp>
        <p:nvSpPr>
          <p:cNvPr id="175" name="Shape 173"/>
          <p:cNvSpPr/>
          <p:nvPr/>
        </p:nvSpPr>
        <p:spPr>
          <a:xfrm flipV="1">
            <a:off x="4853940" y="3645353"/>
            <a:ext cx="18097" cy="12247"/>
          </a:xfrm>
          <a:prstGeom prst="line">
            <a:avLst/>
          </a:prstGeom>
          <a:noFill/>
          <a:ln w="12700">
            <a:solidFill>
              <a:srgbClr val="2E8B57"/>
            </a:solidFill>
            <a:prstDash val="solid"/>
          </a:ln>
        </p:spPr>
      </p:sp>
      <p:sp>
        <p:nvSpPr>
          <p:cNvPr id="176" name="Shape 174"/>
          <p:cNvSpPr/>
          <p:nvPr/>
        </p:nvSpPr>
        <p:spPr>
          <a:xfrm flipV="1">
            <a:off x="4872037" y="3634970"/>
            <a:ext cx="18098" cy="10383"/>
          </a:xfrm>
          <a:prstGeom prst="line">
            <a:avLst/>
          </a:prstGeom>
          <a:noFill/>
          <a:ln w="12700">
            <a:solidFill>
              <a:srgbClr val="2E8B57"/>
            </a:solidFill>
            <a:prstDash val="solid"/>
          </a:ln>
        </p:spPr>
      </p:sp>
      <p:sp>
        <p:nvSpPr>
          <p:cNvPr id="177" name="Shape 175"/>
          <p:cNvSpPr/>
          <p:nvPr/>
        </p:nvSpPr>
        <p:spPr>
          <a:xfrm flipV="1">
            <a:off x="4890135" y="3628032"/>
            <a:ext cx="18097" cy="6938"/>
          </a:xfrm>
          <a:prstGeom prst="line">
            <a:avLst/>
          </a:prstGeom>
          <a:noFill/>
          <a:ln w="12700">
            <a:solidFill>
              <a:srgbClr val="2E8B57"/>
            </a:solidFill>
            <a:prstDash val="solid"/>
          </a:ln>
        </p:spPr>
      </p:sp>
      <p:sp>
        <p:nvSpPr>
          <p:cNvPr id="178" name="Shape 176"/>
          <p:cNvSpPr/>
          <p:nvPr/>
        </p:nvSpPr>
        <p:spPr>
          <a:xfrm flipV="1">
            <a:off x="4908233" y="3625596"/>
            <a:ext cx="18097" cy="2436"/>
          </a:xfrm>
          <a:prstGeom prst="line">
            <a:avLst/>
          </a:prstGeom>
          <a:noFill/>
          <a:ln w="12700">
            <a:solidFill>
              <a:srgbClr val="2E8B57"/>
            </a:solidFill>
            <a:prstDash val="solid"/>
          </a:ln>
        </p:spPr>
      </p:sp>
      <p:sp>
        <p:nvSpPr>
          <p:cNvPr id="179" name="Shape 177"/>
          <p:cNvSpPr/>
          <p:nvPr/>
        </p:nvSpPr>
        <p:spPr>
          <a:xfrm>
            <a:off x="4926330" y="3625596"/>
            <a:ext cx="18097" cy="2436"/>
          </a:xfrm>
          <a:prstGeom prst="line">
            <a:avLst/>
          </a:prstGeom>
          <a:noFill/>
          <a:ln w="12700">
            <a:solidFill>
              <a:srgbClr val="2E8B57"/>
            </a:solidFill>
            <a:prstDash val="solid"/>
          </a:ln>
        </p:spPr>
      </p:sp>
      <p:sp>
        <p:nvSpPr>
          <p:cNvPr id="180" name="Shape 178"/>
          <p:cNvSpPr/>
          <p:nvPr/>
        </p:nvSpPr>
        <p:spPr>
          <a:xfrm>
            <a:off x="4944427" y="3628032"/>
            <a:ext cx="18098" cy="6938"/>
          </a:xfrm>
          <a:prstGeom prst="line">
            <a:avLst/>
          </a:prstGeom>
          <a:noFill/>
          <a:ln w="12700">
            <a:solidFill>
              <a:srgbClr val="2E8B57"/>
            </a:solidFill>
            <a:prstDash val="solid"/>
          </a:ln>
        </p:spPr>
      </p:sp>
      <p:sp>
        <p:nvSpPr>
          <p:cNvPr id="181" name="Shape 179"/>
          <p:cNvSpPr/>
          <p:nvPr/>
        </p:nvSpPr>
        <p:spPr>
          <a:xfrm>
            <a:off x="4962525" y="3634970"/>
            <a:ext cx="18097" cy="10383"/>
          </a:xfrm>
          <a:prstGeom prst="line">
            <a:avLst/>
          </a:prstGeom>
          <a:noFill/>
          <a:ln w="12700">
            <a:solidFill>
              <a:srgbClr val="2E8B57"/>
            </a:solidFill>
            <a:prstDash val="solid"/>
          </a:ln>
        </p:spPr>
      </p:sp>
      <p:sp>
        <p:nvSpPr>
          <p:cNvPr id="182" name="Shape 180"/>
          <p:cNvSpPr/>
          <p:nvPr/>
        </p:nvSpPr>
        <p:spPr>
          <a:xfrm>
            <a:off x="4980622" y="3645353"/>
            <a:ext cx="18097" cy="12247"/>
          </a:xfrm>
          <a:prstGeom prst="line">
            <a:avLst/>
          </a:prstGeom>
          <a:noFill/>
          <a:ln w="12700">
            <a:solidFill>
              <a:srgbClr val="2E8B57"/>
            </a:solidFill>
            <a:prstDash val="solid"/>
          </a:ln>
        </p:spPr>
      </p:sp>
      <p:sp>
        <p:nvSpPr>
          <p:cNvPr id="183" name="Shape 181"/>
          <p:cNvSpPr/>
          <p:nvPr/>
        </p:nvSpPr>
        <p:spPr>
          <a:xfrm>
            <a:off x="4998720" y="3657600"/>
            <a:ext cx="18098" cy="12247"/>
          </a:xfrm>
          <a:prstGeom prst="line">
            <a:avLst/>
          </a:prstGeom>
          <a:noFill/>
          <a:ln w="12700">
            <a:solidFill>
              <a:srgbClr val="2E8B57"/>
            </a:solidFill>
            <a:prstDash val="solid"/>
          </a:ln>
        </p:spPr>
      </p:sp>
      <p:sp>
        <p:nvSpPr>
          <p:cNvPr id="184" name="Shape 182"/>
          <p:cNvSpPr/>
          <p:nvPr/>
        </p:nvSpPr>
        <p:spPr>
          <a:xfrm>
            <a:off x="5016818" y="3669847"/>
            <a:ext cx="18097" cy="10383"/>
          </a:xfrm>
          <a:prstGeom prst="line">
            <a:avLst/>
          </a:prstGeom>
          <a:noFill/>
          <a:ln w="12700">
            <a:solidFill>
              <a:srgbClr val="2E8B57"/>
            </a:solidFill>
            <a:prstDash val="solid"/>
          </a:ln>
        </p:spPr>
      </p:sp>
      <p:sp>
        <p:nvSpPr>
          <p:cNvPr id="185" name="Shape 183"/>
          <p:cNvSpPr/>
          <p:nvPr/>
        </p:nvSpPr>
        <p:spPr>
          <a:xfrm>
            <a:off x="5034915" y="3680230"/>
            <a:ext cx="18097" cy="6938"/>
          </a:xfrm>
          <a:prstGeom prst="line">
            <a:avLst/>
          </a:prstGeom>
          <a:noFill/>
          <a:ln w="12700">
            <a:solidFill>
              <a:srgbClr val="2E8B57"/>
            </a:solidFill>
            <a:prstDash val="solid"/>
          </a:ln>
        </p:spPr>
      </p:sp>
      <p:sp>
        <p:nvSpPr>
          <p:cNvPr id="186" name="Shape 184"/>
          <p:cNvSpPr/>
          <p:nvPr/>
        </p:nvSpPr>
        <p:spPr>
          <a:xfrm>
            <a:off x="5053012" y="3687168"/>
            <a:ext cx="18097" cy="2436"/>
          </a:xfrm>
          <a:prstGeom prst="line">
            <a:avLst/>
          </a:prstGeom>
          <a:noFill/>
          <a:ln w="12700">
            <a:solidFill>
              <a:srgbClr val="2E8B57"/>
            </a:solidFill>
            <a:prstDash val="solid"/>
          </a:ln>
        </p:spPr>
      </p:sp>
      <p:sp>
        <p:nvSpPr>
          <p:cNvPr id="187" name="Shape 185"/>
          <p:cNvSpPr/>
          <p:nvPr/>
        </p:nvSpPr>
        <p:spPr>
          <a:xfrm flipV="1">
            <a:off x="5071110" y="3687168"/>
            <a:ext cx="18098" cy="2436"/>
          </a:xfrm>
          <a:prstGeom prst="line">
            <a:avLst/>
          </a:prstGeom>
          <a:noFill/>
          <a:ln w="12700">
            <a:solidFill>
              <a:srgbClr val="2E8B57"/>
            </a:solidFill>
            <a:prstDash val="solid"/>
          </a:ln>
        </p:spPr>
      </p:sp>
      <p:sp>
        <p:nvSpPr>
          <p:cNvPr id="188" name="Shape 186"/>
          <p:cNvSpPr/>
          <p:nvPr/>
        </p:nvSpPr>
        <p:spPr>
          <a:xfrm flipV="1">
            <a:off x="5089208" y="3680230"/>
            <a:ext cx="18097" cy="6938"/>
          </a:xfrm>
          <a:prstGeom prst="line">
            <a:avLst/>
          </a:prstGeom>
          <a:noFill/>
          <a:ln w="12700">
            <a:solidFill>
              <a:srgbClr val="2E8B57"/>
            </a:solidFill>
            <a:prstDash val="solid"/>
          </a:ln>
        </p:spPr>
      </p:sp>
      <p:sp>
        <p:nvSpPr>
          <p:cNvPr id="189" name="Shape 187"/>
          <p:cNvSpPr/>
          <p:nvPr/>
        </p:nvSpPr>
        <p:spPr>
          <a:xfrm flipV="1">
            <a:off x="5107305" y="3669847"/>
            <a:ext cx="18097" cy="10383"/>
          </a:xfrm>
          <a:prstGeom prst="line">
            <a:avLst/>
          </a:prstGeom>
          <a:noFill/>
          <a:ln w="12700">
            <a:solidFill>
              <a:srgbClr val="2E8B57"/>
            </a:solidFill>
            <a:prstDash val="solid"/>
          </a:ln>
        </p:spPr>
      </p:sp>
      <p:sp>
        <p:nvSpPr>
          <p:cNvPr id="190" name="Shape 188"/>
          <p:cNvSpPr/>
          <p:nvPr/>
        </p:nvSpPr>
        <p:spPr>
          <a:xfrm flipV="1">
            <a:off x="5125402" y="3657600"/>
            <a:ext cx="18098" cy="12247"/>
          </a:xfrm>
          <a:prstGeom prst="line">
            <a:avLst/>
          </a:prstGeom>
          <a:noFill/>
          <a:ln w="12700">
            <a:solidFill>
              <a:srgbClr val="2E8B57"/>
            </a:solidFill>
            <a:prstDash val="solid"/>
          </a:ln>
        </p:spPr>
      </p:sp>
      <p:sp>
        <p:nvSpPr>
          <p:cNvPr id="191" name="Shape 189"/>
          <p:cNvSpPr/>
          <p:nvPr/>
        </p:nvSpPr>
        <p:spPr>
          <a:xfrm flipV="1">
            <a:off x="5143500" y="3645353"/>
            <a:ext cx="18097" cy="12247"/>
          </a:xfrm>
          <a:prstGeom prst="line">
            <a:avLst/>
          </a:prstGeom>
          <a:noFill/>
          <a:ln w="12700">
            <a:solidFill>
              <a:srgbClr val="2E8B57"/>
            </a:solidFill>
            <a:prstDash val="solid"/>
          </a:ln>
        </p:spPr>
      </p:sp>
      <p:sp>
        <p:nvSpPr>
          <p:cNvPr id="192" name="Shape 190"/>
          <p:cNvSpPr/>
          <p:nvPr/>
        </p:nvSpPr>
        <p:spPr>
          <a:xfrm flipV="1">
            <a:off x="5161598" y="3634970"/>
            <a:ext cx="18097" cy="10383"/>
          </a:xfrm>
          <a:prstGeom prst="line">
            <a:avLst/>
          </a:prstGeom>
          <a:noFill/>
          <a:ln w="12700">
            <a:solidFill>
              <a:srgbClr val="2E8B57"/>
            </a:solidFill>
            <a:prstDash val="solid"/>
          </a:ln>
        </p:spPr>
      </p:sp>
      <p:sp>
        <p:nvSpPr>
          <p:cNvPr id="193" name="Shape 191"/>
          <p:cNvSpPr/>
          <p:nvPr/>
        </p:nvSpPr>
        <p:spPr>
          <a:xfrm flipV="1">
            <a:off x="5179695" y="3628032"/>
            <a:ext cx="18097" cy="6938"/>
          </a:xfrm>
          <a:prstGeom prst="line">
            <a:avLst/>
          </a:prstGeom>
          <a:noFill/>
          <a:ln w="12700">
            <a:solidFill>
              <a:srgbClr val="2E8B57"/>
            </a:solidFill>
            <a:prstDash val="solid"/>
          </a:ln>
        </p:spPr>
      </p:sp>
      <p:sp>
        <p:nvSpPr>
          <p:cNvPr id="194" name="Shape 192"/>
          <p:cNvSpPr/>
          <p:nvPr/>
        </p:nvSpPr>
        <p:spPr>
          <a:xfrm flipV="1">
            <a:off x="5197792" y="3625596"/>
            <a:ext cx="18098" cy="2436"/>
          </a:xfrm>
          <a:prstGeom prst="line">
            <a:avLst/>
          </a:prstGeom>
          <a:noFill/>
          <a:ln w="12700">
            <a:solidFill>
              <a:srgbClr val="2E8B57"/>
            </a:solidFill>
            <a:prstDash val="solid"/>
          </a:ln>
        </p:spPr>
      </p:sp>
      <p:sp>
        <p:nvSpPr>
          <p:cNvPr id="195" name="Shape 193"/>
          <p:cNvSpPr/>
          <p:nvPr/>
        </p:nvSpPr>
        <p:spPr>
          <a:xfrm>
            <a:off x="5215890" y="3625596"/>
            <a:ext cx="18097" cy="2436"/>
          </a:xfrm>
          <a:prstGeom prst="line">
            <a:avLst/>
          </a:prstGeom>
          <a:noFill/>
          <a:ln w="12700">
            <a:solidFill>
              <a:srgbClr val="2E8B57"/>
            </a:solidFill>
            <a:prstDash val="solid"/>
          </a:ln>
        </p:spPr>
      </p:sp>
      <p:sp>
        <p:nvSpPr>
          <p:cNvPr id="196" name="Shape 194"/>
          <p:cNvSpPr/>
          <p:nvPr/>
        </p:nvSpPr>
        <p:spPr>
          <a:xfrm>
            <a:off x="5233988" y="3628032"/>
            <a:ext cx="18097" cy="6938"/>
          </a:xfrm>
          <a:prstGeom prst="line">
            <a:avLst/>
          </a:prstGeom>
          <a:noFill/>
          <a:ln w="12700">
            <a:solidFill>
              <a:srgbClr val="2E8B57"/>
            </a:solidFill>
            <a:prstDash val="solid"/>
          </a:ln>
        </p:spPr>
      </p:sp>
      <p:sp>
        <p:nvSpPr>
          <p:cNvPr id="197" name="Shape 195"/>
          <p:cNvSpPr/>
          <p:nvPr/>
        </p:nvSpPr>
        <p:spPr>
          <a:xfrm>
            <a:off x="5252085" y="3634970"/>
            <a:ext cx="18097" cy="10383"/>
          </a:xfrm>
          <a:prstGeom prst="line">
            <a:avLst/>
          </a:prstGeom>
          <a:noFill/>
          <a:ln w="12700">
            <a:solidFill>
              <a:srgbClr val="2E8B57"/>
            </a:solidFill>
            <a:prstDash val="solid"/>
          </a:ln>
        </p:spPr>
      </p:sp>
      <p:sp>
        <p:nvSpPr>
          <p:cNvPr id="198" name="Shape 196"/>
          <p:cNvSpPr/>
          <p:nvPr/>
        </p:nvSpPr>
        <p:spPr>
          <a:xfrm>
            <a:off x="5270182" y="3645353"/>
            <a:ext cx="18098" cy="12247"/>
          </a:xfrm>
          <a:prstGeom prst="line">
            <a:avLst/>
          </a:prstGeom>
          <a:noFill/>
          <a:ln w="12700">
            <a:solidFill>
              <a:srgbClr val="2E8B57"/>
            </a:solidFill>
            <a:prstDash val="solid"/>
          </a:ln>
        </p:spPr>
      </p:sp>
      <p:sp>
        <p:nvSpPr>
          <p:cNvPr id="199" name="Shape 197"/>
          <p:cNvSpPr/>
          <p:nvPr/>
        </p:nvSpPr>
        <p:spPr>
          <a:xfrm>
            <a:off x="5288280" y="3657600"/>
            <a:ext cx="18097" cy="12247"/>
          </a:xfrm>
          <a:prstGeom prst="line">
            <a:avLst/>
          </a:prstGeom>
          <a:noFill/>
          <a:ln w="12700">
            <a:solidFill>
              <a:srgbClr val="2E8B57"/>
            </a:solidFill>
            <a:prstDash val="solid"/>
          </a:ln>
        </p:spPr>
      </p:sp>
      <p:sp>
        <p:nvSpPr>
          <p:cNvPr id="200" name="Shape 198"/>
          <p:cNvSpPr/>
          <p:nvPr/>
        </p:nvSpPr>
        <p:spPr>
          <a:xfrm>
            <a:off x="5306378" y="3669847"/>
            <a:ext cx="18097" cy="10383"/>
          </a:xfrm>
          <a:prstGeom prst="line">
            <a:avLst/>
          </a:prstGeom>
          <a:noFill/>
          <a:ln w="12700">
            <a:solidFill>
              <a:srgbClr val="2E8B57"/>
            </a:solidFill>
            <a:prstDash val="solid"/>
          </a:ln>
        </p:spPr>
      </p:sp>
      <p:sp>
        <p:nvSpPr>
          <p:cNvPr id="201" name="Shape 199"/>
          <p:cNvSpPr/>
          <p:nvPr/>
        </p:nvSpPr>
        <p:spPr>
          <a:xfrm>
            <a:off x="5324475" y="3680230"/>
            <a:ext cx="18097" cy="6938"/>
          </a:xfrm>
          <a:prstGeom prst="line">
            <a:avLst/>
          </a:prstGeom>
          <a:noFill/>
          <a:ln w="12700">
            <a:solidFill>
              <a:srgbClr val="2E8B57"/>
            </a:solidFill>
            <a:prstDash val="solid"/>
          </a:ln>
        </p:spPr>
      </p:sp>
      <p:sp>
        <p:nvSpPr>
          <p:cNvPr id="202" name="Shape 200"/>
          <p:cNvSpPr/>
          <p:nvPr/>
        </p:nvSpPr>
        <p:spPr>
          <a:xfrm>
            <a:off x="5342572" y="3687168"/>
            <a:ext cx="18098" cy="2436"/>
          </a:xfrm>
          <a:prstGeom prst="line">
            <a:avLst/>
          </a:prstGeom>
          <a:noFill/>
          <a:ln w="12700">
            <a:solidFill>
              <a:srgbClr val="2E8B57"/>
            </a:solidFill>
            <a:prstDash val="solid"/>
          </a:ln>
        </p:spPr>
      </p:sp>
      <p:sp>
        <p:nvSpPr>
          <p:cNvPr id="203" name="Shape 201"/>
          <p:cNvSpPr/>
          <p:nvPr/>
        </p:nvSpPr>
        <p:spPr>
          <a:xfrm flipV="1">
            <a:off x="5360670" y="3687168"/>
            <a:ext cx="18097" cy="2436"/>
          </a:xfrm>
          <a:prstGeom prst="line">
            <a:avLst/>
          </a:prstGeom>
          <a:noFill/>
          <a:ln w="12700">
            <a:solidFill>
              <a:srgbClr val="2E8B57"/>
            </a:solidFill>
            <a:prstDash val="solid"/>
          </a:ln>
        </p:spPr>
      </p:sp>
      <p:sp>
        <p:nvSpPr>
          <p:cNvPr id="204" name="Shape 202"/>
          <p:cNvSpPr/>
          <p:nvPr/>
        </p:nvSpPr>
        <p:spPr>
          <a:xfrm flipV="1">
            <a:off x="5378768" y="3680230"/>
            <a:ext cx="18097" cy="6938"/>
          </a:xfrm>
          <a:prstGeom prst="line">
            <a:avLst/>
          </a:prstGeom>
          <a:noFill/>
          <a:ln w="12700">
            <a:solidFill>
              <a:srgbClr val="2E8B57"/>
            </a:solidFill>
            <a:prstDash val="solid"/>
          </a:ln>
        </p:spPr>
      </p:sp>
      <p:sp>
        <p:nvSpPr>
          <p:cNvPr id="205" name="Shape 203"/>
          <p:cNvSpPr/>
          <p:nvPr/>
        </p:nvSpPr>
        <p:spPr>
          <a:xfrm flipV="1">
            <a:off x="5396865" y="3669847"/>
            <a:ext cx="18098" cy="10383"/>
          </a:xfrm>
          <a:prstGeom prst="line">
            <a:avLst/>
          </a:prstGeom>
          <a:noFill/>
          <a:ln w="12700">
            <a:solidFill>
              <a:srgbClr val="2E8B57"/>
            </a:solidFill>
            <a:prstDash val="solid"/>
          </a:ln>
        </p:spPr>
      </p:sp>
      <p:sp>
        <p:nvSpPr>
          <p:cNvPr id="206" name="Shape 204"/>
          <p:cNvSpPr/>
          <p:nvPr/>
        </p:nvSpPr>
        <p:spPr>
          <a:xfrm flipV="1">
            <a:off x="5414963" y="3657600"/>
            <a:ext cx="18097" cy="12247"/>
          </a:xfrm>
          <a:prstGeom prst="line">
            <a:avLst/>
          </a:prstGeom>
          <a:noFill/>
          <a:ln w="12700">
            <a:solidFill>
              <a:srgbClr val="2E8B57"/>
            </a:solidFill>
            <a:prstDash val="solid"/>
          </a:ln>
        </p:spPr>
      </p:sp>
      <p:sp>
        <p:nvSpPr>
          <p:cNvPr id="207" name="Shape 205"/>
          <p:cNvSpPr/>
          <p:nvPr/>
        </p:nvSpPr>
        <p:spPr>
          <a:xfrm flipV="1">
            <a:off x="5433060" y="3645353"/>
            <a:ext cx="18097" cy="12247"/>
          </a:xfrm>
          <a:prstGeom prst="line">
            <a:avLst/>
          </a:prstGeom>
          <a:noFill/>
          <a:ln w="12700">
            <a:solidFill>
              <a:srgbClr val="2E8B57"/>
            </a:solidFill>
            <a:prstDash val="solid"/>
          </a:ln>
        </p:spPr>
      </p:sp>
      <p:sp>
        <p:nvSpPr>
          <p:cNvPr id="208" name="Shape 206"/>
          <p:cNvSpPr/>
          <p:nvPr/>
        </p:nvSpPr>
        <p:spPr>
          <a:xfrm flipV="1">
            <a:off x="5451158" y="3634970"/>
            <a:ext cx="18097" cy="10383"/>
          </a:xfrm>
          <a:prstGeom prst="line">
            <a:avLst/>
          </a:prstGeom>
          <a:noFill/>
          <a:ln w="12700">
            <a:solidFill>
              <a:srgbClr val="2E8B57"/>
            </a:solidFill>
            <a:prstDash val="solid"/>
          </a:ln>
        </p:spPr>
      </p:sp>
      <p:sp>
        <p:nvSpPr>
          <p:cNvPr id="209" name="Shape 207"/>
          <p:cNvSpPr/>
          <p:nvPr/>
        </p:nvSpPr>
        <p:spPr>
          <a:xfrm flipV="1">
            <a:off x="5469255" y="3628032"/>
            <a:ext cx="18098" cy="6938"/>
          </a:xfrm>
          <a:prstGeom prst="line">
            <a:avLst/>
          </a:prstGeom>
          <a:noFill/>
          <a:ln w="12700">
            <a:solidFill>
              <a:srgbClr val="2E8B57"/>
            </a:solidFill>
            <a:prstDash val="solid"/>
          </a:ln>
        </p:spPr>
      </p:sp>
      <p:sp>
        <p:nvSpPr>
          <p:cNvPr id="210" name="Shape 208"/>
          <p:cNvSpPr/>
          <p:nvPr/>
        </p:nvSpPr>
        <p:spPr>
          <a:xfrm flipV="1">
            <a:off x="5487353" y="3625596"/>
            <a:ext cx="18097" cy="2436"/>
          </a:xfrm>
          <a:prstGeom prst="line">
            <a:avLst/>
          </a:prstGeom>
          <a:noFill/>
          <a:ln w="12700">
            <a:solidFill>
              <a:srgbClr val="2E8B57"/>
            </a:solidFill>
            <a:prstDash val="solid"/>
          </a:ln>
        </p:spPr>
      </p:sp>
      <p:sp>
        <p:nvSpPr>
          <p:cNvPr id="211" name="Shape 209"/>
          <p:cNvSpPr/>
          <p:nvPr/>
        </p:nvSpPr>
        <p:spPr>
          <a:xfrm>
            <a:off x="5505450" y="3625596"/>
            <a:ext cx="18097" cy="2436"/>
          </a:xfrm>
          <a:prstGeom prst="line">
            <a:avLst/>
          </a:prstGeom>
          <a:noFill/>
          <a:ln w="12700">
            <a:solidFill>
              <a:srgbClr val="2E8B57"/>
            </a:solidFill>
            <a:prstDash val="solid"/>
          </a:ln>
        </p:spPr>
      </p:sp>
      <p:sp>
        <p:nvSpPr>
          <p:cNvPr id="212" name="Shape 210"/>
          <p:cNvSpPr/>
          <p:nvPr/>
        </p:nvSpPr>
        <p:spPr>
          <a:xfrm>
            <a:off x="5523547" y="3628032"/>
            <a:ext cx="18098" cy="6938"/>
          </a:xfrm>
          <a:prstGeom prst="line">
            <a:avLst/>
          </a:prstGeom>
          <a:noFill/>
          <a:ln w="12700">
            <a:solidFill>
              <a:srgbClr val="2E8B57"/>
            </a:solidFill>
            <a:prstDash val="solid"/>
          </a:ln>
        </p:spPr>
      </p:sp>
      <p:sp>
        <p:nvSpPr>
          <p:cNvPr id="213" name="Shape 211"/>
          <p:cNvSpPr/>
          <p:nvPr/>
        </p:nvSpPr>
        <p:spPr>
          <a:xfrm>
            <a:off x="5541645" y="3634970"/>
            <a:ext cx="18097" cy="10383"/>
          </a:xfrm>
          <a:prstGeom prst="line">
            <a:avLst/>
          </a:prstGeom>
          <a:noFill/>
          <a:ln w="12700">
            <a:solidFill>
              <a:srgbClr val="2E8B57"/>
            </a:solidFill>
            <a:prstDash val="solid"/>
          </a:ln>
        </p:spPr>
      </p:sp>
      <p:sp>
        <p:nvSpPr>
          <p:cNvPr id="214" name="Shape 212"/>
          <p:cNvSpPr/>
          <p:nvPr/>
        </p:nvSpPr>
        <p:spPr>
          <a:xfrm>
            <a:off x="5559743" y="3645353"/>
            <a:ext cx="18097" cy="12247"/>
          </a:xfrm>
          <a:prstGeom prst="line">
            <a:avLst/>
          </a:prstGeom>
          <a:noFill/>
          <a:ln w="12700">
            <a:solidFill>
              <a:srgbClr val="2E8B57"/>
            </a:solidFill>
            <a:prstDash val="solid"/>
          </a:ln>
        </p:spPr>
      </p:sp>
      <p:sp>
        <p:nvSpPr>
          <p:cNvPr id="215" name="Shape 213"/>
          <p:cNvSpPr/>
          <p:nvPr/>
        </p:nvSpPr>
        <p:spPr>
          <a:xfrm>
            <a:off x="5532120" y="3657600"/>
            <a:ext cx="228600" cy="91"/>
          </a:xfrm>
          <a:prstGeom prst="line">
            <a:avLst/>
          </a:prstGeom>
          <a:noFill/>
          <a:ln w="12700">
            <a:solidFill>
              <a:srgbClr val="2E8B57"/>
            </a:solidFill>
            <a:prstDash val="solid"/>
            <a:tailEnd type="triangle"/>
          </a:ln>
        </p:spPr>
      </p:sp>
      <p:sp>
        <p:nvSpPr>
          <p:cNvPr id="216" name="Text 214"/>
          <p:cNvSpPr/>
          <p:nvPr/>
        </p:nvSpPr>
        <p:spPr>
          <a:xfrm>
            <a:off x="1188720" y="3291840"/>
            <a:ext cx="548640" cy="256032"/>
          </a:xfrm>
          <a:prstGeom prst="rect">
            <a:avLst/>
          </a:prstGeom>
          <a:noFill/>
          <a:ln/>
        </p:spPr>
        <p:txBody>
          <a:bodyPr wrap="square" lIns="0" tIns="0" rIns="0" bIns="0" rtlCol="0" anchor="ctr"/>
          <a:lstStyle/>
          <a:p>
            <a:pPr algn="l" indent="0" marL="0">
              <a:buNone/>
            </a:pPr>
            <a:r>
              <a:rPr lang="en-US" sz="1400" b="1" dirty="0">
                <a:solidFill>
                  <a:srgbClr val="2E8B57"/>
                </a:solidFill>
                <a:latin typeface="Calibri" pitchFamily="34" charset="0"/>
                <a:ea typeface="Calibri" pitchFamily="34" charset="-122"/>
                <a:cs typeface="Calibri" pitchFamily="34" charset="-120"/>
              </a:rPr>
              <a:t>γ</a:t>
            </a:r>
            <a:endParaRPr lang="en-US" sz="1400" dirty="0"/>
          </a:p>
        </p:txBody>
      </p:sp>
      <p:sp>
        <p:nvSpPr>
          <p:cNvPr id="217" name="Text 215"/>
          <p:cNvSpPr/>
          <p:nvPr/>
        </p:nvSpPr>
        <p:spPr>
          <a:xfrm>
            <a:off x="4727448" y="3749040"/>
            <a:ext cx="1051560" cy="256032"/>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reduced</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4315968"/>
          <a:ext cx="5120640" cy="914400"/>
        </p:xfrm>
        <a:graphic>
          <a:graphicData uri="http://schemas.openxmlformats.org/drawingml/2006/table">
            <a:tbl>
              <a:tblPr/>
              <a:tblGrid>
                <a:gridCol w="822960"/>
                <a:gridCol w="2103120"/>
                <a:gridCol w="1097280"/>
                <a:gridCol w="1097280"/>
              </a:tblGrid>
              <a:tr h="246888">
                <a:tc>
                  <a:txBody>
                    <a:bodyPr/>
                    <a:lstStyle/>
                    <a:p>
                      <a:pPr algn="ct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Stopped by</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Range in air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Ionising</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46888">
                <a:tc>
                  <a:txBody>
                    <a:bodyPr/>
                    <a:lstStyle/>
                    <a:p>
                      <a:pPr algn="ctr" indent="0" marL="0">
                        <a:buNone/>
                      </a:pPr>
                      <a:r>
                        <a:rPr lang="en-US" sz="1050" b="1" dirty="0">
                          <a:solidFill>
                            <a:srgbClr val="C8414C"/>
                          </a:solidFill>
                          <a:latin typeface="Calibri" pitchFamily="34" charset="0"/>
                          <a:ea typeface="Calibri" pitchFamily="34" charset="-122"/>
                          <a:cs typeface="Calibri" pitchFamily="34" charset="-120"/>
                        </a:rPr>
                        <a:t>alpha α</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paper / skin</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a few cm</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strongly</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46888">
                <a:tc>
                  <a:txBody>
                    <a:bodyPr/>
                    <a:lstStyle/>
                    <a:p>
                      <a:pPr algn="ctr" indent="0" marL="0">
                        <a:buNone/>
                      </a:pPr>
                      <a:r>
                        <a:rPr lang="en-US" sz="1050" b="1" dirty="0">
                          <a:solidFill>
                            <a:srgbClr val="2E5BD8"/>
                          </a:solidFill>
                          <a:latin typeface="Calibri" pitchFamily="34" charset="0"/>
                          <a:ea typeface="Calibri" pitchFamily="34" charset="-122"/>
                          <a:cs typeface="Calibri" pitchFamily="34" charset="-120"/>
                        </a:rPr>
                        <a:t>beta β</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few mm aluminium</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about 1 m</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moderately</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46888">
                <a:tc>
                  <a:txBody>
                    <a:bodyPr/>
                    <a:lstStyle/>
                    <a:p>
                      <a:pPr algn="ctr" indent="0" marL="0">
                        <a:buNone/>
                      </a:pPr>
                      <a:r>
                        <a:rPr lang="en-US" sz="1050" b="1" dirty="0">
                          <a:solidFill>
                            <a:srgbClr val="2E8B57"/>
                          </a:solidFill>
                          <a:latin typeface="Calibri" pitchFamily="34" charset="0"/>
                          <a:ea typeface="Calibri" pitchFamily="34" charset="-122"/>
                          <a:cs typeface="Calibri" pitchFamily="34" charset="-120"/>
                        </a:rPr>
                        <a:t>gamma γ</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reduced by thick lead or concrete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very far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weakly</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219" name="Shape 216"/>
          <p:cNvSpPr/>
          <p:nvPr/>
        </p:nvSpPr>
        <p:spPr>
          <a:xfrm>
            <a:off x="6217920" y="1188720"/>
            <a:ext cx="5562295" cy="2286000"/>
          </a:xfrm>
          <a:prstGeom prst="roundRect">
            <a:avLst>
              <a:gd name="adj" fmla="val 2400"/>
            </a:avLst>
          </a:prstGeom>
          <a:solidFill>
            <a:srgbClr val="F5F8FE"/>
          </a:solidFill>
          <a:ln w="9525">
            <a:solidFill>
              <a:srgbClr val="D5DCEB"/>
            </a:solidFill>
            <a:prstDash val="solid"/>
          </a:ln>
        </p:spPr>
      </p:sp>
      <p:sp>
        <p:nvSpPr>
          <p:cNvPr id="220" name="Text 21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Penetration</a:t>
            </a:r>
            <a:endParaRPr lang="en-US" sz="1300" dirty="0"/>
          </a:p>
        </p:txBody>
      </p:sp>
      <p:sp>
        <p:nvSpPr>
          <p:cNvPr id="221" name="Text 218"/>
          <p:cNvSpPr/>
          <p:nvPr/>
        </p:nvSpPr>
        <p:spPr>
          <a:xfrm>
            <a:off x="6382512" y="1609344"/>
            <a:ext cx="5233111" cy="179222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Alpha</a:t>
            </a:r>
            <a:r>
              <a:rPr lang="en-US" sz="1150" dirty="0">
                <a:solidFill>
                  <a:srgbClr val="262B3A"/>
                </a:solidFill>
                <a:latin typeface="Calibri" pitchFamily="34" charset="0"/>
                <a:ea typeface="Calibri" pitchFamily="34" charset="-122"/>
                <a:cs typeface="Calibri" pitchFamily="34" charset="-120"/>
              </a:rPr>
              <a:t>: stopped by a sheet of </a:t>
            </a:r>
            <a:r>
              <a:rPr lang="en-US" sz="1150" b="1" dirty="0">
                <a:solidFill>
                  <a:srgbClr val="262B3A"/>
                </a:solidFill>
                <a:latin typeface="Calibri" pitchFamily="34" charset="0"/>
                <a:ea typeface="Calibri" pitchFamily="34" charset="-122"/>
                <a:cs typeface="Calibri" pitchFamily="34" charset="-120"/>
              </a:rPr>
              <a:t>paper</a:t>
            </a:r>
            <a:r>
              <a:rPr lang="en-US" sz="1150" dirty="0">
                <a:solidFill>
                  <a:srgbClr val="262B3A"/>
                </a:solidFill>
                <a:latin typeface="Calibri" pitchFamily="34" charset="0"/>
                <a:ea typeface="Calibri" pitchFamily="34" charset="-122"/>
                <a:cs typeface="Calibri" pitchFamily="34" charset="-120"/>
              </a:rPr>
              <a:t>, the outer layer of </a:t>
            </a:r>
            <a:r>
              <a:rPr lang="en-US" sz="1150" b="1" dirty="0">
                <a:solidFill>
                  <a:srgbClr val="262B3A"/>
                </a:solidFill>
                <a:latin typeface="Calibri" pitchFamily="34" charset="0"/>
                <a:ea typeface="Calibri" pitchFamily="34" charset="-122"/>
                <a:cs typeface="Calibri" pitchFamily="34" charset="-120"/>
              </a:rPr>
              <a:t>skin</a:t>
            </a:r>
            <a:r>
              <a:rPr lang="en-US" sz="1150" dirty="0">
                <a:solidFill>
                  <a:srgbClr val="262B3A"/>
                </a:solidFill>
                <a:latin typeface="Calibri" pitchFamily="34" charset="0"/>
                <a:ea typeface="Calibri" pitchFamily="34" charset="-122"/>
                <a:cs typeface="Calibri" pitchFamily="34" charset="-120"/>
              </a:rPr>
              <a:t>, or a few cm of </a:t>
            </a:r>
            <a:r>
              <a:rPr lang="en-US" sz="1150" b="1" dirty="0">
                <a:solidFill>
                  <a:srgbClr val="262B3A"/>
                </a:solidFill>
                <a:latin typeface="Calibri" pitchFamily="34" charset="0"/>
                <a:ea typeface="Calibri" pitchFamily="34" charset="-122"/>
                <a:cs typeface="Calibri" pitchFamily="34" charset="-120"/>
              </a:rPr>
              <a:t>air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Beta</a:t>
            </a:r>
            <a:r>
              <a:rPr lang="en-US" sz="1150" dirty="0">
                <a:solidFill>
                  <a:srgbClr val="262B3A"/>
                </a:solidFill>
                <a:latin typeface="Calibri" pitchFamily="34" charset="0"/>
                <a:ea typeface="Calibri" pitchFamily="34" charset="-122"/>
                <a:cs typeface="Calibri" pitchFamily="34" charset="-120"/>
              </a:rPr>
              <a:t>: passes through paper; stopped by </a:t>
            </a:r>
            <a:r>
              <a:rPr lang="en-US" sz="1150" b="1" dirty="0">
                <a:solidFill>
                  <a:srgbClr val="262B3A"/>
                </a:solidFill>
                <a:latin typeface="Calibri" pitchFamily="34" charset="0"/>
                <a:ea typeface="Calibri" pitchFamily="34" charset="-122"/>
                <a:cs typeface="Calibri" pitchFamily="34" charset="-120"/>
              </a:rPr>
              <a:t>a few mm of aluminium</a:t>
            </a:r>
            <a:r>
              <a:rPr lang="en-US" sz="1150" dirty="0">
                <a:solidFill>
                  <a:srgbClr val="262B3A"/>
                </a:solidFill>
                <a:latin typeface="Calibri" pitchFamily="34" charset="0"/>
                <a:ea typeface="Calibri" pitchFamily="34" charset="-122"/>
                <a:cs typeface="Calibri" pitchFamily="34" charset="-120"/>
              </a:rPr>
              <a:t>. Range in air about a metre.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Gamma</a:t>
            </a:r>
            <a:r>
              <a:rPr lang="en-US" sz="1150" dirty="0">
                <a:solidFill>
                  <a:srgbClr val="262B3A"/>
                </a:solidFill>
                <a:latin typeface="Calibri" pitchFamily="34" charset="0"/>
                <a:ea typeface="Calibri" pitchFamily="34" charset="-122"/>
                <a:cs typeface="Calibri" pitchFamily="34" charset="-120"/>
              </a:rPr>
              <a:t>: passes through paper and aluminium. </a:t>
            </a:r>
            <a:r>
              <a:rPr lang="en-US" sz="1150" b="1" dirty="0">
                <a:solidFill>
                  <a:srgbClr val="262B3A"/>
                </a:solidFill>
                <a:latin typeface="Calibri" pitchFamily="34" charset="0"/>
                <a:ea typeface="Calibri" pitchFamily="34" charset="-122"/>
                <a:cs typeface="Calibri" pitchFamily="34" charset="-120"/>
              </a:rPr>
              <a:t>Thick lead</a:t>
            </a:r>
            <a:r>
              <a:rPr lang="en-US" sz="1150" dirty="0">
                <a:solidFill>
                  <a:srgbClr val="262B3A"/>
                </a:solidFill>
                <a:latin typeface="Calibri" pitchFamily="34" charset="0"/>
                <a:ea typeface="Calibri" pitchFamily="34" charset="-122"/>
                <a:cs typeface="Calibri" pitchFamily="34" charset="-120"/>
              </a:rPr>
              <a:t> or </a:t>
            </a:r>
            <a:r>
              <a:rPr lang="en-US" sz="1150" b="1" dirty="0">
                <a:solidFill>
                  <a:srgbClr val="262B3A"/>
                </a:solidFill>
                <a:latin typeface="Calibri" pitchFamily="34" charset="0"/>
                <a:ea typeface="Calibri" pitchFamily="34" charset="-122"/>
                <a:cs typeface="Calibri" pitchFamily="34" charset="-120"/>
              </a:rPr>
              <a:t>concrete</a:t>
            </a:r>
            <a:r>
              <a:rPr lang="en-US" sz="1150" dirty="0">
                <a:solidFill>
                  <a:srgbClr val="262B3A"/>
                </a:solidFill>
                <a:latin typeface="Calibri" pitchFamily="34" charset="0"/>
                <a:ea typeface="Calibri" pitchFamily="34" charset="-122"/>
                <a:cs typeface="Calibri" pitchFamily="34" charset="-120"/>
              </a:rPr>
              <a:t> reduces it a lot, but never stops all of it.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Penetration is the </a:t>
            </a:r>
            <a:r>
              <a:rPr lang="en-US" sz="1150" b="1" dirty="0">
                <a:solidFill>
                  <a:srgbClr val="262B3A"/>
                </a:solidFill>
                <a:latin typeface="Calibri" pitchFamily="34" charset="0"/>
                <a:ea typeface="Calibri" pitchFamily="34" charset="-122"/>
                <a:cs typeface="Calibri" pitchFamily="34" charset="-120"/>
              </a:rPr>
              <a:t>reverse</a:t>
            </a:r>
            <a:r>
              <a:rPr lang="en-US" sz="1150" dirty="0">
                <a:solidFill>
                  <a:srgbClr val="262B3A"/>
                </a:solidFill>
                <a:latin typeface="Calibri" pitchFamily="34" charset="0"/>
                <a:ea typeface="Calibri" pitchFamily="34" charset="-122"/>
                <a:cs typeface="Calibri" pitchFamily="34" charset="-120"/>
              </a:rPr>
              <a:t> of ionising power: alpha is least penetrating, gamma most.</a:t>
            </a:r>
            <a:endParaRPr lang="en-US" sz="1150" dirty="0"/>
          </a:p>
        </p:txBody>
      </p:sp>
      <p:sp>
        <p:nvSpPr>
          <p:cNvPr id="222" name="Shape 219"/>
          <p:cNvSpPr/>
          <p:nvPr/>
        </p:nvSpPr>
        <p:spPr>
          <a:xfrm>
            <a:off x="6217920" y="3611880"/>
            <a:ext cx="5562295" cy="2103120"/>
          </a:xfrm>
          <a:prstGeom prst="roundRect">
            <a:avLst>
              <a:gd name="adj" fmla="val 2609"/>
            </a:avLst>
          </a:prstGeom>
          <a:solidFill>
            <a:srgbClr val="FFF4E0"/>
          </a:solidFill>
          <a:ln w="9525">
            <a:solidFill>
              <a:srgbClr val="F1D9A8"/>
            </a:solidFill>
            <a:prstDash val="solid"/>
          </a:ln>
        </p:spPr>
      </p:sp>
      <p:sp>
        <p:nvSpPr>
          <p:cNvPr id="223" name="Text 220"/>
          <p:cNvSpPr/>
          <p:nvPr/>
        </p:nvSpPr>
        <p:spPr>
          <a:xfrm>
            <a:off x="6382512" y="36850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be careful with range</a:t>
            </a:r>
            <a:endParaRPr lang="en-US" sz="1300" dirty="0"/>
          </a:p>
        </p:txBody>
      </p:sp>
      <p:sp>
        <p:nvSpPr>
          <p:cNvPr id="224" name="Text 221"/>
          <p:cNvSpPr/>
          <p:nvPr/>
        </p:nvSpPr>
        <p:spPr>
          <a:xfrm>
            <a:off x="6382512" y="3995928"/>
            <a:ext cx="5233111" cy="16459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GM tube is 30 cm from a source. Putting paper in the way makes no difference. Does the source emit alpha?</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Range   </a:t>
            </a:r>
            <a:r>
              <a:rPr lang="en-US" sz="1050" dirty="0">
                <a:solidFill>
                  <a:srgbClr val="262B3A"/>
                </a:solidFill>
                <a:latin typeface="Calibri" pitchFamily="34" charset="0"/>
                <a:ea typeface="Calibri" pitchFamily="34" charset="-122"/>
                <a:cs typeface="Calibri" pitchFamily="34" charset="-120"/>
              </a:rPr>
              <a:t>alpha only travels a few cm in air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So   </a:t>
            </a:r>
            <a:r>
              <a:rPr lang="en-US" sz="1050" dirty="0">
                <a:solidFill>
                  <a:srgbClr val="262B3A"/>
                </a:solidFill>
                <a:latin typeface="Calibri" pitchFamily="34" charset="0"/>
                <a:ea typeface="Calibri" pitchFamily="34" charset="-122"/>
                <a:cs typeface="Calibri" pitchFamily="34" charset="-120"/>
              </a:rPr>
              <a:t>alpha would not reach a tube 30 cm away anyway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Fix   </a:t>
            </a:r>
            <a:r>
              <a:rPr lang="en-US" sz="1050" dirty="0">
                <a:solidFill>
                  <a:srgbClr val="262B3A"/>
                </a:solidFill>
                <a:latin typeface="Calibri" pitchFamily="34" charset="0"/>
                <a:ea typeface="Calibri" pitchFamily="34" charset="-122"/>
                <a:cs typeface="Calibri" pitchFamily="34" charset="-120"/>
              </a:rPr>
              <a:t>repeat with the tube about 2 cm from the source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you </a:t>
            </a:r>
            <a:r>
              <a:rPr lang="en-US" sz="1050" b="1" dirty="0">
                <a:solidFill>
                  <a:srgbClr val="C8414C"/>
                </a:solidFill>
                <a:latin typeface="Calibri" pitchFamily="34" charset="0"/>
                <a:ea typeface="Calibri" pitchFamily="34" charset="-122"/>
                <a:cs typeface="Calibri" pitchFamily="34" charset="-120"/>
              </a:rPr>
              <a:t>cannot tell</a:t>
            </a:r>
            <a:r>
              <a:rPr lang="en-US" sz="1050" b="1" dirty="0">
                <a:solidFill>
                  <a:srgbClr val="C8414C"/>
                </a:solidFill>
                <a:latin typeface="Calibri" pitchFamily="34" charset="0"/>
                <a:ea typeface="Calibri" pitchFamily="34" charset="-122"/>
                <a:cs typeface="Calibri" pitchFamily="34" charset="-120"/>
              </a:rPr>
              <a:t> yet: the test is not valid at 30 cm</a:t>
            </a:r>
            <a:endParaRPr lang="en-US" sz="1050" dirty="0"/>
          </a:p>
        </p:txBody>
      </p:sp>
      <p:sp>
        <p:nvSpPr>
          <p:cNvPr id="225" name="Shape 222"/>
          <p:cNvSpPr/>
          <p:nvPr/>
        </p:nvSpPr>
        <p:spPr>
          <a:xfrm>
            <a:off x="411480" y="5833872"/>
            <a:ext cx="11368735" cy="530352"/>
          </a:xfrm>
          <a:prstGeom prst="rect">
            <a:avLst/>
          </a:prstGeom>
          <a:solidFill>
            <a:srgbClr val="FFF4E0"/>
          </a:solidFill>
          <a:ln w="6350">
            <a:solidFill>
              <a:srgbClr val="F1D9A8"/>
            </a:solidFill>
            <a:prstDash val="solid"/>
          </a:ln>
        </p:spPr>
      </p:sp>
      <p:sp>
        <p:nvSpPr>
          <p:cNvPr id="226" name="Shape 223"/>
          <p:cNvSpPr/>
          <p:nvPr/>
        </p:nvSpPr>
        <p:spPr>
          <a:xfrm>
            <a:off x="411480" y="5833872"/>
            <a:ext cx="82296" cy="530352"/>
          </a:xfrm>
          <a:prstGeom prst="rect">
            <a:avLst/>
          </a:prstGeom>
          <a:solidFill>
            <a:srgbClr val="E39A2F"/>
          </a:solidFill>
          <a:ln w="12700">
            <a:solidFill>
              <a:srgbClr val="E39A2F"/>
            </a:solidFill>
            <a:prstDash val="solid"/>
          </a:ln>
        </p:spPr>
      </p:sp>
      <p:sp>
        <p:nvSpPr>
          <p:cNvPr id="227" name="Text 22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emission(s) could pass through a 3 mm sheet of aluminium? Which is the most penetrating?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P5.2.1 • ionising power and penetration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Put </a:t>
            </a:r>
            <a:r>
              <a:rPr lang="en-US" sz="1250" b="1" dirty="0">
                <a:solidFill>
                  <a:srgbClr val="262B3A"/>
                </a:solidFill>
                <a:latin typeface="Calibri" pitchFamily="34" charset="0"/>
                <a:ea typeface="Calibri" pitchFamily="34" charset="-122"/>
                <a:cs typeface="Calibri" pitchFamily="34" charset="-120"/>
              </a:rPr>
              <a:t>alpha</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beta</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gamma</a:t>
            </a:r>
            <a:r>
              <a:rPr lang="en-US" sz="1250" dirty="0">
                <a:solidFill>
                  <a:srgbClr val="262B3A"/>
                </a:solidFill>
                <a:latin typeface="Calibri" pitchFamily="34" charset="0"/>
                <a:ea typeface="Calibri" pitchFamily="34" charset="-122"/>
                <a:cs typeface="Calibri" pitchFamily="34" charset="-120"/>
              </a:rPr>
              <a:t> in order of ionising power, starting with the most ionising.</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meant by </a:t>
            </a:r>
            <a:r>
              <a:rPr lang="en-US" sz="1250" b="1" dirty="0">
                <a:solidFill>
                  <a:srgbClr val="262B3A"/>
                </a:solidFill>
                <a:latin typeface="Calibri" pitchFamily="34" charset="0"/>
                <a:ea typeface="Calibri" pitchFamily="34" charset="-122"/>
                <a:cs typeface="Calibri" pitchFamily="34" charset="-120"/>
              </a:rPr>
              <a:t>ionisation</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t>
            </a:r>
            <a:r>
              <a:rPr lang="en-US" sz="1250" b="1" dirty="0">
                <a:solidFill>
                  <a:srgbClr val="262B3A"/>
                </a:solidFill>
                <a:latin typeface="Calibri" pitchFamily="34" charset="0"/>
                <a:ea typeface="Calibri" pitchFamily="34" charset="-122"/>
                <a:cs typeface="Calibri" pitchFamily="34" charset="-120"/>
              </a:rPr>
              <a:t>alpha</a:t>
            </a:r>
            <a:r>
              <a:rPr lang="en-US" sz="1250" dirty="0">
                <a:solidFill>
                  <a:srgbClr val="262B3A"/>
                </a:solidFill>
                <a:latin typeface="Calibri" pitchFamily="34" charset="0"/>
                <a:ea typeface="Calibri" pitchFamily="34" charset="-122"/>
                <a:cs typeface="Calibri" pitchFamily="34" charset="-120"/>
              </a:rPr>
              <a:t> radiation is the least penetrating, even though it is the most ionising.</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 material that would stop </a:t>
            </a:r>
            <a:r>
              <a:rPr lang="en-US" sz="1250" b="1" dirty="0">
                <a:solidFill>
                  <a:srgbClr val="262B3A"/>
                </a:solidFill>
                <a:latin typeface="Calibri" pitchFamily="34" charset="0"/>
                <a:ea typeface="Calibri" pitchFamily="34" charset="-122"/>
                <a:cs typeface="Calibri" pitchFamily="34" charset="-120"/>
              </a:rPr>
              <a:t>beta</a:t>
            </a:r>
            <a:r>
              <a:rPr lang="en-US" sz="1250" dirty="0">
                <a:solidFill>
                  <a:srgbClr val="262B3A"/>
                </a:solidFill>
                <a:latin typeface="Calibri" pitchFamily="34" charset="0"/>
                <a:ea typeface="Calibri" pitchFamily="34" charset="-122"/>
                <a:cs typeface="Calibri" pitchFamily="34" charset="-120"/>
              </a:rPr>
              <a:t> but </a:t>
            </a:r>
            <a:r>
              <a:rPr lang="en-US" sz="1250" b="1" dirty="0">
                <a:solidFill>
                  <a:srgbClr val="262B3A"/>
                </a:solidFill>
                <a:latin typeface="Calibri" pitchFamily="34" charset="0"/>
                <a:ea typeface="Calibri" pitchFamily="34" charset="-122"/>
                <a:cs typeface="Calibri" pitchFamily="34" charset="-120"/>
              </a:rPr>
              <a:t>not gamma</a:t>
            </a:r>
            <a:r>
              <a:rPr lang="en-US" sz="1250" dirty="0">
                <a:solidFill>
                  <a:srgbClr val="262B3A"/>
                </a:solidFill>
                <a:latin typeface="Calibri" pitchFamily="34" charset="0"/>
                <a:ea typeface="Calibri" pitchFamily="34" charset="-122"/>
                <a:cs typeface="Calibri" pitchFamily="34" charset="-120"/>
              </a:rPr>
              <a:t>. Give its approximate thickness.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Suggested practical: identifying radiation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P5.2.1 • teacher demonstration with absorbers and a GM tube</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8</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source, absorber and GM tube fixed in a line; counter records counts</a:t>
            </a:r>
            <a:endParaRPr lang="en-US" sz="1000" dirty="0"/>
          </a:p>
        </p:txBody>
      </p:sp>
      <p:sp>
        <p:nvSpPr>
          <p:cNvPr id="12" name="Shape 10"/>
          <p:cNvSpPr/>
          <p:nvPr/>
        </p:nvSpPr>
        <p:spPr>
          <a:xfrm>
            <a:off x="594360" y="3931920"/>
            <a:ext cx="5212080" cy="109728"/>
          </a:xfrm>
          <a:prstGeom prst="rect">
            <a:avLst/>
          </a:prstGeom>
          <a:solidFill>
            <a:srgbClr val="C99A5B"/>
          </a:solidFill>
          <a:ln w="12700">
            <a:solidFill>
              <a:srgbClr val="8A6A3A"/>
            </a:solidFill>
            <a:prstDash val="solid"/>
          </a:ln>
        </p:spPr>
      </p:sp>
      <p:sp>
        <p:nvSpPr>
          <p:cNvPr id="13" name="Shape 11"/>
          <p:cNvSpPr/>
          <p:nvPr/>
        </p:nvSpPr>
        <p:spPr>
          <a:xfrm>
            <a:off x="914400" y="2926080"/>
            <a:ext cx="91440" cy="1005840"/>
          </a:xfrm>
          <a:prstGeom prst="rect">
            <a:avLst/>
          </a:prstGeom>
          <a:solidFill>
            <a:srgbClr val="8C96A8"/>
          </a:solidFill>
          <a:ln w="12700">
            <a:solidFill>
              <a:srgbClr val="6B7385"/>
            </a:solidFill>
            <a:prstDash val="solid"/>
          </a:ln>
        </p:spPr>
      </p:sp>
      <p:sp>
        <p:nvSpPr>
          <p:cNvPr id="14" name="Shape 12"/>
          <p:cNvSpPr/>
          <p:nvPr/>
        </p:nvSpPr>
        <p:spPr>
          <a:xfrm>
            <a:off x="640080" y="3822192"/>
            <a:ext cx="640080" cy="109728"/>
          </a:xfrm>
          <a:prstGeom prst="rect">
            <a:avLst/>
          </a:prstGeom>
          <a:solidFill>
            <a:srgbClr val="5A6275"/>
          </a:solidFill>
          <a:ln w="12700">
            <a:solidFill>
              <a:srgbClr val="4A5262"/>
            </a:solidFill>
            <a:prstDash val="solid"/>
          </a:ln>
        </p:spPr>
      </p:sp>
      <p:sp>
        <p:nvSpPr>
          <p:cNvPr id="15" name="Shape 13"/>
          <p:cNvSpPr/>
          <p:nvPr/>
        </p:nvSpPr>
        <p:spPr>
          <a:xfrm>
            <a:off x="1005840" y="2971800"/>
            <a:ext cx="320040" cy="274320"/>
          </a:xfrm>
          <a:prstGeom prst="rect">
            <a:avLst/>
          </a:prstGeom>
          <a:solidFill>
            <a:srgbClr val="4A5262"/>
          </a:solidFill>
          <a:ln w="12700">
            <a:solidFill>
              <a:srgbClr val="2E3442"/>
            </a:solidFill>
            <a:prstDash val="solid"/>
          </a:ln>
        </p:spPr>
      </p:sp>
      <p:sp>
        <p:nvSpPr>
          <p:cNvPr id="16" name="Text 14"/>
          <p:cNvSpPr/>
          <p:nvPr/>
        </p:nvSpPr>
        <p:spPr>
          <a:xfrm>
            <a:off x="502920" y="2606040"/>
            <a:ext cx="11887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sealed source</a:t>
            </a:r>
            <a:endParaRPr lang="en-US" sz="1050" dirty="0"/>
          </a:p>
        </p:txBody>
      </p:sp>
      <p:sp>
        <p:nvSpPr>
          <p:cNvPr id="17" name="Shape 15"/>
          <p:cNvSpPr/>
          <p:nvPr/>
        </p:nvSpPr>
        <p:spPr>
          <a:xfrm>
            <a:off x="2240280" y="2788920"/>
            <a:ext cx="109728" cy="640080"/>
          </a:xfrm>
          <a:prstGeom prst="rect">
            <a:avLst/>
          </a:prstGeom>
          <a:solidFill>
            <a:srgbClr val="C9CED8"/>
          </a:solidFill>
          <a:ln w="12700">
            <a:solidFill>
              <a:srgbClr val="7C8598"/>
            </a:solidFill>
            <a:prstDash val="solid"/>
          </a:ln>
        </p:spPr>
      </p:sp>
      <p:sp>
        <p:nvSpPr>
          <p:cNvPr id="18" name="Shape 16"/>
          <p:cNvSpPr/>
          <p:nvPr/>
        </p:nvSpPr>
        <p:spPr>
          <a:xfrm>
            <a:off x="2176272" y="3429000"/>
            <a:ext cx="237744" cy="502920"/>
          </a:xfrm>
          <a:prstGeom prst="rect">
            <a:avLst/>
          </a:prstGeom>
          <a:solidFill>
            <a:srgbClr val="8C96A8"/>
          </a:solidFill>
          <a:ln w="12700">
            <a:solidFill>
              <a:srgbClr val="6B7385"/>
            </a:solidFill>
            <a:prstDash val="solid"/>
          </a:ln>
        </p:spPr>
      </p:sp>
      <p:sp>
        <p:nvSpPr>
          <p:cNvPr id="19" name="Text 17"/>
          <p:cNvSpPr/>
          <p:nvPr/>
        </p:nvSpPr>
        <p:spPr>
          <a:xfrm>
            <a:off x="1737360" y="2514600"/>
            <a:ext cx="1143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absorber</a:t>
            </a:r>
            <a:endParaRPr lang="en-US" sz="1050" dirty="0"/>
          </a:p>
        </p:txBody>
      </p:sp>
      <p:sp>
        <p:nvSpPr>
          <p:cNvPr id="20" name="Shape 18"/>
          <p:cNvSpPr/>
          <p:nvPr/>
        </p:nvSpPr>
        <p:spPr>
          <a:xfrm>
            <a:off x="3246120" y="2926080"/>
            <a:ext cx="1143000" cy="365760"/>
          </a:xfrm>
          <a:prstGeom prst="roundRect">
            <a:avLst>
              <a:gd name="adj" fmla="val 20000"/>
            </a:avLst>
          </a:prstGeom>
          <a:solidFill>
            <a:srgbClr val="D5DCEB"/>
          </a:solidFill>
          <a:ln w="15875">
            <a:solidFill>
              <a:srgbClr val="4A5262"/>
            </a:solidFill>
            <a:prstDash val="solid"/>
          </a:ln>
        </p:spPr>
      </p:sp>
      <p:sp>
        <p:nvSpPr>
          <p:cNvPr id="21" name="Shape 19"/>
          <p:cNvSpPr/>
          <p:nvPr/>
        </p:nvSpPr>
        <p:spPr>
          <a:xfrm>
            <a:off x="3200400" y="2962656"/>
            <a:ext cx="73152" cy="292608"/>
          </a:xfrm>
          <a:prstGeom prst="rect">
            <a:avLst/>
          </a:prstGeom>
          <a:solidFill>
            <a:srgbClr val="F5A742"/>
          </a:solidFill>
          <a:ln w="12700">
            <a:solidFill>
              <a:srgbClr val="B8730A"/>
            </a:solidFill>
            <a:prstDash val="solid"/>
          </a:ln>
        </p:spPr>
      </p:sp>
      <p:sp>
        <p:nvSpPr>
          <p:cNvPr id="22" name="Shape 20"/>
          <p:cNvSpPr/>
          <p:nvPr/>
        </p:nvSpPr>
        <p:spPr>
          <a:xfrm>
            <a:off x="3749040" y="3291840"/>
            <a:ext cx="91440" cy="640080"/>
          </a:xfrm>
          <a:prstGeom prst="rect">
            <a:avLst/>
          </a:prstGeom>
          <a:solidFill>
            <a:srgbClr val="8C96A8"/>
          </a:solidFill>
          <a:ln w="12700">
            <a:solidFill>
              <a:srgbClr val="6B7385"/>
            </a:solidFill>
            <a:prstDash val="solid"/>
          </a:ln>
        </p:spPr>
      </p:sp>
      <p:sp>
        <p:nvSpPr>
          <p:cNvPr id="23" name="Text 21"/>
          <p:cNvSpPr/>
          <p:nvPr/>
        </p:nvSpPr>
        <p:spPr>
          <a:xfrm>
            <a:off x="3017520" y="2606040"/>
            <a:ext cx="16459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GM tube (thin window)</a:t>
            </a:r>
            <a:endParaRPr lang="en-US" sz="1050" dirty="0"/>
          </a:p>
        </p:txBody>
      </p:sp>
      <p:sp>
        <p:nvSpPr>
          <p:cNvPr id="24" name="Shape 22"/>
          <p:cNvSpPr/>
          <p:nvPr/>
        </p:nvSpPr>
        <p:spPr>
          <a:xfrm>
            <a:off x="4389120" y="3108960"/>
            <a:ext cx="411480" cy="91"/>
          </a:xfrm>
          <a:prstGeom prst="line">
            <a:avLst/>
          </a:prstGeom>
          <a:noFill/>
          <a:ln w="19050">
            <a:solidFill>
              <a:srgbClr val="1A2340"/>
            </a:solidFill>
            <a:prstDash val="solid"/>
          </a:ln>
        </p:spPr>
      </p:sp>
      <p:sp>
        <p:nvSpPr>
          <p:cNvPr id="25" name="Shape 23"/>
          <p:cNvSpPr/>
          <p:nvPr/>
        </p:nvSpPr>
        <p:spPr>
          <a:xfrm flipV="1">
            <a:off x="4800600" y="2377440"/>
            <a:ext cx="91" cy="731520"/>
          </a:xfrm>
          <a:prstGeom prst="line">
            <a:avLst/>
          </a:prstGeom>
          <a:noFill/>
          <a:ln w="19050">
            <a:solidFill>
              <a:srgbClr val="1A2340"/>
            </a:solidFill>
            <a:prstDash val="solid"/>
          </a:ln>
        </p:spPr>
      </p:sp>
      <p:sp>
        <p:nvSpPr>
          <p:cNvPr id="26" name="Shape 24"/>
          <p:cNvSpPr/>
          <p:nvPr/>
        </p:nvSpPr>
        <p:spPr>
          <a:xfrm>
            <a:off x="4480560" y="1600200"/>
            <a:ext cx="1234440" cy="777240"/>
          </a:xfrm>
          <a:prstGeom prst="roundRect">
            <a:avLst>
              <a:gd name="adj" fmla="val 7059"/>
            </a:avLst>
          </a:prstGeom>
          <a:solidFill>
            <a:srgbClr val="1A2340"/>
          </a:solidFill>
          <a:ln/>
        </p:spPr>
      </p:sp>
      <p:sp>
        <p:nvSpPr>
          <p:cNvPr id="27" name="Shape 25"/>
          <p:cNvSpPr/>
          <p:nvPr/>
        </p:nvSpPr>
        <p:spPr>
          <a:xfrm>
            <a:off x="4572000" y="1719072"/>
            <a:ext cx="1051560" cy="347472"/>
          </a:xfrm>
          <a:prstGeom prst="rect">
            <a:avLst/>
          </a:prstGeom>
          <a:solidFill>
            <a:srgbClr val="C8F0C8"/>
          </a:solidFill>
          <a:ln w="12700">
            <a:solidFill>
              <a:srgbClr val="2E8B57"/>
            </a:solidFill>
            <a:prstDash val="solid"/>
          </a:ln>
        </p:spPr>
      </p:sp>
      <p:sp>
        <p:nvSpPr>
          <p:cNvPr id="28" name="Text 26"/>
          <p:cNvSpPr/>
          <p:nvPr/>
        </p:nvSpPr>
        <p:spPr>
          <a:xfrm>
            <a:off x="4572000" y="1719072"/>
            <a:ext cx="1051560" cy="347472"/>
          </a:xfrm>
          <a:prstGeom prst="rect">
            <a:avLst/>
          </a:prstGeom>
          <a:noFill/>
          <a:ln/>
        </p:spPr>
        <p:txBody>
          <a:bodyPr wrap="square" lIns="0" tIns="0" rIns="0" bIns="0" rtlCol="0" anchor="ctr"/>
          <a:lstStyle/>
          <a:p>
            <a:pPr algn="ctr" indent="0" marL="0">
              <a:buNone/>
            </a:pPr>
            <a:r>
              <a:rPr lang="en-US" sz="1600" b="1" dirty="0">
                <a:solidFill>
                  <a:srgbClr val="1A4A1A"/>
                </a:solidFill>
                <a:latin typeface="Calibri" pitchFamily="34" charset="0"/>
                <a:ea typeface="Calibri" pitchFamily="34" charset="-122"/>
                <a:cs typeface="Calibri" pitchFamily="34" charset="-120"/>
              </a:rPr>
              <a:t>0524</a:t>
            </a:r>
            <a:endParaRPr lang="en-US" sz="1600" dirty="0"/>
          </a:p>
        </p:txBody>
      </p:sp>
      <p:sp>
        <p:nvSpPr>
          <p:cNvPr id="29" name="Text 27"/>
          <p:cNvSpPr/>
          <p:nvPr/>
        </p:nvSpPr>
        <p:spPr>
          <a:xfrm>
            <a:off x="4480560" y="2103120"/>
            <a:ext cx="1234440"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counter</a:t>
            </a:r>
            <a:endParaRPr lang="en-US" sz="1050" dirty="0"/>
          </a:p>
        </p:txBody>
      </p:sp>
      <p:sp>
        <p:nvSpPr>
          <p:cNvPr id="30" name="Shape 28"/>
          <p:cNvSpPr/>
          <p:nvPr/>
        </p:nvSpPr>
        <p:spPr>
          <a:xfrm>
            <a:off x="1325880" y="4224528"/>
            <a:ext cx="1874520" cy="91"/>
          </a:xfrm>
          <a:prstGeom prst="line">
            <a:avLst/>
          </a:prstGeom>
          <a:noFill/>
          <a:ln w="15875">
            <a:solidFill>
              <a:srgbClr val="6B7385"/>
            </a:solidFill>
            <a:prstDash val="solid"/>
            <a:headEnd type="triangle"/>
            <a:tailEnd type="triangle"/>
          </a:ln>
        </p:spPr>
      </p:sp>
      <p:sp>
        <p:nvSpPr>
          <p:cNvPr id="31" name="Text 29"/>
          <p:cNvSpPr/>
          <p:nvPr/>
        </p:nvSpPr>
        <p:spPr>
          <a:xfrm>
            <a:off x="1325880" y="4279392"/>
            <a:ext cx="1874520" cy="256032"/>
          </a:xfrm>
          <a:prstGeom prst="rect">
            <a:avLst/>
          </a:prstGeom>
          <a:noFill/>
          <a:ln/>
        </p:spPr>
        <p:txBody>
          <a:bodyPr wrap="square" lIns="0" tIns="0" rIns="0" bIns="0" rtlCol="0" anchor="ctr"/>
          <a:lstStyle/>
          <a:p>
            <a:pPr algn="ctr" indent="0" marL="0">
              <a:buNone/>
            </a:pPr>
            <a:r>
              <a:rPr lang="en-US" sz="1050" dirty="0">
                <a:solidFill>
                  <a:srgbClr val="6B7385"/>
                </a:solidFill>
                <a:latin typeface="Calibri" pitchFamily="34" charset="0"/>
                <a:ea typeface="Calibri" pitchFamily="34" charset="-122"/>
                <a:cs typeface="Calibri" pitchFamily="34" charset="-120"/>
              </a:rPr>
              <a:t>fixed distance, ≈ 2 cm</a:t>
            </a:r>
            <a:endParaRPr lang="en-US" sz="1050" dirty="0"/>
          </a:p>
        </p:txBody>
      </p:sp>
      <p:sp>
        <p:nvSpPr>
          <p:cNvPr id="32" name="Shape 30"/>
          <p:cNvSpPr/>
          <p:nvPr/>
        </p:nvSpPr>
        <p:spPr>
          <a:xfrm>
            <a:off x="685800" y="4617720"/>
            <a:ext cx="914400" cy="594360"/>
          </a:xfrm>
          <a:prstGeom prst="roundRect">
            <a:avLst>
              <a:gd name="adj" fmla="val 6154"/>
            </a:avLst>
          </a:prstGeom>
          <a:solidFill>
            <a:srgbClr val="5A6275"/>
          </a:solidFill>
          <a:ln w="12700">
            <a:solidFill>
              <a:srgbClr val="3B4252"/>
            </a:solidFill>
            <a:prstDash val="solid"/>
          </a:ln>
        </p:spPr>
      </p:sp>
      <p:sp>
        <p:nvSpPr>
          <p:cNvPr id="33" name="Text 31"/>
          <p:cNvSpPr/>
          <p:nvPr/>
        </p:nvSpPr>
        <p:spPr>
          <a:xfrm>
            <a:off x="685800" y="4617720"/>
            <a:ext cx="914400" cy="5943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lead-lined box</a:t>
            </a:r>
            <a:endParaRPr lang="en-US" sz="1000" dirty="0"/>
          </a:p>
        </p:txBody>
      </p:sp>
      <p:sp>
        <p:nvSpPr>
          <p:cNvPr id="34" name="Shape 32"/>
          <p:cNvSpPr/>
          <p:nvPr/>
        </p:nvSpPr>
        <p:spPr>
          <a:xfrm flipV="1">
            <a:off x="1828800" y="4754880"/>
            <a:ext cx="1234440" cy="320040"/>
          </a:xfrm>
          <a:prstGeom prst="line">
            <a:avLst/>
          </a:prstGeom>
          <a:noFill/>
          <a:ln w="31750">
            <a:solidFill>
              <a:srgbClr val="4A5262"/>
            </a:solidFill>
            <a:prstDash val="solid"/>
          </a:ln>
        </p:spPr>
      </p:sp>
      <p:sp>
        <p:nvSpPr>
          <p:cNvPr id="35" name="Shape 33"/>
          <p:cNvSpPr/>
          <p:nvPr/>
        </p:nvSpPr>
        <p:spPr>
          <a:xfrm flipV="1">
            <a:off x="1828800" y="4937760"/>
            <a:ext cx="1234440" cy="182880"/>
          </a:xfrm>
          <a:prstGeom prst="line">
            <a:avLst/>
          </a:prstGeom>
          <a:noFill/>
          <a:ln w="31750">
            <a:solidFill>
              <a:srgbClr val="4A5262"/>
            </a:solidFill>
            <a:prstDash val="solid"/>
          </a:ln>
        </p:spPr>
      </p:sp>
      <p:sp>
        <p:nvSpPr>
          <p:cNvPr id="36" name="Text 34"/>
          <p:cNvSpPr/>
          <p:nvPr/>
        </p:nvSpPr>
        <p:spPr>
          <a:xfrm>
            <a:off x="3108960" y="4709160"/>
            <a:ext cx="2651760" cy="365760"/>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long tongs: never touch the source</a:t>
            </a:r>
            <a:endParaRPr lang="en-US" sz="1050" dirty="0"/>
          </a:p>
        </p:txBody>
      </p:sp>
      <p:sp>
        <p:nvSpPr>
          <p:cNvPr id="37" name="Shape 35"/>
          <p:cNvSpPr/>
          <p:nvPr/>
        </p:nvSpPr>
        <p:spPr>
          <a:xfrm>
            <a:off x="6217920" y="1188720"/>
            <a:ext cx="5562295" cy="2286000"/>
          </a:xfrm>
          <a:prstGeom prst="roundRect">
            <a:avLst>
              <a:gd name="adj" fmla="val 2400"/>
            </a:avLst>
          </a:prstGeom>
          <a:solidFill>
            <a:srgbClr val="F5F8FE"/>
          </a:solidFill>
          <a:ln w="9525">
            <a:solidFill>
              <a:srgbClr val="D5DCEB"/>
            </a:solidFill>
            <a:prstDash val="solid"/>
          </a:ln>
        </p:spPr>
      </p:sp>
      <p:sp>
        <p:nvSpPr>
          <p:cNvPr id="38" name="Text 3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Method (teacher demonstration)</a:t>
            </a:r>
            <a:endParaRPr lang="en-US" sz="1300" dirty="0"/>
          </a:p>
        </p:txBody>
      </p:sp>
      <p:sp>
        <p:nvSpPr>
          <p:cNvPr id="39" name="Text 37"/>
          <p:cNvSpPr/>
          <p:nvPr/>
        </p:nvSpPr>
        <p:spPr>
          <a:xfrm>
            <a:off x="6382512" y="1609344"/>
            <a:ext cx="5233111" cy="17922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With </a:t>
            </a:r>
            <a:r>
              <a:rPr lang="en-US" sz="1150" b="1" dirty="0">
                <a:solidFill>
                  <a:srgbClr val="262B3A"/>
                </a:solidFill>
                <a:latin typeface="Calibri" pitchFamily="34" charset="0"/>
                <a:ea typeface="Calibri" pitchFamily="34" charset="-122"/>
                <a:cs typeface="Calibri" pitchFamily="34" charset="-120"/>
              </a:rPr>
              <a:t>no source</a:t>
            </a:r>
            <a:r>
              <a:rPr lang="en-US" sz="1150" dirty="0">
                <a:solidFill>
                  <a:srgbClr val="262B3A"/>
                </a:solidFill>
                <a:latin typeface="Calibri" pitchFamily="34" charset="0"/>
                <a:ea typeface="Calibri" pitchFamily="34" charset="-122"/>
                <a:cs typeface="Calibri" pitchFamily="34" charset="-120"/>
              </a:rPr>
              <a:t> in the room, count for 5 minutes. Divide to get the </a:t>
            </a:r>
            <a:r>
              <a:rPr lang="en-US" sz="1150" b="1" dirty="0">
                <a:solidFill>
                  <a:srgbClr val="262B3A"/>
                </a:solidFill>
                <a:latin typeface="Calibri" pitchFamily="34" charset="0"/>
                <a:ea typeface="Calibri" pitchFamily="34" charset="-122"/>
                <a:cs typeface="Calibri" pitchFamily="34" charset="-120"/>
              </a:rPr>
              <a:t>background count rate</a:t>
            </a:r>
            <a:r>
              <a:rPr lang="en-US" sz="1150" dirty="0">
                <a:solidFill>
                  <a:srgbClr val="262B3A"/>
                </a:solidFill>
                <a:latin typeface="Calibri" pitchFamily="34" charset="0"/>
                <a:ea typeface="Calibri" pitchFamily="34" charset="-122"/>
                <a:cs typeface="Calibri" pitchFamily="34" charset="-120"/>
              </a:rPr>
              <a:t> (counts per minute).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Fix the source and GM tube about </a:t>
            </a:r>
            <a:r>
              <a:rPr lang="en-US" sz="1150" b="1" dirty="0">
                <a:solidFill>
                  <a:srgbClr val="262B3A"/>
                </a:solidFill>
                <a:latin typeface="Calibri" pitchFamily="34" charset="0"/>
                <a:ea typeface="Calibri" pitchFamily="34" charset="-122"/>
                <a:cs typeface="Calibri" pitchFamily="34" charset="-120"/>
              </a:rPr>
              <a:t>2 cm apart</a:t>
            </a:r>
            <a:r>
              <a:rPr lang="en-US" sz="1150" dirty="0">
                <a:solidFill>
                  <a:srgbClr val="262B3A"/>
                </a:solidFill>
                <a:latin typeface="Calibri" pitchFamily="34" charset="0"/>
                <a:ea typeface="Calibri" pitchFamily="34" charset="-122"/>
                <a:cs typeface="Calibri" pitchFamily="34" charset="-120"/>
              </a:rPr>
              <a:t> (closer than the range of alpha). Count for 1 minute, three times.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Repeat with </a:t>
            </a:r>
            <a:r>
              <a:rPr lang="en-US" sz="1150" b="1" dirty="0">
                <a:solidFill>
                  <a:srgbClr val="262B3A"/>
                </a:solidFill>
                <a:latin typeface="Calibri" pitchFamily="34" charset="0"/>
                <a:ea typeface="Calibri" pitchFamily="34" charset="-122"/>
                <a:cs typeface="Calibri" pitchFamily="34" charset="-120"/>
              </a:rPr>
              <a:t>paper</a:t>
            </a:r>
            <a:r>
              <a:rPr lang="en-US" sz="1150" dirty="0">
                <a:solidFill>
                  <a:srgbClr val="262B3A"/>
                </a:solidFill>
                <a:latin typeface="Calibri" pitchFamily="34" charset="0"/>
                <a:ea typeface="Calibri" pitchFamily="34" charset="-122"/>
                <a:cs typeface="Calibri" pitchFamily="34" charset="-120"/>
              </a:rPr>
              <a:t>, then </a:t>
            </a:r>
            <a:r>
              <a:rPr lang="en-US" sz="1150" b="1" dirty="0">
                <a:solidFill>
                  <a:srgbClr val="262B3A"/>
                </a:solidFill>
                <a:latin typeface="Calibri" pitchFamily="34" charset="0"/>
                <a:ea typeface="Calibri" pitchFamily="34" charset="-122"/>
                <a:cs typeface="Calibri" pitchFamily="34" charset="-120"/>
              </a:rPr>
              <a:t>5 mm aluminium</a:t>
            </a:r>
            <a:r>
              <a:rPr lang="en-US" sz="1150" dirty="0">
                <a:solidFill>
                  <a:srgbClr val="262B3A"/>
                </a:solidFill>
                <a:latin typeface="Calibri" pitchFamily="34" charset="0"/>
                <a:ea typeface="Calibri" pitchFamily="34" charset="-122"/>
                <a:cs typeface="Calibri" pitchFamily="34" charset="-120"/>
              </a:rPr>
              <a:t>, then </a:t>
            </a:r>
            <a:r>
              <a:rPr lang="en-US" sz="1150" b="1" dirty="0">
                <a:solidFill>
                  <a:srgbClr val="262B3A"/>
                </a:solidFill>
                <a:latin typeface="Calibri" pitchFamily="34" charset="0"/>
                <a:ea typeface="Calibri" pitchFamily="34" charset="-122"/>
                <a:cs typeface="Calibri" pitchFamily="34" charset="-120"/>
              </a:rPr>
              <a:t>25 mm lead</a:t>
            </a:r>
            <a:r>
              <a:rPr lang="en-US" sz="1150" dirty="0">
                <a:solidFill>
                  <a:srgbClr val="262B3A"/>
                </a:solidFill>
                <a:latin typeface="Calibri" pitchFamily="34" charset="0"/>
                <a:ea typeface="Calibri" pitchFamily="34" charset="-122"/>
                <a:cs typeface="Calibri" pitchFamily="34" charset="-120"/>
              </a:rPr>
              <a:t> between them.</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Find the </a:t>
            </a:r>
            <a:r>
              <a:rPr lang="en-US" sz="1150" b="1" dirty="0">
                <a:solidFill>
                  <a:srgbClr val="262B3A"/>
                </a:solidFill>
                <a:latin typeface="Calibri" pitchFamily="34" charset="0"/>
                <a:ea typeface="Calibri" pitchFamily="34" charset="-122"/>
                <a:cs typeface="Calibri" pitchFamily="34" charset="-120"/>
              </a:rPr>
              <a:t>mean</a:t>
            </a:r>
            <a:r>
              <a:rPr lang="en-US" sz="1150" dirty="0">
                <a:solidFill>
                  <a:srgbClr val="262B3A"/>
                </a:solidFill>
                <a:latin typeface="Calibri" pitchFamily="34" charset="0"/>
                <a:ea typeface="Calibri" pitchFamily="34" charset="-122"/>
                <a:cs typeface="Calibri" pitchFamily="34" charset="-120"/>
              </a:rPr>
              <a:t> count rate for each, then </a:t>
            </a:r>
            <a:r>
              <a:rPr lang="en-US" sz="1150" b="1" dirty="0">
                <a:solidFill>
                  <a:srgbClr val="262B3A"/>
                </a:solidFill>
                <a:latin typeface="Calibri" pitchFamily="34" charset="0"/>
                <a:ea typeface="Calibri" pitchFamily="34" charset="-122"/>
                <a:cs typeface="Calibri" pitchFamily="34" charset="-120"/>
              </a:rPr>
              <a:t>subtract background</a:t>
            </a:r>
            <a:r>
              <a:rPr lang="en-US" sz="1150" dirty="0">
                <a:solidFill>
                  <a:srgbClr val="262B3A"/>
                </a:solidFill>
                <a:latin typeface="Calibri" pitchFamily="34" charset="0"/>
                <a:ea typeface="Calibri" pitchFamily="34" charset="-122"/>
                <a:cs typeface="Calibri" pitchFamily="34" charset="-120"/>
              </a:rPr>
              <a:t> to get the </a:t>
            </a:r>
            <a:r>
              <a:rPr lang="en-US" sz="1150" b="1" dirty="0">
                <a:solidFill>
                  <a:srgbClr val="262B3A"/>
                </a:solidFill>
                <a:latin typeface="Calibri" pitchFamily="34" charset="0"/>
                <a:ea typeface="Calibri" pitchFamily="34" charset="-122"/>
                <a:cs typeface="Calibri" pitchFamily="34" charset="-120"/>
              </a:rPr>
              <a:t>corrected count rate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big drop with paper → </a:t>
            </a:r>
            <a:r>
              <a:rPr lang="en-US" sz="1150" b="1" dirty="0">
                <a:solidFill>
                  <a:srgbClr val="262B3A"/>
                </a:solidFill>
                <a:latin typeface="Calibri" pitchFamily="34" charset="0"/>
                <a:ea typeface="Calibri" pitchFamily="34" charset="-122"/>
                <a:cs typeface="Calibri" pitchFamily="34" charset="-120"/>
              </a:rPr>
              <a:t>alpha</a:t>
            </a:r>
            <a:r>
              <a:rPr lang="en-US" sz="1150" dirty="0">
                <a:solidFill>
                  <a:srgbClr val="262B3A"/>
                </a:solidFill>
                <a:latin typeface="Calibri" pitchFamily="34" charset="0"/>
                <a:ea typeface="Calibri" pitchFamily="34" charset="-122"/>
                <a:cs typeface="Calibri" pitchFamily="34" charset="-120"/>
              </a:rPr>
              <a:t>. A big drop with aluminium → </a:t>
            </a:r>
            <a:r>
              <a:rPr lang="en-US" sz="1150" b="1" dirty="0">
                <a:solidFill>
                  <a:srgbClr val="262B3A"/>
                </a:solidFill>
                <a:latin typeface="Calibri" pitchFamily="34" charset="0"/>
                <a:ea typeface="Calibri" pitchFamily="34" charset="-122"/>
                <a:cs typeface="Calibri" pitchFamily="34" charset="-120"/>
              </a:rPr>
              <a:t>beta</a:t>
            </a:r>
            <a:r>
              <a:rPr lang="en-US" sz="1150" dirty="0">
                <a:solidFill>
                  <a:srgbClr val="262B3A"/>
                </a:solidFill>
                <a:latin typeface="Calibri" pitchFamily="34" charset="0"/>
                <a:ea typeface="Calibri" pitchFamily="34" charset="-122"/>
                <a:cs typeface="Calibri" pitchFamily="34" charset="-120"/>
              </a:rPr>
              <a:t>. Counts still left after aluminium → </a:t>
            </a:r>
            <a:r>
              <a:rPr lang="en-US" sz="1150" b="1" dirty="0">
                <a:solidFill>
                  <a:srgbClr val="262B3A"/>
                </a:solidFill>
                <a:latin typeface="Calibri" pitchFamily="34" charset="0"/>
                <a:ea typeface="Calibri" pitchFamily="34" charset="-122"/>
                <a:cs typeface="Calibri" pitchFamily="34" charset="-120"/>
              </a:rPr>
              <a:t>gamma</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40" name="Shape 38"/>
          <p:cNvSpPr/>
          <p:nvPr/>
        </p:nvSpPr>
        <p:spPr>
          <a:xfrm>
            <a:off x="6217920" y="3611880"/>
            <a:ext cx="5562295" cy="2103120"/>
          </a:xfrm>
          <a:prstGeom prst="roundRect">
            <a:avLst>
              <a:gd name="adj" fmla="val 2609"/>
            </a:avLst>
          </a:prstGeom>
          <a:solidFill>
            <a:srgbClr val="FFF4E0"/>
          </a:solidFill>
          <a:ln w="9525">
            <a:solidFill>
              <a:srgbClr val="F1D9A8"/>
            </a:solidFill>
            <a:prstDash val="solid"/>
          </a:ln>
        </p:spPr>
      </p:sp>
      <p:sp>
        <p:nvSpPr>
          <p:cNvPr id="41" name="Text 39"/>
          <p:cNvSpPr/>
          <p:nvPr/>
        </p:nvSpPr>
        <p:spPr>
          <a:xfrm>
            <a:off x="6382512" y="36850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Variables and safety</a:t>
            </a:r>
            <a:endParaRPr lang="en-US" sz="1300" dirty="0"/>
          </a:p>
        </p:txBody>
      </p:sp>
      <p:sp>
        <p:nvSpPr>
          <p:cNvPr id="42" name="Text 40"/>
          <p:cNvSpPr/>
          <p:nvPr/>
        </p:nvSpPr>
        <p:spPr>
          <a:xfrm>
            <a:off x="6382512" y="3995928"/>
            <a:ext cx="5233111" cy="164592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Independent   </a:t>
            </a:r>
            <a:r>
              <a:rPr lang="en-US" sz="1050" dirty="0">
                <a:solidFill>
                  <a:srgbClr val="262B3A"/>
                </a:solidFill>
                <a:latin typeface="Calibri" pitchFamily="34" charset="0"/>
                <a:ea typeface="Calibri" pitchFamily="34" charset="-122"/>
                <a:cs typeface="Calibri" pitchFamily="34" charset="-120"/>
              </a:rPr>
              <a:t>type of absorber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Dependent   </a:t>
            </a:r>
            <a:r>
              <a:rPr lang="en-US" sz="1050" dirty="0">
                <a:solidFill>
                  <a:srgbClr val="262B3A"/>
                </a:solidFill>
                <a:latin typeface="Calibri" pitchFamily="34" charset="0"/>
                <a:ea typeface="Calibri" pitchFamily="34" charset="-122"/>
                <a:cs typeface="Calibri" pitchFamily="34" charset="-120"/>
              </a:rPr>
              <a:t>count rate (counts per minute)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same source, same distance, same counting time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Safety   </a:t>
            </a:r>
            <a:r>
              <a:rPr lang="en-US" sz="1050" b="1" dirty="0">
                <a:solidFill>
                  <a:srgbClr val="C8414C"/>
                </a:solidFill>
                <a:latin typeface="Calibri" pitchFamily="34" charset="0"/>
                <a:ea typeface="Calibri" pitchFamily="34" charset="-122"/>
                <a:cs typeface="Calibri" pitchFamily="34" charset="-120"/>
              </a:rPr>
              <a:t>teacher only; tongs; source pointed away; short time; back in lead box</a:t>
            </a:r>
            <a:endParaRPr lang="en-US" sz="1050" dirty="0"/>
          </a:p>
        </p:txBody>
      </p:sp>
      <p:sp>
        <p:nvSpPr>
          <p:cNvPr id="43" name="Shape 41"/>
          <p:cNvSpPr/>
          <p:nvPr/>
        </p:nvSpPr>
        <p:spPr>
          <a:xfrm>
            <a:off x="411480" y="5833872"/>
            <a:ext cx="11368735" cy="530352"/>
          </a:xfrm>
          <a:prstGeom prst="rect">
            <a:avLst/>
          </a:prstGeom>
          <a:solidFill>
            <a:srgbClr val="FFF4E0"/>
          </a:solidFill>
          <a:ln w="6350">
            <a:solidFill>
              <a:srgbClr val="F1D9A8"/>
            </a:solidFill>
            <a:prstDash val="solid"/>
          </a:ln>
        </p:spPr>
      </p:sp>
      <p:sp>
        <p:nvSpPr>
          <p:cNvPr id="44" name="Shape 42"/>
          <p:cNvSpPr/>
          <p:nvPr/>
        </p:nvSpPr>
        <p:spPr>
          <a:xfrm>
            <a:off x="411480" y="5833872"/>
            <a:ext cx="82296" cy="530352"/>
          </a:xfrm>
          <a:prstGeom prst="rect">
            <a:avLst/>
          </a:prstGeom>
          <a:solidFill>
            <a:srgbClr val="E39A2F"/>
          </a:solidFill>
          <a:ln w="12700">
            <a:solidFill>
              <a:srgbClr val="E39A2F"/>
            </a:solidFill>
            <a:prstDash val="solid"/>
          </a:ln>
        </p:spPr>
      </p:sp>
      <p:sp>
        <p:nvSpPr>
          <p:cNvPr id="45" name="Text 4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must the GM tube be placed only about 2 cm from the source? Why is the background count measured first?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Suggested practical: results and conclusion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P5.2.1 • an unknown source tested with three absorbers</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9</a:t>
            </a:r>
            <a:endParaRPr lang="en-US" sz="1000" dirty="0"/>
          </a:p>
        </p:txBody>
      </p:sp>
      <p:sp>
        <p:nvSpPr>
          <p:cNvPr id="10" name="Shape 8"/>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corrected count rates drawn to scale</a:t>
            </a:r>
            <a:endParaRPr lang="en-US" sz="1000" dirty="0"/>
          </a:p>
        </p:txBody>
      </p:sp>
      <p:sp>
        <p:nvSpPr>
          <p:cNvPr id="12" name="Shape 10"/>
          <p:cNvSpPr/>
          <p:nvPr/>
        </p:nvSpPr>
        <p:spPr>
          <a:xfrm>
            <a:off x="1371600" y="1463040"/>
            <a:ext cx="4343400" cy="3154680"/>
          </a:xfrm>
          <a:prstGeom prst="rect">
            <a:avLst/>
          </a:prstGeom>
          <a:solidFill>
            <a:srgbClr val="FFFFFF"/>
          </a:solidFill>
          <a:ln/>
        </p:spPr>
      </p:sp>
      <p:sp>
        <p:nvSpPr>
          <p:cNvPr id="13" name="Shape 11"/>
          <p:cNvSpPr/>
          <p:nvPr/>
        </p:nvSpPr>
        <p:spPr>
          <a:xfrm>
            <a:off x="1371600" y="1463040"/>
            <a:ext cx="91" cy="3154680"/>
          </a:xfrm>
          <a:prstGeom prst="line">
            <a:avLst/>
          </a:prstGeom>
          <a:noFill/>
          <a:ln w="6350">
            <a:solidFill>
              <a:srgbClr val="C9D3E6"/>
            </a:solidFill>
            <a:prstDash val="solid"/>
          </a:ln>
        </p:spPr>
      </p:sp>
      <p:sp>
        <p:nvSpPr>
          <p:cNvPr id="14" name="Shape 12"/>
          <p:cNvSpPr/>
          <p:nvPr/>
        </p:nvSpPr>
        <p:spPr>
          <a:xfrm>
            <a:off x="3543300" y="1463040"/>
            <a:ext cx="91" cy="3154680"/>
          </a:xfrm>
          <a:prstGeom prst="line">
            <a:avLst/>
          </a:prstGeom>
          <a:noFill/>
          <a:ln w="6350">
            <a:solidFill>
              <a:srgbClr val="E6EBF4"/>
            </a:solidFill>
            <a:prstDash val="solid"/>
          </a:ln>
        </p:spPr>
      </p:sp>
      <p:sp>
        <p:nvSpPr>
          <p:cNvPr id="15" name="Shape 13"/>
          <p:cNvSpPr/>
          <p:nvPr/>
        </p:nvSpPr>
        <p:spPr>
          <a:xfrm>
            <a:off x="5715000" y="1463040"/>
            <a:ext cx="91" cy="3154680"/>
          </a:xfrm>
          <a:prstGeom prst="line">
            <a:avLst/>
          </a:prstGeom>
          <a:noFill/>
          <a:ln w="6350">
            <a:solidFill>
              <a:srgbClr val="C9D3E6"/>
            </a:solidFill>
            <a:prstDash val="solid"/>
          </a:ln>
        </p:spPr>
      </p:sp>
      <p:sp>
        <p:nvSpPr>
          <p:cNvPr id="16" name="Shape 14"/>
          <p:cNvSpPr/>
          <p:nvPr/>
        </p:nvSpPr>
        <p:spPr>
          <a:xfrm>
            <a:off x="1371600" y="4617720"/>
            <a:ext cx="4343400" cy="91"/>
          </a:xfrm>
          <a:prstGeom prst="line">
            <a:avLst/>
          </a:prstGeom>
          <a:noFill/>
          <a:ln w="6350">
            <a:solidFill>
              <a:srgbClr val="C9D3E6"/>
            </a:solidFill>
            <a:prstDash val="solid"/>
          </a:ln>
        </p:spPr>
      </p:sp>
      <p:sp>
        <p:nvSpPr>
          <p:cNvPr id="17" name="Shape 15"/>
          <p:cNvSpPr/>
          <p:nvPr/>
        </p:nvSpPr>
        <p:spPr>
          <a:xfrm>
            <a:off x="1371600" y="4302252"/>
            <a:ext cx="4343400" cy="91"/>
          </a:xfrm>
          <a:prstGeom prst="line">
            <a:avLst/>
          </a:prstGeom>
          <a:noFill/>
          <a:ln w="6350">
            <a:solidFill>
              <a:srgbClr val="E6EBF4"/>
            </a:solidFill>
            <a:prstDash val="solid"/>
          </a:ln>
        </p:spPr>
      </p:sp>
      <p:sp>
        <p:nvSpPr>
          <p:cNvPr id="18" name="Shape 16"/>
          <p:cNvSpPr/>
          <p:nvPr/>
        </p:nvSpPr>
        <p:spPr>
          <a:xfrm>
            <a:off x="1371600" y="3986784"/>
            <a:ext cx="4343400" cy="91"/>
          </a:xfrm>
          <a:prstGeom prst="line">
            <a:avLst/>
          </a:prstGeom>
          <a:noFill/>
          <a:ln w="6350">
            <a:solidFill>
              <a:srgbClr val="C9D3E6"/>
            </a:solidFill>
            <a:prstDash val="solid"/>
          </a:ln>
        </p:spPr>
      </p:sp>
      <p:sp>
        <p:nvSpPr>
          <p:cNvPr id="19" name="Shape 17"/>
          <p:cNvSpPr/>
          <p:nvPr/>
        </p:nvSpPr>
        <p:spPr>
          <a:xfrm>
            <a:off x="1371600" y="3671316"/>
            <a:ext cx="4343400" cy="91"/>
          </a:xfrm>
          <a:prstGeom prst="line">
            <a:avLst/>
          </a:prstGeom>
          <a:noFill/>
          <a:ln w="6350">
            <a:solidFill>
              <a:srgbClr val="E6EBF4"/>
            </a:solidFill>
            <a:prstDash val="solid"/>
          </a:ln>
        </p:spPr>
      </p:sp>
      <p:sp>
        <p:nvSpPr>
          <p:cNvPr id="20" name="Shape 18"/>
          <p:cNvSpPr/>
          <p:nvPr/>
        </p:nvSpPr>
        <p:spPr>
          <a:xfrm>
            <a:off x="1371600" y="3355848"/>
            <a:ext cx="4343400" cy="91"/>
          </a:xfrm>
          <a:prstGeom prst="line">
            <a:avLst/>
          </a:prstGeom>
          <a:noFill/>
          <a:ln w="6350">
            <a:solidFill>
              <a:srgbClr val="C9D3E6"/>
            </a:solidFill>
            <a:prstDash val="solid"/>
          </a:ln>
        </p:spPr>
      </p:sp>
      <p:sp>
        <p:nvSpPr>
          <p:cNvPr id="21" name="Shape 19"/>
          <p:cNvSpPr/>
          <p:nvPr/>
        </p:nvSpPr>
        <p:spPr>
          <a:xfrm>
            <a:off x="1371600" y="3040380"/>
            <a:ext cx="4343400" cy="91"/>
          </a:xfrm>
          <a:prstGeom prst="line">
            <a:avLst/>
          </a:prstGeom>
          <a:noFill/>
          <a:ln w="6350">
            <a:solidFill>
              <a:srgbClr val="E6EBF4"/>
            </a:solidFill>
            <a:prstDash val="solid"/>
          </a:ln>
        </p:spPr>
      </p:sp>
      <p:sp>
        <p:nvSpPr>
          <p:cNvPr id="22" name="Shape 20"/>
          <p:cNvSpPr/>
          <p:nvPr/>
        </p:nvSpPr>
        <p:spPr>
          <a:xfrm>
            <a:off x="1371600" y="2724912"/>
            <a:ext cx="4343400" cy="91"/>
          </a:xfrm>
          <a:prstGeom prst="line">
            <a:avLst/>
          </a:prstGeom>
          <a:noFill/>
          <a:ln w="6350">
            <a:solidFill>
              <a:srgbClr val="C9D3E6"/>
            </a:solidFill>
            <a:prstDash val="solid"/>
          </a:ln>
        </p:spPr>
      </p:sp>
      <p:sp>
        <p:nvSpPr>
          <p:cNvPr id="23" name="Shape 21"/>
          <p:cNvSpPr/>
          <p:nvPr/>
        </p:nvSpPr>
        <p:spPr>
          <a:xfrm>
            <a:off x="1371600" y="2409444"/>
            <a:ext cx="4343400" cy="91"/>
          </a:xfrm>
          <a:prstGeom prst="line">
            <a:avLst/>
          </a:prstGeom>
          <a:noFill/>
          <a:ln w="6350">
            <a:solidFill>
              <a:srgbClr val="E6EBF4"/>
            </a:solidFill>
            <a:prstDash val="solid"/>
          </a:ln>
        </p:spPr>
      </p:sp>
      <p:sp>
        <p:nvSpPr>
          <p:cNvPr id="24" name="Shape 22"/>
          <p:cNvSpPr/>
          <p:nvPr/>
        </p:nvSpPr>
        <p:spPr>
          <a:xfrm>
            <a:off x="1371600" y="2093976"/>
            <a:ext cx="4343400" cy="91"/>
          </a:xfrm>
          <a:prstGeom prst="line">
            <a:avLst/>
          </a:prstGeom>
          <a:noFill/>
          <a:ln w="6350">
            <a:solidFill>
              <a:srgbClr val="C9D3E6"/>
            </a:solidFill>
            <a:prstDash val="solid"/>
          </a:ln>
        </p:spPr>
      </p:sp>
      <p:sp>
        <p:nvSpPr>
          <p:cNvPr id="25" name="Shape 23"/>
          <p:cNvSpPr/>
          <p:nvPr/>
        </p:nvSpPr>
        <p:spPr>
          <a:xfrm>
            <a:off x="1371600" y="1778508"/>
            <a:ext cx="4343400" cy="91"/>
          </a:xfrm>
          <a:prstGeom prst="line">
            <a:avLst/>
          </a:prstGeom>
          <a:noFill/>
          <a:ln w="6350">
            <a:solidFill>
              <a:srgbClr val="E6EBF4"/>
            </a:solidFill>
            <a:prstDash val="solid"/>
          </a:ln>
        </p:spPr>
      </p:sp>
      <p:sp>
        <p:nvSpPr>
          <p:cNvPr id="26" name="Shape 24"/>
          <p:cNvSpPr/>
          <p:nvPr/>
        </p:nvSpPr>
        <p:spPr>
          <a:xfrm>
            <a:off x="1371600" y="1463040"/>
            <a:ext cx="4343400" cy="91"/>
          </a:xfrm>
          <a:prstGeom prst="line">
            <a:avLst/>
          </a:prstGeom>
          <a:noFill/>
          <a:ln w="6350">
            <a:solidFill>
              <a:srgbClr val="C9D3E6"/>
            </a:solidFill>
            <a:prstDash val="solid"/>
          </a:ln>
        </p:spPr>
      </p:sp>
      <p:sp>
        <p:nvSpPr>
          <p:cNvPr id="27" name="Shape 25"/>
          <p:cNvSpPr/>
          <p:nvPr/>
        </p:nvSpPr>
        <p:spPr>
          <a:xfrm>
            <a:off x="1371600" y="4617720"/>
            <a:ext cx="4343400" cy="91"/>
          </a:xfrm>
          <a:prstGeom prst="line">
            <a:avLst/>
          </a:prstGeom>
          <a:noFill/>
          <a:ln w="19050">
            <a:solidFill>
              <a:srgbClr val="1A2340"/>
            </a:solidFill>
            <a:prstDash val="solid"/>
          </a:ln>
        </p:spPr>
      </p:sp>
      <p:sp>
        <p:nvSpPr>
          <p:cNvPr id="28" name="Shape 26"/>
          <p:cNvSpPr/>
          <p:nvPr/>
        </p:nvSpPr>
        <p:spPr>
          <a:xfrm flipV="1">
            <a:off x="1371600" y="1463040"/>
            <a:ext cx="91" cy="3154680"/>
          </a:xfrm>
          <a:prstGeom prst="line">
            <a:avLst/>
          </a:prstGeom>
          <a:noFill/>
          <a:ln w="19050">
            <a:solidFill>
              <a:srgbClr val="1A2340"/>
            </a:solidFill>
            <a:prstDash val="solid"/>
          </a:ln>
        </p:spPr>
      </p:sp>
      <p:sp>
        <p:nvSpPr>
          <p:cNvPr id="29" name="Shape 27"/>
          <p:cNvSpPr/>
          <p:nvPr/>
        </p:nvSpPr>
        <p:spPr>
          <a:xfrm>
            <a:off x="1371600" y="4617720"/>
            <a:ext cx="91" cy="54864"/>
          </a:xfrm>
          <a:prstGeom prst="line">
            <a:avLst/>
          </a:prstGeom>
          <a:noFill/>
          <a:ln w="12700">
            <a:solidFill>
              <a:srgbClr val="1A2340"/>
            </a:solidFill>
            <a:prstDash val="solid"/>
          </a:ln>
        </p:spPr>
      </p:sp>
      <p:sp>
        <p:nvSpPr>
          <p:cNvPr id="30" name="Text 28"/>
          <p:cNvSpPr/>
          <p:nvPr/>
        </p:nvSpPr>
        <p:spPr>
          <a:xfrm>
            <a:off x="1097280" y="4672584"/>
            <a:ext cx="548640" cy="182880"/>
          </a:xfrm>
          <a:prstGeom prst="rect">
            <a:avLst/>
          </a:prstGeom>
          <a:noFill/>
          <a:ln/>
        </p:spPr>
        <p:txBody>
          <a:bodyPr wrap="square" lIns="0" tIns="0" rIns="0" bIns="0" rtlCol="0" anchor="ctr"/>
          <a:lstStyle/>
          <a:p>
            <a:pPr algn="ctr" indent="0" marL="0">
              <a:buNone/>
            </a:pPr>
            <a:endParaRPr lang="en-US" sz="1000" dirty="0"/>
          </a:p>
        </p:txBody>
      </p:sp>
      <p:sp>
        <p:nvSpPr>
          <p:cNvPr id="31" name="Shape 29"/>
          <p:cNvSpPr/>
          <p:nvPr/>
        </p:nvSpPr>
        <p:spPr>
          <a:xfrm>
            <a:off x="5715000" y="4617720"/>
            <a:ext cx="91" cy="54864"/>
          </a:xfrm>
          <a:prstGeom prst="line">
            <a:avLst/>
          </a:prstGeom>
          <a:noFill/>
          <a:ln w="12700">
            <a:solidFill>
              <a:srgbClr val="1A2340"/>
            </a:solidFill>
            <a:prstDash val="solid"/>
          </a:ln>
        </p:spPr>
      </p:sp>
      <p:sp>
        <p:nvSpPr>
          <p:cNvPr id="32" name="Text 30"/>
          <p:cNvSpPr/>
          <p:nvPr/>
        </p:nvSpPr>
        <p:spPr>
          <a:xfrm>
            <a:off x="5440680" y="4672584"/>
            <a:ext cx="548640" cy="182880"/>
          </a:xfrm>
          <a:prstGeom prst="rect">
            <a:avLst/>
          </a:prstGeom>
          <a:noFill/>
          <a:ln/>
        </p:spPr>
        <p:txBody>
          <a:bodyPr wrap="square" lIns="0" tIns="0" rIns="0" bIns="0" rtlCol="0" anchor="ctr"/>
          <a:lstStyle/>
          <a:p>
            <a:pPr algn="ctr" indent="0" marL="0">
              <a:buNone/>
            </a:pPr>
            <a:endParaRPr lang="en-US" sz="1000" dirty="0"/>
          </a:p>
        </p:txBody>
      </p:sp>
      <p:sp>
        <p:nvSpPr>
          <p:cNvPr id="33" name="Shape 31"/>
          <p:cNvSpPr/>
          <p:nvPr/>
        </p:nvSpPr>
        <p:spPr>
          <a:xfrm>
            <a:off x="1316736" y="4617720"/>
            <a:ext cx="54864" cy="91"/>
          </a:xfrm>
          <a:prstGeom prst="line">
            <a:avLst/>
          </a:prstGeom>
          <a:noFill/>
          <a:ln w="12700">
            <a:solidFill>
              <a:srgbClr val="1A2340"/>
            </a:solidFill>
            <a:prstDash val="solid"/>
          </a:ln>
        </p:spPr>
      </p:sp>
      <p:sp>
        <p:nvSpPr>
          <p:cNvPr id="34" name="Text 32"/>
          <p:cNvSpPr/>
          <p:nvPr/>
        </p:nvSpPr>
        <p:spPr>
          <a:xfrm>
            <a:off x="932688" y="45262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5" name="Shape 33"/>
          <p:cNvSpPr/>
          <p:nvPr/>
        </p:nvSpPr>
        <p:spPr>
          <a:xfrm>
            <a:off x="1316736" y="3986784"/>
            <a:ext cx="54864" cy="91"/>
          </a:xfrm>
          <a:prstGeom prst="line">
            <a:avLst/>
          </a:prstGeom>
          <a:noFill/>
          <a:ln w="12700">
            <a:solidFill>
              <a:srgbClr val="1A2340"/>
            </a:solidFill>
            <a:prstDash val="solid"/>
          </a:ln>
        </p:spPr>
      </p:sp>
      <p:sp>
        <p:nvSpPr>
          <p:cNvPr id="36" name="Text 34"/>
          <p:cNvSpPr/>
          <p:nvPr/>
        </p:nvSpPr>
        <p:spPr>
          <a:xfrm>
            <a:off x="932688" y="389534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37" name="Shape 35"/>
          <p:cNvSpPr/>
          <p:nvPr/>
        </p:nvSpPr>
        <p:spPr>
          <a:xfrm>
            <a:off x="1316736" y="3355848"/>
            <a:ext cx="54864" cy="91"/>
          </a:xfrm>
          <a:prstGeom prst="line">
            <a:avLst/>
          </a:prstGeom>
          <a:noFill/>
          <a:ln w="12700">
            <a:solidFill>
              <a:srgbClr val="1A2340"/>
            </a:solidFill>
            <a:prstDash val="solid"/>
          </a:ln>
        </p:spPr>
      </p:sp>
      <p:sp>
        <p:nvSpPr>
          <p:cNvPr id="38" name="Text 36"/>
          <p:cNvSpPr/>
          <p:nvPr/>
        </p:nvSpPr>
        <p:spPr>
          <a:xfrm>
            <a:off x="932688" y="326440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39" name="Shape 37"/>
          <p:cNvSpPr/>
          <p:nvPr/>
        </p:nvSpPr>
        <p:spPr>
          <a:xfrm>
            <a:off x="1316736" y="2724912"/>
            <a:ext cx="54864" cy="91"/>
          </a:xfrm>
          <a:prstGeom prst="line">
            <a:avLst/>
          </a:prstGeom>
          <a:noFill/>
          <a:ln w="12700">
            <a:solidFill>
              <a:srgbClr val="1A2340"/>
            </a:solidFill>
            <a:prstDash val="solid"/>
          </a:ln>
        </p:spPr>
      </p:sp>
      <p:sp>
        <p:nvSpPr>
          <p:cNvPr id="40" name="Text 38"/>
          <p:cNvSpPr/>
          <p:nvPr/>
        </p:nvSpPr>
        <p:spPr>
          <a:xfrm>
            <a:off x="932688" y="263347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41" name="Shape 39"/>
          <p:cNvSpPr/>
          <p:nvPr/>
        </p:nvSpPr>
        <p:spPr>
          <a:xfrm>
            <a:off x="1316736" y="2093976"/>
            <a:ext cx="54864" cy="91"/>
          </a:xfrm>
          <a:prstGeom prst="line">
            <a:avLst/>
          </a:prstGeom>
          <a:noFill/>
          <a:ln w="12700">
            <a:solidFill>
              <a:srgbClr val="1A2340"/>
            </a:solidFill>
            <a:prstDash val="solid"/>
          </a:ln>
        </p:spPr>
      </p:sp>
      <p:sp>
        <p:nvSpPr>
          <p:cNvPr id="42" name="Text 40"/>
          <p:cNvSpPr/>
          <p:nvPr/>
        </p:nvSpPr>
        <p:spPr>
          <a:xfrm>
            <a:off x="932688" y="200253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400</a:t>
            </a:r>
            <a:endParaRPr lang="en-US" sz="1000" dirty="0"/>
          </a:p>
        </p:txBody>
      </p:sp>
      <p:sp>
        <p:nvSpPr>
          <p:cNvPr id="43" name="Shape 41"/>
          <p:cNvSpPr/>
          <p:nvPr/>
        </p:nvSpPr>
        <p:spPr>
          <a:xfrm>
            <a:off x="1316736" y="1463040"/>
            <a:ext cx="54864" cy="91"/>
          </a:xfrm>
          <a:prstGeom prst="line">
            <a:avLst/>
          </a:prstGeom>
          <a:noFill/>
          <a:ln w="12700">
            <a:solidFill>
              <a:srgbClr val="1A2340"/>
            </a:solidFill>
            <a:prstDash val="solid"/>
          </a:ln>
        </p:spPr>
      </p:sp>
      <p:sp>
        <p:nvSpPr>
          <p:cNvPr id="44" name="Text 42"/>
          <p:cNvSpPr/>
          <p:nvPr/>
        </p:nvSpPr>
        <p:spPr>
          <a:xfrm>
            <a:off x="93268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500</a:t>
            </a:r>
            <a:endParaRPr lang="en-US" sz="1000" dirty="0"/>
          </a:p>
        </p:txBody>
      </p:sp>
      <p:sp>
        <p:nvSpPr>
          <p:cNvPr id="45" name="Text 43"/>
          <p:cNvSpPr/>
          <p:nvPr/>
        </p:nvSpPr>
        <p:spPr>
          <a:xfrm rot="16200000">
            <a:off x="-772668" y="2912364"/>
            <a:ext cx="31546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corrected count rate / counts per min</a:t>
            </a:r>
            <a:endParaRPr lang="en-US" sz="1050" dirty="0"/>
          </a:p>
        </p:txBody>
      </p:sp>
      <p:sp>
        <p:nvSpPr>
          <p:cNvPr id="46" name="Shape 44"/>
          <p:cNvSpPr/>
          <p:nvPr/>
        </p:nvSpPr>
        <p:spPr>
          <a:xfrm>
            <a:off x="1588770" y="1463040"/>
            <a:ext cx="651510" cy="3154680"/>
          </a:xfrm>
          <a:prstGeom prst="rect">
            <a:avLst/>
          </a:prstGeom>
          <a:solidFill>
            <a:srgbClr val="8C96A8"/>
          </a:solidFill>
          <a:ln w="9525">
            <a:solidFill>
              <a:srgbClr val="3B4252"/>
            </a:solidFill>
            <a:prstDash val="solid"/>
          </a:ln>
        </p:spPr>
      </p:sp>
      <p:sp>
        <p:nvSpPr>
          <p:cNvPr id="47" name="Text 45"/>
          <p:cNvSpPr/>
          <p:nvPr/>
        </p:nvSpPr>
        <p:spPr>
          <a:xfrm>
            <a:off x="1548765" y="1234440"/>
            <a:ext cx="731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500</a:t>
            </a:r>
            <a:endParaRPr lang="en-US" sz="1050" dirty="0"/>
          </a:p>
        </p:txBody>
      </p:sp>
      <p:sp>
        <p:nvSpPr>
          <p:cNvPr id="48" name="Text 46"/>
          <p:cNvSpPr/>
          <p:nvPr/>
        </p:nvSpPr>
        <p:spPr>
          <a:xfrm>
            <a:off x="1365885" y="4672584"/>
            <a:ext cx="109728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none</a:t>
            </a:r>
            <a:endParaRPr lang="en-US" sz="1050" dirty="0"/>
          </a:p>
        </p:txBody>
      </p:sp>
      <p:sp>
        <p:nvSpPr>
          <p:cNvPr id="49" name="Shape 47"/>
          <p:cNvSpPr/>
          <p:nvPr/>
        </p:nvSpPr>
        <p:spPr>
          <a:xfrm>
            <a:off x="2674620" y="1488277"/>
            <a:ext cx="651510" cy="3129443"/>
          </a:xfrm>
          <a:prstGeom prst="rect">
            <a:avLst/>
          </a:prstGeom>
          <a:solidFill>
            <a:srgbClr val="E9DCC2"/>
          </a:solidFill>
          <a:ln w="9525">
            <a:solidFill>
              <a:srgbClr val="3B4252"/>
            </a:solidFill>
            <a:prstDash val="solid"/>
          </a:ln>
        </p:spPr>
      </p:sp>
      <p:sp>
        <p:nvSpPr>
          <p:cNvPr id="50" name="Text 48"/>
          <p:cNvSpPr/>
          <p:nvPr/>
        </p:nvSpPr>
        <p:spPr>
          <a:xfrm>
            <a:off x="2634615" y="1259677"/>
            <a:ext cx="731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496</a:t>
            </a:r>
            <a:endParaRPr lang="en-US" sz="1050" dirty="0"/>
          </a:p>
        </p:txBody>
      </p:sp>
      <p:sp>
        <p:nvSpPr>
          <p:cNvPr id="51" name="Text 49"/>
          <p:cNvSpPr/>
          <p:nvPr/>
        </p:nvSpPr>
        <p:spPr>
          <a:xfrm>
            <a:off x="2451735" y="4672584"/>
            <a:ext cx="109728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paper</a:t>
            </a:r>
            <a:endParaRPr lang="en-US" sz="1050" dirty="0"/>
          </a:p>
        </p:txBody>
      </p:sp>
      <p:sp>
        <p:nvSpPr>
          <p:cNvPr id="52" name="Shape 50"/>
          <p:cNvSpPr/>
          <p:nvPr/>
        </p:nvSpPr>
        <p:spPr>
          <a:xfrm>
            <a:off x="3760470" y="3595604"/>
            <a:ext cx="651510" cy="1022116"/>
          </a:xfrm>
          <a:prstGeom prst="rect">
            <a:avLst/>
          </a:prstGeom>
          <a:solidFill>
            <a:srgbClr val="C9CED8"/>
          </a:solidFill>
          <a:ln w="9525">
            <a:solidFill>
              <a:srgbClr val="3B4252"/>
            </a:solidFill>
            <a:prstDash val="solid"/>
          </a:ln>
        </p:spPr>
      </p:sp>
      <p:sp>
        <p:nvSpPr>
          <p:cNvPr id="53" name="Text 51"/>
          <p:cNvSpPr/>
          <p:nvPr/>
        </p:nvSpPr>
        <p:spPr>
          <a:xfrm>
            <a:off x="3720465" y="3367004"/>
            <a:ext cx="731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162</a:t>
            </a:r>
            <a:endParaRPr lang="en-US" sz="1050" dirty="0"/>
          </a:p>
        </p:txBody>
      </p:sp>
      <p:sp>
        <p:nvSpPr>
          <p:cNvPr id="54" name="Text 52"/>
          <p:cNvSpPr/>
          <p:nvPr/>
        </p:nvSpPr>
        <p:spPr>
          <a:xfrm>
            <a:off x="3537585" y="4672584"/>
            <a:ext cx="109728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5 mm Al</a:t>
            </a:r>
            <a:endParaRPr lang="en-US" sz="1050" dirty="0"/>
          </a:p>
        </p:txBody>
      </p:sp>
      <p:sp>
        <p:nvSpPr>
          <p:cNvPr id="55" name="Shape 53"/>
          <p:cNvSpPr/>
          <p:nvPr/>
        </p:nvSpPr>
        <p:spPr>
          <a:xfrm>
            <a:off x="4846320" y="4403202"/>
            <a:ext cx="651510" cy="214518"/>
          </a:xfrm>
          <a:prstGeom prst="rect">
            <a:avLst/>
          </a:prstGeom>
          <a:solidFill>
            <a:srgbClr val="5A6275"/>
          </a:solidFill>
          <a:ln w="9525">
            <a:solidFill>
              <a:srgbClr val="3B4252"/>
            </a:solidFill>
            <a:prstDash val="solid"/>
          </a:ln>
        </p:spPr>
      </p:sp>
      <p:sp>
        <p:nvSpPr>
          <p:cNvPr id="56" name="Text 54"/>
          <p:cNvSpPr/>
          <p:nvPr/>
        </p:nvSpPr>
        <p:spPr>
          <a:xfrm>
            <a:off x="4806315" y="4174602"/>
            <a:ext cx="731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34</a:t>
            </a:r>
            <a:endParaRPr lang="en-US" sz="1050" dirty="0"/>
          </a:p>
        </p:txBody>
      </p:sp>
      <p:sp>
        <p:nvSpPr>
          <p:cNvPr id="57" name="Text 55"/>
          <p:cNvSpPr/>
          <p:nvPr/>
        </p:nvSpPr>
        <p:spPr>
          <a:xfrm>
            <a:off x="4623435" y="4672584"/>
            <a:ext cx="109728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25 mm lead</a:t>
            </a:r>
            <a:endParaRPr lang="en-US" sz="1050" dirty="0"/>
          </a:p>
        </p:txBody>
      </p:sp>
      <p:sp>
        <p:nvSpPr>
          <p:cNvPr id="58" name="Text 56"/>
          <p:cNvSpPr/>
          <p:nvPr/>
        </p:nvSpPr>
        <p:spPr>
          <a:xfrm>
            <a:off x="1371600" y="4910328"/>
            <a:ext cx="43434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absorber</a:t>
            </a:r>
            <a:endParaRPr lang="en-US" sz="1050" dirty="0"/>
          </a:p>
        </p:txBody>
      </p:sp>
      <p:sp>
        <p:nvSpPr>
          <p:cNvPr id="59" name="Text 57"/>
          <p:cNvSpPr/>
          <p:nvPr/>
        </p:nvSpPr>
        <p:spPr>
          <a:xfrm>
            <a:off x="3271838" y="1652321"/>
            <a:ext cx="2377440" cy="256032"/>
          </a:xfrm>
          <a:prstGeom prst="rect">
            <a:avLst/>
          </a:prstGeom>
          <a:noFill/>
          <a:ln/>
        </p:spPr>
        <p:txBody>
          <a:bodyPr wrap="square" lIns="0" tIns="0" rIns="0" bIns="0" rtlCol="0" anchor="ctr"/>
          <a:lstStyle/>
          <a:p>
            <a:pPr algn="l" indent="0" marL="0">
              <a:buNone/>
            </a:pPr>
            <a:r>
              <a:rPr lang="en-US" sz="1050" dirty="0">
                <a:solidFill>
                  <a:srgbClr val="C8414C"/>
                </a:solidFill>
                <a:latin typeface="Calibri" pitchFamily="34" charset="0"/>
                <a:ea typeface="Calibri" pitchFamily="34" charset="-122"/>
                <a:cs typeface="Calibri" pitchFamily="34" charset="-120"/>
              </a:rPr>
              <a:t>no real drop → </a:t>
            </a:r>
            <a:r>
              <a:rPr lang="en-US" sz="1050" b="1" dirty="0">
                <a:solidFill>
                  <a:srgbClr val="C8414C"/>
                </a:solidFill>
                <a:latin typeface="Calibri" pitchFamily="34" charset="0"/>
                <a:ea typeface="Calibri" pitchFamily="34" charset="-122"/>
                <a:cs typeface="Calibri" pitchFamily="34" charset="-120"/>
              </a:rPr>
              <a:t>no alpha</a:t>
            </a:r>
            <a:endParaRPr lang="en-US" sz="1050" dirty="0"/>
          </a:p>
        </p:txBody>
      </p:sp>
      <p:sp>
        <p:nvSpPr>
          <p:cNvPr id="60" name="Text 58"/>
          <p:cNvSpPr/>
          <p:nvPr/>
        </p:nvSpPr>
        <p:spPr>
          <a:xfrm>
            <a:off x="3597592" y="2535631"/>
            <a:ext cx="2194560" cy="256032"/>
          </a:xfrm>
          <a:prstGeom prst="rect">
            <a:avLst/>
          </a:prstGeom>
          <a:noFill/>
          <a:ln/>
        </p:spPr>
        <p:txBody>
          <a:bodyPr wrap="square" lIns="0" tIns="0" rIns="0" bIns="0" rtlCol="0" anchor="ctr"/>
          <a:lstStyle/>
          <a:p>
            <a:pPr algn="l" indent="0" marL="0">
              <a:buNone/>
            </a:pPr>
            <a:r>
              <a:rPr lang="en-US" sz="1050" dirty="0">
                <a:solidFill>
                  <a:srgbClr val="2E5BD8"/>
                </a:solidFill>
                <a:latin typeface="Calibri" pitchFamily="34" charset="0"/>
                <a:ea typeface="Calibri" pitchFamily="34" charset="-122"/>
                <a:cs typeface="Calibri" pitchFamily="34" charset="-120"/>
              </a:rPr>
              <a:t>big drop → </a:t>
            </a:r>
            <a:r>
              <a:rPr lang="en-US" sz="1050" b="1" dirty="0">
                <a:solidFill>
                  <a:srgbClr val="2E5BD8"/>
                </a:solidFill>
                <a:latin typeface="Calibri" pitchFamily="34" charset="0"/>
                <a:ea typeface="Calibri" pitchFamily="34" charset="-122"/>
                <a:cs typeface="Calibri" pitchFamily="34" charset="-120"/>
              </a:rPr>
              <a:t>beta</a:t>
            </a:r>
            <a:endParaRPr lang="en-US" sz="1050" dirty="0"/>
          </a:p>
        </p:txBody>
      </p:sp>
      <p:sp>
        <p:nvSpPr>
          <p:cNvPr id="61" name="Text 59"/>
          <p:cNvSpPr/>
          <p:nvPr/>
        </p:nvSpPr>
        <p:spPr>
          <a:xfrm>
            <a:off x="4283393" y="3166567"/>
            <a:ext cx="1463040" cy="384048"/>
          </a:xfrm>
          <a:prstGeom prst="rect">
            <a:avLst/>
          </a:prstGeom>
          <a:noFill/>
          <a:ln/>
        </p:spPr>
        <p:txBody>
          <a:bodyPr wrap="square" lIns="0" tIns="0" rIns="0" bIns="0" rtlCol="0" anchor="t"/>
          <a:lstStyle/>
          <a:p>
            <a:pPr algn="l" indent="0" marL="0">
              <a:buNone/>
            </a:pPr>
            <a:r>
              <a:rPr lang="en-US" sz="1050" dirty="0">
                <a:solidFill>
                  <a:srgbClr val="2E8B57"/>
                </a:solidFill>
                <a:latin typeface="Calibri" pitchFamily="34" charset="0"/>
                <a:ea typeface="Calibri" pitchFamily="34" charset="-122"/>
                <a:cs typeface="Calibri" pitchFamily="34" charset="-120"/>
              </a:rPr>
              <a:t>left after Al → </a:t>
            </a:r>
            <a:r>
              <a:rPr lang="en-US" sz="1050" b="1" dirty="0">
                <a:solidFill>
                  <a:srgbClr val="2E8B57"/>
                </a:solidFill>
                <a:latin typeface="Calibri" pitchFamily="34" charset="0"/>
                <a:ea typeface="Calibri" pitchFamily="34" charset="-122"/>
                <a:cs typeface="Calibri" pitchFamily="34" charset="-120"/>
              </a:rPr>
              <a:t>gamma</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444752"/>
                <a:gridCol w="777240"/>
                <a:gridCol w="777240"/>
                <a:gridCol w="777240"/>
                <a:gridCol w="777240"/>
                <a:gridCol w="1005840"/>
              </a:tblGrid>
              <a:tr h="24688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Absorber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Count 1</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Count 2</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Count 3</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Mean</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Corrected</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Background</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27</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23</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No absorber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531</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517</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524</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524</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Paper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512</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528</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520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520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496</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Aluminium 5 mm</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181</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187</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186</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162</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4688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Lead 25 mm</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61</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55</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34</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63" name="Shape 60"/>
          <p:cNvSpPr/>
          <p:nvPr/>
        </p:nvSpPr>
        <p:spPr>
          <a:xfrm>
            <a:off x="6217920" y="2852928"/>
            <a:ext cx="5559552" cy="1371600"/>
          </a:xfrm>
          <a:prstGeom prst="roundRect">
            <a:avLst>
              <a:gd name="adj" fmla="val 4000"/>
            </a:avLst>
          </a:prstGeom>
          <a:solidFill>
            <a:srgbClr val="F5F8FE"/>
          </a:solidFill>
          <a:ln w="9525">
            <a:solidFill>
              <a:srgbClr val="D5DCEB"/>
            </a:solidFill>
            <a:prstDash val="solid"/>
          </a:ln>
        </p:spPr>
      </p:sp>
      <p:sp>
        <p:nvSpPr>
          <p:cNvPr id="64" name="Text 61"/>
          <p:cNvSpPr/>
          <p:nvPr/>
        </p:nvSpPr>
        <p:spPr>
          <a:xfrm>
            <a:off x="6382512" y="2944368"/>
            <a:ext cx="5230368"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Conclusion</a:t>
            </a:r>
            <a:endParaRPr lang="en-US" sz="1300" dirty="0"/>
          </a:p>
        </p:txBody>
      </p:sp>
      <p:sp>
        <p:nvSpPr>
          <p:cNvPr id="65" name="Text 62"/>
          <p:cNvSpPr/>
          <p:nvPr/>
        </p:nvSpPr>
        <p:spPr>
          <a:xfrm>
            <a:off x="6382512" y="3273552"/>
            <a:ext cx="5230368" cy="8778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Corrected count rate = mean − background (24 counts/min).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Paper: 500 → 496, within random variation, so </a:t>
            </a:r>
            <a:r>
              <a:rPr lang="en-US" sz="1050" b="1" dirty="0">
                <a:solidFill>
                  <a:srgbClr val="262B3A"/>
                </a:solidFill>
                <a:latin typeface="Calibri" pitchFamily="34" charset="0"/>
                <a:ea typeface="Calibri" pitchFamily="34" charset="-122"/>
                <a:cs typeface="Calibri" pitchFamily="34" charset="-120"/>
              </a:rPr>
              <a:t>no alpha</a:t>
            </a:r>
            <a:r>
              <a:rPr lang="en-US" sz="1050" dirty="0">
                <a:solidFill>
                  <a:srgbClr val="262B3A"/>
                </a:solidFill>
                <a:latin typeface="Calibri" pitchFamily="34" charset="0"/>
                <a:ea typeface="Calibri" pitchFamily="34" charset="-122"/>
                <a:cs typeface="Calibri" pitchFamily="34" charset="-120"/>
              </a:rPr>
              <a:t>. Aluminium: 496 → 162, so </a:t>
            </a:r>
            <a:r>
              <a:rPr lang="en-US" sz="1050" b="1" dirty="0">
                <a:solidFill>
                  <a:srgbClr val="262B3A"/>
                </a:solidFill>
                <a:latin typeface="Calibri" pitchFamily="34" charset="0"/>
                <a:ea typeface="Calibri" pitchFamily="34" charset="-122"/>
                <a:cs typeface="Calibri" pitchFamily="34" charset="-120"/>
              </a:rPr>
              <a:t>beta</a:t>
            </a:r>
            <a:r>
              <a:rPr lang="en-US" sz="1050" dirty="0">
                <a:solidFill>
                  <a:srgbClr val="262B3A"/>
                </a:solidFill>
                <a:latin typeface="Calibri" pitchFamily="34" charset="0"/>
                <a:ea typeface="Calibri" pitchFamily="34" charset="-122"/>
                <a:cs typeface="Calibri" pitchFamily="34" charset="-120"/>
              </a:rPr>
              <a:t> is present.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162 counts/min pass the aluminium, so </a:t>
            </a:r>
            <a:r>
              <a:rPr lang="en-US" sz="1050" b="1" dirty="0">
                <a:solidFill>
                  <a:srgbClr val="262B3A"/>
                </a:solidFill>
                <a:latin typeface="Calibri" pitchFamily="34" charset="0"/>
                <a:ea typeface="Calibri" pitchFamily="34" charset="-122"/>
                <a:cs typeface="Calibri" pitchFamily="34" charset="-120"/>
              </a:rPr>
              <a:t>gamma</a:t>
            </a:r>
            <a:r>
              <a:rPr lang="en-US" sz="1050" dirty="0">
                <a:solidFill>
                  <a:srgbClr val="262B3A"/>
                </a:solidFill>
                <a:latin typeface="Calibri" pitchFamily="34" charset="0"/>
                <a:ea typeface="Calibri" pitchFamily="34" charset="-122"/>
                <a:cs typeface="Calibri" pitchFamily="34" charset="-120"/>
              </a:rPr>
              <a:t> is present. Lead reduces it to 34 counts/min.</a:t>
            </a:r>
            <a:endParaRPr lang="en-US" sz="1050" dirty="0"/>
          </a:p>
        </p:txBody>
      </p:sp>
      <p:sp>
        <p:nvSpPr>
          <p:cNvPr id="66" name="Shape 63"/>
          <p:cNvSpPr/>
          <p:nvPr/>
        </p:nvSpPr>
        <p:spPr>
          <a:xfrm>
            <a:off x="6217920" y="4315968"/>
            <a:ext cx="5559552" cy="1399032"/>
          </a:xfrm>
          <a:prstGeom prst="roundRect">
            <a:avLst>
              <a:gd name="adj" fmla="val 3922"/>
            </a:avLst>
          </a:prstGeom>
          <a:solidFill>
            <a:srgbClr val="FFF4E0"/>
          </a:solidFill>
          <a:ln w="9525">
            <a:solidFill>
              <a:srgbClr val="F1D9A8"/>
            </a:solidFill>
            <a:prstDash val="solid"/>
          </a:ln>
        </p:spPr>
      </p:sp>
      <p:sp>
        <p:nvSpPr>
          <p:cNvPr id="67" name="Text 64"/>
          <p:cNvSpPr/>
          <p:nvPr/>
        </p:nvSpPr>
        <p:spPr>
          <a:xfrm>
            <a:off x="6382512" y="4389120"/>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Sources of error and improvements</a:t>
            </a:r>
            <a:endParaRPr lang="en-US" sz="1300" dirty="0"/>
          </a:p>
        </p:txBody>
      </p:sp>
      <p:sp>
        <p:nvSpPr>
          <p:cNvPr id="68" name="Text 65"/>
          <p:cNvSpPr/>
          <p:nvPr/>
        </p:nvSpPr>
        <p:spPr>
          <a:xfrm>
            <a:off x="6382512" y="4700016"/>
            <a:ext cx="5230368" cy="941832"/>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Random decay   </a:t>
            </a:r>
            <a:r>
              <a:rPr lang="en-US" sz="1050" dirty="0">
                <a:solidFill>
                  <a:srgbClr val="262B3A"/>
                </a:solidFill>
                <a:latin typeface="Calibri" pitchFamily="34" charset="0"/>
                <a:ea typeface="Calibri" pitchFamily="34" charset="-122"/>
                <a:cs typeface="Calibri" pitchFamily="34" charset="-120"/>
              </a:rPr>
              <a:t>counts vary → repeat and take a mean; count for longer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Background varies   </a:t>
            </a:r>
            <a:r>
              <a:rPr lang="en-US" sz="1050" dirty="0">
                <a:solidFill>
                  <a:srgbClr val="262B3A"/>
                </a:solidFill>
                <a:latin typeface="Calibri" pitchFamily="34" charset="0"/>
                <a:ea typeface="Calibri" pitchFamily="34" charset="-122"/>
                <a:cs typeface="Calibri" pitchFamily="34" charset="-120"/>
              </a:rPr>
              <a:t>measure it before and after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keep distance and counting time the same for every reading</a:t>
            </a:r>
            <a:endParaRPr lang="en-US" sz="1050" dirty="0"/>
          </a:p>
        </p:txBody>
      </p:sp>
      <p:sp>
        <p:nvSpPr>
          <p:cNvPr id="69" name="Shape 66"/>
          <p:cNvSpPr/>
          <p:nvPr/>
        </p:nvSpPr>
        <p:spPr>
          <a:xfrm>
            <a:off x="411480" y="5833872"/>
            <a:ext cx="11368735" cy="530352"/>
          </a:xfrm>
          <a:prstGeom prst="rect">
            <a:avLst/>
          </a:prstGeom>
          <a:solidFill>
            <a:srgbClr val="FFF4E0"/>
          </a:solidFill>
          <a:ln w="6350">
            <a:solidFill>
              <a:srgbClr val="F1D9A8"/>
            </a:solidFill>
            <a:prstDash val="solid"/>
          </a:ln>
        </p:spPr>
      </p:sp>
      <p:sp>
        <p:nvSpPr>
          <p:cNvPr id="70" name="Shape 67"/>
          <p:cNvSpPr/>
          <p:nvPr/>
        </p:nvSpPr>
        <p:spPr>
          <a:xfrm>
            <a:off x="411480" y="5833872"/>
            <a:ext cx="82296" cy="530352"/>
          </a:xfrm>
          <a:prstGeom prst="rect">
            <a:avLst/>
          </a:prstGeom>
          <a:solidFill>
            <a:srgbClr val="E39A2F"/>
          </a:solidFill>
          <a:ln w="12700">
            <a:solidFill>
              <a:srgbClr val="E39A2F"/>
            </a:solidFill>
            <a:prstDash val="solid"/>
          </a:ln>
        </p:spPr>
      </p:sp>
      <p:sp>
        <p:nvSpPr>
          <p:cNvPr id="71" name="Text 6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The count rate with paper is 4 counts/min lower than with no absorber. Why is this not evidence of alpha?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P5.2.1 • the absorber practical and correcting for background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With no source present a GM tube records </a:t>
            </a:r>
            <a:r>
              <a:rPr lang="en-US" sz="1250" b="1" dirty="0">
                <a:solidFill>
                  <a:srgbClr val="262B3A"/>
                </a:solidFill>
                <a:latin typeface="Calibri" pitchFamily="34" charset="0"/>
                <a:ea typeface="Calibri" pitchFamily="34" charset="-122"/>
                <a:cs typeface="Calibri" pitchFamily="34" charset="-120"/>
              </a:rPr>
              <a:t>120 counts in 5 minutes</a:t>
            </a:r>
            <a:r>
              <a:rPr lang="en-US" sz="1250" dirty="0">
                <a:solidFill>
                  <a:srgbClr val="262B3A"/>
                </a:solidFill>
                <a:latin typeface="Calibri" pitchFamily="34" charset="0"/>
                <a:ea typeface="Calibri" pitchFamily="34" charset="-122"/>
                <a:cs typeface="Calibri" pitchFamily="34" charset="-120"/>
              </a:rPr>
              <a:t>. Calculate the background count rate in counts per minute.</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With a source present the count rate is </a:t>
            </a:r>
            <a:r>
              <a:rPr lang="en-US" sz="1250" b="1" dirty="0">
                <a:solidFill>
                  <a:srgbClr val="262B3A"/>
                </a:solidFill>
                <a:latin typeface="Calibri" pitchFamily="34" charset="0"/>
                <a:ea typeface="Calibri" pitchFamily="34" charset="-122"/>
                <a:cs typeface="Calibri" pitchFamily="34" charset="-120"/>
              </a:rPr>
              <a:t>750 counts/min</a:t>
            </a:r>
            <a:r>
              <a:rPr lang="en-US" sz="1250" dirty="0">
                <a:solidFill>
                  <a:srgbClr val="262B3A"/>
                </a:solidFill>
                <a:latin typeface="Calibri" pitchFamily="34" charset="0"/>
                <a:ea typeface="Calibri" pitchFamily="34" charset="-122"/>
                <a:cs typeface="Calibri" pitchFamily="34" charset="-120"/>
              </a:rPr>
              <a:t>. Use your answer to calculate the corrected count rate.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With 2.4 mm of aluminium between the source and the tube the count rate is </a:t>
            </a:r>
            <a:r>
              <a:rPr lang="en-US" sz="1250" b="1" dirty="0">
                <a:solidFill>
                  <a:srgbClr val="262B3A"/>
                </a:solidFill>
                <a:latin typeface="Calibri" pitchFamily="34" charset="0"/>
                <a:ea typeface="Calibri" pitchFamily="34" charset="-122"/>
                <a:cs typeface="Calibri" pitchFamily="34" charset="-120"/>
              </a:rPr>
              <a:t>30 counts/min</a:t>
            </a:r>
            <a:r>
              <a:rPr lang="en-US" sz="1250" dirty="0">
                <a:solidFill>
                  <a:srgbClr val="262B3A"/>
                </a:solidFill>
                <a:latin typeface="Calibri" pitchFamily="34" charset="0"/>
                <a:ea typeface="Calibri" pitchFamily="34" charset="-122"/>
                <a:cs typeface="Calibri" pitchFamily="34" charset="-120"/>
              </a:rPr>
              <a:t>. Paper made no difference. What does the source emit? Explain your answer.</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safety precautions the teacher takes in this demonstration.</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Background radiation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P5.2.1 context • the radiation that is around us all the time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P5.2  |  11</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pie chart drawn to scale: share of the average UK dose</a:t>
            </a:r>
            <a:endParaRPr lang="en-US" sz="1000" dirty="0"/>
          </a:p>
        </p:txBody>
      </p:sp>
      <p:sp>
        <p:nvSpPr>
          <p:cNvPr id="10" name="Shape 8"/>
          <p:cNvSpPr/>
          <p:nvPr/>
        </p:nvSpPr>
        <p:spPr>
          <a:xfrm>
            <a:off x="502920" y="1828800"/>
            <a:ext cx="2743200" cy="2743200"/>
          </a:xfrm>
          <a:prstGeom prst="pie">
            <a:avLst>
              <a:gd name="adj1" fmla="val 16200000"/>
              <a:gd name="adj2" fmla="val 5400000"/>
            </a:avLst>
          </a:prstGeom>
          <a:solidFill>
            <a:srgbClr val="C8414C"/>
          </a:solidFill>
          <a:ln w="12700">
            <a:solidFill>
              <a:srgbClr val="FFFFFF"/>
            </a:solidFill>
            <a:prstDash val="solid"/>
          </a:ln>
        </p:spPr>
      </p:sp>
      <p:sp>
        <p:nvSpPr>
          <p:cNvPr id="11" name="Shape 9"/>
          <p:cNvSpPr/>
          <p:nvPr/>
        </p:nvSpPr>
        <p:spPr>
          <a:xfrm>
            <a:off x="502920" y="1828800"/>
            <a:ext cx="2743200" cy="2743200"/>
          </a:xfrm>
          <a:prstGeom prst="pie">
            <a:avLst>
              <a:gd name="adj1" fmla="val 5400000"/>
              <a:gd name="adj2" fmla="val 8640000"/>
            </a:avLst>
          </a:prstGeom>
          <a:solidFill>
            <a:srgbClr val="2E5BD8"/>
          </a:solidFill>
          <a:ln w="12700">
            <a:solidFill>
              <a:srgbClr val="FFFFFF"/>
            </a:solidFill>
            <a:prstDash val="solid"/>
          </a:ln>
        </p:spPr>
      </p:sp>
      <p:sp>
        <p:nvSpPr>
          <p:cNvPr id="12" name="Shape 10"/>
          <p:cNvSpPr/>
          <p:nvPr/>
        </p:nvSpPr>
        <p:spPr>
          <a:xfrm>
            <a:off x="502920" y="1828800"/>
            <a:ext cx="2743200" cy="2743200"/>
          </a:xfrm>
          <a:prstGeom prst="pie">
            <a:avLst>
              <a:gd name="adj1" fmla="val 8640000"/>
              <a:gd name="adj2" fmla="val 11448000"/>
            </a:avLst>
          </a:prstGeom>
          <a:solidFill>
            <a:srgbClr val="B8730A"/>
          </a:solidFill>
          <a:ln w="12700">
            <a:solidFill>
              <a:srgbClr val="FFFFFF"/>
            </a:solidFill>
            <a:prstDash val="solid"/>
          </a:ln>
        </p:spPr>
      </p:sp>
      <p:sp>
        <p:nvSpPr>
          <p:cNvPr id="13" name="Shape 11"/>
          <p:cNvSpPr/>
          <p:nvPr/>
        </p:nvSpPr>
        <p:spPr>
          <a:xfrm>
            <a:off x="502920" y="1828800"/>
            <a:ext cx="2743200" cy="2743200"/>
          </a:xfrm>
          <a:prstGeom prst="pie">
            <a:avLst>
              <a:gd name="adj1" fmla="val 11448000"/>
              <a:gd name="adj2" fmla="val 14040000"/>
            </a:avLst>
          </a:prstGeom>
          <a:solidFill>
            <a:srgbClr val="6A4FB3"/>
          </a:solidFill>
          <a:ln w="12700">
            <a:solidFill>
              <a:srgbClr val="FFFFFF"/>
            </a:solidFill>
            <a:prstDash val="solid"/>
          </a:ln>
        </p:spPr>
      </p:sp>
      <p:sp>
        <p:nvSpPr>
          <p:cNvPr id="14" name="Shape 12"/>
          <p:cNvSpPr/>
          <p:nvPr/>
        </p:nvSpPr>
        <p:spPr>
          <a:xfrm>
            <a:off x="502920" y="1828800"/>
            <a:ext cx="2743200" cy="2743200"/>
          </a:xfrm>
          <a:prstGeom prst="pie">
            <a:avLst>
              <a:gd name="adj1" fmla="val 14040000"/>
              <a:gd name="adj2" fmla="val 16092000"/>
            </a:avLst>
          </a:prstGeom>
          <a:solidFill>
            <a:srgbClr val="2E8B57"/>
          </a:solidFill>
          <a:ln w="12700">
            <a:solidFill>
              <a:srgbClr val="FFFFFF"/>
            </a:solidFill>
            <a:prstDash val="solid"/>
          </a:ln>
        </p:spPr>
      </p:sp>
      <p:sp>
        <p:nvSpPr>
          <p:cNvPr id="15" name="Shape 13"/>
          <p:cNvSpPr/>
          <p:nvPr/>
        </p:nvSpPr>
        <p:spPr>
          <a:xfrm>
            <a:off x="502920" y="1828800"/>
            <a:ext cx="2743200" cy="2743200"/>
          </a:xfrm>
          <a:prstGeom prst="pie">
            <a:avLst>
              <a:gd name="adj1" fmla="val 16092000"/>
              <a:gd name="adj2" fmla="val 16200000"/>
            </a:avLst>
          </a:prstGeom>
          <a:solidFill>
            <a:srgbClr val="6B7385"/>
          </a:solidFill>
          <a:ln w="12700">
            <a:solidFill>
              <a:srgbClr val="FFFFFF"/>
            </a:solidFill>
            <a:prstDash val="solid"/>
          </a:ln>
        </p:spPr>
      </p:sp>
      <p:sp>
        <p:nvSpPr>
          <p:cNvPr id="16" name="Text 14"/>
          <p:cNvSpPr/>
          <p:nvPr/>
        </p:nvSpPr>
        <p:spPr>
          <a:xfrm>
            <a:off x="2487168" y="3072384"/>
            <a:ext cx="640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50%</a:t>
            </a:r>
            <a:endParaRPr lang="en-US" sz="1100" dirty="0"/>
          </a:p>
        </p:txBody>
      </p:sp>
      <p:sp>
        <p:nvSpPr>
          <p:cNvPr id="17" name="Text 15"/>
          <p:cNvSpPr/>
          <p:nvPr/>
        </p:nvSpPr>
        <p:spPr>
          <a:xfrm>
            <a:off x="1131049" y="3903415"/>
            <a:ext cx="640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
        <p:nvSpPr>
          <p:cNvPr id="18" name="Text 16"/>
          <p:cNvSpPr/>
          <p:nvPr/>
        </p:nvSpPr>
        <p:spPr>
          <a:xfrm>
            <a:off x="644254" y="3275844"/>
            <a:ext cx="640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19" name="Text 17"/>
          <p:cNvSpPr/>
          <p:nvPr/>
        </p:nvSpPr>
        <p:spPr>
          <a:xfrm>
            <a:off x="766985" y="2572625"/>
            <a:ext cx="640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20" name="Text 18"/>
          <p:cNvSpPr/>
          <p:nvPr/>
        </p:nvSpPr>
        <p:spPr>
          <a:xfrm>
            <a:off x="1252366" y="2189982"/>
            <a:ext cx="640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9.5%</a:t>
            </a:r>
            <a:endParaRPr lang="en-US" sz="1100" dirty="0"/>
          </a:p>
        </p:txBody>
      </p:sp>
      <p:sp>
        <p:nvSpPr>
          <p:cNvPr id="21" name="Shape 19"/>
          <p:cNvSpPr/>
          <p:nvPr/>
        </p:nvSpPr>
        <p:spPr>
          <a:xfrm>
            <a:off x="3474720" y="1636776"/>
            <a:ext cx="237744" cy="237744"/>
          </a:xfrm>
          <a:prstGeom prst="rect">
            <a:avLst/>
          </a:prstGeom>
          <a:solidFill>
            <a:srgbClr val="C8414C"/>
          </a:solidFill>
          <a:ln/>
        </p:spPr>
      </p:sp>
      <p:sp>
        <p:nvSpPr>
          <p:cNvPr id="22" name="Text 20"/>
          <p:cNvSpPr/>
          <p:nvPr/>
        </p:nvSpPr>
        <p:spPr>
          <a:xfrm>
            <a:off x="3794760" y="1563624"/>
            <a:ext cx="2057400" cy="45720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50%</a:t>
            </a:r>
            <a:r>
              <a:rPr lang="en-US" sz="1050" dirty="0">
                <a:solidFill>
                  <a:srgbClr val="262B3A"/>
                </a:solidFill>
                <a:latin typeface="Calibri" pitchFamily="34" charset="0"/>
                <a:ea typeface="Calibri" pitchFamily="34" charset="-122"/>
                <a:cs typeface="Calibri" pitchFamily="34" charset="-120"/>
              </a:rPr>
              <a:t> Radon gas (from rocks and soil)</a:t>
            </a:r>
            <a:endParaRPr lang="en-US" sz="1050" dirty="0"/>
          </a:p>
        </p:txBody>
      </p:sp>
      <p:sp>
        <p:nvSpPr>
          <p:cNvPr id="23" name="Shape 21"/>
          <p:cNvSpPr/>
          <p:nvPr/>
        </p:nvSpPr>
        <p:spPr>
          <a:xfrm>
            <a:off x="3474720" y="2185416"/>
            <a:ext cx="237744" cy="237744"/>
          </a:xfrm>
          <a:prstGeom prst="rect">
            <a:avLst/>
          </a:prstGeom>
          <a:solidFill>
            <a:srgbClr val="2E5BD8"/>
          </a:solidFill>
          <a:ln/>
        </p:spPr>
      </p:sp>
      <p:sp>
        <p:nvSpPr>
          <p:cNvPr id="24" name="Text 22"/>
          <p:cNvSpPr/>
          <p:nvPr/>
        </p:nvSpPr>
        <p:spPr>
          <a:xfrm>
            <a:off x="3794760" y="2112264"/>
            <a:ext cx="2057400" cy="45720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15%</a:t>
            </a:r>
            <a:r>
              <a:rPr lang="en-US" sz="1050" dirty="0">
                <a:solidFill>
                  <a:srgbClr val="262B3A"/>
                </a:solidFill>
                <a:latin typeface="Calibri" pitchFamily="34" charset="0"/>
                <a:ea typeface="Calibri" pitchFamily="34" charset="-122"/>
                <a:cs typeface="Calibri" pitchFamily="34" charset="-120"/>
              </a:rPr>
              <a:t> Medical (X-rays, CT, nuclear medicine)</a:t>
            </a:r>
            <a:endParaRPr lang="en-US" sz="1050" dirty="0"/>
          </a:p>
        </p:txBody>
      </p:sp>
      <p:sp>
        <p:nvSpPr>
          <p:cNvPr id="25" name="Shape 23"/>
          <p:cNvSpPr/>
          <p:nvPr/>
        </p:nvSpPr>
        <p:spPr>
          <a:xfrm>
            <a:off x="3474720" y="2734056"/>
            <a:ext cx="237744" cy="237744"/>
          </a:xfrm>
          <a:prstGeom prst="rect">
            <a:avLst/>
          </a:prstGeom>
          <a:solidFill>
            <a:srgbClr val="B8730A"/>
          </a:solidFill>
          <a:ln/>
        </p:spPr>
      </p:sp>
      <p:sp>
        <p:nvSpPr>
          <p:cNvPr id="26" name="Text 24"/>
          <p:cNvSpPr/>
          <p:nvPr/>
        </p:nvSpPr>
        <p:spPr>
          <a:xfrm>
            <a:off x="3794760" y="2660904"/>
            <a:ext cx="2057400" cy="45720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13%</a:t>
            </a:r>
            <a:r>
              <a:rPr lang="en-US" sz="1050" dirty="0">
                <a:solidFill>
                  <a:srgbClr val="262B3A"/>
                </a:solidFill>
                <a:latin typeface="Calibri" pitchFamily="34" charset="0"/>
                <a:ea typeface="Calibri" pitchFamily="34" charset="-122"/>
                <a:cs typeface="Calibri" pitchFamily="34" charset="-120"/>
              </a:rPr>
              <a:t> Ground and buildings (gamma)</a:t>
            </a:r>
            <a:endParaRPr lang="en-US" sz="1050" dirty="0"/>
          </a:p>
        </p:txBody>
      </p:sp>
      <p:sp>
        <p:nvSpPr>
          <p:cNvPr id="27" name="Shape 25"/>
          <p:cNvSpPr/>
          <p:nvPr/>
        </p:nvSpPr>
        <p:spPr>
          <a:xfrm>
            <a:off x="3474720" y="3282696"/>
            <a:ext cx="237744" cy="237744"/>
          </a:xfrm>
          <a:prstGeom prst="rect">
            <a:avLst/>
          </a:prstGeom>
          <a:solidFill>
            <a:srgbClr val="6A4FB3"/>
          </a:solidFill>
          <a:ln/>
        </p:spPr>
      </p:sp>
      <p:sp>
        <p:nvSpPr>
          <p:cNvPr id="28" name="Text 26"/>
          <p:cNvSpPr/>
          <p:nvPr/>
        </p:nvSpPr>
        <p:spPr>
          <a:xfrm>
            <a:off x="3794760" y="3209544"/>
            <a:ext cx="2057400" cy="45720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12%</a:t>
            </a:r>
            <a:r>
              <a:rPr lang="en-US" sz="1050" dirty="0">
                <a:solidFill>
                  <a:srgbClr val="262B3A"/>
                </a:solidFill>
                <a:latin typeface="Calibri" pitchFamily="34" charset="0"/>
                <a:ea typeface="Calibri" pitchFamily="34" charset="-122"/>
                <a:cs typeface="Calibri" pitchFamily="34" charset="-120"/>
              </a:rPr>
              <a:t> Cosmic rays (from space)</a:t>
            </a:r>
            <a:endParaRPr lang="en-US" sz="1050" dirty="0"/>
          </a:p>
        </p:txBody>
      </p:sp>
      <p:sp>
        <p:nvSpPr>
          <p:cNvPr id="29" name="Shape 27"/>
          <p:cNvSpPr/>
          <p:nvPr/>
        </p:nvSpPr>
        <p:spPr>
          <a:xfrm>
            <a:off x="3474720" y="3831336"/>
            <a:ext cx="237744" cy="237744"/>
          </a:xfrm>
          <a:prstGeom prst="rect">
            <a:avLst/>
          </a:prstGeom>
          <a:solidFill>
            <a:srgbClr val="2E8B57"/>
          </a:solidFill>
          <a:ln/>
        </p:spPr>
      </p:sp>
      <p:sp>
        <p:nvSpPr>
          <p:cNvPr id="30" name="Text 28"/>
          <p:cNvSpPr/>
          <p:nvPr/>
        </p:nvSpPr>
        <p:spPr>
          <a:xfrm>
            <a:off x="3794760" y="3758184"/>
            <a:ext cx="2057400" cy="45720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9.5%</a:t>
            </a:r>
            <a:r>
              <a:rPr lang="en-US" sz="1050" dirty="0">
                <a:solidFill>
                  <a:srgbClr val="262B3A"/>
                </a:solidFill>
                <a:latin typeface="Calibri" pitchFamily="34" charset="0"/>
                <a:ea typeface="Calibri" pitchFamily="34" charset="-122"/>
                <a:cs typeface="Calibri" pitchFamily="34" charset="-120"/>
              </a:rPr>
              <a:t> Food and drink</a:t>
            </a:r>
            <a:endParaRPr lang="en-US" sz="1050" dirty="0"/>
          </a:p>
        </p:txBody>
      </p:sp>
      <p:sp>
        <p:nvSpPr>
          <p:cNvPr id="31" name="Shape 29"/>
          <p:cNvSpPr/>
          <p:nvPr/>
        </p:nvSpPr>
        <p:spPr>
          <a:xfrm>
            <a:off x="3474720" y="4379976"/>
            <a:ext cx="237744" cy="237744"/>
          </a:xfrm>
          <a:prstGeom prst="rect">
            <a:avLst/>
          </a:prstGeom>
          <a:solidFill>
            <a:srgbClr val="6B7385"/>
          </a:solidFill>
          <a:ln/>
        </p:spPr>
      </p:sp>
      <p:sp>
        <p:nvSpPr>
          <p:cNvPr id="32" name="Text 30"/>
          <p:cNvSpPr/>
          <p:nvPr/>
        </p:nvSpPr>
        <p:spPr>
          <a:xfrm>
            <a:off x="3794760" y="4306824"/>
            <a:ext cx="2057400" cy="45720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0.5%</a:t>
            </a:r>
            <a:r>
              <a:rPr lang="en-US" sz="1050" dirty="0">
                <a:solidFill>
                  <a:srgbClr val="262B3A"/>
                </a:solidFill>
                <a:latin typeface="Calibri" pitchFamily="34" charset="0"/>
                <a:ea typeface="Calibri" pitchFamily="34" charset="-122"/>
                <a:cs typeface="Calibri" pitchFamily="34" charset="-120"/>
              </a:rPr>
              <a:t> Other (fallout, nuclear industry, work)</a:t>
            </a:r>
            <a:endParaRPr lang="en-US" sz="1050" dirty="0"/>
          </a:p>
        </p:txBody>
      </p:sp>
      <p:sp>
        <p:nvSpPr>
          <p:cNvPr id="33" name="Text 31"/>
          <p:cNvSpPr/>
          <p:nvPr/>
        </p:nvSpPr>
        <p:spPr>
          <a:xfrm>
            <a:off x="3474720" y="4937760"/>
            <a:ext cx="2377440" cy="256032"/>
          </a:xfrm>
          <a:prstGeom prst="rect">
            <a:avLst/>
          </a:prstGeom>
          <a:noFill/>
          <a:ln/>
        </p:spPr>
        <p:txBody>
          <a:bodyPr wrap="square" lIns="0" tIns="0" rIns="0" bIns="0" rtlCol="0" anchor="ctr"/>
          <a:lstStyle/>
          <a:p>
            <a:pPr algn="l" indent="0" marL="0">
              <a:buNone/>
            </a:pPr>
            <a:r>
              <a:rPr lang="en-US" sz="1050" b="1" dirty="0">
                <a:solidFill>
                  <a:srgbClr val="1A2340"/>
                </a:solidFill>
                <a:latin typeface="Calibri" pitchFamily="34" charset="0"/>
                <a:ea typeface="Calibri" pitchFamily="34" charset="-122"/>
                <a:cs typeface="Calibri" pitchFamily="34" charset="-120"/>
              </a:rPr>
              <a:t>natural 84.5% • man-made 15.5%</a:t>
            </a:r>
            <a:endParaRPr lang="en-US" sz="1050" dirty="0"/>
          </a:p>
        </p:txBody>
      </p:sp>
      <p:sp>
        <p:nvSpPr>
          <p:cNvPr id="34" name="Shape 3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5" name="Text 3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Where background radiation comes from</a:t>
            </a:r>
            <a:endParaRPr lang="en-US" sz="1300" dirty="0"/>
          </a:p>
        </p:txBody>
      </p:sp>
      <p:sp>
        <p:nvSpPr>
          <p:cNvPr id="36" name="Text 3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Background radiation</a:t>
            </a:r>
            <a:r>
              <a:rPr lang="en-US" sz="1150" dirty="0">
                <a:solidFill>
                  <a:srgbClr val="262B3A"/>
                </a:solidFill>
                <a:latin typeface="Calibri" pitchFamily="34" charset="0"/>
                <a:ea typeface="Calibri" pitchFamily="34" charset="-122"/>
                <a:cs typeface="Calibri" pitchFamily="34" charset="-120"/>
              </a:rPr>
              <a:t> is ionising radiation that is always present, from natural and man-made sources.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Natural</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radon</a:t>
            </a:r>
            <a:r>
              <a:rPr lang="en-US" sz="1150" dirty="0">
                <a:solidFill>
                  <a:srgbClr val="262B3A"/>
                </a:solidFill>
                <a:latin typeface="Calibri" pitchFamily="34" charset="0"/>
                <a:ea typeface="Calibri" pitchFamily="34" charset="-122"/>
                <a:cs typeface="Calibri" pitchFamily="34" charset="-120"/>
              </a:rPr>
              <a:t> gas from rocks and soil (the biggest part), rocks and building materials, </a:t>
            </a:r>
            <a:r>
              <a:rPr lang="en-US" sz="1150" b="1" dirty="0">
                <a:solidFill>
                  <a:srgbClr val="262B3A"/>
                </a:solidFill>
                <a:latin typeface="Calibri" pitchFamily="34" charset="0"/>
                <a:ea typeface="Calibri" pitchFamily="34" charset="-122"/>
                <a:cs typeface="Calibri" pitchFamily="34" charset="-120"/>
              </a:rPr>
              <a:t>cosmic rays</a:t>
            </a:r>
            <a:r>
              <a:rPr lang="en-US" sz="1150" dirty="0">
                <a:solidFill>
                  <a:srgbClr val="262B3A"/>
                </a:solidFill>
                <a:latin typeface="Calibri" pitchFamily="34" charset="0"/>
                <a:ea typeface="Calibri" pitchFamily="34" charset="-122"/>
                <a:cs typeface="Calibri" pitchFamily="34" charset="-120"/>
              </a:rPr>
              <a:t> from space, </a:t>
            </a:r>
            <a:r>
              <a:rPr lang="en-US" sz="1150" b="1" dirty="0">
                <a:solidFill>
                  <a:srgbClr val="262B3A"/>
                </a:solidFill>
                <a:latin typeface="Calibri" pitchFamily="34" charset="0"/>
                <a:ea typeface="Calibri" pitchFamily="34" charset="-122"/>
                <a:cs typeface="Calibri" pitchFamily="34" charset="-120"/>
              </a:rPr>
              <a:t>food and drink</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Man-made</a:t>
            </a:r>
            <a:r>
              <a:rPr lang="en-US" sz="1150" dirty="0">
                <a:solidFill>
                  <a:srgbClr val="262B3A"/>
                </a:solidFill>
                <a:latin typeface="Calibri" pitchFamily="34" charset="0"/>
                <a:ea typeface="Calibri" pitchFamily="34" charset="-122"/>
                <a:cs typeface="Calibri" pitchFamily="34" charset="-120"/>
              </a:rPr>
              <a:t>: mainly </a:t>
            </a:r>
            <a:r>
              <a:rPr lang="en-US" sz="1150" b="1" dirty="0">
                <a:solidFill>
                  <a:srgbClr val="262B3A"/>
                </a:solidFill>
                <a:latin typeface="Calibri" pitchFamily="34" charset="0"/>
                <a:ea typeface="Calibri" pitchFamily="34" charset="-122"/>
                <a:cs typeface="Calibri" pitchFamily="34" charset="-120"/>
              </a:rPr>
              <a:t>medical</a:t>
            </a:r>
            <a:r>
              <a:rPr lang="en-US" sz="1150" dirty="0">
                <a:solidFill>
                  <a:srgbClr val="262B3A"/>
                </a:solidFill>
                <a:latin typeface="Calibri" pitchFamily="34" charset="0"/>
                <a:ea typeface="Calibri" pitchFamily="34" charset="-122"/>
                <a:cs typeface="Calibri" pitchFamily="34" charset="-120"/>
              </a:rPr>
              <a:t> X-rays and scans; tiny amounts from fallout and the nuclear industry.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It </a:t>
            </a:r>
            <a:r>
              <a:rPr lang="en-US" sz="1150" b="1" dirty="0">
                <a:solidFill>
                  <a:srgbClr val="262B3A"/>
                </a:solidFill>
                <a:latin typeface="Calibri" pitchFamily="34" charset="0"/>
                <a:ea typeface="Calibri" pitchFamily="34" charset="-122"/>
                <a:cs typeface="Calibri" pitchFamily="34" charset="-120"/>
              </a:rPr>
              <a:t>varies</a:t>
            </a:r>
            <a:r>
              <a:rPr lang="en-US" sz="1150" dirty="0">
                <a:solidFill>
                  <a:srgbClr val="262B3A"/>
                </a:solidFill>
                <a:latin typeface="Calibri" pitchFamily="34" charset="0"/>
                <a:ea typeface="Calibri" pitchFamily="34" charset="-122"/>
                <a:cs typeface="Calibri" pitchFamily="34" charset="-120"/>
              </a:rPr>
              <a:t>: more radon in granite areas (e.g. Cornwall); more cosmic rays at high altitude and when flying.</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Always measure it and </a:t>
            </a:r>
            <a:r>
              <a:rPr lang="en-US" sz="1150" b="1" dirty="0">
                <a:solidFill>
                  <a:srgbClr val="262B3A"/>
                </a:solidFill>
                <a:latin typeface="Calibri" pitchFamily="34" charset="0"/>
                <a:ea typeface="Calibri" pitchFamily="34" charset="-122"/>
                <a:cs typeface="Calibri" pitchFamily="34" charset="-120"/>
              </a:rPr>
              <a:t>subtract</a:t>
            </a:r>
            <a:r>
              <a:rPr lang="en-US" sz="1150" dirty="0">
                <a:solidFill>
                  <a:srgbClr val="262B3A"/>
                </a:solidFill>
                <a:latin typeface="Calibri" pitchFamily="34" charset="0"/>
                <a:ea typeface="Calibri" pitchFamily="34" charset="-122"/>
                <a:cs typeface="Calibri" pitchFamily="34" charset="-120"/>
              </a:rPr>
              <a:t> it from count rates.</a:t>
            </a:r>
            <a:endParaRPr lang="en-US" sz="1150" dirty="0"/>
          </a:p>
        </p:txBody>
      </p:sp>
      <p:sp>
        <p:nvSpPr>
          <p:cNvPr id="37" name="Shape 3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8" name="Text 3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reading the pie chart</a:t>
            </a:r>
            <a:endParaRPr lang="en-US" sz="1300" dirty="0"/>
          </a:p>
        </p:txBody>
      </p:sp>
      <p:sp>
        <p:nvSpPr>
          <p:cNvPr id="39" name="Text 37"/>
          <p:cNvSpPr/>
          <p:nvPr/>
        </p:nvSpPr>
        <p:spPr>
          <a:xfrm>
            <a:off x="6382512" y="4133088"/>
            <a:ext cx="5233111" cy="150876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What percentage of the average dose is from man-made sources?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Man-made   </a:t>
            </a:r>
            <a:r>
              <a:rPr lang="en-US" sz="1100" dirty="0">
                <a:solidFill>
                  <a:srgbClr val="262B3A"/>
                </a:solidFill>
                <a:latin typeface="Calibri" pitchFamily="34" charset="0"/>
                <a:ea typeface="Calibri" pitchFamily="34" charset="-122"/>
                <a:cs typeface="Calibri" pitchFamily="34" charset="-120"/>
              </a:rPr>
              <a:t>medical 15% + other 0.5%</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Add   </a:t>
            </a:r>
            <a:r>
              <a:rPr lang="en-US" sz="1100" dirty="0">
                <a:solidFill>
                  <a:srgbClr val="262B3A"/>
                </a:solidFill>
                <a:latin typeface="Calibri" pitchFamily="34" charset="0"/>
                <a:ea typeface="Calibri" pitchFamily="34" charset="-122"/>
                <a:cs typeface="Calibri" pitchFamily="34" charset="-120"/>
              </a:rPr>
              <a:t>15 + 0.5 = 15.5%</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Check   </a:t>
            </a:r>
            <a:r>
              <a:rPr lang="en-US" sz="1100" dirty="0">
                <a:solidFill>
                  <a:srgbClr val="262B3A"/>
                </a:solidFill>
                <a:latin typeface="Calibri" pitchFamily="34" charset="0"/>
                <a:ea typeface="Calibri" pitchFamily="34" charset="-122"/>
                <a:cs typeface="Calibri" pitchFamily="34" charset="-120"/>
              </a:rPr>
              <a:t>natural = 100 − 15.5 = 84.5%</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about 15.5% man-made</a:t>
            </a:r>
            <a:endParaRPr lang="en-US" sz="1100" dirty="0"/>
          </a:p>
        </p:txBody>
      </p:sp>
      <p:sp>
        <p:nvSpPr>
          <p:cNvPr id="40" name="Shape 38"/>
          <p:cNvSpPr/>
          <p:nvPr/>
        </p:nvSpPr>
        <p:spPr>
          <a:xfrm>
            <a:off x="411480" y="5833872"/>
            <a:ext cx="11368735" cy="530352"/>
          </a:xfrm>
          <a:prstGeom prst="rect">
            <a:avLst/>
          </a:prstGeom>
          <a:solidFill>
            <a:srgbClr val="FFF4E0"/>
          </a:solidFill>
          <a:ln w="6350">
            <a:solidFill>
              <a:srgbClr val="F1D9A8"/>
            </a:solidFill>
            <a:prstDash val="solid"/>
          </a:ln>
        </p:spPr>
      </p:sp>
      <p:sp>
        <p:nvSpPr>
          <p:cNvPr id="41" name="Shape 39"/>
          <p:cNvSpPr/>
          <p:nvPr/>
        </p:nvSpPr>
        <p:spPr>
          <a:xfrm>
            <a:off x="411480" y="5833872"/>
            <a:ext cx="82296" cy="530352"/>
          </a:xfrm>
          <a:prstGeom prst="rect">
            <a:avLst/>
          </a:prstGeom>
          <a:solidFill>
            <a:srgbClr val="E39A2F"/>
          </a:solidFill>
          <a:ln w="12700">
            <a:solidFill>
              <a:srgbClr val="E39A2F"/>
            </a:solidFill>
            <a:prstDash val="solid"/>
          </a:ln>
        </p:spPr>
      </p:sp>
      <p:sp>
        <p:nvSpPr>
          <p:cNvPr id="42" name="Text 4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Suggest why an airline pilot receives more background radiation each year than an office worker.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How ionising radiation damages cells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P5.2.1 context • ionisation inside the body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P5.2  |  12</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radiation ionises atoms in a cell and can break DNA</a:t>
            </a:r>
            <a:endParaRPr lang="en-US" sz="1000" dirty="0"/>
          </a:p>
        </p:txBody>
      </p:sp>
      <p:sp>
        <p:nvSpPr>
          <p:cNvPr id="10" name="Shape 8"/>
          <p:cNvSpPr/>
          <p:nvPr/>
        </p:nvSpPr>
        <p:spPr>
          <a:xfrm>
            <a:off x="685800" y="1600200"/>
            <a:ext cx="2743200" cy="2377440"/>
          </a:xfrm>
          <a:prstGeom prst="ellipse">
            <a:avLst/>
          </a:prstGeom>
          <a:solidFill>
            <a:srgbClr val="FBEFE3"/>
          </a:solidFill>
          <a:ln w="19050">
            <a:solidFill>
              <a:srgbClr val="C99A5B"/>
            </a:solidFill>
            <a:prstDash val="solid"/>
          </a:ln>
        </p:spPr>
      </p:sp>
      <p:sp>
        <p:nvSpPr>
          <p:cNvPr id="11" name="Shape 9"/>
          <p:cNvSpPr/>
          <p:nvPr/>
        </p:nvSpPr>
        <p:spPr>
          <a:xfrm>
            <a:off x="1234440" y="2103120"/>
            <a:ext cx="1645920" cy="1371600"/>
          </a:xfrm>
          <a:prstGeom prst="ellipse">
            <a:avLst/>
          </a:prstGeom>
          <a:solidFill>
            <a:srgbClr val="EAD7F0"/>
          </a:solidFill>
          <a:ln w="15875">
            <a:solidFill>
              <a:srgbClr val="8A5BA0"/>
            </a:solidFill>
            <a:prstDash val="solid"/>
          </a:ln>
        </p:spPr>
      </p:sp>
      <p:sp>
        <p:nvSpPr>
          <p:cNvPr id="12" name="Text 10"/>
          <p:cNvSpPr/>
          <p:nvPr/>
        </p:nvSpPr>
        <p:spPr>
          <a:xfrm>
            <a:off x="731520" y="1325880"/>
            <a:ext cx="1280160" cy="256032"/>
          </a:xfrm>
          <a:prstGeom prst="rect">
            <a:avLst/>
          </a:prstGeom>
          <a:noFill/>
          <a:ln/>
        </p:spPr>
        <p:txBody>
          <a:bodyPr wrap="square" lIns="0" tIns="0" rIns="0" bIns="0" rtlCol="0" anchor="ctr"/>
          <a:lstStyle/>
          <a:p>
            <a:pPr algn="l" indent="0" marL="0">
              <a:buNone/>
            </a:pPr>
            <a:r>
              <a:rPr lang="en-US" sz="1050" b="1" dirty="0">
                <a:solidFill>
                  <a:srgbClr val="8A6A3A"/>
                </a:solidFill>
                <a:latin typeface="Calibri" pitchFamily="34" charset="0"/>
                <a:ea typeface="Calibri" pitchFamily="34" charset="-122"/>
                <a:cs typeface="Calibri" pitchFamily="34" charset="-120"/>
              </a:rPr>
              <a:t>cell</a:t>
            </a:r>
            <a:endParaRPr lang="en-US" sz="1050" dirty="0"/>
          </a:p>
        </p:txBody>
      </p:sp>
      <p:sp>
        <p:nvSpPr>
          <p:cNvPr id="13" name="Text 11"/>
          <p:cNvSpPr/>
          <p:nvPr/>
        </p:nvSpPr>
        <p:spPr>
          <a:xfrm>
            <a:off x="2651760" y="3520440"/>
            <a:ext cx="1280160" cy="256032"/>
          </a:xfrm>
          <a:prstGeom prst="rect">
            <a:avLst/>
          </a:prstGeom>
          <a:noFill/>
          <a:ln/>
        </p:spPr>
        <p:txBody>
          <a:bodyPr wrap="square" lIns="0" tIns="0" rIns="0" bIns="0" rtlCol="0" anchor="ctr"/>
          <a:lstStyle/>
          <a:p>
            <a:pPr algn="l" indent="0" marL="0">
              <a:buNone/>
            </a:pPr>
            <a:r>
              <a:rPr lang="en-US" sz="1050" b="1" dirty="0">
                <a:solidFill>
                  <a:srgbClr val="8A5BA0"/>
                </a:solidFill>
                <a:latin typeface="Calibri" pitchFamily="34" charset="0"/>
                <a:ea typeface="Calibri" pitchFamily="34" charset="-122"/>
                <a:cs typeface="Calibri" pitchFamily="34" charset="-120"/>
              </a:rPr>
              <a:t>nucleus</a:t>
            </a:r>
            <a:endParaRPr lang="en-US" sz="1050" dirty="0"/>
          </a:p>
        </p:txBody>
      </p:sp>
      <p:sp>
        <p:nvSpPr>
          <p:cNvPr id="14" name="Shape 12"/>
          <p:cNvSpPr/>
          <p:nvPr/>
        </p:nvSpPr>
        <p:spPr>
          <a:xfrm>
            <a:off x="1417320" y="2606040"/>
            <a:ext cx="53340" cy="39265"/>
          </a:xfrm>
          <a:prstGeom prst="line">
            <a:avLst/>
          </a:prstGeom>
          <a:noFill/>
          <a:ln w="25400">
            <a:solidFill>
              <a:srgbClr val="2E5BD8"/>
            </a:solidFill>
            <a:prstDash val="solid"/>
          </a:ln>
        </p:spPr>
      </p:sp>
      <p:sp>
        <p:nvSpPr>
          <p:cNvPr id="15" name="Shape 13"/>
          <p:cNvSpPr/>
          <p:nvPr/>
        </p:nvSpPr>
        <p:spPr>
          <a:xfrm flipV="1">
            <a:off x="1417320" y="2932535"/>
            <a:ext cx="53340" cy="39265"/>
          </a:xfrm>
          <a:prstGeom prst="line">
            <a:avLst/>
          </a:prstGeom>
          <a:noFill/>
          <a:ln w="25400">
            <a:solidFill>
              <a:srgbClr val="C8414C"/>
            </a:solidFill>
            <a:prstDash val="solid"/>
          </a:ln>
        </p:spPr>
      </p:sp>
      <p:sp>
        <p:nvSpPr>
          <p:cNvPr id="16" name="Shape 14"/>
          <p:cNvSpPr/>
          <p:nvPr/>
        </p:nvSpPr>
        <p:spPr>
          <a:xfrm>
            <a:off x="1470660" y="2645305"/>
            <a:ext cx="53340" cy="33697"/>
          </a:xfrm>
          <a:prstGeom prst="line">
            <a:avLst/>
          </a:prstGeom>
          <a:noFill/>
          <a:ln w="25400">
            <a:solidFill>
              <a:srgbClr val="2E5BD8"/>
            </a:solidFill>
            <a:prstDash val="solid"/>
          </a:ln>
        </p:spPr>
      </p:sp>
      <p:sp>
        <p:nvSpPr>
          <p:cNvPr id="17" name="Shape 15"/>
          <p:cNvSpPr/>
          <p:nvPr/>
        </p:nvSpPr>
        <p:spPr>
          <a:xfrm flipV="1">
            <a:off x="1470660" y="2898838"/>
            <a:ext cx="53340" cy="33697"/>
          </a:xfrm>
          <a:prstGeom prst="line">
            <a:avLst/>
          </a:prstGeom>
          <a:noFill/>
          <a:ln w="25400">
            <a:solidFill>
              <a:srgbClr val="C8414C"/>
            </a:solidFill>
            <a:prstDash val="solid"/>
          </a:ln>
        </p:spPr>
      </p:sp>
      <p:sp>
        <p:nvSpPr>
          <p:cNvPr id="18" name="Shape 16"/>
          <p:cNvSpPr/>
          <p:nvPr/>
        </p:nvSpPr>
        <p:spPr>
          <a:xfrm>
            <a:off x="1524000" y="2679002"/>
            <a:ext cx="91" cy="219837"/>
          </a:xfrm>
          <a:prstGeom prst="line">
            <a:avLst/>
          </a:prstGeom>
          <a:noFill/>
          <a:ln w="9525">
            <a:solidFill>
              <a:srgbClr val="9AA3B5"/>
            </a:solidFill>
            <a:prstDash val="solid"/>
          </a:ln>
        </p:spPr>
      </p:sp>
      <p:sp>
        <p:nvSpPr>
          <p:cNvPr id="19" name="Shape 17"/>
          <p:cNvSpPr/>
          <p:nvPr/>
        </p:nvSpPr>
        <p:spPr>
          <a:xfrm>
            <a:off x="1524000" y="2679002"/>
            <a:ext cx="53340" cy="50431"/>
          </a:xfrm>
          <a:prstGeom prst="line">
            <a:avLst/>
          </a:prstGeom>
          <a:noFill/>
          <a:ln w="25400">
            <a:solidFill>
              <a:srgbClr val="2E5BD8"/>
            </a:solidFill>
            <a:prstDash val="solid"/>
          </a:ln>
        </p:spPr>
      </p:sp>
      <p:sp>
        <p:nvSpPr>
          <p:cNvPr id="20" name="Shape 18"/>
          <p:cNvSpPr/>
          <p:nvPr/>
        </p:nvSpPr>
        <p:spPr>
          <a:xfrm flipV="1">
            <a:off x="1524000" y="2848407"/>
            <a:ext cx="53340" cy="50431"/>
          </a:xfrm>
          <a:prstGeom prst="line">
            <a:avLst/>
          </a:prstGeom>
          <a:noFill/>
          <a:ln w="25400">
            <a:solidFill>
              <a:srgbClr val="C8414C"/>
            </a:solidFill>
            <a:prstDash val="solid"/>
          </a:ln>
        </p:spPr>
      </p:sp>
      <p:sp>
        <p:nvSpPr>
          <p:cNvPr id="21" name="Shape 19"/>
          <p:cNvSpPr/>
          <p:nvPr/>
        </p:nvSpPr>
        <p:spPr>
          <a:xfrm>
            <a:off x="1577340" y="2729433"/>
            <a:ext cx="53340" cy="59487"/>
          </a:xfrm>
          <a:prstGeom prst="line">
            <a:avLst/>
          </a:prstGeom>
          <a:noFill/>
          <a:ln w="25400">
            <a:solidFill>
              <a:srgbClr val="2E5BD8"/>
            </a:solidFill>
            <a:prstDash val="solid"/>
          </a:ln>
        </p:spPr>
      </p:sp>
      <p:sp>
        <p:nvSpPr>
          <p:cNvPr id="22" name="Shape 20"/>
          <p:cNvSpPr/>
          <p:nvPr/>
        </p:nvSpPr>
        <p:spPr>
          <a:xfrm flipV="1">
            <a:off x="1577340" y="2788920"/>
            <a:ext cx="53340" cy="59487"/>
          </a:xfrm>
          <a:prstGeom prst="line">
            <a:avLst/>
          </a:prstGeom>
          <a:noFill/>
          <a:ln w="25400">
            <a:solidFill>
              <a:srgbClr val="C8414C"/>
            </a:solidFill>
            <a:prstDash val="solid"/>
          </a:ln>
        </p:spPr>
      </p:sp>
      <p:sp>
        <p:nvSpPr>
          <p:cNvPr id="23" name="Shape 21"/>
          <p:cNvSpPr/>
          <p:nvPr/>
        </p:nvSpPr>
        <p:spPr>
          <a:xfrm>
            <a:off x="1630680" y="2788920"/>
            <a:ext cx="91" cy="91"/>
          </a:xfrm>
          <a:prstGeom prst="line">
            <a:avLst/>
          </a:prstGeom>
          <a:noFill/>
          <a:ln w="9525">
            <a:solidFill>
              <a:srgbClr val="9AA3B5"/>
            </a:solidFill>
            <a:prstDash val="solid"/>
          </a:ln>
        </p:spPr>
      </p:sp>
      <p:sp>
        <p:nvSpPr>
          <p:cNvPr id="24" name="Shape 22"/>
          <p:cNvSpPr/>
          <p:nvPr/>
        </p:nvSpPr>
        <p:spPr>
          <a:xfrm>
            <a:off x="1630680" y="2788920"/>
            <a:ext cx="53340" cy="59487"/>
          </a:xfrm>
          <a:prstGeom prst="line">
            <a:avLst/>
          </a:prstGeom>
          <a:noFill/>
          <a:ln w="25400">
            <a:solidFill>
              <a:srgbClr val="2E5BD8"/>
            </a:solidFill>
            <a:prstDash val="solid"/>
          </a:ln>
        </p:spPr>
      </p:sp>
      <p:sp>
        <p:nvSpPr>
          <p:cNvPr id="25" name="Shape 23"/>
          <p:cNvSpPr/>
          <p:nvPr/>
        </p:nvSpPr>
        <p:spPr>
          <a:xfrm flipV="1">
            <a:off x="1630680" y="2729433"/>
            <a:ext cx="53340" cy="59487"/>
          </a:xfrm>
          <a:prstGeom prst="line">
            <a:avLst/>
          </a:prstGeom>
          <a:noFill/>
          <a:ln w="25400">
            <a:solidFill>
              <a:srgbClr val="C8414C"/>
            </a:solidFill>
            <a:prstDash val="solid"/>
          </a:ln>
        </p:spPr>
      </p:sp>
      <p:sp>
        <p:nvSpPr>
          <p:cNvPr id="26" name="Shape 24"/>
          <p:cNvSpPr/>
          <p:nvPr/>
        </p:nvSpPr>
        <p:spPr>
          <a:xfrm>
            <a:off x="1684020" y="2848407"/>
            <a:ext cx="53340" cy="50431"/>
          </a:xfrm>
          <a:prstGeom prst="line">
            <a:avLst/>
          </a:prstGeom>
          <a:noFill/>
          <a:ln w="25400">
            <a:solidFill>
              <a:srgbClr val="2E5BD8"/>
            </a:solidFill>
            <a:prstDash val="solid"/>
          </a:ln>
        </p:spPr>
      </p:sp>
      <p:sp>
        <p:nvSpPr>
          <p:cNvPr id="27" name="Shape 25"/>
          <p:cNvSpPr/>
          <p:nvPr/>
        </p:nvSpPr>
        <p:spPr>
          <a:xfrm flipV="1">
            <a:off x="1684020" y="2679002"/>
            <a:ext cx="53340" cy="50431"/>
          </a:xfrm>
          <a:prstGeom prst="line">
            <a:avLst/>
          </a:prstGeom>
          <a:noFill/>
          <a:ln w="25400">
            <a:solidFill>
              <a:srgbClr val="C8414C"/>
            </a:solidFill>
            <a:prstDash val="solid"/>
          </a:ln>
        </p:spPr>
      </p:sp>
      <p:sp>
        <p:nvSpPr>
          <p:cNvPr id="28" name="Shape 26"/>
          <p:cNvSpPr/>
          <p:nvPr/>
        </p:nvSpPr>
        <p:spPr>
          <a:xfrm flipV="1">
            <a:off x="1737360" y="2679002"/>
            <a:ext cx="91" cy="219837"/>
          </a:xfrm>
          <a:prstGeom prst="line">
            <a:avLst/>
          </a:prstGeom>
          <a:noFill/>
          <a:ln w="9525">
            <a:solidFill>
              <a:srgbClr val="9AA3B5"/>
            </a:solidFill>
            <a:prstDash val="solid"/>
          </a:ln>
        </p:spPr>
      </p:sp>
      <p:sp>
        <p:nvSpPr>
          <p:cNvPr id="29" name="Shape 27"/>
          <p:cNvSpPr/>
          <p:nvPr/>
        </p:nvSpPr>
        <p:spPr>
          <a:xfrm>
            <a:off x="1737360" y="2898838"/>
            <a:ext cx="53340" cy="33697"/>
          </a:xfrm>
          <a:prstGeom prst="line">
            <a:avLst/>
          </a:prstGeom>
          <a:noFill/>
          <a:ln w="25400">
            <a:solidFill>
              <a:srgbClr val="2E5BD8"/>
            </a:solidFill>
            <a:prstDash val="solid"/>
          </a:ln>
        </p:spPr>
      </p:sp>
      <p:sp>
        <p:nvSpPr>
          <p:cNvPr id="30" name="Shape 28"/>
          <p:cNvSpPr/>
          <p:nvPr/>
        </p:nvSpPr>
        <p:spPr>
          <a:xfrm flipV="1">
            <a:off x="1737360" y="2645305"/>
            <a:ext cx="53340" cy="33697"/>
          </a:xfrm>
          <a:prstGeom prst="line">
            <a:avLst/>
          </a:prstGeom>
          <a:noFill/>
          <a:ln w="25400">
            <a:solidFill>
              <a:srgbClr val="C8414C"/>
            </a:solidFill>
            <a:prstDash val="solid"/>
          </a:ln>
        </p:spPr>
      </p:sp>
      <p:sp>
        <p:nvSpPr>
          <p:cNvPr id="31" name="Shape 29"/>
          <p:cNvSpPr/>
          <p:nvPr/>
        </p:nvSpPr>
        <p:spPr>
          <a:xfrm>
            <a:off x="1790700" y="2932535"/>
            <a:ext cx="53340" cy="11833"/>
          </a:xfrm>
          <a:prstGeom prst="line">
            <a:avLst/>
          </a:prstGeom>
          <a:noFill/>
          <a:ln w="25400">
            <a:solidFill>
              <a:srgbClr val="2E5BD8"/>
            </a:solidFill>
            <a:prstDash val="solid"/>
          </a:ln>
        </p:spPr>
      </p:sp>
      <p:sp>
        <p:nvSpPr>
          <p:cNvPr id="32" name="Shape 30"/>
          <p:cNvSpPr/>
          <p:nvPr/>
        </p:nvSpPr>
        <p:spPr>
          <a:xfrm flipV="1">
            <a:off x="1790700" y="2633472"/>
            <a:ext cx="53340" cy="11833"/>
          </a:xfrm>
          <a:prstGeom prst="line">
            <a:avLst/>
          </a:prstGeom>
          <a:noFill/>
          <a:ln w="25400">
            <a:solidFill>
              <a:srgbClr val="C8414C"/>
            </a:solidFill>
            <a:prstDash val="solid"/>
          </a:ln>
        </p:spPr>
      </p:sp>
      <p:sp>
        <p:nvSpPr>
          <p:cNvPr id="33" name="Shape 31"/>
          <p:cNvSpPr/>
          <p:nvPr/>
        </p:nvSpPr>
        <p:spPr>
          <a:xfrm flipV="1">
            <a:off x="1844040" y="2633472"/>
            <a:ext cx="91" cy="310896"/>
          </a:xfrm>
          <a:prstGeom prst="line">
            <a:avLst/>
          </a:prstGeom>
          <a:noFill/>
          <a:ln w="9525">
            <a:solidFill>
              <a:srgbClr val="9AA3B5"/>
            </a:solidFill>
            <a:prstDash val="solid"/>
          </a:ln>
        </p:spPr>
      </p:sp>
      <p:sp>
        <p:nvSpPr>
          <p:cNvPr id="34" name="Shape 32"/>
          <p:cNvSpPr/>
          <p:nvPr/>
        </p:nvSpPr>
        <p:spPr>
          <a:xfrm flipV="1">
            <a:off x="1844040" y="2932535"/>
            <a:ext cx="53340" cy="11833"/>
          </a:xfrm>
          <a:prstGeom prst="line">
            <a:avLst/>
          </a:prstGeom>
          <a:noFill/>
          <a:ln w="25400">
            <a:solidFill>
              <a:srgbClr val="2E5BD8"/>
            </a:solidFill>
            <a:prstDash val="solid"/>
          </a:ln>
        </p:spPr>
      </p:sp>
      <p:sp>
        <p:nvSpPr>
          <p:cNvPr id="35" name="Shape 33"/>
          <p:cNvSpPr/>
          <p:nvPr/>
        </p:nvSpPr>
        <p:spPr>
          <a:xfrm>
            <a:off x="1844040" y="2633472"/>
            <a:ext cx="53340" cy="11833"/>
          </a:xfrm>
          <a:prstGeom prst="line">
            <a:avLst/>
          </a:prstGeom>
          <a:noFill/>
          <a:ln w="25400">
            <a:solidFill>
              <a:srgbClr val="C8414C"/>
            </a:solidFill>
            <a:prstDash val="solid"/>
          </a:ln>
        </p:spPr>
      </p:sp>
      <p:sp>
        <p:nvSpPr>
          <p:cNvPr id="36" name="Shape 34"/>
          <p:cNvSpPr/>
          <p:nvPr/>
        </p:nvSpPr>
        <p:spPr>
          <a:xfrm flipV="1">
            <a:off x="1897380" y="2898838"/>
            <a:ext cx="53340" cy="33697"/>
          </a:xfrm>
          <a:prstGeom prst="line">
            <a:avLst/>
          </a:prstGeom>
          <a:noFill/>
          <a:ln w="25400">
            <a:solidFill>
              <a:srgbClr val="2E5BD8"/>
            </a:solidFill>
            <a:prstDash val="solid"/>
          </a:ln>
        </p:spPr>
      </p:sp>
      <p:sp>
        <p:nvSpPr>
          <p:cNvPr id="37" name="Shape 35"/>
          <p:cNvSpPr/>
          <p:nvPr/>
        </p:nvSpPr>
        <p:spPr>
          <a:xfrm>
            <a:off x="1897380" y="2645305"/>
            <a:ext cx="53340" cy="33697"/>
          </a:xfrm>
          <a:prstGeom prst="line">
            <a:avLst/>
          </a:prstGeom>
          <a:noFill/>
          <a:ln w="25400">
            <a:solidFill>
              <a:srgbClr val="C8414C"/>
            </a:solidFill>
            <a:prstDash val="solid"/>
          </a:ln>
        </p:spPr>
      </p:sp>
      <p:sp>
        <p:nvSpPr>
          <p:cNvPr id="38" name="Shape 36"/>
          <p:cNvSpPr/>
          <p:nvPr/>
        </p:nvSpPr>
        <p:spPr>
          <a:xfrm flipV="1">
            <a:off x="1950720" y="2679002"/>
            <a:ext cx="91" cy="219837"/>
          </a:xfrm>
          <a:prstGeom prst="line">
            <a:avLst/>
          </a:prstGeom>
          <a:noFill/>
          <a:ln w="9525">
            <a:solidFill>
              <a:srgbClr val="9AA3B5"/>
            </a:solidFill>
            <a:prstDash val="solid"/>
          </a:ln>
        </p:spPr>
      </p:sp>
      <p:sp>
        <p:nvSpPr>
          <p:cNvPr id="39" name="Shape 37"/>
          <p:cNvSpPr/>
          <p:nvPr/>
        </p:nvSpPr>
        <p:spPr>
          <a:xfrm flipV="1">
            <a:off x="1950720" y="2848407"/>
            <a:ext cx="53340" cy="50431"/>
          </a:xfrm>
          <a:prstGeom prst="line">
            <a:avLst/>
          </a:prstGeom>
          <a:noFill/>
          <a:ln w="25400">
            <a:solidFill>
              <a:srgbClr val="2E5BD8"/>
            </a:solidFill>
            <a:prstDash val="solid"/>
          </a:ln>
        </p:spPr>
      </p:sp>
      <p:sp>
        <p:nvSpPr>
          <p:cNvPr id="40" name="Shape 38"/>
          <p:cNvSpPr/>
          <p:nvPr/>
        </p:nvSpPr>
        <p:spPr>
          <a:xfrm>
            <a:off x="1950720" y="2679002"/>
            <a:ext cx="53340" cy="50431"/>
          </a:xfrm>
          <a:prstGeom prst="line">
            <a:avLst/>
          </a:prstGeom>
          <a:noFill/>
          <a:ln w="25400">
            <a:solidFill>
              <a:srgbClr val="C8414C"/>
            </a:solidFill>
            <a:prstDash val="solid"/>
          </a:ln>
        </p:spPr>
      </p:sp>
      <p:sp>
        <p:nvSpPr>
          <p:cNvPr id="41" name="Shape 39"/>
          <p:cNvSpPr/>
          <p:nvPr/>
        </p:nvSpPr>
        <p:spPr>
          <a:xfrm flipV="1">
            <a:off x="2004060" y="2788920"/>
            <a:ext cx="53340" cy="59487"/>
          </a:xfrm>
          <a:prstGeom prst="line">
            <a:avLst/>
          </a:prstGeom>
          <a:noFill/>
          <a:ln w="25400">
            <a:solidFill>
              <a:srgbClr val="2E5BD8"/>
            </a:solidFill>
            <a:prstDash val="solid"/>
          </a:ln>
        </p:spPr>
      </p:sp>
      <p:sp>
        <p:nvSpPr>
          <p:cNvPr id="42" name="Shape 40"/>
          <p:cNvSpPr/>
          <p:nvPr/>
        </p:nvSpPr>
        <p:spPr>
          <a:xfrm>
            <a:off x="2004060" y="2729433"/>
            <a:ext cx="53340" cy="59487"/>
          </a:xfrm>
          <a:prstGeom prst="line">
            <a:avLst/>
          </a:prstGeom>
          <a:noFill/>
          <a:ln w="25400">
            <a:solidFill>
              <a:srgbClr val="C8414C"/>
            </a:solidFill>
            <a:prstDash val="solid"/>
          </a:ln>
        </p:spPr>
      </p:sp>
      <p:sp>
        <p:nvSpPr>
          <p:cNvPr id="43" name="Shape 41"/>
          <p:cNvSpPr/>
          <p:nvPr/>
        </p:nvSpPr>
        <p:spPr>
          <a:xfrm flipV="1">
            <a:off x="2164080" y="2645305"/>
            <a:ext cx="53340" cy="33697"/>
          </a:xfrm>
          <a:prstGeom prst="line">
            <a:avLst/>
          </a:prstGeom>
          <a:noFill/>
          <a:ln w="25400">
            <a:solidFill>
              <a:srgbClr val="2E5BD8"/>
            </a:solidFill>
            <a:prstDash val="solid"/>
          </a:ln>
        </p:spPr>
      </p:sp>
      <p:sp>
        <p:nvSpPr>
          <p:cNvPr id="44" name="Shape 42"/>
          <p:cNvSpPr/>
          <p:nvPr/>
        </p:nvSpPr>
        <p:spPr>
          <a:xfrm>
            <a:off x="2164080" y="2898838"/>
            <a:ext cx="53340" cy="33697"/>
          </a:xfrm>
          <a:prstGeom prst="line">
            <a:avLst/>
          </a:prstGeom>
          <a:noFill/>
          <a:ln w="25400">
            <a:solidFill>
              <a:srgbClr val="C8414C"/>
            </a:solidFill>
            <a:prstDash val="solid"/>
          </a:ln>
        </p:spPr>
      </p:sp>
      <p:sp>
        <p:nvSpPr>
          <p:cNvPr id="45" name="Shape 43"/>
          <p:cNvSpPr/>
          <p:nvPr/>
        </p:nvSpPr>
        <p:spPr>
          <a:xfrm flipV="1">
            <a:off x="2217420" y="2633472"/>
            <a:ext cx="53340" cy="11833"/>
          </a:xfrm>
          <a:prstGeom prst="line">
            <a:avLst/>
          </a:prstGeom>
          <a:noFill/>
          <a:ln w="25400">
            <a:solidFill>
              <a:srgbClr val="2E5BD8"/>
            </a:solidFill>
            <a:prstDash val="solid"/>
          </a:ln>
        </p:spPr>
      </p:sp>
      <p:sp>
        <p:nvSpPr>
          <p:cNvPr id="46" name="Shape 44"/>
          <p:cNvSpPr/>
          <p:nvPr/>
        </p:nvSpPr>
        <p:spPr>
          <a:xfrm>
            <a:off x="2217420" y="2932535"/>
            <a:ext cx="53340" cy="11833"/>
          </a:xfrm>
          <a:prstGeom prst="line">
            <a:avLst/>
          </a:prstGeom>
          <a:noFill/>
          <a:ln w="25400">
            <a:solidFill>
              <a:srgbClr val="C8414C"/>
            </a:solidFill>
            <a:prstDash val="solid"/>
          </a:ln>
        </p:spPr>
      </p:sp>
      <p:sp>
        <p:nvSpPr>
          <p:cNvPr id="47" name="Shape 45"/>
          <p:cNvSpPr/>
          <p:nvPr/>
        </p:nvSpPr>
        <p:spPr>
          <a:xfrm>
            <a:off x="2270760" y="2633472"/>
            <a:ext cx="91" cy="310896"/>
          </a:xfrm>
          <a:prstGeom prst="line">
            <a:avLst/>
          </a:prstGeom>
          <a:noFill/>
          <a:ln w="9525">
            <a:solidFill>
              <a:srgbClr val="9AA3B5"/>
            </a:solidFill>
            <a:prstDash val="solid"/>
          </a:ln>
        </p:spPr>
      </p:sp>
      <p:sp>
        <p:nvSpPr>
          <p:cNvPr id="48" name="Shape 46"/>
          <p:cNvSpPr/>
          <p:nvPr/>
        </p:nvSpPr>
        <p:spPr>
          <a:xfrm>
            <a:off x="2270760" y="2633472"/>
            <a:ext cx="53340" cy="11833"/>
          </a:xfrm>
          <a:prstGeom prst="line">
            <a:avLst/>
          </a:prstGeom>
          <a:noFill/>
          <a:ln w="25400">
            <a:solidFill>
              <a:srgbClr val="2E5BD8"/>
            </a:solidFill>
            <a:prstDash val="solid"/>
          </a:ln>
        </p:spPr>
      </p:sp>
      <p:sp>
        <p:nvSpPr>
          <p:cNvPr id="49" name="Shape 47"/>
          <p:cNvSpPr/>
          <p:nvPr/>
        </p:nvSpPr>
        <p:spPr>
          <a:xfrm flipV="1">
            <a:off x="2270760" y="2932535"/>
            <a:ext cx="53340" cy="11833"/>
          </a:xfrm>
          <a:prstGeom prst="line">
            <a:avLst/>
          </a:prstGeom>
          <a:noFill/>
          <a:ln w="25400">
            <a:solidFill>
              <a:srgbClr val="C8414C"/>
            </a:solidFill>
            <a:prstDash val="solid"/>
          </a:ln>
        </p:spPr>
      </p:sp>
      <p:sp>
        <p:nvSpPr>
          <p:cNvPr id="50" name="Shape 48"/>
          <p:cNvSpPr/>
          <p:nvPr/>
        </p:nvSpPr>
        <p:spPr>
          <a:xfrm>
            <a:off x="2324100" y="2645305"/>
            <a:ext cx="53340" cy="33697"/>
          </a:xfrm>
          <a:prstGeom prst="line">
            <a:avLst/>
          </a:prstGeom>
          <a:noFill/>
          <a:ln w="25400">
            <a:solidFill>
              <a:srgbClr val="2E5BD8"/>
            </a:solidFill>
            <a:prstDash val="solid"/>
          </a:ln>
        </p:spPr>
      </p:sp>
      <p:sp>
        <p:nvSpPr>
          <p:cNvPr id="51" name="Shape 49"/>
          <p:cNvSpPr/>
          <p:nvPr/>
        </p:nvSpPr>
        <p:spPr>
          <a:xfrm flipV="1">
            <a:off x="2324100" y="2898838"/>
            <a:ext cx="53340" cy="33697"/>
          </a:xfrm>
          <a:prstGeom prst="line">
            <a:avLst/>
          </a:prstGeom>
          <a:noFill/>
          <a:ln w="25400">
            <a:solidFill>
              <a:srgbClr val="C8414C"/>
            </a:solidFill>
            <a:prstDash val="solid"/>
          </a:ln>
        </p:spPr>
      </p:sp>
      <p:sp>
        <p:nvSpPr>
          <p:cNvPr id="52" name="Shape 50"/>
          <p:cNvSpPr/>
          <p:nvPr/>
        </p:nvSpPr>
        <p:spPr>
          <a:xfrm>
            <a:off x="2377440" y="2679002"/>
            <a:ext cx="91" cy="219837"/>
          </a:xfrm>
          <a:prstGeom prst="line">
            <a:avLst/>
          </a:prstGeom>
          <a:noFill/>
          <a:ln w="9525">
            <a:solidFill>
              <a:srgbClr val="9AA3B5"/>
            </a:solidFill>
            <a:prstDash val="solid"/>
          </a:ln>
        </p:spPr>
      </p:sp>
      <p:sp>
        <p:nvSpPr>
          <p:cNvPr id="53" name="Shape 51"/>
          <p:cNvSpPr/>
          <p:nvPr/>
        </p:nvSpPr>
        <p:spPr>
          <a:xfrm>
            <a:off x="2377440" y="2679002"/>
            <a:ext cx="53340" cy="50431"/>
          </a:xfrm>
          <a:prstGeom prst="line">
            <a:avLst/>
          </a:prstGeom>
          <a:noFill/>
          <a:ln w="25400">
            <a:solidFill>
              <a:srgbClr val="2E5BD8"/>
            </a:solidFill>
            <a:prstDash val="solid"/>
          </a:ln>
        </p:spPr>
      </p:sp>
      <p:sp>
        <p:nvSpPr>
          <p:cNvPr id="54" name="Shape 52"/>
          <p:cNvSpPr/>
          <p:nvPr/>
        </p:nvSpPr>
        <p:spPr>
          <a:xfrm flipV="1">
            <a:off x="2377440" y="2848407"/>
            <a:ext cx="53340" cy="50431"/>
          </a:xfrm>
          <a:prstGeom prst="line">
            <a:avLst/>
          </a:prstGeom>
          <a:noFill/>
          <a:ln w="25400">
            <a:solidFill>
              <a:srgbClr val="C8414C"/>
            </a:solidFill>
            <a:prstDash val="solid"/>
          </a:ln>
        </p:spPr>
      </p:sp>
      <p:sp>
        <p:nvSpPr>
          <p:cNvPr id="55" name="Shape 53"/>
          <p:cNvSpPr/>
          <p:nvPr/>
        </p:nvSpPr>
        <p:spPr>
          <a:xfrm>
            <a:off x="2430780" y="2729433"/>
            <a:ext cx="53340" cy="59487"/>
          </a:xfrm>
          <a:prstGeom prst="line">
            <a:avLst/>
          </a:prstGeom>
          <a:noFill/>
          <a:ln w="25400">
            <a:solidFill>
              <a:srgbClr val="2E5BD8"/>
            </a:solidFill>
            <a:prstDash val="solid"/>
          </a:ln>
        </p:spPr>
      </p:sp>
      <p:sp>
        <p:nvSpPr>
          <p:cNvPr id="56" name="Shape 54"/>
          <p:cNvSpPr/>
          <p:nvPr/>
        </p:nvSpPr>
        <p:spPr>
          <a:xfrm flipV="1">
            <a:off x="2430780" y="2788920"/>
            <a:ext cx="53340" cy="59487"/>
          </a:xfrm>
          <a:prstGeom prst="line">
            <a:avLst/>
          </a:prstGeom>
          <a:noFill/>
          <a:ln w="25400">
            <a:solidFill>
              <a:srgbClr val="C8414C"/>
            </a:solidFill>
            <a:prstDash val="solid"/>
          </a:ln>
        </p:spPr>
      </p:sp>
      <p:sp>
        <p:nvSpPr>
          <p:cNvPr id="57" name="Shape 55"/>
          <p:cNvSpPr/>
          <p:nvPr/>
        </p:nvSpPr>
        <p:spPr>
          <a:xfrm>
            <a:off x="2484120" y="2788920"/>
            <a:ext cx="91" cy="91"/>
          </a:xfrm>
          <a:prstGeom prst="line">
            <a:avLst/>
          </a:prstGeom>
          <a:noFill/>
          <a:ln w="9525">
            <a:solidFill>
              <a:srgbClr val="9AA3B5"/>
            </a:solidFill>
            <a:prstDash val="solid"/>
          </a:ln>
        </p:spPr>
      </p:sp>
      <p:sp>
        <p:nvSpPr>
          <p:cNvPr id="58" name="Shape 56"/>
          <p:cNvSpPr/>
          <p:nvPr/>
        </p:nvSpPr>
        <p:spPr>
          <a:xfrm>
            <a:off x="2484120" y="2788920"/>
            <a:ext cx="53340" cy="59487"/>
          </a:xfrm>
          <a:prstGeom prst="line">
            <a:avLst/>
          </a:prstGeom>
          <a:noFill/>
          <a:ln w="25400">
            <a:solidFill>
              <a:srgbClr val="2E5BD8"/>
            </a:solidFill>
            <a:prstDash val="solid"/>
          </a:ln>
        </p:spPr>
      </p:sp>
      <p:sp>
        <p:nvSpPr>
          <p:cNvPr id="59" name="Shape 57"/>
          <p:cNvSpPr/>
          <p:nvPr/>
        </p:nvSpPr>
        <p:spPr>
          <a:xfrm flipV="1">
            <a:off x="2484120" y="2729433"/>
            <a:ext cx="53340" cy="59487"/>
          </a:xfrm>
          <a:prstGeom prst="line">
            <a:avLst/>
          </a:prstGeom>
          <a:noFill/>
          <a:ln w="25400">
            <a:solidFill>
              <a:srgbClr val="C8414C"/>
            </a:solidFill>
            <a:prstDash val="solid"/>
          </a:ln>
        </p:spPr>
      </p:sp>
      <p:sp>
        <p:nvSpPr>
          <p:cNvPr id="60" name="Shape 58"/>
          <p:cNvSpPr/>
          <p:nvPr/>
        </p:nvSpPr>
        <p:spPr>
          <a:xfrm>
            <a:off x="2537460" y="2848407"/>
            <a:ext cx="53340" cy="50431"/>
          </a:xfrm>
          <a:prstGeom prst="line">
            <a:avLst/>
          </a:prstGeom>
          <a:noFill/>
          <a:ln w="25400">
            <a:solidFill>
              <a:srgbClr val="2E5BD8"/>
            </a:solidFill>
            <a:prstDash val="solid"/>
          </a:ln>
        </p:spPr>
      </p:sp>
      <p:sp>
        <p:nvSpPr>
          <p:cNvPr id="61" name="Shape 59"/>
          <p:cNvSpPr/>
          <p:nvPr/>
        </p:nvSpPr>
        <p:spPr>
          <a:xfrm flipV="1">
            <a:off x="2537460" y="2679002"/>
            <a:ext cx="53340" cy="50431"/>
          </a:xfrm>
          <a:prstGeom prst="line">
            <a:avLst/>
          </a:prstGeom>
          <a:noFill/>
          <a:ln w="25400">
            <a:solidFill>
              <a:srgbClr val="C8414C"/>
            </a:solidFill>
            <a:prstDash val="solid"/>
          </a:ln>
        </p:spPr>
      </p:sp>
      <p:sp>
        <p:nvSpPr>
          <p:cNvPr id="62" name="Shape 60"/>
          <p:cNvSpPr/>
          <p:nvPr/>
        </p:nvSpPr>
        <p:spPr>
          <a:xfrm flipV="1">
            <a:off x="2590800" y="2679002"/>
            <a:ext cx="91" cy="219837"/>
          </a:xfrm>
          <a:prstGeom prst="line">
            <a:avLst/>
          </a:prstGeom>
          <a:noFill/>
          <a:ln w="9525">
            <a:solidFill>
              <a:srgbClr val="9AA3B5"/>
            </a:solidFill>
            <a:prstDash val="solid"/>
          </a:ln>
        </p:spPr>
      </p:sp>
      <p:sp>
        <p:nvSpPr>
          <p:cNvPr id="63" name="Shape 61"/>
          <p:cNvSpPr/>
          <p:nvPr/>
        </p:nvSpPr>
        <p:spPr>
          <a:xfrm>
            <a:off x="2590800" y="2898838"/>
            <a:ext cx="53340" cy="33697"/>
          </a:xfrm>
          <a:prstGeom prst="line">
            <a:avLst/>
          </a:prstGeom>
          <a:noFill/>
          <a:ln w="25400">
            <a:solidFill>
              <a:srgbClr val="2E5BD8"/>
            </a:solidFill>
            <a:prstDash val="solid"/>
          </a:ln>
        </p:spPr>
      </p:sp>
      <p:sp>
        <p:nvSpPr>
          <p:cNvPr id="64" name="Shape 62"/>
          <p:cNvSpPr/>
          <p:nvPr/>
        </p:nvSpPr>
        <p:spPr>
          <a:xfrm flipV="1">
            <a:off x="2590800" y="2645305"/>
            <a:ext cx="53340" cy="33697"/>
          </a:xfrm>
          <a:prstGeom prst="line">
            <a:avLst/>
          </a:prstGeom>
          <a:noFill/>
          <a:ln w="25400">
            <a:solidFill>
              <a:srgbClr val="C8414C"/>
            </a:solidFill>
            <a:prstDash val="solid"/>
          </a:ln>
        </p:spPr>
      </p:sp>
      <p:sp>
        <p:nvSpPr>
          <p:cNvPr id="65" name="Shape 63"/>
          <p:cNvSpPr/>
          <p:nvPr/>
        </p:nvSpPr>
        <p:spPr>
          <a:xfrm>
            <a:off x="2644140" y="2932535"/>
            <a:ext cx="53340" cy="11833"/>
          </a:xfrm>
          <a:prstGeom prst="line">
            <a:avLst/>
          </a:prstGeom>
          <a:noFill/>
          <a:ln w="25400">
            <a:solidFill>
              <a:srgbClr val="2E5BD8"/>
            </a:solidFill>
            <a:prstDash val="solid"/>
          </a:ln>
        </p:spPr>
      </p:sp>
      <p:sp>
        <p:nvSpPr>
          <p:cNvPr id="66" name="Shape 64"/>
          <p:cNvSpPr/>
          <p:nvPr/>
        </p:nvSpPr>
        <p:spPr>
          <a:xfrm flipV="1">
            <a:off x="2644140" y="2633472"/>
            <a:ext cx="53340" cy="11833"/>
          </a:xfrm>
          <a:prstGeom prst="line">
            <a:avLst/>
          </a:prstGeom>
          <a:noFill/>
          <a:ln w="25400">
            <a:solidFill>
              <a:srgbClr val="C8414C"/>
            </a:solidFill>
            <a:prstDash val="solid"/>
          </a:ln>
        </p:spPr>
      </p:sp>
      <p:sp>
        <p:nvSpPr>
          <p:cNvPr id="67" name="Shape 65"/>
          <p:cNvSpPr/>
          <p:nvPr/>
        </p:nvSpPr>
        <p:spPr>
          <a:xfrm flipV="1">
            <a:off x="2697480" y="2633472"/>
            <a:ext cx="91" cy="310896"/>
          </a:xfrm>
          <a:prstGeom prst="line">
            <a:avLst/>
          </a:prstGeom>
          <a:noFill/>
          <a:ln w="9525">
            <a:solidFill>
              <a:srgbClr val="9AA3B5"/>
            </a:solidFill>
            <a:prstDash val="solid"/>
          </a:ln>
        </p:spPr>
      </p:sp>
      <p:sp>
        <p:nvSpPr>
          <p:cNvPr id="68" name="Shape 66"/>
          <p:cNvSpPr/>
          <p:nvPr/>
        </p:nvSpPr>
        <p:spPr>
          <a:xfrm>
            <a:off x="502920" y="1463040"/>
            <a:ext cx="1508760" cy="1234440"/>
          </a:xfrm>
          <a:prstGeom prst="line">
            <a:avLst/>
          </a:prstGeom>
          <a:noFill/>
          <a:ln w="31750">
            <a:solidFill>
              <a:srgbClr val="C8414C"/>
            </a:solidFill>
            <a:prstDash val="solid"/>
            <a:tailEnd type="triangle"/>
          </a:ln>
        </p:spPr>
      </p:sp>
      <p:sp>
        <p:nvSpPr>
          <p:cNvPr id="69" name="Shape 67"/>
          <p:cNvSpPr/>
          <p:nvPr/>
        </p:nvSpPr>
        <p:spPr>
          <a:xfrm>
            <a:off x="1938528" y="2606040"/>
            <a:ext cx="274320" cy="274320"/>
          </a:xfrm>
          <a:prstGeom prst="star5">
            <a:avLst/>
          </a:prstGeom>
          <a:solidFill>
            <a:srgbClr val="F5A742"/>
          </a:solidFill>
          <a:ln w="9525">
            <a:solidFill>
              <a:srgbClr val="B8730A"/>
            </a:solidFill>
            <a:prstDash val="solid"/>
          </a:ln>
        </p:spPr>
      </p:sp>
      <p:sp>
        <p:nvSpPr>
          <p:cNvPr id="70" name="Text 68"/>
          <p:cNvSpPr/>
          <p:nvPr/>
        </p:nvSpPr>
        <p:spPr>
          <a:xfrm>
            <a:off x="411480" y="1143000"/>
            <a:ext cx="82296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radiation</a:t>
            </a:r>
            <a:endParaRPr lang="en-US" sz="1050" dirty="0"/>
          </a:p>
        </p:txBody>
      </p:sp>
      <p:sp>
        <p:nvSpPr>
          <p:cNvPr id="71" name="Text 69"/>
          <p:cNvSpPr/>
          <p:nvPr/>
        </p:nvSpPr>
        <p:spPr>
          <a:xfrm>
            <a:off x="2011680" y="2103120"/>
            <a:ext cx="1188720" cy="256032"/>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DNA broken</a:t>
            </a:r>
            <a:endParaRPr lang="en-US" sz="1050" dirty="0"/>
          </a:p>
        </p:txBody>
      </p:sp>
      <p:sp>
        <p:nvSpPr>
          <p:cNvPr id="72" name="Shape 70"/>
          <p:cNvSpPr/>
          <p:nvPr/>
        </p:nvSpPr>
        <p:spPr>
          <a:xfrm>
            <a:off x="3429000" y="2788920"/>
            <a:ext cx="274320" cy="91"/>
          </a:xfrm>
          <a:prstGeom prst="line">
            <a:avLst/>
          </a:prstGeom>
          <a:noFill/>
          <a:ln w="19050">
            <a:solidFill>
              <a:srgbClr val="1A2340"/>
            </a:solidFill>
            <a:prstDash val="solid"/>
            <a:tailEnd type="triangle"/>
          </a:ln>
        </p:spPr>
      </p:sp>
      <p:sp>
        <p:nvSpPr>
          <p:cNvPr id="73" name="Shape 71"/>
          <p:cNvSpPr/>
          <p:nvPr/>
        </p:nvSpPr>
        <p:spPr>
          <a:xfrm>
            <a:off x="3749040" y="1600200"/>
            <a:ext cx="2057400" cy="731520"/>
          </a:xfrm>
          <a:prstGeom prst="roundRect">
            <a:avLst>
              <a:gd name="adj" fmla="val 6250"/>
            </a:avLst>
          </a:prstGeom>
          <a:solidFill>
            <a:srgbClr val="FFFFFF"/>
          </a:solidFill>
          <a:ln w="19050">
            <a:solidFill>
              <a:srgbClr val="2E8B57"/>
            </a:solidFill>
            <a:prstDash val="solid"/>
          </a:ln>
        </p:spPr>
      </p:sp>
      <p:sp>
        <p:nvSpPr>
          <p:cNvPr id="74" name="Text 72"/>
          <p:cNvSpPr/>
          <p:nvPr/>
        </p:nvSpPr>
        <p:spPr>
          <a:xfrm>
            <a:off x="3822192" y="1636776"/>
            <a:ext cx="1920240" cy="237744"/>
          </a:xfrm>
          <a:prstGeom prst="rect">
            <a:avLst/>
          </a:prstGeom>
          <a:noFill/>
          <a:ln/>
        </p:spPr>
        <p:txBody>
          <a:bodyPr wrap="square" lIns="0" tIns="0" rIns="0" bIns="0" rtlCol="0" anchor="ctr"/>
          <a:lstStyle/>
          <a:p>
            <a:pPr algn="l" indent="0" marL="0">
              <a:buNone/>
            </a:pPr>
            <a:r>
              <a:rPr lang="en-US" sz="1100" b="1" dirty="0">
                <a:solidFill>
                  <a:srgbClr val="2E8B57"/>
                </a:solidFill>
                <a:latin typeface="Calibri" pitchFamily="34" charset="0"/>
                <a:ea typeface="Calibri" pitchFamily="34" charset="-122"/>
                <a:cs typeface="Calibri" pitchFamily="34" charset="-120"/>
              </a:rPr>
              <a:t>Repaired</a:t>
            </a:r>
            <a:endParaRPr lang="en-US" sz="1100" dirty="0"/>
          </a:p>
        </p:txBody>
      </p:sp>
      <p:sp>
        <p:nvSpPr>
          <p:cNvPr id="75" name="Text 73"/>
          <p:cNvSpPr/>
          <p:nvPr/>
        </p:nvSpPr>
        <p:spPr>
          <a:xfrm>
            <a:off x="3822192" y="1874520"/>
            <a:ext cx="1920240" cy="420624"/>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cell works normally</a:t>
            </a:r>
            <a:endParaRPr lang="en-US" sz="1050" dirty="0"/>
          </a:p>
        </p:txBody>
      </p:sp>
      <p:sp>
        <p:nvSpPr>
          <p:cNvPr id="76" name="Shape 74"/>
          <p:cNvSpPr/>
          <p:nvPr/>
        </p:nvSpPr>
        <p:spPr>
          <a:xfrm>
            <a:off x="3749040" y="2468880"/>
            <a:ext cx="2057400" cy="731520"/>
          </a:xfrm>
          <a:prstGeom prst="roundRect">
            <a:avLst>
              <a:gd name="adj" fmla="val 6250"/>
            </a:avLst>
          </a:prstGeom>
          <a:solidFill>
            <a:srgbClr val="FFFFFF"/>
          </a:solidFill>
          <a:ln w="19050">
            <a:solidFill>
              <a:srgbClr val="6B7385"/>
            </a:solidFill>
            <a:prstDash val="solid"/>
          </a:ln>
        </p:spPr>
      </p:sp>
      <p:sp>
        <p:nvSpPr>
          <p:cNvPr id="77" name="Text 75"/>
          <p:cNvSpPr/>
          <p:nvPr/>
        </p:nvSpPr>
        <p:spPr>
          <a:xfrm>
            <a:off x="3822192" y="2505456"/>
            <a:ext cx="1920240" cy="237744"/>
          </a:xfrm>
          <a:prstGeom prst="rect">
            <a:avLst/>
          </a:prstGeom>
          <a:noFill/>
          <a:ln/>
        </p:spPr>
        <p:txBody>
          <a:bodyPr wrap="square" lIns="0" tIns="0" rIns="0" bIns="0" rtlCol="0" anchor="ctr"/>
          <a:lstStyle/>
          <a:p>
            <a:pPr algn="l" indent="0" marL="0">
              <a:buNone/>
            </a:pPr>
            <a:r>
              <a:rPr lang="en-US" sz="1100" b="1" dirty="0">
                <a:solidFill>
                  <a:srgbClr val="6B7385"/>
                </a:solidFill>
                <a:latin typeface="Calibri" pitchFamily="34" charset="0"/>
                <a:ea typeface="Calibri" pitchFamily="34" charset="-122"/>
                <a:cs typeface="Calibri" pitchFamily="34" charset="-120"/>
              </a:rPr>
              <a:t>Cell dies</a:t>
            </a:r>
            <a:endParaRPr lang="en-US" sz="1100" dirty="0"/>
          </a:p>
        </p:txBody>
      </p:sp>
      <p:sp>
        <p:nvSpPr>
          <p:cNvPr id="78" name="Text 76"/>
          <p:cNvSpPr/>
          <p:nvPr/>
        </p:nvSpPr>
        <p:spPr>
          <a:xfrm>
            <a:off x="3822192" y="2743200"/>
            <a:ext cx="1920240" cy="420624"/>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high doses kill many cells</a:t>
            </a:r>
            <a:endParaRPr lang="en-US" sz="1050" dirty="0"/>
          </a:p>
        </p:txBody>
      </p:sp>
      <p:sp>
        <p:nvSpPr>
          <p:cNvPr id="79" name="Shape 77"/>
          <p:cNvSpPr/>
          <p:nvPr/>
        </p:nvSpPr>
        <p:spPr>
          <a:xfrm>
            <a:off x="3749040" y="3337560"/>
            <a:ext cx="2057400" cy="731520"/>
          </a:xfrm>
          <a:prstGeom prst="roundRect">
            <a:avLst>
              <a:gd name="adj" fmla="val 6250"/>
            </a:avLst>
          </a:prstGeom>
          <a:solidFill>
            <a:srgbClr val="FFFFFF"/>
          </a:solidFill>
          <a:ln w="19050">
            <a:solidFill>
              <a:srgbClr val="C8414C"/>
            </a:solidFill>
            <a:prstDash val="solid"/>
          </a:ln>
        </p:spPr>
      </p:sp>
      <p:sp>
        <p:nvSpPr>
          <p:cNvPr id="80" name="Text 78"/>
          <p:cNvSpPr/>
          <p:nvPr/>
        </p:nvSpPr>
        <p:spPr>
          <a:xfrm>
            <a:off x="3822192" y="3374136"/>
            <a:ext cx="1920240" cy="237744"/>
          </a:xfrm>
          <a:prstGeom prst="rect">
            <a:avLst/>
          </a:prstGeom>
          <a:noFill/>
          <a:ln/>
        </p:spPr>
        <p:txBody>
          <a:bodyPr wrap="square" lIns="0" tIns="0" rIns="0" bIns="0" rtlCol="0" anchor="ctr"/>
          <a:lstStyle/>
          <a:p>
            <a:pPr algn="l" indent="0" marL="0">
              <a:buNone/>
            </a:pPr>
            <a:r>
              <a:rPr lang="en-US" sz="1100" b="1" dirty="0">
                <a:solidFill>
                  <a:srgbClr val="C8414C"/>
                </a:solidFill>
                <a:latin typeface="Calibri" pitchFamily="34" charset="0"/>
                <a:ea typeface="Calibri" pitchFamily="34" charset="-122"/>
                <a:cs typeface="Calibri" pitchFamily="34" charset="-120"/>
              </a:rPr>
              <a:t>Mutation</a:t>
            </a:r>
            <a:endParaRPr lang="en-US" sz="1100" dirty="0"/>
          </a:p>
        </p:txBody>
      </p:sp>
      <p:sp>
        <p:nvSpPr>
          <p:cNvPr id="81" name="Text 79"/>
          <p:cNvSpPr/>
          <p:nvPr/>
        </p:nvSpPr>
        <p:spPr>
          <a:xfrm>
            <a:off x="3822192" y="3611880"/>
            <a:ext cx="1920240" cy="420624"/>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cell may divide out of control → </a:t>
            </a:r>
            <a:r>
              <a:rPr lang="en-US" sz="1050" b="1" dirty="0">
                <a:solidFill>
                  <a:srgbClr val="262B3A"/>
                </a:solidFill>
                <a:latin typeface="Calibri" pitchFamily="34" charset="0"/>
                <a:ea typeface="Calibri" pitchFamily="34" charset="-122"/>
                <a:cs typeface="Calibri" pitchFamily="34" charset="-120"/>
              </a:rPr>
              <a:t>cancer</a:t>
            </a:r>
            <a:endParaRPr lang="en-US" sz="1050" dirty="0"/>
          </a:p>
        </p:txBody>
      </p:sp>
      <p:sp>
        <p:nvSpPr>
          <p:cNvPr id="82" name="Shape 80"/>
          <p:cNvSpPr/>
          <p:nvPr/>
        </p:nvSpPr>
        <p:spPr>
          <a:xfrm>
            <a:off x="685800" y="4343400"/>
            <a:ext cx="5120640" cy="777240"/>
          </a:xfrm>
          <a:prstGeom prst="roundRect">
            <a:avLst>
              <a:gd name="adj" fmla="val 5882"/>
            </a:avLst>
          </a:prstGeom>
          <a:solidFill>
            <a:srgbClr val="FFFFFF"/>
          </a:solidFill>
          <a:ln w="12700">
            <a:solidFill>
              <a:srgbClr val="D5DCEB"/>
            </a:solidFill>
            <a:prstDash val="solid"/>
          </a:ln>
        </p:spPr>
      </p:sp>
      <p:sp>
        <p:nvSpPr>
          <p:cNvPr id="83" name="Text 81"/>
          <p:cNvSpPr/>
          <p:nvPr/>
        </p:nvSpPr>
        <p:spPr>
          <a:xfrm>
            <a:off x="822960" y="4389120"/>
            <a:ext cx="4846320" cy="68580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The </a:t>
            </a:r>
            <a:r>
              <a:rPr lang="en-US" sz="1050" b="1" dirty="0">
                <a:solidFill>
                  <a:srgbClr val="262B3A"/>
                </a:solidFill>
                <a:latin typeface="Calibri" pitchFamily="34" charset="0"/>
                <a:ea typeface="Calibri" pitchFamily="34" charset="-122"/>
                <a:cs typeface="Calibri" pitchFamily="34" charset="-120"/>
              </a:rPr>
              <a:t>bigger the dose</a:t>
            </a:r>
            <a:r>
              <a:rPr lang="en-US" sz="1050" dirty="0">
                <a:solidFill>
                  <a:srgbClr val="262B3A"/>
                </a:solidFill>
                <a:latin typeface="Calibri" pitchFamily="34" charset="0"/>
                <a:ea typeface="Calibri" pitchFamily="34" charset="-122"/>
                <a:cs typeface="Calibri" pitchFamily="34" charset="-120"/>
              </a:rPr>
              <a:t> of radiation, the </a:t>
            </a:r>
            <a:r>
              <a:rPr lang="en-US" sz="1050" b="1" dirty="0">
                <a:solidFill>
                  <a:srgbClr val="262B3A"/>
                </a:solidFill>
                <a:latin typeface="Calibri" pitchFamily="34" charset="0"/>
                <a:ea typeface="Calibri" pitchFamily="34" charset="-122"/>
                <a:cs typeface="Calibri" pitchFamily="34" charset="-120"/>
              </a:rPr>
              <a:t>greater the risk</a:t>
            </a:r>
            <a:r>
              <a:rPr lang="en-US" sz="1050" dirty="0">
                <a:solidFill>
                  <a:srgbClr val="262B3A"/>
                </a:solidFill>
                <a:latin typeface="Calibri" pitchFamily="34" charset="0"/>
                <a:ea typeface="Calibri" pitchFamily="34" charset="-122"/>
                <a:cs typeface="Calibri" pitchFamily="34" charset="-120"/>
              </a:rPr>
              <a:t> of harm. Cells that divide quickly (skin, gut, bone marrow, a fetus) are the most easily damaged.</a:t>
            </a:r>
            <a:endParaRPr lang="en-US" sz="1050" dirty="0"/>
          </a:p>
        </p:txBody>
      </p:sp>
      <p:sp>
        <p:nvSpPr>
          <p:cNvPr id="84" name="Shape 82"/>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85" name="Text 8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ionising radiation is dangerous</a:t>
            </a:r>
            <a:endParaRPr lang="en-US" sz="1300" dirty="0"/>
          </a:p>
        </p:txBody>
      </p:sp>
      <p:sp>
        <p:nvSpPr>
          <p:cNvPr id="86" name="Text 84"/>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When radiation passes through the body it </a:t>
            </a:r>
            <a:r>
              <a:rPr lang="en-US" sz="1150" b="1" dirty="0">
                <a:solidFill>
                  <a:srgbClr val="262B3A"/>
                </a:solidFill>
                <a:latin typeface="Calibri" pitchFamily="34" charset="0"/>
                <a:ea typeface="Calibri" pitchFamily="34" charset="-122"/>
                <a:cs typeface="Calibri" pitchFamily="34" charset="-120"/>
              </a:rPr>
              <a:t>ionises</a:t>
            </a:r>
            <a:r>
              <a:rPr lang="en-US" sz="1150" dirty="0">
                <a:solidFill>
                  <a:srgbClr val="262B3A"/>
                </a:solidFill>
                <a:latin typeface="Calibri" pitchFamily="34" charset="0"/>
                <a:ea typeface="Calibri" pitchFamily="34" charset="-122"/>
                <a:cs typeface="Calibri" pitchFamily="34" charset="-120"/>
              </a:rPr>
              <a:t> atoms in cells.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ions can change molecules and </a:t>
            </a:r>
            <a:r>
              <a:rPr lang="en-US" sz="1150" b="1" dirty="0">
                <a:solidFill>
                  <a:srgbClr val="262B3A"/>
                </a:solidFill>
                <a:latin typeface="Calibri" pitchFamily="34" charset="0"/>
                <a:ea typeface="Calibri" pitchFamily="34" charset="-122"/>
                <a:cs typeface="Calibri" pitchFamily="34" charset="-120"/>
              </a:rPr>
              <a:t>break DNA</a:t>
            </a:r>
            <a:r>
              <a:rPr lang="en-US" sz="1150" dirty="0">
                <a:solidFill>
                  <a:srgbClr val="262B3A"/>
                </a:solidFill>
                <a:latin typeface="Calibri" pitchFamily="34" charset="0"/>
                <a:ea typeface="Calibri" pitchFamily="34" charset="-122"/>
                <a:cs typeface="Calibri" pitchFamily="34" charset="-120"/>
              </a:rPr>
              <a:t>, the genetic code in the nucleus.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cell may </a:t>
            </a:r>
            <a:r>
              <a:rPr lang="en-US" sz="1150" b="1" dirty="0">
                <a:solidFill>
                  <a:srgbClr val="262B3A"/>
                </a:solidFill>
                <a:latin typeface="Calibri" pitchFamily="34" charset="0"/>
                <a:ea typeface="Calibri" pitchFamily="34" charset="-122"/>
                <a:cs typeface="Calibri" pitchFamily="34" charset="-120"/>
              </a:rPr>
              <a:t>repair</a:t>
            </a:r>
            <a:r>
              <a:rPr lang="en-US" sz="1150" dirty="0">
                <a:solidFill>
                  <a:srgbClr val="262B3A"/>
                </a:solidFill>
                <a:latin typeface="Calibri" pitchFamily="34" charset="0"/>
                <a:ea typeface="Calibri" pitchFamily="34" charset="-122"/>
                <a:cs typeface="Calibri" pitchFamily="34" charset="-120"/>
              </a:rPr>
              <a:t> the damage, </a:t>
            </a:r>
            <a:r>
              <a:rPr lang="en-US" sz="1150" b="1" dirty="0">
                <a:solidFill>
                  <a:srgbClr val="262B3A"/>
                </a:solidFill>
                <a:latin typeface="Calibri" pitchFamily="34" charset="0"/>
                <a:ea typeface="Calibri" pitchFamily="34" charset="-122"/>
                <a:cs typeface="Calibri" pitchFamily="34" charset="-120"/>
              </a:rPr>
              <a:t>die</a:t>
            </a:r>
            <a:r>
              <a:rPr lang="en-US" sz="1150" dirty="0">
                <a:solidFill>
                  <a:srgbClr val="262B3A"/>
                </a:solidFill>
                <a:latin typeface="Calibri" pitchFamily="34" charset="0"/>
                <a:ea typeface="Calibri" pitchFamily="34" charset="-122"/>
                <a:cs typeface="Calibri" pitchFamily="34" charset="-120"/>
              </a:rPr>
              <a:t>, or survive with a </a:t>
            </a:r>
            <a:r>
              <a:rPr lang="en-US" sz="1150" b="1" dirty="0">
                <a:solidFill>
                  <a:srgbClr val="262B3A"/>
                </a:solidFill>
                <a:latin typeface="Calibri" pitchFamily="34" charset="0"/>
                <a:ea typeface="Calibri" pitchFamily="34" charset="-122"/>
                <a:cs typeface="Calibri" pitchFamily="34" charset="-120"/>
              </a:rPr>
              <a:t>mutation</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mutated cell may </a:t>
            </a:r>
            <a:r>
              <a:rPr lang="en-US" sz="1150" b="1" dirty="0">
                <a:solidFill>
                  <a:srgbClr val="262B3A"/>
                </a:solidFill>
                <a:latin typeface="Calibri" pitchFamily="34" charset="0"/>
                <a:ea typeface="Calibri" pitchFamily="34" charset="-122"/>
                <a:cs typeface="Calibri" pitchFamily="34" charset="-120"/>
              </a:rPr>
              <a:t>divide uncontrollably</a:t>
            </a:r>
            <a:r>
              <a:rPr lang="en-US" sz="1150" dirty="0">
                <a:solidFill>
                  <a:srgbClr val="262B3A"/>
                </a:solidFill>
                <a:latin typeface="Calibri" pitchFamily="34" charset="0"/>
                <a:ea typeface="Calibri" pitchFamily="34" charset="-122"/>
                <a:cs typeface="Calibri" pitchFamily="34" charset="-120"/>
              </a:rPr>
              <a:t>: this is </a:t>
            </a:r>
            <a:r>
              <a:rPr lang="en-US" sz="1150" b="1" dirty="0">
                <a:solidFill>
                  <a:srgbClr val="262B3A"/>
                </a:solidFill>
                <a:latin typeface="Calibri" pitchFamily="34" charset="0"/>
                <a:ea typeface="Calibri" pitchFamily="34" charset="-122"/>
                <a:cs typeface="Calibri" pitchFamily="34" charset="-120"/>
              </a:rPr>
              <a:t>cancer</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Very large doses kill many cells at once: </a:t>
            </a:r>
            <a:r>
              <a:rPr lang="en-US" sz="1150" b="1" dirty="0">
                <a:solidFill>
                  <a:srgbClr val="262B3A"/>
                </a:solidFill>
                <a:latin typeface="Calibri" pitchFamily="34" charset="0"/>
                <a:ea typeface="Calibri" pitchFamily="34" charset="-122"/>
                <a:cs typeface="Calibri" pitchFamily="34" charset="-120"/>
              </a:rPr>
              <a:t>radiation burns</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radiation sickness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87" name="Shape 85"/>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88" name="Text 86"/>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Chain of events</a:t>
            </a:r>
            <a:endParaRPr lang="en-US" sz="1300" dirty="0"/>
          </a:p>
        </p:txBody>
      </p:sp>
      <p:sp>
        <p:nvSpPr>
          <p:cNvPr id="89" name="Text 87"/>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1 Ionisation   </a:t>
            </a:r>
            <a:r>
              <a:rPr lang="en-US" sz="1100" dirty="0">
                <a:solidFill>
                  <a:srgbClr val="262B3A"/>
                </a:solidFill>
                <a:latin typeface="Calibri" pitchFamily="34" charset="0"/>
                <a:ea typeface="Calibri" pitchFamily="34" charset="-122"/>
                <a:cs typeface="Calibri" pitchFamily="34" charset="-120"/>
              </a:rPr>
              <a:t>radiation removes electrons from atoms in a cell</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2 Damage   </a:t>
            </a:r>
            <a:r>
              <a:rPr lang="en-US" sz="1100" dirty="0">
                <a:solidFill>
                  <a:srgbClr val="262B3A"/>
                </a:solidFill>
                <a:latin typeface="Calibri" pitchFamily="34" charset="0"/>
                <a:ea typeface="Calibri" pitchFamily="34" charset="-122"/>
                <a:cs typeface="Calibri" pitchFamily="34" charset="-120"/>
              </a:rPr>
              <a:t>DNA molecules are broken or changed</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3 Mutation   </a:t>
            </a:r>
            <a:r>
              <a:rPr lang="en-US" sz="1100" dirty="0">
                <a:solidFill>
                  <a:srgbClr val="262B3A"/>
                </a:solidFill>
                <a:latin typeface="Calibri" pitchFamily="34" charset="0"/>
                <a:ea typeface="Calibri" pitchFamily="34" charset="-122"/>
                <a:cs typeface="Calibri" pitchFamily="34" charset="-120"/>
              </a:rPr>
              <a:t>faulty DNA is copied when the cell divides</a:t>
            </a:r>
            <a:endParaRPr lang="en-US" sz="1100" dirty="0"/>
          </a:p>
          <a:p>
            <a:pPr indent="0" marL="0">
              <a:spcBef>
                <a:spcPts val="200"/>
              </a:spcBef>
              <a:buNone/>
            </a:pPr>
            <a:r>
              <a:rPr lang="en-US" sz="1100" b="1" dirty="0">
                <a:solidFill>
                  <a:srgbClr val="2E5BD8"/>
                </a:solidFill>
                <a:latin typeface="Calibri" pitchFamily="34" charset="0"/>
                <a:ea typeface="Calibri" pitchFamily="34" charset="-122"/>
                <a:cs typeface="Calibri" pitchFamily="34" charset="-120"/>
              </a:rPr>
              <a:t>4 Answer   </a:t>
            </a:r>
            <a:r>
              <a:rPr lang="en-US" sz="1100" b="1" dirty="0">
                <a:solidFill>
                  <a:srgbClr val="C8414C"/>
                </a:solidFill>
                <a:latin typeface="Calibri" pitchFamily="34" charset="0"/>
                <a:ea typeface="Calibri" pitchFamily="34" charset="-122"/>
                <a:cs typeface="Calibri" pitchFamily="34" charset="-120"/>
              </a:rPr>
              <a:t>cells can grow out of control → </a:t>
            </a:r>
            <a:r>
              <a:rPr lang="en-US" sz="1100" b="1" dirty="0">
                <a:solidFill>
                  <a:srgbClr val="C8414C"/>
                </a:solidFill>
                <a:latin typeface="Calibri" pitchFamily="34" charset="0"/>
                <a:ea typeface="Calibri" pitchFamily="34" charset="-122"/>
                <a:cs typeface="Calibri" pitchFamily="34" charset="-120"/>
              </a:rPr>
              <a:t>cancer</a:t>
            </a:r>
            <a:endParaRPr lang="en-US" sz="1100" dirty="0"/>
          </a:p>
        </p:txBody>
      </p:sp>
      <p:sp>
        <p:nvSpPr>
          <p:cNvPr id="90" name="Shape 88"/>
          <p:cNvSpPr/>
          <p:nvPr/>
        </p:nvSpPr>
        <p:spPr>
          <a:xfrm>
            <a:off x="411480" y="5833872"/>
            <a:ext cx="11368735" cy="530352"/>
          </a:xfrm>
          <a:prstGeom prst="rect">
            <a:avLst/>
          </a:prstGeom>
          <a:solidFill>
            <a:srgbClr val="FFF4E0"/>
          </a:solidFill>
          <a:ln w="6350">
            <a:solidFill>
              <a:srgbClr val="F1D9A8"/>
            </a:solidFill>
            <a:prstDash val="solid"/>
          </a:ln>
        </p:spPr>
      </p:sp>
      <p:sp>
        <p:nvSpPr>
          <p:cNvPr id="91" name="Shape 89"/>
          <p:cNvSpPr/>
          <p:nvPr/>
        </p:nvSpPr>
        <p:spPr>
          <a:xfrm>
            <a:off x="411480" y="5833872"/>
            <a:ext cx="82296" cy="530352"/>
          </a:xfrm>
          <a:prstGeom prst="rect">
            <a:avLst/>
          </a:prstGeom>
          <a:solidFill>
            <a:srgbClr val="E39A2F"/>
          </a:solidFill>
          <a:ln w="12700">
            <a:solidFill>
              <a:srgbClr val="E39A2F"/>
            </a:solidFill>
            <a:prstDash val="solid"/>
          </a:ln>
        </p:spPr>
      </p:sp>
      <p:sp>
        <p:nvSpPr>
          <p:cNvPr id="92" name="Text 9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how exposure to ionising radiation can lead to cancer. Use the word "mutation".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Background radiation and damage to cells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13</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natural sources and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man-made source of background radiation.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Radon contributes </a:t>
            </a:r>
            <a:r>
              <a:rPr lang="en-US" sz="1250" b="1" dirty="0">
                <a:solidFill>
                  <a:srgbClr val="262B3A"/>
                </a:solidFill>
                <a:latin typeface="Calibri" pitchFamily="34" charset="0"/>
                <a:ea typeface="Calibri" pitchFamily="34" charset="-122"/>
                <a:cs typeface="Calibri" pitchFamily="34" charset="-120"/>
              </a:rPr>
              <a:t>50%</a:t>
            </a:r>
            <a:r>
              <a:rPr lang="en-US" sz="1250" dirty="0">
                <a:solidFill>
                  <a:srgbClr val="262B3A"/>
                </a:solidFill>
                <a:latin typeface="Calibri" pitchFamily="34" charset="0"/>
                <a:ea typeface="Calibri" pitchFamily="34" charset="-122"/>
                <a:cs typeface="Calibri" pitchFamily="34" charset="-120"/>
              </a:rPr>
              <a:t> of the average background dose and medical sources </a:t>
            </a:r>
            <a:r>
              <a:rPr lang="en-US" sz="1250" b="1" dirty="0">
                <a:solidFill>
                  <a:srgbClr val="262B3A"/>
                </a:solidFill>
                <a:latin typeface="Calibri" pitchFamily="34" charset="0"/>
                <a:ea typeface="Calibri" pitchFamily="34" charset="-122"/>
                <a:cs typeface="Calibri" pitchFamily="34" charset="-120"/>
              </a:rPr>
              <a:t>15%</a:t>
            </a:r>
            <a:r>
              <a:rPr lang="en-US" sz="1250" dirty="0">
                <a:solidFill>
                  <a:srgbClr val="262B3A"/>
                </a:solidFill>
                <a:latin typeface="Calibri" pitchFamily="34" charset="0"/>
                <a:ea typeface="Calibri" pitchFamily="34" charset="-122"/>
                <a:cs typeface="Calibri" pitchFamily="34" charset="-120"/>
              </a:rPr>
              <a:t>. How many times larger is the radon contribution?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ionising radiation can kill cells or cause cancer.</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why background radiation is higher in some parts of the UK than others.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Irradiation and contamination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P5.2.3 • two different ways radioactive material can harm you</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P5.2.3  |  14</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left: radiation from outside; right: radioactive atoms on and inside the body</a:t>
            </a:r>
            <a:endParaRPr lang="en-US" sz="1000" dirty="0"/>
          </a:p>
        </p:txBody>
      </p:sp>
      <p:sp>
        <p:nvSpPr>
          <p:cNvPr id="10" name="Shape 8"/>
          <p:cNvSpPr/>
          <p:nvPr/>
        </p:nvSpPr>
        <p:spPr>
          <a:xfrm>
            <a:off x="3200400" y="1371600"/>
            <a:ext cx="91" cy="3886200"/>
          </a:xfrm>
          <a:prstGeom prst="line">
            <a:avLst/>
          </a:prstGeom>
          <a:noFill/>
          <a:ln w="19050">
            <a:solidFill>
              <a:srgbClr val="D5DCEB"/>
            </a:solidFill>
            <a:prstDash val="dash"/>
          </a:ln>
        </p:spPr>
      </p:sp>
      <p:sp>
        <p:nvSpPr>
          <p:cNvPr id="11" name="Text 9"/>
          <p:cNvSpPr/>
          <p:nvPr/>
        </p:nvSpPr>
        <p:spPr>
          <a:xfrm>
            <a:off x="548640" y="1325880"/>
            <a:ext cx="2560320" cy="256032"/>
          </a:xfrm>
          <a:prstGeom prst="rect">
            <a:avLst/>
          </a:prstGeom>
          <a:noFill/>
          <a:ln/>
        </p:spPr>
        <p:txBody>
          <a:bodyPr wrap="square" lIns="0" tIns="0" rIns="0" bIns="0" rtlCol="0" anchor="ctr"/>
          <a:lstStyle/>
          <a:p>
            <a:pPr algn="ctr" indent="0" marL="0">
              <a:buNone/>
            </a:pPr>
            <a:r>
              <a:rPr lang="en-US" sz="1300" b="1" dirty="0">
                <a:solidFill>
                  <a:srgbClr val="2E5BD8"/>
                </a:solidFill>
                <a:latin typeface="Calibri" pitchFamily="34" charset="0"/>
                <a:ea typeface="Calibri" pitchFamily="34" charset="-122"/>
                <a:cs typeface="Calibri" pitchFamily="34" charset="-120"/>
              </a:rPr>
              <a:t>IRRADIATION</a:t>
            </a:r>
            <a:endParaRPr lang="en-US" sz="1300" dirty="0"/>
          </a:p>
        </p:txBody>
      </p:sp>
      <p:sp>
        <p:nvSpPr>
          <p:cNvPr id="12" name="Text 10"/>
          <p:cNvSpPr/>
          <p:nvPr/>
        </p:nvSpPr>
        <p:spPr>
          <a:xfrm>
            <a:off x="3291840" y="1325880"/>
            <a:ext cx="2560320" cy="256032"/>
          </a:xfrm>
          <a:prstGeom prst="rect">
            <a:avLst/>
          </a:prstGeom>
          <a:noFill/>
          <a:ln/>
        </p:spPr>
        <p:txBody>
          <a:bodyPr wrap="square" lIns="0" tIns="0" rIns="0" bIns="0" rtlCol="0" anchor="ctr"/>
          <a:lstStyle/>
          <a:p>
            <a:pPr algn="ctr" indent="0" marL="0">
              <a:buNone/>
            </a:pPr>
            <a:r>
              <a:rPr lang="en-US" sz="1300" b="1" dirty="0">
                <a:solidFill>
                  <a:srgbClr val="C8414C"/>
                </a:solidFill>
                <a:latin typeface="Calibri" pitchFamily="34" charset="0"/>
                <a:ea typeface="Calibri" pitchFamily="34" charset="-122"/>
                <a:cs typeface="Calibri" pitchFamily="34" charset="-120"/>
              </a:rPr>
              <a:t>CONTAMINATION</a:t>
            </a:r>
            <a:endParaRPr lang="en-US" sz="1300" dirty="0"/>
          </a:p>
        </p:txBody>
      </p:sp>
      <p:sp>
        <p:nvSpPr>
          <p:cNvPr id="13" name="Shape 11"/>
          <p:cNvSpPr/>
          <p:nvPr/>
        </p:nvSpPr>
        <p:spPr>
          <a:xfrm>
            <a:off x="640080" y="2743200"/>
            <a:ext cx="457200" cy="457200"/>
          </a:xfrm>
          <a:prstGeom prst="roundRect">
            <a:avLst>
              <a:gd name="adj" fmla="val 8000"/>
            </a:avLst>
          </a:prstGeom>
          <a:solidFill>
            <a:srgbClr val="4A5262"/>
          </a:solidFill>
          <a:ln w="12700">
            <a:solidFill>
              <a:srgbClr val="2E3442"/>
            </a:solidFill>
            <a:prstDash val="solid"/>
          </a:ln>
        </p:spPr>
      </p:sp>
      <p:sp>
        <p:nvSpPr>
          <p:cNvPr id="14" name="Text 12"/>
          <p:cNvSpPr/>
          <p:nvPr/>
        </p:nvSpPr>
        <p:spPr>
          <a:xfrm>
            <a:off x="502920" y="3246120"/>
            <a:ext cx="731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source</a:t>
            </a:r>
            <a:endParaRPr lang="en-US" sz="1050" dirty="0"/>
          </a:p>
        </p:txBody>
      </p:sp>
      <p:sp>
        <p:nvSpPr>
          <p:cNvPr id="15" name="Shape 13"/>
          <p:cNvSpPr/>
          <p:nvPr/>
        </p:nvSpPr>
        <p:spPr>
          <a:xfrm>
            <a:off x="1143000" y="2971800"/>
            <a:ext cx="21500" cy="4899"/>
          </a:xfrm>
          <a:prstGeom prst="line">
            <a:avLst/>
          </a:prstGeom>
          <a:noFill/>
          <a:ln w="19050">
            <a:solidFill>
              <a:srgbClr val="2E8B57"/>
            </a:solidFill>
            <a:prstDash val="solid"/>
          </a:ln>
        </p:spPr>
      </p:sp>
      <p:sp>
        <p:nvSpPr>
          <p:cNvPr id="16" name="Shape 14"/>
          <p:cNvSpPr/>
          <p:nvPr/>
        </p:nvSpPr>
        <p:spPr>
          <a:xfrm>
            <a:off x="1164500" y="2976699"/>
            <a:ext cx="20547" cy="2993"/>
          </a:xfrm>
          <a:prstGeom prst="line">
            <a:avLst/>
          </a:prstGeom>
          <a:noFill/>
          <a:ln w="19050">
            <a:solidFill>
              <a:srgbClr val="2E8B57"/>
            </a:solidFill>
            <a:prstDash val="solid"/>
          </a:ln>
        </p:spPr>
      </p:sp>
      <p:sp>
        <p:nvSpPr>
          <p:cNvPr id="17" name="Shape 15"/>
          <p:cNvSpPr/>
          <p:nvPr/>
        </p:nvSpPr>
        <p:spPr>
          <a:xfrm flipV="1">
            <a:off x="1185046" y="2979164"/>
            <a:ext cx="18786" cy="528"/>
          </a:xfrm>
          <a:prstGeom prst="line">
            <a:avLst/>
          </a:prstGeom>
          <a:noFill/>
          <a:ln w="19050">
            <a:solidFill>
              <a:srgbClr val="2E8B57"/>
            </a:solidFill>
            <a:prstDash val="solid"/>
          </a:ln>
        </p:spPr>
      </p:sp>
      <p:sp>
        <p:nvSpPr>
          <p:cNvPr id="18" name="Shape 16"/>
          <p:cNvSpPr/>
          <p:nvPr/>
        </p:nvSpPr>
        <p:spPr>
          <a:xfrm flipV="1">
            <a:off x="1203832" y="2974035"/>
            <a:ext cx="16485" cy="5130"/>
          </a:xfrm>
          <a:prstGeom prst="line">
            <a:avLst/>
          </a:prstGeom>
          <a:noFill/>
          <a:ln w="19050">
            <a:solidFill>
              <a:srgbClr val="2E8B57"/>
            </a:solidFill>
            <a:prstDash val="solid"/>
          </a:ln>
        </p:spPr>
      </p:sp>
      <p:sp>
        <p:nvSpPr>
          <p:cNvPr id="19" name="Shape 17"/>
          <p:cNvSpPr/>
          <p:nvPr/>
        </p:nvSpPr>
        <p:spPr>
          <a:xfrm flipV="1">
            <a:off x="1220317" y="2963924"/>
            <a:ext cx="13995" cy="10110"/>
          </a:xfrm>
          <a:prstGeom prst="line">
            <a:avLst/>
          </a:prstGeom>
          <a:noFill/>
          <a:ln w="19050">
            <a:solidFill>
              <a:srgbClr val="2E8B57"/>
            </a:solidFill>
            <a:prstDash val="solid"/>
          </a:ln>
        </p:spPr>
      </p:sp>
      <p:sp>
        <p:nvSpPr>
          <p:cNvPr id="20" name="Shape 18"/>
          <p:cNvSpPr/>
          <p:nvPr/>
        </p:nvSpPr>
        <p:spPr>
          <a:xfrm flipV="1">
            <a:off x="1234312" y="2949213"/>
            <a:ext cx="11694" cy="14712"/>
          </a:xfrm>
          <a:prstGeom prst="line">
            <a:avLst/>
          </a:prstGeom>
          <a:noFill/>
          <a:ln w="19050">
            <a:solidFill>
              <a:srgbClr val="2E8B57"/>
            </a:solidFill>
            <a:prstDash val="solid"/>
          </a:ln>
        </p:spPr>
      </p:sp>
      <p:sp>
        <p:nvSpPr>
          <p:cNvPr id="21" name="Shape 19"/>
          <p:cNvSpPr/>
          <p:nvPr/>
        </p:nvSpPr>
        <p:spPr>
          <a:xfrm flipV="1">
            <a:off x="1246006" y="2930979"/>
            <a:ext cx="9933" cy="18233"/>
          </a:xfrm>
          <a:prstGeom prst="line">
            <a:avLst/>
          </a:prstGeom>
          <a:noFill/>
          <a:ln w="19050">
            <a:solidFill>
              <a:srgbClr val="2E8B57"/>
            </a:solidFill>
            <a:prstDash val="solid"/>
          </a:ln>
        </p:spPr>
      </p:sp>
      <p:sp>
        <p:nvSpPr>
          <p:cNvPr id="22" name="Shape 20"/>
          <p:cNvSpPr/>
          <p:nvPr/>
        </p:nvSpPr>
        <p:spPr>
          <a:xfrm flipV="1">
            <a:off x="1255940" y="2910840"/>
            <a:ext cx="8980" cy="20139"/>
          </a:xfrm>
          <a:prstGeom prst="line">
            <a:avLst/>
          </a:prstGeom>
          <a:noFill/>
          <a:ln w="19050">
            <a:solidFill>
              <a:srgbClr val="2E8B57"/>
            </a:solidFill>
            <a:prstDash val="solid"/>
          </a:ln>
        </p:spPr>
      </p:sp>
      <p:sp>
        <p:nvSpPr>
          <p:cNvPr id="23" name="Shape 21"/>
          <p:cNvSpPr/>
          <p:nvPr/>
        </p:nvSpPr>
        <p:spPr>
          <a:xfrm flipV="1">
            <a:off x="1264920" y="2890701"/>
            <a:ext cx="8980" cy="20139"/>
          </a:xfrm>
          <a:prstGeom prst="line">
            <a:avLst/>
          </a:prstGeom>
          <a:noFill/>
          <a:ln w="19050">
            <a:solidFill>
              <a:srgbClr val="2E8B57"/>
            </a:solidFill>
            <a:prstDash val="solid"/>
          </a:ln>
        </p:spPr>
      </p:sp>
      <p:sp>
        <p:nvSpPr>
          <p:cNvPr id="24" name="Shape 22"/>
          <p:cNvSpPr/>
          <p:nvPr/>
        </p:nvSpPr>
        <p:spPr>
          <a:xfrm flipV="1">
            <a:off x="1273900" y="2872467"/>
            <a:ext cx="9933" cy="18233"/>
          </a:xfrm>
          <a:prstGeom prst="line">
            <a:avLst/>
          </a:prstGeom>
          <a:noFill/>
          <a:ln w="19050">
            <a:solidFill>
              <a:srgbClr val="2E8B57"/>
            </a:solidFill>
            <a:prstDash val="solid"/>
          </a:ln>
        </p:spPr>
      </p:sp>
      <p:sp>
        <p:nvSpPr>
          <p:cNvPr id="25" name="Shape 23"/>
          <p:cNvSpPr/>
          <p:nvPr/>
        </p:nvSpPr>
        <p:spPr>
          <a:xfrm flipV="1">
            <a:off x="1283834" y="2857756"/>
            <a:ext cx="11694" cy="14712"/>
          </a:xfrm>
          <a:prstGeom prst="line">
            <a:avLst/>
          </a:prstGeom>
          <a:noFill/>
          <a:ln w="19050">
            <a:solidFill>
              <a:srgbClr val="2E8B57"/>
            </a:solidFill>
            <a:prstDash val="solid"/>
          </a:ln>
        </p:spPr>
      </p:sp>
      <p:sp>
        <p:nvSpPr>
          <p:cNvPr id="26" name="Shape 24"/>
          <p:cNvSpPr/>
          <p:nvPr/>
        </p:nvSpPr>
        <p:spPr>
          <a:xfrm flipV="1">
            <a:off x="1295528" y="2847645"/>
            <a:ext cx="13995" cy="10110"/>
          </a:xfrm>
          <a:prstGeom prst="line">
            <a:avLst/>
          </a:prstGeom>
          <a:noFill/>
          <a:ln w="19050">
            <a:solidFill>
              <a:srgbClr val="2E8B57"/>
            </a:solidFill>
            <a:prstDash val="solid"/>
          </a:ln>
        </p:spPr>
      </p:sp>
      <p:sp>
        <p:nvSpPr>
          <p:cNvPr id="27" name="Shape 25"/>
          <p:cNvSpPr/>
          <p:nvPr/>
        </p:nvSpPr>
        <p:spPr>
          <a:xfrm flipV="1">
            <a:off x="1309523" y="2842516"/>
            <a:ext cx="16485" cy="5130"/>
          </a:xfrm>
          <a:prstGeom prst="line">
            <a:avLst/>
          </a:prstGeom>
          <a:noFill/>
          <a:ln w="19050">
            <a:solidFill>
              <a:srgbClr val="2E8B57"/>
            </a:solidFill>
            <a:prstDash val="solid"/>
          </a:ln>
        </p:spPr>
      </p:sp>
      <p:sp>
        <p:nvSpPr>
          <p:cNvPr id="28" name="Shape 26"/>
          <p:cNvSpPr/>
          <p:nvPr/>
        </p:nvSpPr>
        <p:spPr>
          <a:xfrm flipV="1">
            <a:off x="1326008" y="2841987"/>
            <a:ext cx="18786" cy="528"/>
          </a:xfrm>
          <a:prstGeom prst="line">
            <a:avLst/>
          </a:prstGeom>
          <a:noFill/>
          <a:ln w="19050">
            <a:solidFill>
              <a:srgbClr val="2E8B57"/>
            </a:solidFill>
            <a:prstDash val="solid"/>
          </a:ln>
        </p:spPr>
      </p:sp>
      <p:sp>
        <p:nvSpPr>
          <p:cNvPr id="29" name="Shape 27"/>
          <p:cNvSpPr/>
          <p:nvPr/>
        </p:nvSpPr>
        <p:spPr>
          <a:xfrm>
            <a:off x="1344794" y="2841987"/>
            <a:ext cx="20547" cy="2993"/>
          </a:xfrm>
          <a:prstGeom prst="line">
            <a:avLst/>
          </a:prstGeom>
          <a:noFill/>
          <a:ln w="19050">
            <a:solidFill>
              <a:srgbClr val="2E8B57"/>
            </a:solidFill>
            <a:prstDash val="solid"/>
          </a:ln>
        </p:spPr>
      </p:sp>
      <p:sp>
        <p:nvSpPr>
          <p:cNvPr id="30" name="Shape 28"/>
          <p:cNvSpPr/>
          <p:nvPr/>
        </p:nvSpPr>
        <p:spPr>
          <a:xfrm>
            <a:off x="1365340" y="2844981"/>
            <a:ext cx="21500" cy="4899"/>
          </a:xfrm>
          <a:prstGeom prst="line">
            <a:avLst/>
          </a:prstGeom>
          <a:noFill/>
          <a:ln w="19050">
            <a:solidFill>
              <a:srgbClr val="2E8B57"/>
            </a:solidFill>
            <a:prstDash val="solid"/>
          </a:ln>
        </p:spPr>
      </p:sp>
      <p:sp>
        <p:nvSpPr>
          <p:cNvPr id="31" name="Shape 29"/>
          <p:cNvSpPr/>
          <p:nvPr/>
        </p:nvSpPr>
        <p:spPr>
          <a:xfrm>
            <a:off x="1386840" y="2849880"/>
            <a:ext cx="21500" cy="4899"/>
          </a:xfrm>
          <a:prstGeom prst="line">
            <a:avLst/>
          </a:prstGeom>
          <a:noFill/>
          <a:ln w="19050">
            <a:solidFill>
              <a:srgbClr val="2E8B57"/>
            </a:solidFill>
            <a:prstDash val="solid"/>
          </a:ln>
        </p:spPr>
      </p:sp>
      <p:sp>
        <p:nvSpPr>
          <p:cNvPr id="32" name="Shape 30"/>
          <p:cNvSpPr/>
          <p:nvPr/>
        </p:nvSpPr>
        <p:spPr>
          <a:xfrm>
            <a:off x="1408340" y="2854779"/>
            <a:ext cx="20547" cy="2993"/>
          </a:xfrm>
          <a:prstGeom prst="line">
            <a:avLst/>
          </a:prstGeom>
          <a:noFill/>
          <a:ln w="19050">
            <a:solidFill>
              <a:srgbClr val="2E8B57"/>
            </a:solidFill>
            <a:prstDash val="solid"/>
          </a:ln>
        </p:spPr>
      </p:sp>
      <p:sp>
        <p:nvSpPr>
          <p:cNvPr id="33" name="Shape 31"/>
          <p:cNvSpPr/>
          <p:nvPr/>
        </p:nvSpPr>
        <p:spPr>
          <a:xfrm flipV="1">
            <a:off x="1428886" y="2857244"/>
            <a:ext cx="18786" cy="528"/>
          </a:xfrm>
          <a:prstGeom prst="line">
            <a:avLst/>
          </a:prstGeom>
          <a:noFill/>
          <a:ln w="19050">
            <a:solidFill>
              <a:srgbClr val="2E8B57"/>
            </a:solidFill>
            <a:prstDash val="solid"/>
          </a:ln>
        </p:spPr>
      </p:sp>
      <p:sp>
        <p:nvSpPr>
          <p:cNvPr id="34" name="Shape 32"/>
          <p:cNvSpPr/>
          <p:nvPr/>
        </p:nvSpPr>
        <p:spPr>
          <a:xfrm flipV="1">
            <a:off x="1447672" y="2852115"/>
            <a:ext cx="16485" cy="5130"/>
          </a:xfrm>
          <a:prstGeom prst="line">
            <a:avLst/>
          </a:prstGeom>
          <a:noFill/>
          <a:ln w="19050">
            <a:solidFill>
              <a:srgbClr val="2E8B57"/>
            </a:solidFill>
            <a:prstDash val="solid"/>
          </a:ln>
        </p:spPr>
      </p:sp>
      <p:sp>
        <p:nvSpPr>
          <p:cNvPr id="35" name="Shape 33"/>
          <p:cNvSpPr/>
          <p:nvPr/>
        </p:nvSpPr>
        <p:spPr>
          <a:xfrm flipV="1">
            <a:off x="1464157" y="2842004"/>
            <a:ext cx="13995" cy="10110"/>
          </a:xfrm>
          <a:prstGeom prst="line">
            <a:avLst/>
          </a:prstGeom>
          <a:noFill/>
          <a:ln w="19050">
            <a:solidFill>
              <a:srgbClr val="2E8B57"/>
            </a:solidFill>
            <a:prstDash val="solid"/>
          </a:ln>
        </p:spPr>
      </p:sp>
      <p:sp>
        <p:nvSpPr>
          <p:cNvPr id="36" name="Shape 34"/>
          <p:cNvSpPr/>
          <p:nvPr/>
        </p:nvSpPr>
        <p:spPr>
          <a:xfrm flipV="1">
            <a:off x="1478152" y="2827293"/>
            <a:ext cx="11694" cy="14712"/>
          </a:xfrm>
          <a:prstGeom prst="line">
            <a:avLst/>
          </a:prstGeom>
          <a:noFill/>
          <a:ln w="19050">
            <a:solidFill>
              <a:srgbClr val="2E8B57"/>
            </a:solidFill>
            <a:prstDash val="solid"/>
          </a:ln>
        </p:spPr>
      </p:sp>
      <p:sp>
        <p:nvSpPr>
          <p:cNvPr id="37" name="Shape 35"/>
          <p:cNvSpPr/>
          <p:nvPr/>
        </p:nvSpPr>
        <p:spPr>
          <a:xfrm flipV="1">
            <a:off x="1489846" y="2809059"/>
            <a:ext cx="9933" cy="18233"/>
          </a:xfrm>
          <a:prstGeom prst="line">
            <a:avLst/>
          </a:prstGeom>
          <a:noFill/>
          <a:ln w="19050">
            <a:solidFill>
              <a:srgbClr val="2E8B57"/>
            </a:solidFill>
            <a:prstDash val="solid"/>
          </a:ln>
        </p:spPr>
      </p:sp>
      <p:sp>
        <p:nvSpPr>
          <p:cNvPr id="38" name="Shape 36"/>
          <p:cNvSpPr/>
          <p:nvPr/>
        </p:nvSpPr>
        <p:spPr>
          <a:xfrm flipV="1">
            <a:off x="1499780" y="2788920"/>
            <a:ext cx="8980" cy="20139"/>
          </a:xfrm>
          <a:prstGeom prst="line">
            <a:avLst/>
          </a:prstGeom>
          <a:noFill/>
          <a:ln w="19050">
            <a:solidFill>
              <a:srgbClr val="2E8B57"/>
            </a:solidFill>
            <a:prstDash val="solid"/>
          </a:ln>
        </p:spPr>
      </p:sp>
      <p:sp>
        <p:nvSpPr>
          <p:cNvPr id="39" name="Shape 37"/>
          <p:cNvSpPr/>
          <p:nvPr/>
        </p:nvSpPr>
        <p:spPr>
          <a:xfrm flipV="1">
            <a:off x="1508760" y="2768781"/>
            <a:ext cx="8980" cy="20139"/>
          </a:xfrm>
          <a:prstGeom prst="line">
            <a:avLst/>
          </a:prstGeom>
          <a:noFill/>
          <a:ln w="19050">
            <a:solidFill>
              <a:srgbClr val="2E8B57"/>
            </a:solidFill>
            <a:prstDash val="solid"/>
          </a:ln>
        </p:spPr>
      </p:sp>
      <p:sp>
        <p:nvSpPr>
          <p:cNvPr id="40" name="Shape 38"/>
          <p:cNvSpPr/>
          <p:nvPr/>
        </p:nvSpPr>
        <p:spPr>
          <a:xfrm flipV="1">
            <a:off x="1517740" y="2750547"/>
            <a:ext cx="9933" cy="18233"/>
          </a:xfrm>
          <a:prstGeom prst="line">
            <a:avLst/>
          </a:prstGeom>
          <a:noFill/>
          <a:ln w="19050">
            <a:solidFill>
              <a:srgbClr val="2E8B57"/>
            </a:solidFill>
            <a:prstDash val="solid"/>
          </a:ln>
        </p:spPr>
      </p:sp>
      <p:sp>
        <p:nvSpPr>
          <p:cNvPr id="41" name="Shape 39"/>
          <p:cNvSpPr/>
          <p:nvPr/>
        </p:nvSpPr>
        <p:spPr>
          <a:xfrm flipV="1">
            <a:off x="1527674" y="2735836"/>
            <a:ext cx="11694" cy="14712"/>
          </a:xfrm>
          <a:prstGeom prst="line">
            <a:avLst/>
          </a:prstGeom>
          <a:noFill/>
          <a:ln w="19050">
            <a:solidFill>
              <a:srgbClr val="2E8B57"/>
            </a:solidFill>
            <a:prstDash val="solid"/>
          </a:ln>
        </p:spPr>
      </p:sp>
      <p:sp>
        <p:nvSpPr>
          <p:cNvPr id="42" name="Shape 40"/>
          <p:cNvSpPr/>
          <p:nvPr/>
        </p:nvSpPr>
        <p:spPr>
          <a:xfrm flipV="1">
            <a:off x="1539368" y="2725725"/>
            <a:ext cx="13995" cy="10110"/>
          </a:xfrm>
          <a:prstGeom prst="line">
            <a:avLst/>
          </a:prstGeom>
          <a:noFill/>
          <a:ln w="19050">
            <a:solidFill>
              <a:srgbClr val="2E8B57"/>
            </a:solidFill>
            <a:prstDash val="solid"/>
          </a:ln>
        </p:spPr>
      </p:sp>
      <p:sp>
        <p:nvSpPr>
          <p:cNvPr id="43" name="Shape 41"/>
          <p:cNvSpPr/>
          <p:nvPr/>
        </p:nvSpPr>
        <p:spPr>
          <a:xfrm flipV="1">
            <a:off x="1553363" y="2720596"/>
            <a:ext cx="16485" cy="5130"/>
          </a:xfrm>
          <a:prstGeom prst="line">
            <a:avLst/>
          </a:prstGeom>
          <a:noFill/>
          <a:ln w="19050">
            <a:solidFill>
              <a:srgbClr val="2E8B57"/>
            </a:solidFill>
            <a:prstDash val="solid"/>
          </a:ln>
        </p:spPr>
      </p:sp>
      <p:sp>
        <p:nvSpPr>
          <p:cNvPr id="44" name="Shape 42"/>
          <p:cNvSpPr/>
          <p:nvPr/>
        </p:nvSpPr>
        <p:spPr>
          <a:xfrm flipV="1">
            <a:off x="1569848" y="2720067"/>
            <a:ext cx="18786" cy="528"/>
          </a:xfrm>
          <a:prstGeom prst="line">
            <a:avLst/>
          </a:prstGeom>
          <a:noFill/>
          <a:ln w="19050">
            <a:solidFill>
              <a:srgbClr val="2E8B57"/>
            </a:solidFill>
            <a:prstDash val="solid"/>
          </a:ln>
        </p:spPr>
      </p:sp>
      <p:sp>
        <p:nvSpPr>
          <p:cNvPr id="45" name="Shape 43"/>
          <p:cNvSpPr/>
          <p:nvPr/>
        </p:nvSpPr>
        <p:spPr>
          <a:xfrm>
            <a:off x="1588634" y="2720067"/>
            <a:ext cx="20547" cy="2993"/>
          </a:xfrm>
          <a:prstGeom prst="line">
            <a:avLst/>
          </a:prstGeom>
          <a:noFill/>
          <a:ln w="19050">
            <a:solidFill>
              <a:srgbClr val="2E8B57"/>
            </a:solidFill>
            <a:prstDash val="solid"/>
          </a:ln>
        </p:spPr>
      </p:sp>
      <p:sp>
        <p:nvSpPr>
          <p:cNvPr id="46" name="Shape 44"/>
          <p:cNvSpPr/>
          <p:nvPr/>
        </p:nvSpPr>
        <p:spPr>
          <a:xfrm>
            <a:off x="1609180" y="2723061"/>
            <a:ext cx="21500" cy="4899"/>
          </a:xfrm>
          <a:prstGeom prst="line">
            <a:avLst/>
          </a:prstGeom>
          <a:noFill/>
          <a:ln w="19050">
            <a:solidFill>
              <a:srgbClr val="2E8B57"/>
            </a:solidFill>
            <a:prstDash val="solid"/>
          </a:ln>
        </p:spPr>
      </p:sp>
      <p:sp>
        <p:nvSpPr>
          <p:cNvPr id="47" name="Shape 45"/>
          <p:cNvSpPr/>
          <p:nvPr/>
        </p:nvSpPr>
        <p:spPr>
          <a:xfrm>
            <a:off x="1630680" y="2727960"/>
            <a:ext cx="21500" cy="4899"/>
          </a:xfrm>
          <a:prstGeom prst="line">
            <a:avLst/>
          </a:prstGeom>
          <a:noFill/>
          <a:ln w="19050">
            <a:solidFill>
              <a:srgbClr val="2E8B57"/>
            </a:solidFill>
            <a:prstDash val="solid"/>
          </a:ln>
        </p:spPr>
      </p:sp>
      <p:sp>
        <p:nvSpPr>
          <p:cNvPr id="48" name="Shape 46"/>
          <p:cNvSpPr/>
          <p:nvPr/>
        </p:nvSpPr>
        <p:spPr>
          <a:xfrm>
            <a:off x="1652180" y="2732859"/>
            <a:ext cx="20547" cy="2993"/>
          </a:xfrm>
          <a:prstGeom prst="line">
            <a:avLst/>
          </a:prstGeom>
          <a:noFill/>
          <a:ln w="19050">
            <a:solidFill>
              <a:srgbClr val="2E8B57"/>
            </a:solidFill>
            <a:prstDash val="solid"/>
          </a:ln>
        </p:spPr>
      </p:sp>
      <p:sp>
        <p:nvSpPr>
          <p:cNvPr id="49" name="Shape 47"/>
          <p:cNvSpPr/>
          <p:nvPr/>
        </p:nvSpPr>
        <p:spPr>
          <a:xfrm flipV="1">
            <a:off x="1672726" y="2735324"/>
            <a:ext cx="18786" cy="528"/>
          </a:xfrm>
          <a:prstGeom prst="line">
            <a:avLst/>
          </a:prstGeom>
          <a:noFill/>
          <a:ln w="19050">
            <a:solidFill>
              <a:srgbClr val="2E8B57"/>
            </a:solidFill>
            <a:prstDash val="solid"/>
          </a:ln>
        </p:spPr>
      </p:sp>
      <p:sp>
        <p:nvSpPr>
          <p:cNvPr id="50" name="Shape 48"/>
          <p:cNvSpPr/>
          <p:nvPr/>
        </p:nvSpPr>
        <p:spPr>
          <a:xfrm flipV="1">
            <a:off x="1691512" y="2730195"/>
            <a:ext cx="16485" cy="5130"/>
          </a:xfrm>
          <a:prstGeom prst="line">
            <a:avLst/>
          </a:prstGeom>
          <a:noFill/>
          <a:ln w="19050">
            <a:solidFill>
              <a:srgbClr val="2E8B57"/>
            </a:solidFill>
            <a:prstDash val="solid"/>
          </a:ln>
        </p:spPr>
      </p:sp>
      <p:sp>
        <p:nvSpPr>
          <p:cNvPr id="51" name="Shape 49"/>
          <p:cNvSpPr/>
          <p:nvPr/>
        </p:nvSpPr>
        <p:spPr>
          <a:xfrm flipV="1">
            <a:off x="1707997" y="2720084"/>
            <a:ext cx="13995" cy="10110"/>
          </a:xfrm>
          <a:prstGeom prst="line">
            <a:avLst/>
          </a:prstGeom>
          <a:noFill/>
          <a:ln w="19050">
            <a:solidFill>
              <a:srgbClr val="2E8B57"/>
            </a:solidFill>
            <a:prstDash val="solid"/>
          </a:ln>
        </p:spPr>
      </p:sp>
      <p:sp>
        <p:nvSpPr>
          <p:cNvPr id="52" name="Shape 50"/>
          <p:cNvSpPr/>
          <p:nvPr/>
        </p:nvSpPr>
        <p:spPr>
          <a:xfrm flipV="1">
            <a:off x="1721992" y="2705373"/>
            <a:ext cx="11694" cy="14712"/>
          </a:xfrm>
          <a:prstGeom prst="line">
            <a:avLst/>
          </a:prstGeom>
          <a:noFill/>
          <a:ln w="19050">
            <a:solidFill>
              <a:srgbClr val="2E8B57"/>
            </a:solidFill>
            <a:prstDash val="solid"/>
          </a:ln>
        </p:spPr>
      </p:sp>
      <p:sp>
        <p:nvSpPr>
          <p:cNvPr id="53" name="Shape 51"/>
          <p:cNvSpPr/>
          <p:nvPr/>
        </p:nvSpPr>
        <p:spPr>
          <a:xfrm flipV="1">
            <a:off x="1733686" y="2687139"/>
            <a:ext cx="9933" cy="18233"/>
          </a:xfrm>
          <a:prstGeom prst="line">
            <a:avLst/>
          </a:prstGeom>
          <a:noFill/>
          <a:ln w="19050">
            <a:solidFill>
              <a:srgbClr val="2E8B57"/>
            </a:solidFill>
            <a:prstDash val="solid"/>
          </a:ln>
        </p:spPr>
      </p:sp>
      <p:sp>
        <p:nvSpPr>
          <p:cNvPr id="54" name="Shape 52"/>
          <p:cNvSpPr/>
          <p:nvPr/>
        </p:nvSpPr>
        <p:spPr>
          <a:xfrm flipV="1">
            <a:off x="1743620" y="2667000"/>
            <a:ext cx="8980" cy="20139"/>
          </a:xfrm>
          <a:prstGeom prst="line">
            <a:avLst/>
          </a:prstGeom>
          <a:noFill/>
          <a:ln w="19050">
            <a:solidFill>
              <a:srgbClr val="2E8B57"/>
            </a:solidFill>
            <a:prstDash val="solid"/>
          </a:ln>
        </p:spPr>
      </p:sp>
      <p:sp>
        <p:nvSpPr>
          <p:cNvPr id="55" name="Shape 53"/>
          <p:cNvSpPr/>
          <p:nvPr/>
        </p:nvSpPr>
        <p:spPr>
          <a:xfrm flipV="1">
            <a:off x="1752600" y="2646861"/>
            <a:ext cx="8980" cy="20139"/>
          </a:xfrm>
          <a:prstGeom prst="line">
            <a:avLst/>
          </a:prstGeom>
          <a:noFill/>
          <a:ln w="19050">
            <a:solidFill>
              <a:srgbClr val="2E8B57"/>
            </a:solidFill>
            <a:prstDash val="solid"/>
          </a:ln>
        </p:spPr>
      </p:sp>
      <p:sp>
        <p:nvSpPr>
          <p:cNvPr id="56" name="Shape 54"/>
          <p:cNvSpPr/>
          <p:nvPr/>
        </p:nvSpPr>
        <p:spPr>
          <a:xfrm flipV="1">
            <a:off x="1761580" y="2628627"/>
            <a:ext cx="9933" cy="18233"/>
          </a:xfrm>
          <a:prstGeom prst="line">
            <a:avLst/>
          </a:prstGeom>
          <a:noFill/>
          <a:ln w="19050">
            <a:solidFill>
              <a:srgbClr val="2E8B57"/>
            </a:solidFill>
            <a:prstDash val="solid"/>
          </a:ln>
        </p:spPr>
      </p:sp>
      <p:sp>
        <p:nvSpPr>
          <p:cNvPr id="57" name="Shape 55"/>
          <p:cNvSpPr/>
          <p:nvPr/>
        </p:nvSpPr>
        <p:spPr>
          <a:xfrm flipV="1">
            <a:off x="1771514" y="2613916"/>
            <a:ext cx="11694" cy="14712"/>
          </a:xfrm>
          <a:prstGeom prst="line">
            <a:avLst/>
          </a:prstGeom>
          <a:noFill/>
          <a:ln w="19050">
            <a:solidFill>
              <a:srgbClr val="2E8B57"/>
            </a:solidFill>
            <a:prstDash val="solid"/>
          </a:ln>
        </p:spPr>
      </p:sp>
      <p:sp>
        <p:nvSpPr>
          <p:cNvPr id="58" name="Shape 56"/>
          <p:cNvSpPr/>
          <p:nvPr/>
        </p:nvSpPr>
        <p:spPr>
          <a:xfrm flipV="1">
            <a:off x="1783208" y="2603805"/>
            <a:ext cx="13995" cy="10110"/>
          </a:xfrm>
          <a:prstGeom prst="line">
            <a:avLst/>
          </a:prstGeom>
          <a:noFill/>
          <a:ln w="19050">
            <a:solidFill>
              <a:srgbClr val="2E8B57"/>
            </a:solidFill>
            <a:prstDash val="solid"/>
          </a:ln>
        </p:spPr>
      </p:sp>
      <p:sp>
        <p:nvSpPr>
          <p:cNvPr id="59" name="Shape 57"/>
          <p:cNvSpPr/>
          <p:nvPr/>
        </p:nvSpPr>
        <p:spPr>
          <a:xfrm flipV="1">
            <a:off x="1797203" y="2598676"/>
            <a:ext cx="16485" cy="5130"/>
          </a:xfrm>
          <a:prstGeom prst="line">
            <a:avLst/>
          </a:prstGeom>
          <a:noFill/>
          <a:ln w="19050">
            <a:solidFill>
              <a:srgbClr val="2E8B57"/>
            </a:solidFill>
            <a:prstDash val="solid"/>
          </a:ln>
        </p:spPr>
      </p:sp>
      <p:sp>
        <p:nvSpPr>
          <p:cNvPr id="60" name="Shape 58"/>
          <p:cNvSpPr/>
          <p:nvPr/>
        </p:nvSpPr>
        <p:spPr>
          <a:xfrm flipV="1">
            <a:off x="1813688" y="2598147"/>
            <a:ext cx="18786" cy="528"/>
          </a:xfrm>
          <a:prstGeom prst="line">
            <a:avLst/>
          </a:prstGeom>
          <a:noFill/>
          <a:ln w="19050">
            <a:solidFill>
              <a:srgbClr val="2E8B57"/>
            </a:solidFill>
            <a:prstDash val="solid"/>
          </a:ln>
        </p:spPr>
      </p:sp>
      <p:sp>
        <p:nvSpPr>
          <p:cNvPr id="61" name="Shape 59"/>
          <p:cNvSpPr/>
          <p:nvPr/>
        </p:nvSpPr>
        <p:spPr>
          <a:xfrm>
            <a:off x="1832474" y="2598147"/>
            <a:ext cx="20547" cy="2993"/>
          </a:xfrm>
          <a:prstGeom prst="line">
            <a:avLst/>
          </a:prstGeom>
          <a:noFill/>
          <a:ln w="19050">
            <a:solidFill>
              <a:srgbClr val="2E8B57"/>
            </a:solidFill>
            <a:prstDash val="solid"/>
          </a:ln>
        </p:spPr>
      </p:sp>
      <p:sp>
        <p:nvSpPr>
          <p:cNvPr id="62" name="Shape 60"/>
          <p:cNvSpPr/>
          <p:nvPr/>
        </p:nvSpPr>
        <p:spPr>
          <a:xfrm>
            <a:off x="1853020" y="2601141"/>
            <a:ext cx="21500" cy="4899"/>
          </a:xfrm>
          <a:prstGeom prst="line">
            <a:avLst/>
          </a:prstGeom>
          <a:noFill/>
          <a:ln w="19050">
            <a:solidFill>
              <a:srgbClr val="2E8B57"/>
            </a:solidFill>
            <a:prstDash val="solid"/>
          </a:ln>
        </p:spPr>
      </p:sp>
      <p:sp>
        <p:nvSpPr>
          <p:cNvPr id="63" name="Shape 61"/>
          <p:cNvSpPr/>
          <p:nvPr/>
        </p:nvSpPr>
        <p:spPr>
          <a:xfrm>
            <a:off x="1143000" y="2971800"/>
            <a:ext cx="15240" cy="13997"/>
          </a:xfrm>
          <a:prstGeom prst="line">
            <a:avLst/>
          </a:prstGeom>
          <a:noFill/>
          <a:ln w="19050">
            <a:solidFill>
              <a:srgbClr val="2E8B57"/>
            </a:solidFill>
            <a:prstDash val="solid"/>
          </a:ln>
        </p:spPr>
      </p:sp>
      <p:sp>
        <p:nvSpPr>
          <p:cNvPr id="64" name="Shape 62"/>
          <p:cNvSpPr/>
          <p:nvPr/>
        </p:nvSpPr>
        <p:spPr>
          <a:xfrm>
            <a:off x="1158240" y="2985797"/>
            <a:ext cx="15240" cy="11866"/>
          </a:xfrm>
          <a:prstGeom prst="line">
            <a:avLst/>
          </a:prstGeom>
          <a:noFill/>
          <a:ln w="19050">
            <a:solidFill>
              <a:srgbClr val="2E8B57"/>
            </a:solidFill>
            <a:prstDash val="solid"/>
          </a:ln>
        </p:spPr>
      </p:sp>
      <p:sp>
        <p:nvSpPr>
          <p:cNvPr id="65" name="Shape 63"/>
          <p:cNvSpPr/>
          <p:nvPr/>
        </p:nvSpPr>
        <p:spPr>
          <a:xfrm>
            <a:off x="1173480" y="2997663"/>
            <a:ext cx="15240" cy="7929"/>
          </a:xfrm>
          <a:prstGeom prst="line">
            <a:avLst/>
          </a:prstGeom>
          <a:noFill/>
          <a:ln w="19050">
            <a:solidFill>
              <a:srgbClr val="2E8B57"/>
            </a:solidFill>
            <a:prstDash val="solid"/>
          </a:ln>
        </p:spPr>
      </p:sp>
      <p:sp>
        <p:nvSpPr>
          <p:cNvPr id="66" name="Shape 64"/>
          <p:cNvSpPr/>
          <p:nvPr/>
        </p:nvSpPr>
        <p:spPr>
          <a:xfrm>
            <a:off x="1188720" y="3005592"/>
            <a:ext cx="15240" cy="2784"/>
          </a:xfrm>
          <a:prstGeom prst="line">
            <a:avLst/>
          </a:prstGeom>
          <a:noFill/>
          <a:ln w="19050">
            <a:solidFill>
              <a:srgbClr val="2E8B57"/>
            </a:solidFill>
            <a:prstDash val="solid"/>
          </a:ln>
        </p:spPr>
      </p:sp>
      <p:sp>
        <p:nvSpPr>
          <p:cNvPr id="67" name="Shape 65"/>
          <p:cNvSpPr/>
          <p:nvPr/>
        </p:nvSpPr>
        <p:spPr>
          <a:xfrm flipV="1">
            <a:off x="1203960" y="3005592"/>
            <a:ext cx="15240" cy="2784"/>
          </a:xfrm>
          <a:prstGeom prst="line">
            <a:avLst/>
          </a:prstGeom>
          <a:noFill/>
          <a:ln w="19050">
            <a:solidFill>
              <a:srgbClr val="2E8B57"/>
            </a:solidFill>
            <a:prstDash val="solid"/>
          </a:ln>
        </p:spPr>
      </p:sp>
      <p:sp>
        <p:nvSpPr>
          <p:cNvPr id="68" name="Shape 66"/>
          <p:cNvSpPr/>
          <p:nvPr/>
        </p:nvSpPr>
        <p:spPr>
          <a:xfrm flipV="1">
            <a:off x="1219200" y="2997663"/>
            <a:ext cx="15240" cy="7929"/>
          </a:xfrm>
          <a:prstGeom prst="line">
            <a:avLst/>
          </a:prstGeom>
          <a:noFill/>
          <a:ln w="19050">
            <a:solidFill>
              <a:srgbClr val="2E8B57"/>
            </a:solidFill>
            <a:prstDash val="solid"/>
          </a:ln>
        </p:spPr>
      </p:sp>
      <p:sp>
        <p:nvSpPr>
          <p:cNvPr id="69" name="Shape 67"/>
          <p:cNvSpPr/>
          <p:nvPr/>
        </p:nvSpPr>
        <p:spPr>
          <a:xfrm flipV="1">
            <a:off x="1234440" y="2985797"/>
            <a:ext cx="15240" cy="11866"/>
          </a:xfrm>
          <a:prstGeom prst="line">
            <a:avLst/>
          </a:prstGeom>
          <a:noFill/>
          <a:ln w="19050">
            <a:solidFill>
              <a:srgbClr val="2E8B57"/>
            </a:solidFill>
            <a:prstDash val="solid"/>
          </a:ln>
        </p:spPr>
      </p:sp>
      <p:sp>
        <p:nvSpPr>
          <p:cNvPr id="70" name="Shape 68"/>
          <p:cNvSpPr/>
          <p:nvPr/>
        </p:nvSpPr>
        <p:spPr>
          <a:xfrm flipV="1">
            <a:off x="1249680" y="2971800"/>
            <a:ext cx="15240" cy="13997"/>
          </a:xfrm>
          <a:prstGeom prst="line">
            <a:avLst/>
          </a:prstGeom>
          <a:noFill/>
          <a:ln w="19050">
            <a:solidFill>
              <a:srgbClr val="2E8B57"/>
            </a:solidFill>
            <a:prstDash val="solid"/>
          </a:ln>
        </p:spPr>
      </p:sp>
      <p:sp>
        <p:nvSpPr>
          <p:cNvPr id="71" name="Shape 69"/>
          <p:cNvSpPr/>
          <p:nvPr/>
        </p:nvSpPr>
        <p:spPr>
          <a:xfrm flipV="1">
            <a:off x="1264920" y="2957803"/>
            <a:ext cx="15240" cy="13997"/>
          </a:xfrm>
          <a:prstGeom prst="line">
            <a:avLst/>
          </a:prstGeom>
          <a:noFill/>
          <a:ln w="19050">
            <a:solidFill>
              <a:srgbClr val="2E8B57"/>
            </a:solidFill>
            <a:prstDash val="solid"/>
          </a:ln>
        </p:spPr>
      </p:sp>
      <p:sp>
        <p:nvSpPr>
          <p:cNvPr id="72" name="Shape 70"/>
          <p:cNvSpPr/>
          <p:nvPr/>
        </p:nvSpPr>
        <p:spPr>
          <a:xfrm flipV="1">
            <a:off x="1280160" y="2945937"/>
            <a:ext cx="15240" cy="11866"/>
          </a:xfrm>
          <a:prstGeom prst="line">
            <a:avLst/>
          </a:prstGeom>
          <a:noFill/>
          <a:ln w="19050">
            <a:solidFill>
              <a:srgbClr val="2E8B57"/>
            </a:solidFill>
            <a:prstDash val="solid"/>
          </a:ln>
        </p:spPr>
      </p:sp>
      <p:sp>
        <p:nvSpPr>
          <p:cNvPr id="73" name="Shape 71"/>
          <p:cNvSpPr/>
          <p:nvPr/>
        </p:nvSpPr>
        <p:spPr>
          <a:xfrm flipV="1">
            <a:off x="1295400" y="2938008"/>
            <a:ext cx="15240" cy="7929"/>
          </a:xfrm>
          <a:prstGeom prst="line">
            <a:avLst/>
          </a:prstGeom>
          <a:noFill/>
          <a:ln w="19050">
            <a:solidFill>
              <a:srgbClr val="2E8B57"/>
            </a:solidFill>
            <a:prstDash val="solid"/>
          </a:ln>
        </p:spPr>
      </p:sp>
      <p:sp>
        <p:nvSpPr>
          <p:cNvPr id="74" name="Shape 72"/>
          <p:cNvSpPr/>
          <p:nvPr/>
        </p:nvSpPr>
        <p:spPr>
          <a:xfrm flipV="1">
            <a:off x="1310640" y="2935224"/>
            <a:ext cx="15240" cy="2784"/>
          </a:xfrm>
          <a:prstGeom prst="line">
            <a:avLst/>
          </a:prstGeom>
          <a:noFill/>
          <a:ln w="19050">
            <a:solidFill>
              <a:srgbClr val="2E8B57"/>
            </a:solidFill>
            <a:prstDash val="solid"/>
          </a:ln>
        </p:spPr>
      </p:sp>
      <p:sp>
        <p:nvSpPr>
          <p:cNvPr id="75" name="Shape 73"/>
          <p:cNvSpPr/>
          <p:nvPr/>
        </p:nvSpPr>
        <p:spPr>
          <a:xfrm>
            <a:off x="1325880" y="2935224"/>
            <a:ext cx="15240" cy="2784"/>
          </a:xfrm>
          <a:prstGeom prst="line">
            <a:avLst/>
          </a:prstGeom>
          <a:noFill/>
          <a:ln w="19050">
            <a:solidFill>
              <a:srgbClr val="2E8B57"/>
            </a:solidFill>
            <a:prstDash val="solid"/>
          </a:ln>
        </p:spPr>
      </p:sp>
      <p:sp>
        <p:nvSpPr>
          <p:cNvPr id="76" name="Shape 74"/>
          <p:cNvSpPr/>
          <p:nvPr/>
        </p:nvSpPr>
        <p:spPr>
          <a:xfrm>
            <a:off x="1341120" y="2938008"/>
            <a:ext cx="15240" cy="7929"/>
          </a:xfrm>
          <a:prstGeom prst="line">
            <a:avLst/>
          </a:prstGeom>
          <a:noFill/>
          <a:ln w="19050">
            <a:solidFill>
              <a:srgbClr val="2E8B57"/>
            </a:solidFill>
            <a:prstDash val="solid"/>
          </a:ln>
        </p:spPr>
      </p:sp>
      <p:sp>
        <p:nvSpPr>
          <p:cNvPr id="77" name="Shape 75"/>
          <p:cNvSpPr/>
          <p:nvPr/>
        </p:nvSpPr>
        <p:spPr>
          <a:xfrm>
            <a:off x="1356360" y="2945937"/>
            <a:ext cx="15240" cy="11866"/>
          </a:xfrm>
          <a:prstGeom prst="line">
            <a:avLst/>
          </a:prstGeom>
          <a:noFill/>
          <a:ln w="19050">
            <a:solidFill>
              <a:srgbClr val="2E8B57"/>
            </a:solidFill>
            <a:prstDash val="solid"/>
          </a:ln>
        </p:spPr>
      </p:sp>
      <p:sp>
        <p:nvSpPr>
          <p:cNvPr id="78" name="Shape 76"/>
          <p:cNvSpPr/>
          <p:nvPr/>
        </p:nvSpPr>
        <p:spPr>
          <a:xfrm>
            <a:off x="1371600" y="2957803"/>
            <a:ext cx="15240" cy="13997"/>
          </a:xfrm>
          <a:prstGeom prst="line">
            <a:avLst/>
          </a:prstGeom>
          <a:noFill/>
          <a:ln w="19050">
            <a:solidFill>
              <a:srgbClr val="2E8B57"/>
            </a:solidFill>
            <a:prstDash val="solid"/>
          </a:ln>
        </p:spPr>
      </p:sp>
      <p:sp>
        <p:nvSpPr>
          <p:cNvPr id="79" name="Shape 77"/>
          <p:cNvSpPr/>
          <p:nvPr/>
        </p:nvSpPr>
        <p:spPr>
          <a:xfrm>
            <a:off x="1386840" y="2971800"/>
            <a:ext cx="15240" cy="13997"/>
          </a:xfrm>
          <a:prstGeom prst="line">
            <a:avLst/>
          </a:prstGeom>
          <a:noFill/>
          <a:ln w="19050">
            <a:solidFill>
              <a:srgbClr val="2E8B57"/>
            </a:solidFill>
            <a:prstDash val="solid"/>
          </a:ln>
        </p:spPr>
      </p:sp>
      <p:sp>
        <p:nvSpPr>
          <p:cNvPr id="80" name="Shape 78"/>
          <p:cNvSpPr/>
          <p:nvPr/>
        </p:nvSpPr>
        <p:spPr>
          <a:xfrm>
            <a:off x="1402080" y="2985797"/>
            <a:ext cx="15240" cy="11866"/>
          </a:xfrm>
          <a:prstGeom prst="line">
            <a:avLst/>
          </a:prstGeom>
          <a:noFill/>
          <a:ln w="19050">
            <a:solidFill>
              <a:srgbClr val="2E8B57"/>
            </a:solidFill>
            <a:prstDash val="solid"/>
          </a:ln>
        </p:spPr>
      </p:sp>
      <p:sp>
        <p:nvSpPr>
          <p:cNvPr id="81" name="Shape 79"/>
          <p:cNvSpPr/>
          <p:nvPr/>
        </p:nvSpPr>
        <p:spPr>
          <a:xfrm>
            <a:off x="1417320" y="2997663"/>
            <a:ext cx="15240" cy="7929"/>
          </a:xfrm>
          <a:prstGeom prst="line">
            <a:avLst/>
          </a:prstGeom>
          <a:noFill/>
          <a:ln w="19050">
            <a:solidFill>
              <a:srgbClr val="2E8B57"/>
            </a:solidFill>
            <a:prstDash val="solid"/>
          </a:ln>
        </p:spPr>
      </p:sp>
      <p:sp>
        <p:nvSpPr>
          <p:cNvPr id="82" name="Shape 80"/>
          <p:cNvSpPr/>
          <p:nvPr/>
        </p:nvSpPr>
        <p:spPr>
          <a:xfrm>
            <a:off x="1432560" y="3005592"/>
            <a:ext cx="15240" cy="2784"/>
          </a:xfrm>
          <a:prstGeom prst="line">
            <a:avLst/>
          </a:prstGeom>
          <a:noFill/>
          <a:ln w="19050">
            <a:solidFill>
              <a:srgbClr val="2E8B57"/>
            </a:solidFill>
            <a:prstDash val="solid"/>
          </a:ln>
        </p:spPr>
      </p:sp>
      <p:sp>
        <p:nvSpPr>
          <p:cNvPr id="83" name="Shape 81"/>
          <p:cNvSpPr/>
          <p:nvPr/>
        </p:nvSpPr>
        <p:spPr>
          <a:xfrm flipV="1">
            <a:off x="1447800" y="3005592"/>
            <a:ext cx="15240" cy="2784"/>
          </a:xfrm>
          <a:prstGeom prst="line">
            <a:avLst/>
          </a:prstGeom>
          <a:noFill/>
          <a:ln w="19050">
            <a:solidFill>
              <a:srgbClr val="2E8B57"/>
            </a:solidFill>
            <a:prstDash val="solid"/>
          </a:ln>
        </p:spPr>
      </p:sp>
      <p:sp>
        <p:nvSpPr>
          <p:cNvPr id="84" name="Shape 82"/>
          <p:cNvSpPr/>
          <p:nvPr/>
        </p:nvSpPr>
        <p:spPr>
          <a:xfrm flipV="1">
            <a:off x="1463040" y="2997663"/>
            <a:ext cx="15240" cy="7929"/>
          </a:xfrm>
          <a:prstGeom prst="line">
            <a:avLst/>
          </a:prstGeom>
          <a:noFill/>
          <a:ln w="19050">
            <a:solidFill>
              <a:srgbClr val="2E8B57"/>
            </a:solidFill>
            <a:prstDash val="solid"/>
          </a:ln>
        </p:spPr>
      </p:sp>
      <p:sp>
        <p:nvSpPr>
          <p:cNvPr id="85" name="Shape 83"/>
          <p:cNvSpPr/>
          <p:nvPr/>
        </p:nvSpPr>
        <p:spPr>
          <a:xfrm flipV="1">
            <a:off x="1478280" y="2985797"/>
            <a:ext cx="15240" cy="11866"/>
          </a:xfrm>
          <a:prstGeom prst="line">
            <a:avLst/>
          </a:prstGeom>
          <a:noFill/>
          <a:ln w="19050">
            <a:solidFill>
              <a:srgbClr val="2E8B57"/>
            </a:solidFill>
            <a:prstDash val="solid"/>
          </a:ln>
        </p:spPr>
      </p:sp>
      <p:sp>
        <p:nvSpPr>
          <p:cNvPr id="86" name="Shape 84"/>
          <p:cNvSpPr/>
          <p:nvPr/>
        </p:nvSpPr>
        <p:spPr>
          <a:xfrm flipV="1">
            <a:off x="1493520" y="2971800"/>
            <a:ext cx="15240" cy="13997"/>
          </a:xfrm>
          <a:prstGeom prst="line">
            <a:avLst/>
          </a:prstGeom>
          <a:noFill/>
          <a:ln w="19050">
            <a:solidFill>
              <a:srgbClr val="2E8B57"/>
            </a:solidFill>
            <a:prstDash val="solid"/>
          </a:ln>
        </p:spPr>
      </p:sp>
      <p:sp>
        <p:nvSpPr>
          <p:cNvPr id="87" name="Shape 85"/>
          <p:cNvSpPr/>
          <p:nvPr/>
        </p:nvSpPr>
        <p:spPr>
          <a:xfrm flipV="1">
            <a:off x="1508760" y="2957803"/>
            <a:ext cx="15240" cy="13997"/>
          </a:xfrm>
          <a:prstGeom prst="line">
            <a:avLst/>
          </a:prstGeom>
          <a:noFill/>
          <a:ln w="19050">
            <a:solidFill>
              <a:srgbClr val="2E8B57"/>
            </a:solidFill>
            <a:prstDash val="solid"/>
          </a:ln>
        </p:spPr>
      </p:sp>
      <p:sp>
        <p:nvSpPr>
          <p:cNvPr id="88" name="Shape 86"/>
          <p:cNvSpPr/>
          <p:nvPr/>
        </p:nvSpPr>
        <p:spPr>
          <a:xfrm flipV="1">
            <a:off x="1524000" y="2945937"/>
            <a:ext cx="15240" cy="11866"/>
          </a:xfrm>
          <a:prstGeom prst="line">
            <a:avLst/>
          </a:prstGeom>
          <a:noFill/>
          <a:ln w="19050">
            <a:solidFill>
              <a:srgbClr val="2E8B57"/>
            </a:solidFill>
            <a:prstDash val="solid"/>
          </a:ln>
        </p:spPr>
      </p:sp>
      <p:sp>
        <p:nvSpPr>
          <p:cNvPr id="89" name="Shape 87"/>
          <p:cNvSpPr/>
          <p:nvPr/>
        </p:nvSpPr>
        <p:spPr>
          <a:xfrm flipV="1">
            <a:off x="1539240" y="2938008"/>
            <a:ext cx="15240" cy="7929"/>
          </a:xfrm>
          <a:prstGeom prst="line">
            <a:avLst/>
          </a:prstGeom>
          <a:noFill/>
          <a:ln w="19050">
            <a:solidFill>
              <a:srgbClr val="2E8B57"/>
            </a:solidFill>
            <a:prstDash val="solid"/>
          </a:ln>
        </p:spPr>
      </p:sp>
      <p:sp>
        <p:nvSpPr>
          <p:cNvPr id="90" name="Shape 88"/>
          <p:cNvSpPr/>
          <p:nvPr/>
        </p:nvSpPr>
        <p:spPr>
          <a:xfrm flipV="1">
            <a:off x="1554480" y="2935224"/>
            <a:ext cx="15240" cy="2784"/>
          </a:xfrm>
          <a:prstGeom prst="line">
            <a:avLst/>
          </a:prstGeom>
          <a:noFill/>
          <a:ln w="19050">
            <a:solidFill>
              <a:srgbClr val="2E8B57"/>
            </a:solidFill>
            <a:prstDash val="solid"/>
          </a:ln>
        </p:spPr>
      </p:sp>
      <p:sp>
        <p:nvSpPr>
          <p:cNvPr id="91" name="Shape 89"/>
          <p:cNvSpPr/>
          <p:nvPr/>
        </p:nvSpPr>
        <p:spPr>
          <a:xfrm>
            <a:off x="1569720" y="2935224"/>
            <a:ext cx="15240" cy="2784"/>
          </a:xfrm>
          <a:prstGeom prst="line">
            <a:avLst/>
          </a:prstGeom>
          <a:noFill/>
          <a:ln w="19050">
            <a:solidFill>
              <a:srgbClr val="2E8B57"/>
            </a:solidFill>
            <a:prstDash val="solid"/>
          </a:ln>
        </p:spPr>
      </p:sp>
      <p:sp>
        <p:nvSpPr>
          <p:cNvPr id="92" name="Shape 90"/>
          <p:cNvSpPr/>
          <p:nvPr/>
        </p:nvSpPr>
        <p:spPr>
          <a:xfrm>
            <a:off x="1584960" y="2938008"/>
            <a:ext cx="15240" cy="7929"/>
          </a:xfrm>
          <a:prstGeom prst="line">
            <a:avLst/>
          </a:prstGeom>
          <a:noFill/>
          <a:ln w="19050">
            <a:solidFill>
              <a:srgbClr val="2E8B57"/>
            </a:solidFill>
            <a:prstDash val="solid"/>
          </a:ln>
        </p:spPr>
      </p:sp>
      <p:sp>
        <p:nvSpPr>
          <p:cNvPr id="93" name="Shape 91"/>
          <p:cNvSpPr/>
          <p:nvPr/>
        </p:nvSpPr>
        <p:spPr>
          <a:xfrm>
            <a:off x="1600200" y="2945937"/>
            <a:ext cx="15240" cy="11866"/>
          </a:xfrm>
          <a:prstGeom prst="line">
            <a:avLst/>
          </a:prstGeom>
          <a:noFill/>
          <a:ln w="19050">
            <a:solidFill>
              <a:srgbClr val="2E8B57"/>
            </a:solidFill>
            <a:prstDash val="solid"/>
          </a:ln>
        </p:spPr>
      </p:sp>
      <p:sp>
        <p:nvSpPr>
          <p:cNvPr id="94" name="Shape 92"/>
          <p:cNvSpPr/>
          <p:nvPr/>
        </p:nvSpPr>
        <p:spPr>
          <a:xfrm>
            <a:off x="1615440" y="2957803"/>
            <a:ext cx="15240" cy="13997"/>
          </a:xfrm>
          <a:prstGeom prst="line">
            <a:avLst/>
          </a:prstGeom>
          <a:noFill/>
          <a:ln w="19050">
            <a:solidFill>
              <a:srgbClr val="2E8B57"/>
            </a:solidFill>
            <a:prstDash val="solid"/>
          </a:ln>
        </p:spPr>
      </p:sp>
      <p:sp>
        <p:nvSpPr>
          <p:cNvPr id="95" name="Shape 93"/>
          <p:cNvSpPr/>
          <p:nvPr/>
        </p:nvSpPr>
        <p:spPr>
          <a:xfrm>
            <a:off x="1630680" y="2971800"/>
            <a:ext cx="15240" cy="13997"/>
          </a:xfrm>
          <a:prstGeom prst="line">
            <a:avLst/>
          </a:prstGeom>
          <a:noFill/>
          <a:ln w="19050">
            <a:solidFill>
              <a:srgbClr val="2E8B57"/>
            </a:solidFill>
            <a:prstDash val="solid"/>
          </a:ln>
        </p:spPr>
      </p:sp>
      <p:sp>
        <p:nvSpPr>
          <p:cNvPr id="96" name="Shape 94"/>
          <p:cNvSpPr/>
          <p:nvPr/>
        </p:nvSpPr>
        <p:spPr>
          <a:xfrm>
            <a:off x="1645920" y="2985797"/>
            <a:ext cx="15240" cy="11866"/>
          </a:xfrm>
          <a:prstGeom prst="line">
            <a:avLst/>
          </a:prstGeom>
          <a:noFill/>
          <a:ln w="19050">
            <a:solidFill>
              <a:srgbClr val="2E8B57"/>
            </a:solidFill>
            <a:prstDash val="solid"/>
          </a:ln>
        </p:spPr>
      </p:sp>
      <p:sp>
        <p:nvSpPr>
          <p:cNvPr id="97" name="Shape 95"/>
          <p:cNvSpPr/>
          <p:nvPr/>
        </p:nvSpPr>
        <p:spPr>
          <a:xfrm>
            <a:off x="1661160" y="2997663"/>
            <a:ext cx="15240" cy="7929"/>
          </a:xfrm>
          <a:prstGeom prst="line">
            <a:avLst/>
          </a:prstGeom>
          <a:noFill/>
          <a:ln w="19050">
            <a:solidFill>
              <a:srgbClr val="2E8B57"/>
            </a:solidFill>
            <a:prstDash val="solid"/>
          </a:ln>
        </p:spPr>
      </p:sp>
      <p:sp>
        <p:nvSpPr>
          <p:cNvPr id="98" name="Shape 96"/>
          <p:cNvSpPr/>
          <p:nvPr/>
        </p:nvSpPr>
        <p:spPr>
          <a:xfrm>
            <a:off x="1676400" y="3005592"/>
            <a:ext cx="15240" cy="2784"/>
          </a:xfrm>
          <a:prstGeom prst="line">
            <a:avLst/>
          </a:prstGeom>
          <a:noFill/>
          <a:ln w="19050">
            <a:solidFill>
              <a:srgbClr val="2E8B57"/>
            </a:solidFill>
            <a:prstDash val="solid"/>
          </a:ln>
        </p:spPr>
      </p:sp>
      <p:sp>
        <p:nvSpPr>
          <p:cNvPr id="99" name="Shape 97"/>
          <p:cNvSpPr/>
          <p:nvPr/>
        </p:nvSpPr>
        <p:spPr>
          <a:xfrm flipV="1">
            <a:off x="1691640" y="3005592"/>
            <a:ext cx="15240" cy="2784"/>
          </a:xfrm>
          <a:prstGeom prst="line">
            <a:avLst/>
          </a:prstGeom>
          <a:noFill/>
          <a:ln w="19050">
            <a:solidFill>
              <a:srgbClr val="2E8B57"/>
            </a:solidFill>
            <a:prstDash val="solid"/>
          </a:ln>
        </p:spPr>
      </p:sp>
      <p:sp>
        <p:nvSpPr>
          <p:cNvPr id="100" name="Shape 98"/>
          <p:cNvSpPr/>
          <p:nvPr/>
        </p:nvSpPr>
        <p:spPr>
          <a:xfrm flipV="1">
            <a:off x="1706880" y="2997663"/>
            <a:ext cx="15240" cy="7929"/>
          </a:xfrm>
          <a:prstGeom prst="line">
            <a:avLst/>
          </a:prstGeom>
          <a:noFill/>
          <a:ln w="19050">
            <a:solidFill>
              <a:srgbClr val="2E8B57"/>
            </a:solidFill>
            <a:prstDash val="solid"/>
          </a:ln>
        </p:spPr>
      </p:sp>
      <p:sp>
        <p:nvSpPr>
          <p:cNvPr id="101" name="Shape 99"/>
          <p:cNvSpPr/>
          <p:nvPr/>
        </p:nvSpPr>
        <p:spPr>
          <a:xfrm flipV="1">
            <a:off x="1722120" y="2985797"/>
            <a:ext cx="15240" cy="11866"/>
          </a:xfrm>
          <a:prstGeom prst="line">
            <a:avLst/>
          </a:prstGeom>
          <a:noFill/>
          <a:ln w="19050">
            <a:solidFill>
              <a:srgbClr val="2E8B57"/>
            </a:solidFill>
            <a:prstDash val="solid"/>
          </a:ln>
        </p:spPr>
      </p:sp>
      <p:sp>
        <p:nvSpPr>
          <p:cNvPr id="102" name="Shape 100"/>
          <p:cNvSpPr/>
          <p:nvPr/>
        </p:nvSpPr>
        <p:spPr>
          <a:xfrm flipV="1">
            <a:off x="1737360" y="2971800"/>
            <a:ext cx="15240" cy="13997"/>
          </a:xfrm>
          <a:prstGeom prst="line">
            <a:avLst/>
          </a:prstGeom>
          <a:noFill/>
          <a:ln w="19050">
            <a:solidFill>
              <a:srgbClr val="2E8B57"/>
            </a:solidFill>
            <a:prstDash val="solid"/>
          </a:ln>
        </p:spPr>
      </p:sp>
      <p:sp>
        <p:nvSpPr>
          <p:cNvPr id="103" name="Shape 101"/>
          <p:cNvSpPr/>
          <p:nvPr/>
        </p:nvSpPr>
        <p:spPr>
          <a:xfrm flipV="1">
            <a:off x="1752600" y="2957803"/>
            <a:ext cx="15240" cy="13997"/>
          </a:xfrm>
          <a:prstGeom prst="line">
            <a:avLst/>
          </a:prstGeom>
          <a:noFill/>
          <a:ln w="19050">
            <a:solidFill>
              <a:srgbClr val="2E8B57"/>
            </a:solidFill>
            <a:prstDash val="solid"/>
          </a:ln>
        </p:spPr>
      </p:sp>
      <p:sp>
        <p:nvSpPr>
          <p:cNvPr id="104" name="Shape 102"/>
          <p:cNvSpPr/>
          <p:nvPr/>
        </p:nvSpPr>
        <p:spPr>
          <a:xfrm flipV="1">
            <a:off x="1767840" y="2945937"/>
            <a:ext cx="15240" cy="11866"/>
          </a:xfrm>
          <a:prstGeom prst="line">
            <a:avLst/>
          </a:prstGeom>
          <a:noFill/>
          <a:ln w="19050">
            <a:solidFill>
              <a:srgbClr val="2E8B57"/>
            </a:solidFill>
            <a:prstDash val="solid"/>
          </a:ln>
        </p:spPr>
      </p:sp>
      <p:sp>
        <p:nvSpPr>
          <p:cNvPr id="105" name="Shape 103"/>
          <p:cNvSpPr/>
          <p:nvPr/>
        </p:nvSpPr>
        <p:spPr>
          <a:xfrm flipV="1">
            <a:off x="1783080" y="2938008"/>
            <a:ext cx="15240" cy="7929"/>
          </a:xfrm>
          <a:prstGeom prst="line">
            <a:avLst/>
          </a:prstGeom>
          <a:noFill/>
          <a:ln w="19050">
            <a:solidFill>
              <a:srgbClr val="2E8B57"/>
            </a:solidFill>
            <a:prstDash val="solid"/>
          </a:ln>
        </p:spPr>
      </p:sp>
      <p:sp>
        <p:nvSpPr>
          <p:cNvPr id="106" name="Shape 104"/>
          <p:cNvSpPr/>
          <p:nvPr/>
        </p:nvSpPr>
        <p:spPr>
          <a:xfrm flipV="1">
            <a:off x="1798320" y="2935224"/>
            <a:ext cx="15240" cy="2784"/>
          </a:xfrm>
          <a:prstGeom prst="line">
            <a:avLst/>
          </a:prstGeom>
          <a:noFill/>
          <a:ln w="19050">
            <a:solidFill>
              <a:srgbClr val="2E8B57"/>
            </a:solidFill>
            <a:prstDash val="solid"/>
          </a:ln>
        </p:spPr>
      </p:sp>
      <p:sp>
        <p:nvSpPr>
          <p:cNvPr id="107" name="Shape 105"/>
          <p:cNvSpPr/>
          <p:nvPr/>
        </p:nvSpPr>
        <p:spPr>
          <a:xfrm>
            <a:off x="1813560" y="2935224"/>
            <a:ext cx="15240" cy="2784"/>
          </a:xfrm>
          <a:prstGeom prst="line">
            <a:avLst/>
          </a:prstGeom>
          <a:noFill/>
          <a:ln w="19050">
            <a:solidFill>
              <a:srgbClr val="2E8B57"/>
            </a:solidFill>
            <a:prstDash val="solid"/>
          </a:ln>
        </p:spPr>
      </p:sp>
      <p:sp>
        <p:nvSpPr>
          <p:cNvPr id="108" name="Shape 106"/>
          <p:cNvSpPr/>
          <p:nvPr/>
        </p:nvSpPr>
        <p:spPr>
          <a:xfrm>
            <a:off x="1828800" y="2938008"/>
            <a:ext cx="15240" cy="7929"/>
          </a:xfrm>
          <a:prstGeom prst="line">
            <a:avLst/>
          </a:prstGeom>
          <a:noFill/>
          <a:ln w="19050">
            <a:solidFill>
              <a:srgbClr val="2E8B57"/>
            </a:solidFill>
            <a:prstDash val="solid"/>
          </a:ln>
        </p:spPr>
      </p:sp>
      <p:sp>
        <p:nvSpPr>
          <p:cNvPr id="109" name="Shape 107"/>
          <p:cNvSpPr/>
          <p:nvPr/>
        </p:nvSpPr>
        <p:spPr>
          <a:xfrm>
            <a:off x="1844040" y="2945937"/>
            <a:ext cx="15240" cy="11866"/>
          </a:xfrm>
          <a:prstGeom prst="line">
            <a:avLst/>
          </a:prstGeom>
          <a:noFill/>
          <a:ln w="19050">
            <a:solidFill>
              <a:srgbClr val="2E8B57"/>
            </a:solidFill>
            <a:prstDash val="solid"/>
          </a:ln>
        </p:spPr>
      </p:sp>
      <p:sp>
        <p:nvSpPr>
          <p:cNvPr id="110" name="Shape 108"/>
          <p:cNvSpPr/>
          <p:nvPr/>
        </p:nvSpPr>
        <p:spPr>
          <a:xfrm>
            <a:off x="1859280" y="2957803"/>
            <a:ext cx="15240" cy="13997"/>
          </a:xfrm>
          <a:prstGeom prst="line">
            <a:avLst/>
          </a:prstGeom>
          <a:noFill/>
          <a:ln w="19050">
            <a:solidFill>
              <a:srgbClr val="2E8B57"/>
            </a:solidFill>
            <a:prstDash val="solid"/>
          </a:ln>
        </p:spPr>
      </p:sp>
      <p:sp>
        <p:nvSpPr>
          <p:cNvPr id="111" name="Shape 109"/>
          <p:cNvSpPr/>
          <p:nvPr/>
        </p:nvSpPr>
        <p:spPr>
          <a:xfrm>
            <a:off x="1143000" y="2971800"/>
            <a:ext cx="8980" cy="20139"/>
          </a:xfrm>
          <a:prstGeom prst="line">
            <a:avLst/>
          </a:prstGeom>
          <a:noFill/>
          <a:ln w="19050">
            <a:solidFill>
              <a:srgbClr val="2E8B57"/>
            </a:solidFill>
            <a:prstDash val="solid"/>
          </a:ln>
        </p:spPr>
      </p:sp>
      <p:sp>
        <p:nvSpPr>
          <p:cNvPr id="112" name="Shape 110"/>
          <p:cNvSpPr/>
          <p:nvPr/>
        </p:nvSpPr>
        <p:spPr>
          <a:xfrm>
            <a:off x="1151980" y="2991939"/>
            <a:ext cx="9933" cy="18233"/>
          </a:xfrm>
          <a:prstGeom prst="line">
            <a:avLst/>
          </a:prstGeom>
          <a:noFill/>
          <a:ln w="19050">
            <a:solidFill>
              <a:srgbClr val="2E8B57"/>
            </a:solidFill>
            <a:prstDash val="solid"/>
          </a:ln>
        </p:spPr>
      </p:sp>
      <p:sp>
        <p:nvSpPr>
          <p:cNvPr id="113" name="Shape 111"/>
          <p:cNvSpPr/>
          <p:nvPr/>
        </p:nvSpPr>
        <p:spPr>
          <a:xfrm>
            <a:off x="1161914" y="3010173"/>
            <a:ext cx="11694" cy="14712"/>
          </a:xfrm>
          <a:prstGeom prst="line">
            <a:avLst/>
          </a:prstGeom>
          <a:noFill/>
          <a:ln w="19050">
            <a:solidFill>
              <a:srgbClr val="2E8B57"/>
            </a:solidFill>
            <a:prstDash val="solid"/>
          </a:ln>
        </p:spPr>
      </p:sp>
      <p:sp>
        <p:nvSpPr>
          <p:cNvPr id="114" name="Shape 112"/>
          <p:cNvSpPr/>
          <p:nvPr/>
        </p:nvSpPr>
        <p:spPr>
          <a:xfrm>
            <a:off x="1173608" y="3024884"/>
            <a:ext cx="13995" cy="10110"/>
          </a:xfrm>
          <a:prstGeom prst="line">
            <a:avLst/>
          </a:prstGeom>
          <a:noFill/>
          <a:ln w="19050">
            <a:solidFill>
              <a:srgbClr val="2E8B57"/>
            </a:solidFill>
            <a:prstDash val="solid"/>
          </a:ln>
        </p:spPr>
      </p:sp>
      <p:sp>
        <p:nvSpPr>
          <p:cNvPr id="115" name="Shape 113"/>
          <p:cNvSpPr/>
          <p:nvPr/>
        </p:nvSpPr>
        <p:spPr>
          <a:xfrm>
            <a:off x="1187603" y="3034995"/>
            <a:ext cx="16485" cy="5130"/>
          </a:xfrm>
          <a:prstGeom prst="line">
            <a:avLst/>
          </a:prstGeom>
          <a:noFill/>
          <a:ln w="19050">
            <a:solidFill>
              <a:srgbClr val="2E8B57"/>
            </a:solidFill>
            <a:prstDash val="solid"/>
          </a:ln>
        </p:spPr>
      </p:sp>
      <p:sp>
        <p:nvSpPr>
          <p:cNvPr id="116" name="Shape 114"/>
          <p:cNvSpPr/>
          <p:nvPr/>
        </p:nvSpPr>
        <p:spPr>
          <a:xfrm>
            <a:off x="1204088" y="3040124"/>
            <a:ext cx="18786" cy="528"/>
          </a:xfrm>
          <a:prstGeom prst="line">
            <a:avLst/>
          </a:prstGeom>
          <a:noFill/>
          <a:ln w="19050">
            <a:solidFill>
              <a:srgbClr val="2E8B57"/>
            </a:solidFill>
            <a:prstDash val="solid"/>
          </a:ln>
        </p:spPr>
      </p:sp>
      <p:sp>
        <p:nvSpPr>
          <p:cNvPr id="117" name="Shape 115"/>
          <p:cNvSpPr/>
          <p:nvPr/>
        </p:nvSpPr>
        <p:spPr>
          <a:xfrm flipV="1">
            <a:off x="1222874" y="3037659"/>
            <a:ext cx="20547" cy="2993"/>
          </a:xfrm>
          <a:prstGeom prst="line">
            <a:avLst/>
          </a:prstGeom>
          <a:noFill/>
          <a:ln w="19050">
            <a:solidFill>
              <a:srgbClr val="2E8B57"/>
            </a:solidFill>
            <a:prstDash val="solid"/>
          </a:ln>
        </p:spPr>
      </p:sp>
      <p:sp>
        <p:nvSpPr>
          <p:cNvPr id="118" name="Shape 116"/>
          <p:cNvSpPr/>
          <p:nvPr/>
        </p:nvSpPr>
        <p:spPr>
          <a:xfrm flipV="1">
            <a:off x="1243420" y="3032760"/>
            <a:ext cx="21500" cy="4899"/>
          </a:xfrm>
          <a:prstGeom prst="line">
            <a:avLst/>
          </a:prstGeom>
          <a:noFill/>
          <a:ln w="19050">
            <a:solidFill>
              <a:srgbClr val="2E8B57"/>
            </a:solidFill>
            <a:prstDash val="solid"/>
          </a:ln>
        </p:spPr>
      </p:sp>
      <p:sp>
        <p:nvSpPr>
          <p:cNvPr id="119" name="Shape 117"/>
          <p:cNvSpPr/>
          <p:nvPr/>
        </p:nvSpPr>
        <p:spPr>
          <a:xfrm flipV="1">
            <a:off x="1264920" y="3027861"/>
            <a:ext cx="21500" cy="4899"/>
          </a:xfrm>
          <a:prstGeom prst="line">
            <a:avLst/>
          </a:prstGeom>
          <a:noFill/>
          <a:ln w="19050">
            <a:solidFill>
              <a:srgbClr val="2E8B57"/>
            </a:solidFill>
            <a:prstDash val="solid"/>
          </a:ln>
        </p:spPr>
      </p:sp>
      <p:sp>
        <p:nvSpPr>
          <p:cNvPr id="120" name="Shape 118"/>
          <p:cNvSpPr/>
          <p:nvPr/>
        </p:nvSpPr>
        <p:spPr>
          <a:xfrm flipV="1">
            <a:off x="1286420" y="3024867"/>
            <a:ext cx="20547" cy="2993"/>
          </a:xfrm>
          <a:prstGeom prst="line">
            <a:avLst/>
          </a:prstGeom>
          <a:noFill/>
          <a:ln w="19050">
            <a:solidFill>
              <a:srgbClr val="2E8B57"/>
            </a:solidFill>
            <a:prstDash val="solid"/>
          </a:ln>
        </p:spPr>
      </p:sp>
      <p:sp>
        <p:nvSpPr>
          <p:cNvPr id="121" name="Shape 119"/>
          <p:cNvSpPr/>
          <p:nvPr/>
        </p:nvSpPr>
        <p:spPr>
          <a:xfrm>
            <a:off x="1306966" y="3024867"/>
            <a:ext cx="18786" cy="528"/>
          </a:xfrm>
          <a:prstGeom prst="line">
            <a:avLst/>
          </a:prstGeom>
          <a:noFill/>
          <a:ln w="19050">
            <a:solidFill>
              <a:srgbClr val="2E8B57"/>
            </a:solidFill>
            <a:prstDash val="solid"/>
          </a:ln>
        </p:spPr>
      </p:sp>
      <p:sp>
        <p:nvSpPr>
          <p:cNvPr id="122" name="Shape 120"/>
          <p:cNvSpPr/>
          <p:nvPr/>
        </p:nvSpPr>
        <p:spPr>
          <a:xfrm>
            <a:off x="1325752" y="3025396"/>
            <a:ext cx="16485" cy="5130"/>
          </a:xfrm>
          <a:prstGeom prst="line">
            <a:avLst/>
          </a:prstGeom>
          <a:noFill/>
          <a:ln w="19050">
            <a:solidFill>
              <a:srgbClr val="2E8B57"/>
            </a:solidFill>
            <a:prstDash val="solid"/>
          </a:ln>
        </p:spPr>
      </p:sp>
      <p:sp>
        <p:nvSpPr>
          <p:cNvPr id="123" name="Shape 121"/>
          <p:cNvSpPr/>
          <p:nvPr/>
        </p:nvSpPr>
        <p:spPr>
          <a:xfrm>
            <a:off x="1342237" y="3030525"/>
            <a:ext cx="13995" cy="10110"/>
          </a:xfrm>
          <a:prstGeom prst="line">
            <a:avLst/>
          </a:prstGeom>
          <a:noFill/>
          <a:ln w="19050">
            <a:solidFill>
              <a:srgbClr val="2E8B57"/>
            </a:solidFill>
            <a:prstDash val="solid"/>
          </a:ln>
        </p:spPr>
      </p:sp>
      <p:sp>
        <p:nvSpPr>
          <p:cNvPr id="124" name="Shape 122"/>
          <p:cNvSpPr/>
          <p:nvPr/>
        </p:nvSpPr>
        <p:spPr>
          <a:xfrm>
            <a:off x="1356232" y="3040636"/>
            <a:ext cx="11694" cy="14712"/>
          </a:xfrm>
          <a:prstGeom prst="line">
            <a:avLst/>
          </a:prstGeom>
          <a:noFill/>
          <a:ln w="19050">
            <a:solidFill>
              <a:srgbClr val="2E8B57"/>
            </a:solidFill>
            <a:prstDash val="solid"/>
          </a:ln>
        </p:spPr>
      </p:sp>
      <p:sp>
        <p:nvSpPr>
          <p:cNvPr id="125" name="Shape 123"/>
          <p:cNvSpPr/>
          <p:nvPr/>
        </p:nvSpPr>
        <p:spPr>
          <a:xfrm>
            <a:off x="1367926" y="3055347"/>
            <a:ext cx="9933" cy="18233"/>
          </a:xfrm>
          <a:prstGeom prst="line">
            <a:avLst/>
          </a:prstGeom>
          <a:noFill/>
          <a:ln w="19050">
            <a:solidFill>
              <a:srgbClr val="2E8B57"/>
            </a:solidFill>
            <a:prstDash val="solid"/>
          </a:ln>
        </p:spPr>
      </p:sp>
      <p:sp>
        <p:nvSpPr>
          <p:cNvPr id="126" name="Shape 124"/>
          <p:cNvSpPr/>
          <p:nvPr/>
        </p:nvSpPr>
        <p:spPr>
          <a:xfrm>
            <a:off x="1377860" y="3073581"/>
            <a:ext cx="8980" cy="20139"/>
          </a:xfrm>
          <a:prstGeom prst="line">
            <a:avLst/>
          </a:prstGeom>
          <a:noFill/>
          <a:ln w="19050">
            <a:solidFill>
              <a:srgbClr val="2E8B57"/>
            </a:solidFill>
            <a:prstDash val="solid"/>
          </a:ln>
        </p:spPr>
      </p:sp>
      <p:sp>
        <p:nvSpPr>
          <p:cNvPr id="127" name="Shape 125"/>
          <p:cNvSpPr/>
          <p:nvPr/>
        </p:nvSpPr>
        <p:spPr>
          <a:xfrm>
            <a:off x="1386840" y="3093720"/>
            <a:ext cx="8980" cy="20139"/>
          </a:xfrm>
          <a:prstGeom prst="line">
            <a:avLst/>
          </a:prstGeom>
          <a:noFill/>
          <a:ln w="19050">
            <a:solidFill>
              <a:srgbClr val="2E8B57"/>
            </a:solidFill>
            <a:prstDash val="solid"/>
          </a:ln>
        </p:spPr>
      </p:sp>
      <p:sp>
        <p:nvSpPr>
          <p:cNvPr id="128" name="Shape 126"/>
          <p:cNvSpPr/>
          <p:nvPr/>
        </p:nvSpPr>
        <p:spPr>
          <a:xfrm>
            <a:off x="1395820" y="3113859"/>
            <a:ext cx="9933" cy="18233"/>
          </a:xfrm>
          <a:prstGeom prst="line">
            <a:avLst/>
          </a:prstGeom>
          <a:noFill/>
          <a:ln w="19050">
            <a:solidFill>
              <a:srgbClr val="2E8B57"/>
            </a:solidFill>
            <a:prstDash val="solid"/>
          </a:ln>
        </p:spPr>
      </p:sp>
      <p:sp>
        <p:nvSpPr>
          <p:cNvPr id="129" name="Shape 127"/>
          <p:cNvSpPr/>
          <p:nvPr/>
        </p:nvSpPr>
        <p:spPr>
          <a:xfrm>
            <a:off x="1405754" y="3132093"/>
            <a:ext cx="11694" cy="14712"/>
          </a:xfrm>
          <a:prstGeom prst="line">
            <a:avLst/>
          </a:prstGeom>
          <a:noFill/>
          <a:ln w="19050">
            <a:solidFill>
              <a:srgbClr val="2E8B57"/>
            </a:solidFill>
            <a:prstDash val="solid"/>
          </a:ln>
        </p:spPr>
      </p:sp>
      <p:sp>
        <p:nvSpPr>
          <p:cNvPr id="130" name="Shape 128"/>
          <p:cNvSpPr/>
          <p:nvPr/>
        </p:nvSpPr>
        <p:spPr>
          <a:xfrm>
            <a:off x="1417448" y="3146804"/>
            <a:ext cx="13995" cy="10110"/>
          </a:xfrm>
          <a:prstGeom prst="line">
            <a:avLst/>
          </a:prstGeom>
          <a:noFill/>
          <a:ln w="19050">
            <a:solidFill>
              <a:srgbClr val="2E8B57"/>
            </a:solidFill>
            <a:prstDash val="solid"/>
          </a:ln>
        </p:spPr>
      </p:sp>
      <p:sp>
        <p:nvSpPr>
          <p:cNvPr id="131" name="Shape 129"/>
          <p:cNvSpPr/>
          <p:nvPr/>
        </p:nvSpPr>
        <p:spPr>
          <a:xfrm>
            <a:off x="1431443" y="3156915"/>
            <a:ext cx="16485" cy="5130"/>
          </a:xfrm>
          <a:prstGeom prst="line">
            <a:avLst/>
          </a:prstGeom>
          <a:noFill/>
          <a:ln w="19050">
            <a:solidFill>
              <a:srgbClr val="2E8B57"/>
            </a:solidFill>
            <a:prstDash val="solid"/>
          </a:ln>
        </p:spPr>
      </p:sp>
      <p:sp>
        <p:nvSpPr>
          <p:cNvPr id="132" name="Shape 130"/>
          <p:cNvSpPr/>
          <p:nvPr/>
        </p:nvSpPr>
        <p:spPr>
          <a:xfrm>
            <a:off x="1447928" y="3162044"/>
            <a:ext cx="18786" cy="528"/>
          </a:xfrm>
          <a:prstGeom prst="line">
            <a:avLst/>
          </a:prstGeom>
          <a:noFill/>
          <a:ln w="19050">
            <a:solidFill>
              <a:srgbClr val="2E8B57"/>
            </a:solidFill>
            <a:prstDash val="solid"/>
          </a:ln>
        </p:spPr>
      </p:sp>
      <p:sp>
        <p:nvSpPr>
          <p:cNvPr id="133" name="Shape 131"/>
          <p:cNvSpPr/>
          <p:nvPr/>
        </p:nvSpPr>
        <p:spPr>
          <a:xfrm flipV="1">
            <a:off x="1466714" y="3159579"/>
            <a:ext cx="20547" cy="2993"/>
          </a:xfrm>
          <a:prstGeom prst="line">
            <a:avLst/>
          </a:prstGeom>
          <a:noFill/>
          <a:ln w="19050">
            <a:solidFill>
              <a:srgbClr val="2E8B57"/>
            </a:solidFill>
            <a:prstDash val="solid"/>
          </a:ln>
        </p:spPr>
      </p:sp>
      <p:sp>
        <p:nvSpPr>
          <p:cNvPr id="134" name="Shape 132"/>
          <p:cNvSpPr/>
          <p:nvPr/>
        </p:nvSpPr>
        <p:spPr>
          <a:xfrm flipV="1">
            <a:off x="1487260" y="3154680"/>
            <a:ext cx="21500" cy="4899"/>
          </a:xfrm>
          <a:prstGeom prst="line">
            <a:avLst/>
          </a:prstGeom>
          <a:noFill/>
          <a:ln w="19050">
            <a:solidFill>
              <a:srgbClr val="2E8B57"/>
            </a:solidFill>
            <a:prstDash val="solid"/>
          </a:ln>
        </p:spPr>
      </p:sp>
      <p:sp>
        <p:nvSpPr>
          <p:cNvPr id="135" name="Shape 133"/>
          <p:cNvSpPr/>
          <p:nvPr/>
        </p:nvSpPr>
        <p:spPr>
          <a:xfrm flipV="1">
            <a:off x="1508760" y="3149781"/>
            <a:ext cx="21500" cy="4899"/>
          </a:xfrm>
          <a:prstGeom prst="line">
            <a:avLst/>
          </a:prstGeom>
          <a:noFill/>
          <a:ln w="19050">
            <a:solidFill>
              <a:srgbClr val="2E8B57"/>
            </a:solidFill>
            <a:prstDash val="solid"/>
          </a:ln>
        </p:spPr>
      </p:sp>
      <p:sp>
        <p:nvSpPr>
          <p:cNvPr id="136" name="Shape 134"/>
          <p:cNvSpPr/>
          <p:nvPr/>
        </p:nvSpPr>
        <p:spPr>
          <a:xfrm flipV="1">
            <a:off x="1530260" y="3146787"/>
            <a:ext cx="20547" cy="2993"/>
          </a:xfrm>
          <a:prstGeom prst="line">
            <a:avLst/>
          </a:prstGeom>
          <a:noFill/>
          <a:ln w="19050">
            <a:solidFill>
              <a:srgbClr val="2E8B57"/>
            </a:solidFill>
            <a:prstDash val="solid"/>
          </a:ln>
        </p:spPr>
      </p:sp>
      <p:sp>
        <p:nvSpPr>
          <p:cNvPr id="137" name="Shape 135"/>
          <p:cNvSpPr/>
          <p:nvPr/>
        </p:nvSpPr>
        <p:spPr>
          <a:xfrm>
            <a:off x="1550806" y="3146787"/>
            <a:ext cx="18786" cy="528"/>
          </a:xfrm>
          <a:prstGeom prst="line">
            <a:avLst/>
          </a:prstGeom>
          <a:noFill/>
          <a:ln w="19050">
            <a:solidFill>
              <a:srgbClr val="2E8B57"/>
            </a:solidFill>
            <a:prstDash val="solid"/>
          </a:ln>
        </p:spPr>
      </p:sp>
      <p:sp>
        <p:nvSpPr>
          <p:cNvPr id="138" name="Shape 136"/>
          <p:cNvSpPr/>
          <p:nvPr/>
        </p:nvSpPr>
        <p:spPr>
          <a:xfrm>
            <a:off x="1569592" y="3147316"/>
            <a:ext cx="16485" cy="5130"/>
          </a:xfrm>
          <a:prstGeom prst="line">
            <a:avLst/>
          </a:prstGeom>
          <a:noFill/>
          <a:ln w="19050">
            <a:solidFill>
              <a:srgbClr val="2E8B57"/>
            </a:solidFill>
            <a:prstDash val="solid"/>
          </a:ln>
        </p:spPr>
      </p:sp>
      <p:sp>
        <p:nvSpPr>
          <p:cNvPr id="139" name="Shape 137"/>
          <p:cNvSpPr/>
          <p:nvPr/>
        </p:nvSpPr>
        <p:spPr>
          <a:xfrm>
            <a:off x="1586077" y="3152445"/>
            <a:ext cx="13995" cy="10110"/>
          </a:xfrm>
          <a:prstGeom prst="line">
            <a:avLst/>
          </a:prstGeom>
          <a:noFill/>
          <a:ln w="19050">
            <a:solidFill>
              <a:srgbClr val="2E8B57"/>
            </a:solidFill>
            <a:prstDash val="solid"/>
          </a:ln>
        </p:spPr>
      </p:sp>
      <p:sp>
        <p:nvSpPr>
          <p:cNvPr id="140" name="Shape 138"/>
          <p:cNvSpPr/>
          <p:nvPr/>
        </p:nvSpPr>
        <p:spPr>
          <a:xfrm>
            <a:off x="1600072" y="3162556"/>
            <a:ext cx="11694" cy="14712"/>
          </a:xfrm>
          <a:prstGeom prst="line">
            <a:avLst/>
          </a:prstGeom>
          <a:noFill/>
          <a:ln w="19050">
            <a:solidFill>
              <a:srgbClr val="2E8B57"/>
            </a:solidFill>
            <a:prstDash val="solid"/>
          </a:ln>
        </p:spPr>
      </p:sp>
      <p:sp>
        <p:nvSpPr>
          <p:cNvPr id="141" name="Shape 139"/>
          <p:cNvSpPr/>
          <p:nvPr/>
        </p:nvSpPr>
        <p:spPr>
          <a:xfrm>
            <a:off x="1611766" y="3177267"/>
            <a:ext cx="9933" cy="18233"/>
          </a:xfrm>
          <a:prstGeom prst="line">
            <a:avLst/>
          </a:prstGeom>
          <a:noFill/>
          <a:ln w="19050">
            <a:solidFill>
              <a:srgbClr val="2E8B57"/>
            </a:solidFill>
            <a:prstDash val="solid"/>
          </a:ln>
        </p:spPr>
      </p:sp>
      <p:sp>
        <p:nvSpPr>
          <p:cNvPr id="142" name="Shape 140"/>
          <p:cNvSpPr/>
          <p:nvPr/>
        </p:nvSpPr>
        <p:spPr>
          <a:xfrm>
            <a:off x="1621700" y="3195501"/>
            <a:ext cx="8980" cy="20139"/>
          </a:xfrm>
          <a:prstGeom prst="line">
            <a:avLst/>
          </a:prstGeom>
          <a:noFill/>
          <a:ln w="19050">
            <a:solidFill>
              <a:srgbClr val="2E8B57"/>
            </a:solidFill>
            <a:prstDash val="solid"/>
          </a:ln>
        </p:spPr>
      </p:sp>
      <p:sp>
        <p:nvSpPr>
          <p:cNvPr id="143" name="Shape 141"/>
          <p:cNvSpPr/>
          <p:nvPr/>
        </p:nvSpPr>
        <p:spPr>
          <a:xfrm>
            <a:off x="1630680" y="3215640"/>
            <a:ext cx="8980" cy="20139"/>
          </a:xfrm>
          <a:prstGeom prst="line">
            <a:avLst/>
          </a:prstGeom>
          <a:noFill/>
          <a:ln w="19050">
            <a:solidFill>
              <a:srgbClr val="2E8B57"/>
            </a:solidFill>
            <a:prstDash val="solid"/>
          </a:ln>
        </p:spPr>
      </p:sp>
      <p:sp>
        <p:nvSpPr>
          <p:cNvPr id="144" name="Shape 142"/>
          <p:cNvSpPr/>
          <p:nvPr/>
        </p:nvSpPr>
        <p:spPr>
          <a:xfrm>
            <a:off x="1639660" y="3235779"/>
            <a:ext cx="9933" cy="18233"/>
          </a:xfrm>
          <a:prstGeom prst="line">
            <a:avLst/>
          </a:prstGeom>
          <a:noFill/>
          <a:ln w="19050">
            <a:solidFill>
              <a:srgbClr val="2E8B57"/>
            </a:solidFill>
            <a:prstDash val="solid"/>
          </a:ln>
        </p:spPr>
      </p:sp>
      <p:sp>
        <p:nvSpPr>
          <p:cNvPr id="145" name="Shape 143"/>
          <p:cNvSpPr/>
          <p:nvPr/>
        </p:nvSpPr>
        <p:spPr>
          <a:xfrm>
            <a:off x="1649594" y="3254013"/>
            <a:ext cx="11694" cy="14712"/>
          </a:xfrm>
          <a:prstGeom prst="line">
            <a:avLst/>
          </a:prstGeom>
          <a:noFill/>
          <a:ln w="19050">
            <a:solidFill>
              <a:srgbClr val="2E8B57"/>
            </a:solidFill>
            <a:prstDash val="solid"/>
          </a:ln>
        </p:spPr>
      </p:sp>
      <p:sp>
        <p:nvSpPr>
          <p:cNvPr id="146" name="Shape 144"/>
          <p:cNvSpPr/>
          <p:nvPr/>
        </p:nvSpPr>
        <p:spPr>
          <a:xfrm>
            <a:off x="1661288" y="3268724"/>
            <a:ext cx="13995" cy="10110"/>
          </a:xfrm>
          <a:prstGeom prst="line">
            <a:avLst/>
          </a:prstGeom>
          <a:noFill/>
          <a:ln w="19050">
            <a:solidFill>
              <a:srgbClr val="2E8B57"/>
            </a:solidFill>
            <a:prstDash val="solid"/>
          </a:ln>
        </p:spPr>
      </p:sp>
      <p:sp>
        <p:nvSpPr>
          <p:cNvPr id="147" name="Shape 145"/>
          <p:cNvSpPr/>
          <p:nvPr/>
        </p:nvSpPr>
        <p:spPr>
          <a:xfrm>
            <a:off x="1675283" y="3278835"/>
            <a:ext cx="16485" cy="5130"/>
          </a:xfrm>
          <a:prstGeom prst="line">
            <a:avLst/>
          </a:prstGeom>
          <a:noFill/>
          <a:ln w="19050">
            <a:solidFill>
              <a:srgbClr val="2E8B57"/>
            </a:solidFill>
            <a:prstDash val="solid"/>
          </a:ln>
        </p:spPr>
      </p:sp>
      <p:sp>
        <p:nvSpPr>
          <p:cNvPr id="148" name="Shape 146"/>
          <p:cNvSpPr/>
          <p:nvPr/>
        </p:nvSpPr>
        <p:spPr>
          <a:xfrm>
            <a:off x="1691768" y="3283964"/>
            <a:ext cx="18786" cy="528"/>
          </a:xfrm>
          <a:prstGeom prst="line">
            <a:avLst/>
          </a:prstGeom>
          <a:noFill/>
          <a:ln w="19050">
            <a:solidFill>
              <a:srgbClr val="2E8B57"/>
            </a:solidFill>
            <a:prstDash val="solid"/>
          </a:ln>
        </p:spPr>
      </p:sp>
      <p:sp>
        <p:nvSpPr>
          <p:cNvPr id="149" name="Shape 147"/>
          <p:cNvSpPr/>
          <p:nvPr/>
        </p:nvSpPr>
        <p:spPr>
          <a:xfrm flipV="1">
            <a:off x="1710554" y="3281499"/>
            <a:ext cx="20547" cy="2993"/>
          </a:xfrm>
          <a:prstGeom prst="line">
            <a:avLst/>
          </a:prstGeom>
          <a:noFill/>
          <a:ln w="19050">
            <a:solidFill>
              <a:srgbClr val="2E8B57"/>
            </a:solidFill>
            <a:prstDash val="solid"/>
          </a:ln>
        </p:spPr>
      </p:sp>
      <p:sp>
        <p:nvSpPr>
          <p:cNvPr id="150" name="Shape 148"/>
          <p:cNvSpPr/>
          <p:nvPr/>
        </p:nvSpPr>
        <p:spPr>
          <a:xfrm flipV="1">
            <a:off x="1731100" y="3276600"/>
            <a:ext cx="21500" cy="4899"/>
          </a:xfrm>
          <a:prstGeom prst="line">
            <a:avLst/>
          </a:prstGeom>
          <a:noFill/>
          <a:ln w="19050">
            <a:solidFill>
              <a:srgbClr val="2E8B57"/>
            </a:solidFill>
            <a:prstDash val="solid"/>
          </a:ln>
        </p:spPr>
      </p:sp>
      <p:sp>
        <p:nvSpPr>
          <p:cNvPr id="151" name="Shape 149"/>
          <p:cNvSpPr/>
          <p:nvPr/>
        </p:nvSpPr>
        <p:spPr>
          <a:xfrm flipV="1">
            <a:off x="1752600" y="3271701"/>
            <a:ext cx="21500" cy="4899"/>
          </a:xfrm>
          <a:prstGeom prst="line">
            <a:avLst/>
          </a:prstGeom>
          <a:noFill/>
          <a:ln w="19050">
            <a:solidFill>
              <a:srgbClr val="2E8B57"/>
            </a:solidFill>
            <a:prstDash val="solid"/>
          </a:ln>
        </p:spPr>
      </p:sp>
      <p:sp>
        <p:nvSpPr>
          <p:cNvPr id="152" name="Shape 150"/>
          <p:cNvSpPr/>
          <p:nvPr/>
        </p:nvSpPr>
        <p:spPr>
          <a:xfrm flipV="1">
            <a:off x="1774100" y="3268707"/>
            <a:ext cx="20547" cy="2993"/>
          </a:xfrm>
          <a:prstGeom prst="line">
            <a:avLst/>
          </a:prstGeom>
          <a:noFill/>
          <a:ln w="19050">
            <a:solidFill>
              <a:srgbClr val="2E8B57"/>
            </a:solidFill>
            <a:prstDash val="solid"/>
          </a:ln>
        </p:spPr>
      </p:sp>
      <p:sp>
        <p:nvSpPr>
          <p:cNvPr id="153" name="Shape 151"/>
          <p:cNvSpPr/>
          <p:nvPr/>
        </p:nvSpPr>
        <p:spPr>
          <a:xfrm>
            <a:off x="1794646" y="3268707"/>
            <a:ext cx="18786" cy="528"/>
          </a:xfrm>
          <a:prstGeom prst="line">
            <a:avLst/>
          </a:prstGeom>
          <a:noFill/>
          <a:ln w="19050">
            <a:solidFill>
              <a:srgbClr val="2E8B57"/>
            </a:solidFill>
            <a:prstDash val="solid"/>
          </a:ln>
        </p:spPr>
      </p:sp>
      <p:sp>
        <p:nvSpPr>
          <p:cNvPr id="154" name="Shape 152"/>
          <p:cNvSpPr/>
          <p:nvPr/>
        </p:nvSpPr>
        <p:spPr>
          <a:xfrm>
            <a:off x="1813432" y="3269236"/>
            <a:ext cx="16485" cy="5130"/>
          </a:xfrm>
          <a:prstGeom prst="line">
            <a:avLst/>
          </a:prstGeom>
          <a:noFill/>
          <a:ln w="19050">
            <a:solidFill>
              <a:srgbClr val="2E8B57"/>
            </a:solidFill>
            <a:prstDash val="solid"/>
          </a:ln>
        </p:spPr>
      </p:sp>
      <p:sp>
        <p:nvSpPr>
          <p:cNvPr id="155" name="Shape 153"/>
          <p:cNvSpPr/>
          <p:nvPr/>
        </p:nvSpPr>
        <p:spPr>
          <a:xfrm>
            <a:off x="1829917" y="3274365"/>
            <a:ext cx="13995" cy="10110"/>
          </a:xfrm>
          <a:prstGeom prst="line">
            <a:avLst/>
          </a:prstGeom>
          <a:noFill/>
          <a:ln w="19050">
            <a:solidFill>
              <a:srgbClr val="2E8B57"/>
            </a:solidFill>
            <a:prstDash val="solid"/>
          </a:ln>
        </p:spPr>
      </p:sp>
      <p:sp>
        <p:nvSpPr>
          <p:cNvPr id="156" name="Shape 154"/>
          <p:cNvSpPr/>
          <p:nvPr/>
        </p:nvSpPr>
        <p:spPr>
          <a:xfrm>
            <a:off x="1843912" y="3284476"/>
            <a:ext cx="11694" cy="14712"/>
          </a:xfrm>
          <a:prstGeom prst="line">
            <a:avLst/>
          </a:prstGeom>
          <a:noFill/>
          <a:ln w="19050">
            <a:solidFill>
              <a:srgbClr val="2E8B57"/>
            </a:solidFill>
            <a:prstDash val="solid"/>
          </a:ln>
        </p:spPr>
      </p:sp>
      <p:sp>
        <p:nvSpPr>
          <p:cNvPr id="157" name="Shape 155"/>
          <p:cNvSpPr/>
          <p:nvPr/>
        </p:nvSpPr>
        <p:spPr>
          <a:xfrm>
            <a:off x="1855606" y="3299187"/>
            <a:ext cx="9933" cy="18233"/>
          </a:xfrm>
          <a:prstGeom prst="line">
            <a:avLst/>
          </a:prstGeom>
          <a:noFill/>
          <a:ln w="19050">
            <a:solidFill>
              <a:srgbClr val="2E8B57"/>
            </a:solidFill>
            <a:prstDash val="solid"/>
          </a:ln>
        </p:spPr>
      </p:sp>
      <p:sp>
        <p:nvSpPr>
          <p:cNvPr id="158" name="Shape 156"/>
          <p:cNvSpPr/>
          <p:nvPr/>
        </p:nvSpPr>
        <p:spPr>
          <a:xfrm>
            <a:off x="1865540" y="3317421"/>
            <a:ext cx="8980" cy="20139"/>
          </a:xfrm>
          <a:prstGeom prst="line">
            <a:avLst/>
          </a:prstGeom>
          <a:noFill/>
          <a:ln w="19050">
            <a:solidFill>
              <a:srgbClr val="2E8B57"/>
            </a:solidFill>
            <a:prstDash val="solid"/>
          </a:ln>
        </p:spPr>
      </p:sp>
      <p:sp>
        <p:nvSpPr>
          <p:cNvPr id="159" name="Shape 157"/>
          <p:cNvSpPr/>
          <p:nvPr/>
        </p:nvSpPr>
        <p:spPr>
          <a:xfrm>
            <a:off x="2148840" y="2011680"/>
            <a:ext cx="365760" cy="365760"/>
          </a:xfrm>
          <a:prstGeom prst="ellipse">
            <a:avLst/>
          </a:prstGeom>
          <a:solidFill>
            <a:srgbClr val="F2D7C2"/>
          </a:solidFill>
          <a:ln w="9525">
            <a:solidFill>
              <a:srgbClr val="9A7B66"/>
            </a:solidFill>
            <a:prstDash val="solid"/>
          </a:ln>
        </p:spPr>
      </p:sp>
      <p:sp>
        <p:nvSpPr>
          <p:cNvPr id="160" name="Shape 158"/>
          <p:cNvSpPr/>
          <p:nvPr/>
        </p:nvSpPr>
        <p:spPr>
          <a:xfrm>
            <a:off x="2057400" y="2414016"/>
            <a:ext cx="548640" cy="868680"/>
          </a:xfrm>
          <a:prstGeom prst="roundRect">
            <a:avLst>
              <a:gd name="adj" fmla="val 13333"/>
            </a:avLst>
          </a:prstGeom>
          <a:solidFill>
            <a:srgbClr val="9FB2DA"/>
          </a:solidFill>
          <a:ln w="9525">
            <a:solidFill>
              <a:srgbClr val="5A6275"/>
            </a:solidFill>
            <a:prstDash val="solid"/>
          </a:ln>
        </p:spPr>
      </p:sp>
      <p:sp>
        <p:nvSpPr>
          <p:cNvPr id="161" name="Shape 159"/>
          <p:cNvSpPr/>
          <p:nvPr/>
        </p:nvSpPr>
        <p:spPr>
          <a:xfrm>
            <a:off x="2084832" y="3291840"/>
            <a:ext cx="201168" cy="731520"/>
          </a:xfrm>
          <a:prstGeom prst="rect">
            <a:avLst/>
          </a:prstGeom>
          <a:solidFill>
            <a:srgbClr val="4A5262"/>
          </a:solidFill>
          <a:ln w="12700">
            <a:solidFill>
              <a:srgbClr val="4A5262"/>
            </a:solidFill>
            <a:prstDash val="solid"/>
          </a:ln>
        </p:spPr>
      </p:sp>
      <p:sp>
        <p:nvSpPr>
          <p:cNvPr id="162" name="Shape 160"/>
          <p:cNvSpPr/>
          <p:nvPr/>
        </p:nvSpPr>
        <p:spPr>
          <a:xfrm>
            <a:off x="2377440" y="3291840"/>
            <a:ext cx="201168" cy="731520"/>
          </a:xfrm>
          <a:prstGeom prst="rect">
            <a:avLst/>
          </a:prstGeom>
          <a:solidFill>
            <a:srgbClr val="4A5262"/>
          </a:solidFill>
          <a:ln w="12700">
            <a:solidFill>
              <a:srgbClr val="4A5262"/>
            </a:solidFill>
            <a:prstDash val="solid"/>
          </a:ln>
        </p:spPr>
      </p:sp>
      <p:sp>
        <p:nvSpPr>
          <p:cNvPr id="163" name="Shape 161"/>
          <p:cNvSpPr/>
          <p:nvPr/>
        </p:nvSpPr>
        <p:spPr>
          <a:xfrm>
            <a:off x="1929384" y="2468880"/>
            <a:ext cx="118872" cy="685800"/>
          </a:xfrm>
          <a:prstGeom prst="roundRect">
            <a:avLst>
              <a:gd name="adj" fmla="val 38462"/>
            </a:avLst>
          </a:prstGeom>
          <a:solidFill>
            <a:srgbClr val="9FB2DA"/>
          </a:solidFill>
          <a:ln w="9525">
            <a:solidFill>
              <a:srgbClr val="5A6275"/>
            </a:solidFill>
            <a:prstDash val="solid"/>
          </a:ln>
        </p:spPr>
      </p:sp>
      <p:sp>
        <p:nvSpPr>
          <p:cNvPr id="164" name="Shape 162"/>
          <p:cNvSpPr/>
          <p:nvPr/>
        </p:nvSpPr>
        <p:spPr>
          <a:xfrm>
            <a:off x="2615184" y="2468880"/>
            <a:ext cx="118872" cy="685800"/>
          </a:xfrm>
          <a:prstGeom prst="roundRect">
            <a:avLst>
              <a:gd name="adj" fmla="val 38462"/>
            </a:avLst>
          </a:prstGeom>
          <a:solidFill>
            <a:srgbClr val="9FB2DA"/>
          </a:solidFill>
          <a:ln w="9525">
            <a:solidFill>
              <a:srgbClr val="5A6275"/>
            </a:solidFill>
            <a:prstDash val="solid"/>
          </a:ln>
        </p:spPr>
      </p:sp>
      <p:sp>
        <p:nvSpPr>
          <p:cNvPr id="165" name="Text 163"/>
          <p:cNvSpPr/>
          <p:nvPr/>
        </p:nvSpPr>
        <p:spPr>
          <a:xfrm>
            <a:off x="548640" y="4251960"/>
            <a:ext cx="2560320" cy="86868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Radiation from a source </a:t>
            </a:r>
            <a:r>
              <a:rPr lang="en-US" sz="1050" b="1" dirty="0">
                <a:solidFill>
                  <a:srgbClr val="262B3A"/>
                </a:solidFill>
                <a:latin typeface="Calibri" pitchFamily="34" charset="0"/>
                <a:ea typeface="Calibri" pitchFamily="34" charset="-122"/>
                <a:cs typeface="Calibri" pitchFamily="34" charset="-120"/>
              </a:rPr>
              <a:t>outside</a:t>
            </a:r>
            <a:r>
              <a:rPr lang="en-US" sz="1050" dirty="0">
                <a:solidFill>
                  <a:srgbClr val="262B3A"/>
                </a:solidFill>
                <a:latin typeface="Calibri" pitchFamily="34" charset="0"/>
                <a:ea typeface="Calibri" pitchFamily="34" charset="-122"/>
                <a:cs typeface="Calibri" pitchFamily="34" charset="-120"/>
              </a:rPr>
              <a:t> the body. It stops when you move away or the source is shielded.</a:t>
            </a:r>
            <a:endParaRPr lang="en-US" sz="1050" dirty="0"/>
          </a:p>
        </p:txBody>
      </p:sp>
      <p:sp>
        <p:nvSpPr>
          <p:cNvPr id="166" name="Shape 164"/>
          <p:cNvSpPr/>
          <p:nvPr/>
        </p:nvSpPr>
        <p:spPr>
          <a:xfrm>
            <a:off x="4343400" y="2011680"/>
            <a:ext cx="365760" cy="365760"/>
          </a:xfrm>
          <a:prstGeom prst="ellipse">
            <a:avLst/>
          </a:prstGeom>
          <a:solidFill>
            <a:srgbClr val="F2D7C2"/>
          </a:solidFill>
          <a:ln w="9525">
            <a:solidFill>
              <a:srgbClr val="9A7B66"/>
            </a:solidFill>
            <a:prstDash val="solid"/>
          </a:ln>
        </p:spPr>
      </p:sp>
      <p:sp>
        <p:nvSpPr>
          <p:cNvPr id="167" name="Shape 165"/>
          <p:cNvSpPr/>
          <p:nvPr/>
        </p:nvSpPr>
        <p:spPr>
          <a:xfrm>
            <a:off x="4251960" y="2414016"/>
            <a:ext cx="548640" cy="868680"/>
          </a:xfrm>
          <a:prstGeom prst="roundRect">
            <a:avLst>
              <a:gd name="adj" fmla="val 13333"/>
            </a:avLst>
          </a:prstGeom>
          <a:solidFill>
            <a:srgbClr val="F2B8BD"/>
          </a:solidFill>
          <a:ln w="9525">
            <a:solidFill>
              <a:srgbClr val="5A6275"/>
            </a:solidFill>
            <a:prstDash val="solid"/>
          </a:ln>
        </p:spPr>
      </p:sp>
      <p:sp>
        <p:nvSpPr>
          <p:cNvPr id="168" name="Shape 166"/>
          <p:cNvSpPr/>
          <p:nvPr/>
        </p:nvSpPr>
        <p:spPr>
          <a:xfrm>
            <a:off x="4279392" y="3291840"/>
            <a:ext cx="201168" cy="731520"/>
          </a:xfrm>
          <a:prstGeom prst="rect">
            <a:avLst/>
          </a:prstGeom>
          <a:solidFill>
            <a:srgbClr val="4A5262"/>
          </a:solidFill>
          <a:ln w="12700">
            <a:solidFill>
              <a:srgbClr val="4A5262"/>
            </a:solidFill>
            <a:prstDash val="solid"/>
          </a:ln>
        </p:spPr>
      </p:sp>
      <p:sp>
        <p:nvSpPr>
          <p:cNvPr id="169" name="Shape 167"/>
          <p:cNvSpPr/>
          <p:nvPr/>
        </p:nvSpPr>
        <p:spPr>
          <a:xfrm>
            <a:off x="4572000" y="3291840"/>
            <a:ext cx="201168" cy="731520"/>
          </a:xfrm>
          <a:prstGeom prst="rect">
            <a:avLst/>
          </a:prstGeom>
          <a:solidFill>
            <a:srgbClr val="4A5262"/>
          </a:solidFill>
          <a:ln w="12700">
            <a:solidFill>
              <a:srgbClr val="4A5262"/>
            </a:solidFill>
            <a:prstDash val="solid"/>
          </a:ln>
        </p:spPr>
      </p:sp>
      <p:sp>
        <p:nvSpPr>
          <p:cNvPr id="170" name="Shape 168"/>
          <p:cNvSpPr/>
          <p:nvPr/>
        </p:nvSpPr>
        <p:spPr>
          <a:xfrm>
            <a:off x="4123944" y="2468880"/>
            <a:ext cx="118872" cy="685800"/>
          </a:xfrm>
          <a:prstGeom prst="roundRect">
            <a:avLst>
              <a:gd name="adj" fmla="val 38462"/>
            </a:avLst>
          </a:prstGeom>
          <a:solidFill>
            <a:srgbClr val="F2B8BD"/>
          </a:solidFill>
          <a:ln w="9525">
            <a:solidFill>
              <a:srgbClr val="5A6275"/>
            </a:solidFill>
            <a:prstDash val="solid"/>
          </a:ln>
        </p:spPr>
      </p:sp>
      <p:sp>
        <p:nvSpPr>
          <p:cNvPr id="171" name="Shape 169"/>
          <p:cNvSpPr/>
          <p:nvPr/>
        </p:nvSpPr>
        <p:spPr>
          <a:xfrm>
            <a:off x="4809744" y="2468880"/>
            <a:ext cx="118872" cy="685800"/>
          </a:xfrm>
          <a:prstGeom prst="roundRect">
            <a:avLst>
              <a:gd name="adj" fmla="val 38462"/>
            </a:avLst>
          </a:prstGeom>
          <a:solidFill>
            <a:srgbClr val="F2B8BD"/>
          </a:solidFill>
          <a:ln w="9525">
            <a:solidFill>
              <a:srgbClr val="5A6275"/>
            </a:solidFill>
            <a:prstDash val="solid"/>
          </a:ln>
        </p:spPr>
      </p:sp>
      <p:sp>
        <p:nvSpPr>
          <p:cNvPr id="172" name="Shape 170"/>
          <p:cNvSpPr/>
          <p:nvPr/>
        </p:nvSpPr>
        <p:spPr>
          <a:xfrm>
            <a:off x="4315968" y="2514600"/>
            <a:ext cx="201168" cy="365760"/>
          </a:xfrm>
          <a:prstGeom prst="ellipse">
            <a:avLst/>
          </a:prstGeom>
          <a:solidFill>
            <a:srgbClr val="F7D6D9"/>
          </a:solidFill>
          <a:ln w="9525">
            <a:solidFill>
              <a:srgbClr val="8E2A33"/>
            </a:solidFill>
            <a:prstDash val="solid"/>
          </a:ln>
        </p:spPr>
      </p:sp>
      <p:sp>
        <p:nvSpPr>
          <p:cNvPr id="173" name="Shape 171"/>
          <p:cNvSpPr/>
          <p:nvPr/>
        </p:nvSpPr>
        <p:spPr>
          <a:xfrm>
            <a:off x="4535424" y="2514600"/>
            <a:ext cx="201168" cy="365760"/>
          </a:xfrm>
          <a:prstGeom prst="ellipse">
            <a:avLst/>
          </a:prstGeom>
          <a:solidFill>
            <a:srgbClr val="F7D6D9"/>
          </a:solidFill>
          <a:ln w="9525">
            <a:solidFill>
              <a:srgbClr val="8E2A33"/>
            </a:solidFill>
            <a:prstDash val="solid"/>
          </a:ln>
        </p:spPr>
      </p:sp>
      <p:sp>
        <p:nvSpPr>
          <p:cNvPr id="174" name="Shape 172"/>
          <p:cNvSpPr/>
          <p:nvPr/>
        </p:nvSpPr>
        <p:spPr>
          <a:xfrm>
            <a:off x="4375404" y="2592324"/>
            <a:ext cx="82296" cy="82296"/>
          </a:xfrm>
          <a:prstGeom prst="ellipse">
            <a:avLst/>
          </a:prstGeom>
          <a:solidFill>
            <a:srgbClr val="C8414C"/>
          </a:solidFill>
          <a:ln w="9525">
            <a:solidFill>
              <a:srgbClr val="8E2A33"/>
            </a:solidFill>
            <a:prstDash val="solid"/>
          </a:ln>
        </p:spPr>
      </p:sp>
      <p:sp>
        <p:nvSpPr>
          <p:cNvPr id="175" name="Shape 173"/>
          <p:cNvSpPr/>
          <p:nvPr/>
        </p:nvSpPr>
        <p:spPr>
          <a:xfrm>
            <a:off x="4594860" y="2702052"/>
            <a:ext cx="82296" cy="82296"/>
          </a:xfrm>
          <a:prstGeom prst="ellipse">
            <a:avLst/>
          </a:prstGeom>
          <a:solidFill>
            <a:srgbClr val="C8414C"/>
          </a:solidFill>
          <a:ln w="9525">
            <a:solidFill>
              <a:srgbClr val="8E2A33"/>
            </a:solidFill>
            <a:prstDash val="solid"/>
          </a:ln>
        </p:spPr>
      </p:sp>
      <p:sp>
        <p:nvSpPr>
          <p:cNvPr id="176" name="Shape 174"/>
          <p:cNvSpPr/>
          <p:nvPr/>
        </p:nvSpPr>
        <p:spPr>
          <a:xfrm>
            <a:off x="4393692" y="2747772"/>
            <a:ext cx="82296" cy="82296"/>
          </a:xfrm>
          <a:prstGeom prst="ellipse">
            <a:avLst/>
          </a:prstGeom>
          <a:solidFill>
            <a:srgbClr val="C8414C"/>
          </a:solidFill>
          <a:ln w="9525">
            <a:solidFill>
              <a:srgbClr val="8E2A33"/>
            </a:solidFill>
            <a:prstDash val="solid"/>
          </a:ln>
        </p:spPr>
      </p:sp>
      <p:sp>
        <p:nvSpPr>
          <p:cNvPr id="177" name="Shape 175"/>
          <p:cNvSpPr/>
          <p:nvPr/>
        </p:nvSpPr>
        <p:spPr>
          <a:xfrm>
            <a:off x="4914900" y="3159252"/>
            <a:ext cx="82296" cy="82296"/>
          </a:xfrm>
          <a:prstGeom prst="ellipse">
            <a:avLst/>
          </a:prstGeom>
          <a:solidFill>
            <a:srgbClr val="C8414C"/>
          </a:solidFill>
          <a:ln w="9525">
            <a:solidFill>
              <a:srgbClr val="8E2A33"/>
            </a:solidFill>
            <a:prstDash val="solid"/>
          </a:ln>
        </p:spPr>
      </p:sp>
      <p:sp>
        <p:nvSpPr>
          <p:cNvPr id="178" name="Shape 176"/>
          <p:cNvSpPr/>
          <p:nvPr/>
        </p:nvSpPr>
        <p:spPr>
          <a:xfrm>
            <a:off x="4073652" y="3022092"/>
            <a:ext cx="82296" cy="82296"/>
          </a:xfrm>
          <a:prstGeom prst="ellipse">
            <a:avLst/>
          </a:prstGeom>
          <a:solidFill>
            <a:srgbClr val="C8414C"/>
          </a:solidFill>
          <a:ln w="9525">
            <a:solidFill>
              <a:srgbClr val="8E2A33"/>
            </a:solidFill>
            <a:prstDash val="solid"/>
          </a:ln>
        </p:spPr>
      </p:sp>
      <p:sp>
        <p:nvSpPr>
          <p:cNvPr id="179" name="Shape 177"/>
          <p:cNvSpPr/>
          <p:nvPr/>
        </p:nvSpPr>
        <p:spPr>
          <a:xfrm>
            <a:off x="4668012" y="2116836"/>
            <a:ext cx="82296" cy="82296"/>
          </a:xfrm>
          <a:prstGeom prst="ellipse">
            <a:avLst/>
          </a:prstGeom>
          <a:solidFill>
            <a:srgbClr val="C8414C"/>
          </a:solidFill>
          <a:ln w="9525">
            <a:solidFill>
              <a:srgbClr val="8E2A33"/>
            </a:solidFill>
            <a:prstDash val="solid"/>
          </a:ln>
        </p:spPr>
      </p:sp>
      <p:sp>
        <p:nvSpPr>
          <p:cNvPr id="180" name="Shape 178"/>
          <p:cNvSpPr/>
          <p:nvPr/>
        </p:nvSpPr>
        <p:spPr>
          <a:xfrm flipV="1">
            <a:off x="4956048" y="3017520"/>
            <a:ext cx="393192" cy="182880"/>
          </a:xfrm>
          <a:prstGeom prst="line">
            <a:avLst/>
          </a:prstGeom>
          <a:noFill/>
          <a:ln w="15875">
            <a:solidFill>
              <a:srgbClr val="C8414C"/>
            </a:solidFill>
            <a:prstDash val="solid"/>
            <a:tailEnd type="triangle"/>
          </a:ln>
        </p:spPr>
      </p:sp>
      <p:sp>
        <p:nvSpPr>
          <p:cNvPr id="181" name="Shape 179"/>
          <p:cNvSpPr/>
          <p:nvPr/>
        </p:nvSpPr>
        <p:spPr>
          <a:xfrm flipH="1" flipV="1">
            <a:off x="3703320" y="2880360"/>
            <a:ext cx="411480" cy="182880"/>
          </a:xfrm>
          <a:prstGeom prst="line">
            <a:avLst/>
          </a:prstGeom>
          <a:noFill/>
          <a:ln w="15875">
            <a:solidFill>
              <a:srgbClr val="C8414C"/>
            </a:solidFill>
            <a:prstDash val="solid"/>
            <a:tailEnd type="triangle"/>
          </a:ln>
        </p:spPr>
      </p:sp>
      <p:sp>
        <p:nvSpPr>
          <p:cNvPr id="182" name="Shape 180"/>
          <p:cNvSpPr/>
          <p:nvPr/>
        </p:nvSpPr>
        <p:spPr>
          <a:xfrm flipV="1">
            <a:off x="4709160" y="1920240"/>
            <a:ext cx="411480" cy="237744"/>
          </a:xfrm>
          <a:prstGeom prst="line">
            <a:avLst/>
          </a:prstGeom>
          <a:noFill/>
          <a:ln w="15875">
            <a:solidFill>
              <a:srgbClr val="C8414C"/>
            </a:solidFill>
            <a:prstDash val="solid"/>
            <a:tailEnd type="triangle"/>
          </a:ln>
        </p:spPr>
      </p:sp>
      <p:sp>
        <p:nvSpPr>
          <p:cNvPr id="183" name="Text 181"/>
          <p:cNvSpPr/>
          <p:nvPr/>
        </p:nvSpPr>
        <p:spPr>
          <a:xfrm>
            <a:off x="5029200" y="2514600"/>
            <a:ext cx="9144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in lungs</a:t>
            </a:r>
            <a:endParaRPr lang="en-US" sz="1050" dirty="0"/>
          </a:p>
        </p:txBody>
      </p:sp>
      <p:sp>
        <p:nvSpPr>
          <p:cNvPr id="184" name="Text 182"/>
          <p:cNvSpPr/>
          <p:nvPr/>
        </p:nvSpPr>
        <p:spPr>
          <a:xfrm>
            <a:off x="3291840" y="4251960"/>
            <a:ext cx="2560320" cy="86868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Radioactive </a:t>
            </a:r>
            <a:r>
              <a:rPr lang="en-US" sz="1050" b="1" dirty="0">
                <a:solidFill>
                  <a:srgbClr val="262B3A"/>
                </a:solidFill>
                <a:latin typeface="Calibri" pitchFamily="34" charset="0"/>
                <a:ea typeface="Calibri" pitchFamily="34" charset="-122"/>
                <a:cs typeface="Calibri" pitchFamily="34" charset="-120"/>
              </a:rPr>
              <a:t>atoms</a:t>
            </a:r>
            <a:r>
              <a:rPr lang="en-US" sz="1050" dirty="0">
                <a:solidFill>
                  <a:srgbClr val="262B3A"/>
                </a:solidFill>
                <a:latin typeface="Calibri" pitchFamily="34" charset="0"/>
                <a:ea typeface="Calibri" pitchFamily="34" charset="-122"/>
                <a:cs typeface="Calibri" pitchFamily="34" charset="-120"/>
              </a:rPr>
              <a:t> get </a:t>
            </a:r>
            <a:r>
              <a:rPr lang="en-US" sz="1050" b="1" dirty="0">
                <a:solidFill>
                  <a:srgbClr val="262B3A"/>
                </a:solidFill>
                <a:latin typeface="Calibri" pitchFamily="34" charset="0"/>
                <a:ea typeface="Calibri" pitchFamily="34" charset="-122"/>
                <a:cs typeface="Calibri" pitchFamily="34" charset="-120"/>
              </a:rPr>
              <a:t>on</a:t>
            </a:r>
            <a:r>
              <a:rPr lang="en-US" sz="1050" dirty="0">
                <a:solidFill>
                  <a:srgbClr val="262B3A"/>
                </a:solidFill>
                <a:latin typeface="Calibri" pitchFamily="34" charset="0"/>
                <a:ea typeface="Calibri" pitchFamily="34" charset="-122"/>
                <a:cs typeface="Calibri" pitchFamily="34" charset="-120"/>
              </a:rPr>
              <a:t> the skin or </a:t>
            </a:r>
            <a:r>
              <a:rPr lang="en-US" sz="1050" b="1" dirty="0">
                <a:solidFill>
                  <a:srgbClr val="262B3A"/>
                </a:solidFill>
                <a:latin typeface="Calibri" pitchFamily="34" charset="0"/>
                <a:ea typeface="Calibri" pitchFamily="34" charset="-122"/>
                <a:cs typeface="Calibri" pitchFamily="34" charset="-120"/>
              </a:rPr>
              <a:t>inside</a:t>
            </a:r>
            <a:r>
              <a:rPr lang="en-US" sz="1050" dirty="0">
                <a:solidFill>
                  <a:srgbClr val="262B3A"/>
                </a:solidFill>
                <a:latin typeface="Calibri" pitchFamily="34" charset="0"/>
                <a:ea typeface="Calibri" pitchFamily="34" charset="-122"/>
                <a:cs typeface="Calibri" pitchFamily="34" charset="-120"/>
              </a:rPr>
              <a:t> the body. They keep emitting until removed or decayed.</a:t>
            </a:r>
            <a:endParaRPr lang="en-US" sz="1050" dirty="0"/>
          </a:p>
        </p:txBody>
      </p:sp>
      <p:sp>
        <p:nvSpPr>
          <p:cNvPr id="185" name="Shape 183"/>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86" name="Text 18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Compare the hazards</a:t>
            </a:r>
            <a:endParaRPr lang="en-US" sz="1300" dirty="0"/>
          </a:p>
        </p:txBody>
      </p:sp>
      <p:sp>
        <p:nvSpPr>
          <p:cNvPr id="187" name="Text 185"/>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Irradiation</a:t>
            </a:r>
            <a:r>
              <a:rPr lang="en-US" sz="1150" dirty="0">
                <a:solidFill>
                  <a:srgbClr val="262B3A"/>
                </a:solidFill>
                <a:latin typeface="Calibri" pitchFamily="34" charset="0"/>
                <a:ea typeface="Calibri" pitchFamily="34" charset="-122"/>
                <a:cs typeface="Calibri" pitchFamily="34" charset="-120"/>
              </a:rPr>
              <a:t>: exposure to radiation from a source </a:t>
            </a:r>
            <a:r>
              <a:rPr lang="en-US" sz="1150" b="1" dirty="0">
                <a:solidFill>
                  <a:srgbClr val="262B3A"/>
                </a:solidFill>
                <a:latin typeface="Calibri" pitchFamily="34" charset="0"/>
                <a:ea typeface="Calibri" pitchFamily="34" charset="-122"/>
                <a:cs typeface="Calibri" pitchFamily="34" charset="-120"/>
              </a:rPr>
              <a:t>outside</a:t>
            </a:r>
            <a:r>
              <a:rPr lang="en-US" sz="1150" dirty="0">
                <a:solidFill>
                  <a:srgbClr val="262B3A"/>
                </a:solidFill>
                <a:latin typeface="Calibri" pitchFamily="34" charset="0"/>
                <a:ea typeface="Calibri" pitchFamily="34" charset="-122"/>
                <a:cs typeface="Calibri" pitchFamily="34" charset="-120"/>
              </a:rPr>
              <a:t> the body. The object does </a:t>
            </a:r>
            <a:r>
              <a:rPr lang="en-US" sz="1150" b="1" dirty="0">
                <a:solidFill>
                  <a:srgbClr val="262B3A"/>
                </a:solidFill>
                <a:latin typeface="Calibri" pitchFamily="34" charset="0"/>
                <a:ea typeface="Calibri" pitchFamily="34" charset="-122"/>
                <a:cs typeface="Calibri" pitchFamily="34" charset="-120"/>
              </a:rPr>
              <a:t>not become radioactive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Contamination</a:t>
            </a:r>
            <a:r>
              <a:rPr lang="en-US" sz="1150" dirty="0">
                <a:solidFill>
                  <a:srgbClr val="262B3A"/>
                </a:solidFill>
                <a:latin typeface="Calibri" pitchFamily="34" charset="0"/>
                <a:ea typeface="Calibri" pitchFamily="34" charset="-122"/>
                <a:cs typeface="Calibri" pitchFamily="34" charset="-120"/>
              </a:rPr>
              <a:t>: unwanted radioactive </a:t>
            </a:r>
            <a:r>
              <a:rPr lang="en-US" sz="1150" b="1" dirty="0">
                <a:solidFill>
                  <a:srgbClr val="262B3A"/>
                </a:solidFill>
                <a:latin typeface="Calibri" pitchFamily="34" charset="0"/>
                <a:ea typeface="Calibri" pitchFamily="34" charset="-122"/>
                <a:cs typeface="Calibri" pitchFamily="34" charset="-120"/>
              </a:rPr>
              <a:t>atoms</a:t>
            </a:r>
            <a:r>
              <a:rPr lang="en-US" sz="1150" dirty="0">
                <a:solidFill>
                  <a:srgbClr val="262B3A"/>
                </a:solidFill>
                <a:latin typeface="Calibri" pitchFamily="34" charset="0"/>
                <a:ea typeface="Calibri" pitchFamily="34" charset="-122"/>
                <a:cs typeface="Calibri" pitchFamily="34" charset="-120"/>
              </a:rPr>
              <a:t> on or in an object or person. The person is now carrying a source.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Irradiation </a:t>
            </a:r>
            <a:r>
              <a:rPr lang="en-US" sz="1150" b="1" dirty="0">
                <a:solidFill>
                  <a:srgbClr val="262B3A"/>
                </a:solidFill>
                <a:latin typeface="Calibri" pitchFamily="34" charset="0"/>
                <a:ea typeface="Calibri" pitchFamily="34" charset="-122"/>
                <a:cs typeface="Calibri" pitchFamily="34" charset="-120"/>
              </a:rPr>
              <a:t>ends</a:t>
            </a:r>
            <a:r>
              <a:rPr lang="en-US" sz="1150" dirty="0">
                <a:solidFill>
                  <a:srgbClr val="262B3A"/>
                </a:solidFill>
                <a:latin typeface="Calibri" pitchFamily="34" charset="0"/>
                <a:ea typeface="Calibri" pitchFamily="34" charset="-122"/>
                <a:cs typeface="Calibri" pitchFamily="34" charset="-120"/>
              </a:rPr>
              <a:t> when you move away or shield the source.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Contamination is </a:t>
            </a:r>
            <a:r>
              <a:rPr lang="en-US" sz="1150" b="1" dirty="0">
                <a:solidFill>
                  <a:srgbClr val="262B3A"/>
                </a:solidFill>
                <a:latin typeface="Calibri" pitchFamily="34" charset="0"/>
                <a:ea typeface="Calibri" pitchFamily="34" charset="-122"/>
                <a:cs typeface="Calibri" pitchFamily="34" charset="-120"/>
              </a:rPr>
              <a:t>harder to escape</a:t>
            </a:r>
            <a:r>
              <a:rPr lang="en-US" sz="1150" dirty="0">
                <a:solidFill>
                  <a:srgbClr val="262B3A"/>
                </a:solidFill>
                <a:latin typeface="Calibri" pitchFamily="34" charset="0"/>
                <a:ea typeface="Calibri" pitchFamily="34" charset="-122"/>
                <a:cs typeface="Calibri" pitchFamily="34" charset="-120"/>
              </a:rPr>
              <a:t>: the material goes where you go and may stay inside for a long time, so it is usually the </a:t>
            </a:r>
            <a:r>
              <a:rPr lang="en-US" sz="1150" b="1" dirty="0">
                <a:solidFill>
                  <a:srgbClr val="262B3A"/>
                </a:solidFill>
                <a:latin typeface="Calibri" pitchFamily="34" charset="0"/>
                <a:ea typeface="Calibri" pitchFamily="34" charset="-122"/>
                <a:cs typeface="Calibri" pitchFamily="34" charset="-120"/>
              </a:rPr>
              <a:t>greater hazard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88" name="Shape 186"/>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89" name="Text 187"/>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Irradiation or contamination?</a:t>
            </a:r>
            <a:endParaRPr lang="en-US" sz="1300" dirty="0"/>
          </a:p>
        </p:txBody>
      </p:sp>
      <p:sp>
        <p:nvSpPr>
          <p:cNvPr id="190" name="Text 188"/>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Food treated with gamma rays   </a:t>
            </a:r>
            <a:r>
              <a:rPr lang="en-US" sz="1050" b="1" dirty="0">
                <a:solidFill>
                  <a:srgbClr val="262B3A"/>
                </a:solidFill>
                <a:latin typeface="Calibri" pitchFamily="34" charset="0"/>
                <a:ea typeface="Calibri" pitchFamily="34" charset="-122"/>
                <a:cs typeface="Calibri" pitchFamily="34" charset="-120"/>
              </a:rPr>
              <a:t>irradiation</a:t>
            </a:r>
            <a:r>
              <a:rPr lang="en-US" sz="1050" dirty="0">
                <a:solidFill>
                  <a:srgbClr val="262B3A"/>
                </a:solidFill>
                <a:latin typeface="Calibri" pitchFamily="34" charset="0"/>
                <a:ea typeface="Calibri" pitchFamily="34" charset="-122"/>
                <a:cs typeface="Calibri" pitchFamily="34" charset="-120"/>
              </a:rPr>
              <a:t> – food is not radioactive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Breathing in radon gas   </a:t>
            </a:r>
            <a:r>
              <a:rPr lang="en-US" sz="1050" b="1" dirty="0">
                <a:solidFill>
                  <a:srgbClr val="262B3A"/>
                </a:solidFill>
                <a:latin typeface="Calibri" pitchFamily="34" charset="0"/>
                <a:ea typeface="Calibri" pitchFamily="34" charset="-122"/>
                <a:cs typeface="Calibri" pitchFamily="34" charset="-120"/>
              </a:rPr>
              <a:t>contamination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Having an X-ray or CT scan   </a:t>
            </a:r>
            <a:r>
              <a:rPr lang="en-US" sz="1050" b="1" dirty="0">
                <a:solidFill>
                  <a:srgbClr val="262B3A"/>
                </a:solidFill>
                <a:latin typeface="Calibri" pitchFamily="34" charset="0"/>
                <a:ea typeface="Calibri" pitchFamily="34" charset="-122"/>
                <a:cs typeface="Calibri" pitchFamily="34" charset="-120"/>
              </a:rPr>
              <a:t>irradiation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tracer injected into a patient → </a:t>
            </a:r>
            <a:r>
              <a:rPr lang="en-US" sz="1050" b="1" dirty="0">
                <a:solidFill>
                  <a:srgbClr val="C8414C"/>
                </a:solidFill>
                <a:latin typeface="Calibri" pitchFamily="34" charset="0"/>
                <a:ea typeface="Calibri" pitchFamily="34" charset="-122"/>
                <a:cs typeface="Calibri" pitchFamily="34" charset="-120"/>
              </a:rPr>
              <a:t>contamination</a:t>
            </a:r>
            <a:r>
              <a:rPr lang="en-US" sz="1050" b="1" dirty="0">
                <a:solidFill>
                  <a:srgbClr val="C8414C"/>
                </a:solidFill>
                <a:latin typeface="Calibri" pitchFamily="34" charset="0"/>
                <a:ea typeface="Calibri" pitchFamily="34" charset="-122"/>
                <a:cs typeface="Calibri" pitchFamily="34" charset="-120"/>
              </a:rPr>
              <a:t> (on purpose)</a:t>
            </a:r>
            <a:endParaRPr lang="en-US" sz="1050" dirty="0"/>
          </a:p>
        </p:txBody>
      </p:sp>
      <p:sp>
        <p:nvSpPr>
          <p:cNvPr id="191" name="Shape 189"/>
          <p:cNvSpPr/>
          <p:nvPr/>
        </p:nvSpPr>
        <p:spPr>
          <a:xfrm>
            <a:off x="411480" y="5833872"/>
            <a:ext cx="11368735" cy="530352"/>
          </a:xfrm>
          <a:prstGeom prst="rect">
            <a:avLst/>
          </a:prstGeom>
          <a:solidFill>
            <a:srgbClr val="FFF4E0"/>
          </a:solidFill>
          <a:ln w="6350">
            <a:solidFill>
              <a:srgbClr val="F1D9A8"/>
            </a:solidFill>
            <a:prstDash val="solid"/>
          </a:ln>
        </p:spPr>
      </p:sp>
      <p:sp>
        <p:nvSpPr>
          <p:cNvPr id="192" name="Shape 190"/>
          <p:cNvSpPr/>
          <p:nvPr/>
        </p:nvSpPr>
        <p:spPr>
          <a:xfrm>
            <a:off x="411480" y="5833872"/>
            <a:ext cx="82296" cy="530352"/>
          </a:xfrm>
          <a:prstGeom prst="rect">
            <a:avLst/>
          </a:prstGeom>
          <a:solidFill>
            <a:srgbClr val="E39A2F"/>
          </a:solidFill>
          <a:ln w="12700">
            <a:solidFill>
              <a:srgbClr val="E39A2F"/>
            </a:solidFill>
            <a:prstDash val="solid"/>
          </a:ln>
        </p:spPr>
      </p:sp>
      <p:sp>
        <p:nvSpPr>
          <p:cNvPr id="193" name="Text 19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worker wears a lead apron and a sealed suit with a breathing mask. Which hazard does each one protect against?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Alpha: most dangerous inside, least outside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P5.2.3, P5.2.2 • the hazard depends on where the source is and what it emits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P5.2.3  |  15</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body drawn as a block of tissue; arrows show how far each emission gets</a:t>
            </a:r>
            <a:endParaRPr lang="en-US" sz="1000" dirty="0"/>
          </a:p>
        </p:txBody>
      </p:sp>
      <p:sp>
        <p:nvSpPr>
          <p:cNvPr id="10" name="Text 8"/>
          <p:cNvSpPr/>
          <p:nvPr/>
        </p:nvSpPr>
        <p:spPr>
          <a:xfrm>
            <a:off x="594360" y="1298448"/>
            <a:ext cx="521208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Source OUTSIDE the body</a:t>
            </a:r>
            <a:endParaRPr lang="en-US" sz="1150" dirty="0"/>
          </a:p>
        </p:txBody>
      </p:sp>
      <p:sp>
        <p:nvSpPr>
          <p:cNvPr id="11" name="Shape 9"/>
          <p:cNvSpPr/>
          <p:nvPr/>
        </p:nvSpPr>
        <p:spPr>
          <a:xfrm>
            <a:off x="2286000" y="1600200"/>
            <a:ext cx="3383280" cy="1463040"/>
          </a:xfrm>
          <a:prstGeom prst="roundRect">
            <a:avLst>
              <a:gd name="adj" fmla="val 6250"/>
            </a:avLst>
          </a:prstGeom>
          <a:solidFill>
            <a:srgbClr val="F7DCCB"/>
          </a:solidFill>
          <a:ln w="15875">
            <a:solidFill>
              <a:srgbClr val="C99A5B"/>
            </a:solidFill>
            <a:prstDash val="solid"/>
          </a:ln>
        </p:spPr>
      </p:sp>
      <p:sp>
        <p:nvSpPr>
          <p:cNvPr id="12" name="Shape 10"/>
          <p:cNvSpPr/>
          <p:nvPr/>
        </p:nvSpPr>
        <p:spPr>
          <a:xfrm>
            <a:off x="2286000" y="1600200"/>
            <a:ext cx="73152" cy="1463040"/>
          </a:xfrm>
          <a:prstGeom prst="rect">
            <a:avLst/>
          </a:prstGeom>
          <a:solidFill>
            <a:srgbClr val="E8C3A8"/>
          </a:solidFill>
          <a:ln/>
        </p:spPr>
      </p:sp>
      <p:sp>
        <p:nvSpPr>
          <p:cNvPr id="13" name="Text 11"/>
          <p:cNvSpPr/>
          <p:nvPr/>
        </p:nvSpPr>
        <p:spPr>
          <a:xfrm>
            <a:off x="2240280" y="3081528"/>
            <a:ext cx="914400" cy="256032"/>
          </a:xfrm>
          <a:prstGeom prst="rect">
            <a:avLst/>
          </a:prstGeom>
          <a:noFill/>
          <a:ln/>
        </p:spPr>
        <p:txBody>
          <a:bodyPr wrap="square" lIns="0" tIns="0" rIns="0" bIns="0" rtlCol="0" anchor="ctr"/>
          <a:lstStyle/>
          <a:p>
            <a:pPr algn="l" indent="0" marL="0">
              <a:buNone/>
            </a:pPr>
            <a:r>
              <a:rPr lang="en-US" sz="1050" dirty="0">
                <a:solidFill>
                  <a:srgbClr val="8A6A3A"/>
                </a:solidFill>
                <a:latin typeface="Calibri" pitchFamily="34" charset="0"/>
                <a:ea typeface="Calibri" pitchFamily="34" charset="-122"/>
                <a:cs typeface="Calibri" pitchFamily="34" charset="-120"/>
              </a:rPr>
              <a:t>skin</a:t>
            </a:r>
            <a:endParaRPr lang="en-US" sz="1050" dirty="0"/>
          </a:p>
        </p:txBody>
      </p:sp>
      <p:sp>
        <p:nvSpPr>
          <p:cNvPr id="14" name="Shape 12"/>
          <p:cNvSpPr/>
          <p:nvPr/>
        </p:nvSpPr>
        <p:spPr>
          <a:xfrm>
            <a:off x="640080" y="1965960"/>
            <a:ext cx="365760" cy="731520"/>
          </a:xfrm>
          <a:prstGeom prst="roundRect">
            <a:avLst>
              <a:gd name="adj" fmla="val 10000"/>
            </a:avLst>
          </a:prstGeom>
          <a:solidFill>
            <a:srgbClr val="4A5262"/>
          </a:solidFill>
          <a:ln w="12700">
            <a:solidFill>
              <a:srgbClr val="2E3442"/>
            </a:solidFill>
            <a:prstDash val="solid"/>
          </a:ln>
        </p:spPr>
      </p:sp>
      <p:sp>
        <p:nvSpPr>
          <p:cNvPr id="15" name="Shape 13"/>
          <p:cNvSpPr/>
          <p:nvPr/>
        </p:nvSpPr>
        <p:spPr>
          <a:xfrm>
            <a:off x="1051560" y="1828800"/>
            <a:ext cx="1225296" cy="91"/>
          </a:xfrm>
          <a:prstGeom prst="line">
            <a:avLst/>
          </a:prstGeom>
          <a:noFill/>
          <a:ln w="31750">
            <a:solidFill>
              <a:srgbClr val="C8414C"/>
            </a:solidFill>
            <a:prstDash val="solid"/>
            <a:tailEnd type="triangle"/>
          </a:ln>
        </p:spPr>
      </p:sp>
      <p:sp>
        <p:nvSpPr>
          <p:cNvPr id="16" name="Text 14"/>
          <p:cNvSpPr/>
          <p:nvPr/>
        </p:nvSpPr>
        <p:spPr>
          <a:xfrm>
            <a:off x="1097280" y="1554480"/>
            <a:ext cx="109728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α stops at skin</a:t>
            </a:r>
            <a:endParaRPr lang="en-US" sz="1050" dirty="0"/>
          </a:p>
        </p:txBody>
      </p:sp>
      <p:sp>
        <p:nvSpPr>
          <p:cNvPr id="17" name="Shape 15"/>
          <p:cNvSpPr/>
          <p:nvPr/>
        </p:nvSpPr>
        <p:spPr>
          <a:xfrm>
            <a:off x="1051560" y="2331720"/>
            <a:ext cx="1645920" cy="91"/>
          </a:xfrm>
          <a:prstGeom prst="line">
            <a:avLst/>
          </a:prstGeom>
          <a:noFill/>
          <a:ln w="31750">
            <a:solidFill>
              <a:srgbClr val="2E5BD8"/>
            </a:solidFill>
            <a:prstDash val="solid"/>
          </a:ln>
        </p:spPr>
      </p:sp>
      <p:sp>
        <p:nvSpPr>
          <p:cNvPr id="18" name="Shape 16"/>
          <p:cNvSpPr/>
          <p:nvPr/>
        </p:nvSpPr>
        <p:spPr>
          <a:xfrm>
            <a:off x="2656332" y="2290572"/>
            <a:ext cx="82296" cy="82296"/>
          </a:xfrm>
          <a:prstGeom prst="ellipse">
            <a:avLst/>
          </a:prstGeom>
          <a:solidFill>
            <a:srgbClr val="2E5BD8"/>
          </a:solidFill>
          <a:ln w="9525">
            <a:solidFill>
              <a:srgbClr val="2E5BD8"/>
            </a:solidFill>
            <a:prstDash val="solid"/>
          </a:ln>
        </p:spPr>
      </p:sp>
      <p:sp>
        <p:nvSpPr>
          <p:cNvPr id="19" name="Text 17"/>
          <p:cNvSpPr/>
          <p:nvPr/>
        </p:nvSpPr>
        <p:spPr>
          <a:xfrm>
            <a:off x="2788920" y="2212848"/>
            <a:ext cx="182880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β: a few mm in</a:t>
            </a:r>
            <a:endParaRPr lang="en-US" sz="1050" dirty="0"/>
          </a:p>
        </p:txBody>
      </p:sp>
      <p:sp>
        <p:nvSpPr>
          <p:cNvPr id="20" name="Shape 18"/>
          <p:cNvSpPr/>
          <p:nvPr/>
        </p:nvSpPr>
        <p:spPr>
          <a:xfrm>
            <a:off x="1051560" y="2788920"/>
            <a:ext cx="24765" cy="17496"/>
          </a:xfrm>
          <a:prstGeom prst="line">
            <a:avLst/>
          </a:prstGeom>
          <a:noFill/>
          <a:ln w="22225">
            <a:solidFill>
              <a:srgbClr val="2E8B57"/>
            </a:solidFill>
            <a:prstDash val="solid"/>
          </a:ln>
        </p:spPr>
      </p:sp>
      <p:sp>
        <p:nvSpPr>
          <p:cNvPr id="21" name="Shape 19"/>
          <p:cNvSpPr/>
          <p:nvPr/>
        </p:nvSpPr>
        <p:spPr>
          <a:xfrm>
            <a:off x="1076325" y="2806416"/>
            <a:ext cx="24765" cy="14833"/>
          </a:xfrm>
          <a:prstGeom prst="line">
            <a:avLst/>
          </a:prstGeom>
          <a:noFill/>
          <a:ln w="22225">
            <a:solidFill>
              <a:srgbClr val="2E8B57"/>
            </a:solidFill>
            <a:prstDash val="solid"/>
          </a:ln>
        </p:spPr>
      </p:sp>
      <p:sp>
        <p:nvSpPr>
          <p:cNvPr id="22" name="Shape 20"/>
          <p:cNvSpPr/>
          <p:nvPr/>
        </p:nvSpPr>
        <p:spPr>
          <a:xfrm>
            <a:off x="1101090" y="2821249"/>
            <a:ext cx="24765" cy="9911"/>
          </a:xfrm>
          <a:prstGeom prst="line">
            <a:avLst/>
          </a:prstGeom>
          <a:noFill/>
          <a:ln w="22225">
            <a:solidFill>
              <a:srgbClr val="2E8B57"/>
            </a:solidFill>
            <a:prstDash val="solid"/>
          </a:ln>
        </p:spPr>
      </p:sp>
      <p:sp>
        <p:nvSpPr>
          <p:cNvPr id="23" name="Shape 21"/>
          <p:cNvSpPr/>
          <p:nvPr/>
        </p:nvSpPr>
        <p:spPr>
          <a:xfrm>
            <a:off x="1125855" y="2831160"/>
            <a:ext cx="24765" cy="3480"/>
          </a:xfrm>
          <a:prstGeom prst="line">
            <a:avLst/>
          </a:prstGeom>
          <a:noFill/>
          <a:ln w="22225">
            <a:solidFill>
              <a:srgbClr val="2E8B57"/>
            </a:solidFill>
            <a:prstDash val="solid"/>
          </a:ln>
        </p:spPr>
      </p:sp>
      <p:sp>
        <p:nvSpPr>
          <p:cNvPr id="24" name="Shape 22"/>
          <p:cNvSpPr/>
          <p:nvPr/>
        </p:nvSpPr>
        <p:spPr>
          <a:xfrm flipV="1">
            <a:off x="1150620" y="2831160"/>
            <a:ext cx="24765" cy="3480"/>
          </a:xfrm>
          <a:prstGeom prst="line">
            <a:avLst/>
          </a:prstGeom>
          <a:noFill/>
          <a:ln w="22225">
            <a:solidFill>
              <a:srgbClr val="2E8B57"/>
            </a:solidFill>
            <a:prstDash val="solid"/>
          </a:ln>
        </p:spPr>
      </p:sp>
      <p:sp>
        <p:nvSpPr>
          <p:cNvPr id="25" name="Shape 23"/>
          <p:cNvSpPr/>
          <p:nvPr/>
        </p:nvSpPr>
        <p:spPr>
          <a:xfrm flipV="1">
            <a:off x="1175385" y="2821249"/>
            <a:ext cx="24765" cy="9911"/>
          </a:xfrm>
          <a:prstGeom prst="line">
            <a:avLst/>
          </a:prstGeom>
          <a:noFill/>
          <a:ln w="22225">
            <a:solidFill>
              <a:srgbClr val="2E8B57"/>
            </a:solidFill>
            <a:prstDash val="solid"/>
          </a:ln>
        </p:spPr>
      </p:sp>
      <p:sp>
        <p:nvSpPr>
          <p:cNvPr id="26" name="Shape 24"/>
          <p:cNvSpPr/>
          <p:nvPr/>
        </p:nvSpPr>
        <p:spPr>
          <a:xfrm flipV="1">
            <a:off x="1200150" y="2806416"/>
            <a:ext cx="24765" cy="14833"/>
          </a:xfrm>
          <a:prstGeom prst="line">
            <a:avLst/>
          </a:prstGeom>
          <a:noFill/>
          <a:ln w="22225">
            <a:solidFill>
              <a:srgbClr val="2E8B57"/>
            </a:solidFill>
            <a:prstDash val="solid"/>
          </a:ln>
        </p:spPr>
      </p:sp>
      <p:sp>
        <p:nvSpPr>
          <p:cNvPr id="27" name="Shape 25"/>
          <p:cNvSpPr/>
          <p:nvPr/>
        </p:nvSpPr>
        <p:spPr>
          <a:xfrm flipV="1">
            <a:off x="1224915" y="2788920"/>
            <a:ext cx="24765" cy="17496"/>
          </a:xfrm>
          <a:prstGeom prst="line">
            <a:avLst/>
          </a:prstGeom>
          <a:noFill/>
          <a:ln w="22225">
            <a:solidFill>
              <a:srgbClr val="2E8B57"/>
            </a:solidFill>
            <a:prstDash val="solid"/>
          </a:ln>
        </p:spPr>
      </p:sp>
      <p:sp>
        <p:nvSpPr>
          <p:cNvPr id="28" name="Shape 26"/>
          <p:cNvSpPr/>
          <p:nvPr/>
        </p:nvSpPr>
        <p:spPr>
          <a:xfrm flipV="1">
            <a:off x="1249680" y="2771424"/>
            <a:ext cx="24765" cy="17496"/>
          </a:xfrm>
          <a:prstGeom prst="line">
            <a:avLst/>
          </a:prstGeom>
          <a:noFill/>
          <a:ln w="22225">
            <a:solidFill>
              <a:srgbClr val="2E8B57"/>
            </a:solidFill>
            <a:prstDash val="solid"/>
          </a:ln>
        </p:spPr>
      </p:sp>
      <p:sp>
        <p:nvSpPr>
          <p:cNvPr id="29" name="Shape 27"/>
          <p:cNvSpPr/>
          <p:nvPr/>
        </p:nvSpPr>
        <p:spPr>
          <a:xfrm flipV="1">
            <a:off x="1274445" y="2756591"/>
            <a:ext cx="24765" cy="14833"/>
          </a:xfrm>
          <a:prstGeom prst="line">
            <a:avLst/>
          </a:prstGeom>
          <a:noFill/>
          <a:ln w="22225">
            <a:solidFill>
              <a:srgbClr val="2E8B57"/>
            </a:solidFill>
            <a:prstDash val="solid"/>
          </a:ln>
        </p:spPr>
      </p:sp>
      <p:sp>
        <p:nvSpPr>
          <p:cNvPr id="30" name="Shape 28"/>
          <p:cNvSpPr/>
          <p:nvPr/>
        </p:nvSpPr>
        <p:spPr>
          <a:xfrm flipV="1">
            <a:off x="1299210" y="2746680"/>
            <a:ext cx="24765" cy="9911"/>
          </a:xfrm>
          <a:prstGeom prst="line">
            <a:avLst/>
          </a:prstGeom>
          <a:noFill/>
          <a:ln w="22225">
            <a:solidFill>
              <a:srgbClr val="2E8B57"/>
            </a:solidFill>
            <a:prstDash val="solid"/>
          </a:ln>
        </p:spPr>
      </p:sp>
      <p:sp>
        <p:nvSpPr>
          <p:cNvPr id="31" name="Shape 29"/>
          <p:cNvSpPr/>
          <p:nvPr/>
        </p:nvSpPr>
        <p:spPr>
          <a:xfrm flipV="1">
            <a:off x="1323975" y="2743200"/>
            <a:ext cx="24765" cy="3480"/>
          </a:xfrm>
          <a:prstGeom prst="line">
            <a:avLst/>
          </a:prstGeom>
          <a:noFill/>
          <a:ln w="22225">
            <a:solidFill>
              <a:srgbClr val="2E8B57"/>
            </a:solidFill>
            <a:prstDash val="solid"/>
          </a:ln>
        </p:spPr>
      </p:sp>
      <p:sp>
        <p:nvSpPr>
          <p:cNvPr id="32" name="Shape 30"/>
          <p:cNvSpPr/>
          <p:nvPr/>
        </p:nvSpPr>
        <p:spPr>
          <a:xfrm>
            <a:off x="1348740" y="2743200"/>
            <a:ext cx="24765" cy="3480"/>
          </a:xfrm>
          <a:prstGeom prst="line">
            <a:avLst/>
          </a:prstGeom>
          <a:noFill/>
          <a:ln w="22225">
            <a:solidFill>
              <a:srgbClr val="2E8B57"/>
            </a:solidFill>
            <a:prstDash val="solid"/>
          </a:ln>
        </p:spPr>
      </p:sp>
      <p:sp>
        <p:nvSpPr>
          <p:cNvPr id="33" name="Shape 31"/>
          <p:cNvSpPr/>
          <p:nvPr/>
        </p:nvSpPr>
        <p:spPr>
          <a:xfrm>
            <a:off x="1373505" y="2746680"/>
            <a:ext cx="24765" cy="9911"/>
          </a:xfrm>
          <a:prstGeom prst="line">
            <a:avLst/>
          </a:prstGeom>
          <a:noFill/>
          <a:ln w="22225">
            <a:solidFill>
              <a:srgbClr val="2E8B57"/>
            </a:solidFill>
            <a:prstDash val="solid"/>
          </a:ln>
        </p:spPr>
      </p:sp>
      <p:sp>
        <p:nvSpPr>
          <p:cNvPr id="34" name="Shape 32"/>
          <p:cNvSpPr/>
          <p:nvPr/>
        </p:nvSpPr>
        <p:spPr>
          <a:xfrm>
            <a:off x="1398270" y="2756591"/>
            <a:ext cx="24765" cy="14833"/>
          </a:xfrm>
          <a:prstGeom prst="line">
            <a:avLst/>
          </a:prstGeom>
          <a:noFill/>
          <a:ln w="22225">
            <a:solidFill>
              <a:srgbClr val="2E8B57"/>
            </a:solidFill>
            <a:prstDash val="solid"/>
          </a:ln>
        </p:spPr>
      </p:sp>
      <p:sp>
        <p:nvSpPr>
          <p:cNvPr id="35" name="Shape 33"/>
          <p:cNvSpPr/>
          <p:nvPr/>
        </p:nvSpPr>
        <p:spPr>
          <a:xfrm>
            <a:off x="1423035" y="2771424"/>
            <a:ext cx="24765" cy="17496"/>
          </a:xfrm>
          <a:prstGeom prst="line">
            <a:avLst/>
          </a:prstGeom>
          <a:noFill/>
          <a:ln w="22225">
            <a:solidFill>
              <a:srgbClr val="2E8B57"/>
            </a:solidFill>
            <a:prstDash val="solid"/>
          </a:ln>
        </p:spPr>
      </p:sp>
      <p:sp>
        <p:nvSpPr>
          <p:cNvPr id="36" name="Shape 34"/>
          <p:cNvSpPr/>
          <p:nvPr/>
        </p:nvSpPr>
        <p:spPr>
          <a:xfrm>
            <a:off x="1447800" y="2788920"/>
            <a:ext cx="24765" cy="17496"/>
          </a:xfrm>
          <a:prstGeom prst="line">
            <a:avLst/>
          </a:prstGeom>
          <a:noFill/>
          <a:ln w="22225">
            <a:solidFill>
              <a:srgbClr val="2E8B57"/>
            </a:solidFill>
            <a:prstDash val="solid"/>
          </a:ln>
        </p:spPr>
      </p:sp>
      <p:sp>
        <p:nvSpPr>
          <p:cNvPr id="37" name="Shape 35"/>
          <p:cNvSpPr/>
          <p:nvPr/>
        </p:nvSpPr>
        <p:spPr>
          <a:xfrm>
            <a:off x="1472565" y="2806416"/>
            <a:ext cx="24765" cy="14833"/>
          </a:xfrm>
          <a:prstGeom prst="line">
            <a:avLst/>
          </a:prstGeom>
          <a:noFill/>
          <a:ln w="22225">
            <a:solidFill>
              <a:srgbClr val="2E8B57"/>
            </a:solidFill>
            <a:prstDash val="solid"/>
          </a:ln>
        </p:spPr>
      </p:sp>
      <p:sp>
        <p:nvSpPr>
          <p:cNvPr id="38" name="Shape 36"/>
          <p:cNvSpPr/>
          <p:nvPr/>
        </p:nvSpPr>
        <p:spPr>
          <a:xfrm>
            <a:off x="1497330" y="2821249"/>
            <a:ext cx="24765" cy="9911"/>
          </a:xfrm>
          <a:prstGeom prst="line">
            <a:avLst/>
          </a:prstGeom>
          <a:noFill/>
          <a:ln w="22225">
            <a:solidFill>
              <a:srgbClr val="2E8B57"/>
            </a:solidFill>
            <a:prstDash val="solid"/>
          </a:ln>
        </p:spPr>
      </p:sp>
      <p:sp>
        <p:nvSpPr>
          <p:cNvPr id="39" name="Shape 37"/>
          <p:cNvSpPr/>
          <p:nvPr/>
        </p:nvSpPr>
        <p:spPr>
          <a:xfrm>
            <a:off x="1522095" y="2831160"/>
            <a:ext cx="24765" cy="3480"/>
          </a:xfrm>
          <a:prstGeom prst="line">
            <a:avLst/>
          </a:prstGeom>
          <a:noFill/>
          <a:ln w="22225">
            <a:solidFill>
              <a:srgbClr val="2E8B57"/>
            </a:solidFill>
            <a:prstDash val="solid"/>
          </a:ln>
        </p:spPr>
      </p:sp>
      <p:sp>
        <p:nvSpPr>
          <p:cNvPr id="40" name="Shape 38"/>
          <p:cNvSpPr/>
          <p:nvPr/>
        </p:nvSpPr>
        <p:spPr>
          <a:xfrm flipV="1">
            <a:off x="1546860" y="2831160"/>
            <a:ext cx="24765" cy="3480"/>
          </a:xfrm>
          <a:prstGeom prst="line">
            <a:avLst/>
          </a:prstGeom>
          <a:noFill/>
          <a:ln w="22225">
            <a:solidFill>
              <a:srgbClr val="2E8B57"/>
            </a:solidFill>
            <a:prstDash val="solid"/>
          </a:ln>
        </p:spPr>
      </p:sp>
      <p:sp>
        <p:nvSpPr>
          <p:cNvPr id="41" name="Shape 39"/>
          <p:cNvSpPr/>
          <p:nvPr/>
        </p:nvSpPr>
        <p:spPr>
          <a:xfrm flipV="1">
            <a:off x="1571625" y="2821249"/>
            <a:ext cx="24765" cy="9911"/>
          </a:xfrm>
          <a:prstGeom prst="line">
            <a:avLst/>
          </a:prstGeom>
          <a:noFill/>
          <a:ln w="22225">
            <a:solidFill>
              <a:srgbClr val="2E8B57"/>
            </a:solidFill>
            <a:prstDash val="solid"/>
          </a:ln>
        </p:spPr>
      </p:sp>
      <p:sp>
        <p:nvSpPr>
          <p:cNvPr id="42" name="Shape 40"/>
          <p:cNvSpPr/>
          <p:nvPr/>
        </p:nvSpPr>
        <p:spPr>
          <a:xfrm flipV="1">
            <a:off x="1596390" y="2806416"/>
            <a:ext cx="24765" cy="14833"/>
          </a:xfrm>
          <a:prstGeom prst="line">
            <a:avLst/>
          </a:prstGeom>
          <a:noFill/>
          <a:ln w="22225">
            <a:solidFill>
              <a:srgbClr val="2E8B57"/>
            </a:solidFill>
            <a:prstDash val="solid"/>
          </a:ln>
        </p:spPr>
      </p:sp>
      <p:sp>
        <p:nvSpPr>
          <p:cNvPr id="43" name="Shape 41"/>
          <p:cNvSpPr/>
          <p:nvPr/>
        </p:nvSpPr>
        <p:spPr>
          <a:xfrm flipV="1">
            <a:off x="1621155" y="2788920"/>
            <a:ext cx="24765" cy="17496"/>
          </a:xfrm>
          <a:prstGeom prst="line">
            <a:avLst/>
          </a:prstGeom>
          <a:noFill/>
          <a:ln w="22225">
            <a:solidFill>
              <a:srgbClr val="2E8B57"/>
            </a:solidFill>
            <a:prstDash val="solid"/>
          </a:ln>
        </p:spPr>
      </p:sp>
      <p:sp>
        <p:nvSpPr>
          <p:cNvPr id="44" name="Shape 42"/>
          <p:cNvSpPr/>
          <p:nvPr/>
        </p:nvSpPr>
        <p:spPr>
          <a:xfrm flipV="1">
            <a:off x="1645920" y="2771424"/>
            <a:ext cx="24765" cy="17496"/>
          </a:xfrm>
          <a:prstGeom prst="line">
            <a:avLst/>
          </a:prstGeom>
          <a:noFill/>
          <a:ln w="22225">
            <a:solidFill>
              <a:srgbClr val="2E8B57"/>
            </a:solidFill>
            <a:prstDash val="solid"/>
          </a:ln>
        </p:spPr>
      </p:sp>
      <p:sp>
        <p:nvSpPr>
          <p:cNvPr id="45" name="Shape 43"/>
          <p:cNvSpPr/>
          <p:nvPr/>
        </p:nvSpPr>
        <p:spPr>
          <a:xfrm flipV="1">
            <a:off x="1670685" y="2756591"/>
            <a:ext cx="24765" cy="14833"/>
          </a:xfrm>
          <a:prstGeom prst="line">
            <a:avLst/>
          </a:prstGeom>
          <a:noFill/>
          <a:ln w="22225">
            <a:solidFill>
              <a:srgbClr val="2E8B57"/>
            </a:solidFill>
            <a:prstDash val="solid"/>
          </a:ln>
        </p:spPr>
      </p:sp>
      <p:sp>
        <p:nvSpPr>
          <p:cNvPr id="46" name="Shape 44"/>
          <p:cNvSpPr/>
          <p:nvPr/>
        </p:nvSpPr>
        <p:spPr>
          <a:xfrm flipV="1">
            <a:off x="1695450" y="2746680"/>
            <a:ext cx="24765" cy="9911"/>
          </a:xfrm>
          <a:prstGeom prst="line">
            <a:avLst/>
          </a:prstGeom>
          <a:noFill/>
          <a:ln w="22225">
            <a:solidFill>
              <a:srgbClr val="2E8B57"/>
            </a:solidFill>
            <a:prstDash val="solid"/>
          </a:ln>
        </p:spPr>
      </p:sp>
      <p:sp>
        <p:nvSpPr>
          <p:cNvPr id="47" name="Shape 45"/>
          <p:cNvSpPr/>
          <p:nvPr/>
        </p:nvSpPr>
        <p:spPr>
          <a:xfrm flipV="1">
            <a:off x="1720215" y="2743200"/>
            <a:ext cx="24765" cy="3480"/>
          </a:xfrm>
          <a:prstGeom prst="line">
            <a:avLst/>
          </a:prstGeom>
          <a:noFill/>
          <a:ln w="22225">
            <a:solidFill>
              <a:srgbClr val="2E8B57"/>
            </a:solidFill>
            <a:prstDash val="solid"/>
          </a:ln>
        </p:spPr>
      </p:sp>
      <p:sp>
        <p:nvSpPr>
          <p:cNvPr id="48" name="Shape 46"/>
          <p:cNvSpPr/>
          <p:nvPr/>
        </p:nvSpPr>
        <p:spPr>
          <a:xfrm>
            <a:off x="1744980" y="2743200"/>
            <a:ext cx="24765" cy="3480"/>
          </a:xfrm>
          <a:prstGeom prst="line">
            <a:avLst/>
          </a:prstGeom>
          <a:noFill/>
          <a:ln w="22225">
            <a:solidFill>
              <a:srgbClr val="2E8B57"/>
            </a:solidFill>
            <a:prstDash val="solid"/>
          </a:ln>
        </p:spPr>
      </p:sp>
      <p:sp>
        <p:nvSpPr>
          <p:cNvPr id="49" name="Shape 47"/>
          <p:cNvSpPr/>
          <p:nvPr/>
        </p:nvSpPr>
        <p:spPr>
          <a:xfrm>
            <a:off x="1769745" y="2746680"/>
            <a:ext cx="24765" cy="9911"/>
          </a:xfrm>
          <a:prstGeom prst="line">
            <a:avLst/>
          </a:prstGeom>
          <a:noFill/>
          <a:ln w="22225">
            <a:solidFill>
              <a:srgbClr val="2E8B57"/>
            </a:solidFill>
            <a:prstDash val="solid"/>
          </a:ln>
        </p:spPr>
      </p:sp>
      <p:sp>
        <p:nvSpPr>
          <p:cNvPr id="50" name="Shape 48"/>
          <p:cNvSpPr/>
          <p:nvPr/>
        </p:nvSpPr>
        <p:spPr>
          <a:xfrm>
            <a:off x="1794510" y="2756591"/>
            <a:ext cx="24765" cy="14833"/>
          </a:xfrm>
          <a:prstGeom prst="line">
            <a:avLst/>
          </a:prstGeom>
          <a:noFill/>
          <a:ln w="22225">
            <a:solidFill>
              <a:srgbClr val="2E8B57"/>
            </a:solidFill>
            <a:prstDash val="solid"/>
          </a:ln>
        </p:spPr>
      </p:sp>
      <p:sp>
        <p:nvSpPr>
          <p:cNvPr id="51" name="Shape 49"/>
          <p:cNvSpPr/>
          <p:nvPr/>
        </p:nvSpPr>
        <p:spPr>
          <a:xfrm>
            <a:off x="1819275" y="2771424"/>
            <a:ext cx="24765" cy="17496"/>
          </a:xfrm>
          <a:prstGeom prst="line">
            <a:avLst/>
          </a:prstGeom>
          <a:noFill/>
          <a:ln w="22225">
            <a:solidFill>
              <a:srgbClr val="2E8B57"/>
            </a:solidFill>
            <a:prstDash val="solid"/>
          </a:ln>
        </p:spPr>
      </p:sp>
      <p:sp>
        <p:nvSpPr>
          <p:cNvPr id="52" name="Shape 50"/>
          <p:cNvSpPr/>
          <p:nvPr/>
        </p:nvSpPr>
        <p:spPr>
          <a:xfrm>
            <a:off x="1844040" y="2788920"/>
            <a:ext cx="24765" cy="17496"/>
          </a:xfrm>
          <a:prstGeom prst="line">
            <a:avLst/>
          </a:prstGeom>
          <a:noFill/>
          <a:ln w="22225">
            <a:solidFill>
              <a:srgbClr val="2E8B57"/>
            </a:solidFill>
            <a:prstDash val="solid"/>
          </a:ln>
        </p:spPr>
      </p:sp>
      <p:sp>
        <p:nvSpPr>
          <p:cNvPr id="53" name="Shape 51"/>
          <p:cNvSpPr/>
          <p:nvPr/>
        </p:nvSpPr>
        <p:spPr>
          <a:xfrm>
            <a:off x="1868805" y="2806416"/>
            <a:ext cx="24765" cy="14833"/>
          </a:xfrm>
          <a:prstGeom prst="line">
            <a:avLst/>
          </a:prstGeom>
          <a:noFill/>
          <a:ln w="22225">
            <a:solidFill>
              <a:srgbClr val="2E8B57"/>
            </a:solidFill>
            <a:prstDash val="solid"/>
          </a:ln>
        </p:spPr>
      </p:sp>
      <p:sp>
        <p:nvSpPr>
          <p:cNvPr id="54" name="Shape 52"/>
          <p:cNvSpPr/>
          <p:nvPr/>
        </p:nvSpPr>
        <p:spPr>
          <a:xfrm>
            <a:off x="1893570" y="2821249"/>
            <a:ext cx="24765" cy="9911"/>
          </a:xfrm>
          <a:prstGeom prst="line">
            <a:avLst/>
          </a:prstGeom>
          <a:noFill/>
          <a:ln w="22225">
            <a:solidFill>
              <a:srgbClr val="2E8B57"/>
            </a:solidFill>
            <a:prstDash val="solid"/>
          </a:ln>
        </p:spPr>
      </p:sp>
      <p:sp>
        <p:nvSpPr>
          <p:cNvPr id="55" name="Shape 53"/>
          <p:cNvSpPr/>
          <p:nvPr/>
        </p:nvSpPr>
        <p:spPr>
          <a:xfrm>
            <a:off x="1918335" y="2831160"/>
            <a:ext cx="24765" cy="3480"/>
          </a:xfrm>
          <a:prstGeom prst="line">
            <a:avLst/>
          </a:prstGeom>
          <a:noFill/>
          <a:ln w="22225">
            <a:solidFill>
              <a:srgbClr val="2E8B57"/>
            </a:solidFill>
            <a:prstDash val="solid"/>
          </a:ln>
        </p:spPr>
      </p:sp>
      <p:sp>
        <p:nvSpPr>
          <p:cNvPr id="56" name="Shape 54"/>
          <p:cNvSpPr/>
          <p:nvPr/>
        </p:nvSpPr>
        <p:spPr>
          <a:xfrm flipV="1">
            <a:off x="1943100" y="2831160"/>
            <a:ext cx="24765" cy="3480"/>
          </a:xfrm>
          <a:prstGeom prst="line">
            <a:avLst/>
          </a:prstGeom>
          <a:noFill/>
          <a:ln w="22225">
            <a:solidFill>
              <a:srgbClr val="2E8B57"/>
            </a:solidFill>
            <a:prstDash val="solid"/>
          </a:ln>
        </p:spPr>
      </p:sp>
      <p:sp>
        <p:nvSpPr>
          <p:cNvPr id="57" name="Shape 55"/>
          <p:cNvSpPr/>
          <p:nvPr/>
        </p:nvSpPr>
        <p:spPr>
          <a:xfrm flipV="1">
            <a:off x="1967865" y="2821249"/>
            <a:ext cx="24765" cy="9911"/>
          </a:xfrm>
          <a:prstGeom prst="line">
            <a:avLst/>
          </a:prstGeom>
          <a:noFill/>
          <a:ln w="22225">
            <a:solidFill>
              <a:srgbClr val="2E8B57"/>
            </a:solidFill>
            <a:prstDash val="solid"/>
          </a:ln>
        </p:spPr>
      </p:sp>
      <p:sp>
        <p:nvSpPr>
          <p:cNvPr id="58" name="Shape 56"/>
          <p:cNvSpPr/>
          <p:nvPr/>
        </p:nvSpPr>
        <p:spPr>
          <a:xfrm flipV="1">
            <a:off x="1992630" y="2806416"/>
            <a:ext cx="24765" cy="14833"/>
          </a:xfrm>
          <a:prstGeom prst="line">
            <a:avLst/>
          </a:prstGeom>
          <a:noFill/>
          <a:ln w="22225">
            <a:solidFill>
              <a:srgbClr val="2E8B57"/>
            </a:solidFill>
            <a:prstDash val="solid"/>
          </a:ln>
        </p:spPr>
      </p:sp>
      <p:sp>
        <p:nvSpPr>
          <p:cNvPr id="59" name="Shape 57"/>
          <p:cNvSpPr/>
          <p:nvPr/>
        </p:nvSpPr>
        <p:spPr>
          <a:xfrm flipV="1">
            <a:off x="2017395" y="2788920"/>
            <a:ext cx="24765" cy="17496"/>
          </a:xfrm>
          <a:prstGeom prst="line">
            <a:avLst/>
          </a:prstGeom>
          <a:noFill/>
          <a:ln w="22225">
            <a:solidFill>
              <a:srgbClr val="2E8B57"/>
            </a:solidFill>
            <a:prstDash val="solid"/>
          </a:ln>
        </p:spPr>
      </p:sp>
      <p:sp>
        <p:nvSpPr>
          <p:cNvPr id="60" name="Shape 58"/>
          <p:cNvSpPr/>
          <p:nvPr/>
        </p:nvSpPr>
        <p:spPr>
          <a:xfrm flipV="1">
            <a:off x="2042160" y="2771424"/>
            <a:ext cx="24765" cy="17496"/>
          </a:xfrm>
          <a:prstGeom prst="line">
            <a:avLst/>
          </a:prstGeom>
          <a:noFill/>
          <a:ln w="22225">
            <a:solidFill>
              <a:srgbClr val="2E8B57"/>
            </a:solidFill>
            <a:prstDash val="solid"/>
          </a:ln>
        </p:spPr>
      </p:sp>
      <p:sp>
        <p:nvSpPr>
          <p:cNvPr id="61" name="Shape 59"/>
          <p:cNvSpPr/>
          <p:nvPr/>
        </p:nvSpPr>
        <p:spPr>
          <a:xfrm flipV="1">
            <a:off x="2066925" y="2756591"/>
            <a:ext cx="24765" cy="14833"/>
          </a:xfrm>
          <a:prstGeom prst="line">
            <a:avLst/>
          </a:prstGeom>
          <a:noFill/>
          <a:ln w="22225">
            <a:solidFill>
              <a:srgbClr val="2E8B57"/>
            </a:solidFill>
            <a:prstDash val="solid"/>
          </a:ln>
        </p:spPr>
      </p:sp>
      <p:sp>
        <p:nvSpPr>
          <p:cNvPr id="62" name="Shape 60"/>
          <p:cNvSpPr/>
          <p:nvPr/>
        </p:nvSpPr>
        <p:spPr>
          <a:xfrm flipV="1">
            <a:off x="2091690" y="2746680"/>
            <a:ext cx="24765" cy="9911"/>
          </a:xfrm>
          <a:prstGeom prst="line">
            <a:avLst/>
          </a:prstGeom>
          <a:noFill/>
          <a:ln w="22225">
            <a:solidFill>
              <a:srgbClr val="2E8B57"/>
            </a:solidFill>
            <a:prstDash val="solid"/>
          </a:ln>
        </p:spPr>
      </p:sp>
      <p:sp>
        <p:nvSpPr>
          <p:cNvPr id="63" name="Shape 61"/>
          <p:cNvSpPr/>
          <p:nvPr/>
        </p:nvSpPr>
        <p:spPr>
          <a:xfrm flipV="1">
            <a:off x="2116455" y="2743200"/>
            <a:ext cx="24765" cy="3480"/>
          </a:xfrm>
          <a:prstGeom prst="line">
            <a:avLst/>
          </a:prstGeom>
          <a:noFill/>
          <a:ln w="22225">
            <a:solidFill>
              <a:srgbClr val="2E8B57"/>
            </a:solidFill>
            <a:prstDash val="solid"/>
          </a:ln>
        </p:spPr>
      </p:sp>
      <p:sp>
        <p:nvSpPr>
          <p:cNvPr id="64" name="Shape 62"/>
          <p:cNvSpPr/>
          <p:nvPr/>
        </p:nvSpPr>
        <p:spPr>
          <a:xfrm>
            <a:off x="2141220" y="2743200"/>
            <a:ext cx="24765" cy="3480"/>
          </a:xfrm>
          <a:prstGeom prst="line">
            <a:avLst/>
          </a:prstGeom>
          <a:noFill/>
          <a:ln w="22225">
            <a:solidFill>
              <a:srgbClr val="2E8B57"/>
            </a:solidFill>
            <a:prstDash val="solid"/>
          </a:ln>
        </p:spPr>
      </p:sp>
      <p:sp>
        <p:nvSpPr>
          <p:cNvPr id="65" name="Shape 63"/>
          <p:cNvSpPr/>
          <p:nvPr/>
        </p:nvSpPr>
        <p:spPr>
          <a:xfrm>
            <a:off x="2165985" y="2746680"/>
            <a:ext cx="24765" cy="9911"/>
          </a:xfrm>
          <a:prstGeom prst="line">
            <a:avLst/>
          </a:prstGeom>
          <a:noFill/>
          <a:ln w="22225">
            <a:solidFill>
              <a:srgbClr val="2E8B57"/>
            </a:solidFill>
            <a:prstDash val="solid"/>
          </a:ln>
        </p:spPr>
      </p:sp>
      <p:sp>
        <p:nvSpPr>
          <p:cNvPr id="66" name="Shape 64"/>
          <p:cNvSpPr/>
          <p:nvPr/>
        </p:nvSpPr>
        <p:spPr>
          <a:xfrm>
            <a:off x="2190750" y="2756591"/>
            <a:ext cx="24765" cy="14833"/>
          </a:xfrm>
          <a:prstGeom prst="line">
            <a:avLst/>
          </a:prstGeom>
          <a:noFill/>
          <a:ln w="22225">
            <a:solidFill>
              <a:srgbClr val="2E8B57"/>
            </a:solidFill>
            <a:prstDash val="solid"/>
          </a:ln>
        </p:spPr>
      </p:sp>
      <p:sp>
        <p:nvSpPr>
          <p:cNvPr id="67" name="Shape 65"/>
          <p:cNvSpPr/>
          <p:nvPr/>
        </p:nvSpPr>
        <p:spPr>
          <a:xfrm>
            <a:off x="2215515" y="2771424"/>
            <a:ext cx="24765" cy="17496"/>
          </a:xfrm>
          <a:prstGeom prst="line">
            <a:avLst/>
          </a:prstGeom>
          <a:noFill/>
          <a:ln w="22225">
            <a:solidFill>
              <a:srgbClr val="2E8B57"/>
            </a:solidFill>
            <a:prstDash val="solid"/>
          </a:ln>
        </p:spPr>
      </p:sp>
      <p:sp>
        <p:nvSpPr>
          <p:cNvPr id="68" name="Shape 66"/>
          <p:cNvSpPr/>
          <p:nvPr/>
        </p:nvSpPr>
        <p:spPr>
          <a:xfrm>
            <a:off x="2240280" y="2788920"/>
            <a:ext cx="24765" cy="17496"/>
          </a:xfrm>
          <a:prstGeom prst="line">
            <a:avLst/>
          </a:prstGeom>
          <a:noFill/>
          <a:ln w="22225">
            <a:solidFill>
              <a:srgbClr val="2E8B57"/>
            </a:solidFill>
            <a:prstDash val="solid"/>
          </a:ln>
        </p:spPr>
      </p:sp>
      <p:sp>
        <p:nvSpPr>
          <p:cNvPr id="69" name="Shape 67"/>
          <p:cNvSpPr/>
          <p:nvPr/>
        </p:nvSpPr>
        <p:spPr>
          <a:xfrm>
            <a:off x="2265045" y="2806416"/>
            <a:ext cx="24765" cy="14833"/>
          </a:xfrm>
          <a:prstGeom prst="line">
            <a:avLst/>
          </a:prstGeom>
          <a:noFill/>
          <a:ln w="22225">
            <a:solidFill>
              <a:srgbClr val="2E8B57"/>
            </a:solidFill>
            <a:prstDash val="solid"/>
          </a:ln>
        </p:spPr>
      </p:sp>
      <p:sp>
        <p:nvSpPr>
          <p:cNvPr id="70" name="Shape 68"/>
          <p:cNvSpPr/>
          <p:nvPr/>
        </p:nvSpPr>
        <p:spPr>
          <a:xfrm>
            <a:off x="2289810" y="2821249"/>
            <a:ext cx="24765" cy="9911"/>
          </a:xfrm>
          <a:prstGeom prst="line">
            <a:avLst/>
          </a:prstGeom>
          <a:noFill/>
          <a:ln w="22225">
            <a:solidFill>
              <a:srgbClr val="2E8B57"/>
            </a:solidFill>
            <a:prstDash val="solid"/>
          </a:ln>
        </p:spPr>
      </p:sp>
      <p:sp>
        <p:nvSpPr>
          <p:cNvPr id="71" name="Shape 69"/>
          <p:cNvSpPr/>
          <p:nvPr/>
        </p:nvSpPr>
        <p:spPr>
          <a:xfrm>
            <a:off x="2314575" y="2831160"/>
            <a:ext cx="24765" cy="3480"/>
          </a:xfrm>
          <a:prstGeom prst="line">
            <a:avLst/>
          </a:prstGeom>
          <a:noFill/>
          <a:ln w="22225">
            <a:solidFill>
              <a:srgbClr val="2E8B57"/>
            </a:solidFill>
            <a:prstDash val="solid"/>
          </a:ln>
        </p:spPr>
      </p:sp>
      <p:sp>
        <p:nvSpPr>
          <p:cNvPr id="72" name="Shape 70"/>
          <p:cNvSpPr/>
          <p:nvPr/>
        </p:nvSpPr>
        <p:spPr>
          <a:xfrm flipV="1">
            <a:off x="2339340" y="2831160"/>
            <a:ext cx="24765" cy="3480"/>
          </a:xfrm>
          <a:prstGeom prst="line">
            <a:avLst/>
          </a:prstGeom>
          <a:noFill/>
          <a:ln w="22225">
            <a:solidFill>
              <a:srgbClr val="2E8B57"/>
            </a:solidFill>
            <a:prstDash val="solid"/>
          </a:ln>
        </p:spPr>
      </p:sp>
      <p:sp>
        <p:nvSpPr>
          <p:cNvPr id="73" name="Shape 71"/>
          <p:cNvSpPr/>
          <p:nvPr/>
        </p:nvSpPr>
        <p:spPr>
          <a:xfrm flipV="1">
            <a:off x="2364105" y="2821249"/>
            <a:ext cx="24765" cy="9911"/>
          </a:xfrm>
          <a:prstGeom prst="line">
            <a:avLst/>
          </a:prstGeom>
          <a:noFill/>
          <a:ln w="22225">
            <a:solidFill>
              <a:srgbClr val="2E8B57"/>
            </a:solidFill>
            <a:prstDash val="solid"/>
          </a:ln>
        </p:spPr>
      </p:sp>
      <p:sp>
        <p:nvSpPr>
          <p:cNvPr id="74" name="Shape 72"/>
          <p:cNvSpPr/>
          <p:nvPr/>
        </p:nvSpPr>
        <p:spPr>
          <a:xfrm flipV="1">
            <a:off x="2388870" y="2806416"/>
            <a:ext cx="24765" cy="14833"/>
          </a:xfrm>
          <a:prstGeom prst="line">
            <a:avLst/>
          </a:prstGeom>
          <a:noFill/>
          <a:ln w="22225">
            <a:solidFill>
              <a:srgbClr val="2E8B57"/>
            </a:solidFill>
            <a:prstDash val="solid"/>
          </a:ln>
        </p:spPr>
      </p:sp>
      <p:sp>
        <p:nvSpPr>
          <p:cNvPr id="75" name="Shape 73"/>
          <p:cNvSpPr/>
          <p:nvPr/>
        </p:nvSpPr>
        <p:spPr>
          <a:xfrm flipV="1">
            <a:off x="2413635" y="2788920"/>
            <a:ext cx="24765" cy="17496"/>
          </a:xfrm>
          <a:prstGeom prst="line">
            <a:avLst/>
          </a:prstGeom>
          <a:noFill/>
          <a:ln w="22225">
            <a:solidFill>
              <a:srgbClr val="2E8B57"/>
            </a:solidFill>
            <a:prstDash val="solid"/>
          </a:ln>
        </p:spPr>
      </p:sp>
      <p:sp>
        <p:nvSpPr>
          <p:cNvPr id="76" name="Shape 74"/>
          <p:cNvSpPr/>
          <p:nvPr/>
        </p:nvSpPr>
        <p:spPr>
          <a:xfrm flipV="1">
            <a:off x="2438400" y="2771424"/>
            <a:ext cx="24765" cy="17496"/>
          </a:xfrm>
          <a:prstGeom prst="line">
            <a:avLst/>
          </a:prstGeom>
          <a:noFill/>
          <a:ln w="22225">
            <a:solidFill>
              <a:srgbClr val="2E8B57"/>
            </a:solidFill>
            <a:prstDash val="solid"/>
          </a:ln>
        </p:spPr>
      </p:sp>
      <p:sp>
        <p:nvSpPr>
          <p:cNvPr id="77" name="Shape 75"/>
          <p:cNvSpPr/>
          <p:nvPr/>
        </p:nvSpPr>
        <p:spPr>
          <a:xfrm flipV="1">
            <a:off x="2463165" y="2756591"/>
            <a:ext cx="24765" cy="14833"/>
          </a:xfrm>
          <a:prstGeom prst="line">
            <a:avLst/>
          </a:prstGeom>
          <a:noFill/>
          <a:ln w="22225">
            <a:solidFill>
              <a:srgbClr val="2E8B57"/>
            </a:solidFill>
            <a:prstDash val="solid"/>
          </a:ln>
        </p:spPr>
      </p:sp>
      <p:sp>
        <p:nvSpPr>
          <p:cNvPr id="78" name="Shape 76"/>
          <p:cNvSpPr/>
          <p:nvPr/>
        </p:nvSpPr>
        <p:spPr>
          <a:xfrm flipV="1">
            <a:off x="2487930" y="2746680"/>
            <a:ext cx="24765" cy="9911"/>
          </a:xfrm>
          <a:prstGeom prst="line">
            <a:avLst/>
          </a:prstGeom>
          <a:noFill/>
          <a:ln w="22225">
            <a:solidFill>
              <a:srgbClr val="2E8B57"/>
            </a:solidFill>
            <a:prstDash val="solid"/>
          </a:ln>
        </p:spPr>
      </p:sp>
      <p:sp>
        <p:nvSpPr>
          <p:cNvPr id="79" name="Shape 77"/>
          <p:cNvSpPr/>
          <p:nvPr/>
        </p:nvSpPr>
        <p:spPr>
          <a:xfrm flipV="1">
            <a:off x="2512695" y="2743200"/>
            <a:ext cx="24765" cy="3480"/>
          </a:xfrm>
          <a:prstGeom prst="line">
            <a:avLst/>
          </a:prstGeom>
          <a:noFill/>
          <a:ln w="22225">
            <a:solidFill>
              <a:srgbClr val="2E8B57"/>
            </a:solidFill>
            <a:prstDash val="solid"/>
          </a:ln>
        </p:spPr>
      </p:sp>
      <p:sp>
        <p:nvSpPr>
          <p:cNvPr id="80" name="Shape 78"/>
          <p:cNvSpPr/>
          <p:nvPr/>
        </p:nvSpPr>
        <p:spPr>
          <a:xfrm>
            <a:off x="2537460" y="2743200"/>
            <a:ext cx="24765" cy="3480"/>
          </a:xfrm>
          <a:prstGeom prst="line">
            <a:avLst/>
          </a:prstGeom>
          <a:noFill/>
          <a:ln w="22225">
            <a:solidFill>
              <a:srgbClr val="2E8B57"/>
            </a:solidFill>
            <a:prstDash val="solid"/>
          </a:ln>
        </p:spPr>
      </p:sp>
      <p:sp>
        <p:nvSpPr>
          <p:cNvPr id="81" name="Shape 79"/>
          <p:cNvSpPr/>
          <p:nvPr/>
        </p:nvSpPr>
        <p:spPr>
          <a:xfrm>
            <a:off x="2562225" y="2746680"/>
            <a:ext cx="24765" cy="9911"/>
          </a:xfrm>
          <a:prstGeom prst="line">
            <a:avLst/>
          </a:prstGeom>
          <a:noFill/>
          <a:ln w="22225">
            <a:solidFill>
              <a:srgbClr val="2E8B57"/>
            </a:solidFill>
            <a:prstDash val="solid"/>
          </a:ln>
        </p:spPr>
      </p:sp>
      <p:sp>
        <p:nvSpPr>
          <p:cNvPr id="82" name="Shape 80"/>
          <p:cNvSpPr/>
          <p:nvPr/>
        </p:nvSpPr>
        <p:spPr>
          <a:xfrm>
            <a:off x="2586990" y="2756591"/>
            <a:ext cx="24765" cy="14833"/>
          </a:xfrm>
          <a:prstGeom prst="line">
            <a:avLst/>
          </a:prstGeom>
          <a:noFill/>
          <a:ln w="22225">
            <a:solidFill>
              <a:srgbClr val="2E8B57"/>
            </a:solidFill>
            <a:prstDash val="solid"/>
          </a:ln>
        </p:spPr>
      </p:sp>
      <p:sp>
        <p:nvSpPr>
          <p:cNvPr id="83" name="Shape 81"/>
          <p:cNvSpPr/>
          <p:nvPr/>
        </p:nvSpPr>
        <p:spPr>
          <a:xfrm>
            <a:off x="2611755" y="2771424"/>
            <a:ext cx="24765" cy="17496"/>
          </a:xfrm>
          <a:prstGeom prst="line">
            <a:avLst/>
          </a:prstGeom>
          <a:noFill/>
          <a:ln w="22225">
            <a:solidFill>
              <a:srgbClr val="2E8B57"/>
            </a:solidFill>
            <a:prstDash val="solid"/>
          </a:ln>
        </p:spPr>
      </p:sp>
      <p:sp>
        <p:nvSpPr>
          <p:cNvPr id="84" name="Shape 82"/>
          <p:cNvSpPr/>
          <p:nvPr/>
        </p:nvSpPr>
        <p:spPr>
          <a:xfrm>
            <a:off x="2636520" y="2788920"/>
            <a:ext cx="24765" cy="17496"/>
          </a:xfrm>
          <a:prstGeom prst="line">
            <a:avLst/>
          </a:prstGeom>
          <a:noFill/>
          <a:ln w="22225">
            <a:solidFill>
              <a:srgbClr val="2E8B57"/>
            </a:solidFill>
            <a:prstDash val="solid"/>
          </a:ln>
        </p:spPr>
      </p:sp>
      <p:sp>
        <p:nvSpPr>
          <p:cNvPr id="85" name="Shape 83"/>
          <p:cNvSpPr/>
          <p:nvPr/>
        </p:nvSpPr>
        <p:spPr>
          <a:xfrm>
            <a:off x="2661285" y="2806416"/>
            <a:ext cx="24765" cy="14833"/>
          </a:xfrm>
          <a:prstGeom prst="line">
            <a:avLst/>
          </a:prstGeom>
          <a:noFill/>
          <a:ln w="22225">
            <a:solidFill>
              <a:srgbClr val="2E8B57"/>
            </a:solidFill>
            <a:prstDash val="solid"/>
          </a:ln>
        </p:spPr>
      </p:sp>
      <p:sp>
        <p:nvSpPr>
          <p:cNvPr id="86" name="Shape 84"/>
          <p:cNvSpPr/>
          <p:nvPr/>
        </p:nvSpPr>
        <p:spPr>
          <a:xfrm>
            <a:off x="2686050" y="2821249"/>
            <a:ext cx="24765" cy="9911"/>
          </a:xfrm>
          <a:prstGeom prst="line">
            <a:avLst/>
          </a:prstGeom>
          <a:noFill/>
          <a:ln w="22225">
            <a:solidFill>
              <a:srgbClr val="2E8B57"/>
            </a:solidFill>
            <a:prstDash val="solid"/>
          </a:ln>
        </p:spPr>
      </p:sp>
      <p:sp>
        <p:nvSpPr>
          <p:cNvPr id="87" name="Shape 85"/>
          <p:cNvSpPr/>
          <p:nvPr/>
        </p:nvSpPr>
        <p:spPr>
          <a:xfrm>
            <a:off x="2710815" y="2831160"/>
            <a:ext cx="24765" cy="3480"/>
          </a:xfrm>
          <a:prstGeom prst="line">
            <a:avLst/>
          </a:prstGeom>
          <a:noFill/>
          <a:ln w="22225">
            <a:solidFill>
              <a:srgbClr val="2E8B57"/>
            </a:solidFill>
            <a:prstDash val="solid"/>
          </a:ln>
        </p:spPr>
      </p:sp>
      <p:sp>
        <p:nvSpPr>
          <p:cNvPr id="88" name="Shape 86"/>
          <p:cNvSpPr/>
          <p:nvPr/>
        </p:nvSpPr>
        <p:spPr>
          <a:xfrm flipV="1">
            <a:off x="2735580" y="2831160"/>
            <a:ext cx="24765" cy="3480"/>
          </a:xfrm>
          <a:prstGeom prst="line">
            <a:avLst/>
          </a:prstGeom>
          <a:noFill/>
          <a:ln w="22225">
            <a:solidFill>
              <a:srgbClr val="2E8B57"/>
            </a:solidFill>
            <a:prstDash val="solid"/>
          </a:ln>
        </p:spPr>
      </p:sp>
      <p:sp>
        <p:nvSpPr>
          <p:cNvPr id="89" name="Shape 87"/>
          <p:cNvSpPr/>
          <p:nvPr/>
        </p:nvSpPr>
        <p:spPr>
          <a:xfrm flipV="1">
            <a:off x="2760345" y="2821249"/>
            <a:ext cx="24765" cy="9911"/>
          </a:xfrm>
          <a:prstGeom prst="line">
            <a:avLst/>
          </a:prstGeom>
          <a:noFill/>
          <a:ln w="22225">
            <a:solidFill>
              <a:srgbClr val="2E8B57"/>
            </a:solidFill>
            <a:prstDash val="solid"/>
          </a:ln>
        </p:spPr>
      </p:sp>
      <p:sp>
        <p:nvSpPr>
          <p:cNvPr id="90" name="Shape 88"/>
          <p:cNvSpPr/>
          <p:nvPr/>
        </p:nvSpPr>
        <p:spPr>
          <a:xfrm flipV="1">
            <a:off x="2785110" y="2806416"/>
            <a:ext cx="24765" cy="14833"/>
          </a:xfrm>
          <a:prstGeom prst="line">
            <a:avLst/>
          </a:prstGeom>
          <a:noFill/>
          <a:ln w="22225">
            <a:solidFill>
              <a:srgbClr val="2E8B57"/>
            </a:solidFill>
            <a:prstDash val="solid"/>
          </a:ln>
        </p:spPr>
      </p:sp>
      <p:sp>
        <p:nvSpPr>
          <p:cNvPr id="91" name="Shape 89"/>
          <p:cNvSpPr/>
          <p:nvPr/>
        </p:nvSpPr>
        <p:spPr>
          <a:xfrm flipV="1">
            <a:off x="2809875" y="2788920"/>
            <a:ext cx="24765" cy="17496"/>
          </a:xfrm>
          <a:prstGeom prst="line">
            <a:avLst/>
          </a:prstGeom>
          <a:noFill/>
          <a:ln w="22225">
            <a:solidFill>
              <a:srgbClr val="2E8B57"/>
            </a:solidFill>
            <a:prstDash val="solid"/>
          </a:ln>
        </p:spPr>
      </p:sp>
      <p:sp>
        <p:nvSpPr>
          <p:cNvPr id="92" name="Shape 90"/>
          <p:cNvSpPr/>
          <p:nvPr/>
        </p:nvSpPr>
        <p:spPr>
          <a:xfrm flipV="1">
            <a:off x="2834640" y="2771424"/>
            <a:ext cx="24765" cy="17496"/>
          </a:xfrm>
          <a:prstGeom prst="line">
            <a:avLst/>
          </a:prstGeom>
          <a:noFill/>
          <a:ln w="22225">
            <a:solidFill>
              <a:srgbClr val="2E8B57"/>
            </a:solidFill>
            <a:prstDash val="solid"/>
          </a:ln>
        </p:spPr>
      </p:sp>
      <p:sp>
        <p:nvSpPr>
          <p:cNvPr id="93" name="Shape 91"/>
          <p:cNvSpPr/>
          <p:nvPr/>
        </p:nvSpPr>
        <p:spPr>
          <a:xfrm flipV="1">
            <a:off x="2859405" y="2756591"/>
            <a:ext cx="24765" cy="14833"/>
          </a:xfrm>
          <a:prstGeom prst="line">
            <a:avLst/>
          </a:prstGeom>
          <a:noFill/>
          <a:ln w="22225">
            <a:solidFill>
              <a:srgbClr val="2E8B57"/>
            </a:solidFill>
            <a:prstDash val="solid"/>
          </a:ln>
        </p:spPr>
      </p:sp>
      <p:sp>
        <p:nvSpPr>
          <p:cNvPr id="94" name="Shape 92"/>
          <p:cNvSpPr/>
          <p:nvPr/>
        </p:nvSpPr>
        <p:spPr>
          <a:xfrm flipV="1">
            <a:off x="2884170" y="2746680"/>
            <a:ext cx="24765" cy="9911"/>
          </a:xfrm>
          <a:prstGeom prst="line">
            <a:avLst/>
          </a:prstGeom>
          <a:noFill/>
          <a:ln w="22225">
            <a:solidFill>
              <a:srgbClr val="2E8B57"/>
            </a:solidFill>
            <a:prstDash val="solid"/>
          </a:ln>
        </p:spPr>
      </p:sp>
      <p:sp>
        <p:nvSpPr>
          <p:cNvPr id="95" name="Shape 93"/>
          <p:cNvSpPr/>
          <p:nvPr/>
        </p:nvSpPr>
        <p:spPr>
          <a:xfrm flipV="1">
            <a:off x="2908935" y="2743200"/>
            <a:ext cx="24765" cy="3480"/>
          </a:xfrm>
          <a:prstGeom prst="line">
            <a:avLst/>
          </a:prstGeom>
          <a:noFill/>
          <a:ln w="22225">
            <a:solidFill>
              <a:srgbClr val="2E8B57"/>
            </a:solidFill>
            <a:prstDash val="solid"/>
          </a:ln>
        </p:spPr>
      </p:sp>
      <p:sp>
        <p:nvSpPr>
          <p:cNvPr id="96" name="Shape 94"/>
          <p:cNvSpPr/>
          <p:nvPr/>
        </p:nvSpPr>
        <p:spPr>
          <a:xfrm>
            <a:off x="2933700" y="2743200"/>
            <a:ext cx="24765" cy="3480"/>
          </a:xfrm>
          <a:prstGeom prst="line">
            <a:avLst/>
          </a:prstGeom>
          <a:noFill/>
          <a:ln w="22225">
            <a:solidFill>
              <a:srgbClr val="2E8B57"/>
            </a:solidFill>
            <a:prstDash val="solid"/>
          </a:ln>
        </p:spPr>
      </p:sp>
      <p:sp>
        <p:nvSpPr>
          <p:cNvPr id="97" name="Shape 95"/>
          <p:cNvSpPr/>
          <p:nvPr/>
        </p:nvSpPr>
        <p:spPr>
          <a:xfrm>
            <a:off x="2958465" y="2746680"/>
            <a:ext cx="24765" cy="9911"/>
          </a:xfrm>
          <a:prstGeom prst="line">
            <a:avLst/>
          </a:prstGeom>
          <a:noFill/>
          <a:ln w="22225">
            <a:solidFill>
              <a:srgbClr val="2E8B57"/>
            </a:solidFill>
            <a:prstDash val="solid"/>
          </a:ln>
        </p:spPr>
      </p:sp>
      <p:sp>
        <p:nvSpPr>
          <p:cNvPr id="98" name="Shape 96"/>
          <p:cNvSpPr/>
          <p:nvPr/>
        </p:nvSpPr>
        <p:spPr>
          <a:xfrm>
            <a:off x="2983230" y="2756591"/>
            <a:ext cx="24765" cy="14833"/>
          </a:xfrm>
          <a:prstGeom prst="line">
            <a:avLst/>
          </a:prstGeom>
          <a:noFill/>
          <a:ln w="22225">
            <a:solidFill>
              <a:srgbClr val="2E8B57"/>
            </a:solidFill>
            <a:prstDash val="solid"/>
          </a:ln>
        </p:spPr>
      </p:sp>
      <p:sp>
        <p:nvSpPr>
          <p:cNvPr id="99" name="Shape 97"/>
          <p:cNvSpPr/>
          <p:nvPr/>
        </p:nvSpPr>
        <p:spPr>
          <a:xfrm>
            <a:off x="3007995" y="2771424"/>
            <a:ext cx="24765" cy="17496"/>
          </a:xfrm>
          <a:prstGeom prst="line">
            <a:avLst/>
          </a:prstGeom>
          <a:noFill/>
          <a:ln w="22225">
            <a:solidFill>
              <a:srgbClr val="2E8B57"/>
            </a:solidFill>
            <a:prstDash val="solid"/>
          </a:ln>
        </p:spPr>
      </p:sp>
      <p:sp>
        <p:nvSpPr>
          <p:cNvPr id="100" name="Shape 98"/>
          <p:cNvSpPr/>
          <p:nvPr/>
        </p:nvSpPr>
        <p:spPr>
          <a:xfrm>
            <a:off x="3032760" y="2788920"/>
            <a:ext cx="24765" cy="17496"/>
          </a:xfrm>
          <a:prstGeom prst="line">
            <a:avLst/>
          </a:prstGeom>
          <a:noFill/>
          <a:ln w="22225">
            <a:solidFill>
              <a:srgbClr val="2E8B57"/>
            </a:solidFill>
            <a:prstDash val="solid"/>
          </a:ln>
        </p:spPr>
      </p:sp>
      <p:sp>
        <p:nvSpPr>
          <p:cNvPr id="101" name="Shape 99"/>
          <p:cNvSpPr/>
          <p:nvPr/>
        </p:nvSpPr>
        <p:spPr>
          <a:xfrm>
            <a:off x="3057525" y="2806416"/>
            <a:ext cx="24765" cy="14833"/>
          </a:xfrm>
          <a:prstGeom prst="line">
            <a:avLst/>
          </a:prstGeom>
          <a:noFill/>
          <a:ln w="22225">
            <a:solidFill>
              <a:srgbClr val="2E8B57"/>
            </a:solidFill>
            <a:prstDash val="solid"/>
          </a:ln>
        </p:spPr>
      </p:sp>
      <p:sp>
        <p:nvSpPr>
          <p:cNvPr id="102" name="Shape 100"/>
          <p:cNvSpPr/>
          <p:nvPr/>
        </p:nvSpPr>
        <p:spPr>
          <a:xfrm>
            <a:off x="3082290" y="2821249"/>
            <a:ext cx="24765" cy="9911"/>
          </a:xfrm>
          <a:prstGeom prst="line">
            <a:avLst/>
          </a:prstGeom>
          <a:noFill/>
          <a:ln w="22225">
            <a:solidFill>
              <a:srgbClr val="2E8B57"/>
            </a:solidFill>
            <a:prstDash val="solid"/>
          </a:ln>
        </p:spPr>
      </p:sp>
      <p:sp>
        <p:nvSpPr>
          <p:cNvPr id="103" name="Shape 101"/>
          <p:cNvSpPr/>
          <p:nvPr/>
        </p:nvSpPr>
        <p:spPr>
          <a:xfrm>
            <a:off x="3107055" y="2831160"/>
            <a:ext cx="24765" cy="3480"/>
          </a:xfrm>
          <a:prstGeom prst="line">
            <a:avLst/>
          </a:prstGeom>
          <a:noFill/>
          <a:ln w="22225">
            <a:solidFill>
              <a:srgbClr val="2E8B57"/>
            </a:solidFill>
            <a:prstDash val="solid"/>
          </a:ln>
        </p:spPr>
      </p:sp>
      <p:sp>
        <p:nvSpPr>
          <p:cNvPr id="104" name="Shape 102"/>
          <p:cNvSpPr/>
          <p:nvPr/>
        </p:nvSpPr>
        <p:spPr>
          <a:xfrm flipV="1">
            <a:off x="3131820" y="2831160"/>
            <a:ext cx="24765" cy="3480"/>
          </a:xfrm>
          <a:prstGeom prst="line">
            <a:avLst/>
          </a:prstGeom>
          <a:noFill/>
          <a:ln w="22225">
            <a:solidFill>
              <a:srgbClr val="2E8B57"/>
            </a:solidFill>
            <a:prstDash val="solid"/>
          </a:ln>
        </p:spPr>
      </p:sp>
      <p:sp>
        <p:nvSpPr>
          <p:cNvPr id="105" name="Shape 103"/>
          <p:cNvSpPr/>
          <p:nvPr/>
        </p:nvSpPr>
        <p:spPr>
          <a:xfrm flipV="1">
            <a:off x="3156585" y="2821249"/>
            <a:ext cx="24765" cy="9911"/>
          </a:xfrm>
          <a:prstGeom prst="line">
            <a:avLst/>
          </a:prstGeom>
          <a:noFill/>
          <a:ln w="22225">
            <a:solidFill>
              <a:srgbClr val="2E8B57"/>
            </a:solidFill>
            <a:prstDash val="solid"/>
          </a:ln>
        </p:spPr>
      </p:sp>
      <p:sp>
        <p:nvSpPr>
          <p:cNvPr id="106" name="Shape 104"/>
          <p:cNvSpPr/>
          <p:nvPr/>
        </p:nvSpPr>
        <p:spPr>
          <a:xfrm flipV="1">
            <a:off x="3181350" y="2806416"/>
            <a:ext cx="24765" cy="14833"/>
          </a:xfrm>
          <a:prstGeom prst="line">
            <a:avLst/>
          </a:prstGeom>
          <a:noFill/>
          <a:ln w="22225">
            <a:solidFill>
              <a:srgbClr val="2E8B57"/>
            </a:solidFill>
            <a:prstDash val="solid"/>
          </a:ln>
        </p:spPr>
      </p:sp>
      <p:sp>
        <p:nvSpPr>
          <p:cNvPr id="107" name="Shape 105"/>
          <p:cNvSpPr/>
          <p:nvPr/>
        </p:nvSpPr>
        <p:spPr>
          <a:xfrm flipV="1">
            <a:off x="3206115" y="2788920"/>
            <a:ext cx="24765" cy="17496"/>
          </a:xfrm>
          <a:prstGeom prst="line">
            <a:avLst/>
          </a:prstGeom>
          <a:noFill/>
          <a:ln w="22225">
            <a:solidFill>
              <a:srgbClr val="2E8B57"/>
            </a:solidFill>
            <a:prstDash val="solid"/>
          </a:ln>
        </p:spPr>
      </p:sp>
      <p:sp>
        <p:nvSpPr>
          <p:cNvPr id="108" name="Shape 106"/>
          <p:cNvSpPr/>
          <p:nvPr/>
        </p:nvSpPr>
        <p:spPr>
          <a:xfrm flipV="1">
            <a:off x="3230880" y="2771424"/>
            <a:ext cx="24765" cy="17496"/>
          </a:xfrm>
          <a:prstGeom prst="line">
            <a:avLst/>
          </a:prstGeom>
          <a:noFill/>
          <a:ln w="22225">
            <a:solidFill>
              <a:srgbClr val="2E8B57"/>
            </a:solidFill>
            <a:prstDash val="solid"/>
          </a:ln>
        </p:spPr>
      </p:sp>
      <p:sp>
        <p:nvSpPr>
          <p:cNvPr id="109" name="Shape 107"/>
          <p:cNvSpPr/>
          <p:nvPr/>
        </p:nvSpPr>
        <p:spPr>
          <a:xfrm flipV="1">
            <a:off x="3255645" y="2756591"/>
            <a:ext cx="24765" cy="14833"/>
          </a:xfrm>
          <a:prstGeom prst="line">
            <a:avLst/>
          </a:prstGeom>
          <a:noFill/>
          <a:ln w="22225">
            <a:solidFill>
              <a:srgbClr val="2E8B57"/>
            </a:solidFill>
            <a:prstDash val="solid"/>
          </a:ln>
        </p:spPr>
      </p:sp>
      <p:sp>
        <p:nvSpPr>
          <p:cNvPr id="110" name="Shape 108"/>
          <p:cNvSpPr/>
          <p:nvPr/>
        </p:nvSpPr>
        <p:spPr>
          <a:xfrm flipV="1">
            <a:off x="3280410" y="2746680"/>
            <a:ext cx="24765" cy="9911"/>
          </a:xfrm>
          <a:prstGeom prst="line">
            <a:avLst/>
          </a:prstGeom>
          <a:noFill/>
          <a:ln w="22225">
            <a:solidFill>
              <a:srgbClr val="2E8B57"/>
            </a:solidFill>
            <a:prstDash val="solid"/>
          </a:ln>
        </p:spPr>
      </p:sp>
      <p:sp>
        <p:nvSpPr>
          <p:cNvPr id="111" name="Shape 109"/>
          <p:cNvSpPr/>
          <p:nvPr/>
        </p:nvSpPr>
        <p:spPr>
          <a:xfrm flipV="1">
            <a:off x="3305175" y="2743200"/>
            <a:ext cx="24765" cy="3480"/>
          </a:xfrm>
          <a:prstGeom prst="line">
            <a:avLst/>
          </a:prstGeom>
          <a:noFill/>
          <a:ln w="22225">
            <a:solidFill>
              <a:srgbClr val="2E8B57"/>
            </a:solidFill>
            <a:prstDash val="solid"/>
          </a:ln>
        </p:spPr>
      </p:sp>
      <p:sp>
        <p:nvSpPr>
          <p:cNvPr id="112" name="Shape 110"/>
          <p:cNvSpPr/>
          <p:nvPr/>
        </p:nvSpPr>
        <p:spPr>
          <a:xfrm>
            <a:off x="3329940" y="2743200"/>
            <a:ext cx="24765" cy="3480"/>
          </a:xfrm>
          <a:prstGeom prst="line">
            <a:avLst/>
          </a:prstGeom>
          <a:noFill/>
          <a:ln w="22225">
            <a:solidFill>
              <a:srgbClr val="2E8B57"/>
            </a:solidFill>
            <a:prstDash val="solid"/>
          </a:ln>
        </p:spPr>
      </p:sp>
      <p:sp>
        <p:nvSpPr>
          <p:cNvPr id="113" name="Shape 111"/>
          <p:cNvSpPr/>
          <p:nvPr/>
        </p:nvSpPr>
        <p:spPr>
          <a:xfrm>
            <a:off x="3354705" y="2746680"/>
            <a:ext cx="24765" cy="9911"/>
          </a:xfrm>
          <a:prstGeom prst="line">
            <a:avLst/>
          </a:prstGeom>
          <a:noFill/>
          <a:ln w="22225">
            <a:solidFill>
              <a:srgbClr val="2E8B57"/>
            </a:solidFill>
            <a:prstDash val="solid"/>
          </a:ln>
        </p:spPr>
      </p:sp>
      <p:sp>
        <p:nvSpPr>
          <p:cNvPr id="114" name="Shape 112"/>
          <p:cNvSpPr/>
          <p:nvPr/>
        </p:nvSpPr>
        <p:spPr>
          <a:xfrm>
            <a:off x="3379470" y="2756591"/>
            <a:ext cx="24765" cy="14833"/>
          </a:xfrm>
          <a:prstGeom prst="line">
            <a:avLst/>
          </a:prstGeom>
          <a:noFill/>
          <a:ln w="22225">
            <a:solidFill>
              <a:srgbClr val="2E8B57"/>
            </a:solidFill>
            <a:prstDash val="solid"/>
          </a:ln>
        </p:spPr>
      </p:sp>
      <p:sp>
        <p:nvSpPr>
          <p:cNvPr id="115" name="Shape 113"/>
          <p:cNvSpPr/>
          <p:nvPr/>
        </p:nvSpPr>
        <p:spPr>
          <a:xfrm>
            <a:off x="3404235" y="2771424"/>
            <a:ext cx="24765" cy="17496"/>
          </a:xfrm>
          <a:prstGeom prst="line">
            <a:avLst/>
          </a:prstGeom>
          <a:noFill/>
          <a:ln w="22225">
            <a:solidFill>
              <a:srgbClr val="2E8B57"/>
            </a:solidFill>
            <a:prstDash val="solid"/>
          </a:ln>
        </p:spPr>
      </p:sp>
      <p:sp>
        <p:nvSpPr>
          <p:cNvPr id="116" name="Shape 114"/>
          <p:cNvSpPr/>
          <p:nvPr/>
        </p:nvSpPr>
        <p:spPr>
          <a:xfrm>
            <a:off x="3429000" y="2788920"/>
            <a:ext cx="24765" cy="17496"/>
          </a:xfrm>
          <a:prstGeom prst="line">
            <a:avLst/>
          </a:prstGeom>
          <a:noFill/>
          <a:ln w="22225">
            <a:solidFill>
              <a:srgbClr val="2E8B57"/>
            </a:solidFill>
            <a:prstDash val="solid"/>
          </a:ln>
        </p:spPr>
      </p:sp>
      <p:sp>
        <p:nvSpPr>
          <p:cNvPr id="117" name="Shape 115"/>
          <p:cNvSpPr/>
          <p:nvPr/>
        </p:nvSpPr>
        <p:spPr>
          <a:xfrm>
            <a:off x="3453765" y="2806416"/>
            <a:ext cx="24765" cy="14833"/>
          </a:xfrm>
          <a:prstGeom prst="line">
            <a:avLst/>
          </a:prstGeom>
          <a:noFill/>
          <a:ln w="22225">
            <a:solidFill>
              <a:srgbClr val="2E8B57"/>
            </a:solidFill>
            <a:prstDash val="solid"/>
          </a:ln>
        </p:spPr>
      </p:sp>
      <p:sp>
        <p:nvSpPr>
          <p:cNvPr id="118" name="Shape 116"/>
          <p:cNvSpPr/>
          <p:nvPr/>
        </p:nvSpPr>
        <p:spPr>
          <a:xfrm>
            <a:off x="3478530" y="2821249"/>
            <a:ext cx="24765" cy="9911"/>
          </a:xfrm>
          <a:prstGeom prst="line">
            <a:avLst/>
          </a:prstGeom>
          <a:noFill/>
          <a:ln w="22225">
            <a:solidFill>
              <a:srgbClr val="2E8B57"/>
            </a:solidFill>
            <a:prstDash val="solid"/>
          </a:ln>
        </p:spPr>
      </p:sp>
      <p:sp>
        <p:nvSpPr>
          <p:cNvPr id="119" name="Shape 117"/>
          <p:cNvSpPr/>
          <p:nvPr/>
        </p:nvSpPr>
        <p:spPr>
          <a:xfrm>
            <a:off x="3503295" y="2831160"/>
            <a:ext cx="24765" cy="3480"/>
          </a:xfrm>
          <a:prstGeom prst="line">
            <a:avLst/>
          </a:prstGeom>
          <a:noFill/>
          <a:ln w="22225">
            <a:solidFill>
              <a:srgbClr val="2E8B57"/>
            </a:solidFill>
            <a:prstDash val="solid"/>
          </a:ln>
        </p:spPr>
      </p:sp>
      <p:sp>
        <p:nvSpPr>
          <p:cNvPr id="120" name="Shape 118"/>
          <p:cNvSpPr/>
          <p:nvPr/>
        </p:nvSpPr>
        <p:spPr>
          <a:xfrm flipV="1">
            <a:off x="3528060" y="2831160"/>
            <a:ext cx="24765" cy="3480"/>
          </a:xfrm>
          <a:prstGeom prst="line">
            <a:avLst/>
          </a:prstGeom>
          <a:noFill/>
          <a:ln w="22225">
            <a:solidFill>
              <a:srgbClr val="2E8B57"/>
            </a:solidFill>
            <a:prstDash val="solid"/>
          </a:ln>
        </p:spPr>
      </p:sp>
      <p:sp>
        <p:nvSpPr>
          <p:cNvPr id="121" name="Shape 119"/>
          <p:cNvSpPr/>
          <p:nvPr/>
        </p:nvSpPr>
        <p:spPr>
          <a:xfrm flipV="1">
            <a:off x="3552825" y="2821249"/>
            <a:ext cx="24765" cy="9911"/>
          </a:xfrm>
          <a:prstGeom prst="line">
            <a:avLst/>
          </a:prstGeom>
          <a:noFill/>
          <a:ln w="22225">
            <a:solidFill>
              <a:srgbClr val="2E8B57"/>
            </a:solidFill>
            <a:prstDash val="solid"/>
          </a:ln>
        </p:spPr>
      </p:sp>
      <p:sp>
        <p:nvSpPr>
          <p:cNvPr id="122" name="Shape 120"/>
          <p:cNvSpPr/>
          <p:nvPr/>
        </p:nvSpPr>
        <p:spPr>
          <a:xfrm flipV="1">
            <a:off x="3577590" y="2806416"/>
            <a:ext cx="24765" cy="14833"/>
          </a:xfrm>
          <a:prstGeom prst="line">
            <a:avLst/>
          </a:prstGeom>
          <a:noFill/>
          <a:ln w="22225">
            <a:solidFill>
              <a:srgbClr val="2E8B57"/>
            </a:solidFill>
            <a:prstDash val="solid"/>
          </a:ln>
        </p:spPr>
      </p:sp>
      <p:sp>
        <p:nvSpPr>
          <p:cNvPr id="123" name="Shape 121"/>
          <p:cNvSpPr/>
          <p:nvPr/>
        </p:nvSpPr>
        <p:spPr>
          <a:xfrm flipV="1">
            <a:off x="3602355" y="2788920"/>
            <a:ext cx="24765" cy="17496"/>
          </a:xfrm>
          <a:prstGeom prst="line">
            <a:avLst/>
          </a:prstGeom>
          <a:noFill/>
          <a:ln w="22225">
            <a:solidFill>
              <a:srgbClr val="2E8B57"/>
            </a:solidFill>
            <a:prstDash val="solid"/>
          </a:ln>
        </p:spPr>
      </p:sp>
      <p:sp>
        <p:nvSpPr>
          <p:cNvPr id="124" name="Shape 122"/>
          <p:cNvSpPr/>
          <p:nvPr/>
        </p:nvSpPr>
        <p:spPr>
          <a:xfrm flipV="1">
            <a:off x="3627120" y="2771424"/>
            <a:ext cx="24765" cy="17496"/>
          </a:xfrm>
          <a:prstGeom prst="line">
            <a:avLst/>
          </a:prstGeom>
          <a:noFill/>
          <a:ln w="22225">
            <a:solidFill>
              <a:srgbClr val="2E8B57"/>
            </a:solidFill>
            <a:prstDash val="solid"/>
          </a:ln>
        </p:spPr>
      </p:sp>
      <p:sp>
        <p:nvSpPr>
          <p:cNvPr id="125" name="Shape 123"/>
          <p:cNvSpPr/>
          <p:nvPr/>
        </p:nvSpPr>
        <p:spPr>
          <a:xfrm flipV="1">
            <a:off x="3651885" y="2756591"/>
            <a:ext cx="24765" cy="14833"/>
          </a:xfrm>
          <a:prstGeom prst="line">
            <a:avLst/>
          </a:prstGeom>
          <a:noFill/>
          <a:ln w="22225">
            <a:solidFill>
              <a:srgbClr val="2E8B57"/>
            </a:solidFill>
            <a:prstDash val="solid"/>
          </a:ln>
        </p:spPr>
      </p:sp>
      <p:sp>
        <p:nvSpPr>
          <p:cNvPr id="126" name="Shape 124"/>
          <p:cNvSpPr/>
          <p:nvPr/>
        </p:nvSpPr>
        <p:spPr>
          <a:xfrm flipV="1">
            <a:off x="3676650" y="2746680"/>
            <a:ext cx="24765" cy="9911"/>
          </a:xfrm>
          <a:prstGeom prst="line">
            <a:avLst/>
          </a:prstGeom>
          <a:noFill/>
          <a:ln w="22225">
            <a:solidFill>
              <a:srgbClr val="2E8B57"/>
            </a:solidFill>
            <a:prstDash val="solid"/>
          </a:ln>
        </p:spPr>
      </p:sp>
      <p:sp>
        <p:nvSpPr>
          <p:cNvPr id="127" name="Shape 125"/>
          <p:cNvSpPr/>
          <p:nvPr/>
        </p:nvSpPr>
        <p:spPr>
          <a:xfrm flipV="1">
            <a:off x="3701415" y="2743200"/>
            <a:ext cx="24765" cy="3480"/>
          </a:xfrm>
          <a:prstGeom prst="line">
            <a:avLst/>
          </a:prstGeom>
          <a:noFill/>
          <a:ln w="22225">
            <a:solidFill>
              <a:srgbClr val="2E8B57"/>
            </a:solidFill>
            <a:prstDash val="solid"/>
          </a:ln>
        </p:spPr>
      </p:sp>
      <p:sp>
        <p:nvSpPr>
          <p:cNvPr id="128" name="Shape 126"/>
          <p:cNvSpPr/>
          <p:nvPr/>
        </p:nvSpPr>
        <p:spPr>
          <a:xfrm>
            <a:off x="3726180" y="2743200"/>
            <a:ext cx="24765" cy="3480"/>
          </a:xfrm>
          <a:prstGeom prst="line">
            <a:avLst/>
          </a:prstGeom>
          <a:noFill/>
          <a:ln w="22225">
            <a:solidFill>
              <a:srgbClr val="2E8B57"/>
            </a:solidFill>
            <a:prstDash val="solid"/>
          </a:ln>
        </p:spPr>
      </p:sp>
      <p:sp>
        <p:nvSpPr>
          <p:cNvPr id="129" name="Shape 127"/>
          <p:cNvSpPr/>
          <p:nvPr/>
        </p:nvSpPr>
        <p:spPr>
          <a:xfrm>
            <a:off x="3750945" y="2746680"/>
            <a:ext cx="24765" cy="9911"/>
          </a:xfrm>
          <a:prstGeom prst="line">
            <a:avLst/>
          </a:prstGeom>
          <a:noFill/>
          <a:ln w="22225">
            <a:solidFill>
              <a:srgbClr val="2E8B57"/>
            </a:solidFill>
            <a:prstDash val="solid"/>
          </a:ln>
        </p:spPr>
      </p:sp>
      <p:sp>
        <p:nvSpPr>
          <p:cNvPr id="130" name="Shape 128"/>
          <p:cNvSpPr/>
          <p:nvPr/>
        </p:nvSpPr>
        <p:spPr>
          <a:xfrm>
            <a:off x="3775710" y="2756591"/>
            <a:ext cx="24765" cy="14833"/>
          </a:xfrm>
          <a:prstGeom prst="line">
            <a:avLst/>
          </a:prstGeom>
          <a:noFill/>
          <a:ln w="22225">
            <a:solidFill>
              <a:srgbClr val="2E8B57"/>
            </a:solidFill>
            <a:prstDash val="solid"/>
          </a:ln>
        </p:spPr>
      </p:sp>
      <p:sp>
        <p:nvSpPr>
          <p:cNvPr id="131" name="Shape 129"/>
          <p:cNvSpPr/>
          <p:nvPr/>
        </p:nvSpPr>
        <p:spPr>
          <a:xfrm>
            <a:off x="3800475" y="2771424"/>
            <a:ext cx="24765" cy="17496"/>
          </a:xfrm>
          <a:prstGeom prst="line">
            <a:avLst/>
          </a:prstGeom>
          <a:noFill/>
          <a:ln w="22225">
            <a:solidFill>
              <a:srgbClr val="2E8B57"/>
            </a:solidFill>
            <a:prstDash val="solid"/>
          </a:ln>
        </p:spPr>
      </p:sp>
      <p:sp>
        <p:nvSpPr>
          <p:cNvPr id="132" name="Shape 130"/>
          <p:cNvSpPr/>
          <p:nvPr/>
        </p:nvSpPr>
        <p:spPr>
          <a:xfrm>
            <a:off x="3825240" y="2788920"/>
            <a:ext cx="24765" cy="17496"/>
          </a:xfrm>
          <a:prstGeom prst="line">
            <a:avLst/>
          </a:prstGeom>
          <a:noFill/>
          <a:ln w="22225">
            <a:solidFill>
              <a:srgbClr val="2E8B57"/>
            </a:solidFill>
            <a:prstDash val="solid"/>
          </a:ln>
        </p:spPr>
      </p:sp>
      <p:sp>
        <p:nvSpPr>
          <p:cNvPr id="133" name="Shape 131"/>
          <p:cNvSpPr/>
          <p:nvPr/>
        </p:nvSpPr>
        <p:spPr>
          <a:xfrm>
            <a:off x="3850005" y="2806416"/>
            <a:ext cx="24765" cy="14833"/>
          </a:xfrm>
          <a:prstGeom prst="line">
            <a:avLst/>
          </a:prstGeom>
          <a:noFill/>
          <a:ln w="22225">
            <a:solidFill>
              <a:srgbClr val="2E8B57"/>
            </a:solidFill>
            <a:prstDash val="solid"/>
          </a:ln>
        </p:spPr>
      </p:sp>
      <p:sp>
        <p:nvSpPr>
          <p:cNvPr id="134" name="Shape 132"/>
          <p:cNvSpPr/>
          <p:nvPr/>
        </p:nvSpPr>
        <p:spPr>
          <a:xfrm>
            <a:off x="3874770" y="2821249"/>
            <a:ext cx="24765" cy="9911"/>
          </a:xfrm>
          <a:prstGeom prst="line">
            <a:avLst/>
          </a:prstGeom>
          <a:noFill/>
          <a:ln w="22225">
            <a:solidFill>
              <a:srgbClr val="2E8B57"/>
            </a:solidFill>
            <a:prstDash val="solid"/>
          </a:ln>
        </p:spPr>
      </p:sp>
      <p:sp>
        <p:nvSpPr>
          <p:cNvPr id="135" name="Shape 133"/>
          <p:cNvSpPr/>
          <p:nvPr/>
        </p:nvSpPr>
        <p:spPr>
          <a:xfrm>
            <a:off x="3899535" y="2831160"/>
            <a:ext cx="24765" cy="3480"/>
          </a:xfrm>
          <a:prstGeom prst="line">
            <a:avLst/>
          </a:prstGeom>
          <a:noFill/>
          <a:ln w="22225">
            <a:solidFill>
              <a:srgbClr val="2E8B57"/>
            </a:solidFill>
            <a:prstDash val="solid"/>
          </a:ln>
        </p:spPr>
      </p:sp>
      <p:sp>
        <p:nvSpPr>
          <p:cNvPr id="136" name="Shape 134"/>
          <p:cNvSpPr/>
          <p:nvPr/>
        </p:nvSpPr>
        <p:spPr>
          <a:xfrm flipV="1">
            <a:off x="3924300" y="2831160"/>
            <a:ext cx="24765" cy="3480"/>
          </a:xfrm>
          <a:prstGeom prst="line">
            <a:avLst/>
          </a:prstGeom>
          <a:noFill/>
          <a:ln w="22225">
            <a:solidFill>
              <a:srgbClr val="2E8B57"/>
            </a:solidFill>
            <a:prstDash val="solid"/>
          </a:ln>
        </p:spPr>
      </p:sp>
      <p:sp>
        <p:nvSpPr>
          <p:cNvPr id="137" name="Shape 135"/>
          <p:cNvSpPr/>
          <p:nvPr/>
        </p:nvSpPr>
        <p:spPr>
          <a:xfrm flipV="1">
            <a:off x="3949065" y="2821249"/>
            <a:ext cx="24765" cy="9911"/>
          </a:xfrm>
          <a:prstGeom prst="line">
            <a:avLst/>
          </a:prstGeom>
          <a:noFill/>
          <a:ln w="22225">
            <a:solidFill>
              <a:srgbClr val="2E8B57"/>
            </a:solidFill>
            <a:prstDash val="solid"/>
          </a:ln>
        </p:spPr>
      </p:sp>
      <p:sp>
        <p:nvSpPr>
          <p:cNvPr id="138" name="Shape 136"/>
          <p:cNvSpPr/>
          <p:nvPr/>
        </p:nvSpPr>
        <p:spPr>
          <a:xfrm flipV="1">
            <a:off x="3973830" y="2806416"/>
            <a:ext cx="24765" cy="14833"/>
          </a:xfrm>
          <a:prstGeom prst="line">
            <a:avLst/>
          </a:prstGeom>
          <a:noFill/>
          <a:ln w="22225">
            <a:solidFill>
              <a:srgbClr val="2E8B57"/>
            </a:solidFill>
            <a:prstDash val="solid"/>
          </a:ln>
        </p:spPr>
      </p:sp>
      <p:sp>
        <p:nvSpPr>
          <p:cNvPr id="139" name="Shape 137"/>
          <p:cNvSpPr/>
          <p:nvPr/>
        </p:nvSpPr>
        <p:spPr>
          <a:xfrm flipV="1">
            <a:off x="3998595" y="2788920"/>
            <a:ext cx="24765" cy="17496"/>
          </a:xfrm>
          <a:prstGeom prst="line">
            <a:avLst/>
          </a:prstGeom>
          <a:noFill/>
          <a:ln w="22225">
            <a:solidFill>
              <a:srgbClr val="2E8B57"/>
            </a:solidFill>
            <a:prstDash val="solid"/>
          </a:ln>
        </p:spPr>
      </p:sp>
      <p:sp>
        <p:nvSpPr>
          <p:cNvPr id="140" name="Shape 138"/>
          <p:cNvSpPr/>
          <p:nvPr/>
        </p:nvSpPr>
        <p:spPr>
          <a:xfrm flipV="1">
            <a:off x="4023360" y="2771424"/>
            <a:ext cx="24765" cy="17496"/>
          </a:xfrm>
          <a:prstGeom prst="line">
            <a:avLst/>
          </a:prstGeom>
          <a:noFill/>
          <a:ln w="22225">
            <a:solidFill>
              <a:srgbClr val="2E8B57"/>
            </a:solidFill>
            <a:prstDash val="solid"/>
          </a:ln>
        </p:spPr>
      </p:sp>
      <p:sp>
        <p:nvSpPr>
          <p:cNvPr id="141" name="Shape 139"/>
          <p:cNvSpPr/>
          <p:nvPr/>
        </p:nvSpPr>
        <p:spPr>
          <a:xfrm flipV="1">
            <a:off x="4048125" y="2756591"/>
            <a:ext cx="24765" cy="14833"/>
          </a:xfrm>
          <a:prstGeom prst="line">
            <a:avLst/>
          </a:prstGeom>
          <a:noFill/>
          <a:ln w="22225">
            <a:solidFill>
              <a:srgbClr val="2E8B57"/>
            </a:solidFill>
            <a:prstDash val="solid"/>
          </a:ln>
        </p:spPr>
      </p:sp>
      <p:sp>
        <p:nvSpPr>
          <p:cNvPr id="142" name="Shape 140"/>
          <p:cNvSpPr/>
          <p:nvPr/>
        </p:nvSpPr>
        <p:spPr>
          <a:xfrm flipV="1">
            <a:off x="4072890" y="2746680"/>
            <a:ext cx="24765" cy="9911"/>
          </a:xfrm>
          <a:prstGeom prst="line">
            <a:avLst/>
          </a:prstGeom>
          <a:noFill/>
          <a:ln w="22225">
            <a:solidFill>
              <a:srgbClr val="2E8B57"/>
            </a:solidFill>
            <a:prstDash val="solid"/>
          </a:ln>
        </p:spPr>
      </p:sp>
      <p:sp>
        <p:nvSpPr>
          <p:cNvPr id="143" name="Shape 141"/>
          <p:cNvSpPr/>
          <p:nvPr/>
        </p:nvSpPr>
        <p:spPr>
          <a:xfrm flipV="1">
            <a:off x="4097655" y="2743200"/>
            <a:ext cx="24765" cy="3480"/>
          </a:xfrm>
          <a:prstGeom prst="line">
            <a:avLst/>
          </a:prstGeom>
          <a:noFill/>
          <a:ln w="22225">
            <a:solidFill>
              <a:srgbClr val="2E8B57"/>
            </a:solidFill>
            <a:prstDash val="solid"/>
          </a:ln>
        </p:spPr>
      </p:sp>
      <p:sp>
        <p:nvSpPr>
          <p:cNvPr id="144" name="Shape 142"/>
          <p:cNvSpPr/>
          <p:nvPr/>
        </p:nvSpPr>
        <p:spPr>
          <a:xfrm>
            <a:off x="4122420" y="2743200"/>
            <a:ext cx="24765" cy="3480"/>
          </a:xfrm>
          <a:prstGeom prst="line">
            <a:avLst/>
          </a:prstGeom>
          <a:noFill/>
          <a:ln w="22225">
            <a:solidFill>
              <a:srgbClr val="2E8B57"/>
            </a:solidFill>
            <a:prstDash val="solid"/>
          </a:ln>
        </p:spPr>
      </p:sp>
      <p:sp>
        <p:nvSpPr>
          <p:cNvPr id="145" name="Shape 143"/>
          <p:cNvSpPr/>
          <p:nvPr/>
        </p:nvSpPr>
        <p:spPr>
          <a:xfrm>
            <a:off x="4147185" y="2746680"/>
            <a:ext cx="24765" cy="9911"/>
          </a:xfrm>
          <a:prstGeom prst="line">
            <a:avLst/>
          </a:prstGeom>
          <a:noFill/>
          <a:ln w="22225">
            <a:solidFill>
              <a:srgbClr val="2E8B57"/>
            </a:solidFill>
            <a:prstDash val="solid"/>
          </a:ln>
        </p:spPr>
      </p:sp>
      <p:sp>
        <p:nvSpPr>
          <p:cNvPr id="146" name="Shape 144"/>
          <p:cNvSpPr/>
          <p:nvPr/>
        </p:nvSpPr>
        <p:spPr>
          <a:xfrm>
            <a:off x="4171950" y="2756591"/>
            <a:ext cx="24765" cy="14833"/>
          </a:xfrm>
          <a:prstGeom prst="line">
            <a:avLst/>
          </a:prstGeom>
          <a:noFill/>
          <a:ln w="22225">
            <a:solidFill>
              <a:srgbClr val="2E8B57"/>
            </a:solidFill>
            <a:prstDash val="solid"/>
          </a:ln>
        </p:spPr>
      </p:sp>
      <p:sp>
        <p:nvSpPr>
          <p:cNvPr id="147" name="Shape 145"/>
          <p:cNvSpPr/>
          <p:nvPr/>
        </p:nvSpPr>
        <p:spPr>
          <a:xfrm>
            <a:off x="4196715" y="2771424"/>
            <a:ext cx="24765" cy="17496"/>
          </a:xfrm>
          <a:prstGeom prst="line">
            <a:avLst/>
          </a:prstGeom>
          <a:noFill/>
          <a:ln w="22225">
            <a:solidFill>
              <a:srgbClr val="2E8B57"/>
            </a:solidFill>
            <a:prstDash val="solid"/>
          </a:ln>
        </p:spPr>
      </p:sp>
      <p:sp>
        <p:nvSpPr>
          <p:cNvPr id="148" name="Shape 146"/>
          <p:cNvSpPr/>
          <p:nvPr/>
        </p:nvSpPr>
        <p:spPr>
          <a:xfrm>
            <a:off x="4221480" y="2788920"/>
            <a:ext cx="24765" cy="17496"/>
          </a:xfrm>
          <a:prstGeom prst="line">
            <a:avLst/>
          </a:prstGeom>
          <a:noFill/>
          <a:ln w="22225">
            <a:solidFill>
              <a:srgbClr val="2E8B57"/>
            </a:solidFill>
            <a:prstDash val="solid"/>
          </a:ln>
        </p:spPr>
      </p:sp>
      <p:sp>
        <p:nvSpPr>
          <p:cNvPr id="149" name="Shape 147"/>
          <p:cNvSpPr/>
          <p:nvPr/>
        </p:nvSpPr>
        <p:spPr>
          <a:xfrm>
            <a:off x="4246245" y="2806416"/>
            <a:ext cx="24765" cy="14833"/>
          </a:xfrm>
          <a:prstGeom prst="line">
            <a:avLst/>
          </a:prstGeom>
          <a:noFill/>
          <a:ln w="22225">
            <a:solidFill>
              <a:srgbClr val="2E8B57"/>
            </a:solidFill>
            <a:prstDash val="solid"/>
          </a:ln>
        </p:spPr>
      </p:sp>
      <p:sp>
        <p:nvSpPr>
          <p:cNvPr id="150" name="Shape 148"/>
          <p:cNvSpPr/>
          <p:nvPr/>
        </p:nvSpPr>
        <p:spPr>
          <a:xfrm>
            <a:off x="4271010" y="2821249"/>
            <a:ext cx="24765" cy="9911"/>
          </a:xfrm>
          <a:prstGeom prst="line">
            <a:avLst/>
          </a:prstGeom>
          <a:noFill/>
          <a:ln w="22225">
            <a:solidFill>
              <a:srgbClr val="2E8B57"/>
            </a:solidFill>
            <a:prstDash val="solid"/>
          </a:ln>
        </p:spPr>
      </p:sp>
      <p:sp>
        <p:nvSpPr>
          <p:cNvPr id="151" name="Shape 149"/>
          <p:cNvSpPr/>
          <p:nvPr/>
        </p:nvSpPr>
        <p:spPr>
          <a:xfrm>
            <a:off x="4295775" y="2831160"/>
            <a:ext cx="24765" cy="3480"/>
          </a:xfrm>
          <a:prstGeom prst="line">
            <a:avLst/>
          </a:prstGeom>
          <a:noFill/>
          <a:ln w="22225">
            <a:solidFill>
              <a:srgbClr val="2E8B57"/>
            </a:solidFill>
            <a:prstDash val="solid"/>
          </a:ln>
        </p:spPr>
      </p:sp>
      <p:sp>
        <p:nvSpPr>
          <p:cNvPr id="152" name="Shape 150"/>
          <p:cNvSpPr/>
          <p:nvPr/>
        </p:nvSpPr>
        <p:spPr>
          <a:xfrm flipV="1">
            <a:off x="4320540" y="2831160"/>
            <a:ext cx="24765" cy="3480"/>
          </a:xfrm>
          <a:prstGeom prst="line">
            <a:avLst/>
          </a:prstGeom>
          <a:noFill/>
          <a:ln w="22225">
            <a:solidFill>
              <a:srgbClr val="2E8B57"/>
            </a:solidFill>
            <a:prstDash val="solid"/>
          </a:ln>
        </p:spPr>
      </p:sp>
      <p:sp>
        <p:nvSpPr>
          <p:cNvPr id="153" name="Shape 151"/>
          <p:cNvSpPr/>
          <p:nvPr/>
        </p:nvSpPr>
        <p:spPr>
          <a:xfrm flipV="1">
            <a:off x="4345305" y="2821249"/>
            <a:ext cx="24765" cy="9911"/>
          </a:xfrm>
          <a:prstGeom prst="line">
            <a:avLst/>
          </a:prstGeom>
          <a:noFill/>
          <a:ln w="22225">
            <a:solidFill>
              <a:srgbClr val="2E8B57"/>
            </a:solidFill>
            <a:prstDash val="solid"/>
          </a:ln>
        </p:spPr>
      </p:sp>
      <p:sp>
        <p:nvSpPr>
          <p:cNvPr id="154" name="Shape 152"/>
          <p:cNvSpPr/>
          <p:nvPr/>
        </p:nvSpPr>
        <p:spPr>
          <a:xfrm flipV="1">
            <a:off x="4370070" y="2806416"/>
            <a:ext cx="24765" cy="14833"/>
          </a:xfrm>
          <a:prstGeom prst="line">
            <a:avLst/>
          </a:prstGeom>
          <a:noFill/>
          <a:ln w="22225">
            <a:solidFill>
              <a:srgbClr val="2E8B57"/>
            </a:solidFill>
            <a:prstDash val="solid"/>
          </a:ln>
        </p:spPr>
      </p:sp>
      <p:sp>
        <p:nvSpPr>
          <p:cNvPr id="155" name="Shape 153"/>
          <p:cNvSpPr/>
          <p:nvPr/>
        </p:nvSpPr>
        <p:spPr>
          <a:xfrm flipV="1">
            <a:off x="4394835" y="2788920"/>
            <a:ext cx="24765" cy="17496"/>
          </a:xfrm>
          <a:prstGeom prst="line">
            <a:avLst/>
          </a:prstGeom>
          <a:noFill/>
          <a:ln w="22225">
            <a:solidFill>
              <a:srgbClr val="2E8B57"/>
            </a:solidFill>
            <a:prstDash val="solid"/>
          </a:ln>
        </p:spPr>
      </p:sp>
      <p:sp>
        <p:nvSpPr>
          <p:cNvPr id="156" name="Shape 154"/>
          <p:cNvSpPr/>
          <p:nvPr/>
        </p:nvSpPr>
        <p:spPr>
          <a:xfrm flipV="1">
            <a:off x="4419600" y="2771424"/>
            <a:ext cx="24765" cy="17496"/>
          </a:xfrm>
          <a:prstGeom prst="line">
            <a:avLst/>
          </a:prstGeom>
          <a:noFill/>
          <a:ln w="22225">
            <a:solidFill>
              <a:srgbClr val="2E8B57"/>
            </a:solidFill>
            <a:prstDash val="solid"/>
          </a:ln>
        </p:spPr>
      </p:sp>
      <p:sp>
        <p:nvSpPr>
          <p:cNvPr id="157" name="Shape 155"/>
          <p:cNvSpPr/>
          <p:nvPr/>
        </p:nvSpPr>
        <p:spPr>
          <a:xfrm flipV="1">
            <a:off x="4444365" y="2756591"/>
            <a:ext cx="24765" cy="14833"/>
          </a:xfrm>
          <a:prstGeom prst="line">
            <a:avLst/>
          </a:prstGeom>
          <a:noFill/>
          <a:ln w="22225">
            <a:solidFill>
              <a:srgbClr val="2E8B57"/>
            </a:solidFill>
            <a:prstDash val="solid"/>
          </a:ln>
        </p:spPr>
      </p:sp>
      <p:sp>
        <p:nvSpPr>
          <p:cNvPr id="158" name="Shape 156"/>
          <p:cNvSpPr/>
          <p:nvPr/>
        </p:nvSpPr>
        <p:spPr>
          <a:xfrm flipV="1">
            <a:off x="4469130" y="2746680"/>
            <a:ext cx="24765" cy="9911"/>
          </a:xfrm>
          <a:prstGeom prst="line">
            <a:avLst/>
          </a:prstGeom>
          <a:noFill/>
          <a:ln w="22225">
            <a:solidFill>
              <a:srgbClr val="2E8B57"/>
            </a:solidFill>
            <a:prstDash val="solid"/>
          </a:ln>
        </p:spPr>
      </p:sp>
      <p:sp>
        <p:nvSpPr>
          <p:cNvPr id="159" name="Shape 157"/>
          <p:cNvSpPr/>
          <p:nvPr/>
        </p:nvSpPr>
        <p:spPr>
          <a:xfrm flipV="1">
            <a:off x="4493895" y="2743200"/>
            <a:ext cx="24765" cy="3480"/>
          </a:xfrm>
          <a:prstGeom prst="line">
            <a:avLst/>
          </a:prstGeom>
          <a:noFill/>
          <a:ln w="22225">
            <a:solidFill>
              <a:srgbClr val="2E8B57"/>
            </a:solidFill>
            <a:prstDash val="solid"/>
          </a:ln>
        </p:spPr>
      </p:sp>
      <p:sp>
        <p:nvSpPr>
          <p:cNvPr id="160" name="Shape 158"/>
          <p:cNvSpPr/>
          <p:nvPr/>
        </p:nvSpPr>
        <p:spPr>
          <a:xfrm>
            <a:off x="4518660" y="2743200"/>
            <a:ext cx="24765" cy="3480"/>
          </a:xfrm>
          <a:prstGeom prst="line">
            <a:avLst/>
          </a:prstGeom>
          <a:noFill/>
          <a:ln w="22225">
            <a:solidFill>
              <a:srgbClr val="2E8B57"/>
            </a:solidFill>
            <a:prstDash val="solid"/>
          </a:ln>
        </p:spPr>
      </p:sp>
      <p:sp>
        <p:nvSpPr>
          <p:cNvPr id="161" name="Shape 159"/>
          <p:cNvSpPr/>
          <p:nvPr/>
        </p:nvSpPr>
        <p:spPr>
          <a:xfrm>
            <a:off x="4543425" y="2746680"/>
            <a:ext cx="24765" cy="9911"/>
          </a:xfrm>
          <a:prstGeom prst="line">
            <a:avLst/>
          </a:prstGeom>
          <a:noFill/>
          <a:ln w="22225">
            <a:solidFill>
              <a:srgbClr val="2E8B57"/>
            </a:solidFill>
            <a:prstDash val="solid"/>
          </a:ln>
        </p:spPr>
      </p:sp>
      <p:sp>
        <p:nvSpPr>
          <p:cNvPr id="162" name="Shape 160"/>
          <p:cNvSpPr/>
          <p:nvPr/>
        </p:nvSpPr>
        <p:spPr>
          <a:xfrm>
            <a:off x="4568190" y="2756591"/>
            <a:ext cx="24765" cy="14833"/>
          </a:xfrm>
          <a:prstGeom prst="line">
            <a:avLst/>
          </a:prstGeom>
          <a:noFill/>
          <a:ln w="22225">
            <a:solidFill>
              <a:srgbClr val="2E8B57"/>
            </a:solidFill>
            <a:prstDash val="solid"/>
          </a:ln>
        </p:spPr>
      </p:sp>
      <p:sp>
        <p:nvSpPr>
          <p:cNvPr id="163" name="Shape 161"/>
          <p:cNvSpPr/>
          <p:nvPr/>
        </p:nvSpPr>
        <p:spPr>
          <a:xfrm>
            <a:off x="4592955" y="2771424"/>
            <a:ext cx="24765" cy="17496"/>
          </a:xfrm>
          <a:prstGeom prst="line">
            <a:avLst/>
          </a:prstGeom>
          <a:noFill/>
          <a:ln w="22225">
            <a:solidFill>
              <a:srgbClr val="2E8B57"/>
            </a:solidFill>
            <a:prstDash val="solid"/>
          </a:ln>
        </p:spPr>
      </p:sp>
      <p:sp>
        <p:nvSpPr>
          <p:cNvPr id="164" name="Shape 162"/>
          <p:cNvSpPr/>
          <p:nvPr/>
        </p:nvSpPr>
        <p:spPr>
          <a:xfrm>
            <a:off x="4617720" y="2788920"/>
            <a:ext cx="24765" cy="17496"/>
          </a:xfrm>
          <a:prstGeom prst="line">
            <a:avLst/>
          </a:prstGeom>
          <a:noFill/>
          <a:ln w="22225">
            <a:solidFill>
              <a:srgbClr val="2E8B57"/>
            </a:solidFill>
            <a:prstDash val="solid"/>
          </a:ln>
        </p:spPr>
      </p:sp>
      <p:sp>
        <p:nvSpPr>
          <p:cNvPr id="165" name="Shape 163"/>
          <p:cNvSpPr/>
          <p:nvPr/>
        </p:nvSpPr>
        <p:spPr>
          <a:xfrm>
            <a:off x="4642485" y="2806416"/>
            <a:ext cx="24765" cy="14833"/>
          </a:xfrm>
          <a:prstGeom prst="line">
            <a:avLst/>
          </a:prstGeom>
          <a:noFill/>
          <a:ln w="22225">
            <a:solidFill>
              <a:srgbClr val="2E8B57"/>
            </a:solidFill>
            <a:prstDash val="solid"/>
          </a:ln>
        </p:spPr>
      </p:sp>
      <p:sp>
        <p:nvSpPr>
          <p:cNvPr id="166" name="Shape 164"/>
          <p:cNvSpPr/>
          <p:nvPr/>
        </p:nvSpPr>
        <p:spPr>
          <a:xfrm>
            <a:off x="4667250" y="2821249"/>
            <a:ext cx="24765" cy="9911"/>
          </a:xfrm>
          <a:prstGeom prst="line">
            <a:avLst/>
          </a:prstGeom>
          <a:noFill/>
          <a:ln w="22225">
            <a:solidFill>
              <a:srgbClr val="2E8B57"/>
            </a:solidFill>
            <a:prstDash val="solid"/>
          </a:ln>
        </p:spPr>
      </p:sp>
      <p:sp>
        <p:nvSpPr>
          <p:cNvPr id="167" name="Shape 165"/>
          <p:cNvSpPr/>
          <p:nvPr/>
        </p:nvSpPr>
        <p:spPr>
          <a:xfrm>
            <a:off x="4692015" y="2831160"/>
            <a:ext cx="24765" cy="3480"/>
          </a:xfrm>
          <a:prstGeom prst="line">
            <a:avLst/>
          </a:prstGeom>
          <a:noFill/>
          <a:ln w="22225">
            <a:solidFill>
              <a:srgbClr val="2E8B57"/>
            </a:solidFill>
            <a:prstDash val="solid"/>
          </a:ln>
        </p:spPr>
      </p:sp>
      <p:sp>
        <p:nvSpPr>
          <p:cNvPr id="168" name="Shape 166"/>
          <p:cNvSpPr/>
          <p:nvPr/>
        </p:nvSpPr>
        <p:spPr>
          <a:xfrm flipV="1">
            <a:off x="4716780" y="2831160"/>
            <a:ext cx="24765" cy="3480"/>
          </a:xfrm>
          <a:prstGeom prst="line">
            <a:avLst/>
          </a:prstGeom>
          <a:noFill/>
          <a:ln w="22225">
            <a:solidFill>
              <a:srgbClr val="2E8B57"/>
            </a:solidFill>
            <a:prstDash val="solid"/>
          </a:ln>
        </p:spPr>
      </p:sp>
      <p:sp>
        <p:nvSpPr>
          <p:cNvPr id="169" name="Shape 167"/>
          <p:cNvSpPr/>
          <p:nvPr/>
        </p:nvSpPr>
        <p:spPr>
          <a:xfrm flipV="1">
            <a:off x="4741545" y="2821249"/>
            <a:ext cx="24765" cy="9911"/>
          </a:xfrm>
          <a:prstGeom prst="line">
            <a:avLst/>
          </a:prstGeom>
          <a:noFill/>
          <a:ln w="22225">
            <a:solidFill>
              <a:srgbClr val="2E8B57"/>
            </a:solidFill>
            <a:prstDash val="solid"/>
          </a:ln>
        </p:spPr>
      </p:sp>
      <p:sp>
        <p:nvSpPr>
          <p:cNvPr id="170" name="Shape 168"/>
          <p:cNvSpPr/>
          <p:nvPr/>
        </p:nvSpPr>
        <p:spPr>
          <a:xfrm flipV="1">
            <a:off x="4766310" y="2806416"/>
            <a:ext cx="24765" cy="14833"/>
          </a:xfrm>
          <a:prstGeom prst="line">
            <a:avLst/>
          </a:prstGeom>
          <a:noFill/>
          <a:ln w="22225">
            <a:solidFill>
              <a:srgbClr val="2E8B57"/>
            </a:solidFill>
            <a:prstDash val="solid"/>
          </a:ln>
        </p:spPr>
      </p:sp>
      <p:sp>
        <p:nvSpPr>
          <p:cNvPr id="171" name="Shape 169"/>
          <p:cNvSpPr/>
          <p:nvPr/>
        </p:nvSpPr>
        <p:spPr>
          <a:xfrm flipV="1">
            <a:off x="4791075" y="2788920"/>
            <a:ext cx="24765" cy="17496"/>
          </a:xfrm>
          <a:prstGeom prst="line">
            <a:avLst/>
          </a:prstGeom>
          <a:noFill/>
          <a:ln w="22225">
            <a:solidFill>
              <a:srgbClr val="2E8B57"/>
            </a:solidFill>
            <a:prstDash val="solid"/>
          </a:ln>
        </p:spPr>
      </p:sp>
      <p:sp>
        <p:nvSpPr>
          <p:cNvPr id="172" name="Shape 170"/>
          <p:cNvSpPr/>
          <p:nvPr/>
        </p:nvSpPr>
        <p:spPr>
          <a:xfrm flipV="1">
            <a:off x="4815840" y="2771424"/>
            <a:ext cx="24765" cy="17496"/>
          </a:xfrm>
          <a:prstGeom prst="line">
            <a:avLst/>
          </a:prstGeom>
          <a:noFill/>
          <a:ln w="22225">
            <a:solidFill>
              <a:srgbClr val="2E8B57"/>
            </a:solidFill>
            <a:prstDash val="solid"/>
          </a:ln>
        </p:spPr>
      </p:sp>
      <p:sp>
        <p:nvSpPr>
          <p:cNvPr id="173" name="Shape 171"/>
          <p:cNvSpPr/>
          <p:nvPr/>
        </p:nvSpPr>
        <p:spPr>
          <a:xfrm flipV="1">
            <a:off x="4840605" y="2756591"/>
            <a:ext cx="24765" cy="14833"/>
          </a:xfrm>
          <a:prstGeom prst="line">
            <a:avLst/>
          </a:prstGeom>
          <a:noFill/>
          <a:ln w="22225">
            <a:solidFill>
              <a:srgbClr val="2E8B57"/>
            </a:solidFill>
            <a:prstDash val="solid"/>
          </a:ln>
        </p:spPr>
      </p:sp>
      <p:sp>
        <p:nvSpPr>
          <p:cNvPr id="174" name="Shape 172"/>
          <p:cNvSpPr/>
          <p:nvPr/>
        </p:nvSpPr>
        <p:spPr>
          <a:xfrm flipV="1">
            <a:off x="4865370" y="2746680"/>
            <a:ext cx="24765" cy="9911"/>
          </a:xfrm>
          <a:prstGeom prst="line">
            <a:avLst/>
          </a:prstGeom>
          <a:noFill/>
          <a:ln w="22225">
            <a:solidFill>
              <a:srgbClr val="2E8B57"/>
            </a:solidFill>
            <a:prstDash val="solid"/>
          </a:ln>
        </p:spPr>
      </p:sp>
      <p:sp>
        <p:nvSpPr>
          <p:cNvPr id="175" name="Shape 173"/>
          <p:cNvSpPr/>
          <p:nvPr/>
        </p:nvSpPr>
        <p:spPr>
          <a:xfrm flipV="1">
            <a:off x="4890135" y="2743200"/>
            <a:ext cx="24765" cy="3480"/>
          </a:xfrm>
          <a:prstGeom prst="line">
            <a:avLst/>
          </a:prstGeom>
          <a:noFill/>
          <a:ln w="22225">
            <a:solidFill>
              <a:srgbClr val="2E8B57"/>
            </a:solidFill>
            <a:prstDash val="solid"/>
          </a:ln>
        </p:spPr>
      </p:sp>
      <p:sp>
        <p:nvSpPr>
          <p:cNvPr id="176" name="Shape 174"/>
          <p:cNvSpPr/>
          <p:nvPr/>
        </p:nvSpPr>
        <p:spPr>
          <a:xfrm>
            <a:off x="4914900" y="2743200"/>
            <a:ext cx="24765" cy="3480"/>
          </a:xfrm>
          <a:prstGeom prst="line">
            <a:avLst/>
          </a:prstGeom>
          <a:noFill/>
          <a:ln w="22225">
            <a:solidFill>
              <a:srgbClr val="2E8B57"/>
            </a:solidFill>
            <a:prstDash val="solid"/>
          </a:ln>
        </p:spPr>
      </p:sp>
      <p:sp>
        <p:nvSpPr>
          <p:cNvPr id="177" name="Shape 175"/>
          <p:cNvSpPr/>
          <p:nvPr/>
        </p:nvSpPr>
        <p:spPr>
          <a:xfrm>
            <a:off x="4939665" y="2746680"/>
            <a:ext cx="24765" cy="9911"/>
          </a:xfrm>
          <a:prstGeom prst="line">
            <a:avLst/>
          </a:prstGeom>
          <a:noFill/>
          <a:ln w="22225">
            <a:solidFill>
              <a:srgbClr val="2E8B57"/>
            </a:solidFill>
            <a:prstDash val="solid"/>
          </a:ln>
        </p:spPr>
      </p:sp>
      <p:sp>
        <p:nvSpPr>
          <p:cNvPr id="178" name="Shape 176"/>
          <p:cNvSpPr/>
          <p:nvPr/>
        </p:nvSpPr>
        <p:spPr>
          <a:xfrm>
            <a:off x="4964430" y="2756591"/>
            <a:ext cx="24765" cy="14833"/>
          </a:xfrm>
          <a:prstGeom prst="line">
            <a:avLst/>
          </a:prstGeom>
          <a:noFill/>
          <a:ln w="22225">
            <a:solidFill>
              <a:srgbClr val="2E8B57"/>
            </a:solidFill>
            <a:prstDash val="solid"/>
          </a:ln>
        </p:spPr>
      </p:sp>
      <p:sp>
        <p:nvSpPr>
          <p:cNvPr id="179" name="Shape 177"/>
          <p:cNvSpPr/>
          <p:nvPr/>
        </p:nvSpPr>
        <p:spPr>
          <a:xfrm>
            <a:off x="4989195" y="2771424"/>
            <a:ext cx="24765" cy="17496"/>
          </a:xfrm>
          <a:prstGeom prst="line">
            <a:avLst/>
          </a:prstGeom>
          <a:noFill/>
          <a:ln w="22225">
            <a:solidFill>
              <a:srgbClr val="2E8B57"/>
            </a:solidFill>
            <a:prstDash val="solid"/>
          </a:ln>
        </p:spPr>
      </p:sp>
      <p:sp>
        <p:nvSpPr>
          <p:cNvPr id="180" name="Shape 178"/>
          <p:cNvSpPr/>
          <p:nvPr/>
        </p:nvSpPr>
        <p:spPr>
          <a:xfrm>
            <a:off x="5013960" y="2788920"/>
            <a:ext cx="24765" cy="17496"/>
          </a:xfrm>
          <a:prstGeom prst="line">
            <a:avLst/>
          </a:prstGeom>
          <a:noFill/>
          <a:ln w="22225">
            <a:solidFill>
              <a:srgbClr val="2E8B57"/>
            </a:solidFill>
            <a:prstDash val="solid"/>
          </a:ln>
        </p:spPr>
      </p:sp>
      <p:sp>
        <p:nvSpPr>
          <p:cNvPr id="181" name="Shape 179"/>
          <p:cNvSpPr/>
          <p:nvPr/>
        </p:nvSpPr>
        <p:spPr>
          <a:xfrm>
            <a:off x="5038725" y="2806416"/>
            <a:ext cx="24765" cy="14833"/>
          </a:xfrm>
          <a:prstGeom prst="line">
            <a:avLst/>
          </a:prstGeom>
          <a:noFill/>
          <a:ln w="22225">
            <a:solidFill>
              <a:srgbClr val="2E8B57"/>
            </a:solidFill>
            <a:prstDash val="solid"/>
          </a:ln>
        </p:spPr>
      </p:sp>
      <p:sp>
        <p:nvSpPr>
          <p:cNvPr id="182" name="Shape 180"/>
          <p:cNvSpPr/>
          <p:nvPr/>
        </p:nvSpPr>
        <p:spPr>
          <a:xfrm>
            <a:off x="5063490" y="2821249"/>
            <a:ext cx="24765" cy="9911"/>
          </a:xfrm>
          <a:prstGeom prst="line">
            <a:avLst/>
          </a:prstGeom>
          <a:noFill/>
          <a:ln w="22225">
            <a:solidFill>
              <a:srgbClr val="2E8B57"/>
            </a:solidFill>
            <a:prstDash val="solid"/>
          </a:ln>
        </p:spPr>
      </p:sp>
      <p:sp>
        <p:nvSpPr>
          <p:cNvPr id="183" name="Shape 181"/>
          <p:cNvSpPr/>
          <p:nvPr/>
        </p:nvSpPr>
        <p:spPr>
          <a:xfrm>
            <a:off x="5088255" y="2831160"/>
            <a:ext cx="24765" cy="3480"/>
          </a:xfrm>
          <a:prstGeom prst="line">
            <a:avLst/>
          </a:prstGeom>
          <a:noFill/>
          <a:ln w="22225">
            <a:solidFill>
              <a:srgbClr val="2E8B57"/>
            </a:solidFill>
            <a:prstDash val="solid"/>
          </a:ln>
        </p:spPr>
      </p:sp>
      <p:sp>
        <p:nvSpPr>
          <p:cNvPr id="184" name="Shape 182"/>
          <p:cNvSpPr/>
          <p:nvPr/>
        </p:nvSpPr>
        <p:spPr>
          <a:xfrm flipV="1">
            <a:off x="5113020" y="2831160"/>
            <a:ext cx="24765" cy="3480"/>
          </a:xfrm>
          <a:prstGeom prst="line">
            <a:avLst/>
          </a:prstGeom>
          <a:noFill/>
          <a:ln w="22225">
            <a:solidFill>
              <a:srgbClr val="2E8B57"/>
            </a:solidFill>
            <a:prstDash val="solid"/>
          </a:ln>
        </p:spPr>
      </p:sp>
      <p:sp>
        <p:nvSpPr>
          <p:cNvPr id="185" name="Shape 183"/>
          <p:cNvSpPr/>
          <p:nvPr/>
        </p:nvSpPr>
        <p:spPr>
          <a:xfrm flipV="1">
            <a:off x="5137785" y="2821249"/>
            <a:ext cx="24765" cy="9911"/>
          </a:xfrm>
          <a:prstGeom prst="line">
            <a:avLst/>
          </a:prstGeom>
          <a:noFill/>
          <a:ln w="22225">
            <a:solidFill>
              <a:srgbClr val="2E8B57"/>
            </a:solidFill>
            <a:prstDash val="solid"/>
          </a:ln>
        </p:spPr>
      </p:sp>
      <p:sp>
        <p:nvSpPr>
          <p:cNvPr id="186" name="Shape 184"/>
          <p:cNvSpPr/>
          <p:nvPr/>
        </p:nvSpPr>
        <p:spPr>
          <a:xfrm flipV="1">
            <a:off x="5162550" y="2806416"/>
            <a:ext cx="24765" cy="14833"/>
          </a:xfrm>
          <a:prstGeom prst="line">
            <a:avLst/>
          </a:prstGeom>
          <a:noFill/>
          <a:ln w="22225">
            <a:solidFill>
              <a:srgbClr val="2E8B57"/>
            </a:solidFill>
            <a:prstDash val="solid"/>
          </a:ln>
        </p:spPr>
      </p:sp>
      <p:sp>
        <p:nvSpPr>
          <p:cNvPr id="187" name="Shape 185"/>
          <p:cNvSpPr/>
          <p:nvPr/>
        </p:nvSpPr>
        <p:spPr>
          <a:xfrm flipV="1">
            <a:off x="5187315" y="2788920"/>
            <a:ext cx="24765" cy="17496"/>
          </a:xfrm>
          <a:prstGeom prst="line">
            <a:avLst/>
          </a:prstGeom>
          <a:noFill/>
          <a:ln w="22225">
            <a:solidFill>
              <a:srgbClr val="2E8B57"/>
            </a:solidFill>
            <a:prstDash val="solid"/>
          </a:ln>
        </p:spPr>
      </p:sp>
      <p:sp>
        <p:nvSpPr>
          <p:cNvPr id="188" name="Shape 186"/>
          <p:cNvSpPr/>
          <p:nvPr/>
        </p:nvSpPr>
        <p:spPr>
          <a:xfrm flipV="1">
            <a:off x="5212080" y="2771424"/>
            <a:ext cx="24765" cy="17496"/>
          </a:xfrm>
          <a:prstGeom prst="line">
            <a:avLst/>
          </a:prstGeom>
          <a:noFill/>
          <a:ln w="22225">
            <a:solidFill>
              <a:srgbClr val="2E8B57"/>
            </a:solidFill>
            <a:prstDash val="solid"/>
          </a:ln>
        </p:spPr>
      </p:sp>
      <p:sp>
        <p:nvSpPr>
          <p:cNvPr id="189" name="Shape 187"/>
          <p:cNvSpPr/>
          <p:nvPr/>
        </p:nvSpPr>
        <p:spPr>
          <a:xfrm flipV="1">
            <a:off x="5236845" y="2756591"/>
            <a:ext cx="24765" cy="14833"/>
          </a:xfrm>
          <a:prstGeom prst="line">
            <a:avLst/>
          </a:prstGeom>
          <a:noFill/>
          <a:ln w="22225">
            <a:solidFill>
              <a:srgbClr val="2E8B57"/>
            </a:solidFill>
            <a:prstDash val="solid"/>
          </a:ln>
        </p:spPr>
      </p:sp>
      <p:sp>
        <p:nvSpPr>
          <p:cNvPr id="190" name="Shape 188"/>
          <p:cNvSpPr/>
          <p:nvPr/>
        </p:nvSpPr>
        <p:spPr>
          <a:xfrm flipV="1">
            <a:off x="5261610" y="2746680"/>
            <a:ext cx="24765" cy="9911"/>
          </a:xfrm>
          <a:prstGeom prst="line">
            <a:avLst/>
          </a:prstGeom>
          <a:noFill/>
          <a:ln w="22225">
            <a:solidFill>
              <a:srgbClr val="2E8B57"/>
            </a:solidFill>
            <a:prstDash val="solid"/>
          </a:ln>
        </p:spPr>
      </p:sp>
      <p:sp>
        <p:nvSpPr>
          <p:cNvPr id="191" name="Shape 189"/>
          <p:cNvSpPr/>
          <p:nvPr/>
        </p:nvSpPr>
        <p:spPr>
          <a:xfrm flipV="1">
            <a:off x="5286375" y="2743200"/>
            <a:ext cx="24765" cy="3480"/>
          </a:xfrm>
          <a:prstGeom prst="line">
            <a:avLst/>
          </a:prstGeom>
          <a:noFill/>
          <a:ln w="22225">
            <a:solidFill>
              <a:srgbClr val="2E8B57"/>
            </a:solidFill>
            <a:prstDash val="solid"/>
          </a:ln>
        </p:spPr>
      </p:sp>
      <p:sp>
        <p:nvSpPr>
          <p:cNvPr id="192" name="Shape 190"/>
          <p:cNvSpPr/>
          <p:nvPr/>
        </p:nvSpPr>
        <p:spPr>
          <a:xfrm>
            <a:off x="5311140" y="2743200"/>
            <a:ext cx="24765" cy="3480"/>
          </a:xfrm>
          <a:prstGeom prst="line">
            <a:avLst/>
          </a:prstGeom>
          <a:noFill/>
          <a:ln w="22225">
            <a:solidFill>
              <a:srgbClr val="2E8B57"/>
            </a:solidFill>
            <a:prstDash val="solid"/>
          </a:ln>
        </p:spPr>
      </p:sp>
      <p:sp>
        <p:nvSpPr>
          <p:cNvPr id="193" name="Shape 191"/>
          <p:cNvSpPr/>
          <p:nvPr/>
        </p:nvSpPr>
        <p:spPr>
          <a:xfrm>
            <a:off x="5335905" y="2746680"/>
            <a:ext cx="24765" cy="9911"/>
          </a:xfrm>
          <a:prstGeom prst="line">
            <a:avLst/>
          </a:prstGeom>
          <a:noFill/>
          <a:ln w="22225">
            <a:solidFill>
              <a:srgbClr val="2E8B57"/>
            </a:solidFill>
            <a:prstDash val="solid"/>
          </a:ln>
        </p:spPr>
      </p:sp>
      <p:sp>
        <p:nvSpPr>
          <p:cNvPr id="194" name="Shape 192"/>
          <p:cNvSpPr/>
          <p:nvPr/>
        </p:nvSpPr>
        <p:spPr>
          <a:xfrm>
            <a:off x="5360670" y="2756591"/>
            <a:ext cx="24765" cy="14833"/>
          </a:xfrm>
          <a:prstGeom prst="line">
            <a:avLst/>
          </a:prstGeom>
          <a:noFill/>
          <a:ln w="22225">
            <a:solidFill>
              <a:srgbClr val="2E8B57"/>
            </a:solidFill>
            <a:prstDash val="solid"/>
          </a:ln>
        </p:spPr>
      </p:sp>
      <p:sp>
        <p:nvSpPr>
          <p:cNvPr id="195" name="Shape 193"/>
          <p:cNvSpPr/>
          <p:nvPr/>
        </p:nvSpPr>
        <p:spPr>
          <a:xfrm>
            <a:off x="5385435" y="2771424"/>
            <a:ext cx="24765" cy="17496"/>
          </a:xfrm>
          <a:prstGeom prst="line">
            <a:avLst/>
          </a:prstGeom>
          <a:noFill/>
          <a:ln w="22225">
            <a:solidFill>
              <a:srgbClr val="2E8B57"/>
            </a:solidFill>
            <a:prstDash val="solid"/>
          </a:ln>
        </p:spPr>
      </p:sp>
      <p:sp>
        <p:nvSpPr>
          <p:cNvPr id="196" name="Shape 194"/>
          <p:cNvSpPr/>
          <p:nvPr/>
        </p:nvSpPr>
        <p:spPr>
          <a:xfrm>
            <a:off x="5410200" y="2788920"/>
            <a:ext cx="24765" cy="17496"/>
          </a:xfrm>
          <a:prstGeom prst="line">
            <a:avLst/>
          </a:prstGeom>
          <a:noFill/>
          <a:ln w="22225">
            <a:solidFill>
              <a:srgbClr val="2E8B57"/>
            </a:solidFill>
            <a:prstDash val="solid"/>
          </a:ln>
        </p:spPr>
      </p:sp>
      <p:sp>
        <p:nvSpPr>
          <p:cNvPr id="197" name="Shape 195"/>
          <p:cNvSpPr/>
          <p:nvPr/>
        </p:nvSpPr>
        <p:spPr>
          <a:xfrm>
            <a:off x="5434965" y="2806416"/>
            <a:ext cx="24765" cy="14833"/>
          </a:xfrm>
          <a:prstGeom prst="line">
            <a:avLst/>
          </a:prstGeom>
          <a:noFill/>
          <a:ln w="22225">
            <a:solidFill>
              <a:srgbClr val="2E8B57"/>
            </a:solidFill>
            <a:prstDash val="solid"/>
          </a:ln>
        </p:spPr>
      </p:sp>
      <p:sp>
        <p:nvSpPr>
          <p:cNvPr id="198" name="Shape 196"/>
          <p:cNvSpPr/>
          <p:nvPr/>
        </p:nvSpPr>
        <p:spPr>
          <a:xfrm>
            <a:off x="5459730" y="2821249"/>
            <a:ext cx="24765" cy="9911"/>
          </a:xfrm>
          <a:prstGeom prst="line">
            <a:avLst/>
          </a:prstGeom>
          <a:noFill/>
          <a:ln w="22225">
            <a:solidFill>
              <a:srgbClr val="2E8B57"/>
            </a:solidFill>
            <a:prstDash val="solid"/>
          </a:ln>
        </p:spPr>
      </p:sp>
      <p:sp>
        <p:nvSpPr>
          <p:cNvPr id="199" name="Shape 197"/>
          <p:cNvSpPr/>
          <p:nvPr/>
        </p:nvSpPr>
        <p:spPr>
          <a:xfrm>
            <a:off x="5484495" y="2831160"/>
            <a:ext cx="24765" cy="3480"/>
          </a:xfrm>
          <a:prstGeom prst="line">
            <a:avLst/>
          </a:prstGeom>
          <a:noFill/>
          <a:ln w="22225">
            <a:solidFill>
              <a:srgbClr val="2E8B57"/>
            </a:solidFill>
            <a:prstDash val="solid"/>
          </a:ln>
        </p:spPr>
      </p:sp>
      <p:sp>
        <p:nvSpPr>
          <p:cNvPr id="200" name="Shape 198"/>
          <p:cNvSpPr/>
          <p:nvPr/>
        </p:nvSpPr>
        <p:spPr>
          <a:xfrm flipV="1">
            <a:off x="5509260" y="2831160"/>
            <a:ext cx="24765" cy="3480"/>
          </a:xfrm>
          <a:prstGeom prst="line">
            <a:avLst/>
          </a:prstGeom>
          <a:noFill/>
          <a:ln w="22225">
            <a:solidFill>
              <a:srgbClr val="2E8B57"/>
            </a:solidFill>
            <a:prstDash val="solid"/>
          </a:ln>
        </p:spPr>
      </p:sp>
      <p:sp>
        <p:nvSpPr>
          <p:cNvPr id="201" name="Shape 199"/>
          <p:cNvSpPr/>
          <p:nvPr/>
        </p:nvSpPr>
        <p:spPr>
          <a:xfrm flipV="1">
            <a:off x="5534025" y="2821249"/>
            <a:ext cx="24765" cy="9911"/>
          </a:xfrm>
          <a:prstGeom prst="line">
            <a:avLst/>
          </a:prstGeom>
          <a:noFill/>
          <a:ln w="22225">
            <a:solidFill>
              <a:srgbClr val="2E8B57"/>
            </a:solidFill>
            <a:prstDash val="solid"/>
          </a:ln>
        </p:spPr>
      </p:sp>
      <p:sp>
        <p:nvSpPr>
          <p:cNvPr id="202" name="Shape 200"/>
          <p:cNvSpPr/>
          <p:nvPr/>
        </p:nvSpPr>
        <p:spPr>
          <a:xfrm flipV="1">
            <a:off x="5558790" y="2806416"/>
            <a:ext cx="24765" cy="14833"/>
          </a:xfrm>
          <a:prstGeom prst="line">
            <a:avLst/>
          </a:prstGeom>
          <a:noFill/>
          <a:ln w="22225">
            <a:solidFill>
              <a:srgbClr val="2E8B57"/>
            </a:solidFill>
            <a:prstDash val="solid"/>
          </a:ln>
        </p:spPr>
      </p:sp>
      <p:sp>
        <p:nvSpPr>
          <p:cNvPr id="203" name="Shape 201"/>
          <p:cNvSpPr/>
          <p:nvPr/>
        </p:nvSpPr>
        <p:spPr>
          <a:xfrm flipV="1">
            <a:off x="5583555" y="2788920"/>
            <a:ext cx="24765" cy="17496"/>
          </a:xfrm>
          <a:prstGeom prst="line">
            <a:avLst/>
          </a:prstGeom>
          <a:noFill/>
          <a:ln w="22225">
            <a:solidFill>
              <a:srgbClr val="2E8B57"/>
            </a:solidFill>
            <a:prstDash val="solid"/>
          </a:ln>
        </p:spPr>
      </p:sp>
      <p:sp>
        <p:nvSpPr>
          <p:cNvPr id="204" name="Shape 202"/>
          <p:cNvSpPr/>
          <p:nvPr/>
        </p:nvSpPr>
        <p:spPr>
          <a:xfrm flipV="1">
            <a:off x="5608320" y="2771424"/>
            <a:ext cx="24765" cy="17496"/>
          </a:xfrm>
          <a:prstGeom prst="line">
            <a:avLst/>
          </a:prstGeom>
          <a:noFill/>
          <a:ln w="22225">
            <a:solidFill>
              <a:srgbClr val="2E8B57"/>
            </a:solidFill>
            <a:prstDash val="solid"/>
          </a:ln>
        </p:spPr>
      </p:sp>
      <p:sp>
        <p:nvSpPr>
          <p:cNvPr id="205" name="Shape 203"/>
          <p:cNvSpPr/>
          <p:nvPr/>
        </p:nvSpPr>
        <p:spPr>
          <a:xfrm flipV="1">
            <a:off x="5633085" y="2756591"/>
            <a:ext cx="24765" cy="14833"/>
          </a:xfrm>
          <a:prstGeom prst="line">
            <a:avLst/>
          </a:prstGeom>
          <a:noFill/>
          <a:ln w="22225">
            <a:solidFill>
              <a:srgbClr val="2E8B57"/>
            </a:solidFill>
            <a:prstDash val="solid"/>
          </a:ln>
        </p:spPr>
      </p:sp>
      <p:sp>
        <p:nvSpPr>
          <p:cNvPr id="206" name="Shape 204"/>
          <p:cNvSpPr/>
          <p:nvPr/>
        </p:nvSpPr>
        <p:spPr>
          <a:xfrm flipV="1">
            <a:off x="5657850" y="2746680"/>
            <a:ext cx="24765" cy="9911"/>
          </a:xfrm>
          <a:prstGeom prst="line">
            <a:avLst/>
          </a:prstGeom>
          <a:noFill/>
          <a:ln w="22225">
            <a:solidFill>
              <a:srgbClr val="2E8B57"/>
            </a:solidFill>
            <a:prstDash val="solid"/>
          </a:ln>
        </p:spPr>
      </p:sp>
      <p:sp>
        <p:nvSpPr>
          <p:cNvPr id="207" name="Shape 205"/>
          <p:cNvSpPr/>
          <p:nvPr/>
        </p:nvSpPr>
        <p:spPr>
          <a:xfrm flipV="1">
            <a:off x="5682615" y="2743200"/>
            <a:ext cx="24765" cy="3480"/>
          </a:xfrm>
          <a:prstGeom prst="line">
            <a:avLst/>
          </a:prstGeom>
          <a:noFill/>
          <a:ln w="22225">
            <a:solidFill>
              <a:srgbClr val="2E8B57"/>
            </a:solidFill>
            <a:prstDash val="solid"/>
          </a:ln>
        </p:spPr>
      </p:sp>
      <p:sp>
        <p:nvSpPr>
          <p:cNvPr id="208" name="Shape 206"/>
          <p:cNvSpPr/>
          <p:nvPr/>
        </p:nvSpPr>
        <p:spPr>
          <a:xfrm>
            <a:off x="5707380" y="2743200"/>
            <a:ext cx="24765" cy="3480"/>
          </a:xfrm>
          <a:prstGeom prst="line">
            <a:avLst/>
          </a:prstGeom>
          <a:noFill/>
          <a:ln w="22225">
            <a:solidFill>
              <a:srgbClr val="2E8B57"/>
            </a:solidFill>
            <a:prstDash val="solid"/>
          </a:ln>
        </p:spPr>
      </p:sp>
      <p:sp>
        <p:nvSpPr>
          <p:cNvPr id="209" name="Shape 207"/>
          <p:cNvSpPr/>
          <p:nvPr/>
        </p:nvSpPr>
        <p:spPr>
          <a:xfrm>
            <a:off x="5732145" y="2746680"/>
            <a:ext cx="24765" cy="9911"/>
          </a:xfrm>
          <a:prstGeom prst="line">
            <a:avLst/>
          </a:prstGeom>
          <a:noFill/>
          <a:ln w="22225">
            <a:solidFill>
              <a:srgbClr val="2E8B57"/>
            </a:solidFill>
            <a:prstDash val="solid"/>
          </a:ln>
        </p:spPr>
      </p:sp>
      <p:sp>
        <p:nvSpPr>
          <p:cNvPr id="210" name="Shape 208"/>
          <p:cNvSpPr/>
          <p:nvPr/>
        </p:nvSpPr>
        <p:spPr>
          <a:xfrm>
            <a:off x="5756910" y="2756591"/>
            <a:ext cx="24765" cy="14833"/>
          </a:xfrm>
          <a:prstGeom prst="line">
            <a:avLst/>
          </a:prstGeom>
          <a:noFill/>
          <a:ln w="22225">
            <a:solidFill>
              <a:srgbClr val="2E8B57"/>
            </a:solidFill>
            <a:prstDash val="solid"/>
          </a:ln>
        </p:spPr>
      </p:sp>
      <p:sp>
        <p:nvSpPr>
          <p:cNvPr id="211" name="Shape 209"/>
          <p:cNvSpPr/>
          <p:nvPr/>
        </p:nvSpPr>
        <p:spPr>
          <a:xfrm>
            <a:off x="5781675" y="2771424"/>
            <a:ext cx="24765" cy="17496"/>
          </a:xfrm>
          <a:prstGeom prst="line">
            <a:avLst/>
          </a:prstGeom>
          <a:noFill/>
          <a:ln w="22225">
            <a:solidFill>
              <a:srgbClr val="2E8B57"/>
            </a:solidFill>
            <a:prstDash val="solid"/>
          </a:ln>
        </p:spPr>
      </p:sp>
      <p:sp>
        <p:nvSpPr>
          <p:cNvPr id="212" name="Text 210"/>
          <p:cNvSpPr/>
          <p:nvPr/>
        </p:nvSpPr>
        <p:spPr>
          <a:xfrm>
            <a:off x="3566160" y="2496312"/>
            <a:ext cx="210312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γ passes through</a:t>
            </a:r>
            <a:endParaRPr lang="en-US" sz="1050" dirty="0"/>
          </a:p>
        </p:txBody>
      </p:sp>
      <p:sp>
        <p:nvSpPr>
          <p:cNvPr id="213" name="Text 211"/>
          <p:cNvSpPr/>
          <p:nvPr/>
        </p:nvSpPr>
        <p:spPr>
          <a:xfrm>
            <a:off x="594360" y="3310128"/>
            <a:ext cx="5212080" cy="256032"/>
          </a:xfrm>
          <a:prstGeom prst="rect">
            <a:avLst/>
          </a:prstGeom>
          <a:noFill/>
          <a:ln/>
        </p:spPr>
        <p:txBody>
          <a:bodyPr wrap="square" lIns="0" tIns="0" rIns="0" bIns="0" rtlCol="0" anchor="ctr"/>
          <a:lstStyle/>
          <a:p>
            <a:pPr algn="l" indent="0" marL="0">
              <a:buNone/>
            </a:pPr>
            <a:r>
              <a:rPr lang="en-US" sz="1150" b="1" dirty="0">
                <a:solidFill>
                  <a:srgbClr val="1A2340"/>
                </a:solidFill>
                <a:latin typeface="Calibri" pitchFamily="34" charset="0"/>
                <a:ea typeface="Calibri" pitchFamily="34" charset="-122"/>
                <a:cs typeface="Calibri" pitchFamily="34" charset="-120"/>
              </a:rPr>
              <a:t>Source INSIDE the body (swallowed or breathed in)</a:t>
            </a:r>
            <a:endParaRPr lang="en-US" sz="1150" dirty="0"/>
          </a:p>
        </p:txBody>
      </p:sp>
      <p:sp>
        <p:nvSpPr>
          <p:cNvPr id="214" name="Shape 212"/>
          <p:cNvSpPr/>
          <p:nvPr/>
        </p:nvSpPr>
        <p:spPr>
          <a:xfrm>
            <a:off x="640080" y="3611880"/>
            <a:ext cx="5029200" cy="1600200"/>
          </a:xfrm>
          <a:prstGeom prst="roundRect">
            <a:avLst>
              <a:gd name="adj" fmla="val 5714"/>
            </a:avLst>
          </a:prstGeom>
          <a:solidFill>
            <a:srgbClr val="F7DCCB"/>
          </a:solidFill>
          <a:ln w="15875">
            <a:solidFill>
              <a:srgbClr val="C99A5B"/>
            </a:solidFill>
            <a:prstDash val="solid"/>
          </a:ln>
        </p:spPr>
      </p:sp>
      <p:sp>
        <p:nvSpPr>
          <p:cNvPr id="215" name="Shape 213"/>
          <p:cNvSpPr/>
          <p:nvPr/>
        </p:nvSpPr>
        <p:spPr>
          <a:xfrm>
            <a:off x="640080" y="3611880"/>
            <a:ext cx="73152" cy="1600200"/>
          </a:xfrm>
          <a:prstGeom prst="rect">
            <a:avLst/>
          </a:prstGeom>
          <a:solidFill>
            <a:srgbClr val="E8C3A8"/>
          </a:solidFill>
          <a:ln/>
        </p:spPr>
      </p:sp>
      <p:sp>
        <p:nvSpPr>
          <p:cNvPr id="216" name="Shape 214"/>
          <p:cNvSpPr/>
          <p:nvPr/>
        </p:nvSpPr>
        <p:spPr>
          <a:xfrm>
            <a:off x="1783080" y="3977640"/>
            <a:ext cx="822960" cy="822960"/>
          </a:xfrm>
          <a:prstGeom prst="ellipse">
            <a:avLst/>
          </a:prstGeom>
          <a:solidFill>
            <a:srgbClr val="F2A7AE">
              <a:alpha val="70000"/>
            </a:srgbClr>
          </a:solidFill>
          <a:ln w="12700">
            <a:solidFill>
              <a:srgbClr val="C8414C"/>
            </a:solidFill>
            <a:prstDash val="dash"/>
          </a:ln>
        </p:spPr>
      </p:sp>
      <p:sp>
        <p:nvSpPr>
          <p:cNvPr id="217" name="Shape 215"/>
          <p:cNvSpPr/>
          <p:nvPr/>
        </p:nvSpPr>
        <p:spPr>
          <a:xfrm>
            <a:off x="2121408" y="4315968"/>
            <a:ext cx="146304" cy="146304"/>
          </a:xfrm>
          <a:prstGeom prst="ellipse">
            <a:avLst/>
          </a:prstGeom>
          <a:solidFill>
            <a:srgbClr val="4A5262"/>
          </a:solidFill>
          <a:ln w="9525">
            <a:solidFill>
              <a:srgbClr val="4A5262"/>
            </a:solidFill>
            <a:prstDash val="solid"/>
          </a:ln>
        </p:spPr>
      </p:sp>
      <p:sp>
        <p:nvSpPr>
          <p:cNvPr id="218" name="Shape 216"/>
          <p:cNvSpPr/>
          <p:nvPr/>
        </p:nvSpPr>
        <p:spPr>
          <a:xfrm>
            <a:off x="2267712" y="4389120"/>
            <a:ext cx="256032" cy="91"/>
          </a:xfrm>
          <a:prstGeom prst="line">
            <a:avLst/>
          </a:prstGeom>
          <a:noFill/>
          <a:ln w="19050">
            <a:solidFill>
              <a:srgbClr val="C8414C"/>
            </a:solidFill>
            <a:prstDash val="solid"/>
            <a:tailEnd type="triangle"/>
          </a:ln>
        </p:spPr>
      </p:sp>
      <p:sp>
        <p:nvSpPr>
          <p:cNvPr id="219" name="Shape 217"/>
          <p:cNvSpPr/>
          <p:nvPr/>
        </p:nvSpPr>
        <p:spPr>
          <a:xfrm>
            <a:off x="2231136" y="4452471"/>
            <a:ext cx="128016" cy="221730"/>
          </a:xfrm>
          <a:prstGeom prst="line">
            <a:avLst/>
          </a:prstGeom>
          <a:noFill/>
          <a:ln w="19050">
            <a:solidFill>
              <a:srgbClr val="C8414C"/>
            </a:solidFill>
            <a:prstDash val="solid"/>
            <a:tailEnd type="triangle"/>
          </a:ln>
        </p:spPr>
      </p:sp>
      <p:sp>
        <p:nvSpPr>
          <p:cNvPr id="220" name="Shape 218"/>
          <p:cNvSpPr/>
          <p:nvPr/>
        </p:nvSpPr>
        <p:spPr>
          <a:xfrm flipH="1">
            <a:off x="2029968" y="4452471"/>
            <a:ext cx="128016" cy="221730"/>
          </a:xfrm>
          <a:prstGeom prst="line">
            <a:avLst/>
          </a:prstGeom>
          <a:noFill/>
          <a:ln w="19050">
            <a:solidFill>
              <a:srgbClr val="C8414C"/>
            </a:solidFill>
            <a:prstDash val="solid"/>
            <a:tailEnd type="triangle"/>
          </a:ln>
        </p:spPr>
      </p:sp>
      <p:sp>
        <p:nvSpPr>
          <p:cNvPr id="221" name="Shape 219"/>
          <p:cNvSpPr/>
          <p:nvPr/>
        </p:nvSpPr>
        <p:spPr>
          <a:xfrm flipH="1">
            <a:off x="1865376" y="4389120"/>
            <a:ext cx="256032" cy="91"/>
          </a:xfrm>
          <a:prstGeom prst="line">
            <a:avLst/>
          </a:prstGeom>
          <a:noFill/>
          <a:ln w="19050">
            <a:solidFill>
              <a:srgbClr val="C8414C"/>
            </a:solidFill>
            <a:prstDash val="solid"/>
            <a:tailEnd type="triangle"/>
          </a:ln>
        </p:spPr>
      </p:sp>
      <p:sp>
        <p:nvSpPr>
          <p:cNvPr id="222" name="Shape 220"/>
          <p:cNvSpPr/>
          <p:nvPr/>
        </p:nvSpPr>
        <p:spPr>
          <a:xfrm flipH="1" flipV="1">
            <a:off x="2029968" y="4104038"/>
            <a:ext cx="128016" cy="221730"/>
          </a:xfrm>
          <a:prstGeom prst="line">
            <a:avLst/>
          </a:prstGeom>
          <a:noFill/>
          <a:ln w="19050">
            <a:solidFill>
              <a:srgbClr val="C8414C"/>
            </a:solidFill>
            <a:prstDash val="solid"/>
            <a:tailEnd type="triangle"/>
          </a:ln>
        </p:spPr>
      </p:sp>
      <p:sp>
        <p:nvSpPr>
          <p:cNvPr id="223" name="Shape 221"/>
          <p:cNvSpPr/>
          <p:nvPr/>
        </p:nvSpPr>
        <p:spPr>
          <a:xfrm flipV="1">
            <a:off x="2231136" y="4104038"/>
            <a:ext cx="128016" cy="221730"/>
          </a:xfrm>
          <a:prstGeom prst="line">
            <a:avLst/>
          </a:prstGeom>
          <a:noFill/>
          <a:ln w="19050">
            <a:solidFill>
              <a:srgbClr val="C8414C"/>
            </a:solidFill>
            <a:prstDash val="solid"/>
            <a:tailEnd type="triangle"/>
          </a:ln>
        </p:spPr>
      </p:sp>
      <p:sp>
        <p:nvSpPr>
          <p:cNvPr id="224" name="Text 222"/>
          <p:cNvSpPr/>
          <p:nvPr/>
        </p:nvSpPr>
        <p:spPr>
          <a:xfrm>
            <a:off x="731520" y="4828032"/>
            <a:ext cx="237744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α: all its energy into nearby cells</a:t>
            </a:r>
            <a:endParaRPr lang="en-US" sz="1050" dirty="0"/>
          </a:p>
        </p:txBody>
      </p:sp>
      <p:sp>
        <p:nvSpPr>
          <p:cNvPr id="225" name="Shape 223"/>
          <p:cNvSpPr/>
          <p:nvPr/>
        </p:nvSpPr>
        <p:spPr>
          <a:xfrm>
            <a:off x="2286000" y="4343400"/>
            <a:ext cx="24256" cy="14493"/>
          </a:xfrm>
          <a:prstGeom prst="line">
            <a:avLst/>
          </a:prstGeom>
          <a:noFill/>
          <a:ln w="19050">
            <a:solidFill>
              <a:srgbClr val="2E8B57"/>
            </a:solidFill>
            <a:prstDash val="solid"/>
          </a:ln>
        </p:spPr>
      </p:sp>
      <p:sp>
        <p:nvSpPr>
          <p:cNvPr id="226" name="Shape 224"/>
          <p:cNvSpPr/>
          <p:nvPr/>
        </p:nvSpPr>
        <p:spPr>
          <a:xfrm>
            <a:off x="2310256" y="4357893"/>
            <a:ext cx="23913" cy="11852"/>
          </a:xfrm>
          <a:prstGeom prst="line">
            <a:avLst/>
          </a:prstGeom>
          <a:noFill/>
          <a:ln w="19050">
            <a:solidFill>
              <a:srgbClr val="2E8B57"/>
            </a:solidFill>
            <a:prstDash val="solid"/>
          </a:ln>
        </p:spPr>
      </p:sp>
      <p:sp>
        <p:nvSpPr>
          <p:cNvPr id="227" name="Shape 225"/>
          <p:cNvSpPr/>
          <p:nvPr/>
        </p:nvSpPr>
        <p:spPr>
          <a:xfrm>
            <a:off x="2334169" y="4369745"/>
            <a:ext cx="23279" cy="6971"/>
          </a:xfrm>
          <a:prstGeom prst="line">
            <a:avLst/>
          </a:prstGeom>
          <a:noFill/>
          <a:ln w="19050">
            <a:solidFill>
              <a:srgbClr val="2E8B57"/>
            </a:solidFill>
            <a:prstDash val="solid"/>
          </a:ln>
        </p:spPr>
      </p:sp>
      <p:sp>
        <p:nvSpPr>
          <p:cNvPr id="228" name="Shape 226"/>
          <p:cNvSpPr/>
          <p:nvPr/>
        </p:nvSpPr>
        <p:spPr>
          <a:xfrm>
            <a:off x="2357448" y="4376716"/>
            <a:ext cx="22451" cy="594"/>
          </a:xfrm>
          <a:prstGeom prst="line">
            <a:avLst/>
          </a:prstGeom>
          <a:noFill/>
          <a:ln w="19050">
            <a:solidFill>
              <a:srgbClr val="2E8B57"/>
            </a:solidFill>
            <a:prstDash val="solid"/>
          </a:ln>
        </p:spPr>
      </p:sp>
      <p:sp>
        <p:nvSpPr>
          <p:cNvPr id="229" name="Shape 227"/>
          <p:cNvSpPr/>
          <p:nvPr/>
        </p:nvSpPr>
        <p:spPr>
          <a:xfrm flipV="1">
            <a:off x="2379899" y="4371001"/>
            <a:ext cx="21555" cy="6309"/>
          </a:xfrm>
          <a:prstGeom prst="line">
            <a:avLst/>
          </a:prstGeom>
          <a:noFill/>
          <a:ln w="19050">
            <a:solidFill>
              <a:srgbClr val="2E8B57"/>
            </a:solidFill>
            <a:prstDash val="solid"/>
          </a:ln>
        </p:spPr>
      </p:sp>
      <p:sp>
        <p:nvSpPr>
          <p:cNvPr id="230" name="Shape 228"/>
          <p:cNvSpPr/>
          <p:nvPr/>
        </p:nvSpPr>
        <p:spPr>
          <a:xfrm flipV="1">
            <a:off x="2401454" y="4358315"/>
            <a:ext cx="20726" cy="12686"/>
          </a:xfrm>
          <a:prstGeom prst="line">
            <a:avLst/>
          </a:prstGeom>
          <a:noFill/>
          <a:ln w="19050">
            <a:solidFill>
              <a:srgbClr val="2E8B57"/>
            </a:solidFill>
            <a:prstDash val="solid"/>
          </a:ln>
        </p:spPr>
      </p:sp>
      <p:sp>
        <p:nvSpPr>
          <p:cNvPr id="231" name="Shape 229"/>
          <p:cNvSpPr/>
          <p:nvPr/>
        </p:nvSpPr>
        <p:spPr>
          <a:xfrm flipV="1">
            <a:off x="2422180" y="4340748"/>
            <a:ext cx="20092" cy="17567"/>
          </a:xfrm>
          <a:prstGeom prst="line">
            <a:avLst/>
          </a:prstGeom>
          <a:noFill/>
          <a:ln w="19050">
            <a:solidFill>
              <a:srgbClr val="2E8B57"/>
            </a:solidFill>
            <a:prstDash val="solid"/>
          </a:ln>
        </p:spPr>
      </p:sp>
      <p:sp>
        <p:nvSpPr>
          <p:cNvPr id="232" name="Shape 230"/>
          <p:cNvSpPr/>
          <p:nvPr/>
        </p:nvSpPr>
        <p:spPr>
          <a:xfrm flipV="1">
            <a:off x="2442273" y="4320540"/>
            <a:ext cx="19749" cy="20208"/>
          </a:xfrm>
          <a:prstGeom prst="line">
            <a:avLst/>
          </a:prstGeom>
          <a:noFill/>
          <a:ln w="19050">
            <a:solidFill>
              <a:srgbClr val="2E8B57"/>
            </a:solidFill>
            <a:prstDash val="solid"/>
          </a:ln>
        </p:spPr>
      </p:sp>
      <p:sp>
        <p:nvSpPr>
          <p:cNvPr id="233" name="Shape 231"/>
          <p:cNvSpPr/>
          <p:nvPr/>
        </p:nvSpPr>
        <p:spPr>
          <a:xfrm flipV="1">
            <a:off x="2462022" y="4300332"/>
            <a:ext cx="19749" cy="20208"/>
          </a:xfrm>
          <a:prstGeom prst="line">
            <a:avLst/>
          </a:prstGeom>
          <a:noFill/>
          <a:ln w="19050">
            <a:solidFill>
              <a:srgbClr val="2E8B57"/>
            </a:solidFill>
            <a:prstDash val="solid"/>
          </a:ln>
        </p:spPr>
      </p:sp>
      <p:sp>
        <p:nvSpPr>
          <p:cNvPr id="234" name="Shape 232"/>
          <p:cNvSpPr/>
          <p:nvPr/>
        </p:nvSpPr>
        <p:spPr>
          <a:xfrm flipV="1">
            <a:off x="2481771" y="4282765"/>
            <a:ext cx="20092" cy="17567"/>
          </a:xfrm>
          <a:prstGeom prst="line">
            <a:avLst/>
          </a:prstGeom>
          <a:noFill/>
          <a:ln w="19050">
            <a:solidFill>
              <a:srgbClr val="2E8B57"/>
            </a:solidFill>
            <a:prstDash val="solid"/>
          </a:ln>
        </p:spPr>
      </p:sp>
      <p:sp>
        <p:nvSpPr>
          <p:cNvPr id="235" name="Shape 233"/>
          <p:cNvSpPr/>
          <p:nvPr/>
        </p:nvSpPr>
        <p:spPr>
          <a:xfrm flipV="1">
            <a:off x="2501864" y="4270079"/>
            <a:ext cx="20726" cy="12686"/>
          </a:xfrm>
          <a:prstGeom prst="line">
            <a:avLst/>
          </a:prstGeom>
          <a:noFill/>
          <a:ln w="19050">
            <a:solidFill>
              <a:srgbClr val="2E8B57"/>
            </a:solidFill>
            <a:prstDash val="solid"/>
          </a:ln>
        </p:spPr>
      </p:sp>
      <p:sp>
        <p:nvSpPr>
          <p:cNvPr id="236" name="Shape 234"/>
          <p:cNvSpPr/>
          <p:nvPr/>
        </p:nvSpPr>
        <p:spPr>
          <a:xfrm flipV="1">
            <a:off x="2522590" y="4263771"/>
            <a:ext cx="21555" cy="6309"/>
          </a:xfrm>
          <a:prstGeom prst="line">
            <a:avLst/>
          </a:prstGeom>
          <a:noFill/>
          <a:ln w="19050">
            <a:solidFill>
              <a:srgbClr val="2E8B57"/>
            </a:solidFill>
            <a:prstDash val="solid"/>
          </a:ln>
        </p:spPr>
      </p:sp>
      <p:sp>
        <p:nvSpPr>
          <p:cNvPr id="237" name="Shape 235"/>
          <p:cNvSpPr/>
          <p:nvPr/>
        </p:nvSpPr>
        <p:spPr>
          <a:xfrm>
            <a:off x="2544145" y="4263771"/>
            <a:ext cx="22451" cy="594"/>
          </a:xfrm>
          <a:prstGeom prst="line">
            <a:avLst/>
          </a:prstGeom>
          <a:noFill/>
          <a:ln w="19050">
            <a:solidFill>
              <a:srgbClr val="2E8B57"/>
            </a:solidFill>
            <a:prstDash val="solid"/>
          </a:ln>
        </p:spPr>
      </p:sp>
      <p:sp>
        <p:nvSpPr>
          <p:cNvPr id="238" name="Shape 236"/>
          <p:cNvSpPr/>
          <p:nvPr/>
        </p:nvSpPr>
        <p:spPr>
          <a:xfrm>
            <a:off x="2566596" y="4264364"/>
            <a:ext cx="23279" cy="6971"/>
          </a:xfrm>
          <a:prstGeom prst="line">
            <a:avLst/>
          </a:prstGeom>
          <a:noFill/>
          <a:ln w="19050">
            <a:solidFill>
              <a:srgbClr val="2E8B57"/>
            </a:solidFill>
            <a:prstDash val="solid"/>
          </a:ln>
        </p:spPr>
      </p:sp>
      <p:sp>
        <p:nvSpPr>
          <p:cNvPr id="239" name="Shape 237"/>
          <p:cNvSpPr/>
          <p:nvPr/>
        </p:nvSpPr>
        <p:spPr>
          <a:xfrm>
            <a:off x="2589875" y="4271335"/>
            <a:ext cx="23913" cy="11852"/>
          </a:xfrm>
          <a:prstGeom prst="line">
            <a:avLst/>
          </a:prstGeom>
          <a:noFill/>
          <a:ln w="19050">
            <a:solidFill>
              <a:srgbClr val="2E8B57"/>
            </a:solidFill>
            <a:prstDash val="solid"/>
          </a:ln>
        </p:spPr>
      </p:sp>
      <p:sp>
        <p:nvSpPr>
          <p:cNvPr id="240" name="Shape 238"/>
          <p:cNvSpPr/>
          <p:nvPr/>
        </p:nvSpPr>
        <p:spPr>
          <a:xfrm>
            <a:off x="2613788" y="4283187"/>
            <a:ext cx="24256" cy="14493"/>
          </a:xfrm>
          <a:prstGeom prst="line">
            <a:avLst/>
          </a:prstGeom>
          <a:noFill/>
          <a:ln w="19050">
            <a:solidFill>
              <a:srgbClr val="2E8B57"/>
            </a:solidFill>
            <a:prstDash val="solid"/>
          </a:ln>
        </p:spPr>
      </p:sp>
      <p:sp>
        <p:nvSpPr>
          <p:cNvPr id="241" name="Shape 239"/>
          <p:cNvSpPr/>
          <p:nvPr/>
        </p:nvSpPr>
        <p:spPr>
          <a:xfrm>
            <a:off x="2638044" y="4297680"/>
            <a:ext cx="24256" cy="14493"/>
          </a:xfrm>
          <a:prstGeom prst="line">
            <a:avLst/>
          </a:prstGeom>
          <a:noFill/>
          <a:ln w="19050">
            <a:solidFill>
              <a:srgbClr val="2E8B57"/>
            </a:solidFill>
            <a:prstDash val="solid"/>
          </a:ln>
        </p:spPr>
      </p:sp>
      <p:sp>
        <p:nvSpPr>
          <p:cNvPr id="242" name="Shape 240"/>
          <p:cNvSpPr/>
          <p:nvPr/>
        </p:nvSpPr>
        <p:spPr>
          <a:xfrm>
            <a:off x="2662300" y="4312173"/>
            <a:ext cx="23913" cy="11852"/>
          </a:xfrm>
          <a:prstGeom prst="line">
            <a:avLst/>
          </a:prstGeom>
          <a:noFill/>
          <a:ln w="19050">
            <a:solidFill>
              <a:srgbClr val="2E8B57"/>
            </a:solidFill>
            <a:prstDash val="solid"/>
          </a:ln>
        </p:spPr>
      </p:sp>
      <p:sp>
        <p:nvSpPr>
          <p:cNvPr id="243" name="Shape 241"/>
          <p:cNvSpPr/>
          <p:nvPr/>
        </p:nvSpPr>
        <p:spPr>
          <a:xfrm>
            <a:off x="2686213" y="4324025"/>
            <a:ext cx="23279" cy="6971"/>
          </a:xfrm>
          <a:prstGeom prst="line">
            <a:avLst/>
          </a:prstGeom>
          <a:noFill/>
          <a:ln w="19050">
            <a:solidFill>
              <a:srgbClr val="2E8B57"/>
            </a:solidFill>
            <a:prstDash val="solid"/>
          </a:ln>
        </p:spPr>
      </p:sp>
      <p:sp>
        <p:nvSpPr>
          <p:cNvPr id="244" name="Shape 242"/>
          <p:cNvSpPr/>
          <p:nvPr/>
        </p:nvSpPr>
        <p:spPr>
          <a:xfrm>
            <a:off x="2709492" y="4330996"/>
            <a:ext cx="22451" cy="594"/>
          </a:xfrm>
          <a:prstGeom prst="line">
            <a:avLst/>
          </a:prstGeom>
          <a:noFill/>
          <a:ln w="19050">
            <a:solidFill>
              <a:srgbClr val="2E8B57"/>
            </a:solidFill>
            <a:prstDash val="solid"/>
          </a:ln>
        </p:spPr>
      </p:sp>
      <p:sp>
        <p:nvSpPr>
          <p:cNvPr id="245" name="Shape 243"/>
          <p:cNvSpPr/>
          <p:nvPr/>
        </p:nvSpPr>
        <p:spPr>
          <a:xfrm flipV="1">
            <a:off x="2731943" y="4325281"/>
            <a:ext cx="21555" cy="6309"/>
          </a:xfrm>
          <a:prstGeom prst="line">
            <a:avLst/>
          </a:prstGeom>
          <a:noFill/>
          <a:ln w="19050">
            <a:solidFill>
              <a:srgbClr val="2E8B57"/>
            </a:solidFill>
            <a:prstDash val="solid"/>
          </a:ln>
        </p:spPr>
      </p:sp>
      <p:sp>
        <p:nvSpPr>
          <p:cNvPr id="246" name="Shape 244"/>
          <p:cNvSpPr/>
          <p:nvPr/>
        </p:nvSpPr>
        <p:spPr>
          <a:xfrm flipV="1">
            <a:off x="2753498" y="4312595"/>
            <a:ext cx="20726" cy="12686"/>
          </a:xfrm>
          <a:prstGeom prst="line">
            <a:avLst/>
          </a:prstGeom>
          <a:noFill/>
          <a:ln w="19050">
            <a:solidFill>
              <a:srgbClr val="2E8B57"/>
            </a:solidFill>
            <a:prstDash val="solid"/>
          </a:ln>
        </p:spPr>
      </p:sp>
      <p:sp>
        <p:nvSpPr>
          <p:cNvPr id="247" name="Shape 245"/>
          <p:cNvSpPr/>
          <p:nvPr/>
        </p:nvSpPr>
        <p:spPr>
          <a:xfrm flipV="1">
            <a:off x="2774224" y="4295028"/>
            <a:ext cx="20092" cy="17567"/>
          </a:xfrm>
          <a:prstGeom prst="line">
            <a:avLst/>
          </a:prstGeom>
          <a:noFill/>
          <a:ln w="19050">
            <a:solidFill>
              <a:srgbClr val="2E8B57"/>
            </a:solidFill>
            <a:prstDash val="solid"/>
          </a:ln>
        </p:spPr>
      </p:sp>
      <p:sp>
        <p:nvSpPr>
          <p:cNvPr id="248" name="Shape 246"/>
          <p:cNvSpPr/>
          <p:nvPr/>
        </p:nvSpPr>
        <p:spPr>
          <a:xfrm flipV="1">
            <a:off x="2794317" y="4274820"/>
            <a:ext cx="19749" cy="20208"/>
          </a:xfrm>
          <a:prstGeom prst="line">
            <a:avLst/>
          </a:prstGeom>
          <a:noFill/>
          <a:ln w="19050">
            <a:solidFill>
              <a:srgbClr val="2E8B57"/>
            </a:solidFill>
            <a:prstDash val="solid"/>
          </a:ln>
        </p:spPr>
      </p:sp>
      <p:sp>
        <p:nvSpPr>
          <p:cNvPr id="249" name="Shape 247"/>
          <p:cNvSpPr/>
          <p:nvPr/>
        </p:nvSpPr>
        <p:spPr>
          <a:xfrm flipV="1">
            <a:off x="2814066" y="4254612"/>
            <a:ext cx="19749" cy="20208"/>
          </a:xfrm>
          <a:prstGeom prst="line">
            <a:avLst/>
          </a:prstGeom>
          <a:noFill/>
          <a:ln w="19050">
            <a:solidFill>
              <a:srgbClr val="2E8B57"/>
            </a:solidFill>
            <a:prstDash val="solid"/>
          </a:ln>
        </p:spPr>
      </p:sp>
      <p:sp>
        <p:nvSpPr>
          <p:cNvPr id="250" name="Shape 248"/>
          <p:cNvSpPr/>
          <p:nvPr/>
        </p:nvSpPr>
        <p:spPr>
          <a:xfrm flipV="1">
            <a:off x="2833815" y="4237045"/>
            <a:ext cx="20092" cy="17567"/>
          </a:xfrm>
          <a:prstGeom prst="line">
            <a:avLst/>
          </a:prstGeom>
          <a:noFill/>
          <a:ln w="19050">
            <a:solidFill>
              <a:srgbClr val="2E8B57"/>
            </a:solidFill>
            <a:prstDash val="solid"/>
          </a:ln>
        </p:spPr>
      </p:sp>
      <p:sp>
        <p:nvSpPr>
          <p:cNvPr id="251" name="Shape 249"/>
          <p:cNvSpPr/>
          <p:nvPr/>
        </p:nvSpPr>
        <p:spPr>
          <a:xfrm flipV="1">
            <a:off x="2853908" y="4224359"/>
            <a:ext cx="20726" cy="12686"/>
          </a:xfrm>
          <a:prstGeom prst="line">
            <a:avLst/>
          </a:prstGeom>
          <a:noFill/>
          <a:ln w="19050">
            <a:solidFill>
              <a:srgbClr val="2E8B57"/>
            </a:solidFill>
            <a:prstDash val="solid"/>
          </a:ln>
        </p:spPr>
      </p:sp>
      <p:sp>
        <p:nvSpPr>
          <p:cNvPr id="252" name="Shape 250"/>
          <p:cNvSpPr/>
          <p:nvPr/>
        </p:nvSpPr>
        <p:spPr>
          <a:xfrm flipV="1">
            <a:off x="2874634" y="4218051"/>
            <a:ext cx="21555" cy="6309"/>
          </a:xfrm>
          <a:prstGeom prst="line">
            <a:avLst/>
          </a:prstGeom>
          <a:noFill/>
          <a:ln w="19050">
            <a:solidFill>
              <a:srgbClr val="2E8B57"/>
            </a:solidFill>
            <a:prstDash val="solid"/>
          </a:ln>
        </p:spPr>
      </p:sp>
      <p:sp>
        <p:nvSpPr>
          <p:cNvPr id="253" name="Shape 251"/>
          <p:cNvSpPr/>
          <p:nvPr/>
        </p:nvSpPr>
        <p:spPr>
          <a:xfrm>
            <a:off x="2896189" y="4218051"/>
            <a:ext cx="22451" cy="594"/>
          </a:xfrm>
          <a:prstGeom prst="line">
            <a:avLst/>
          </a:prstGeom>
          <a:noFill/>
          <a:ln w="19050">
            <a:solidFill>
              <a:srgbClr val="2E8B57"/>
            </a:solidFill>
            <a:prstDash val="solid"/>
          </a:ln>
        </p:spPr>
      </p:sp>
      <p:sp>
        <p:nvSpPr>
          <p:cNvPr id="254" name="Shape 252"/>
          <p:cNvSpPr/>
          <p:nvPr/>
        </p:nvSpPr>
        <p:spPr>
          <a:xfrm>
            <a:off x="2918640" y="4218644"/>
            <a:ext cx="23279" cy="6971"/>
          </a:xfrm>
          <a:prstGeom prst="line">
            <a:avLst/>
          </a:prstGeom>
          <a:noFill/>
          <a:ln w="19050">
            <a:solidFill>
              <a:srgbClr val="2E8B57"/>
            </a:solidFill>
            <a:prstDash val="solid"/>
          </a:ln>
        </p:spPr>
      </p:sp>
      <p:sp>
        <p:nvSpPr>
          <p:cNvPr id="255" name="Shape 253"/>
          <p:cNvSpPr/>
          <p:nvPr/>
        </p:nvSpPr>
        <p:spPr>
          <a:xfrm>
            <a:off x="2941919" y="4225615"/>
            <a:ext cx="23913" cy="11852"/>
          </a:xfrm>
          <a:prstGeom prst="line">
            <a:avLst/>
          </a:prstGeom>
          <a:noFill/>
          <a:ln w="19050">
            <a:solidFill>
              <a:srgbClr val="2E8B57"/>
            </a:solidFill>
            <a:prstDash val="solid"/>
          </a:ln>
        </p:spPr>
      </p:sp>
      <p:sp>
        <p:nvSpPr>
          <p:cNvPr id="256" name="Shape 254"/>
          <p:cNvSpPr/>
          <p:nvPr/>
        </p:nvSpPr>
        <p:spPr>
          <a:xfrm>
            <a:off x="2965832" y="4237467"/>
            <a:ext cx="24256" cy="14493"/>
          </a:xfrm>
          <a:prstGeom prst="line">
            <a:avLst/>
          </a:prstGeom>
          <a:noFill/>
          <a:ln w="19050">
            <a:solidFill>
              <a:srgbClr val="2E8B57"/>
            </a:solidFill>
            <a:prstDash val="solid"/>
          </a:ln>
        </p:spPr>
      </p:sp>
      <p:sp>
        <p:nvSpPr>
          <p:cNvPr id="257" name="Shape 255"/>
          <p:cNvSpPr/>
          <p:nvPr/>
        </p:nvSpPr>
        <p:spPr>
          <a:xfrm>
            <a:off x="2990088" y="4251960"/>
            <a:ext cx="24256" cy="14493"/>
          </a:xfrm>
          <a:prstGeom prst="line">
            <a:avLst/>
          </a:prstGeom>
          <a:noFill/>
          <a:ln w="19050">
            <a:solidFill>
              <a:srgbClr val="2E8B57"/>
            </a:solidFill>
            <a:prstDash val="solid"/>
          </a:ln>
        </p:spPr>
      </p:sp>
      <p:sp>
        <p:nvSpPr>
          <p:cNvPr id="258" name="Shape 256"/>
          <p:cNvSpPr/>
          <p:nvPr/>
        </p:nvSpPr>
        <p:spPr>
          <a:xfrm>
            <a:off x="3014344" y="4266453"/>
            <a:ext cx="23913" cy="11852"/>
          </a:xfrm>
          <a:prstGeom prst="line">
            <a:avLst/>
          </a:prstGeom>
          <a:noFill/>
          <a:ln w="19050">
            <a:solidFill>
              <a:srgbClr val="2E8B57"/>
            </a:solidFill>
            <a:prstDash val="solid"/>
          </a:ln>
        </p:spPr>
      </p:sp>
      <p:sp>
        <p:nvSpPr>
          <p:cNvPr id="259" name="Shape 257"/>
          <p:cNvSpPr/>
          <p:nvPr/>
        </p:nvSpPr>
        <p:spPr>
          <a:xfrm>
            <a:off x="3038257" y="4278305"/>
            <a:ext cx="23279" cy="6971"/>
          </a:xfrm>
          <a:prstGeom prst="line">
            <a:avLst/>
          </a:prstGeom>
          <a:noFill/>
          <a:ln w="19050">
            <a:solidFill>
              <a:srgbClr val="2E8B57"/>
            </a:solidFill>
            <a:prstDash val="solid"/>
          </a:ln>
        </p:spPr>
      </p:sp>
      <p:sp>
        <p:nvSpPr>
          <p:cNvPr id="260" name="Shape 258"/>
          <p:cNvSpPr/>
          <p:nvPr/>
        </p:nvSpPr>
        <p:spPr>
          <a:xfrm>
            <a:off x="3061536" y="4285276"/>
            <a:ext cx="22451" cy="594"/>
          </a:xfrm>
          <a:prstGeom prst="line">
            <a:avLst/>
          </a:prstGeom>
          <a:noFill/>
          <a:ln w="19050">
            <a:solidFill>
              <a:srgbClr val="2E8B57"/>
            </a:solidFill>
            <a:prstDash val="solid"/>
          </a:ln>
        </p:spPr>
      </p:sp>
      <p:sp>
        <p:nvSpPr>
          <p:cNvPr id="261" name="Shape 259"/>
          <p:cNvSpPr/>
          <p:nvPr/>
        </p:nvSpPr>
        <p:spPr>
          <a:xfrm flipV="1">
            <a:off x="3083987" y="4279561"/>
            <a:ext cx="21555" cy="6309"/>
          </a:xfrm>
          <a:prstGeom prst="line">
            <a:avLst/>
          </a:prstGeom>
          <a:noFill/>
          <a:ln w="19050">
            <a:solidFill>
              <a:srgbClr val="2E8B57"/>
            </a:solidFill>
            <a:prstDash val="solid"/>
          </a:ln>
        </p:spPr>
      </p:sp>
      <p:sp>
        <p:nvSpPr>
          <p:cNvPr id="262" name="Shape 260"/>
          <p:cNvSpPr/>
          <p:nvPr/>
        </p:nvSpPr>
        <p:spPr>
          <a:xfrm flipV="1">
            <a:off x="3105542" y="4266875"/>
            <a:ext cx="20726" cy="12686"/>
          </a:xfrm>
          <a:prstGeom prst="line">
            <a:avLst/>
          </a:prstGeom>
          <a:noFill/>
          <a:ln w="19050">
            <a:solidFill>
              <a:srgbClr val="2E8B57"/>
            </a:solidFill>
            <a:prstDash val="solid"/>
          </a:ln>
        </p:spPr>
      </p:sp>
      <p:sp>
        <p:nvSpPr>
          <p:cNvPr id="263" name="Shape 261"/>
          <p:cNvSpPr/>
          <p:nvPr/>
        </p:nvSpPr>
        <p:spPr>
          <a:xfrm flipV="1">
            <a:off x="3126268" y="4249308"/>
            <a:ext cx="20092" cy="17567"/>
          </a:xfrm>
          <a:prstGeom prst="line">
            <a:avLst/>
          </a:prstGeom>
          <a:noFill/>
          <a:ln w="19050">
            <a:solidFill>
              <a:srgbClr val="2E8B57"/>
            </a:solidFill>
            <a:prstDash val="solid"/>
          </a:ln>
        </p:spPr>
      </p:sp>
      <p:sp>
        <p:nvSpPr>
          <p:cNvPr id="264" name="Shape 262"/>
          <p:cNvSpPr/>
          <p:nvPr/>
        </p:nvSpPr>
        <p:spPr>
          <a:xfrm flipV="1">
            <a:off x="3146361" y="4229100"/>
            <a:ext cx="19749" cy="20208"/>
          </a:xfrm>
          <a:prstGeom prst="line">
            <a:avLst/>
          </a:prstGeom>
          <a:noFill/>
          <a:ln w="19050">
            <a:solidFill>
              <a:srgbClr val="2E8B57"/>
            </a:solidFill>
            <a:prstDash val="solid"/>
          </a:ln>
        </p:spPr>
      </p:sp>
      <p:sp>
        <p:nvSpPr>
          <p:cNvPr id="265" name="Shape 263"/>
          <p:cNvSpPr/>
          <p:nvPr/>
        </p:nvSpPr>
        <p:spPr>
          <a:xfrm flipV="1">
            <a:off x="3166110" y="4208892"/>
            <a:ext cx="19749" cy="20208"/>
          </a:xfrm>
          <a:prstGeom prst="line">
            <a:avLst/>
          </a:prstGeom>
          <a:noFill/>
          <a:ln w="19050">
            <a:solidFill>
              <a:srgbClr val="2E8B57"/>
            </a:solidFill>
            <a:prstDash val="solid"/>
          </a:ln>
        </p:spPr>
      </p:sp>
      <p:sp>
        <p:nvSpPr>
          <p:cNvPr id="266" name="Shape 264"/>
          <p:cNvSpPr/>
          <p:nvPr/>
        </p:nvSpPr>
        <p:spPr>
          <a:xfrm flipV="1">
            <a:off x="3185859" y="4191325"/>
            <a:ext cx="20092" cy="17567"/>
          </a:xfrm>
          <a:prstGeom prst="line">
            <a:avLst/>
          </a:prstGeom>
          <a:noFill/>
          <a:ln w="19050">
            <a:solidFill>
              <a:srgbClr val="2E8B57"/>
            </a:solidFill>
            <a:prstDash val="solid"/>
          </a:ln>
        </p:spPr>
      </p:sp>
      <p:sp>
        <p:nvSpPr>
          <p:cNvPr id="267" name="Shape 265"/>
          <p:cNvSpPr/>
          <p:nvPr/>
        </p:nvSpPr>
        <p:spPr>
          <a:xfrm flipV="1">
            <a:off x="3205952" y="4178639"/>
            <a:ext cx="20726" cy="12686"/>
          </a:xfrm>
          <a:prstGeom prst="line">
            <a:avLst/>
          </a:prstGeom>
          <a:noFill/>
          <a:ln w="19050">
            <a:solidFill>
              <a:srgbClr val="2E8B57"/>
            </a:solidFill>
            <a:prstDash val="solid"/>
          </a:ln>
        </p:spPr>
      </p:sp>
      <p:sp>
        <p:nvSpPr>
          <p:cNvPr id="268" name="Shape 266"/>
          <p:cNvSpPr/>
          <p:nvPr/>
        </p:nvSpPr>
        <p:spPr>
          <a:xfrm flipV="1">
            <a:off x="3226678" y="4172331"/>
            <a:ext cx="21555" cy="6309"/>
          </a:xfrm>
          <a:prstGeom prst="line">
            <a:avLst/>
          </a:prstGeom>
          <a:noFill/>
          <a:ln w="19050">
            <a:solidFill>
              <a:srgbClr val="2E8B57"/>
            </a:solidFill>
            <a:prstDash val="solid"/>
          </a:ln>
        </p:spPr>
      </p:sp>
      <p:sp>
        <p:nvSpPr>
          <p:cNvPr id="269" name="Shape 267"/>
          <p:cNvSpPr/>
          <p:nvPr/>
        </p:nvSpPr>
        <p:spPr>
          <a:xfrm>
            <a:off x="3248233" y="4172331"/>
            <a:ext cx="22451" cy="594"/>
          </a:xfrm>
          <a:prstGeom prst="line">
            <a:avLst/>
          </a:prstGeom>
          <a:noFill/>
          <a:ln w="19050">
            <a:solidFill>
              <a:srgbClr val="2E8B57"/>
            </a:solidFill>
            <a:prstDash val="solid"/>
          </a:ln>
        </p:spPr>
      </p:sp>
      <p:sp>
        <p:nvSpPr>
          <p:cNvPr id="270" name="Shape 268"/>
          <p:cNvSpPr/>
          <p:nvPr/>
        </p:nvSpPr>
        <p:spPr>
          <a:xfrm>
            <a:off x="3270684" y="4172924"/>
            <a:ext cx="23279" cy="6971"/>
          </a:xfrm>
          <a:prstGeom prst="line">
            <a:avLst/>
          </a:prstGeom>
          <a:noFill/>
          <a:ln w="19050">
            <a:solidFill>
              <a:srgbClr val="2E8B57"/>
            </a:solidFill>
            <a:prstDash val="solid"/>
          </a:ln>
        </p:spPr>
      </p:sp>
      <p:sp>
        <p:nvSpPr>
          <p:cNvPr id="271" name="Shape 269"/>
          <p:cNvSpPr/>
          <p:nvPr/>
        </p:nvSpPr>
        <p:spPr>
          <a:xfrm>
            <a:off x="3293963" y="4179895"/>
            <a:ext cx="23913" cy="11852"/>
          </a:xfrm>
          <a:prstGeom prst="line">
            <a:avLst/>
          </a:prstGeom>
          <a:noFill/>
          <a:ln w="19050">
            <a:solidFill>
              <a:srgbClr val="2E8B57"/>
            </a:solidFill>
            <a:prstDash val="solid"/>
          </a:ln>
        </p:spPr>
      </p:sp>
      <p:sp>
        <p:nvSpPr>
          <p:cNvPr id="272" name="Shape 270"/>
          <p:cNvSpPr/>
          <p:nvPr/>
        </p:nvSpPr>
        <p:spPr>
          <a:xfrm>
            <a:off x="3317876" y="4191747"/>
            <a:ext cx="24256" cy="14493"/>
          </a:xfrm>
          <a:prstGeom prst="line">
            <a:avLst/>
          </a:prstGeom>
          <a:noFill/>
          <a:ln w="19050">
            <a:solidFill>
              <a:srgbClr val="2E8B57"/>
            </a:solidFill>
            <a:prstDash val="solid"/>
          </a:ln>
        </p:spPr>
      </p:sp>
      <p:sp>
        <p:nvSpPr>
          <p:cNvPr id="273" name="Shape 271"/>
          <p:cNvSpPr/>
          <p:nvPr/>
        </p:nvSpPr>
        <p:spPr>
          <a:xfrm>
            <a:off x="3342132" y="4206240"/>
            <a:ext cx="24256" cy="14493"/>
          </a:xfrm>
          <a:prstGeom prst="line">
            <a:avLst/>
          </a:prstGeom>
          <a:noFill/>
          <a:ln w="19050">
            <a:solidFill>
              <a:srgbClr val="2E8B57"/>
            </a:solidFill>
            <a:prstDash val="solid"/>
          </a:ln>
        </p:spPr>
      </p:sp>
      <p:sp>
        <p:nvSpPr>
          <p:cNvPr id="274" name="Shape 272"/>
          <p:cNvSpPr/>
          <p:nvPr/>
        </p:nvSpPr>
        <p:spPr>
          <a:xfrm>
            <a:off x="3366388" y="4220733"/>
            <a:ext cx="23913" cy="11852"/>
          </a:xfrm>
          <a:prstGeom prst="line">
            <a:avLst/>
          </a:prstGeom>
          <a:noFill/>
          <a:ln w="19050">
            <a:solidFill>
              <a:srgbClr val="2E8B57"/>
            </a:solidFill>
            <a:prstDash val="solid"/>
          </a:ln>
        </p:spPr>
      </p:sp>
      <p:sp>
        <p:nvSpPr>
          <p:cNvPr id="275" name="Shape 273"/>
          <p:cNvSpPr/>
          <p:nvPr/>
        </p:nvSpPr>
        <p:spPr>
          <a:xfrm>
            <a:off x="3390301" y="4232585"/>
            <a:ext cx="23279" cy="6971"/>
          </a:xfrm>
          <a:prstGeom prst="line">
            <a:avLst/>
          </a:prstGeom>
          <a:noFill/>
          <a:ln w="19050">
            <a:solidFill>
              <a:srgbClr val="2E8B57"/>
            </a:solidFill>
            <a:prstDash val="solid"/>
          </a:ln>
        </p:spPr>
      </p:sp>
      <p:sp>
        <p:nvSpPr>
          <p:cNvPr id="276" name="Shape 274"/>
          <p:cNvSpPr/>
          <p:nvPr/>
        </p:nvSpPr>
        <p:spPr>
          <a:xfrm>
            <a:off x="3413580" y="4239556"/>
            <a:ext cx="22451" cy="594"/>
          </a:xfrm>
          <a:prstGeom prst="line">
            <a:avLst/>
          </a:prstGeom>
          <a:noFill/>
          <a:ln w="19050">
            <a:solidFill>
              <a:srgbClr val="2E8B57"/>
            </a:solidFill>
            <a:prstDash val="solid"/>
          </a:ln>
        </p:spPr>
      </p:sp>
      <p:sp>
        <p:nvSpPr>
          <p:cNvPr id="277" name="Shape 275"/>
          <p:cNvSpPr/>
          <p:nvPr/>
        </p:nvSpPr>
        <p:spPr>
          <a:xfrm flipV="1">
            <a:off x="3436031" y="4233841"/>
            <a:ext cx="21555" cy="6309"/>
          </a:xfrm>
          <a:prstGeom prst="line">
            <a:avLst/>
          </a:prstGeom>
          <a:noFill/>
          <a:ln w="19050">
            <a:solidFill>
              <a:srgbClr val="2E8B57"/>
            </a:solidFill>
            <a:prstDash val="solid"/>
          </a:ln>
        </p:spPr>
      </p:sp>
      <p:sp>
        <p:nvSpPr>
          <p:cNvPr id="278" name="Shape 276"/>
          <p:cNvSpPr/>
          <p:nvPr/>
        </p:nvSpPr>
        <p:spPr>
          <a:xfrm flipV="1">
            <a:off x="3457586" y="4221155"/>
            <a:ext cx="20726" cy="12686"/>
          </a:xfrm>
          <a:prstGeom prst="line">
            <a:avLst/>
          </a:prstGeom>
          <a:noFill/>
          <a:ln w="19050">
            <a:solidFill>
              <a:srgbClr val="2E8B57"/>
            </a:solidFill>
            <a:prstDash val="solid"/>
          </a:ln>
        </p:spPr>
      </p:sp>
      <p:sp>
        <p:nvSpPr>
          <p:cNvPr id="279" name="Shape 277"/>
          <p:cNvSpPr/>
          <p:nvPr/>
        </p:nvSpPr>
        <p:spPr>
          <a:xfrm flipV="1">
            <a:off x="3478312" y="4203588"/>
            <a:ext cx="20092" cy="17567"/>
          </a:xfrm>
          <a:prstGeom prst="line">
            <a:avLst/>
          </a:prstGeom>
          <a:noFill/>
          <a:ln w="19050">
            <a:solidFill>
              <a:srgbClr val="2E8B57"/>
            </a:solidFill>
            <a:prstDash val="solid"/>
          </a:ln>
        </p:spPr>
      </p:sp>
      <p:sp>
        <p:nvSpPr>
          <p:cNvPr id="280" name="Shape 278"/>
          <p:cNvSpPr/>
          <p:nvPr/>
        </p:nvSpPr>
        <p:spPr>
          <a:xfrm flipV="1">
            <a:off x="3498405" y="4183380"/>
            <a:ext cx="19749" cy="20208"/>
          </a:xfrm>
          <a:prstGeom prst="line">
            <a:avLst/>
          </a:prstGeom>
          <a:noFill/>
          <a:ln w="19050">
            <a:solidFill>
              <a:srgbClr val="2E8B57"/>
            </a:solidFill>
            <a:prstDash val="solid"/>
          </a:ln>
        </p:spPr>
      </p:sp>
      <p:sp>
        <p:nvSpPr>
          <p:cNvPr id="281" name="Shape 279"/>
          <p:cNvSpPr/>
          <p:nvPr/>
        </p:nvSpPr>
        <p:spPr>
          <a:xfrm flipV="1">
            <a:off x="3518154" y="4163172"/>
            <a:ext cx="19749" cy="20208"/>
          </a:xfrm>
          <a:prstGeom prst="line">
            <a:avLst/>
          </a:prstGeom>
          <a:noFill/>
          <a:ln w="19050">
            <a:solidFill>
              <a:srgbClr val="2E8B57"/>
            </a:solidFill>
            <a:prstDash val="solid"/>
          </a:ln>
        </p:spPr>
      </p:sp>
      <p:sp>
        <p:nvSpPr>
          <p:cNvPr id="282" name="Shape 280"/>
          <p:cNvSpPr/>
          <p:nvPr/>
        </p:nvSpPr>
        <p:spPr>
          <a:xfrm flipV="1">
            <a:off x="3537903" y="4145605"/>
            <a:ext cx="20092" cy="17567"/>
          </a:xfrm>
          <a:prstGeom prst="line">
            <a:avLst/>
          </a:prstGeom>
          <a:noFill/>
          <a:ln w="19050">
            <a:solidFill>
              <a:srgbClr val="2E8B57"/>
            </a:solidFill>
            <a:prstDash val="solid"/>
          </a:ln>
        </p:spPr>
      </p:sp>
      <p:sp>
        <p:nvSpPr>
          <p:cNvPr id="283" name="Shape 281"/>
          <p:cNvSpPr/>
          <p:nvPr/>
        </p:nvSpPr>
        <p:spPr>
          <a:xfrm flipV="1">
            <a:off x="3557996" y="4132919"/>
            <a:ext cx="20726" cy="12686"/>
          </a:xfrm>
          <a:prstGeom prst="line">
            <a:avLst/>
          </a:prstGeom>
          <a:noFill/>
          <a:ln w="19050">
            <a:solidFill>
              <a:srgbClr val="2E8B57"/>
            </a:solidFill>
            <a:prstDash val="solid"/>
          </a:ln>
        </p:spPr>
      </p:sp>
      <p:sp>
        <p:nvSpPr>
          <p:cNvPr id="284" name="Shape 282"/>
          <p:cNvSpPr/>
          <p:nvPr/>
        </p:nvSpPr>
        <p:spPr>
          <a:xfrm flipV="1">
            <a:off x="3578722" y="4126611"/>
            <a:ext cx="21555" cy="6309"/>
          </a:xfrm>
          <a:prstGeom prst="line">
            <a:avLst/>
          </a:prstGeom>
          <a:noFill/>
          <a:ln w="19050">
            <a:solidFill>
              <a:srgbClr val="2E8B57"/>
            </a:solidFill>
            <a:prstDash val="solid"/>
          </a:ln>
        </p:spPr>
      </p:sp>
      <p:sp>
        <p:nvSpPr>
          <p:cNvPr id="285" name="Shape 283"/>
          <p:cNvSpPr/>
          <p:nvPr/>
        </p:nvSpPr>
        <p:spPr>
          <a:xfrm>
            <a:off x="3600277" y="4126611"/>
            <a:ext cx="22451" cy="594"/>
          </a:xfrm>
          <a:prstGeom prst="line">
            <a:avLst/>
          </a:prstGeom>
          <a:noFill/>
          <a:ln w="19050">
            <a:solidFill>
              <a:srgbClr val="2E8B57"/>
            </a:solidFill>
            <a:prstDash val="solid"/>
          </a:ln>
        </p:spPr>
      </p:sp>
      <p:sp>
        <p:nvSpPr>
          <p:cNvPr id="286" name="Shape 284"/>
          <p:cNvSpPr/>
          <p:nvPr/>
        </p:nvSpPr>
        <p:spPr>
          <a:xfrm>
            <a:off x="3622728" y="4127204"/>
            <a:ext cx="23279" cy="6971"/>
          </a:xfrm>
          <a:prstGeom prst="line">
            <a:avLst/>
          </a:prstGeom>
          <a:noFill/>
          <a:ln w="19050">
            <a:solidFill>
              <a:srgbClr val="2E8B57"/>
            </a:solidFill>
            <a:prstDash val="solid"/>
          </a:ln>
        </p:spPr>
      </p:sp>
      <p:sp>
        <p:nvSpPr>
          <p:cNvPr id="287" name="Shape 285"/>
          <p:cNvSpPr/>
          <p:nvPr/>
        </p:nvSpPr>
        <p:spPr>
          <a:xfrm>
            <a:off x="3646007" y="4134175"/>
            <a:ext cx="23913" cy="11852"/>
          </a:xfrm>
          <a:prstGeom prst="line">
            <a:avLst/>
          </a:prstGeom>
          <a:noFill/>
          <a:ln w="19050">
            <a:solidFill>
              <a:srgbClr val="2E8B57"/>
            </a:solidFill>
            <a:prstDash val="solid"/>
          </a:ln>
        </p:spPr>
      </p:sp>
      <p:sp>
        <p:nvSpPr>
          <p:cNvPr id="288" name="Shape 286"/>
          <p:cNvSpPr/>
          <p:nvPr/>
        </p:nvSpPr>
        <p:spPr>
          <a:xfrm>
            <a:off x="3669920" y="4146027"/>
            <a:ext cx="24256" cy="14493"/>
          </a:xfrm>
          <a:prstGeom prst="line">
            <a:avLst/>
          </a:prstGeom>
          <a:noFill/>
          <a:ln w="19050">
            <a:solidFill>
              <a:srgbClr val="2E8B57"/>
            </a:solidFill>
            <a:prstDash val="solid"/>
          </a:ln>
        </p:spPr>
      </p:sp>
      <p:sp>
        <p:nvSpPr>
          <p:cNvPr id="289" name="Shape 287"/>
          <p:cNvSpPr/>
          <p:nvPr/>
        </p:nvSpPr>
        <p:spPr>
          <a:xfrm>
            <a:off x="3694176" y="4160520"/>
            <a:ext cx="24256" cy="14493"/>
          </a:xfrm>
          <a:prstGeom prst="line">
            <a:avLst/>
          </a:prstGeom>
          <a:noFill/>
          <a:ln w="19050">
            <a:solidFill>
              <a:srgbClr val="2E8B57"/>
            </a:solidFill>
            <a:prstDash val="solid"/>
          </a:ln>
        </p:spPr>
      </p:sp>
      <p:sp>
        <p:nvSpPr>
          <p:cNvPr id="290" name="Shape 288"/>
          <p:cNvSpPr/>
          <p:nvPr/>
        </p:nvSpPr>
        <p:spPr>
          <a:xfrm>
            <a:off x="3718432" y="4175013"/>
            <a:ext cx="23913" cy="11852"/>
          </a:xfrm>
          <a:prstGeom prst="line">
            <a:avLst/>
          </a:prstGeom>
          <a:noFill/>
          <a:ln w="19050">
            <a:solidFill>
              <a:srgbClr val="2E8B57"/>
            </a:solidFill>
            <a:prstDash val="solid"/>
          </a:ln>
        </p:spPr>
      </p:sp>
      <p:sp>
        <p:nvSpPr>
          <p:cNvPr id="291" name="Shape 289"/>
          <p:cNvSpPr/>
          <p:nvPr/>
        </p:nvSpPr>
        <p:spPr>
          <a:xfrm>
            <a:off x="3742345" y="4186865"/>
            <a:ext cx="23279" cy="6971"/>
          </a:xfrm>
          <a:prstGeom prst="line">
            <a:avLst/>
          </a:prstGeom>
          <a:noFill/>
          <a:ln w="19050">
            <a:solidFill>
              <a:srgbClr val="2E8B57"/>
            </a:solidFill>
            <a:prstDash val="solid"/>
          </a:ln>
        </p:spPr>
      </p:sp>
      <p:sp>
        <p:nvSpPr>
          <p:cNvPr id="292" name="Shape 290"/>
          <p:cNvSpPr/>
          <p:nvPr/>
        </p:nvSpPr>
        <p:spPr>
          <a:xfrm>
            <a:off x="3765624" y="4193836"/>
            <a:ext cx="22451" cy="594"/>
          </a:xfrm>
          <a:prstGeom prst="line">
            <a:avLst/>
          </a:prstGeom>
          <a:noFill/>
          <a:ln w="19050">
            <a:solidFill>
              <a:srgbClr val="2E8B57"/>
            </a:solidFill>
            <a:prstDash val="solid"/>
          </a:ln>
        </p:spPr>
      </p:sp>
      <p:sp>
        <p:nvSpPr>
          <p:cNvPr id="293" name="Shape 291"/>
          <p:cNvSpPr/>
          <p:nvPr/>
        </p:nvSpPr>
        <p:spPr>
          <a:xfrm flipV="1">
            <a:off x="3788075" y="4188121"/>
            <a:ext cx="21555" cy="6309"/>
          </a:xfrm>
          <a:prstGeom prst="line">
            <a:avLst/>
          </a:prstGeom>
          <a:noFill/>
          <a:ln w="19050">
            <a:solidFill>
              <a:srgbClr val="2E8B57"/>
            </a:solidFill>
            <a:prstDash val="solid"/>
          </a:ln>
        </p:spPr>
      </p:sp>
      <p:sp>
        <p:nvSpPr>
          <p:cNvPr id="294" name="Shape 292"/>
          <p:cNvSpPr/>
          <p:nvPr/>
        </p:nvSpPr>
        <p:spPr>
          <a:xfrm flipV="1">
            <a:off x="3809630" y="4175435"/>
            <a:ext cx="20726" cy="12686"/>
          </a:xfrm>
          <a:prstGeom prst="line">
            <a:avLst/>
          </a:prstGeom>
          <a:noFill/>
          <a:ln w="19050">
            <a:solidFill>
              <a:srgbClr val="2E8B57"/>
            </a:solidFill>
            <a:prstDash val="solid"/>
          </a:ln>
        </p:spPr>
      </p:sp>
      <p:sp>
        <p:nvSpPr>
          <p:cNvPr id="295" name="Shape 293"/>
          <p:cNvSpPr/>
          <p:nvPr/>
        </p:nvSpPr>
        <p:spPr>
          <a:xfrm flipV="1">
            <a:off x="3830356" y="4157868"/>
            <a:ext cx="20092" cy="17567"/>
          </a:xfrm>
          <a:prstGeom prst="line">
            <a:avLst/>
          </a:prstGeom>
          <a:noFill/>
          <a:ln w="19050">
            <a:solidFill>
              <a:srgbClr val="2E8B57"/>
            </a:solidFill>
            <a:prstDash val="solid"/>
          </a:ln>
        </p:spPr>
      </p:sp>
      <p:sp>
        <p:nvSpPr>
          <p:cNvPr id="296" name="Shape 294"/>
          <p:cNvSpPr/>
          <p:nvPr/>
        </p:nvSpPr>
        <p:spPr>
          <a:xfrm flipV="1">
            <a:off x="3850449" y="4137660"/>
            <a:ext cx="19749" cy="20208"/>
          </a:xfrm>
          <a:prstGeom prst="line">
            <a:avLst/>
          </a:prstGeom>
          <a:noFill/>
          <a:ln w="19050">
            <a:solidFill>
              <a:srgbClr val="2E8B57"/>
            </a:solidFill>
            <a:prstDash val="solid"/>
          </a:ln>
        </p:spPr>
      </p:sp>
      <p:sp>
        <p:nvSpPr>
          <p:cNvPr id="297" name="Shape 295"/>
          <p:cNvSpPr/>
          <p:nvPr/>
        </p:nvSpPr>
        <p:spPr>
          <a:xfrm flipV="1">
            <a:off x="3870198" y="4117452"/>
            <a:ext cx="19749" cy="20208"/>
          </a:xfrm>
          <a:prstGeom prst="line">
            <a:avLst/>
          </a:prstGeom>
          <a:noFill/>
          <a:ln w="19050">
            <a:solidFill>
              <a:srgbClr val="2E8B57"/>
            </a:solidFill>
            <a:prstDash val="solid"/>
          </a:ln>
        </p:spPr>
      </p:sp>
      <p:sp>
        <p:nvSpPr>
          <p:cNvPr id="298" name="Shape 296"/>
          <p:cNvSpPr/>
          <p:nvPr/>
        </p:nvSpPr>
        <p:spPr>
          <a:xfrm flipV="1">
            <a:off x="3889947" y="4099885"/>
            <a:ext cx="20092" cy="17567"/>
          </a:xfrm>
          <a:prstGeom prst="line">
            <a:avLst/>
          </a:prstGeom>
          <a:noFill/>
          <a:ln w="19050">
            <a:solidFill>
              <a:srgbClr val="2E8B57"/>
            </a:solidFill>
            <a:prstDash val="solid"/>
          </a:ln>
        </p:spPr>
      </p:sp>
      <p:sp>
        <p:nvSpPr>
          <p:cNvPr id="299" name="Shape 297"/>
          <p:cNvSpPr/>
          <p:nvPr/>
        </p:nvSpPr>
        <p:spPr>
          <a:xfrm flipV="1">
            <a:off x="3910040" y="4087199"/>
            <a:ext cx="20726" cy="12686"/>
          </a:xfrm>
          <a:prstGeom prst="line">
            <a:avLst/>
          </a:prstGeom>
          <a:noFill/>
          <a:ln w="19050">
            <a:solidFill>
              <a:srgbClr val="2E8B57"/>
            </a:solidFill>
            <a:prstDash val="solid"/>
          </a:ln>
        </p:spPr>
      </p:sp>
      <p:sp>
        <p:nvSpPr>
          <p:cNvPr id="300" name="Shape 298"/>
          <p:cNvSpPr/>
          <p:nvPr/>
        </p:nvSpPr>
        <p:spPr>
          <a:xfrm flipV="1">
            <a:off x="3930766" y="4080891"/>
            <a:ext cx="21555" cy="6309"/>
          </a:xfrm>
          <a:prstGeom prst="line">
            <a:avLst/>
          </a:prstGeom>
          <a:noFill/>
          <a:ln w="19050">
            <a:solidFill>
              <a:srgbClr val="2E8B57"/>
            </a:solidFill>
            <a:prstDash val="solid"/>
          </a:ln>
        </p:spPr>
      </p:sp>
      <p:sp>
        <p:nvSpPr>
          <p:cNvPr id="301" name="Shape 299"/>
          <p:cNvSpPr/>
          <p:nvPr/>
        </p:nvSpPr>
        <p:spPr>
          <a:xfrm>
            <a:off x="3952321" y="4080891"/>
            <a:ext cx="22451" cy="594"/>
          </a:xfrm>
          <a:prstGeom prst="line">
            <a:avLst/>
          </a:prstGeom>
          <a:noFill/>
          <a:ln w="19050">
            <a:solidFill>
              <a:srgbClr val="2E8B57"/>
            </a:solidFill>
            <a:prstDash val="solid"/>
          </a:ln>
        </p:spPr>
      </p:sp>
      <p:sp>
        <p:nvSpPr>
          <p:cNvPr id="302" name="Shape 300"/>
          <p:cNvSpPr/>
          <p:nvPr/>
        </p:nvSpPr>
        <p:spPr>
          <a:xfrm>
            <a:off x="3974772" y="4081484"/>
            <a:ext cx="23279" cy="6971"/>
          </a:xfrm>
          <a:prstGeom prst="line">
            <a:avLst/>
          </a:prstGeom>
          <a:noFill/>
          <a:ln w="19050">
            <a:solidFill>
              <a:srgbClr val="2E8B57"/>
            </a:solidFill>
            <a:prstDash val="solid"/>
          </a:ln>
        </p:spPr>
      </p:sp>
      <p:sp>
        <p:nvSpPr>
          <p:cNvPr id="303" name="Shape 301"/>
          <p:cNvSpPr/>
          <p:nvPr/>
        </p:nvSpPr>
        <p:spPr>
          <a:xfrm>
            <a:off x="3998051" y="4088455"/>
            <a:ext cx="23913" cy="11852"/>
          </a:xfrm>
          <a:prstGeom prst="line">
            <a:avLst/>
          </a:prstGeom>
          <a:noFill/>
          <a:ln w="19050">
            <a:solidFill>
              <a:srgbClr val="2E8B57"/>
            </a:solidFill>
            <a:prstDash val="solid"/>
          </a:ln>
        </p:spPr>
      </p:sp>
      <p:sp>
        <p:nvSpPr>
          <p:cNvPr id="304" name="Shape 302"/>
          <p:cNvSpPr/>
          <p:nvPr/>
        </p:nvSpPr>
        <p:spPr>
          <a:xfrm>
            <a:off x="4021964" y="4100307"/>
            <a:ext cx="24256" cy="14493"/>
          </a:xfrm>
          <a:prstGeom prst="line">
            <a:avLst/>
          </a:prstGeom>
          <a:noFill/>
          <a:ln w="19050">
            <a:solidFill>
              <a:srgbClr val="2E8B57"/>
            </a:solidFill>
            <a:prstDash val="solid"/>
          </a:ln>
        </p:spPr>
      </p:sp>
      <p:sp>
        <p:nvSpPr>
          <p:cNvPr id="305" name="Shape 303"/>
          <p:cNvSpPr/>
          <p:nvPr/>
        </p:nvSpPr>
        <p:spPr>
          <a:xfrm>
            <a:off x="4046220" y="4114800"/>
            <a:ext cx="24256" cy="14493"/>
          </a:xfrm>
          <a:prstGeom prst="line">
            <a:avLst/>
          </a:prstGeom>
          <a:noFill/>
          <a:ln w="19050">
            <a:solidFill>
              <a:srgbClr val="2E8B57"/>
            </a:solidFill>
            <a:prstDash val="solid"/>
          </a:ln>
        </p:spPr>
      </p:sp>
      <p:sp>
        <p:nvSpPr>
          <p:cNvPr id="306" name="Shape 304"/>
          <p:cNvSpPr/>
          <p:nvPr/>
        </p:nvSpPr>
        <p:spPr>
          <a:xfrm>
            <a:off x="4070476" y="4129293"/>
            <a:ext cx="23913" cy="11852"/>
          </a:xfrm>
          <a:prstGeom prst="line">
            <a:avLst/>
          </a:prstGeom>
          <a:noFill/>
          <a:ln w="19050">
            <a:solidFill>
              <a:srgbClr val="2E8B57"/>
            </a:solidFill>
            <a:prstDash val="solid"/>
          </a:ln>
        </p:spPr>
      </p:sp>
      <p:sp>
        <p:nvSpPr>
          <p:cNvPr id="307" name="Shape 305"/>
          <p:cNvSpPr/>
          <p:nvPr/>
        </p:nvSpPr>
        <p:spPr>
          <a:xfrm>
            <a:off x="4094389" y="4141145"/>
            <a:ext cx="23279" cy="6971"/>
          </a:xfrm>
          <a:prstGeom prst="line">
            <a:avLst/>
          </a:prstGeom>
          <a:noFill/>
          <a:ln w="19050">
            <a:solidFill>
              <a:srgbClr val="2E8B57"/>
            </a:solidFill>
            <a:prstDash val="solid"/>
          </a:ln>
        </p:spPr>
      </p:sp>
      <p:sp>
        <p:nvSpPr>
          <p:cNvPr id="308" name="Shape 306"/>
          <p:cNvSpPr/>
          <p:nvPr/>
        </p:nvSpPr>
        <p:spPr>
          <a:xfrm>
            <a:off x="4117668" y="4148116"/>
            <a:ext cx="22451" cy="594"/>
          </a:xfrm>
          <a:prstGeom prst="line">
            <a:avLst/>
          </a:prstGeom>
          <a:noFill/>
          <a:ln w="19050">
            <a:solidFill>
              <a:srgbClr val="2E8B57"/>
            </a:solidFill>
            <a:prstDash val="solid"/>
          </a:ln>
        </p:spPr>
      </p:sp>
      <p:sp>
        <p:nvSpPr>
          <p:cNvPr id="309" name="Shape 307"/>
          <p:cNvSpPr/>
          <p:nvPr/>
        </p:nvSpPr>
        <p:spPr>
          <a:xfrm flipV="1">
            <a:off x="4140119" y="4142401"/>
            <a:ext cx="21555" cy="6309"/>
          </a:xfrm>
          <a:prstGeom prst="line">
            <a:avLst/>
          </a:prstGeom>
          <a:noFill/>
          <a:ln w="19050">
            <a:solidFill>
              <a:srgbClr val="2E8B57"/>
            </a:solidFill>
            <a:prstDash val="solid"/>
          </a:ln>
        </p:spPr>
      </p:sp>
      <p:sp>
        <p:nvSpPr>
          <p:cNvPr id="310" name="Shape 308"/>
          <p:cNvSpPr/>
          <p:nvPr/>
        </p:nvSpPr>
        <p:spPr>
          <a:xfrm flipV="1">
            <a:off x="4161674" y="4129715"/>
            <a:ext cx="20726" cy="12686"/>
          </a:xfrm>
          <a:prstGeom prst="line">
            <a:avLst/>
          </a:prstGeom>
          <a:noFill/>
          <a:ln w="19050">
            <a:solidFill>
              <a:srgbClr val="2E8B57"/>
            </a:solidFill>
            <a:prstDash val="solid"/>
          </a:ln>
        </p:spPr>
      </p:sp>
      <p:sp>
        <p:nvSpPr>
          <p:cNvPr id="311" name="Shape 309"/>
          <p:cNvSpPr/>
          <p:nvPr/>
        </p:nvSpPr>
        <p:spPr>
          <a:xfrm flipV="1">
            <a:off x="4182400" y="4112148"/>
            <a:ext cx="20092" cy="17567"/>
          </a:xfrm>
          <a:prstGeom prst="line">
            <a:avLst/>
          </a:prstGeom>
          <a:noFill/>
          <a:ln w="19050">
            <a:solidFill>
              <a:srgbClr val="2E8B57"/>
            </a:solidFill>
            <a:prstDash val="solid"/>
          </a:ln>
        </p:spPr>
      </p:sp>
      <p:sp>
        <p:nvSpPr>
          <p:cNvPr id="312" name="Shape 310"/>
          <p:cNvSpPr/>
          <p:nvPr/>
        </p:nvSpPr>
        <p:spPr>
          <a:xfrm flipV="1">
            <a:off x="4202493" y="4091940"/>
            <a:ext cx="19749" cy="20208"/>
          </a:xfrm>
          <a:prstGeom prst="line">
            <a:avLst/>
          </a:prstGeom>
          <a:noFill/>
          <a:ln w="19050">
            <a:solidFill>
              <a:srgbClr val="2E8B57"/>
            </a:solidFill>
            <a:prstDash val="solid"/>
          </a:ln>
        </p:spPr>
      </p:sp>
      <p:sp>
        <p:nvSpPr>
          <p:cNvPr id="313" name="Shape 311"/>
          <p:cNvSpPr/>
          <p:nvPr/>
        </p:nvSpPr>
        <p:spPr>
          <a:xfrm flipV="1">
            <a:off x="4222242" y="4071732"/>
            <a:ext cx="19749" cy="20208"/>
          </a:xfrm>
          <a:prstGeom prst="line">
            <a:avLst/>
          </a:prstGeom>
          <a:noFill/>
          <a:ln w="19050">
            <a:solidFill>
              <a:srgbClr val="2E8B57"/>
            </a:solidFill>
            <a:prstDash val="solid"/>
          </a:ln>
        </p:spPr>
      </p:sp>
      <p:sp>
        <p:nvSpPr>
          <p:cNvPr id="314" name="Shape 312"/>
          <p:cNvSpPr/>
          <p:nvPr/>
        </p:nvSpPr>
        <p:spPr>
          <a:xfrm flipV="1">
            <a:off x="4241991" y="4054165"/>
            <a:ext cx="20092" cy="17567"/>
          </a:xfrm>
          <a:prstGeom prst="line">
            <a:avLst/>
          </a:prstGeom>
          <a:noFill/>
          <a:ln w="19050">
            <a:solidFill>
              <a:srgbClr val="2E8B57"/>
            </a:solidFill>
            <a:prstDash val="solid"/>
          </a:ln>
        </p:spPr>
      </p:sp>
      <p:sp>
        <p:nvSpPr>
          <p:cNvPr id="315" name="Shape 313"/>
          <p:cNvSpPr/>
          <p:nvPr/>
        </p:nvSpPr>
        <p:spPr>
          <a:xfrm flipV="1">
            <a:off x="4262084" y="4041479"/>
            <a:ext cx="20726" cy="12686"/>
          </a:xfrm>
          <a:prstGeom prst="line">
            <a:avLst/>
          </a:prstGeom>
          <a:noFill/>
          <a:ln w="19050">
            <a:solidFill>
              <a:srgbClr val="2E8B57"/>
            </a:solidFill>
            <a:prstDash val="solid"/>
          </a:ln>
        </p:spPr>
      </p:sp>
      <p:sp>
        <p:nvSpPr>
          <p:cNvPr id="316" name="Shape 314"/>
          <p:cNvSpPr/>
          <p:nvPr/>
        </p:nvSpPr>
        <p:spPr>
          <a:xfrm flipV="1">
            <a:off x="4282810" y="4035171"/>
            <a:ext cx="21555" cy="6309"/>
          </a:xfrm>
          <a:prstGeom prst="line">
            <a:avLst/>
          </a:prstGeom>
          <a:noFill/>
          <a:ln w="19050">
            <a:solidFill>
              <a:srgbClr val="2E8B57"/>
            </a:solidFill>
            <a:prstDash val="solid"/>
          </a:ln>
        </p:spPr>
      </p:sp>
      <p:sp>
        <p:nvSpPr>
          <p:cNvPr id="317" name="Shape 315"/>
          <p:cNvSpPr/>
          <p:nvPr/>
        </p:nvSpPr>
        <p:spPr>
          <a:xfrm>
            <a:off x="4304365" y="4035171"/>
            <a:ext cx="22451" cy="594"/>
          </a:xfrm>
          <a:prstGeom prst="line">
            <a:avLst/>
          </a:prstGeom>
          <a:noFill/>
          <a:ln w="19050">
            <a:solidFill>
              <a:srgbClr val="2E8B57"/>
            </a:solidFill>
            <a:prstDash val="solid"/>
          </a:ln>
        </p:spPr>
      </p:sp>
      <p:sp>
        <p:nvSpPr>
          <p:cNvPr id="318" name="Shape 316"/>
          <p:cNvSpPr/>
          <p:nvPr/>
        </p:nvSpPr>
        <p:spPr>
          <a:xfrm>
            <a:off x="4326816" y="4035764"/>
            <a:ext cx="23279" cy="6971"/>
          </a:xfrm>
          <a:prstGeom prst="line">
            <a:avLst/>
          </a:prstGeom>
          <a:noFill/>
          <a:ln w="19050">
            <a:solidFill>
              <a:srgbClr val="2E8B57"/>
            </a:solidFill>
            <a:prstDash val="solid"/>
          </a:ln>
        </p:spPr>
      </p:sp>
      <p:sp>
        <p:nvSpPr>
          <p:cNvPr id="319" name="Shape 317"/>
          <p:cNvSpPr/>
          <p:nvPr/>
        </p:nvSpPr>
        <p:spPr>
          <a:xfrm>
            <a:off x="4350095" y="4042735"/>
            <a:ext cx="23913" cy="11852"/>
          </a:xfrm>
          <a:prstGeom prst="line">
            <a:avLst/>
          </a:prstGeom>
          <a:noFill/>
          <a:ln w="19050">
            <a:solidFill>
              <a:srgbClr val="2E8B57"/>
            </a:solidFill>
            <a:prstDash val="solid"/>
          </a:ln>
        </p:spPr>
      </p:sp>
      <p:sp>
        <p:nvSpPr>
          <p:cNvPr id="320" name="Shape 318"/>
          <p:cNvSpPr/>
          <p:nvPr/>
        </p:nvSpPr>
        <p:spPr>
          <a:xfrm>
            <a:off x="4374008" y="4054587"/>
            <a:ext cx="24256" cy="14493"/>
          </a:xfrm>
          <a:prstGeom prst="line">
            <a:avLst/>
          </a:prstGeom>
          <a:noFill/>
          <a:ln w="19050">
            <a:solidFill>
              <a:srgbClr val="2E8B57"/>
            </a:solidFill>
            <a:prstDash val="solid"/>
          </a:ln>
        </p:spPr>
      </p:sp>
      <p:sp>
        <p:nvSpPr>
          <p:cNvPr id="321" name="Shape 319"/>
          <p:cNvSpPr/>
          <p:nvPr/>
        </p:nvSpPr>
        <p:spPr>
          <a:xfrm>
            <a:off x="4398264" y="4069080"/>
            <a:ext cx="24256" cy="14493"/>
          </a:xfrm>
          <a:prstGeom prst="line">
            <a:avLst/>
          </a:prstGeom>
          <a:noFill/>
          <a:ln w="19050">
            <a:solidFill>
              <a:srgbClr val="2E8B57"/>
            </a:solidFill>
            <a:prstDash val="solid"/>
          </a:ln>
        </p:spPr>
      </p:sp>
      <p:sp>
        <p:nvSpPr>
          <p:cNvPr id="322" name="Shape 320"/>
          <p:cNvSpPr/>
          <p:nvPr/>
        </p:nvSpPr>
        <p:spPr>
          <a:xfrm>
            <a:off x="4422520" y="4083573"/>
            <a:ext cx="23913" cy="11852"/>
          </a:xfrm>
          <a:prstGeom prst="line">
            <a:avLst/>
          </a:prstGeom>
          <a:noFill/>
          <a:ln w="19050">
            <a:solidFill>
              <a:srgbClr val="2E8B57"/>
            </a:solidFill>
            <a:prstDash val="solid"/>
          </a:ln>
        </p:spPr>
      </p:sp>
      <p:sp>
        <p:nvSpPr>
          <p:cNvPr id="323" name="Shape 321"/>
          <p:cNvSpPr/>
          <p:nvPr/>
        </p:nvSpPr>
        <p:spPr>
          <a:xfrm>
            <a:off x="4446433" y="4095425"/>
            <a:ext cx="23279" cy="6971"/>
          </a:xfrm>
          <a:prstGeom prst="line">
            <a:avLst/>
          </a:prstGeom>
          <a:noFill/>
          <a:ln w="19050">
            <a:solidFill>
              <a:srgbClr val="2E8B57"/>
            </a:solidFill>
            <a:prstDash val="solid"/>
          </a:ln>
        </p:spPr>
      </p:sp>
      <p:sp>
        <p:nvSpPr>
          <p:cNvPr id="324" name="Shape 322"/>
          <p:cNvSpPr/>
          <p:nvPr/>
        </p:nvSpPr>
        <p:spPr>
          <a:xfrm>
            <a:off x="4469712" y="4102396"/>
            <a:ext cx="22451" cy="594"/>
          </a:xfrm>
          <a:prstGeom prst="line">
            <a:avLst/>
          </a:prstGeom>
          <a:noFill/>
          <a:ln w="19050">
            <a:solidFill>
              <a:srgbClr val="2E8B57"/>
            </a:solidFill>
            <a:prstDash val="solid"/>
          </a:ln>
        </p:spPr>
      </p:sp>
      <p:sp>
        <p:nvSpPr>
          <p:cNvPr id="325" name="Shape 323"/>
          <p:cNvSpPr/>
          <p:nvPr/>
        </p:nvSpPr>
        <p:spPr>
          <a:xfrm flipV="1">
            <a:off x="4492163" y="4096681"/>
            <a:ext cx="21555" cy="6309"/>
          </a:xfrm>
          <a:prstGeom prst="line">
            <a:avLst/>
          </a:prstGeom>
          <a:noFill/>
          <a:ln w="19050">
            <a:solidFill>
              <a:srgbClr val="2E8B57"/>
            </a:solidFill>
            <a:prstDash val="solid"/>
          </a:ln>
        </p:spPr>
      </p:sp>
      <p:sp>
        <p:nvSpPr>
          <p:cNvPr id="326" name="Shape 324"/>
          <p:cNvSpPr/>
          <p:nvPr/>
        </p:nvSpPr>
        <p:spPr>
          <a:xfrm flipV="1">
            <a:off x="4513718" y="4083995"/>
            <a:ext cx="20726" cy="12686"/>
          </a:xfrm>
          <a:prstGeom prst="line">
            <a:avLst/>
          </a:prstGeom>
          <a:noFill/>
          <a:ln w="19050">
            <a:solidFill>
              <a:srgbClr val="2E8B57"/>
            </a:solidFill>
            <a:prstDash val="solid"/>
          </a:ln>
        </p:spPr>
      </p:sp>
      <p:sp>
        <p:nvSpPr>
          <p:cNvPr id="327" name="Shape 325"/>
          <p:cNvSpPr/>
          <p:nvPr/>
        </p:nvSpPr>
        <p:spPr>
          <a:xfrm flipV="1">
            <a:off x="4534444" y="4066428"/>
            <a:ext cx="20092" cy="17567"/>
          </a:xfrm>
          <a:prstGeom prst="line">
            <a:avLst/>
          </a:prstGeom>
          <a:noFill/>
          <a:ln w="19050">
            <a:solidFill>
              <a:srgbClr val="2E8B57"/>
            </a:solidFill>
            <a:prstDash val="solid"/>
          </a:ln>
        </p:spPr>
      </p:sp>
      <p:sp>
        <p:nvSpPr>
          <p:cNvPr id="328" name="Shape 326"/>
          <p:cNvSpPr/>
          <p:nvPr/>
        </p:nvSpPr>
        <p:spPr>
          <a:xfrm flipV="1">
            <a:off x="4554537" y="4046220"/>
            <a:ext cx="19749" cy="20208"/>
          </a:xfrm>
          <a:prstGeom prst="line">
            <a:avLst/>
          </a:prstGeom>
          <a:noFill/>
          <a:ln w="19050">
            <a:solidFill>
              <a:srgbClr val="2E8B57"/>
            </a:solidFill>
            <a:prstDash val="solid"/>
          </a:ln>
        </p:spPr>
      </p:sp>
      <p:sp>
        <p:nvSpPr>
          <p:cNvPr id="329" name="Shape 327"/>
          <p:cNvSpPr/>
          <p:nvPr/>
        </p:nvSpPr>
        <p:spPr>
          <a:xfrm flipV="1">
            <a:off x="4574286" y="4026012"/>
            <a:ext cx="19749" cy="20208"/>
          </a:xfrm>
          <a:prstGeom prst="line">
            <a:avLst/>
          </a:prstGeom>
          <a:noFill/>
          <a:ln w="19050">
            <a:solidFill>
              <a:srgbClr val="2E8B57"/>
            </a:solidFill>
            <a:prstDash val="solid"/>
          </a:ln>
        </p:spPr>
      </p:sp>
      <p:sp>
        <p:nvSpPr>
          <p:cNvPr id="330" name="Shape 328"/>
          <p:cNvSpPr/>
          <p:nvPr/>
        </p:nvSpPr>
        <p:spPr>
          <a:xfrm flipV="1">
            <a:off x="4594035" y="4008445"/>
            <a:ext cx="20092" cy="17567"/>
          </a:xfrm>
          <a:prstGeom prst="line">
            <a:avLst/>
          </a:prstGeom>
          <a:noFill/>
          <a:ln w="19050">
            <a:solidFill>
              <a:srgbClr val="2E8B57"/>
            </a:solidFill>
            <a:prstDash val="solid"/>
          </a:ln>
        </p:spPr>
      </p:sp>
      <p:sp>
        <p:nvSpPr>
          <p:cNvPr id="331" name="Shape 329"/>
          <p:cNvSpPr/>
          <p:nvPr/>
        </p:nvSpPr>
        <p:spPr>
          <a:xfrm flipV="1">
            <a:off x="4614128" y="3995759"/>
            <a:ext cx="20726" cy="12686"/>
          </a:xfrm>
          <a:prstGeom prst="line">
            <a:avLst/>
          </a:prstGeom>
          <a:noFill/>
          <a:ln w="19050">
            <a:solidFill>
              <a:srgbClr val="2E8B57"/>
            </a:solidFill>
            <a:prstDash val="solid"/>
          </a:ln>
        </p:spPr>
      </p:sp>
      <p:sp>
        <p:nvSpPr>
          <p:cNvPr id="332" name="Shape 330"/>
          <p:cNvSpPr/>
          <p:nvPr/>
        </p:nvSpPr>
        <p:spPr>
          <a:xfrm flipV="1">
            <a:off x="4634854" y="3989451"/>
            <a:ext cx="21555" cy="6309"/>
          </a:xfrm>
          <a:prstGeom prst="line">
            <a:avLst/>
          </a:prstGeom>
          <a:noFill/>
          <a:ln w="19050">
            <a:solidFill>
              <a:srgbClr val="2E8B57"/>
            </a:solidFill>
            <a:prstDash val="solid"/>
          </a:ln>
        </p:spPr>
      </p:sp>
      <p:sp>
        <p:nvSpPr>
          <p:cNvPr id="333" name="Shape 331"/>
          <p:cNvSpPr/>
          <p:nvPr/>
        </p:nvSpPr>
        <p:spPr>
          <a:xfrm>
            <a:off x="4656409" y="3989451"/>
            <a:ext cx="22451" cy="594"/>
          </a:xfrm>
          <a:prstGeom prst="line">
            <a:avLst/>
          </a:prstGeom>
          <a:noFill/>
          <a:ln w="19050">
            <a:solidFill>
              <a:srgbClr val="2E8B57"/>
            </a:solidFill>
            <a:prstDash val="solid"/>
          </a:ln>
        </p:spPr>
      </p:sp>
      <p:sp>
        <p:nvSpPr>
          <p:cNvPr id="334" name="Shape 332"/>
          <p:cNvSpPr/>
          <p:nvPr/>
        </p:nvSpPr>
        <p:spPr>
          <a:xfrm>
            <a:off x="4678860" y="3990044"/>
            <a:ext cx="23279" cy="6971"/>
          </a:xfrm>
          <a:prstGeom prst="line">
            <a:avLst/>
          </a:prstGeom>
          <a:noFill/>
          <a:ln w="19050">
            <a:solidFill>
              <a:srgbClr val="2E8B57"/>
            </a:solidFill>
            <a:prstDash val="solid"/>
          </a:ln>
        </p:spPr>
      </p:sp>
      <p:sp>
        <p:nvSpPr>
          <p:cNvPr id="335" name="Shape 333"/>
          <p:cNvSpPr/>
          <p:nvPr/>
        </p:nvSpPr>
        <p:spPr>
          <a:xfrm>
            <a:off x="4702139" y="3997015"/>
            <a:ext cx="23913" cy="11852"/>
          </a:xfrm>
          <a:prstGeom prst="line">
            <a:avLst/>
          </a:prstGeom>
          <a:noFill/>
          <a:ln w="19050">
            <a:solidFill>
              <a:srgbClr val="2E8B57"/>
            </a:solidFill>
            <a:prstDash val="solid"/>
          </a:ln>
        </p:spPr>
      </p:sp>
      <p:sp>
        <p:nvSpPr>
          <p:cNvPr id="336" name="Shape 334"/>
          <p:cNvSpPr/>
          <p:nvPr/>
        </p:nvSpPr>
        <p:spPr>
          <a:xfrm>
            <a:off x="4726052" y="4008867"/>
            <a:ext cx="24256" cy="14493"/>
          </a:xfrm>
          <a:prstGeom prst="line">
            <a:avLst/>
          </a:prstGeom>
          <a:noFill/>
          <a:ln w="19050">
            <a:solidFill>
              <a:srgbClr val="2E8B57"/>
            </a:solidFill>
            <a:prstDash val="solid"/>
          </a:ln>
        </p:spPr>
      </p:sp>
      <p:sp>
        <p:nvSpPr>
          <p:cNvPr id="337" name="Shape 335"/>
          <p:cNvSpPr/>
          <p:nvPr/>
        </p:nvSpPr>
        <p:spPr>
          <a:xfrm>
            <a:off x="4750308" y="4023360"/>
            <a:ext cx="24256" cy="14493"/>
          </a:xfrm>
          <a:prstGeom prst="line">
            <a:avLst/>
          </a:prstGeom>
          <a:noFill/>
          <a:ln w="19050">
            <a:solidFill>
              <a:srgbClr val="2E8B57"/>
            </a:solidFill>
            <a:prstDash val="solid"/>
          </a:ln>
        </p:spPr>
      </p:sp>
      <p:sp>
        <p:nvSpPr>
          <p:cNvPr id="338" name="Shape 336"/>
          <p:cNvSpPr/>
          <p:nvPr/>
        </p:nvSpPr>
        <p:spPr>
          <a:xfrm>
            <a:off x="4774564" y="4037853"/>
            <a:ext cx="23913" cy="11852"/>
          </a:xfrm>
          <a:prstGeom prst="line">
            <a:avLst/>
          </a:prstGeom>
          <a:noFill/>
          <a:ln w="19050">
            <a:solidFill>
              <a:srgbClr val="2E8B57"/>
            </a:solidFill>
            <a:prstDash val="solid"/>
          </a:ln>
        </p:spPr>
      </p:sp>
      <p:sp>
        <p:nvSpPr>
          <p:cNvPr id="339" name="Shape 337"/>
          <p:cNvSpPr/>
          <p:nvPr/>
        </p:nvSpPr>
        <p:spPr>
          <a:xfrm>
            <a:off x="4798477" y="4049705"/>
            <a:ext cx="23279" cy="6971"/>
          </a:xfrm>
          <a:prstGeom prst="line">
            <a:avLst/>
          </a:prstGeom>
          <a:noFill/>
          <a:ln w="19050">
            <a:solidFill>
              <a:srgbClr val="2E8B57"/>
            </a:solidFill>
            <a:prstDash val="solid"/>
          </a:ln>
        </p:spPr>
      </p:sp>
      <p:sp>
        <p:nvSpPr>
          <p:cNvPr id="340" name="Shape 338"/>
          <p:cNvSpPr/>
          <p:nvPr/>
        </p:nvSpPr>
        <p:spPr>
          <a:xfrm>
            <a:off x="4821756" y="4056676"/>
            <a:ext cx="22451" cy="594"/>
          </a:xfrm>
          <a:prstGeom prst="line">
            <a:avLst/>
          </a:prstGeom>
          <a:noFill/>
          <a:ln w="19050">
            <a:solidFill>
              <a:srgbClr val="2E8B57"/>
            </a:solidFill>
            <a:prstDash val="solid"/>
          </a:ln>
        </p:spPr>
      </p:sp>
      <p:sp>
        <p:nvSpPr>
          <p:cNvPr id="341" name="Shape 339"/>
          <p:cNvSpPr/>
          <p:nvPr/>
        </p:nvSpPr>
        <p:spPr>
          <a:xfrm flipV="1">
            <a:off x="4844207" y="4050961"/>
            <a:ext cx="21555" cy="6309"/>
          </a:xfrm>
          <a:prstGeom prst="line">
            <a:avLst/>
          </a:prstGeom>
          <a:noFill/>
          <a:ln w="19050">
            <a:solidFill>
              <a:srgbClr val="2E8B57"/>
            </a:solidFill>
            <a:prstDash val="solid"/>
          </a:ln>
        </p:spPr>
      </p:sp>
      <p:sp>
        <p:nvSpPr>
          <p:cNvPr id="342" name="Shape 340"/>
          <p:cNvSpPr/>
          <p:nvPr/>
        </p:nvSpPr>
        <p:spPr>
          <a:xfrm flipV="1">
            <a:off x="4865762" y="4038275"/>
            <a:ext cx="20726" cy="12686"/>
          </a:xfrm>
          <a:prstGeom prst="line">
            <a:avLst/>
          </a:prstGeom>
          <a:noFill/>
          <a:ln w="19050">
            <a:solidFill>
              <a:srgbClr val="2E8B57"/>
            </a:solidFill>
            <a:prstDash val="solid"/>
          </a:ln>
        </p:spPr>
      </p:sp>
      <p:sp>
        <p:nvSpPr>
          <p:cNvPr id="343" name="Shape 341"/>
          <p:cNvSpPr/>
          <p:nvPr/>
        </p:nvSpPr>
        <p:spPr>
          <a:xfrm flipV="1">
            <a:off x="4886488" y="4020708"/>
            <a:ext cx="20092" cy="17567"/>
          </a:xfrm>
          <a:prstGeom prst="line">
            <a:avLst/>
          </a:prstGeom>
          <a:noFill/>
          <a:ln w="19050">
            <a:solidFill>
              <a:srgbClr val="2E8B57"/>
            </a:solidFill>
            <a:prstDash val="solid"/>
          </a:ln>
        </p:spPr>
      </p:sp>
      <p:sp>
        <p:nvSpPr>
          <p:cNvPr id="344" name="Shape 342"/>
          <p:cNvSpPr/>
          <p:nvPr/>
        </p:nvSpPr>
        <p:spPr>
          <a:xfrm flipV="1">
            <a:off x="4906581" y="4000500"/>
            <a:ext cx="19749" cy="20208"/>
          </a:xfrm>
          <a:prstGeom prst="line">
            <a:avLst/>
          </a:prstGeom>
          <a:noFill/>
          <a:ln w="19050">
            <a:solidFill>
              <a:srgbClr val="2E8B57"/>
            </a:solidFill>
            <a:prstDash val="solid"/>
          </a:ln>
        </p:spPr>
      </p:sp>
      <p:sp>
        <p:nvSpPr>
          <p:cNvPr id="345" name="Shape 343"/>
          <p:cNvSpPr/>
          <p:nvPr/>
        </p:nvSpPr>
        <p:spPr>
          <a:xfrm flipV="1">
            <a:off x="4926330" y="3980292"/>
            <a:ext cx="19749" cy="20208"/>
          </a:xfrm>
          <a:prstGeom prst="line">
            <a:avLst/>
          </a:prstGeom>
          <a:noFill/>
          <a:ln w="19050">
            <a:solidFill>
              <a:srgbClr val="2E8B57"/>
            </a:solidFill>
            <a:prstDash val="solid"/>
          </a:ln>
        </p:spPr>
      </p:sp>
      <p:sp>
        <p:nvSpPr>
          <p:cNvPr id="346" name="Shape 344"/>
          <p:cNvSpPr/>
          <p:nvPr/>
        </p:nvSpPr>
        <p:spPr>
          <a:xfrm flipV="1">
            <a:off x="4946079" y="3962725"/>
            <a:ext cx="20092" cy="17567"/>
          </a:xfrm>
          <a:prstGeom prst="line">
            <a:avLst/>
          </a:prstGeom>
          <a:noFill/>
          <a:ln w="19050">
            <a:solidFill>
              <a:srgbClr val="2E8B57"/>
            </a:solidFill>
            <a:prstDash val="solid"/>
          </a:ln>
        </p:spPr>
      </p:sp>
      <p:sp>
        <p:nvSpPr>
          <p:cNvPr id="347" name="Shape 345"/>
          <p:cNvSpPr/>
          <p:nvPr/>
        </p:nvSpPr>
        <p:spPr>
          <a:xfrm flipV="1">
            <a:off x="4966172" y="3950039"/>
            <a:ext cx="20726" cy="12686"/>
          </a:xfrm>
          <a:prstGeom prst="line">
            <a:avLst/>
          </a:prstGeom>
          <a:noFill/>
          <a:ln w="19050">
            <a:solidFill>
              <a:srgbClr val="2E8B57"/>
            </a:solidFill>
            <a:prstDash val="solid"/>
          </a:ln>
        </p:spPr>
      </p:sp>
      <p:sp>
        <p:nvSpPr>
          <p:cNvPr id="348" name="Shape 346"/>
          <p:cNvSpPr/>
          <p:nvPr/>
        </p:nvSpPr>
        <p:spPr>
          <a:xfrm flipV="1">
            <a:off x="4986898" y="3943731"/>
            <a:ext cx="21555" cy="6309"/>
          </a:xfrm>
          <a:prstGeom prst="line">
            <a:avLst/>
          </a:prstGeom>
          <a:noFill/>
          <a:ln w="19050">
            <a:solidFill>
              <a:srgbClr val="2E8B57"/>
            </a:solidFill>
            <a:prstDash val="solid"/>
          </a:ln>
        </p:spPr>
      </p:sp>
      <p:sp>
        <p:nvSpPr>
          <p:cNvPr id="349" name="Shape 347"/>
          <p:cNvSpPr/>
          <p:nvPr/>
        </p:nvSpPr>
        <p:spPr>
          <a:xfrm>
            <a:off x="5008453" y="3943731"/>
            <a:ext cx="22451" cy="594"/>
          </a:xfrm>
          <a:prstGeom prst="line">
            <a:avLst/>
          </a:prstGeom>
          <a:noFill/>
          <a:ln w="19050">
            <a:solidFill>
              <a:srgbClr val="2E8B57"/>
            </a:solidFill>
            <a:prstDash val="solid"/>
          </a:ln>
        </p:spPr>
      </p:sp>
      <p:sp>
        <p:nvSpPr>
          <p:cNvPr id="350" name="Shape 348"/>
          <p:cNvSpPr/>
          <p:nvPr/>
        </p:nvSpPr>
        <p:spPr>
          <a:xfrm>
            <a:off x="5030904" y="3944324"/>
            <a:ext cx="23279" cy="6971"/>
          </a:xfrm>
          <a:prstGeom prst="line">
            <a:avLst/>
          </a:prstGeom>
          <a:noFill/>
          <a:ln w="19050">
            <a:solidFill>
              <a:srgbClr val="2E8B57"/>
            </a:solidFill>
            <a:prstDash val="solid"/>
          </a:ln>
        </p:spPr>
      </p:sp>
      <p:sp>
        <p:nvSpPr>
          <p:cNvPr id="351" name="Shape 349"/>
          <p:cNvSpPr/>
          <p:nvPr/>
        </p:nvSpPr>
        <p:spPr>
          <a:xfrm>
            <a:off x="5054183" y="3951295"/>
            <a:ext cx="23913" cy="11852"/>
          </a:xfrm>
          <a:prstGeom prst="line">
            <a:avLst/>
          </a:prstGeom>
          <a:noFill/>
          <a:ln w="19050">
            <a:solidFill>
              <a:srgbClr val="2E8B57"/>
            </a:solidFill>
            <a:prstDash val="solid"/>
          </a:ln>
        </p:spPr>
      </p:sp>
      <p:sp>
        <p:nvSpPr>
          <p:cNvPr id="352" name="Shape 350"/>
          <p:cNvSpPr/>
          <p:nvPr/>
        </p:nvSpPr>
        <p:spPr>
          <a:xfrm>
            <a:off x="5078096" y="3963147"/>
            <a:ext cx="24256" cy="14493"/>
          </a:xfrm>
          <a:prstGeom prst="line">
            <a:avLst/>
          </a:prstGeom>
          <a:noFill/>
          <a:ln w="19050">
            <a:solidFill>
              <a:srgbClr val="2E8B57"/>
            </a:solidFill>
            <a:prstDash val="solid"/>
          </a:ln>
        </p:spPr>
      </p:sp>
      <p:sp>
        <p:nvSpPr>
          <p:cNvPr id="353" name="Shape 351"/>
          <p:cNvSpPr/>
          <p:nvPr/>
        </p:nvSpPr>
        <p:spPr>
          <a:xfrm>
            <a:off x="5102352" y="3977640"/>
            <a:ext cx="24256" cy="14493"/>
          </a:xfrm>
          <a:prstGeom prst="line">
            <a:avLst/>
          </a:prstGeom>
          <a:noFill/>
          <a:ln w="19050">
            <a:solidFill>
              <a:srgbClr val="2E8B57"/>
            </a:solidFill>
            <a:prstDash val="solid"/>
          </a:ln>
        </p:spPr>
      </p:sp>
      <p:sp>
        <p:nvSpPr>
          <p:cNvPr id="354" name="Shape 352"/>
          <p:cNvSpPr/>
          <p:nvPr/>
        </p:nvSpPr>
        <p:spPr>
          <a:xfrm>
            <a:off x="5126608" y="3992133"/>
            <a:ext cx="23913" cy="11852"/>
          </a:xfrm>
          <a:prstGeom prst="line">
            <a:avLst/>
          </a:prstGeom>
          <a:noFill/>
          <a:ln w="19050">
            <a:solidFill>
              <a:srgbClr val="2E8B57"/>
            </a:solidFill>
            <a:prstDash val="solid"/>
          </a:ln>
        </p:spPr>
      </p:sp>
      <p:sp>
        <p:nvSpPr>
          <p:cNvPr id="355" name="Shape 353"/>
          <p:cNvSpPr/>
          <p:nvPr/>
        </p:nvSpPr>
        <p:spPr>
          <a:xfrm>
            <a:off x="5150521" y="4003985"/>
            <a:ext cx="23279" cy="6971"/>
          </a:xfrm>
          <a:prstGeom prst="line">
            <a:avLst/>
          </a:prstGeom>
          <a:noFill/>
          <a:ln w="19050">
            <a:solidFill>
              <a:srgbClr val="2E8B57"/>
            </a:solidFill>
            <a:prstDash val="solid"/>
          </a:ln>
        </p:spPr>
      </p:sp>
      <p:sp>
        <p:nvSpPr>
          <p:cNvPr id="356" name="Shape 354"/>
          <p:cNvSpPr/>
          <p:nvPr/>
        </p:nvSpPr>
        <p:spPr>
          <a:xfrm>
            <a:off x="5173800" y="4010956"/>
            <a:ext cx="22451" cy="594"/>
          </a:xfrm>
          <a:prstGeom prst="line">
            <a:avLst/>
          </a:prstGeom>
          <a:noFill/>
          <a:ln w="19050">
            <a:solidFill>
              <a:srgbClr val="2E8B57"/>
            </a:solidFill>
            <a:prstDash val="solid"/>
          </a:ln>
        </p:spPr>
      </p:sp>
      <p:sp>
        <p:nvSpPr>
          <p:cNvPr id="357" name="Shape 355"/>
          <p:cNvSpPr/>
          <p:nvPr/>
        </p:nvSpPr>
        <p:spPr>
          <a:xfrm flipV="1">
            <a:off x="5196251" y="4005241"/>
            <a:ext cx="21555" cy="6309"/>
          </a:xfrm>
          <a:prstGeom prst="line">
            <a:avLst/>
          </a:prstGeom>
          <a:noFill/>
          <a:ln w="19050">
            <a:solidFill>
              <a:srgbClr val="2E8B57"/>
            </a:solidFill>
            <a:prstDash val="solid"/>
          </a:ln>
        </p:spPr>
      </p:sp>
      <p:sp>
        <p:nvSpPr>
          <p:cNvPr id="358" name="Shape 356"/>
          <p:cNvSpPr/>
          <p:nvPr/>
        </p:nvSpPr>
        <p:spPr>
          <a:xfrm flipV="1">
            <a:off x="5217806" y="3992555"/>
            <a:ext cx="20726" cy="12686"/>
          </a:xfrm>
          <a:prstGeom prst="line">
            <a:avLst/>
          </a:prstGeom>
          <a:noFill/>
          <a:ln w="19050">
            <a:solidFill>
              <a:srgbClr val="2E8B57"/>
            </a:solidFill>
            <a:prstDash val="solid"/>
          </a:ln>
        </p:spPr>
      </p:sp>
      <p:sp>
        <p:nvSpPr>
          <p:cNvPr id="359" name="Shape 357"/>
          <p:cNvSpPr/>
          <p:nvPr/>
        </p:nvSpPr>
        <p:spPr>
          <a:xfrm flipV="1">
            <a:off x="5238532" y="3974988"/>
            <a:ext cx="20092" cy="17567"/>
          </a:xfrm>
          <a:prstGeom prst="line">
            <a:avLst/>
          </a:prstGeom>
          <a:noFill/>
          <a:ln w="19050">
            <a:solidFill>
              <a:srgbClr val="2E8B57"/>
            </a:solidFill>
            <a:prstDash val="solid"/>
          </a:ln>
        </p:spPr>
      </p:sp>
      <p:sp>
        <p:nvSpPr>
          <p:cNvPr id="360" name="Shape 358"/>
          <p:cNvSpPr/>
          <p:nvPr/>
        </p:nvSpPr>
        <p:spPr>
          <a:xfrm flipV="1">
            <a:off x="5258625" y="3954780"/>
            <a:ext cx="19749" cy="20208"/>
          </a:xfrm>
          <a:prstGeom prst="line">
            <a:avLst/>
          </a:prstGeom>
          <a:noFill/>
          <a:ln w="19050">
            <a:solidFill>
              <a:srgbClr val="2E8B57"/>
            </a:solidFill>
            <a:prstDash val="solid"/>
          </a:ln>
        </p:spPr>
      </p:sp>
      <p:sp>
        <p:nvSpPr>
          <p:cNvPr id="361" name="Shape 359"/>
          <p:cNvSpPr/>
          <p:nvPr/>
        </p:nvSpPr>
        <p:spPr>
          <a:xfrm flipV="1">
            <a:off x="5278374" y="3934572"/>
            <a:ext cx="19749" cy="20208"/>
          </a:xfrm>
          <a:prstGeom prst="line">
            <a:avLst/>
          </a:prstGeom>
          <a:noFill/>
          <a:ln w="19050">
            <a:solidFill>
              <a:srgbClr val="2E8B57"/>
            </a:solidFill>
            <a:prstDash val="solid"/>
          </a:ln>
        </p:spPr>
      </p:sp>
      <p:sp>
        <p:nvSpPr>
          <p:cNvPr id="362" name="Shape 360"/>
          <p:cNvSpPr/>
          <p:nvPr/>
        </p:nvSpPr>
        <p:spPr>
          <a:xfrm flipV="1">
            <a:off x="5298123" y="3917005"/>
            <a:ext cx="20092" cy="17567"/>
          </a:xfrm>
          <a:prstGeom prst="line">
            <a:avLst/>
          </a:prstGeom>
          <a:noFill/>
          <a:ln w="19050">
            <a:solidFill>
              <a:srgbClr val="2E8B57"/>
            </a:solidFill>
            <a:prstDash val="solid"/>
          </a:ln>
        </p:spPr>
      </p:sp>
      <p:sp>
        <p:nvSpPr>
          <p:cNvPr id="363" name="Shape 361"/>
          <p:cNvSpPr/>
          <p:nvPr/>
        </p:nvSpPr>
        <p:spPr>
          <a:xfrm flipV="1">
            <a:off x="5318216" y="3904319"/>
            <a:ext cx="20726" cy="12686"/>
          </a:xfrm>
          <a:prstGeom prst="line">
            <a:avLst/>
          </a:prstGeom>
          <a:noFill/>
          <a:ln w="19050">
            <a:solidFill>
              <a:srgbClr val="2E8B57"/>
            </a:solidFill>
            <a:prstDash val="solid"/>
          </a:ln>
        </p:spPr>
      </p:sp>
      <p:sp>
        <p:nvSpPr>
          <p:cNvPr id="364" name="Shape 362"/>
          <p:cNvSpPr/>
          <p:nvPr/>
        </p:nvSpPr>
        <p:spPr>
          <a:xfrm flipV="1">
            <a:off x="5338942" y="3898011"/>
            <a:ext cx="21555" cy="6309"/>
          </a:xfrm>
          <a:prstGeom prst="line">
            <a:avLst/>
          </a:prstGeom>
          <a:noFill/>
          <a:ln w="19050">
            <a:solidFill>
              <a:srgbClr val="2E8B57"/>
            </a:solidFill>
            <a:prstDash val="solid"/>
          </a:ln>
        </p:spPr>
      </p:sp>
      <p:sp>
        <p:nvSpPr>
          <p:cNvPr id="365" name="Shape 363"/>
          <p:cNvSpPr/>
          <p:nvPr/>
        </p:nvSpPr>
        <p:spPr>
          <a:xfrm>
            <a:off x="5360497" y="3898011"/>
            <a:ext cx="22451" cy="594"/>
          </a:xfrm>
          <a:prstGeom prst="line">
            <a:avLst/>
          </a:prstGeom>
          <a:noFill/>
          <a:ln w="19050">
            <a:solidFill>
              <a:srgbClr val="2E8B57"/>
            </a:solidFill>
            <a:prstDash val="solid"/>
          </a:ln>
        </p:spPr>
      </p:sp>
      <p:sp>
        <p:nvSpPr>
          <p:cNvPr id="366" name="Shape 364"/>
          <p:cNvSpPr/>
          <p:nvPr/>
        </p:nvSpPr>
        <p:spPr>
          <a:xfrm>
            <a:off x="5382948" y="3898604"/>
            <a:ext cx="23279" cy="6971"/>
          </a:xfrm>
          <a:prstGeom prst="line">
            <a:avLst/>
          </a:prstGeom>
          <a:noFill/>
          <a:ln w="19050">
            <a:solidFill>
              <a:srgbClr val="2E8B57"/>
            </a:solidFill>
            <a:prstDash val="solid"/>
          </a:ln>
        </p:spPr>
      </p:sp>
      <p:sp>
        <p:nvSpPr>
          <p:cNvPr id="367" name="Shape 365"/>
          <p:cNvSpPr/>
          <p:nvPr/>
        </p:nvSpPr>
        <p:spPr>
          <a:xfrm>
            <a:off x="5406227" y="3905575"/>
            <a:ext cx="23913" cy="11852"/>
          </a:xfrm>
          <a:prstGeom prst="line">
            <a:avLst/>
          </a:prstGeom>
          <a:noFill/>
          <a:ln w="19050">
            <a:solidFill>
              <a:srgbClr val="2E8B57"/>
            </a:solidFill>
            <a:prstDash val="solid"/>
          </a:ln>
        </p:spPr>
      </p:sp>
      <p:sp>
        <p:nvSpPr>
          <p:cNvPr id="368" name="Shape 366"/>
          <p:cNvSpPr/>
          <p:nvPr/>
        </p:nvSpPr>
        <p:spPr>
          <a:xfrm>
            <a:off x="5430140" y="3917427"/>
            <a:ext cx="24256" cy="14493"/>
          </a:xfrm>
          <a:prstGeom prst="line">
            <a:avLst/>
          </a:prstGeom>
          <a:noFill/>
          <a:ln w="19050">
            <a:solidFill>
              <a:srgbClr val="2E8B57"/>
            </a:solidFill>
            <a:prstDash val="solid"/>
          </a:ln>
        </p:spPr>
      </p:sp>
      <p:sp>
        <p:nvSpPr>
          <p:cNvPr id="369" name="Shape 367"/>
          <p:cNvSpPr/>
          <p:nvPr/>
        </p:nvSpPr>
        <p:spPr>
          <a:xfrm>
            <a:off x="5454396" y="3931920"/>
            <a:ext cx="24256" cy="14493"/>
          </a:xfrm>
          <a:prstGeom prst="line">
            <a:avLst/>
          </a:prstGeom>
          <a:noFill/>
          <a:ln w="19050">
            <a:solidFill>
              <a:srgbClr val="2E8B57"/>
            </a:solidFill>
            <a:prstDash val="solid"/>
          </a:ln>
        </p:spPr>
      </p:sp>
      <p:sp>
        <p:nvSpPr>
          <p:cNvPr id="370" name="Shape 368"/>
          <p:cNvSpPr/>
          <p:nvPr/>
        </p:nvSpPr>
        <p:spPr>
          <a:xfrm>
            <a:off x="5478652" y="3946413"/>
            <a:ext cx="23913" cy="11852"/>
          </a:xfrm>
          <a:prstGeom prst="line">
            <a:avLst/>
          </a:prstGeom>
          <a:noFill/>
          <a:ln w="19050">
            <a:solidFill>
              <a:srgbClr val="2E8B57"/>
            </a:solidFill>
            <a:prstDash val="solid"/>
          </a:ln>
        </p:spPr>
      </p:sp>
      <p:sp>
        <p:nvSpPr>
          <p:cNvPr id="371" name="Shape 369"/>
          <p:cNvSpPr/>
          <p:nvPr/>
        </p:nvSpPr>
        <p:spPr>
          <a:xfrm>
            <a:off x="5502565" y="3958265"/>
            <a:ext cx="23279" cy="6971"/>
          </a:xfrm>
          <a:prstGeom prst="line">
            <a:avLst/>
          </a:prstGeom>
          <a:noFill/>
          <a:ln w="19050">
            <a:solidFill>
              <a:srgbClr val="2E8B57"/>
            </a:solidFill>
            <a:prstDash val="solid"/>
          </a:ln>
        </p:spPr>
      </p:sp>
      <p:sp>
        <p:nvSpPr>
          <p:cNvPr id="372" name="Shape 370"/>
          <p:cNvSpPr/>
          <p:nvPr/>
        </p:nvSpPr>
        <p:spPr>
          <a:xfrm>
            <a:off x="5525844" y="3965236"/>
            <a:ext cx="22451" cy="594"/>
          </a:xfrm>
          <a:prstGeom prst="line">
            <a:avLst/>
          </a:prstGeom>
          <a:noFill/>
          <a:ln w="19050">
            <a:solidFill>
              <a:srgbClr val="2E8B57"/>
            </a:solidFill>
            <a:prstDash val="solid"/>
          </a:ln>
        </p:spPr>
      </p:sp>
      <p:sp>
        <p:nvSpPr>
          <p:cNvPr id="373" name="Shape 371"/>
          <p:cNvSpPr/>
          <p:nvPr/>
        </p:nvSpPr>
        <p:spPr>
          <a:xfrm flipV="1">
            <a:off x="5548295" y="3959521"/>
            <a:ext cx="21555" cy="6309"/>
          </a:xfrm>
          <a:prstGeom prst="line">
            <a:avLst/>
          </a:prstGeom>
          <a:noFill/>
          <a:ln w="19050">
            <a:solidFill>
              <a:srgbClr val="2E8B57"/>
            </a:solidFill>
            <a:prstDash val="solid"/>
          </a:ln>
        </p:spPr>
      </p:sp>
      <p:sp>
        <p:nvSpPr>
          <p:cNvPr id="374" name="Shape 372"/>
          <p:cNvSpPr/>
          <p:nvPr/>
        </p:nvSpPr>
        <p:spPr>
          <a:xfrm flipV="1">
            <a:off x="5569850" y="3946835"/>
            <a:ext cx="20726" cy="12686"/>
          </a:xfrm>
          <a:prstGeom prst="line">
            <a:avLst/>
          </a:prstGeom>
          <a:noFill/>
          <a:ln w="19050">
            <a:solidFill>
              <a:srgbClr val="2E8B57"/>
            </a:solidFill>
            <a:prstDash val="solid"/>
          </a:ln>
        </p:spPr>
      </p:sp>
      <p:sp>
        <p:nvSpPr>
          <p:cNvPr id="375" name="Shape 373"/>
          <p:cNvSpPr/>
          <p:nvPr/>
        </p:nvSpPr>
        <p:spPr>
          <a:xfrm flipV="1">
            <a:off x="5590576" y="3929268"/>
            <a:ext cx="20092" cy="17567"/>
          </a:xfrm>
          <a:prstGeom prst="line">
            <a:avLst/>
          </a:prstGeom>
          <a:noFill/>
          <a:ln w="19050">
            <a:solidFill>
              <a:srgbClr val="2E8B57"/>
            </a:solidFill>
            <a:prstDash val="solid"/>
          </a:ln>
        </p:spPr>
      </p:sp>
      <p:sp>
        <p:nvSpPr>
          <p:cNvPr id="376" name="Shape 374"/>
          <p:cNvSpPr/>
          <p:nvPr/>
        </p:nvSpPr>
        <p:spPr>
          <a:xfrm flipV="1">
            <a:off x="5610669" y="3909060"/>
            <a:ext cx="19749" cy="20208"/>
          </a:xfrm>
          <a:prstGeom prst="line">
            <a:avLst/>
          </a:prstGeom>
          <a:noFill/>
          <a:ln w="19050">
            <a:solidFill>
              <a:srgbClr val="2E8B57"/>
            </a:solidFill>
            <a:prstDash val="solid"/>
          </a:ln>
        </p:spPr>
      </p:sp>
      <p:sp>
        <p:nvSpPr>
          <p:cNvPr id="377" name="Shape 375"/>
          <p:cNvSpPr/>
          <p:nvPr/>
        </p:nvSpPr>
        <p:spPr>
          <a:xfrm flipV="1">
            <a:off x="5630418" y="3888852"/>
            <a:ext cx="19749" cy="20208"/>
          </a:xfrm>
          <a:prstGeom prst="line">
            <a:avLst/>
          </a:prstGeom>
          <a:noFill/>
          <a:ln w="19050">
            <a:solidFill>
              <a:srgbClr val="2E8B57"/>
            </a:solidFill>
            <a:prstDash val="solid"/>
          </a:ln>
        </p:spPr>
      </p:sp>
      <p:sp>
        <p:nvSpPr>
          <p:cNvPr id="378" name="Shape 376"/>
          <p:cNvSpPr/>
          <p:nvPr/>
        </p:nvSpPr>
        <p:spPr>
          <a:xfrm flipV="1">
            <a:off x="5650167" y="3871285"/>
            <a:ext cx="20092" cy="17567"/>
          </a:xfrm>
          <a:prstGeom prst="line">
            <a:avLst/>
          </a:prstGeom>
          <a:noFill/>
          <a:ln w="19050">
            <a:solidFill>
              <a:srgbClr val="2E8B57"/>
            </a:solidFill>
            <a:prstDash val="solid"/>
          </a:ln>
        </p:spPr>
      </p:sp>
      <p:sp>
        <p:nvSpPr>
          <p:cNvPr id="379" name="Shape 377"/>
          <p:cNvSpPr/>
          <p:nvPr/>
        </p:nvSpPr>
        <p:spPr>
          <a:xfrm flipV="1">
            <a:off x="5670260" y="3858599"/>
            <a:ext cx="20726" cy="12686"/>
          </a:xfrm>
          <a:prstGeom prst="line">
            <a:avLst/>
          </a:prstGeom>
          <a:noFill/>
          <a:ln w="19050">
            <a:solidFill>
              <a:srgbClr val="2E8B57"/>
            </a:solidFill>
            <a:prstDash val="solid"/>
          </a:ln>
        </p:spPr>
      </p:sp>
      <p:sp>
        <p:nvSpPr>
          <p:cNvPr id="380" name="Shape 378"/>
          <p:cNvSpPr/>
          <p:nvPr/>
        </p:nvSpPr>
        <p:spPr>
          <a:xfrm flipV="1">
            <a:off x="5690986" y="3852291"/>
            <a:ext cx="21555" cy="6309"/>
          </a:xfrm>
          <a:prstGeom prst="line">
            <a:avLst/>
          </a:prstGeom>
          <a:noFill/>
          <a:ln w="19050">
            <a:solidFill>
              <a:srgbClr val="2E8B57"/>
            </a:solidFill>
            <a:prstDash val="solid"/>
          </a:ln>
        </p:spPr>
      </p:sp>
      <p:sp>
        <p:nvSpPr>
          <p:cNvPr id="381" name="Shape 379"/>
          <p:cNvSpPr/>
          <p:nvPr/>
        </p:nvSpPr>
        <p:spPr>
          <a:xfrm>
            <a:off x="5712541" y="3852291"/>
            <a:ext cx="22451" cy="594"/>
          </a:xfrm>
          <a:prstGeom prst="line">
            <a:avLst/>
          </a:prstGeom>
          <a:noFill/>
          <a:ln w="19050">
            <a:solidFill>
              <a:srgbClr val="2E8B57"/>
            </a:solidFill>
            <a:prstDash val="solid"/>
          </a:ln>
        </p:spPr>
      </p:sp>
      <p:sp>
        <p:nvSpPr>
          <p:cNvPr id="382" name="Shape 380"/>
          <p:cNvSpPr/>
          <p:nvPr/>
        </p:nvSpPr>
        <p:spPr>
          <a:xfrm>
            <a:off x="5734992" y="3852884"/>
            <a:ext cx="23279" cy="6971"/>
          </a:xfrm>
          <a:prstGeom prst="line">
            <a:avLst/>
          </a:prstGeom>
          <a:noFill/>
          <a:ln w="19050">
            <a:solidFill>
              <a:srgbClr val="2E8B57"/>
            </a:solidFill>
            <a:prstDash val="solid"/>
          </a:ln>
        </p:spPr>
      </p:sp>
      <p:sp>
        <p:nvSpPr>
          <p:cNvPr id="383" name="Shape 381"/>
          <p:cNvSpPr/>
          <p:nvPr/>
        </p:nvSpPr>
        <p:spPr>
          <a:xfrm>
            <a:off x="5758271" y="3859855"/>
            <a:ext cx="23913" cy="11852"/>
          </a:xfrm>
          <a:prstGeom prst="line">
            <a:avLst/>
          </a:prstGeom>
          <a:noFill/>
          <a:ln w="19050">
            <a:solidFill>
              <a:srgbClr val="2E8B57"/>
            </a:solidFill>
            <a:prstDash val="solid"/>
          </a:ln>
        </p:spPr>
      </p:sp>
      <p:sp>
        <p:nvSpPr>
          <p:cNvPr id="384" name="Shape 382"/>
          <p:cNvSpPr/>
          <p:nvPr/>
        </p:nvSpPr>
        <p:spPr>
          <a:xfrm>
            <a:off x="5782184" y="3871707"/>
            <a:ext cx="24256" cy="14493"/>
          </a:xfrm>
          <a:prstGeom prst="line">
            <a:avLst/>
          </a:prstGeom>
          <a:noFill/>
          <a:ln w="19050">
            <a:solidFill>
              <a:srgbClr val="2E8B57"/>
            </a:solidFill>
            <a:prstDash val="solid"/>
          </a:ln>
        </p:spPr>
      </p:sp>
      <p:sp>
        <p:nvSpPr>
          <p:cNvPr id="385" name="Text 383"/>
          <p:cNvSpPr/>
          <p:nvPr/>
        </p:nvSpPr>
        <p:spPr>
          <a:xfrm>
            <a:off x="3566160" y="4343400"/>
            <a:ext cx="210312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γ mostly escapes</a:t>
            </a:r>
            <a:endParaRPr lang="en-US" sz="1050" dirty="0"/>
          </a:p>
        </p:txBody>
      </p:sp>
      <p:sp>
        <p:nvSpPr>
          <p:cNvPr id="386" name="Shape 38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387" name="Text 38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Where is the source?</a:t>
            </a:r>
            <a:endParaRPr lang="en-US" sz="1300" dirty="0"/>
          </a:p>
        </p:txBody>
      </p:sp>
      <p:sp>
        <p:nvSpPr>
          <p:cNvPr id="388" name="Text 38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Outside</a:t>
            </a:r>
            <a:r>
              <a:rPr lang="en-US" sz="1150" dirty="0">
                <a:solidFill>
                  <a:srgbClr val="262B3A"/>
                </a:solidFill>
                <a:latin typeface="Calibri" pitchFamily="34" charset="0"/>
                <a:ea typeface="Calibri" pitchFamily="34" charset="-122"/>
                <a:cs typeface="Calibri" pitchFamily="34" charset="-120"/>
              </a:rPr>
              <a:t> the body: alpha is the </a:t>
            </a:r>
            <a:r>
              <a:rPr lang="en-US" sz="1150" b="1" dirty="0">
                <a:solidFill>
                  <a:srgbClr val="262B3A"/>
                </a:solidFill>
                <a:latin typeface="Calibri" pitchFamily="34" charset="0"/>
                <a:ea typeface="Calibri" pitchFamily="34" charset="-122"/>
                <a:cs typeface="Calibri" pitchFamily="34" charset="-120"/>
              </a:rPr>
              <a:t>least</a:t>
            </a:r>
            <a:r>
              <a:rPr lang="en-US" sz="1150" dirty="0">
                <a:solidFill>
                  <a:srgbClr val="262B3A"/>
                </a:solidFill>
                <a:latin typeface="Calibri" pitchFamily="34" charset="0"/>
                <a:ea typeface="Calibri" pitchFamily="34" charset="-122"/>
                <a:cs typeface="Calibri" pitchFamily="34" charset="-120"/>
              </a:rPr>
              <a:t> dangerous. It is stopped by air or the dead outer layer of skin. </a:t>
            </a:r>
            <a:r>
              <a:rPr lang="en-US" sz="1150" b="1" dirty="0">
                <a:solidFill>
                  <a:srgbClr val="262B3A"/>
                </a:solidFill>
                <a:latin typeface="Calibri" pitchFamily="34" charset="0"/>
                <a:ea typeface="Calibri" pitchFamily="34" charset="-122"/>
                <a:cs typeface="Calibri" pitchFamily="34" charset="-120"/>
              </a:rPr>
              <a:t>Gamma</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beta</a:t>
            </a:r>
            <a:r>
              <a:rPr lang="en-US" sz="1150" dirty="0">
                <a:solidFill>
                  <a:srgbClr val="262B3A"/>
                </a:solidFill>
                <a:latin typeface="Calibri" pitchFamily="34" charset="0"/>
                <a:ea typeface="Calibri" pitchFamily="34" charset="-122"/>
                <a:cs typeface="Calibri" pitchFamily="34" charset="-120"/>
              </a:rPr>
              <a:t> are more dangerous, as they reach living cells.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Inside</a:t>
            </a:r>
            <a:r>
              <a:rPr lang="en-US" sz="1150" dirty="0">
                <a:solidFill>
                  <a:srgbClr val="262B3A"/>
                </a:solidFill>
                <a:latin typeface="Calibri" pitchFamily="34" charset="0"/>
                <a:ea typeface="Calibri" pitchFamily="34" charset="-122"/>
                <a:cs typeface="Calibri" pitchFamily="34" charset="-120"/>
              </a:rPr>
              <a:t> the body: alpha is the </a:t>
            </a:r>
            <a:r>
              <a:rPr lang="en-US" sz="1150" b="1" dirty="0">
                <a:solidFill>
                  <a:srgbClr val="262B3A"/>
                </a:solidFill>
                <a:latin typeface="Calibri" pitchFamily="34" charset="0"/>
                <a:ea typeface="Calibri" pitchFamily="34" charset="-122"/>
                <a:cs typeface="Calibri" pitchFamily="34" charset="-120"/>
              </a:rPr>
              <a:t>most</a:t>
            </a:r>
            <a:r>
              <a:rPr lang="en-US" sz="1150" dirty="0">
                <a:solidFill>
                  <a:srgbClr val="262B3A"/>
                </a:solidFill>
                <a:latin typeface="Calibri" pitchFamily="34" charset="0"/>
                <a:ea typeface="Calibri" pitchFamily="34" charset="-122"/>
                <a:cs typeface="Calibri" pitchFamily="34" charset="-120"/>
              </a:rPr>
              <a:t> dangerous. All its ionisation happens in a tiny volume of living cells next to it.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Gamma is the </a:t>
            </a:r>
            <a:r>
              <a:rPr lang="en-US" sz="1150" b="1" dirty="0">
                <a:solidFill>
                  <a:srgbClr val="262B3A"/>
                </a:solidFill>
                <a:latin typeface="Calibri" pitchFamily="34" charset="0"/>
                <a:ea typeface="Calibri" pitchFamily="34" charset="-122"/>
                <a:cs typeface="Calibri" pitchFamily="34" charset="-120"/>
              </a:rPr>
              <a:t>least</a:t>
            </a:r>
            <a:r>
              <a:rPr lang="en-US" sz="1150" dirty="0">
                <a:solidFill>
                  <a:srgbClr val="262B3A"/>
                </a:solidFill>
                <a:latin typeface="Calibri" pitchFamily="34" charset="0"/>
                <a:ea typeface="Calibri" pitchFamily="34" charset="-122"/>
                <a:cs typeface="Calibri" pitchFamily="34" charset="-120"/>
              </a:rPr>
              <a:t> dangerous inside: most of it passes out of the body without ionising.</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This is why </a:t>
            </a:r>
            <a:r>
              <a:rPr lang="en-US" sz="1150" b="1" dirty="0">
                <a:solidFill>
                  <a:srgbClr val="262B3A"/>
                </a:solidFill>
                <a:latin typeface="Calibri" pitchFamily="34" charset="0"/>
                <a:ea typeface="Calibri" pitchFamily="34" charset="-122"/>
                <a:cs typeface="Calibri" pitchFamily="34" charset="-120"/>
              </a:rPr>
              <a:t>radon</a:t>
            </a:r>
            <a:r>
              <a:rPr lang="en-US" sz="1150" dirty="0">
                <a:solidFill>
                  <a:srgbClr val="262B3A"/>
                </a:solidFill>
                <a:latin typeface="Calibri" pitchFamily="34" charset="0"/>
                <a:ea typeface="Calibri" pitchFamily="34" charset="-122"/>
                <a:cs typeface="Calibri" pitchFamily="34" charset="-120"/>
              </a:rPr>
              <a:t> (an alpha emitter breathed into the lungs) is a serious hazard.</a:t>
            </a:r>
            <a:endParaRPr lang="en-US" sz="1150" dirty="0"/>
          </a:p>
        </p:txBody>
      </p:sp>
      <p:sp>
        <p:nvSpPr>
          <p:cNvPr id="389" name="Shape 38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90" name="Text 38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Rank the hazard</a:t>
            </a:r>
            <a:endParaRPr lang="en-US" sz="1300" dirty="0"/>
          </a:p>
        </p:txBody>
      </p:sp>
      <p:sp>
        <p:nvSpPr>
          <p:cNvPr id="391" name="Text 389"/>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Outside, most to least   </a:t>
            </a:r>
            <a:r>
              <a:rPr lang="en-US" sz="1050" dirty="0">
                <a:solidFill>
                  <a:srgbClr val="262B3A"/>
                </a:solidFill>
                <a:latin typeface="Calibri" pitchFamily="34" charset="0"/>
                <a:ea typeface="Calibri" pitchFamily="34" charset="-122"/>
                <a:cs typeface="Calibri" pitchFamily="34" charset="-120"/>
              </a:rPr>
              <a:t>gamma, beta, alpha</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Inside, most to least   </a:t>
            </a:r>
            <a:r>
              <a:rPr lang="en-US" sz="1050" dirty="0">
                <a:solidFill>
                  <a:srgbClr val="262B3A"/>
                </a:solidFill>
                <a:latin typeface="Calibri" pitchFamily="34" charset="0"/>
                <a:ea typeface="Calibri" pitchFamily="34" charset="-122"/>
                <a:cs typeface="Calibri" pitchFamily="34" charset="-120"/>
              </a:rPr>
              <a:t>alpha, beta, gamma</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Reason   </a:t>
            </a:r>
            <a:r>
              <a:rPr lang="en-US" sz="1050" dirty="0">
                <a:solidFill>
                  <a:srgbClr val="262B3A"/>
                </a:solidFill>
                <a:latin typeface="Calibri" pitchFamily="34" charset="0"/>
                <a:ea typeface="Calibri" pitchFamily="34" charset="-122"/>
                <a:cs typeface="Calibri" pitchFamily="34" charset="-120"/>
              </a:rPr>
              <a:t>ionising power matters inside; penetration matters outside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alpha sources must </a:t>
            </a:r>
            <a:r>
              <a:rPr lang="en-US" sz="1050" b="1" dirty="0">
                <a:solidFill>
                  <a:srgbClr val="C8414C"/>
                </a:solidFill>
                <a:latin typeface="Calibri" pitchFamily="34" charset="0"/>
                <a:ea typeface="Calibri" pitchFamily="34" charset="-122"/>
                <a:cs typeface="Calibri" pitchFamily="34" charset="-120"/>
              </a:rPr>
              <a:t>never</a:t>
            </a:r>
            <a:r>
              <a:rPr lang="en-US" sz="1050" b="1" dirty="0">
                <a:solidFill>
                  <a:srgbClr val="C8414C"/>
                </a:solidFill>
                <a:latin typeface="Calibri" pitchFamily="34" charset="0"/>
                <a:ea typeface="Calibri" pitchFamily="34" charset="-122"/>
                <a:cs typeface="Calibri" pitchFamily="34" charset="-120"/>
              </a:rPr>
              <a:t> be eaten or breathed in</a:t>
            </a:r>
            <a:endParaRPr lang="en-US" sz="1050" dirty="0"/>
          </a:p>
        </p:txBody>
      </p:sp>
      <p:sp>
        <p:nvSpPr>
          <p:cNvPr id="392" name="Shape 390"/>
          <p:cNvSpPr/>
          <p:nvPr/>
        </p:nvSpPr>
        <p:spPr>
          <a:xfrm>
            <a:off x="411480" y="5833872"/>
            <a:ext cx="11368735" cy="530352"/>
          </a:xfrm>
          <a:prstGeom prst="rect">
            <a:avLst/>
          </a:prstGeom>
          <a:solidFill>
            <a:srgbClr val="FFF4E0"/>
          </a:solidFill>
          <a:ln w="6350">
            <a:solidFill>
              <a:srgbClr val="F1D9A8"/>
            </a:solidFill>
            <a:prstDash val="solid"/>
          </a:ln>
        </p:spPr>
      </p:sp>
      <p:sp>
        <p:nvSpPr>
          <p:cNvPr id="393" name="Shape 391"/>
          <p:cNvSpPr/>
          <p:nvPr/>
        </p:nvSpPr>
        <p:spPr>
          <a:xfrm>
            <a:off x="411480" y="5833872"/>
            <a:ext cx="82296" cy="530352"/>
          </a:xfrm>
          <a:prstGeom prst="rect">
            <a:avLst/>
          </a:prstGeom>
          <a:solidFill>
            <a:srgbClr val="E39A2F"/>
          </a:solidFill>
          <a:ln w="12700">
            <a:solidFill>
              <a:srgbClr val="E39A2F"/>
            </a:solidFill>
            <a:prstDash val="solid"/>
          </a:ln>
        </p:spPr>
      </p:sp>
      <p:sp>
        <p:nvSpPr>
          <p:cNvPr id="394" name="Text 39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 sealed alpha source in a smoke detector is safe, but radon gas in a house is a hazard.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Half-life and hazard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P5.2.2 • why hazards differ according to the half-life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P5.2.2  |  16</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to scale: two samples with the same number of nuclei</a:t>
            </a:r>
            <a:endParaRPr lang="en-US" sz="1000" dirty="0"/>
          </a:p>
        </p:txBody>
      </p:sp>
      <p:sp>
        <p:nvSpPr>
          <p:cNvPr id="10" name="Shape 8"/>
          <p:cNvSpPr/>
          <p:nvPr/>
        </p:nvSpPr>
        <p:spPr>
          <a:xfrm>
            <a:off x="1371600" y="1417320"/>
            <a:ext cx="4343400" cy="3246120"/>
          </a:xfrm>
          <a:prstGeom prst="rect">
            <a:avLst/>
          </a:prstGeom>
          <a:solidFill>
            <a:srgbClr val="FFFFFF"/>
          </a:solidFill>
          <a:ln/>
        </p:spPr>
      </p:sp>
      <p:sp>
        <p:nvSpPr>
          <p:cNvPr id="11" name="Shape 9"/>
          <p:cNvSpPr/>
          <p:nvPr/>
        </p:nvSpPr>
        <p:spPr>
          <a:xfrm>
            <a:off x="1371600" y="1417320"/>
            <a:ext cx="91" cy="3246120"/>
          </a:xfrm>
          <a:prstGeom prst="line">
            <a:avLst/>
          </a:prstGeom>
          <a:noFill/>
          <a:ln w="6350">
            <a:solidFill>
              <a:srgbClr val="C9D3E6"/>
            </a:solidFill>
            <a:prstDash val="solid"/>
          </a:ln>
        </p:spPr>
      </p:sp>
      <p:sp>
        <p:nvSpPr>
          <p:cNvPr id="12" name="Shape 10"/>
          <p:cNvSpPr/>
          <p:nvPr/>
        </p:nvSpPr>
        <p:spPr>
          <a:xfrm>
            <a:off x="1643063" y="1417320"/>
            <a:ext cx="91" cy="3246120"/>
          </a:xfrm>
          <a:prstGeom prst="line">
            <a:avLst/>
          </a:prstGeom>
          <a:noFill/>
          <a:ln w="6350">
            <a:solidFill>
              <a:srgbClr val="E6EBF4"/>
            </a:solidFill>
            <a:prstDash val="solid"/>
          </a:ln>
        </p:spPr>
      </p:sp>
      <p:sp>
        <p:nvSpPr>
          <p:cNvPr id="13" name="Shape 11"/>
          <p:cNvSpPr/>
          <p:nvPr/>
        </p:nvSpPr>
        <p:spPr>
          <a:xfrm>
            <a:off x="1914525" y="1417320"/>
            <a:ext cx="91" cy="3246120"/>
          </a:xfrm>
          <a:prstGeom prst="line">
            <a:avLst/>
          </a:prstGeom>
          <a:noFill/>
          <a:ln w="6350">
            <a:solidFill>
              <a:srgbClr val="C9D3E6"/>
            </a:solidFill>
            <a:prstDash val="solid"/>
          </a:ln>
        </p:spPr>
      </p:sp>
      <p:sp>
        <p:nvSpPr>
          <p:cNvPr id="14" name="Shape 12"/>
          <p:cNvSpPr/>
          <p:nvPr/>
        </p:nvSpPr>
        <p:spPr>
          <a:xfrm>
            <a:off x="2185988" y="1417320"/>
            <a:ext cx="91" cy="3246120"/>
          </a:xfrm>
          <a:prstGeom prst="line">
            <a:avLst/>
          </a:prstGeom>
          <a:noFill/>
          <a:ln w="6350">
            <a:solidFill>
              <a:srgbClr val="E6EBF4"/>
            </a:solidFill>
            <a:prstDash val="solid"/>
          </a:ln>
        </p:spPr>
      </p:sp>
      <p:sp>
        <p:nvSpPr>
          <p:cNvPr id="15" name="Shape 13"/>
          <p:cNvSpPr/>
          <p:nvPr/>
        </p:nvSpPr>
        <p:spPr>
          <a:xfrm>
            <a:off x="2457450" y="1417320"/>
            <a:ext cx="91" cy="3246120"/>
          </a:xfrm>
          <a:prstGeom prst="line">
            <a:avLst/>
          </a:prstGeom>
          <a:noFill/>
          <a:ln w="6350">
            <a:solidFill>
              <a:srgbClr val="C9D3E6"/>
            </a:solidFill>
            <a:prstDash val="solid"/>
          </a:ln>
        </p:spPr>
      </p:sp>
      <p:sp>
        <p:nvSpPr>
          <p:cNvPr id="16" name="Shape 14"/>
          <p:cNvSpPr/>
          <p:nvPr/>
        </p:nvSpPr>
        <p:spPr>
          <a:xfrm>
            <a:off x="2728913" y="1417320"/>
            <a:ext cx="91" cy="3246120"/>
          </a:xfrm>
          <a:prstGeom prst="line">
            <a:avLst/>
          </a:prstGeom>
          <a:noFill/>
          <a:ln w="6350">
            <a:solidFill>
              <a:srgbClr val="E6EBF4"/>
            </a:solidFill>
            <a:prstDash val="solid"/>
          </a:ln>
        </p:spPr>
      </p:sp>
      <p:sp>
        <p:nvSpPr>
          <p:cNvPr id="17" name="Shape 15"/>
          <p:cNvSpPr/>
          <p:nvPr/>
        </p:nvSpPr>
        <p:spPr>
          <a:xfrm>
            <a:off x="3000375" y="1417320"/>
            <a:ext cx="91" cy="3246120"/>
          </a:xfrm>
          <a:prstGeom prst="line">
            <a:avLst/>
          </a:prstGeom>
          <a:noFill/>
          <a:ln w="6350">
            <a:solidFill>
              <a:srgbClr val="C9D3E6"/>
            </a:solidFill>
            <a:prstDash val="solid"/>
          </a:ln>
        </p:spPr>
      </p:sp>
      <p:sp>
        <p:nvSpPr>
          <p:cNvPr id="18" name="Shape 16"/>
          <p:cNvSpPr/>
          <p:nvPr/>
        </p:nvSpPr>
        <p:spPr>
          <a:xfrm>
            <a:off x="3271838" y="1417320"/>
            <a:ext cx="91" cy="3246120"/>
          </a:xfrm>
          <a:prstGeom prst="line">
            <a:avLst/>
          </a:prstGeom>
          <a:noFill/>
          <a:ln w="6350">
            <a:solidFill>
              <a:srgbClr val="E6EBF4"/>
            </a:solidFill>
            <a:prstDash val="solid"/>
          </a:ln>
        </p:spPr>
      </p:sp>
      <p:sp>
        <p:nvSpPr>
          <p:cNvPr id="19" name="Shape 17"/>
          <p:cNvSpPr/>
          <p:nvPr/>
        </p:nvSpPr>
        <p:spPr>
          <a:xfrm>
            <a:off x="3543300" y="1417320"/>
            <a:ext cx="91" cy="3246120"/>
          </a:xfrm>
          <a:prstGeom prst="line">
            <a:avLst/>
          </a:prstGeom>
          <a:noFill/>
          <a:ln w="6350">
            <a:solidFill>
              <a:srgbClr val="C9D3E6"/>
            </a:solidFill>
            <a:prstDash val="solid"/>
          </a:ln>
        </p:spPr>
      </p:sp>
      <p:sp>
        <p:nvSpPr>
          <p:cNvPr id="20" name="Shape 18"/>
          <p:cNvSpPr/>
          <p:nvPr/>
        </p:nvSpPr>
        <p:spPr>
          <a:xfrm>
            <a:off x="3814763" y="1417320"/>
            <a:ext cx="91" cy="3246120"/>
          </a:xfrm>
          <a:prstGeom prst="line">
            <a:avLst/>
          </a:prstGeom>
          <a:noFill/>
          <a:ln w="6350">
            <a:solidFill>
              <a:srgbClr val="E6EBF4"/>
            </a:solidFill>
            <a:prstDash val="solid"/>
          </a:ln>
        </p:spPr>
      </p:sp>
      <p:sp>
        <p:nvSpPr>
          <p:cNvPr id="21" name="Shape 19"/>
          <p:cNvSpPr/>
          <p:nvPr/>
        </p:nvSpPr>
        <p:spPr>
          <a:xfrm>
            <a:off x="4086225" y="1417320"/>
            <a:ext cx="91" cy="3246120"/>
          </a:xfrm>
          <a:prstGeom prst="line">
            <a:avLst/>
          </a:prstGeom>
          <a:noFill/>
          <a:ln w="6350">
            <a:solidFill>
              <a:srgbClr val="C9D3E6"/>
            </a:solidFill>
            <a:prstDash val="solid"/>
          </a:ln>
        </p:spPr>
      </p:sp>
      <p:sp>
        <p:nvSpPr>
          <p:cNvPr id="22" name="Shape 20"/>
          <p:cNvSpPr/>
          <p:nvPr/>
        </p:nvSpPr>
        <p:spPr>
          <a:xfrm>
            <a:off x="4357688" y="1417320"/>
            <a:ext cx="91" cy="3246120"/>
          </a:xfrm>
          <a:prstGeom prst="line">
            <a:avLst/>
          </a:prstGeom>
          <a:noFill/>
          <a:ln w="6350">
            <a:solidFill>
              <a:srgbClr val="E6EBF4"/>
            </a:solidFill>
            <a:prstDash val="solid"/>
          </a:ln>
        </p:spPr>
      </p:sp>
      <p:sp>
        <p:nvSpPr>
          <p:cNvPr id="23" name="Shape 21"/>
          <p:cNvSpPr/>
          <p:nvPr/>
        </p:nvSpPr>
        <p:spPr>
          <a:xfrm>
            <a:off x="4629150" y="1417320"/>
            <a:ext cx="91" cy="3246120"/>
          </a:xfrm>
          <a:prstGeom prst="line">
            <a:avLst/>
          </a:prstGeom>
          <a:noFill/>
          <a:ln w="6350">
            <a:solidFill>
              <a:srgbClr val="C9D3E6"/>
            </a:solidFill>
            <a:prstDash val="solid"/>
          </a:ln>
        </p:spPr>
      </p:sp>
      <p:sp>
        <p:nvSpPr>
          <p:cNvPr id="24" name="Shape 22"/>
          <p:cNvSpPr/>
          <p:nvPr/>
        </p:nvSpPr>
        <p:spPr>
          <a:xfrm>
            <a:off x="4900613" y="1417320"/>
            <a:ext cx="91" cy="3246120"/>
          </a:xfrm>
          <a:prstGeom prst="line">
            <a:avLst/>
          </a:prstGeom>
          <a:noFill/>
          <a:ln w="6350">
            <a:solidFill>
              <a:srgbClr val="E6EBF4"/>
            </a:solidFill>
            <a:prstDash val="solid"/>
          </a:ln>
        </p:spPr>
      </p:sp>
      <p:sp>
        <p:nvSpPr>
          <p:cNvPr id="25" name="Shape 23"/>
          <p:cNvSpPr/>
          <p:nvPr/>
        </p:nvSpPr>
        <p:spPr>
          <a:xfrm>
            <a:off x="5172075" y="1417320"/>
            <a:ext cx="91" cy="3246120"/>
          </a:xfrm>
          <a:prstGeom prst="line">
            <a:avLst/>
          </a:prstGeom>
          <a:noFill/>
          <a:ln w="6350">
            <a:solidFill>
              <a:srgbClr val="C9D3E6"/>
            </a:solidFill>
            <a:prstDash val="solid"/>
          </a:ln>
        </p:spPr>
      </p:sp>
      <p:sp>
        <p:nvSpPr>
          <p:cNvPr id="26" name="Shape 24"/>
          <p:cNvSpPr/>
          <p:nvPr/>
        </p:nvSpPr>
        <p:spPr>
          <a:xfrm>
            <a:off x="5443538" y="1417320"/>
            <a:ext cx="91" cy="3246120"/>
          </a:xfrm>
          <a:prstGeom prst="line">
            <a:avLst/>
          </a:prstGeom>
          <a:noFill/>
          <a:ln w="6350">
            <a:solidFill>
              <a:srgbClr val="E6EBF4"/>
            </a:solidFill>
            <a:prstDash val="solid"/>
          </a:ln>
        </p:spPr>
      </p:sp>
      <p:sp>
        <p:nvSpPr>
          <p:cNvPr id="27" name="Shape 25"/>
          <p:cNvSpPr/>
          <p:nvPr/>
        </p:nvSpPr>
        <p:spPr>
          <a:xfrm>
            <a:off x="5715000" y="1417320"/>
            <a:ext cx="91" cy="3246120"/>
          </a:xfrm>
          <a:prstGeom prst="line">
            <a:avLst/>
          </a:prstGeom>
          <a:noFill/>
          <a:ln w="6350">
            <a:solidFill>
              <a:srgbClr val="C9D3E6"/>
            </a:solidFill>
            <a:prstDash val="solid"/>
          </a:ln>
        </p:spPr>
      </p:sp>
      <p:sp>
        <p:nvSpPr>
          <p:cNvPr id="28" name="Shape 26"/>
          <p:cNvSpPr/>
          <p:nvPr/>
        </p:nvSpPr>
        <p:spPr>
          <a:xfrm>
            <a:off x="1371600" y="4663440"/>
            <a:ext cx="4343400" cy="91"/>
          </a:xfrm>
          <a:prstGeom prst="line">
            <a:avLst/>
          </a:prstGeom>
          <a:noFill/>
          <a:ln w="6350">
            <a:solidFill>
              <a:srgbClr val="C9D3E6"/>
            </a:solidFill>
            <a:prstDash val="solid"/>
          </a:ln>
        </p:spPr>
      </p:sp>
      <p:sp>
        <p:nvSpPr>
          <p:cNvPr id="29" name="Shape 27"/>
          <p:cNvSpPr/>
          <p:nvPr/>
        </p:nvSpPr>
        <p:spPr>
          <a:xfrm>
            <a:off x="1371600" y="4460558"/>
            <a:ext cx="4343400" cy="91"/>
          </a:xfrm>
          <a:prstGeom prst="line">
            <a:avLst/>
          </a:prstGeom>
          <a:noFill/>
          <a:ln w="6350">
            <a:solidFill>
              <a:srgbClr val="E6EBF4"/>
            </a:solidFill>
            <a:prstDash val="solid"/>
          </a:ln>
        </p:spPr>
      </p:sp>
      <p:sp>
        <p:nvSpPr>
          <p:cNvPr id="30" name="Shape 28"/>
          <p:cNvSpPr/>
          <p:nvPr/>
        </p:nvSpPr>
        <p:spPr>
          <a:xfrm>
            <a:off x="1371600" y="4257675"/>
            <a:ext cx="4343400" cy="91"/>
          </a:xfrm>
          <a:prstGeom prst="line">
            <a:avLst/>
          </a:prstGeom>
          <a:noFill/>
          <a:ln w="6350">
            <a:solidFill>
              <a:srgbClr val="C9D3E6"/>
            </a:solidFill>
            <a:prstDash val="solid"/>
          </a:ln>
        </p:spPr>
      </p:sp>
      <p:sp>
        <p:nvSpPr>
          <p:cNvPr id="31" name="Shape 29"/>
          <p:cNvSpPr/>
          <p:nvPr/>
        </p:nvSpPr>
        <p:spPr>
          <a:xfrm>
            <a:off x="1371600" y="4054792"/>
            <a:ext cx="4343400" cy="91"/>
          </a:xfrm>
          <a:prstGeom prst="line">
            <a:avLst/>
          </a:prstGeom>
          <a:noFill/>
          <a:ln w="6350">
            <a:solidFill>
              <a:srgbClr val="E6EBF4"/>
            </a:solidFill>
            <a:prstDash val="solid"/>
          </a:ln>
        </p:spPr>
      </p:sp>
      <p:sp>
        <p:nvSpPr>
          <p:cNvPr id="32" name="Shape 30"/>
          <p:cNvSpPr/>
          <p:nvPr/>
        </p:nvSpPr>
        <p:spPr>
          <a:xfrm>
            <a:off x="1371600" y="3851910"/>
            <a:ext cx="4343400" cy="91"/>
          </a:xfrm>
          <a:prstGeom prst="line">
            <a:avLst/>
          </a:prstGeom>
          <a:noFill/>
          <a:ln w="6350">
            <a:solidFill>
              <a:srgbClr val="C9D3E6"/>
            </a:solidFill>
            <a:prstDash val="solid"/>
          </a:ln>
        </p:spPr>
      </p:sp>
      <p:sp>
        <p:nvSpPr>
          <p:cNvPr id="33" name="Shape 31"/>
          <p:cNvSpPr/>
          <p:nvPr/>
        </p:nvSpPr>
        <p:spPr>
          <a:xfrm>
            <a:off x="1371600" y="3649027"/>
            <a:ext cx="4343400" cy="91"/>
          </a:xfrm>
          <a:prstGeom prst="line">
            <a:avLst/>
          </a:prstGeom>
          <a:noFill/>
          <a:ln w="6350">
            <a:solidFill>
              <a:srgbClr val="E6EBF4"/>
            </a:solidFill>
            <a:prstDash val="solid"/>
          </a:ln>
        </p:spPr>
      </p:sp>
      <p:sp>
        <p:nvSpPr>
          <p:cNvPr id="34" name="Shape 32"/>
          <p:cNvSpPr/>
          <p:nvPr/>
        </p:nvSpPr>
        <p:spPr>
          <a:xfrm>
            <a:off x="1371600" y="3446145"/>
            <a:ext cx="4343400" cy="91"/>
          </a:xfrm>
          <a:prstGeom prst="line">
            <a:avLst/>
          </a:prstGeom>
          <a:noFill/>
          <a:ln w="6350">
            <a:solidFill>
              <a:srgbClr val="C9D3E6"/>
            </a:solidFill>
            <a:prstDash val="solid"/>
          </a:ln>
        </p:spPr>
      </p:sp>
      <p:sp>
        <p:nvSpPr>
          <p:cNvPr id="35" name="Shape 33"/>
          <p:cNvSpPr/>
          <p:nvPr/>
        </p:nvSpPr>
        <p:spPr>
          <a:xfrm>
            <a:off x="1371600" y="3243263"/>
            <a:ext cx="4343400" cy="91"/>
          </a:xfrm>
          <a:prstGeom prst="line">
            <a:avLst/>
          </a:prstGeom>
          <a:noFill/>
          <a:ln w="6350">
            <a:solidFill>
              <a:srgbClr val="E6EBF4"/>
            </a:solidFill>
            <a:prstDash val="solid"/>
          </a:ln>
        </p:spPr>
      </p:sp>
      <p:sp>
        <p:nvSpPr>
          <p:cNvPr id="36" name="Shape 34"/>
          <p:cNvSpPr/>
          <p:nvPr/>
        </p:nvSpPr>
        <p:spPr>
          <a:xfrm>
            <a:off x="1371600" y="3040380"/>
            <a:ext cx="4343400" cy="91"/>
          </a:xfrm>
          <a:prstGeom prst="line">
            <a:avLst/>
          </a:prstGeom>
          <a:noFill/>
          <a:ln w="6350">
            <a:solidFill>
              <a:srgbClr val="C9D3E6"/>
            </a:solidFill>
            <a:prstDash val="solid"/>
          </a:ln>
        </p:spPr>
      </p:sp>
      <p:sp>
        <p:nvSpPr>
          <p:cNvPr id="37" name="Shape 35"/>
          <p:cNvSpPr/>
          <p:nvPr/>
        </p:nvSpPr>
        <p:spPr>
          <a:xfrm>
            <a:off x="1371600" y="2837497"/>
            <a:ext cx="4343400" cy="91"/>
          </a:xfrm>
          <a:prstGeom prst="line">
            <a:avLst/>
          </a:prstGeom>
          <a:noFill/>
          <a:ln w="6350">
            <a:solidFill>
              <a:srgbClr val="E6EBF4"/>
            </a:solidFill>
            <a:prstDash val="solid"/>
          </a:ln>
        </p:spPr>
      </p:sp>
      <p:sp>
        <p:nvSpPr>
          <p:cNvPr id="38" name="Shape 36"/>
          <p:cNvSpPr/>
          <p:nvPr/>
        </p:nvSpPr>
        <p:spPr>
          <a:xfrm>
            <a:off x="1371600" y="2634615"/>
            <a:ext cx="4343400" cy="91"/>
          </a:xfrm>
          <a:prstGeom prst="line">
            <a:avLst/>
          </a:prstGeom>
          <a:noFill/>
          <a:ln w="6350">
            <a:solidFill>
              <a:srgbClr val="C9D3E6"/>
            </a:solidFill>
            <a:prstDash val="solid"/>
          </a:ln>
        </p:spPr>
      </p:sp>
      <p:sp>
        <p:nvSpPr>
          <p:cNvPr id="39" name="Shape 37"/>
          <p:cNvSpPr/>
          <p:nvPr/>
        </p:nvSpPr>
        <p:spPr>
          <a:xfrm>
            <a:off x="1371600" y="2431733"/>
            <a:ext cx="4343400" cy="91"/>
          </a:xfrm>
          <a:prstGeom prst="line">
            <a:avLst/>
          </a:prstGeom>
          <a:noFill/>
          <a:ln w="6350">
            <a:solidFill>
              <a:srgbClr val="E6EBF4"/>
            </a:solidFill>
            <a:prstDash val="solid"/>
          </a:ln>
        </p:spPr>
      </p:sp>
      <p:sp>
        <p:nvSpPr>
          <p:cNvPr id="40" name="Shape 38"/>
          <p:cNvSpPr/>
          <p:nvPr/>
        </p:nvSpPr>
        <p:spPr>
          <a:xfrm>
            <a:off x="1371600" y="2228850"/>
            <a:ext cx="4343400" cy="91"/>
          </a:xfrm>
          <a:prstGeom prst="line">
            <a:avLst/>
          </a:prstGeom>
          <a:noFill/>
          <a:ln w="6350">
            <a:solidFill>
              <a:srgbClr val="C9D3E6"/>
            </a:solidFill>
            <a:prstDash val="solid"/>
          </a:ln>
        </p:spPr>
      </p:sp>
      <p:sp>
        <p:nvSpPr>
          <p:cNvPr id="41" name="Shape 39"/>
          <p:cNvSpPr/>
          <p:nvPr/>
        </p:nvSpPr>
        <p:spPr>
          <a:xfrm>
            <a:off x="1371600" y="2025967"/>
            <a:ext cx="4343400" cy="91"/>
          </a:xfrm>
          <a:prstGeom prst="line">
            <a:avLst/>
          </a:prstGeom>
          <a:noFill/>
          <a:ln w="6350">
            <a:solidFill>
              <a:srgbClr val="E6EBF4"/>
            </a:solidFill>
            <a:prstDash val="solid"/>
          </a:ln>
        </p:spPr>
      </p:sp>
      <p:sp>
        <p:nvSpPr>
          <p:cNvPr id="42" name="Shape 40"/>
          <p:cNvSpPr/>
          <p:nvPr/>
        </p:nvSpPr>
        <p:spPr>
          <a:xfrm>
            <a:off x="1371600" y="1823085"/>
            <a:ext cx="4343400" cy="91"/>
          </a:xfrm>
          <a:prstGeom prst="line">
            <a:avLst/>
          </a:prstGeom>
          <a:noFill/>
          <a:ln w="6350">
            <a:solidFill>
              <a:srgbClr val="C9D3E6"/>
            </a:solidFill>
            <a:prstDash val="solid"/>
          </a:ln>
        </p:spPr>
      </p:sp>
      <p:sp>
        <p:nvSpPr>
          <p:cNvPr id="43" name="Shape 41"/>
          <p:cNvSpPr/>
          <p:nvPr/>
        </p:nvSpPr>
        <p:spPr>
          <a:xfrm>
            <a:off x="1371600" y="1620202"/>
            <a:ext cx="4343400" cy="91"/>
          </a:xfrm>
          <a:prstGeom prst="line">
            <a:avLst/>
          </a:prstGeom>
          <a:noFill/>
          <a:ln w="6350">
            <a:solidFill>
              <a:srgbClr val="E6EBF4"/>
            </a:solidFill>
            <a:prstDash val="solid"/>
          </a:ln>
        </p:spPr>
      </p:sp>
      <p:sp>
        <p:nvSpPr>
          <p:cNvPr id="44" name="Shape 42"/>
          <p:cNvSpPr/>
          <p:nvPr/>
        </p:nvSpPr>
        <p:spPr>
          <a:xfrm>
            <a:off x="1371600" y="1417320"/>
            <a:ext cx="4343400" cy="91"/>
          </a:xfrm>
          <a:prstGeom prst="line">
            <a:avLst/>
          </a:prstGeom>
          <a:noFill/>
          <a:ln w="6350">
            <a:solidFill>
              <a:srgbClr val="C9D3E6"/>
            </a:solidFill>
            <a:prstDash val="solid"/>
          </a:ln>
        </p:spPr>
      </p:sp>
      <p:sp>
        <p:nvSpPr>
          <p:cNvPr id="45" name="Shape 43"/>
          <p:cNvSpPr/>
          <p:nvPr/>
        </p:nvSpPr>
        <p:spPr>
          <a:xfrm>
            <a:off x="1371600" y="4663440"/>
            <a:ext cx="4343400" cy="91"/>
          </a:xfrm>
          <a:prstGeom prst="line">
            <a:avLst/>
          </a:prstGeom>
          <a:noFill/>
          <a:ln w="19050">
            <a:solidFill>
              <a:srgbClr val="1A2340"/>
            </a:solidFill>
            <a:prstDash val="solid"/>
          </a:ln>
        </p:spPr>
      </p:sp>
      <p:sp>
        <p:nvSpPr>
          <p:cNvPr id="46" name="Shape 44"/>
          <p:cNvSpPr/>
          <p:nvPr/>
        </p:nvSpPr>
        <p:spPr>
          <a:xfrm flipV="1">
            <a:off x="1371600" y="1417320"/>
            <a:ext cx="91" cy="3246120"/>
          </a:xfrm>
          <a:prstGeom prst="line">
            <a:avLst/>
          </a:prstGeom>
          <a:noFill/>
          <a:ln w="19050">
            <a:solidFill>
              <a:srgbClr val="1A2340"/>
            </a:solidFill>
            <a:prstDash val="solid"/>
          </a:ln>
        </p:spPr>
      </p:sp>
      <p:sp>
        <p:nvSpPr>
          <p:cNvPr id="47" name="Shape 45"/>
          <p:cNvSpPr/>
          <p:nvPr/>
        </p:nvSpPr>
        <p:spPr>
          <a:xfrm>
            <a:off x="1371600" y="4663440"/>
            <a:ext cx="91" cy="54864"/>
          </a:xfrm>
          <a:prstGeom prst="line">
            <a:avLst/>
          </a:prstGeom>
          <a:noFill/>
          <a:ln w="12700">
            <a:solidFill>
              <a:srgbClr val="1A2340"/>
            </a:solidFill>
            <a:prstDash val="solid"/>
          </a:ln>
        </p:spPr>
      </p:sp>
      <p:sp>
        <p:nvSpPr>
          <p:cNvPr id="48" name="Text 46"/>
          <p:cNvSpPr/>
          <p:nvPr/>
        </p:nvSpPr>
        <p:spPr>
          <a:xfrm>
            <a:off x="109728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9" name="Shape 47"/>
          <p:cNvSpPr/>
          <p:nvPr/>
        </p:nvSpPr>
        <p:spPr>
          <a:xfrm>
            <a:off x="1914525" y="4663440"/>
            <a:ext cx="91" cy="54864"/>
          </a:xfrm>
          <a:prstGeom prst="line">
            <a:avLst/>
          </a:prstGeom>
          <a:noFill/>
          <a:ln w="12700">
            <a:solidFill>
              <a:srgbClr val="1A2340"/>
            </a:solidFill>
            <a:prstDash val="solid"/>
          </a:ln>
        </p:spPr>
      </p:sp>
      <p:sp>
        <p:nvSpPr>
          <p:cNvPr id="50" name="Text 48"/>
          <p:cNvSpPr/>
          <p:nvPr/>
        </p:nvSpPr>
        <p:spPr>
          <a:xfrm>
            <a:off x="1640205"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51" name="Shape 49"/>
          <p:cNvSpPr/>
          <p:nvPr/>
        </p:nvSpPr>
        <p:spPr>
          <a:xfrm>
            <a:off x="2457450" y="4663440"/>
            <a:ext cx="91" cy="54864"/>
          </a:xfrm>
          <a:prstGeom prst="line">
            <a:avLst/>
          </a:prstGeom>
          <a:noFill/>
          <a:ln w="12700">
            <a:solidFill>
              <a:srgbClr val="1A2340"/>
            </a:solidFill>
            <a:prstDash val="solid"/>
          </a:ln>
        </p:spPr>
      </p:sp>
      <p:sp>
        <p:nvSpPr>
          <p:cNvPr id="52" name="Text 50"/>
          <p:cNvSpPr/>
          <p:nvPr/>
        </p:nvSpPr>
        <p:spPr>
          <a:xfrm>
            <a:off x="218313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3" name="Shape 51"/>
          <p:cNvSpPr/>
          <p:nvPr/>
        </p:nvSpPr>
        <p:spPr>
          <a:xfrm>
            <a:off x="3000375" y="4663440"/>
            <a:ext cx="91" cy="54864"/>
          </a:xfrm>
          <a:prstGeom prst="line">
            <a:avLst/>
          </a:prstGeom>
          <a:noFill/>
          <a:ln w="12700">
            <a:solidFill>
              <a:srgbClr val="1A2340"/>
            </a:solidFill>
            <a:prstDash val="solid"/>
          </a:ln>
        </p:spPr>
      </p:sp>
      <p:sp>
        <p:nvSpPr>
          <p:cNvPr id="54" name="Text 52"/>
          <p:cNvSpPr/>
          <p:nvPr/>
        </p:nvSpPr>
        <p:spPr>
          <a:xfrm>
            <a:off x="2726055"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5" name="Shape 53"/>
          <p:cNvSpPr/>
          <p:nvPr/>
        </p:nvSpPr>
        <p:spPr>
          <a:xfrm>
            <a:off x="3543300" y="4663440"/>
            <a:ext cx="91" cy="54864"/>
          </a:xfrm>
          <a:prstGeom prst="line">
            <a:avLst/>
          </a:prstGeom>
          <a:noFill/>
          <a:ln w="12700">
            <a:solidFill>
              <a:srgbClr val="1A2340"/>
            </a:solidFill>
            <a:prstDash val="solid"/>
          </a:ln>
        </p:spPr>
      </p:sp>
      <p:sp>
        <p:nvSpPr>
          <p:cNvPr id="56" name="Text 54"/>
          <p:cNvSpPr/>
          <p:nvPr/>
        </p:nvSpPr>
        <p:spPr>
          <a:xfrm>
            <a:off x="326898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57" name="Shape 55"/>
          <p:cNvSpPr/>
          <p:nvPr/>
        </p:nvSpPr>
        <p:spPr>
          <a:xfrm>
            <a:off x="4086225" y="4663440"/>
            <a:ext cx="91" cy="54864"/>
          </a:xfrm>
          <a:prstGeom prst="line">
            <a:avLst/>
          </a:prstGeom>
          <a:noFill/>
          <a:ln w="12700">
            <a:solidFill>
              <a:srgbClr val="1A2340"/>
            </a:solidFill>
            <a:prstDash val="solid"/>
          </a:ln>
        </p:spPr>
      </p:sp>
      <p:sp>
        <p:nvSpPr>
          <p:cNvPr id="58" name="Text 56"/>
          <p:cNvSpPr/>
          <p:nvPr/>
        </p:nvSpPr>
        <p:spPr>
          <a:xfrm>
            <a:off x="3811905"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59" name="Shape 57"/>
          <p:cNvSpPr/>
          <p:nvPr/>
        </p:nvSpPr>
        <p:spPr>
          <a:xfrm>
            <a:off x="4629150" y="4663440"/>
            <a:ext cx="91" cy="54864"/>
          </a:xfrm>
          <a:prstGeom prst="line">
            <a:avLst/>
          </a:prstGeom>
          <a:noFill/>
          <a:ln w="12700">
            <a:solidFill>
              <a:srgbClr val="1A2340"/>
            </a:solidFill>
            <a:prstDash val="solid"/>
          </a:ln>
        </p:spPr>
      </p:sp>
      <p:sp>
        <p:nvSpPr>
          <p:cNvPr id="60" name="Text 58"/>
          <p:cNvSpPr/>
          <p:nvPr/>
        </p:nvSpPr>
        <p:spPr>
          <a:xfrm>
            <a:off x="435483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61" name="Shape 59"/>
          <p:cNvSpPr/>
          <p:nvPr/>
        </p:nvSpPr>
        <p:spPr>
          <a:xfrm>
            <a:off x="5172075" y="4663440"/>
            <a:ext cx="91" cy="54864"/>
          </a:xfrm>
          <a:prstGeom prst="line">
            <a:avLst/>
          </a:prstGeom>
          <a:noFill/>
          <a:ln w="12700">
            <a:solidFill>
              <a:srgbClr val="1A2340"/>
            </a:solidFill>
            <a:prstDash val="solid"/>
          </a:ln>
        </p:spPr>
      </p:sp>
      <p:sp>
        <p:nvSpPr>
          <p:cNvPr id="62" name="Text 60"/>
          <p:cNvSpPr/>
          <p:nvPr/>
        </p:nvSpPr>
        <p:spPr>
          <a:xfrm>
            <a:off x="4897755"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63" name="Shape 61"/>
          <p:cNvSpPr/>
          <p:nvPr/>
        </p:nvSpPr>
        <p:spPr>
          <a:xfrm>
            <a:off x="5715000" y="4663440"/>
            <a:ext cx="91" cy="54864"/>
          </a:xfrm>
          <a:prstGeom prst="line">
            <a:avLst/>
          </a:prstGeom>
          <a:noFill/>
          <a:ln w="12700">
            <a:solidFill>
              <a:srgbClr val="1A2340"/>
            </a:solidFill>
            <a:prstDash val="solid"/>
          </a:ln>
        </p:spPr>
      </p:sp>
      <p:sp>
        <p:nvSpPr>
          <p:cNvPr id="64" name="Text 62"/>
          <p:cNvSpPr/>
          <p:nvPr/>
        </p:nvSpPr>
        <p:spPr>
          <a:xfrm>
            <a:off x="544068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65" name="Shape 63"/>
          <p:cNvSpPr/>
          <p:nvPr/>
        </p:nvSpPr>
        <p:spPr>
          <a:xfrm>
            <a:off x="1316736" y="4663440"/>
            <a:ext cx="54864" cy="91"/>
          </a:xfrm>
          <a:prstGeom prst="line">
            <a:avLst/>
          </a:prstGeom>
          <a:noFill/>
          <a:ln w="12700">
            <a:solidFill>
              <a:srgbClr val="1A2340"/>
            </a:solidFill>
            <a:prstDash val="solid"/>
          </a:ln>
        </p:spPr>
      </p:sp>
      <p:sp>
        <p:nvSpPr>
          <p:cNvPr id="66" name="Text 64"/>
          <p:cNvSpPr/>
          <p:nvPr/>
        </p:nvSpPr>
        <p:spPr>
          <a:xfrm>
            <a:off x="932688" y="45720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7" name="Shape 65"/>
          <p:cNvSpPr/>
          <p:nvPr/>
        </p:nvSpPr>
        <p:spPr>
          <a:xfrm>
            <a:off x="1316736" y="4257675"/>
            <a:ext cx="54864" cy="91"/>
          </a:xfrm>
          <a:prstGeom prst="line">
            <a:avLst/>
          </a:prstGeom>
          <a:noFill/>
          <a:ln w="12700">
            <a:solidFill>
              <a:srgbClr val="1A2340"/>
            </a:solidFill>
            <a:prstDash val="solid"/>
          </a:ln>
        </p:spPr>
      </p:sp>
      <p:sp>
        <p:nvSpPr>
          <p:cNvPr id="68" name="Text 66"/>
          <p:cNvSpPr/>
          <p:nvPr/>
        </p:nvSpPr>
        <p:spPr>
          <a:xfrm>
            <a:off x="932688" y="416623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69" name="Shape 67"/>
          <p:cNvSpPr/>
          <p:nvPr/>
        </p:nvSpPr>
        <p:spPr>
          <a:xfrm>
            <a:off x="1316736" y="3851910"/>
            <a:ext cx="54864" cy="91"/>
          </a:xfrm>
          <a:prstGeom prst="line">
            <a:avLst/>
          </a:prstGeom>
          <a:noFill/>
          <a:ln w="12700">
            <a:solidFill>
              <a:srgbClr val="1A2340"/>
            </a:solidFill>
            <a:prstDash val="solid"/>
          </a:ln>
        </p:spPr>
      </p:sp>
      <p:sp>
        <p:nvSpPr>
          <p:cNvPr id="70" name="Text 68"/>
          <p:cNvSpPr/>
          <p:nvPr/>
        </p:nvSpPr>
        <p:spPr>
          <a:xfrm>
            <a:off x="932688" y="376047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p>
        </p:txBody>
      </p:sp>
      <p:sp>
        <p:nvSpPr>
          <p:cNvPr id="71" name="Shape 69"/>
          <p:cNvSpPr/>
          <p:nvPr/>
        </p:nvSpPr>
        <p:spPr>
          <a:xfrm>
            <a:off x="1316736" y="3446145"/>
            <a:ext cx="54864" cy="91"/>
          </a:xfrm>
          <a:prstGeom prst="line">
            <a:avLst/>
          </a:prstGeom>
          <a:noFill/>
          <a:ln w="12700">
            <a:solidFill>
              <a:srgbClr val="1A2340"/>
            </a:solidFill>
            <a:prstDash val="solid"/>
          </a:ln>
        </p:spPr>
      </p:sp>
      <p:sp>
        <p:nvSpPr>
          <p:cNvPr id="72" name="Text 70"/>
          <p:cNvSpPr/>
          <p:nvPr/>
        </p:nvSpPr>
        <p:spPr>
          <a:xfrm>
            <a:off x="932688" y="335470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300</a:t>
            </a:r>
            <a:endParaRPr lang="en-US" sz="1000" dirty="0"/>
          </a:p>
        </p:txBody>
      </p:sp>
      <p:sp>
        <p:nvSpPr>
          <p:cNvPr id="73" name="Shape 71"/>
          <p:cNvSpPr/>
          <p:nvPr/>
        </p:nvSpPr>
        <p:spPr>
          <a:xfrm>
            <a:off x="1316736" y="3040380"/>
            <a:ext cx="54864" cy="91"/>
          </a:xfrm>
          <a:prstGeom prst="line">
            <a:avLst/>
          </a:prstGeom>
          <a:noFill/>
          <a:ln w="12700">
            <a:solidFill>
              <a:srgbClr val="1A2340"/>
            </a:solidFill>
            <a:prstDash val="solid"/>
          </a:ln>
        </p:spPr>
      </p:sp>
      <p:sp>
        <p:nvSpPr>
          <p:cNvPr id="74" name="Text 72"/>
          <p:cNvSpPr/>
          <p:nvPr/>
        </p:nvSpPr>
        <p:spPr>
          <a:xfrm>
            <a:off x="932688" y="29489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400</a:t>
            </a:r>
            <a:endParaRPr lang="en-US" sz="1000" dirty="0"/>
          </a:p>
        </p:txBody>
      </p:sp>
      <p:sp>
        <p:nvSpPr>
          <p:cNvPr id="75" name="Shape 73"/>
          <p:cNvSpPr/>
          <p:nvPr/>
        </p:nvSpPr>
        <p:spPr>
          <a:xfrm>
            <a:off x="1316736" y="2634615"/>
            <a:ext cx="54864" cy="91"/>
          </a:xfrm>
          <a:prstGeom prst="line">
            <a:avLst/>
          </a:prstGeom>
          <a:noFill/>
          <a:ln w="12700">
            <a:solidFill>
              <a:srgbClr val="1A2340"/>
            </a:solidFill>
            <a:prstDash val="solid"/>
          </a:ln>
        </p:spPr>
      </p:sp>
      <p:sp>
        <p:nvSpPr>
          <p:cNvPr id="76" name="Text 74"/>
          <p:cNvSpPr/>
          <p:nvPr/>
        </p:nvSpPr>
        <p:spPr>
          <a:xfrm>
            <a:off x="932688" y="254317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500</a:t>
            </a:r>
            <a:endParaRPr lang="en-US" sz="1000" dirty="0"/>
          </a:p>
        </p:txBody>
      </p:sp>
      <p:sp>
        <p:nvSpPr>
          <p:cNvPr id="77" name="Shape 75"/>
          <p:cNvSpPr/>
          <p:nvPr/>
        </p:nvSpPr>
        <p:spPr>
          <a:xfrm>
            <a:off x="1316736" y="2228850"/>
            <a:ext cx="54864" cy="91"/>
          </a:xfrm>
          <a:prstGeom prst="line">
            <a:avLst/>
          </a:prstGeom>
          <a:noFill/>
          <a:ln w="12700">
            <a:solidFill>
              <a:srgbClr val="1A2340"/>
            </a:solidFill>
            <a:prstDash val="solid"/>
          </a:ln>
        </p:spPr>
      </p:sp>
      <p:sp>
        <p:nvSpPr>
          <p:cNvPr id="78" name="Text 76"/>
          <p:cNvSpPr/>
          <p:nvPr/>
        </p:nvSpPr>
        <p:spPr>
          <a:xfrm>
            <a:off x="932688" y="213741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600</a:t>
            </a:r>
            <a:endParaRPr lang="en-US" sz="1000" dirty="0"/>
          </a:p>
        </p:txBody>
      </p:sp>
      <p:sp>
        <p:nvSpPr>
          <p:cNvPr id="79" name="Shape 77"/>
          <p:cNvSpPr/>
          <p:nvPr/>
        </p:nvSpPr>
        <p:spPr>
          <a:xfrm>
            <a:off x="1316736" y="1823085"/>
            <a:ext cx="54864" cy="91"/>
          </a:xfrm>
          <a:prstGeom prst="line">
            <a:avLst/>
          </a:prstGeom>
          <a:noFill/>
          <a:ln w="12700">
            <a:solidFill>
              <a:srgbClr val="1A2340"/>
            </a:solidFill>
            <a:prstDash val="solid"/>
          </a:ln>
        </p:spPr>
      </p:sp>
      <p:sp>
        <p:nvSpPr>
          <p:cNvPr id="80" name="Text 78"/>
          <p:cNvSpPr/>
          <p:nvPr/>
        </p:nvSpPr>
        <p:spPr>
          <a:xfrm>
            <a:off x="932688" y="173164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700</a:t>
            </a:r>
            <a:endParaRPr lang="en-US" sz="1000" dirty="0"/>
          </a:p>
        </p:txBody>
      </p:sp>
      <p:sp>
        <p:nvSpPr>
          <p:cNvPr id="81" name="Shape 79"/>
          <p:cNvSpPr/>
          <p:nvPr/>
        </p:nvSpPr>
        <p:spPr>
          <a:xfrm>
            <a:off x="1316736" y="1417320"/>
            <a:ext cx="54864" cy="91"/>
          </a:xfrm>
          <a:prstGeom prst="line">
            <a:avLst/>
          </a:prstGeom>
          <a:noFill/>
          <a:ln w="12700">
            <a:solidFill>
              <a:srgbClr val="1A2340"/>
            </a:solidFill>
            <a:prstDash val="solid"/>
          </a:ln>
        </p:spPr>
      </p:sp>
      <p:sp>
        <p:nvSpPr>
          <p:cNvPr id="82" name="Text 80"/>
          <p:cNvSpPr/>
          <p:nvPr/>
        </p:nvSpPr>
        <p:spPr>
          <a:xfrm>
            <a:off x="93268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800</a:t>
            </a:r>
            <a:endParaRPr lang="en-US" sz="1000" dirty="0"/>
          </a:p>
        </p:txBody>
      </p:sp>
      <p:sp>
        <p:nvSpPr>
          <p:cNvPr id="83" name="Text 81"/>
          <p:cNvSpPr/>
          <p:nvPr/>
        </p:nvSpPr>
        <p:spPr>
          <a:xfrm>
            <a:off x="1371600" y="4910328"/>
            <a:ext cx="43434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time / days</a:t>
            </a:r>
            <a:endParaRPr lang="en-US" sz="1050" dirty="0"/>
          </a:p>
        </p:txBody>
      </p:sp>
      <p:sp>
        <p:nvSpPr>
          <p:cNvPr id="84" name="Text 82"/>
          <p:cNvSpPr/>
          <p:nvPr/>
        </p:nvSpPr>
        <p:spPr>
          <a:xfrm rot="16200000">
            <a:off x="-818388" y="2912364"/>
            <a:ext cx="3246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activity / Bq</a:t>
            </a:r>
            <a:endParaRPr lang="en-US" sz="1050" dirty="0"/>
          </a:p>
        </p:txBody>
      </p:sp>
      <p:sp>
        <p:nvSpPr>
          <p:cNvPr id="85" name="Shape 83"/>
          <p:cNvSpPr/>
          <p:nvPr/>
        </p:nvSpPr>
        <p:spPr>
          <a:xfrm>
            <a:off x="1371600" y="1417320"/>
            <a:ext cx="67866" cy="269415"/>
          </a:xfrm>
          <a:prstGeom prst="line">
            <a:avLst/>
          </a:prstGeom>
          <a:noFill/>
          <a:ln w="31750">
            <a:solidFill>
              <a:srgbClr val="C8414C"/>
            </a:solidFill>
            <a:prstDash val="solid"/>
          </a:ln>
        </p:spPr>
      </p:sp>
      <p:sp>
        <p:nvSpPr>
          <p:cNvPr id="86" name="Shape 84"/>
          <p:cNvSpPr/>
          <p:nvPr/>
        </p:nvSpPr>
        <p:spPr>
          <a:xfrm>
            <a:off x="1439466" y="1686735"/>
            <a:ext cx="67866" cy="247054"/>
          </a:xfrm>
          <a:prstGeom prst="line">
            <a:avLst/>
          </a:prstGeom>
          <a:noFill/>
          <a:ln w="31750">
            <a:solidFill>
              <a:srgbClr val="C8414C"/>
            </a:solidFill>
            <a:prstDash val="solid"/>
          </a:ln>
        </p:spPr>
      </p:sp>
      <p:sp>
        <p:nvSpPr>
          <p:cNvPr id="87" name="Shape 85"/>
          <p:cNvSpPr/>
          <p:nvPr/>
        </p:nvSpPr>
        <p:spPr>
          <a:xfrm>
            <a:off x="1507331" y="1933789"/>
            <a:ext cx="67866" cy="226550"/>
          </a:xfrm>
          <a:prstGeom prst="line">
            <a:avLst/>
          </a:prstGeom>
          <a:noFill/>
          <a:ln w="31750">
            <a:solidFill>
              <a:srgbClr val="C8414C"/>
            </a:solidFill>
            <a:prstDash val="solid"/>
          </a:ln>
        </p:spPr>
      </p:sp>
      <p:sp>
        <p:nvSpPr>
          <p:cNvPr id="88" name="Shape 86"/>
          <p:cNvSpPr/>
          <p:nvPr/>
        </p:nvSpPr>
        <p:spPr>
          <a:xfrm>
            <a:off x="1575197" y="2160339"/>
            <a:ext cx="67866" cy="207747"/>
          </a:xfrm>
          <a:prstGeom prst="line">
            <a:avLst/>
          </a:prstGeom>
          <a:noFill/>
          <a:ln w="31750">
            <a:solidFill>
              <a:srgbClr val="C8414C"/>
            </a:solidFill>
            <a:prstDash val="solid"/>
          </a:ln>
        </p:spPr>
      </p:sp>
      <p:sp>
        <p:nvSpPr>
          <p:cNvPr id="89" name="Shape 87"/>
          <p:cNvSpPr/>
          <p:nvPr/>
        </p:nvSpPr>
        <p:spPr>
          <a:xfrm>
            <a:off x="1643063" y="2368087"/>
            <a:ext cx="67866" cy="190505"/>
          </a:xfrm>
          <a:prstGeom prst="line">
            <a:avLst/>
          </a:prstGeom>
          <a:noFill/>
          <a:ln w="31750">
            <a:solidFill>
              <a:srgbClr val="C8414C"/>
            </a:solidFill>
            <a:prstDash val="solid"/>
          </a:ln>
        </p:spPr>
      </p:sp>
      <p:sp>
        <p:nvSpPr>
          <p:cNvPr id="90" name="Shape 88"/>
          <p:cNvSpPr/>
          <p:nvPr/>
        </p:nvSpPr>
        <p:spPr>
          <a:xfrm>
            <a:off x="1710928" y="2558592"/>
            <a:ext cx="67866" cy="174694"/>
          </a:xfrm>
          <a:prstGeom prst="line">
            <a:avLst/>
          </a:prstGeom>
          <a:noFill/>
          <a:ln w="31750">
            <a:solidFill>
              <a:srgbClr val="C8414C"/>
            </a:solidFill>
            <a:prstDash val="solid"/>
          </a:ln>
        </p:spPr>
      </p:sp>
      <p:sp>
        <p:nvSpPr>
          <p:cNvPr id="91" name="Shape 89"/>
          <p:cNvSpPr/>
          <p:nvPr/>
        </p:nvSpPr>
        <p:spPr>
          <a:xfrm>
            <a:off x="1778794" y="2733285"/>
            <a:ext cx="67866" cy="160195"/>
          </a:xfrm>
          <a:prstGeom prst="line">
            <a:avLst/>
          </a:prstGeom>
          <a:noFill/>
          <a:ln w="31750">
            <a:solidFill>
              <a:srgbClr val="C8414C"/>
            </a:solidFill>
            <a:prstDash val="solid"/>
          </a:ln>
        </p:spPr>
      </p:sp>
      <p:sp>
        <p:nvSpPr>
          <p:cNvPr id="92" name="Shape 90"/>
          <p:cNvSpPr/>
          <p:nvPr/>
        </p:nvSpPr>
        <p:spPr>
          <a:xfrm>
            <a:off x="1846659" y="2893481"/>
            <a:ext cx="67866" cy="146899"/>
          </a:xfrm>
          <a:prstGeom prst="line">
            <a:avLst/>
          </a:prstGeom>
          <a:noFill/>
          <a:ln w="31750">
            <a:solidFill>
              <a:srgbClr val="C8414C"/>
            </a:solidFill>
            <a:prstDash val="solid"/>
          </a:ln>
        </p:spPr>
      </p:sp>
      <p:sp>
        <p:nvSpPr>
          <p:cNvPr id="93" name="Shape 91"/>
          <p:cNvSpPr/>
          <p:nvPr/>
        </p:nvSpPr>
        <p:spPr>
          <a:xfrm>
            <a:off x="1914525" y="3040380"/>
            <a:ext cx="67866" cy="134707"/>
          </a:xfrm>
          <a:prstGeom prst="line">
            <a:avLst/>
          </a:prstGeom>
          <a:noFill/>
          <a:ln w="31750">
            <a:solidFill>
              <a:srgbClr val="C8414C"/>
            </a:solidFill>
            <a:prstDash val="solid"/>
          </a:ln>
        </p:spPr>
      </p:sp>
      <p:sp>
        <p:nvSpPr>
          <p:cNvPr id="94" name="Shape 92"/>
          <p:cNvSpPr/>
          <p:nvPr/>
        </p:nvSpPr>
        <p:spPr>
          <a:xfrm>
            <a:off x="1982391" y="3175087"/>
            <a:ext cx="67866" cy="123527"/>
          </a:xfrm>
          <a:prstGeom prst="line">
            <a:avLst/>
          </a:prstGeom>
          <a:noFill/>
          <a:ln w="31750">
            <a:solidFill>
              <a:srgbClr val="C8414C"/>
            </a:solidFill>
            <a:prstDash val="solid"/>
          </a:ln>
        </p:spPr>
      </p:sp>
      <p:sp>
        <p:nvSpPr>
          <p:cNvPr id="95" name="Shape 93"/>
          <p:cNvSpPr/>
          <p:nvPr/>
        </p:nvSpPr>
        <p:spPr>
          <a:xfrm>
            <a:off x="2050256" y="3298615"/>
            <a:ext cx="67866" cy="113275"/>
          </a:xfrm>
          <a:prstGeom prst="line">
            <a:avLst/>
          </a:prstGeom>
          <a:noFill/>
          <a:ln w="31750">
            <a:solidFill>
              <a:srgbClr val="C8414C"/>
            </a:solidFill>
            <a:prstDash val="solid"/>
          </a:ln>
        </p:spPr>
      </p:sp>
      <p:sp>
        <p:nvSpPr>
          <p:cNvPr id="96" name="Shape 94"/>
          <p:cNvSpPr/>
          <p:nvPr/>
        </p:nvSpPr>
        <p:spPr>
          <a:xfrm>
            <a:off x="2118122" y="3411890"/>
            <a:ext cx="67866" cy="103874"/>
          </a:xfrm>
          <a:prstGeom prst="line">
            <a:avLst/>
          </a:prstGeom>
          <a:noFill/>
          <a:ln w="31750">
            <a:solidFill>
              <a:srgbClr val="C8414C"/>
            </a:solidFill>
            <a:prstDash val="solid"/>
          </a:ln>
        </p:spPr>
      </p:sp>
      <p:sp>
        <p:nvSpPr>
          <p:cNvPr id="97" name="Shape 95"/>
          <p:cNvSpPr/>
          <p:nvPr/>
        </p:nvSpPr>
        <p:spPr>
          <a:xfrm>
            <a:off x="2185988" y="3515763"/>
            <a:ext cx="67866" cy="95253"/>
          </a:xfrm>
          <a:prstGeom prst="line">
            <a:avLst/>
          </a:prstGeom>
          <a:noFill/>
          <a:ln w="31750">
            <a:solidFill>
              <a:srgbClr val="C8414C"/>
            </a:solidFill>
            <a:prstDash val="solid"/>
          </a:ln>
        </p:spPr>
      </p:sp>
      <p:sp>
        <p:nvSpPr>
          <p:cNvPr id="98" name="Shape 96"/>
          <p:cNvSpPr/>
          <p:nvPr/>
        </p:nvSpPr>
        <p:spPr>
          <a:xfrm>
            <a:off x="2253853" y="3611016"/>
            <a:ext cx="67866" cy="87347"/>
          </a:xfrm>
          <a:prstGeom prst="line">
            <a:avLst/>
          </a:prstGeom>
          <a:noFill/>
          <a:ln w="31750">
            <a:solidFill>
              <a:srgbClr val="C8414C"/>
            </a:solidFill>
            <a:prstDash val="solid"/>
          </a:ln>
        </p:spPr>
      </p:sp>
      <p:sp>
        <p:nvSpPr>
          <p:cNvPr id="99" name="Shape 97"/>
          <p:cNvSpPr/>
          <p:nvPr/>
        </p:nvSpPr>
        <p:spPr>
          <a:xfrm>
            <a:off x="2321719" y="3698363"/>
            <a:ext cx="67866" cy="80098"/>
          </a:xfrm>
          <a:prstGeom prst="line">
            <a:avLst/>
          </a:prstGeom>
          <a:noFill/>
          <a:ln w="31750">
            <a:solidFill>
              <a:srgbClr val="C8414C"/>
            </a:solidFill>
            <a:prstDash val="solid"/>
          </a:ln>
        </p:spPr>
      </p:sp>
      <p:sp>
        <p:nvSpPr>
          <p:cNvPr id="100" name="Shape 98"/>
          <p:cNvSpPr/>
          <p:nvPr/>
        </p:nvSpPr>
        <p:spPr>
          <a:xfrm>
            <a:off x="2389584" y="3778460"/>
            <a:ext cx="67866" cy="73450"/>
          </a:xfrm>
          <a:prstGeom prst="line">
            <a:avLst/>
          </a:prstGeom>
          <a:noFill/>
          <a:ln w="31750">
            <a:solidFill>
              <a:srgbClr val="C8414C"/>
            </a:solidFill>
            <a:prstDash val="solid"/>
          </a:ln>
        </p:spPr>
      </p:sp>
      <p:sp>
        <p:nvSpPr>
          <p:cNvPr id="101" name="Shape 99"/>
          <p:cNvSpPr/>
          <p:nvPr/>
        </p:nvSpPr>
        <p:spPr>
          <a:xfrm>
            <a:off x="2457450" y="3851910"/>
            <a:ext cx="67866" cy="67354"/>
          </a:xfrm>
          <a:prstGeom prst="line">
            <a:avLst/>
          </a:prstGeom>
          <a:noFill/>
          <a:ln w="31750">
            <a:solidFill>
              <a:srgbClr val="C8414C"/>
            </a:solidFill>
            <a:prstDash val="solid"/>
          </a:ln>
        </p:spPr>
      </p:sp>
      <p:sp>
        <p:nvSpPr>
          <p:cNvPr id="102" name="Shape 100"/>
          <p:cNvSpPr/>
          <p:nvPr/>
        </p:nvSpPr>
        <p:spPr>
          <a:xfrm>
            <a:off x="2525316" y="3919264"/>
            <a:ext cx="67866" cy="61764"/>
          </a:xfrm>
          <a:prstGeom prst="line">
            <a:avLst/>
          </a:prstGeom>
          <a:noFill/>
          <a:ln w="31750">
            <a:solidFill>
              <a:srgbClr val="C8414C"/>
            </a:solidFill>
            <a:prstDash val="solid"/>
          </a:ln>
        </p:spPr>
      </p:sp>
      <p:sp>
        <p:nvSpPr>
          <p:cNvPr id="103" name="Shape 101"/>
          <p:cNvSpPr/>
          <p:nvPr/>
        </p:nvSpPr>
        <p:spPr>
          <a:xfrm>
            <a:off x="2593181" y="3981027"/>
            <a:ext cx="67866" cy="56637"/>
          </a:xfrm>
          <a:prstGeom prst="line">
            <a:avLst/>
          </a:prstGeom>
          <a:noFill/>
          <a:ln w="31750">
            <a:solidFill>
              <a:srgbClr val="C8414C"/>
            </a:solidFill>
            <a:prstDash val="solid"/>
          </a:ln>
        </p:spPr>
      </p:sp>
      <p:sp>
        <p:nvSpPr>
          <p:cNvPr id="104" name="Shape 102"/>
          <p:cNvSpPr/>
          <p:nvPr/>
        </p:nvSpPr>
        <p:spPr>
          <a:xfrm>
            <a:off x="2661047" y="4037665"/>
            <a:ext cx="67866" cy="51937"/>
          </a:xfrm>
          <a:prstGeom prst="line">
            <a:avLst/>
          </a:prstGeom>
          <a:noFill/>
          <a:ln w="31750">
            <a:solidFill>
              <a:srgbClr val="C8414C"/>
            </a:solidFill>
            <a:prstDash val="solid"/>
          </a:ln>
        </p:spPr>
      </p:sp>
      <p:sp>
        <p:nvSpPr>
          <p:cNvPr id="105" name="Shape 103"/>
          <p:cNvSpPr/>
          <p:nvPr/>
        </p:nvSpPr>
        <p:spPr>
          <a:xfrm>
            <a:off x="2728913" y="4089602"/>
            <a:ext cx="67866" cy="47626"/>
          </a:xfrm>
          <a:prstGeom prst="line">
            <a:avLst/>
          </a:prstGeom>
          <a:noFill/>
          <a:ln w="31750">
            <a:solidFill>
              <a:srgbClr val="C8414C"/>
            </a:solidFill>
            <a:prstDash val="solid"/>
          </a:ln>
        </p:spPr>
      </p:sp>
      <p:sp>
        <p:nvSpPr>
          <p:cNvPr id="106" name="Shape 104"/>
          <p:cNvSpPr/>
          <p:nvPr/>
        </p:nvSpPr>
        <p:spPr>
          <a:xfrm>
            <a:off x="2796778" y="4137228"/>
            <a:ext cx="67866" cy="43673"/>
          </a:xfrm>
          <a:prstGeom prst="line">
            <a:avLst/>
          </a:prstGeom>
          <a:noFill/>
          <a:ln w="31750">
            <a:solidFill>
              <a:srgbClr val="C8414C"/>
            </a:solidFill>
            <a:prstDash val="solid"/>
          </a:ln>
        </p:spPr>
      </p:sp>
      <p:sp>
        <p:nvSpPr>
          <p:cNvPr id="107" name="Shape 105"/>
          <p:cNvSpPr/>
          <p:nvPr/>
        </p:nvSpPr>
        <p:spPr>
          <a:xfrm>
            <a:off x="2864644" y="4180901"/>
            <a:ext cx="67866" cy="40049"/>
          </a:xfrm>
          <a:prstGeom prst="line">
            <a:avLst/>
          </a:prstGeom>
          <a:noFill/>
          <a:ln w="31750">
            <a:solidFill>
              <a:srgbClr val="C8414C"/>
            </a:solidFill>
            <a:prstDash val="solid"/>
          </a:ln>
        </p:spPr>
      </p:sp>
      <p:sp>
        <p:nvSpPr>
          <p:cNvPr id="108" name="Shape 106"/>
          <p:cNvSpPr/>
          <p:nvPr/>
        </p:nvSpPr>
        <p:spPr>
          <a:xfrm>
            <a:off x="2932509" y="4220950"/>
            <a:ext cx="67866" cy="36725"/>
          </a:xfrm>
          <a:prstGeom prst="line">
            <a:avLst/>
          </a:prstGeom>
          <a:noFill/>
          <a:ln w="31750">
            <a:solidFill>
              <a:srgbClr val="C8414C"/>
            </a:solidFill>
            <a:prstDash val="solid"/>
          </a:ln>
        </p:spPr>
      </p:sp>
      <p:sp>
        <p:nvSpPr>
          <p:cNvPr id="109" name="Shape 107"/>
          <p:cNvSpPr/>
          <p:nvPr/>
        </p:nvSpPr>
        <p:spPr>
          <a:xfrm>
            <a:off x="3000375" y="4257675"/>
            <a:ext cx="67866" cy="33677"/>
          </a:xfrm>
          <a:prstGeom prst="line">
            <a:avLst/>
          </a:prstGeom>
          <a:noFill/>
          <a:ln w="31750">
            <a:solidFill>
              <a:srgbClr val="C8414C"/>
            </a:solidFill>
            <a:prstDash val="solid"/>
          </a:ln>
        </p:spPr>
      </p:sp>
      <p:sp>
        <p:nvSpPr>
          <p:cNvPr id="110" name="Shape 108"/>
          <p:cNvSpPr/>
          <p:nvPr/>
        </p:nvSpPr>
        <p:spPr>
          <a:xfrm>
            <a:off x="3068241" y="4291352"/>
            <a:ext cx="67866" cy="30882"/>
          </a:xfrm>
          <a:prstGeom prst="line">
            <a:avLst/>
          </a:prstGeom>
          <a:noFill/>
          <a:ln w="31750">
            <a:solidFill>
              <a:srgbClr val="C8414C"/>
            </a:solidFill>
            <a:prstDash val="solid"/>
          </a:ln>
        </p:spPr>
      </p:sp>
      <p:sp>
        <p:nvSpPr>
          <p:cNvPr id="111" name="Shape 109"/>
          <p:cNvSpPr/>
          <p:nvPr/>
        </p:nvSpPr>
        <p:spPr>
          <a:xfrm>
            <a:off x="3136106" y="4322234"/>
            <a:ext cx="67866" cy="28319"/>
          </a:xfrm>
          <a:prstGeom prst="line">
            <a:avLst/>
          </a:prstGeom>
          <a:noFill/>
          <a:ln w="31750">
            <a:solidFill>
              <a:srgbClr val="C8414C"/>
            </a:solidFill>
            <a:prstDash val="solid"/>
          </a:ln>
        </p:spPr>
      </p:sp>
      <p:sp>
        <p:nvSpPr>
          <p:cNvPr id="112" name="Shape 110"/>
          <p:cNvSpPr/>
          <p:nvPr/>
        </p:nvSpPr>
        <p:spPr>
          <a:xfrm>
            <a:off x="3203972" y="4350552"/>
            <a:ext cx="67866" cy="25968"/>
          </a:xfrm>
          <a:prstGeom prst="line">
            <a:avLst/>
          </a:prstGeom>
          <a:noFill/>
          <a:ln w="31750">
            <a:solidFill>
              <a:srgbClr val="C8414C"/>
            </a:solidFill>
            <a:prstDash val="solid"/>
          </a:ln>
        </p:spPr>
      </p:sp>
      <p:sp>
        <p:nvSpPr>
          <p:cNvPr id="113" name="Shape 111"/>
          <p:cNvSpPr/>
          <p:nvPr/>
        </p:nvSpPr>
        <p:spPr>
          <a:xfrm>
            <a:off x="3271838" y="4376521"/>
            <a:ext cx="67866" cy="23813"/>
          </a:xfrm>
          <a:prstGeom prst="line">
            <a:avLst/>
          </a:prstGeom>
          <a:noFill/>
          <a:ln w="31750">
            <a:solidFill>
              <a:srgbClr val="C8414C"/>
            </a:solidFill>
            <a:prstDash val="solid"/>
          </a:ln>
        </p:spPr>
      </p:sp>
      <p:sp>
        <p:nvSpPr>
          <p:cNvPr id="114" name="Shape 112"/>
          <p:cNvSpPr/>
          <p:nvPr/>
        </p:nvSpPr>
        <p:spPr>
          <a:xfrm>
            <a:off x="3339703" y="4400334"/>
            <a:ext cx="67866" cy="21837"/>
          </a:xfrm>
          <a:prstGeom prst="line">
            <a:avLst/>
          </a:prstGeom>
          <a:noFill/>
          <a:ln w="31750">
            <a:solidFill>
              <a:srgbClr val="C8414C"/>
            </a:solidFill>
            <a:prstDash val="solid"/>
          </a:ln>
        </p:spPr>
      </p:sp>
      <p:sp>
        <p:nvSpPr>
          <p:cNvPr id="115" name="Shape 113"/>
          <p:cNvSpPr/>
          <p:nvPr/>
        </p:nvSpPr>
        <p:spPr>
          <a:xfrm>
            <a:off x="3407569" y="4422171"/>
            <a:ext cx="67866" cy="20024"/>
          </a:xfrm>
          <a:prstGeom prst="line">
            <a:avLst/>
          </a:prstGeom>
          <a:noFill/>
          <a:ln w="31750">
            <a:solidFill>
              <a:srgbClr val="C8414C"/>
            </a:solidFill>
            <a:prstDash val="solid"/>
          </a:ln>
        </p:spPr>
      </p:sp>
      <p:sp>
        <p:nvSpPr>
          <p:cNvPr id="116" name="Shape 114"/>
          <p:cNvSpPr/>
          <p:nvPr/>
        </p:nvSpPr>
        <p:spPr>
          <a:xfrm>
            <a:off x="3475434" y="4442195"/>
            <a:ext cx="67866" cy="18362"/>
          </a:xfrm>
          <a:prstGeom prst="line">
            <a:avLst/>
          </a:prstGeom>
          <a:noFill/>
          <a:ln w="31750">
            <a:solidFill>
              <a:srgbClr val="C8414C"/>
            </a:solidFill>
            <a:prstDash val="solid"/>
          </a:ln>
        </p:spPr>
      </p:sp>
      <p:sp>
        <p:nvSpPr>
          <p:cNvPr id="117" name="Shape 115"/>
          <p:cNvSpPr/>
          <p:nvPr/>
        </p:nvSpPr>
        <p:spPr>
          <a:xfrm>
            <a:off x="3543300" y="4460558"/>
            <a:ext cx="67866" cy="16838"/>
          </a:xfrm>
          <a:prstGeom prst="line">
            <a:avLst/>
          </a:prstGeom>
          <a:noFill/>
          <a:ln w="31750">
            <a:solidFill>
              <a:srgbClr val="C8414C"/>
            </a:solidFill>
            <a:prstDash val="solid"/>
          </a:ln>
        </p:spPr>
      </p:sp>
      <p:sp>
        <p:nvSpPr>
          <p:cNvPr id="118" name="Shape 116"/>
          <p:cNvSpPr/>
          <p:nvPr/>
        </p:nvSpPr>
        <p:spPr>
          <a:xfrm>
            <a:off x="3611166" y="4477396"/>
            <a:ext cx="67866" cy="15441"/>
          </a:xfrm>
          <a:prstGeom prst="line">
            <a:avLst/>
          </a:prstGeom>
          <a:noFill/>
          <a:ln w="31750">
            <a:solidFill>
              <a:srgbClr val="C8414C"/>
            </a:solidFill>
            <a:prstDash val="solid"/>
          </a:ln>
        </p:spPr>
      </p:sp>
      <p:sp>
        <p:nvSpPr>
          <p:cNvPr id="119" name="Shape 117"/>
          <p:cNvSpPr/>
          <p:nvPr/>
        </p:nvSpPr>
        <p:spPr>
          <a:xfrm>
            <a:off x="3679031" y="4492837"/>
            <a:ext cx="67866" cy="14159"/>
          </a:xfrm>
          <a:prstGeom prst="line">
            <a:avLst/>
          </a:prstGeom>
          <a:noFill/>
          <a:ln w="31750">
            <a:solidFill>
              <a:srgbClr val="C8414C"/>
            </a:solidFill>
            <a:prstDash val="solid"/>
          </a:ln>
        </p:spPr>
      </p:sp>
      <p:sp>
        <p:nvSpPr>
          <p:cNvPr id="120" name="Shape 118"/>
          <p:cNvSpPr/>
          <p:nvPr/>
        </p:nvSpPr>
        <p:spPr>
          <a:xfrm>
            <a:off x="3746897" y="4506996"/>
            <a:ext cx="67866" cy="12984"/>
          </a:xfrm>
          <a:prstGeom prst="line">
            <a:avLst/>
          </a:prstGeom>
          <a:noFill/>
          <a:ln w="31750">
            <a:solidFill>
              <a:srgbClr val="C8414C"/>
            </a:solidFill>
            <a:prstDash val="solid"/>
          </a:ln>
        </p:spPr>
      </p:sp>
      <p:sp>
        <p:nvSpPr>
          <p:cNvPr id="121" name="Shape 119"/>
          <p:cNvSpPr/>
          <p:nvPr/>
        </p:nvSpPr>
        <p:spPr>
          <a:xfrm>
            <a:off x="3814763" y="4519980"/>
            <a:ext cx="67866" cy="11907"/>
          </a:xfrm>
          <a:prstGeom prst="line">
            <a:avLst/>
          </a:prstGeom>
          <a:noFill/>
          <a:ln w="31750">
            <a:solidFill>
              <a:srgbClr val="C8414C"/>
            </a:solidFill>
            <a:prstDash val="solid"/>
          </a:ln>
        </p:spPr>
      </p:sp>
      <p:sp>
        <p:nvSpPr>
          <p:cNvPr id="122" name="Shape 120"/>
          <p:cNvSpPr/>
          <p:nvPr/>
        </p:nvSpPr>
        <p:spPr>
          <a:xfrm>
            <a:off x="3882628" y="4531887"/>
            <a:ext cx="67866" cy="10918"/>
          </a:xfrm>
          <a:prstGeom prst="line">
            <a:avLst/>
          </a:prstGeom>
          <a:noFill/>
          <a:ln w="31750">
            <a:solidFill>
              <a:srgbClr val="C8414C"/>
            </a:solidFill>
            <a:prstDash val="solid"/>
          </a:ln>
        </p:spPr>
      </p:sp>
      <p:sp>
        <p:nvSpPr>
          <p:cNvPr id="123" name="Shape 121"/>
          <p:cNvSpPr/>
          <p:nvPr/>
        </p:nvSpPr>
        <p:spPr>
          <a:xfrm>
            <a:off x="3950494" y="4542805"/>
            <a:ext cx="67866" cy="10012"/>
          </a:xfrm>
          <a:prstGeom prst="line">
            <a:avLst/>
          </a:prstGeom>
          <a:noFill/>
          <a:ln w="31750">
            <a:solidFill>
              <a:srgbClr val="C8414C"/>
            </a:solidFill>
            <a:prstDash val="solid"/>
          </a:ln>
        </p:spPr>
      </p:sp>
      <p:sp>
        <p:nvSpPr>
          <p:cNvPr id="124" name="Shape 122"/>
          <p:cNvSpPr/>
          <p:nvPr/>
        </p:nvSpPr>
        <p:spPr>
          <a:xfrm>
            <a:off x="4018359" y="4552818"/>
            <a:ext cx="67866" cy="9181"/>
          </a:xfrm>
          <a:prstGeom prst="line">
            <a:avLst/>
          </a:prstGeom>
          <a:noFill/>
          <a:ln w="31750">
            <a:solidFill>
              <a:srgbClr val="C8414C"/>
            </a:solidFill>
            <a:prstDash val="solid"/>
          </a:ln>
        </p:spPr>
      </p:sp>
      <p:sp>
        <p:nvSpPr>
          <p:cNvPr id="125" name="Shape 123"/>
          <p:cNvSpPr/>
          <p:nvPr/>
        </p:nvSpPr>
        <p:spPr>
          <a:xfrm>
            <a:off x="4086225" y="4561999"/>
            <a:ext cx="67866" cy="8419"/>
          </a:xfrm>
          <a:prstGeom prst="line">
            <a:avLst/>
          </a:prstGeom>
          <a:noFill/>
          <a:ln w="31750">
            <a:solidFill>
              <a:srgbClr val="C8414C"/>
            </a:solidFill>
            <a:prstDash val="solid"/>
          </a:ln>
        </p:spPr>
      </p:sp>
      <p:sp>
        <p:nvSpPr>
          <p:cNvPr id="126" name="Shape 124"/>
          <p:cNvSpPr/>
          <p:nvPr/>
        </p:nvSpPr>
        <p:spPr>
          <a:xfrm>
            <a:off x="4154091" y="4570418"/>
            <a:ext cx="67866" cy="7720"/>
          </a:xfrm>
          <a:prstGeom prst="line">
            <a:avLst/>
          </a:prstGeom>
          <a:noFill/>
          <a:ln w="31750">
            <a:solidFill>
              <a:srgbClr val="C8414C"/>
            </a:solidFill>
            <a:prstDash val="solid"/>
          </a:ln>
        </p:spPr>
      </p:sp>
      <p:sp>
        <p:nvSpPr>
          <p:cNvPr id="127" name="Shape 125"/>
          <p:cNvSpPr/>
          <p:nvPr/>
        </p:nvSpPr>
        <p:spPr>
          <a:xfrm>
            <a:off x="4221956" y="4578138"/>
            <a:ext cx="67866" cy="7080"/>
          </a:xfrm>
          <a:prstGeom prst="line">
            <a:avLst/>
          </a:prstGeom>
          <a:noFill/>
          <a:ln w="31750">
            <a:solidFill>
              <a:srgbClr val="C8414C"/>
            </a:solidFill>
            <a:prstDash val="solid"/>
          </a:ln>
        </p:spPr>
      </p:sp>
      <p:sp>
        <p:nvSpPr>
          <p:cNvPr id="128" name="Shape 126"/>
          <p:cNvSpPr/>
          <p:nvPr/>
        </p:nvSpPr>
        <p:spPr>
          <a:xfrm>
            <a:off x="4289822" y="4585218"/>
            <a:ext cx="67866" cy="6492"/>
          </a:xfrm>
          <a:prstGeom prst="line">
            <a:avLst/>
          </a:prstGeom>
          <a:noFill/>
          <a:ln w="31750">
            <a:solidFill>
              <a:srgbClr val="C8414C"/>
            </a:solidFill>
            <a:prstDash val="solid"/>
          </a:ln>
        </p:spPr>
      </p:sp>
      <p:sp>
        <p:nvSpPr>
          <p:cNvPr id="129" name="Shape 127"/>
          <p:cNvSpPr/>
          <p:nvPr/>
        </p:nvSpPr>
        <p:spPr>
          <a:xfrm>
            <a:off x="4357688" y="4591710"/>
            <a:ext cx="67866" cy="5953"/>
          </a:xfrm>
          <a:prstGeom prst="line">
            <a:avLst/>
          </a:prstGeom>
          <a:noFill/>
          <a:ln w="31750">
            <a:solidFill>
              <a:srgbClr val="C8414C"/>
            </a:solidFill>
            <a:prstDash val="solid"/>
          </a:ln>
        </p:spPr>
      </p:sp>
      <p:sp>
        <p:nvSpPr>
          <p:cNvPr id="130" name="Shape 128"/>
          <p:cNvSpPr/>
          <p:nvPr/>
        </p:nvSpPr>
        <p:spPr>
          <a:xfrm>
            <a:off x="4425553" y="4597663"/>
            <a:ext cx="67866" cy="5459"/>
          </a:xfrm>
          <a:prstGeom prst="line">
            <a:avLst/>
          </a:prstGeom>
          <a:noFill/>
          <a:ln w="31750">
            <a:solidFill>
              <a:srgbClr val="C8414C"/>
            </a:solidFill>
            <a:prstDash val="solid"/>
          </a:ln>
        </p:spPr>
      </p:sp>
      <p:sp>
        <p:nvSpPr>
          <p:cNvPr id="131" name="Shape 129"/>
          <p:cNvSpPr/>
          <p:nvPr/>
        </p:nvSpPr>
        <p:spPr>
          <a:xfrm>
            <a:off x="4493419" y="4603123"/>
            <a:ext cx="67866" cy="5006"/>
          </a:xfrm>
          <a:prstGeom prst="line">
            <a:avLst/>
          </a:prstGeom>
          <a:noFill/>
          <a:ln w="31750">
            <a:solidFill>
              <a:srgbClr val="C8414C"/>
            </a:solidFill>
            <a:prstDash val="solid"/>
          </a:ln>
        </p:spPr>
      </p:sp>
      <p:sp>
        <p:nvSpPr>
          <p:cNvPr id="132" name="Shape 130"/>
          <p:cNvSpPr/>
          <p:nvPr/>
        </p:nvSpPr>
        <p:spPr>
          <a:xfrm>
            <a:off x="4561284" y="4608129"/>
            <a:ext cx="67866" cy="4591"/>
          </a:xfrm>
          <a:prstGeom prst="line">
            <a:avLst/>
          </a:prstGeom>
          <a:noFill/>
          <a:ln w="31750">
            <a:solidFill>
              <a:srgbClr val="C8414C"/>
            </a:solidFill>
            <a:prstDash val="solid"/>
          </a:ln>
        </p:spPr>
      </p:sp>
      <p:sp>
        <p:nvSpPr>
          <p:cNvPr id="133" name="Shape 131"/>
          <p:cNvSpPr/>
          <p:nvPr/>
        </p:nvSpPr>
        <p:spPr>
          <a:xfrm>
            <a:off x="4629150" y="4612719"/>
            <a:ext cx="67866" cy="4210"/>
          </a:xfrm>
          <a:prstGeom prst="line">
            <a:avLst/>
          </a:prstGeom>
          <a:noFill/>
          <a:ln w="31750">
            <a:solidFill>
              <a:srgbClr val="C8414C"/>
            </a:solidFill>
            <a:prstDash val="solid"/>
          </a:ln>
        </p:spPr>
      </p:sp>
      <p:sp>
        <p:nvSpPr>
          <p:cNvPr id="134" name="Shape 132"/>
          <p:cNvSpPr/>
          <p:nvPr/>
        </p:nvSpPr>
        <p:spPr>
          <a:xfrm>
            <a:off x="4697016" y="4616929"/>
            <a:ext cx="67866" cy="3860"/>
          </a:xfrm>
          <a:prstGeom prst="line">
            <a:avLst/>
          </a:prstGeom>
          <a:noFill/>
          <a:ln w="31750">
            <a:solidFill>
              <a:srgbClr val="C8414C"/>
            </a:solidFill>
            <a:prstDash val="solid"/>
          </a:ln>
        </p:spPr>
      </p:sp>
      <p:sp>
        <p:nvSpPr>
          <p:cNvPr id="135" name="Shape 133"/>
          <p:cNvSpPr/>
          <p:nvPr/>
        </p:nvSpPr>
        <p:spPr>
          <a:xfrm>
            <a:off x="4764881" y="4620789"/>
            <a:ext cx="67866" cy="3540"/>
          </a:xfrm>
          <a:prstGeom prst="line">
            <a:avLst/>
          </a:prstGeom>
          <a:noFill/>
          <a:ln w="31750">
            <a:solidFill>
              <a:srgbClr val="C8414C"/>
            </a:solidFill>
            <a:prstDash val="solid"/>
          </a:ln>
        </p:spPr>
      </p:sp>
      <p:sp>
        <p:nvSpPr>
          <p:cNvPr id="136" name="Shape 134"/>
          <p:cNvSpPr/>
          <p:nvPr/>
        </p:nvSpPr>
        <p:spPr>
          <a:xfrm>
            <a:off x="4832747" y="4624329"/>
            <a:ext cx="67866" cy="3246"/>
          </a:xfrm>
          <a:prstGeom prst="line">
            <a:avLst/>
          </a:prstGeom>
          <a:noFill/>
          <a:ln w="31750">
            <a:solidFill>
              <a:srgbClr val="C8414C"/>
            </a:solidFill>
            <a:prstDash val="solid"/>
          </a:ln>
        </p:spPr>
      </p:sp>
      <p:sp>
        <p:nvSpPr>
          <p:cNvPr id="137" name="Shape 135"/>
          <p:cNvSpPr/>
          <p:nvPr/>
        </p:nvSpPr>
        <p:spPr>
          <a:xfrm>
            <a:off x="4900613" y="4627575"/>
            <a:ext cx="67866" cy="2977"/>
          </a:xfrm>
          <a:prstGeom prst="line">
            <a:avLst/>
          </a:prstGeom>
          <a:noFill/>
          <a:ln w="31750">
            <a:solidFill>
              <a:srgbClr val="C8414C"/>
            </a:solidFill>
            <a:prstDash val="solid"/>
          </a:ln>
        </p:spPr>
      </p:sp>
      <p:sp>
        <p:nvSpPr>
          <p:cNvPr id="138" name="Shape 136"/>
          <p:cNvSpPr/>
          <p:nvPr/>
        </p:nvSpPr>
        <p:spPr>
          <a:xfrm>
            <a:off x="4968478" y="4630552"/>
            <a:ext cx="67866" cy="2730"/>
          </a:xfrm>
          <a:prstGeom prst="line">
            <a:avLst/>
          </a:prstGeom>
          <a:noFill/>
          <a:ln w="31750">
            <a:solidFill>
              <a:srgbClr val="C8414C"/>
            </a:solidFill>
            <a:prstDash val="solid"/>
          </a:ln>
        </p:spPr>
      </p:sp>
      <p:sp>
        <p:nvSpPr>
          <p:cNvPr id="139" name="Shape 137"/>
          <p:cNvSpPr/>
          <p:nvPr/>
        </p:nvSpPr>
        <p:spPr>
          <a:xfrm>
            <a:off x="5036344" y="4633281"/>
            <a:ext cx="67866" cy="2503"/>
          </a:xfrm>
          <a:prstGeom prst="line">
            <a:avLst/>
          </a:prstGeom>
          <a:noFill/>
          <a:ln w="31750">
            <a:solidFill>
              <a:srgbClr val="C8414C"/>
            </a:solidFill>
            <a:prstDash val="solid"/>
          </a:ln>
        </p:spPr>
      </p:sp>
      <p:sp>
        <p:nvSpPr>
          <p:cNvPr id="140" name="Shape 138"/>
          <p:cNvSpPr/>
          <p:nvPr/>
        </p:nvSpPr>
        <p:spPr>
          <a:xfrm>
            <a:off x="5104209" y="4635784"/>
            <a:ext cx="67866" cy="2295"/>
          </a:xfrm>
          <a:prstGeom prst="line">
            <a:avLst/>
          </a:prstGeom>
          <a:noFill/>
          <a:ln w="31750">
            <a:solidFill>
              <a:srgbClr val="C8414C"/>
            </a:solidFill>
            <a:prstDash val="solid"/>
          </a:ln>
        </p:spPr>
      </p:sp>
      <p:sp>
        <p:nvSpPr>
          <p:cNvPr id="141" name="Shape 139"/>
          <p:cNvSpPr/>
          <p:nvPr/>
        </p:nvSpPr>
        <p:spPr>
          <a:xfrm>
            <a:off x="5172075" y="4638080"/>
            <a:ext cx="67866" cy="2105"/>
          </a:xfrm>
          <a:prstGeom prst="line">
            <a:avLst/>
          </a:prstGeom>
          <a:noFill/>
          <a:ln w="31750">
            <a:solidFill>
              <a:srgbClr val="C8414C"/>
            </a:solidFill>
            <a:prstDash val="solid"/>
          </a:ln>
        </p:spPr>
      </p:sp>
      <p:sp>
        <p:nvSpPr>
          <p:cNvPr id="142" name="Shape 140"/>
          <p:cNvSpPr/>
          <p:nvPr/>
        </p:nvSpPr>
        <p:spPr>
          <a:xfrm>
            <a:off x="5239941" y="4640184"/>
            <a:ext cx="67866" cy="1930"/>
          </a:xfrm>
          <a:prstGeom prst="line">
            <a:avLst/>
          </a:prstGeom>
          <a:noFill/>
          <a:ln w="31750">
            <a:solidFill>
              <a:srgbClr val="C8414C"/>
            </a:solidFill>
            <a:prstDash val="solid"/>
          </a:ln>
        </p:spPr>
      </p:sp>
      <p:sp>
        <p:nvSpPr>
          <p:cNvPr id="143" name="Shape 141"/>
          <p:cNvSpPr/>
          <p:nvPr/>
        </p:nvSpPr>
        <p:spPr>
          <a:xfrm>
            <a:off x="5307806" y="4642115"/>
            <a:ext cx="67866" cy="1770"/>
          </a:xfrm>
          <a:prstGeom prst="line">
            <a:avLst/>
          </a:prstGeom>
          <a:noFill/>
          <a:ln w="31750">
            <a:solidFill>
              <a:srgbClr val="C8414C"/>
            </a:solidFill>
            <a:prstDash val="solid"/>
          </a:ln>
        </p:spPr>
      </p:sp>
      <p:sp>
        <p:nvSpPr>
          <p:cNvPr id="144" name="Shape 142"/>
          <p:cNvSpPr/>
          <p:nvPr/>
        </p:nvSpPr>
        <p:spPr>
          <a:xfrm>
            <a:off x="5375672" y="4643885"/>
            <a:ext cx="67866" cy="1623"/>
          </a:xfrm>
          <a:prstGeom prst="line">
            <a:avLst/>
          </a:prstGeom>
          <a:noFill/>
          <a:ln w="31750">
            <a:solidFill>
              <a:srgbClr val="C8414C"/>
            </a:solidFill>
            <a:prstDash val="solid"/>
          </a:ln>
        </p:spPr>
      </p:sp>
      <p:sp>
        <p:nvSpPr>
          <p:cNvPr id="145" name="Shape 143"/>
          <p:cNvSpPr/>
          <p:nvPr/>
        </p:nvSpPr>
        <p:spPr>
          <a:xfrm>
            <a:off x="5443538" y="4645508"/>
            <a:ext cx="67866" cy="1488"/>
          </a:xfrm>
          <a:prstGeom prst="line">
            <a:avLst/>
          </a:prstGeom>
          <a:noFill/>
          <a:ln w="31750">
            <a:solidFill>
              <a:srgbClr val="C8414C"/>
            </a:solidFill>
            <a:prstDash val="solid"/>
          </a:ln>
        </p:spPr>
      </p:sp>
      <p:sp>
        <p:nvSpPr>
          <p:cNvPr id="146" name="Shape 144"/>
          <p:cNvSpPr/>
          <p:nvPr/>
        </p:nvSpPr>
        <p:spPr>
          <a:xfrm>
            <a:off x="5511403" y="4646996"/>
            <a:ext cx="67866" cy="1365"/>
          </a:xfrm>
          <a:prstGeom prst="line">
            <a:avLst/>
          </a:prstGeom>
          <a:noFill/>
          <a:ln w="31750">
            <a:solidFill>
              <a:srgbClr val="C8414C"/>
            </a:solidFill>
            <a:prstDash val="solid"/>
          </a:ln>
        </p:spPr>
      </p:sp>
      <p:sp>
        <p:nvSpPr>
          <p:cNvPr id="147" name="Shape 145"/>
          <p:cNvSpPr/>
          <p:nvPr/>
        </p:nvSpPr>
        <p:spPr>
          <a:xfrm>
            <a:off x="5579269" y="4648361"/>
            <a:ext cx="67866" cy="1252"/>
          </a:xfrm>
          <a:prstGeom prst="line">
            <a:avLst/>
          </a:prstGeom>
          <a:noFill/>
          <a:ln w="31750">
            <a:solidFill>
              <a:srgbClr val="C8414C"/>
            </a:solidFill>
            <a:prstDash val="solid"/>
          </a:ln>
        </p:spPr>
      </p:sp>
      <p:sp>
        <p:nvSpPr>
          <p:cNvPr id="148" name="Shape 146"/>
          <p:cNvSpPr/>
          <p:nvPr/>
        </p:nvSpPr>
        <p:spPr>
          <a:xfrm>
            <a:off x="5647134" y="4649612"/>
            <a:ext cx="67866" cy="1148"/>
          </a:xfrm>
          <a:prstGeom prst="line">
            <a:avLst/>
          </a:prstGeom>
          <a:noFill/>
          <a:ln w="31750">
            <a:solidFill>
              <a:srgbClr val="C8414C"/>
            </a:solidFill>
            <a:prstDash val="solid"/>
          </a:ln>
        </p:spPr>
      </p:sp>
      <p:sp>
        <p:nvSpPr>
          <p:cNvPr id="149" name="Shape 147"/>
          <p:cNvSpPr/>
          <p:nvPr/>
        </p:nvSpPr>
        <p:spPr>
          <a:xfrm>
            <a:off x="1371600" y="3851910"/>
            <a:ext cx="67866" cy="17389"/>
          </a:xfrm>
          <a:prstGeom prst="line">
            <a:avLst/>
          </a:prstGeom>
          <a:noFill/>
          <a:ln w="31750">
            <a:solidFill>
              <a:srgbClr val="2E5BD8"/>
            </a:solidFill>
            <a:prstDash val="solid"/>
          </a:ln>
        </p:spPr>
      </p:sp>
      <p:sp>
        <p:nvSpPr>
          <p:cNvPr id="150" name="Shape 148"/>
          <p:cNvSpPr/>
          <p:nvPr/>
        </p:nvSpPr>
        <p:spPr>
          <a:xfrm>
            <a:off x="1439466" y="3869299"/>
            <a:ext cx="67866" cy="17017"/>
          </a:xfrm>
          <a:prstGeom prst="line">
            <a:avLst/>
          </a:prstGeom>
          <a:noFill/>
          <a:ln w="31750">
            <a:solidFill>
              <a:srgbClr val="2E5BD8"/>
            </a:solidFill>
            <a:prstDash val="solid"/>
          </a:ln>
        </p:spPr>
      </p:sp>
      <p:sp>
        <p:nvSpPr>
          <p:cNvPr id="151" name="Shape 149"/>
          <p:cNvSpPr/>
          <p:nvPr/>
        </p:nvSpPr>
        <p:spPr>
          <a:xfrm>
            <a:off x="1507331" y="3886316"/>
            <a:ext cx="67866" cy="16652"/>
          </a:xfrm>
          <a:prstGeom prst="line">
            <a:avLst/>
          </a:prstGeom>
          <a:noFill/>
          <a:ln w="31750">
            <a:solidFill>
              <a:srgbClr val="2E5BD8"/>
            </a:solidFill>
            <a:prstDash val="solid"/>
          </a:ln>
        </p:spPr>
      </p:sp>
      <p:sp>
        <p:nvSpPr>
          <p:cNvPr id="152" name="Shape 150"/>
          <p:cNvSpPr/>
          <p:nvPr/>
        </p:nvSpPr>
        <p:spPr>
          <a:xfrm>
            <a:off x="1575197" y="3902968"/>
            <a:ext cx="67866" cy="16295"/>
          </a:xfrm>
          <a:prstGeom prst="line">
            <a:avLst/>
          </a:prstGeom>
          <a:noFill/>
          <a:ln w="31750">
            <a:solidFill>
              <a:srgbClr val="2E5BD8"/>
            </a:solidFill>
            <a:prstDash val="solid"/>
          </a:ln>
        </p:spPr>
      </p:sp>
      <p:sp>
        <p:nvSpPr>
          <p:cNvPr id="153" name="Shape 151"/>
          <p:cNvSpPr/>
          <p:nvPr/>
        </p:nvSpPr>
        <p:spPr>
          <a:xfrm>
            <a:off x="1643063" y="3919264"/>
            <a:ext cx="67866" cy="15946"/>
          </a:xfrm>
          <a:prstGeom prst="line">
            <a:avLst/>
          </a:prstGeom>
          <a:noFill/>
          <a:ln w="31750">
            <a:solidFill>
              <a:srgbClr val="2E5BD8"/>
            </a:solidFill>
            <a:prstDash val="solid"/>
          </a:ln>
        </p:spPr>
      </p:sp>
      <p:sp>
        <p:nvSpPr>
          <p:cNvPr id="154" name="Shape 152"/>
          <p:cNvSpPr/>
          <p:nvPr/>
        </p:nvSpPr>
        <p:spPr>
          <a:xfrm>
            <a:off x="1710928" y="3935210"/>
            <a:ext cx="67866" cy="15604"/>
          </a:xfrm>
          <a:prstGeom prst="line">
            <a:avLst/>
          </a:prstGeom>
          <a:noFill/>
          <a:ln w="31750">
            <a:solidFill>
              <a:srgbClr val="2E5BD8"/>
            </a:solidFill>
            <a:prstDash val="solid"/>
          </a:ln>
        </p:spPr>
      </p:sp>
      <p:sp>
        <p:nvSpPr>
          <p:cNvPr id="155" name="Shape 153"/>
          <p:cNvSpPr/>
          <p:nvPr/>
        </p:nvSpPr>
        <p:spPr>
          <a:xfrm>
            <a:off x="1778794" y="3950814"/>
            <a:ext cx="67866" cy="15270"/>
          </a:xfrm>
          <a:prstGeom prst="line">
            <a:avLst/>
          </a:prstGeom>
          <a:noFill/>
          <a:ln w="31750">
            <a:solidFill>
              <a:srgbClr val="2E5BD8"/>
            </a:solidFill>
            <a:prstDash val="solid"/>
          </a:ln>
        </p:spPr>
      </p:sp>
      <p:sp>
        <p:nvSpPr>
          <p:cNvPr id="156" name="Shape 154"/>
          <p:cNvSpPr/>
          <p:nvPr/>
        </p:nvSpPr>
        <p:spPr>
          <a:xfrm>
            <a:off x="1846659" y="3966084"/>
            <a:ext cx="67866" cy="14943"/>
          </a:xfrm>
          <a:prstGeom prst="line">
            <a:avLst/>
          </a:prstGeom>
          <a:noFill/>
          <a:ln w="31750">
            <a:solidFill>
              <a:srgbClr val="2E5BD8"/>
            </a:solidFill>
            <a:prstDash val="solid"/>
          </a:ln>
        </p:spPr>
      </p:sp>
      <p:sp>
        <p:nvSpPr>
          <p:cNvPr id="157" name="Shape 155"/>
          <p:cNvSpPr/>
          <p:nvPr/>
        </p:nvSpPr>
        <p:spPr>
          <a:xfrm>
            <a:off x="1914525" y="3981027"/>
            <a:ext cx="67866" cy="14623"/>
          </a:xfrm>
          <a:prstGeom prst="line">
            <a:avLst/>
          </a:prstGeom>
          <a:noFill/>
          <a:ln w="31750">
            <a:solidFill>
              <a:srgbClr val="2E5BD8"/>
            </a:solidFill>
            <a:prstDash val="solid"/>
          </a:ln>
        </p:spPr>
      </p:sp>
      <p:sp>
        <p:nvSpPr>
          <p:cNvPr id="158" name="Shape 156"/>
          <p:cNvSpPr/>
          <p:nvPr/>
        </p:nvSpPr>
        <p:spPr>
          <a:xfrm>
            <a:off x="1982391" y="3995650"/>
            <a:ext cx="67866" cy="14309"/>
          </a:xfrm>
          <a:prstGeom prst="line">
            <a:avLst/>
          </a:prstGeom>
          <a:noFill/>
          <a:ln w="31750">
            <a:solidFill>
              <a:srgbClr val="2E5BD8"/>
            </a:solidFill>
            <a:prstDash val="solid"/>
          </a:ln>
        </p:spPr>
      </p:sp>
      <p:sp>
        <p:nvSpPr>
          <p:cNvPr id="159" name="Shape 157"/>
          <p:cNvSpPr/>
          <p:nvPr/>
        </p:nvSpPr>
        <p:spPr>
          <a:xfrm>
            <a:off x="2050256" y="4009959"/>
            <a:ext cx="67866" cy="14003"/>
          </a:xfrm>
          <a:prstGeom prst="line">
            <a:avLst/>
          </a:prstGeom>
          <a:noFill/>
          <a:ln w="31750">
            <a:solidFill>
              <a:srgbClr val="2E5BD8"/>
            </a:solidFill>
            <a:prstDash val="solid"/>
          </a:ln>
        </p:spPr>
      </p:sp>
      <p:sp>
        <p:nvSpPr>
          <p:cNvPr id="160" name="Shape 158"/>
          <p:cNvSpPr/>
          <p:nvPr/>
        </p:nvSpPr>
        <p:spPr>
          <a:xfrm>
            <a:off x="2118122" y="4023962"/>
            <a:ext cx="67866" cy="13703"/>
          </a:xfrm>
          <a:prstGeom prst="line">
            <a:avLst/>
          </a:prstGeom>
          <a:noFill/>
          <a:ln w="31750">
            <a:solidFill>
              <a:srgbClr val="2E5BD8"/>
            </a:solidFill>
            <a:prstDash val="solid"/>
          </a:ln>
        </p:spPr>
      </p:sp>
      <p:sp>
        <p:nvSpPr>
          <p:cNvPr id="161" name="Shape 159"/>
          <p:cNvSpPr/>
          <p:nvPr/>
        </p:nvSpPr>
        <p:spPr>
          <a:xfrm>
            <a:off x="2185988" y="4037665"/>
            <a:ext cx="67866" cy="13409"/>
          </a:xfrm>
          <a:prstGeom prst="line">
            <a:avLst/>
          </a:prstGeom>
          <a:noFill/>
          <a:ln w="31750">
            <a:solidFill>
              <a:srgbClr val="2E5BD8"/>
            </a:solidFill>
            <a:prstDash val="solid"/>
          </a:ln>
        </p:spPr>
      </p:sp>
      <p:sp>
        <p:nvSpPr>
          <p:cNvPr id="162" name="Shape 160"/>
          <p:cNvSpPr/>
          <p:nvPr/>
        </p:nvSpPr>
        <p:spPr>
          <a:xfrm>
            <a:off x="2253853" y="4051074"/>
            <a:ext cx="67866" cy="13122"/>
          </a:xfrm>
          <a:prstGeom prst="line">
            <a:avLst/>
          </a:prstGeom>
          <a:noFill/>
          <a:ln w="31750">
            <a:solidFill>
              <a:srgbClr val="2E5BD8"/>
            </a:solidFill>
            <a:prstDash val="solid"/>
          </a:ln>
        </p:spPr>
      </p:sp>
      <p:sp>
        <p:nvSpPr>
          <p:cNvPr id="163" name="Shape 161"/>
          <p:cNvSpPr/>
          <p:nvPr/>
        </p:nvSpPr>
        <p:spPr>
          <a:xfrm>
            <a:off x="2321719" y="4064196"/>
            <a:ext cx="67866" cy="12841"/>
          </a:xfrm>
          <a:prstGeom prst="line">
            <a:avLst/>
          </a:prstGeom>
          <a:noFill/>
          <a:ln w="31750">
            <a:solidFill>
              <a:srgbClr val="2E5BD8"/>
            </a:solidFill>
            <a:prstDash val="solid"/>
          </a:ln>
        </p:spPr>
      </p:sp>
      <p:sp>
        <p:nvSpPr>
          <p:cNvPr id="164" name="Shape 162"/>
          <p:cNvSpPr/>
          <p:nvPr/>
        </p:nvSpPr>
        <p:spPr>
          <a:xfrm>
            <a:off x="2389584" y="4077036"/>
            <a:ext cx="67866" cy="12565"/>
          </a:xfrm>
          <a:prstGeom prst="line">
            <a:avLst/>
          </a:prstGeom>
          <a:noFill/>
          <a:ln w="31750">
            <a:solidFill>
              <a:srgbClr val="2E5BD8"/>
            </a:solidFill>
            <a:prstDash val="solid"/>
          </a:ln>
        </p:spPr>
      </p:sp>
      <p:sp>
        <p:nvSpPr>
          <p:cNvPr id="165" name="Shape 163"/>
          <p:cNvSpPr/>
          <p:nvPr/>
        </p:nvSpPr>
        <p:spPr>
          <a:xfrm>
            <a:off x="2457450" y="4089602"/>
            <a:ext cx="67866" cy="12296"/>
          </a:xfrm>
          <a:prstGeom prst="line">
            <a:avLst/>
          </a:prstGeom>
          <a:noFill/>
          <a:ln w="31750">
            <a:solidFill>
              <a:srgbClr val="2E5BD8"/>
            </a:solidFill>
            <a:prstDash val="solid"/>
          </a:ln>
        </p:spPr>
      </p:sp>
      <p:sp>
        <p:nvSpPr>
          <p:cNvPr id="166" name="Shape 164"/>
          <p:cNvSpPr/>
          <p:nvPr/>
        </p:nvSpPr>
        <p:spPr>
          <a:xfrm>
            <a:off x="2525316" y="4101898"/>
            <a:ext cx="67866" cy="12033"/>
          </a:xfrm>
          <a:prstGeom prst="line">
            <a:avLst/>
          </a:prstGeom>
          <a:noFill/>
          <a:ln w="31750">
            <a:solidFill>
              <a:srgbClr val="2E5BD8"/>
            </a:solidFill>
            <a:prstDash val="solid"/>
          </a:ln>
        </p:spPr>
      </p:sp>
      <p:sp>
        <p:nvSpPr>
          <p:cNvPr id="167" name="Shape 165"/>
          <p:cNvSpPr/>
          <p:nvPr/>
        </p:nvSpPr>
        <p:spPr>
          <a:xfrm>
            <a:off x="2593181" y="4113930"/>
            <a:ext cx="67866" cy="11775"/>
          </a:xfrm>
          <a:prstGeom prst="line">
            <a:avLst/>
          </a:prstGeom>
          <a:noFill/>
          <a:ln w="31750">
            <a:solidFill>
              <a:srgbClr val="2E5BD8"/>
            </a:solidFill>
            <a:prstDash val="solid"/>
          </a:ln>
        </p:spPr>
      </p:sp>
      <p:sp>
        <p:nvSpPr>
          <p:cNvPr id="168" name="Shape 166"/>
          <p:cNvSpPr/>
          <p:nvPr/>
        </p:nvSpPr>
        <p:spPr>
          <a:xfrm>
            <a:off x="2661047" y="4125705"/>
            <a:ext cx="67866" cy="11523"/>
          </a:xfrm>
          <a:prstGeom prst="line">
            <a:avLst/>
          </a:prstGeom>
          <a:noFill/>
          <a:ln w="31750">
            <a:solidFill>
              <a:srgbClr val="2E5BD8"/>
            </a:solidFill>
            <a:prstDash val="solid"/>
          </a:ln>
        </p:spPr>
      </p:sp>
      <p:sp>
        <p:nvSpPr>
          <p:cNvPr id="169" name="Shape 167"/>
          <p:cNvSpPr/>
          <p:nvPr/>
        </p:nvSpPr>
        <p:spPr>
          <a:xfrm>
            <a:off x="2728913" y="4137228"/>
            <a:ext cx="67866" cy="11276"/>
          </a:xfrm>
          <a:prstGeom prst="line">
            <a:avLst/>
          </a:prstGeom>
          <a:noFill/>
          <a:ln w="31750">
            <a:solidFill>
              <a:srgbClr val="2E5BD8"/>
            </a:solidFill>
            <a:prstDash val="solid"/>
          </a:ln>
        </p:spPr>
      </p:sp>
      <p:sp>
        <p:nvSpPr>
          <p:cNvPr id="170" name="Shape 168"/>
          <p:cNvSpPr/>
          <p:nvPr/>
        </p:nvSpPr>
        <p:spPr>
          <a:xfrm>
            <a:off x="2796778" y="4148504"/>
            <a:ext cx="67866" cy="11034"/>
          </a:xfrm>
          <a:prstGeom prst="line">
            <a:avLst/>
          </a:prstGeom>
          <a:noFill/>
          <a:ln w="31750">
            <a:solidFill>
              <a:srgbClr val="2E5BD8"/>
            </a:solidFill>
            <a:prstDash val="solid"/>
          </a:ln>
        </p:spPr>
      </p:sp>
      <p:sp>
        <p:nvSpPr>
          <p:cNvPr id="171" name="Shape 169"/>
          <p:cNvSpPr/>
          <p:nvPr/>
        </p:nvSpPr>
        <p:spPr>
          <a:xfrm>
            <a:off x="2864644" y="4159538"/>
            <a:ext cx="67866" cy="10798"/>
          </a:xfrm>
          <a:prstGeom prst="line">
            <a:avLst/>
          </a:prstGeom>
          <a:noFill/>
          <a:ln w="31750">
            <a:solidFill>
              <a:srgbClr val="2E5BD8"/>
            </a:solidFill>
            <a:prstDash val="solid"/>
          </a:ln>
        </p:spPr>
      </p:sp>
      <p:sp>
        <p:nvSpPr>
          <p:cNvPr id="172" name="Shape 170"/>
          <p:cNvSpPr/>
          <p:nvPr/>
        </p:nvSpPr>
        <p:spPr>
          <a:xfrm>
            <a:off x="2932509" y="4170335"/>
            <a:ext cx="67866" cy="10566"/>
          </a:xfrm>
          <a:prstGeom prst="line">
            <a:avLst/>
          </a:prstGeom>
          <a:noFill/>
          <a:ln w="31750">
            <a:solidFill>
              <a:srgbClr val="2E5BD8"/>
            </a:solidFill>
            <a:prstDash val="solid"/>
          </a:ln>
        </p:spPr>
      </p:sp>
      <p:sp>
        <p:nvSpPr>
          <p:cNvPr id="173" name="Shape 171"/>
          <p:cNvSpPr/>
          <p:nvPr/>
        </p:nvSpPr>
        <p:spPr>
          <a:xfrm>
            <a:off x="3000375" y="4180901"/>
            <a:ext cx="67866" cy="10340"/>
          </a:xfrm>
          <a:prstGeom prst="line">
            <a:avLst/>
          </a:prstGeom>
          <a:noFill/>
          <a:ln w="31750">
            <a:solidFill>
              <a:srgbClr val="2E5BD8"/>
            </a:solidFill>
            <a:prstDash val="solid"/>
          </a:ln>
        </p:spPr>
      </p:sp>
      <p:sp>
        <p:nvSpPr>
          <p:cNvPr id="174" name="Shape 172"/>
          <p:cNvSpPr/>
          <p:nvPr/>
        </p:nvSpPr>
        <p:spPr>
          <a:xfrm>
            <a:off x="3068241" y="4191241"/>
            <a:ext cx="67866" cy="10118"/>
          </a:xfrm>
          <a:prstGeom prst="line">
            <a:avLst/>
          </a:prstGeom>
          <a:noFill/>
          <a:ln w="31750">
            <a:solidFill>
              <a:srgbClr val="2E5BD8"/>
            </a:solidFill>
            <a:prstDash val="solid"/>
          </a:ln>
        </p:spPr>
      </p:sp>
      <p:sp>
        <p:nvSpPr>
          <p:cNvPr id="175" name="Shape 173"/>
          <p:cNvSpPr/>
          <p:nvPr/>
        </p:nvSpPr>
        <p:spPr>
          <a:xfrm>
            <a:off x="3136106" y="4201359"/>
            <a:ext cx="67866" cy="9901"/>
          </a:xfrm>
          <a:prstGeom prst="line">
            <a:avLst/>
          </a:prstGeom>
          <a:noFill/>
          <a:ln w="31750">
            <a:solidFill>
              <a:srgbClr val="2E5BD8"/>
            </a:solidFill>
            <a:prstDash val="solid"/>
          </a:ln>
        </p:spPr>
      </p:sp>
      <p:sp>
        <p:nvSpPr>
          <p:cNvPr id="176" name="Shape 174"/>
          <p:cNvSpPr/>
          <p:nvPr/>
        </p:nvSpPr>
        <p:spPr>
          <a:xfrm>
            <a:off x="3203972" y="4211261"/>
            <a:ext cx="67866" cy="9689"/>
          </a:xfrm>
          <a:prstGeom prst="line">
            <a:avLst/>
          </a:prstGeom>
          <a:noFill/>
          <a:ln w="31750">
            <a:solidFill>
              <a:srgbClr val="2E5BD8"/>
            </a:solidFill>
            <a:prstDash val="solid"/>
          </a:ln>
        </p:spPr>
      </p:sp>
      <p:sp>
        <p:nvSpPr>
          <p:cNvPr id="177" name="Shape 175"/>
          <p:cNvSpPr/>
          <p:nvPr/>
        </p:nvSpPr>
        <p:spPr>
          <a:xfrm>
            <a:off x="3271838" y="4220950"/>
            <a:ext cx="67866" cy="9482"/>
          </a:xfrm>
          <a:prstGeom prst="line">
            <a:avLst/>
          </a:prstGeom>
          <a:noFill/>
          <a:ln w="31750">
            <a:solidFill>
              <a:srgbClr val="2E5BD8"/>
            </a:solidFill>
            <a:prstDash val="solid"/>
          </a:ln>
        </p:spPr>
      </p:sp>
      <p:sp>
        <p:nvSpPr>
          <p:cNvPr id="178" name="Shape 176"/>
          <p:cNvSpPr/>
          <p:nvPr/>
        </p:nvSpPr>
        <p:spPr>
          <a:xfrm>
            <a:off x="3339703" y="4230432"/>
            <a:ext cx="67866" cy="9278"/>
          </a:xfrm>
          <a:prstGeom prst="line">
            <a:avLst/>
          </a:prstGeom>
          <a:noFill/>
          <a:ln w="31750">
            <a:solidFill>
              <a:srgbClr val="2E5BD8"/>
            </a:solidFill>
            <a:prstDash val="solid"/>
          </a:ln>
        </p:spPr>
      </p:sp>
      <p:sp>
        <p:nvSpPr>
          <p:cNvPr id="179" name="Shape 177"/>
          <p:cNvSpPr/>
          <p:nvPr/>
        </p:nvSpPr>
        <p:spPr>
          <a:xfrm>
            <a:off x="3407569" y="4239710"/>
            <a:ext cx="67866" cy="9080"/>
          </a:xfrm>
          <a:prstGeom prst="line">
            <a:avLst/>
          </a:prstGeom>
          <a:noFill/>
          <a:ln w="31750">
            <a:solidFill>
              <a:srgbClr val="2E5BD8"/>
            </a:solidFill>
            <a:prstDash val="solid"/>
          </a:ln>
        </p:spPr>
      </p:sp>
      <p:sp>
        <p:nvSpPr>
          <p:cNvPr id="180" name="Shape 178"/>
          <p:cNvSpPr/>
          <p:nvPr/>
        </p:nvSpPr>
        <p:spPr>
          <a:xfrm>
            <a:off x="3475434" y="4248790"/>
            <a:ext cx="67866" cy="8885"/>
          </a:xfrm>
          <a:prstGeom prst="line">
            <a:avLst/>
          </a:prstGeom>
          <a:noFill/>
          <a:ln w="31750">
            <a:solidFill>
              <a:srgbClr val="2E5BD8"/>
            </a:solidFill>
            <a:prstDash val="solid"/>
          </a:ln>
        </p:spPr>
      </p:sp>
      <p:sp>
        <p:nvSpPr>
          <p:cNvPr id="181" name="Shape 179"/>
          <p:cNvSpPr/>
          <p:nvPr/>
        </p:nvSpPr>
        <p:spPr>
          <a:xfrm>
            <a:off x="3543300" y="4257675"/>
            <a:ext cx="67866" cy="8695"/>
          </a:xfrm>
          <a:prstGeom prst="line">
            <a:avLst/>
          </a:prstGeom>
          <a:noFill/>
          <a:ln w="31750">
            <a:solidFill>
              <a:srgbClr val="2E5BD8"/>
            </a:solidFill>
            <a:prstDash val="solid"/>
          </a:ln>
        </p:spPr>
      </p:sp>
      <p:sp>
        <p:nvSpPr>
          <p:cNvPr id="182" name="Shape 180"/>
          <p:cNvSpPr/>
          <p:nvPr/>
        </p:nvSpPr>
        <p:spPr>
          <a:xfrm>
            <a:off x="3611166" y="4266370"/>
            <a:ext cx="67866" cy="8508"/>
          </a:xfrm>
          <a:prstGeom prst="line">
            <a:avLst/>
          </a:prstGeom>
          <a:noFill/>
          <a:ln w="31750">
            <a:solidFill>
              <a:srgbClr val="2E5BD8"/>
            </a:solidFill>
            <a:prstDash val="solid"/>
          </a:ln>
        </p:spPr>
      </p:sp>
      <p:sp>
        <p:nvSpPr>
          <p:cNvPr id="183" name="Shape 181"/>
          <p:cNvSpPr/>
          <p:nvPr/>
        </p:nvSpPr>
        <p:spPr>
          <a:xfrm>
            <a:off x="3679031" y="4274878"/>
            <a:ext cx="67866" cy="8326"/>
          </a:xfrm>
          <a:prstGeom prst="line">
            <a:avLst/>
          </a:prstGeom>
          <a:noFill/>
          <a:ln w="31750">
            <a:solidFill>
              <a:srgbClr val="2E5BD8"/>
            </a:solidFill>
            <a:prstDash val="solid"/>
          </a:ln>
        </p:spPr>
      </p:sp>
      <p:sp>
        <p:nvSpPr>
          <p:cNvPr id="184" name="Shape 182"/>
          <p:cNvSpPr/>
          <p:nvPr/>
        </p:nvSpPr>
        <p:spPr>
          <a:xfrm>
            <a:off x="3746897" y="4283204"/>
            <a:ext cx="67866" cy="8148"/>
          </a:xfrm>
          <a:prstGeom prst="line">
            <a:avLst/>
          </a:prstGeom>
          <a:noFill/>
          <a:ln w="31750">
            <a:solidFill>
              <a:srgbClr val="2E5BD8"/>
            </a:solidFill>
            <a:prstDash val="solid"/>
          </a:ln>
        </p:spPr>
      </p:sp>
      <p:sp>
        <p:nvSpPr>
          <p:cNvPr id="185" name="Shape 183"/>
          <p:cNvSpPr/>
          <p:nvPr/>
        </p:nvSpPr>
        <p:spPr>
          <a:xfrm>
            <a:off x="3814763" y="4291352"/>
            <a:ext cx="67866" cy="7973"/>
          </a:xfrm>
          <a:prstGeom prst="line">
            <a:avLst/>
          </a:prstGeom>
          <a:noFill/>
          <a:ln w="31750">
            <a:solidFill>
              <a:srgbClr val="2E5BD8"/>
            </a:solidFill>
            <a:prstDash val="solid"/>
          </a:ln>
        </p:spPr>
      </p:sp>
      <p:sp>
        <p:nvSpPr>
          <p:cNvPr id="186" name="Shape 184"/>
          <p:cNvSpPr/>
          <p:nvPr/>
        </p:nvSpPr>
        <p:spPr>
          <a:xfrm>
            <a:off x="3882628" y="4299325"/>
            <a:ext cx="67866" cy="7802"/>
          </a:xfrm>
          <a:prstGeom prst="line">
            <a:avLst/>
          </a:prstGeom>
          <a:noFill/>
          <a:ln w="31750">
            <a:solidFill>
              <a:srgbClr val="2E5BD8"/>
            </a:solidFill>
            <a:prstDash val="solid"/>
          </a:ln>
        </p:spPr>
      </p:sp>
      <p:sp>
        <p:nvSpPr>
          <p:cNvPr id="187" name="Shape 185"/>
          <p:cNvSpPr/>
          <p:nvPr/>
        </p:nvSpPr>
        <p:spPr>
          <a:xfrm>
            <a:off x="3950494" y="4307127"/>
            <a:ext cx="67866" cy="7635"/>
          </a:xfrm>
          <a:prstGeom prst="line">
            <a:avLst/>
          </a:prstGeom>
          <a:noFill/>
          <a:ln w="31750">
            <a:solidFill>
              <a:srgbClr val="2E5BD8"/>
            </a:solidFill>
            <a:prstDash val="solid"/>
          </a:ln>
        </p:spPr>
      </p:sp>
      <p:sp>
        <p:nvSpPr>
          <p:cNvPr id="188" name="Shape 186"/>
          <p:cNvSpPr/>
          <p:nvPr/>
        </p:nvSpPr>
        <p:spPr>
          <a:xfrm>
            <a:off x="4018359" y="4314762"/>
            <a:ext cx="67866" cy="7471"/>
          </a:xfrm>
          <a:prstGeom prst="line">
            <a:avLst/>
          </a:prstGeom>
          <a:noFill/>
          <a:ln w="31750">
            <a:solidFill>
              <a:srgbClr val="2E5BD8"/>
            </a:solidFill>
            <a:prstDash val="solid"/>
          </a:ln>
        </p:spPr>
      </p:sp>
      <p:sp>
        <p:nvSpPr>
          <p:cNvPr id="189" name="Shape 187"/>
          <p:cNvSpPr/>
          <p:nvPr/>
        </p:nvSpPr>
        <p:spPr>
          <a:xfrm>
            <a:off x="4086225" y="4322234"/>
            <a:ext cx="67866" cy="7311"/>
          </a:xfrm>
          <a:prstGeom prst="line">
            <a:avLst/>
          </a:prstGeom>
          <a:noFill/>
          <a:ln w="31750">
            <a:solidFill>
              <a:srgbClr val="2E5BD8"/>
            </a:solidFill>
            <a:prstDash val="solid"/>
          </a:ln>
        </p:spPr>
      </p:sp>
      <p:sp>
        <p:nvSpPr>
          <p:cNvPr id="190" name="Shape 188"/>
          <p:cNvSpPr/>
          <p:nvPr/>
        </p:nvSpPr>
        <p:spPr>
          <a:xfrm>
            <a:off x="4154091" y="4329545"/>
            <a:ext cx="67866" cy="7155"/>
          </a:xfrm>
          <a:prstGeom prst="line">
            <a:avLst/>
          </a:prstGeom>
          <a:noFill/>
          <a:ln w="31750">
            <a:solidFill>
              <a:srgbClr val="2E5BD8"/>
            </a:solidFill>
            <a:prstDash val="solid"/>
          </a:ln>
        </p:spPr>
      </p:sp>
      <p:sp>
        <p:nvSpPr>
          <p:cNvPr id="191" name="Shape 189"/>
          <p:cNvSpPr/>
          <p:nvPr/>
        </p:nvSpPr>
        <p:spPr>
          <a:xfrm>
            <a:off x="4221956" y="4336700"/>
            <a:ext cx="67866" cy="7001"/>
          </a:xfrm>
          <a:prstGeom prst="line">
            <a:avLst/>
          </a:prstGeom>
          <a:noFill/>
          <a:ln w="31750">
            <a:solidFill>
              <a:srgbClr val="2E5BD8"/>
            </a:solidFill>
            <a:prstDash val="solid"/>
          </a:ln>
        </p:spPr>
      </p:sp>
      <p:sp>
        <p:nvSpPr>
          <p:cNvPr id="192" name="Shape 190"/>
          <p:cNvSpPr/>
          <p:nvPr/>
        </p:nvSpPr>
        <p:spPr>
          <a:xfrm>
            <a:off x="4289822" y="4343701"/>
            <a:ext cx="67866" cy="6851"/>
          </a:xfrm>
          <a:prstGeom prst="line">
            <a:avLst/>
          </a:prstGeom>
          <a:noFill/>
          <a:ln w="31750">
            <a:solidFill>
              <a:srgbClr val="2E5BD8"/>
            </a:solidFill>
            <a:prstDash val="solid"/>
          </a:ln>
        </p:spPr>
      </p:sp>
      <p:sp>
        <p:nvSpPr>
          <p:cNvPr id="193" name="Shape 191"/>
          <p:cNvSpPr/>
          <p:nvPr/>
        </p:nvSpPr>
        <p:spPr>
          <a:xfrm>
            <a:off x="4357688" y="4350552"/>
            <a:ext cx="67866" cy="6705"/>
          </a:xfrm>
          <a:prstGeom prst="line">
            <a:avLst/>
          </a:prstGeom>
          <a:noFill/>
          <a:ln w="31750">
            <a:solidFill>
              <a:srgbClr val="2E5BD8"/>
            </a:solidFill>
            <a:prstDash val="solid"/>
          </a:ln>
        </p:spPr>
      </p:sp>
      <p:sp>
        <p:nvSpPr>
          <p:cNvPr id="194" name="Shape 192"/>
          <p:cNvSpPr/>
          <p:nvPr/>
        </p:nvSpPr>
        <p:spPr>
          <a:xfrm>
            <a:off x="4425553" y="4357257"/>
            <a:ext cx="67866" cy="6561"/>
          </a:xfrm>
          <a:prstGeom prst="line">
            <a:avLst/>
          </a:prstGeom>
          <a:noFill/>
          <a:ln w="31750">
            <a:solidFill>
              <a:srgbClr val="2E5BD8"/>
            </a:solidFill>
            <a:prstDash val="solid"/>
          </a:ln>
        </p:spPr>
      </p:sp>
      <p:sp>
        <p:nvSpPr>
          <p:cNvPr id="195" name="Shape 193"/>
          <p:cNvSpPr/>
          <p:nvPr/>
        </p:nvSpPr>
        <p:spPr>
          <a:xfrm>
            <a:off x="4493419" y="4363818"/>
            <a:ext cx="67866" cy="6420"/>
          </a:xfrm>
          <a:prstGeom prst="line">
            <a:avLst/>
          </a:prstGeom>
          <a:noFill/>
          <a:ln w="31750">
            <a:solidFill>
              <a:srgbClr val="2E5BD8"/>
            </a:solidFill>
            <a:prstDash val="solid"/>
          </a:ln>
        </p:spPr>
      </p:sp>
      <p:sp>
        <p:nvSpPr>
          <p:cNvPr id="196" name="Shape 194"/>
          <p:cNvSpPr/>
          <p:nvPr/>
        </p:nvSpPr>
        <p:spPr>
          <a:xfrm>
            <a:off x="4561284" y="4370238"/>
            <a:ext cx="67866" cy="6283"/>
          </a:xfrm>
          <a:prstGeom prst="line">
            <a:avLst/>
          </a:prstGeom>
          <a:noFill/>
          <a:ln w="31750">
            <a:solidFill>
              <a:srgbClr val="2E5BD8"/>
            </a:solidFill>
            <a:prstDash val="solid"/>
          </a:ln>
        </p:spPr>
      </p:sp>
      <p:sp>
        <p:nvSpPr>
          <p:cNvPr id="197" name="Shape 195"/>
          <p:cNvSpPr/>
          <p:nvPr/>
        </p:nvSpPr>
        <p:spPr>
          <a:xfrm>
            <a:off x="4629150" y="4376521"/>
            <a:ext cx="67866" cy="6148"/>
          </a:xfrm>
          <a:prstGeom prst="line">
            <a:avLst/>
          </a:prstGeom>
          <a:noFill/>
          <a:ln w="31750">
            <a:solidFill>
              <a:srgbClr val="2E5BD8"/>
            </a:solidFill>
            <a:prstDash val="solid"/>
          </a:ln>
        </p:spPr>
      </p:sp>
      <p:sp>
        <p:nvSpPr>
          <p:cNvPr id="198" name="Shape 196"/>
          <p:cNvSpPr/>
          <p:nvPr/>
        </p:nvSpPr>
        <p:spPr>
          <a:xfrm>
            <a:off x="4697016" y="4382669"/>
            <a:ext cx="67866" cy="6016"/>
          </a:xfrm>
          <a:prstGeom prst="line">
            <a:avLst/>
          </a:prstGeom>
          <a:noFill/>
          <a:ln w="31750">
            <a:solidFill>
              <a:srgbClr val="2E5BD8"/>
            </a:solidFill>
            <a:prstDash val="solid"/>
          </a:ln>
        </p:spPr>
      </p:sp>
      <p:sp>
        <p:nvSpPr>
          <p:cNvPr id="199" name="Shape 197"/>
          <p:cNvSpPr/>
          <p:nvPr/>
        </p:nvSpPr>
        <p:spPr>
          <a:xfrm>
            <a:off x="4764881" y="4388685"/>
            <a:ext cx="67866" cy="5887"/>
          </a:xfrm>
          <a:prstGeom prst="line">
            <a:avLst/>
          </a:prstGeom>
          <a:noFill/>
          <a:ln w="31750">
            <a:solidFill>
              <a:srgbClr val="2E5BD8"/>
            </a:solidFill>
            <a:prstDash val="solid"/>
          </a:ln>
        </p:spPr>
      </p:sp>
      <p:sp>
        <p:nvSpPr>
          <p:cNvPr id="200" name="Shape 198"/>
          <p:cNvSpPr/>
          <p:nvPr/>
        </p:nvSpPr>
        <p:spPr>
          <a:xfrm>
            <a:off x="4832747" y="4394573"/>
            <a:ext cx="67866" cy="5761"/>
          </a:xfrm>
          <a:prstGeom prst="line">
            <a:avLst/>
          </a:prstGeom>
          <a:noFill/>
          <a:ln w="31750">
            <a:solidFill>
              <a:srgbClr val="2E5BD8"/>
            </a:solidFill>
            <a:prstDash val="solid"/>
          </a:ln>
        </p:spPr>
      </p:sp>
      <p:sp>
        <p:nvSpPr>
          <p:cNvPr id="201" name="Shape 199"/>
          <p:cNvSpPr/>
          <p:nvPr/>
        </p:nvSpPr>
        <p:spPr>
          <a:xfrm>
            <a:off x="4900613" y="4400334"/>
            <a:ext cx="67866" cy="5638"/>
          </a:xfrm>
          <a:prstGeom prst="line">
            <a:avLst/>
          </a:prstGeom>
          <a:noFill/>
          <a:ln w="31750">
            <a:solidFill>
              <a:srgbClr val="2E5BD8"/>
            </a:solidFill>
            <a:prstDash val="solid"/>
          </a:ln>
        </p:spPr>
      </p:sp>
      <p:sp>
        <p:nvSpPr>
          <p:cNvPr id="202" name="Shape 200"/>
          <p:cNvSpPr/>
          <p:nvPr/>
        </p:nvSpPr>
        <p:spPr>
          <a:xfrm>
            <a:off x="4968478" y="4405972"/>
            <a:ext cx="67866" cy="5517"/>
          </a:xfrm>
          <a:prstGeom prst="line">
            <a:avLst/>
          </a:prstGeom>
          <a:noFill/>
          <a:ln w="31750">
            <a:solidFill>
              <a:srgbClr val="2E5BD8"/>
            </a:solidFill>
            <a:prstDash val="solid"/>
          </a:ln>
        </p:spPr>
      </p:sp>
      <p:sp>
        <p:nvSpPr>
          <p:cNvPr id="203" name="Shape 201"/>
          <p:cNvSpPr/>
          <p:nvPr/>
        </p:nvSpPr>
        <p:spPr>
          <a:xfrm>
            <a:off x="5036344" y="4411489"/>
            <a:ext cx="67866" cy="5399"/>
          </a:xfrm>
          <a:prstGeom prst="line">
            <a:avLst/>
          </a:prstGeom>
          <a:noFill/>
          <a:ln w="31750">
            <a:solidFill>
              <a:srgbClr val="2E5BD8"/>
            </a:solidFill>
            <a:prstDash val="solid"/>
          </a:ln>
        </p:spPr>
      </p:sp>
      <p:sp>
        <p:nvSpPr>
          <p:cNvPr id="204" name="Shape 202"/>
          <p:cNvSpPr/>
          <p:nvPr/>
        </p:nvSpPr>
        <p:spPr>
          <a:xfrm>
            <a:off x="5104209" y="4416888"/>
            <a:ext cx="67866" cy="5283"/>
          </a:xfrm>
          <a:prstGeom prst="line">
            <a:avLst/>
          </a:prstGeom>
          <a:noFill/>
          <a:ln w="31750">
            <a:solidFill>
              <a:srgbClr val="2E5BD8"/>
            </a:solidFill>
            <a:prstDash val="solid"/>
          </a:ln>
        </p:spPr>
      </p:sp>
      <p:sp>
        <p:nvSpPr>
          <p:cNvPr id="205" name="Shape 203"/>
          <p:cNvSpPr/>
          <p:nvPr/>
        </p:nvSpPr>
        <p:spPr>
          <a:xfrm>
            <a:off x="5172075" y="4422171"/>
            <a:ext cx="67866" cy="5170"/>
          </a:xfrm>
          <a:prstGeom prst="line">
            <a:avLst/>
          </a:prstGeom>
          <a:noFill/>
          <a:ln w="31750">
            <a:solidFill>
              <a:srgbClr val="2E5BD8"/>
            </a:solidFill>
            <a:prstDash val="solid"/>
          </a:ln>
        </p:spPr>
      </p:sp>
      <p:sp>
        <p:nvSpPr>
          <p:cNvPr id="206" name="Shape 204"/>
          <p:cNvSpPr/>
          <p:nvPr/>
        </p:nvSpPr>
        <p:spPr>
          <a:xfrm>
            <a:off x="5239941" y="4427341"/>
            <a:ext cx="67866" cy="5059"/>
          </a:xfrm>
          <a:prstGeom prst="line">
            <a:avLst/>
          </a:prstGeom>
          <a:noFill/>
          <a:ln w="31750">
            <a:solidFill>
              <a:srgbClr val="2E5BD8"/>
            </a:solidFill>
            <a:prstDash val="solid"/>
          </a:ln>
        </p:spPr>
      </p:sp>
      <p:sp>
        <p:nvSpPr>
          <p:cNvPr id="207" name="Shape 205"/>
          <p:cNvSpPr/>
          <p:nvPr/>
        </p:nvSpPr>
        <p:spPr>
          <a:xfrm>
            <a:off x="5307806" y="4432400"/>
            <a:ext cx="67866" cy="4951"/>
          </a:xfrm>
          <a:prstGeom prst="line">
            <a:avLst/>
          </a:prstGeom>
          <a:noFill/>
          <a:ln w="31750">
            <a:solidFill>
              <a:srgbClr val="2E5BD8"/>
            </a:solidFill>
            <a:prstDash val="solid"/>
          </a:ln>
        </p:spPr>
      </p:sp>
      <p:sp>
        <p:nvSpPr>
          <p:cNvPr id="208" name="Shape 206"/>
          <p:cNvSpPr/>
          <p:nvPr/>
        </p:nvSpPr>
        <p:spPr>
          <a:xfrm>
            <a:off x="5375672" y="4437350"/>
            <a:ext cx="67866" cy="4845"/>
          </a:xfrm>
          <a:prstGeom prst="line">
            <a:avLst/>
          </a:prstGeom>
          <a:noFill/>
          <a:ln w="31750">
            <a:solidFill>
              <a:srgbClr val="2E5BD8"/>
            </a:solidFill>
            <a:prstDash val="solid"/>
          </a:ln>
        </p:spPr>
      </p:sp>
      <p:sp>
        <p:nvSpPr>
          <p:cNvPr id="209" name="Shape 207"/>
          <p:cNvSpPr/>
          <p:nvPr/>
        </p:nvSpPr>
        <p:spPr>
          <a:xfrm>
            <a:off x="5443538" y="4442195"/>
            <a:ext cx="67866" cy="4741"/>
          </a:xfrm>
          <a:prstGeom prst="line">
            <a:avLst/>
          </a:prstGeom>
          <a:noFill/>
          <a:ln w="31750">
            <a:solidFill>
              <a:srgbClr val="2E5BD8"/>
            </a:solidFill>
            <a:prstDash val="solid"/>
          </a:ln>
        </p:spPr>
      </p:sp>
      <p:sp>
        <p:nvSpPr>
          <p:cNvPr id="210" name="Shape 208"/>
          <p:cNvSpPr/>
          <p:nvPr/>
        </p:nvSpPr>
        <p:spPr>
          <a:xfrm>
            <a:off x="5511403" y="4446936"/>
            <a:ext cx="67866" cy="4639"/>
          </a:xfrm>
          <a:prstGeom prst="line">
            <a:avLst/>
          </a:prstGeom>
          <a:noFill/>
          <a:ln w="31750">
            <a:solidFill>
              <a:srgbClr val="2E5BD8"/>
            </a:solidFill>
            <a:prstDash val="solid"/>
          </a:ln>
        </p:spPr>
      </p:sp>
      <p:sp>
        <p:nvSpPr>
          <p:cNvPr id="211" name="Shape 209"/>
          <p:cNvSpPr/>
          <p:nvPr/>
        </p:nvSpPr>
        <p:spPr>
          <a:xfrm>
            <a:off x="5579269" y="4451575"/>
            <a:ext cx="67866" cy="4540"/>
          </a:xfrm>
          <a:prstGeom prst="line">
            <a:avLst/>
          </a:prstGeom>
          <a:noFill/>
          <a:ln w="31750">
            <a:solidFill>
              <a:srgbClr val="2E5BD8"/>
            </a:solidFill>
            <a:prstDash val="solid"/>
          </a:ln>
        </p:spPr>
      </p:sp>
      <p:sp>
        <p:nvSpPr>
          <p:cNvPr id="212" name="Shape 210"/>
          <p:cNvSpPr/>
          <p:nvPr/>
        </p:nvSpPr>
        <p:spPr>
          <a:xfrm>
            <a:off x="5647134" y="4456115"/>
            <a:ext cx="67866" cy="4443"/>
          </a:xfrm>
          <a:prstGeom prst="line">
            <a:avLst/>
          </a:prstGeom>
          <a:noFill/>
          <a:ln w="31750">
            <a:solidFill>
              <a:srgbClr val="2E5BD8"/>
            </a:solidFill>
            <a:prstDash val="solid"/>
          </a:ln>
        </p:spPr>
      </p:sp>
      <p:sp>
        <p:nvSpPr>
          <p:cNvPr id="213" name="Text 211"/>
          <p:cNvSpPr/>
          <p:nvPr/>
        </p:nvSpPr>
        <p:spPr>
          <a:xfrm>
            <a:off x="1670209" y="1579626"/>
            <a:ext cx="237744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X: half-life 2 days</a:t>
            </a:r>
            <a:endParaRPr lang="en-US" sz="1050" dirty="0"/>
          </a:p>
        </p:txBody>
      </p:sp>
      <p:sp>
        <p:nvSpPr>
          <p:cNvPr id="214" name="Text 212"/>
          <p:cNvSpPr/>
          <p:nvPr/>
        </p:nvSpPr>
        <p:spPr>
          <a:xfrm>
            <a:off x="3950494" y="3953351"/>
            <a:ext cx="1828800" cy="256032"/>
          </a:xfrm>
          <a:prstGeom prst="rect">
            <a:avLst/>
          </a:prstGeom>
          <a:noFill/>
          <a:ln/>
        </p:spPr>
        <p:txBody>
          <a:bodyPr wrap="square" lIns="0" tIns="0" rIns="0" bIns="0" rtlCol="0" anchor="ctr"/>
          <a:lstStyle/>
          <a:p>
            <a:pPr algn="l" indent="0" marL="0">
              <a:buNone/>
            </a:pPr>
            <a:r>
              <a:rPr lang="en-US" sz="1050" b="1" dirty="0">
                <a:solidFill>
                  <a:srgbClr val="2E5BD8"/>
                </a:solidFill>
                <a:latin typeface="Calibri" pitchFamily="34" charset="0"/>
                <a:ea typeface="Calibri" pitchFamily="34" charset="-122"/>
                <a:cs typeface="Calibri" pitchFamily="34" charset="-120"/>
              </a:rPr>
              <a:t>Y: half-life 8 days</a:t>
            </a:r>
            <a:endParaRPr lang="en-US" sz="1050" dirty="0"/>
          </a:p>
        </p:txBody>
      </p:sp>
      <p:sp>
        <p:nvSpPr>
          <p:cNvPr id="215" name="Shape 213"/>
          <p:cNvSpPr/>
          <p:nvPr/>
        </p:nvSpPr>
        <p:spPr>
          <a:xfrm>
            <a:off x="2819400" y="4152208"/>
            <a:ext cx="91" cy="511232"/>
          </a:xfrm>
          <a:prstGeom prst="line">
            <a:avLst/>
          </a:prstGeom>
          <a:noFill/>
          <a:ln w="12700">
            <a:solidFill>
              <a:srgbClr val="6B7385"/>
            </a:solidFill>
            <a:prstDash val="dash"/>
          </a:ln>
        </p:spPr>
      </p:sp>
      <p:sp>
        <p:nvSpPr>
          <p:cNvPr id="216" name="Text 214"/>
          <p:cNvSpPr/>
          <p:nvPr/>
        </p:nvSpPr>
        <p:spPr>
          <a:xfrm>
            <a:off x="2865120" y="3324416"/>
            <a:ext cx="1645920" cy="384048"/>
          </a:xfrm>
          <a:prstGeom prst="rect">
            <a:avLst/>
          </a:prstGeom>
          <a:noFill/>
          <a:ln/>
        </p:spPr>
        <p:txBody>
          <a:bodyPr wrap="square" lIns="0" tIns="0" rIns="0" bIns="0" rtlCol="0" anchor="t"/>
          <a:lstStyle/>
          <a:p>
            <a:pPr algn="l" indent="0" marL="0">
              <a:buNone/>
            </a:pPr>
            <a:r>
              <a:rPr lang="en-US" sz="1050" i="1" dirty="0">
                <a:solidFill>
                  <a:srgbClr val="6B7385"/>
                </a:solidFill>
                <a:latin typeface="Calibri" pitchFamily="34" charset="0"/>
                <a:ea typeface="Calibri" pitchFamily="34" charset="-122"/>
                <a:cs typeface="Calibri" pitchFamily="34" charset="-120"/>
              </a:rPr>
              <a:t>after ≈ 5.3 days Y is more active</a:t>
            </a:r>
            <a:endParaRPr lang="en-US" sz="1050" dirty="0"/>
          </a:p>
        </p:txBody>
      </p:sp>
      <p:sp>
        <p:nvSpPr>
          <p:cNvPr id="217" name="Shape 215"/>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18" name="Text 21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Short or long half-life?</a:t>
            </a:r>
            <a:endParaRPr lang="en-US" sz="1300" dirty="0"/>
          </a:p>
        </p:txBody>
      </p:sp>
      <p:sp>
        <p:nvSpPr>
          <p:cNvPr id="219" name="Text 21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Short half-life</a:t>
            </a:r>
            <a:r>
              <a:rPr lang="en-US" sz="1150" dirty="0">
                <a:solidFill>
                  <a:srgbClr val="262B3A"/>
                </a:solidFill>
                <a:latin typeface="Calibri" pitchFamily="34" charset="0"/>
                <a:ea typeface="Calibri" pitchFamily="34" charset="-122"/>
                <a:cs typeface="Calibri" pitchFamily="34" charset="-120"/>
              </a:rPr>
              <a:t>: nuclei decay quickly, so the </a:t>
            </a:r>
            <a:r>
              <a:rPr lang="en-US" sz="1150" b="1" dirty="0">
                <a:solidFill>
                  <a:srgbClr val="262B3A"/>
                </a:solidFill>
                <a:latin typeface="Calibri" pitchFamily="34" charset="0"/>
                <a:ea typeface="Calibri" pitchFamily="34" charset="-122"/>
                <a:cs typeface="Calibri" pitchFamily="34" charset="-120"/>
              </a:rPr>
              <a:t>activity is high</a:t>
            </a:r>
            <a:r>
              <a:rPr lang="en-US" sz="1150" dirty="0">
                <a:solidFill>
                  <a:srgbClr val="262B3A"/>
                </a:solidFill>
                <a:latin typeface="Calibri" pitchFamily="34" charset="0"/>
                <a:ea typeface="Calibri" pitchFamily="34" charset="-122"/>
                <a:cs typeface="Calibri" pitchFamily="34" charset="-120"/>
              </a:rPr>
              <a:t>. A big hazard, but only for a </a:t>
            </a:r>
            <a:r>
              <a:rPr lang="en-US" sz="1150" b="1" dirty="0">
                <a:solidFill>
                  <a:srgbClr val="262B3A"/>
                </a:solidFill>
                <a:latin typeface="Calibri" pitchFamily="34" charset="0"/>
                <a:ea typeface="Calibri" pitchFamily="34" charset="-122"/>
                <a:cs typeface="Calibri" pitchFamily="34" charset="-120"/>
              </a:rPr>
              <a:t>short time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Long half-life</a:t>
            </a:r>
            <a:r>
              <a:rPr lang="en-US" sz="1150" dirty="0">
                <a:solidFill>
                  <a:srgbClr val="262B3A"/>
                </a:solidFill>
                <a:latin typeface="Calibri" pitchFamily="34" charset="0"/>
                <a:ea typeface="Calibri" pitchFamily="34" charset="-122"/>
                <a:cs typeface="Calibri" pitchFamily="34" charset="-120"/>
              </a:rPr>
              <a:t>: lower activity, but it stays radioactive for a </a:t>
            </a:r>
            <a:r>
              <a:rPr lang="en-US" sz="1150" b="1" dirty="0">
                <a:solidFill>
                  <a:srgbClr val="262B3A"/>
                </a:solidFill>
                <a:latin typeface="Calibri" pitchFamily="34" charset="0"/>
                <a:ea typeface="Calibri" pitchFamily="34" charset="-122"/>
                <a:cs typeface="Calibri" pitchFamily="34" charset="-120"/>
              </a:rPr>
              <a:t>long time</a:t>
            </a:r>
            <a:r>
              <a:rPr lang="en-US" sz="1150" dirty="0">
                <a:solidFill>
                  <a:srgbClr val="262B3A"/>
                </a:solidFill>
                <a:latin typeface="Calibri" pitchFamily="34" charset="0"/>
                <a:ea typeface="Calibri" pitchFamily="34" charset="-122"/>
                <a:cs typeface="Calibri" pitchFamily="34" charset="-120"/>
              </a:rPr>
              <a:t>. Contamination lasts for years.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Waste with a long half-life must be </a:t>
            </a:r>
            <a:r>
              <a:rPr lang="en-US" sz="1150" b="1" dirty="0">
                <a:solidFill>
                  <a:srgbClr val="262B3A"/>
                </a:solidFill>
                <a:latin typeface="Calibri" pitchFamily="34" charset="0"/>
                <a:ea typeface="Calibri" pitchFamily="34" charset="-122"/>
                <a:cs typeface="Calibri" pitchFamily="34" charset="-120"/>
              </a:rPr>
              <a:t>stored safely for a very long time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hazard also depends on the </a:t>
            </a:r>
            <a:r>
              <a:rPr lang="en-US" sz="1150" b="1" dirty="0">
                <a:solidFill>
                  <a:srgbClr val="262B3A"/>
                </a:solidFill>
                <a:latin typeface="Calibri" pitchFamily="34" charset="0"/>
                <a:ea typeface="Calibri" pitchFamily="34" charset="-122"/>
                <a:cs typeface="Calibri" pitchFamily="34" charset="-120"/>
              </a:rPr>
              <a:t>type of radiation</a:t>
            </a:r>
            <a:r>
              <a:rPr lang="en-US" sz="1150" dirty="0">
                <a:solidFill>
                  <a:srgbClr val="262B3A"/>
                </a:solidFill>
                <a:latin typeface="Calibri" pitchFamily="34" charset="0"/>
                <a:ea typeface="Calibri" pitchFamily="34" charset="-122"/>
                <a:cs typeface="Calibri" pitchFamily="34" charset="-120"/>
              </a:rPr>
              <a:t> (previous slide) and the </a:t>
            </a:r>
            <a:r>
              <a:rPr lang="en-US" sz="1150" b="1" dirty="0">
                <a:solidFill>
                  <a:srgbClr val="262B3A"/>
                </a:solidFill>
                <a:latin typeface="Calibri" pitchFamily="34" charset="0"/>
                <a:ea typeface="Calibri" pitchFamily="34" charset="-122"/>
                <a:cs typeface="Calibri" pitchFamily="34" charset="-120"/>
              </a:rPr>
              <a:t>amount</a:t>
            </a:r>
            <a:r>
              <a:rPr lang="en-US" sz="1150" dirty="0">
                <a:solidFill>
                  <a:srgbClr val="262B3A"/>
                </a:solidFill>
                <a:latin typeface="Calibri" pitchFamily="34" charset="0"/>
                <a:ea typeface="Calibri" pitchFamily="34" charset="-122"/>
                <a:cs typeface="Calibri" pitchFamily="34" charset="-120"/>
              </a:rPr>
              <a:t> of material.</a:t>
            </a:r>
            <a:endParaRPr lang="en-US" sz="1150" dirty="0"/>
          </a:p>
        </p:txBody>
      </p:sp>
      <p:sp>
        <p:nvSpPr>
          <p:cNvPr id="220" name="Shape 21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21" name="Text 21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use the graph</a:t>
            </a:r>
            <a:endParaRPr lang="en-US" sz="1300" dirty="0"/>
          </a:p>
        </p:txBody>
      </p:sp>
      <p:sp>
        <p:nvSpPr>
          <p:cNvPr id="222" name="Text 220"/>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Find the activity of each sample after 8 days.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X   </a:t>
            </a:r>
            <a:r>
              <a:rPr lang="en-US" sz="1050" dirty="0">
                <a:solidFill>
                  <a:srgbClr val="262B3A"/>
                </a:solidFill>
                <a:latin typeface="Calibri" pitchFamily="34" charset="0"/>
                <a:ea typeface="Calibri" pitchFamily="34" charset="-122"/>
                <a:cs typeface="Calibri" pitchFamily="34" charset="-120"/>
              </a:rPr>
              <a:t>8 ÷ 2 = 4 half-lives: 800 → 400 → 200 → 100 → </a:t>
            </a:r>
            <a:r>
              <a:rPr lang="en-US" sz="1050" b="1" dirty="0">
                <a:solidFill>
                  <a:srgbClr val="262B3A"/>
                </a:solidFill>
                <a:latin typeface="Calibri" pitchFamily="34" charset="0"/>
                <a:ea typeface="Calibri" pitchFamily="34" charset="-122"/>
                <a:cs typeface="Calibri" pitchFamily="34" charset="-120"/>
              </a:rPr>
              <a:t>50 Bq</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Y   </a:t>
            </a:r>
            <a:r>
              <a:rPr lang="en-US" sz="1050" dirty="0">
                <a:solidFill>
                  <a:srgbClr val="262B3A"/>
                </a:solidFill>
                <a:latin typeface="Calibri" pitchFamily="34" charset="0"/>
                <a:ea typeface="Calibri" pitchFamily="34" charset="-122"/>
                <a:cs typeface="Calibri" pitchFamily="34" charset="-120"/>
              </a:rPr>
              <a:t>8 ÷ 8 = 1 half-life: 200 → </a:t>
            </a:r>
            <a:r>
              <a:rPr lang="en-US" sz="1050" b="1" dirty="0">
                <a:solidFill>
                  <a:srgbClr val="262B3A"/>
                </a:solidFill>
                <a:latin typeface="Calibri" pitchFamily="34" charset="0"/>
                <a:ea typeface="Calibri" pitchFamily="34" charset="-122"/>
                <a:cs typeface="Calibri" pitchFamily="34" charset="-120"/>
              </a:rPr>
              <a:t>100 Bq</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Compare   </a:t>
            </a:r>
            <a:r>
              <a:rPr lang="en-US" sz="1050" dirty="0">
                <a:solidFill>
                  <a:srgbClr val="262B3A"/>
                </a:solidFill>
                <a:latin typeface="Calibri" pitchFamily="34" charset="0"/>
                <a:ea typeface="Calibri" pitchFamily="34" charset="-122"/>
                <a:cs typeface="Calibri" pitchFamily="34" charset="-120"/>
              </a:rPr>
              <a:t>X started 4× more active but is now less active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X was the bigger hazard at first; Y is now</a:t>
            </a:r>
            <a:endParaRPr lang="en-US" sz="1050" dirty="0"/>
          </a:p>
        </p:txBody>
      </p:sp>
      <p:sp>
        <p:nvSpPr>
          <p:cNvPr id="223" name="Shape 221"/>
          <p:cNvSpPr/>
          <p:nvPr/>
        </p:nvSpPr>
        <p:spPr>
          <a:xfrm>
            <a:off x="411480" y="5833872"/>
            <a:ext cx="11368735" cy="530352"/>
          </a:xfrm>
          <a:prstGeom prst="rect">
            <a:avLst/>
          </a:prstGeom>
          <a:solidFill>
            <a:srgbClr val="FFF4E0"/>
          </a:solidFill>
          <a:ln w="6350">
            <a:solidFill>
              <a:srgbClr val="F1D9A8"/>
            </a:solidFill>
            <a:prstDash val="solid"/>
          </a:ln>
        </p:spPr>
      </p:sp>
      <p:sp>
        <p:nvSpPr>
          <p:cNvPr id="224" name="Shape 222"/>
          <p:cNvSpPr/>
          <p:nvPr/>
        </p:nvSpPr>
        <p:spPr>
          <a:xfrm>
            <a:off x="411480" y="5833872"/>
            <a:ext cx="82296" cy="530352"/>
          </a:xfrm>
          <a:prstGeom prst="rect">
            <a:avLst/>
          </a:prstGeom>
          <a:solidFill>
            <a:srgbClr val="E39A2F"/>
          </a:solidFill>
          <a:ln w="12700">
            <a:solidFill>
              <a:srgbClr val="E39A2F"/>
            </a:solidFill>
            <a:prstDash val="solid"/>
          </a:ln>
        </p:spPr>
      </p:sp>
      <p:sp>
        <p:nvSpPr>
          <p:cNvPr id="225" name="Text 22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Spent nuclear fuel contains isotopes with half-lives of thousands of years. Why must it be stored safely for so long?</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P5.2.2, P5.2.3 • contamination, irradiation and hazard</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difference between </a:t>
            </a:r>
            <a:r>
              <a:rPr lang="en-US" sz="1250" b="1" dirty="0">
                <a:solidFill>
                  <a:srgbClr val="262B3A"/>
                </a:solidFill>
                <a:latin typeface="Calibri" pitchFamily="34" charset="0"/>
                <a:ea typeface="Calibri" pitchFamily="34" charset="-122"/>
                <a:cs typeface="Calibri" pitchFamily="34" charset="-120"/>
              </a:rPr>
              <a:t>irradiation</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contamination</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an alpha source is the </a:t>
            </a:r>
            <a:r>
              <a:rPr lang="en-US" sz="1250" b="1" dirty="0">
                <a:solidFill>
                  <a:srgbClr val="262B3A"/>
                </a:solidFill>
                <a:latin typeface="Calibri" pitchFamily="34" charset="0"/>
                <a:ea typeface="Calibri" pitchFamily="34" charset="-122"/>
                <a:cs typeface="Calibri" pitchFamily="34" charset="-120"/>
              </a:rPr>
              <a:t>most</a:t>
            </a:r>
            <a:r>
              <a:rPr lang="en-US" sz="1250" dirty="0">
                <a:solidFill>
                  <a:srgbClr val="262B3A"/>
                </a:solidFill>
                <a:latin typeface="Calibri" pitchFamily="34" charset="0"/>
                <a:ea typeface="Calibri" pitchFamily="34" charset="-122"/>
                <a:cs typeface="Calibri" pitchFamily="34" charset="-120"/>
              </a:rPr>
              <a:t> dangerous type </a:t>
            </a:r>
            <a:r>
              <a:rPr lang="en-US" sz="1250" b="1" dirty="0">
                <a:solidFill>
                  <a:srgbClr val="262B3A"/>
                </a:solidFill>
                <a:latin typeface="Calibri" pitchFamily="34" charset="0"/>
                <a:ea typeface="Calibri" pitchFamily="34" charset="-122"/>
                <a:cs typeface="Calibri" pitchFamily="34" charset="-120"/>
              </a:rPr>
              <a:t>inside</a:t>
            </a:r>
            <a:r>
              <a:rPr lang="en-US" sz="1250" dirty="0">
                <a:solidFill>
                  <a:srgbClr val="262B3A"/>
                </a:solidFill>
                <a:latin typeface="Calibri" pitchFamily="34" charset="0"/>
                <a:ea typeface="Calibri" pitchFamily="34" charset="-122"/>
                <a:cs typeface="Calibri" pitchFamily="34" charset="-120"/>
              </a:rPr>
              <a:t> the body but the </a:t>
            </a:r>
            <a:r>
              <a:rPr lang="en-US" sz="1250" b="1" dirty="0">
                <a:solidFill>
                  <a:srgbClr val="262B3A"/>
                </a:solidFill>
                <a:latin typeface="Calibri" pitchFamily="34" charset="0"/>
                <a:ea typeface="Calibri" pitchFamily="34" charset="-122"/>
                <a:cs typeface="Calibri" pitchFamily="34" charset="-120"/>
              </a:rPr>
              <a:t>least</a:t>
            </a:r>
            <a:r>
              <a:rPr lang="en-US" sz="1250" dirty="0">
                <a:solidFill>
                  <a:srgbClr val="262B3A"/>
                </a:solidFill>
                <a:latin typeface="Calibri" pitchFamily="34" charset="0"/>
                <a:ea typeface="Calibri" pitchFamily="34" charset="-122"/>
                <a:cs typeface="Calibri" pitchFamily="34" charset="-120"/>
              </a:rPr>
              <a:t> dangerous </a:t>
            </a:r>
            <a:r>
              <a:rPr lang="en-US" sz="1250" b="1" dirty="0">
                <a:solidFill>
                  <a:srgbClr val="262B3A"/>
                </a:solidFill>
                <a:latin typeface="Calibri" pitchFamily="34" charset="0"/>
                <a:ea typeface="Calibri" pitchFamily="34" charset="-122"/>
                <a:cs typeface="Calibri" pitchFamily="34" charset="-120"/>
              </a:rPr>
              <a:t>outside</a:t>
            </a:r>
            <a:r>
              <a:rPr lang="en-US" sz="1250" dirty="0">
                <a:solidFill>
                  <a:srgbClr val="262B3A"/>
                </a:solidFill>
                <a:latin typeface="Calibri" pitchFamily="34" charset="0"/>
                <a:ea typeface="Calibri" pitchFamily="34" charset="-122"/>
                <a:cs typeface="Calibri" pitchFamily="34" charset="-120"/>
              </a:rPr>
              <a:t> it.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Isotope P has a half-life of </a:t>
            </a:r>
            <a:r>
              <a:rPr lang="en-US" sz="1250" b="1" dirty="0">
                <a:solidFill>
                  <a:srgbClr val="262B3A"/>
                </a:solidFill>
                <a:latin typeface="Calibri" pitchFamily="34" charset="0"/>
                <a:ea typeface="Calibri" pitchFamily="34" charset="-122"/>
                <a:cs typeface="Calibri" pitchFamily="34" charset="-120"/>
              </a:rPr>
              <a:t>10 minutes</a:t>
            </a:r>
            <a:r>
              <a:rPr lang="en-US" sz="1250" dirty="0">
                <a:solidFill>
                  <a:srgbClr val="262B3A"/>
                </a:solidFill>
                <a:latin typeface="Calibri" pitchFamily="34" charset="0"/>
                <a:ea typeface="Calibri" pitchFamily="34" charset="-122"/>
                <a:cs typeface="Calibri" pitchFamily="34" charset="-120"/>
              </a:rPr>
              <a:t>; isotope Q has a half-life of </a:t>
            </a:r>
            <a:r>
              <a:rPr lang="en-US" sz="1250" b="1" dirty="0">
                <a:solidFill>
                  <a:srgbClr val="262B3A"/>
                </a:solidFill>
                <a:latin typeface="Calibri" pitchFamily="34" charset="0"/>
                <a:ea typeface="Calibri" pitchFamily="34" charset="-122"/>
                <a:cs typeface="Calibri" pitchFamily="34" charset="-120"/>
              </a:rPr>
              <a:t>10 years</a:t>
            </a:r>
            <a:r>
              <a:rPr lang="en-US" sz="1250" dirty="0">
                <a:solidFill>
                  <a:srgbClr val="262B3A"/>
                </a:solidFill>
                <a:latin typeface="Calibri" pitchFamily="34" charset="0"/>
                <a:ea typeface="Calibri" pitchFamily="34" charset="-122"/>
                <a:cs typeface="Calibri" pitchFamily="34" charset="-120"/>
              </a:rPr>
              <a:t>. Which is a longer-lasting contamination hazard? Explain.</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Shape 24"/>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Text 26"/>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An isotope in nuclear waste has a half-life of </a:t>
            </a:r>
            <a:r>
              <a:rPr lang="en-US" sz="1250" b="1" dirty="0">
                <a:solidFill>
                  <a:srgbClr val="262B3A"/>
                </a:solidFill>
                <a:latin typeface="Calibri" pitchFamily="34" charset="0"/>
                <a:ea typeface="Calibri" pitchFamily="34" charset="-122"/>
                <a:cs typeface="Calibri" pitchFamily="34" charset="-120"/>
              </a:rPr>
              <a:t>24 000 years</a:t>
            </a:r>
            <a:r>
              <a:rPr lang="en-US" sz="1250" dirty="0">
                <a:solidFill>
                  <a:srgbClr val="262B3A"/>
                </a:solidFill>
                <a:latin typeface="Calibri" pitchFamily="34" charset="0"/>
                <a:ea typeface="Calibri" pitchFamily="34" charset="-122"/>
                <a:cs typeface="Calibri" pitchFamily="34" charset="-120"/>
              </a:rPr>
              <a:t>. What fraction of it is left after </a:t>
            </a:r>
            <a:r>
              <a:rPr lang="en-US" sz="1250" b="1" dirty="0">
                <a:solidFill>
                  <a:srgbClr val="262B3A"/>
                </a:solidFill>
                <a:latin typeface="Calibri" pitchFamily="34" charset="0"/>
                <a:ea typeface="Calibri" pitchFamily="34" charset="-122"/>
                <a:cs typeface="Calibri" pitchFamily="34" charset="-120"/>
              </a:rPr>
              <a:t>120 000 years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9" name="Text 27"/>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Exploring internal organs: tracers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P5.2.4 • using a gamma emitter to see inside the body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P5.2.4  |  18</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gamma camera detects gamma rays from a tracer that collects in the kidneys</a:t>
            </a:r>
            <a:endParaRPr lang="en-US" sz="1000" dirty="0"/>
          </a:p>
        </p:txBody>
      </p:sp>
      <p:sp>
        <p:nvSpPr>
          <p:cNvPr id="10" name="Shape 8"/>
          <p:cNvSpPr/>
          <p:nvPr/>
        </p:nvSpPr>
        <p:spPr>
          <a:xfrm>
            <a:off x="640080" y="4297680"/>
            <a:ext cx="4023360" cy="164592"/>
          </a:xfrm>
          <a:prstGeom prst="rect">
            <a:avLst/>
          </a:prstGeom>
          <a:solidFill>
            <a:srgbClr val="8C96A8"/>
          </a:solidFill>
          <a:ln w="12700">
            <a:solidFill>
              <a:srgbClr val="6B7385"/>
            </a:solidFill>
            <a:prstDash val="solid"/>
          </a:ln>
        </p:spPr>
      </p:sp>
      <p:sp>
        <p:nvSpPr>
          <p:cNvPr id="11" name="Shape 9"/>
          <p:cNvSpPr/>
          <p:nvPr/>
        </p:nvSpPr>
        <p:spPr>
          <a:xfrm>
            <a:off x="914400" y="4462272"/>
            <a:ext cx="109728" cy="640080"/>
          </a:xfrm>
          <a:prstGeom prst="rect">
            <a:avLst/>
          </a:prstGeom>
          <a:solidFill>
            <a:srgbClr val="8C96A8"/>
          </a:solidFill>
          <a:ln w="12700">
            <a:solidFill>
              <a:srgbClr val="6B7385"/>
            </a:solidFill>
            <a:prstDash val="solid"/>
          </a:ln>
        </p:spPr>
      </p:sp>
      <p:sp>
        <p:nvSpPr>
          <p:cNvPr id="12" name="Shape 10"/>
          <p:cNvSpPr/>
          <p:nvPr/>
        </p:nvSpPr>
        <p:spPr>
          <a:xfrm>
            <a:off x="4297680" y="4462272"/>
            <a:ext cx="109728" cy="640080"/>
          </a:xfrm>
          <a:prstGeom prst="rect">
            <a:avLst/>
          </a:prstGeom>
          <a:solidFill>
            <a:srgbClr val="8C96A8"/>
          </a:solidFill>
          <a:ln w="12700">
            <a:solidFill>
              <a:srgbClr val="6B7385"/>
            </a:solidFill>
            <a:prstDash val="solid"/>
          </a:ln>
        </p:spPr>
      </p:sp>
      <p:sp>
        <p:nvSpPr>
          <p:cNvPr id="13" name="Shape 11"/>
          <p:cNvSpPr/>
          <p:nvPr/>
        </p:nvSpPr>
        <p:spPr>
          <a:xfrm>
            <a:off x="1188720" y="3794760"/>
            <a:ext cx="3200400" cy="502920"/>
          </a:xfrm>
          <a:prstGeom prst="roundRect">
            <a:avLst>
              <a:gd name="adj" fmla="val 36364"/>
            </a:avLst>
          </a:prstGeom>
          <a:solidFill>
            <a:srgbClr val="F2D7C2"/>
          </a:solidFill>
          <a:ln w="12700">
            <a:solidFill>
              <a:srgbClr val="9A7B66"/>
            </a:solidFill>
            <a:prstDash val="solid"/>
          </a:ln>
        </p:spPr>
      </p:sp>
      <p:sp>
        <p:nvSpPr>
          <p:cNvPr id="14" name="Shape 12"/>
          <p:cNvSpPr/>
          <p:nvPr/>
        </p:nvSpPr>
        <p:spPr>
          <a:xfrm>
            <a:off x="685800" y="3749040"/>
            <a:ext cx="548640" cy="548640"/>
          </a:xfrm>
          <a:prstGeom prst="ellipse">
            <a:avLst/>
          </a:prstGeom>
          <a:solidFill>
            <a:srgbClr val="F2D7C2"/>
          </a:solidFill>
          <a:ln w="9525">
            <a:solidFill>
              <a:srgbClr val="9A7B66"/>
            </a:solidFill>
            <a:prstDash val="solid"/>
          </a:ln>
        </p:spPr>
      </p:sp>
      <p:sp>
        <p:nvSpPr>
          <p:cNvPr id="15" name="Shape 13"/>
          <p:cNvSpPr/>
          <p:nvPr/>
        </p:nvSpPr>
        <p:spPr>
          <a:xfrm>
            <a:off x="2359152" y="3886200"/>
            <a:ext cx="310896" cy="256032"/>
          </a:xfrm>
          <a:prstGeom prst="ellipse">
            <a:avLst/>
          </a:prstGeom>
          <a:solidFill>
            <a:srgbClr val="C8414C">
              <a:alpha val="90000"/>
            </a:srgbClr>
          </a:solidFill>
          <a:ln w="9525">
            <a:solidFill>
              <a:srgbClr val="8E2A33"/>
            </a:solidFill>
            <a:prstDash val="solid"/>
          </a:ln>
        </p:spPr>
      </p:sp>
      <p:sp>
        <p:nvSpPr>
          <p:cNvPr id="16" name="Shape 14"/>
          <p:cNvSpPr/>
          <p:nvPr/>
        </p:nvSpPr>
        <p:spPr>
          <a:xfrm>
            <a:off x="2816352" y="3886200"/>
            <a:ext cx="310896" cy="256032"/>
          </a:xfrm>
          <a:prstGeom prst="ellipse">
            <a:avLst/>
          </a:prstGeom>
          <a:solidFill>
            <a:srgbClr val="C8414C">
              <a:alpha val="90000"/>
            </a:srgbClr>
          </a:solidFill>
          <a:ln w="9525">
            <a:solidFill>
              <a:srgbClr val="8E2A33"/>
            </a:solidFill>
            <a:prstDash val="solid"/>
          </a:ln>
        </p:spPr>
      </p:sp>
      <p:sp>
        <p:nvSpPr>
          <p:cNvPr id="17" name="Text 15"/>
          <p:cNvSpPr/>
          <p:nvPr/>
        </p:nvSpPr>
        <p:spPr>
          <a:xfrm>
            <a:off x="3108960" y="4050792"/>
            <a:ext cx="123444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kidneys</a:t>
            </a:r>
            <a:endParaRPr lang="en-US" sz="1050" dirty="0"/>
          </a:p>
        </p:txBody>
      </p:sp>
      <p:sp>
        <p:nvSpPr>
          <p:cNvPr id="18" name="Shape 16"/>
          <p:cNvSpPr/>
          <p:nvPr/>
        </p:nvSpPr>
        <p:spPr>
          <a:xfrm>
            <a:off x="1737360" y="2148840"/>
            <a:ext cx="2011680" cy="411480"/>
          </a:xfrm>
          <a:prstGeom prst="roundRect">
            <a:avLst>
              <a:gd name="adj" fmla="val 11111"/>
            </a:avLst>
          </a:prstGeom>
          <a:solidFill>
            <a:srgbClr val="4A5262"/>
          </a:solidFill>
          <a:ln w="12700">
            <a:solidFill>
              <a:srgbClr val="2E3442"/>
            </a:solidFill>
            <a:prstDash val="solid"/>
          </a:ln>
        </p:spPr>
      </p:sp>
      <p:sp>
        <p:nvSpPr>
          <p:cNvPr id="19" name="Text 17"/>
          <p:cNvSpPr/>
          <p:nvPr/>
        </p:nvSpPr>
        <p:spPr>
          <a:xfrm>
            <a:off x="1737360" y="2148840"/>
            <a:ext cx="20116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gamma camera</a:t>
            </a:r>
            <a:endParaRPr lang="en-US" sz="1050" dirty="0"/>
          </a:p>
        </p:txBody>
      </p:sp>
      <p:sp>
        <p:nvSpPr>
          <p:cNvPr id="20" name="Shape 18"/>
          <p:cNvSpPr/>
          <p:nvPr/>
        </p:nvSpPr>
        <p:spPr>
          <a:xfrm flipV="1">
            <a:off x="2286000" y="3866198"/>
            <a:ext cx="13997" cy="20002"/>
          </a:xfrm>
          <a:prstGeom prst="line">
            <a:avLst/>
          </a:prstGeom>
          <a:noFill/>
          <a:ln w="19050">
            <a:solidFill>
              <a:srgbClr val="2E8B57"/>
            </a:solidFill>
            <a:prstDash val="solid"/>
          </a:ln>
        </p:spPr>
      </p:sp>
      <p:sp>
        <p:nvSpPr>
          <p:cNvPr id="21" name="Shape 19"/>
          <p:cNvSpPr/>
          <p:nvPr/>
        </p:nvSpPr>
        <p:spPr>
          <a:xfrm flipV="1">
            <a:off x="2299997" y="3846195"/>
            <a:ext cx="11866" cy="20003"/>
          </a:xfrm>
          <a:prstGeom prst="line">
            <a:avLst/>
          </a:prstGeom>
          <a:noFill/>
          <a:ln w="19050">
            <a:solidFill>
              <a:srgbClr val="2E8B57"/>
            </a:solidFill>
            <a:prstDash val="solid"/>
          </a:ln>
        </p:spPr>
      </p:sp>
      <p:sp>
        <p:nvSpPr>
          <p:cNvPr id="22" name="Shape 20"/>
          <p:cNvSpPr/>
          <p:nvPr/>
        </p:nvSpPr>
        <p:spPr>
          <a:xfrm flipV="1">
            <a:off x="2311863" y="3826193"/>
            <a:ext cx="7929" cy="20002"/>
          </a:xfrm>
          <a:prstGeom prst="line">
            <a:avLst/>
          </a:prstGeom>
          <a:noFill/>
          <a:ln w="19050">
            <a:solidFill>
              <a:srgbClr val="2E8B57"/>
            </a:solidFill>
            <a:prstDash val="solid"/>
          </a:ln>
        </p:spPr>
      </p:sp>
      <p:sp>
        <p:nvSpPr>
          <p:cNvPr id="23" name="Shape 21"/>
          <p:cNvSpPr/>
          <p:nvPr/>
        </p:nvSpPr>
        <p:spPr>
          <a:xfrm flipV="1">
            <a:off x="2319792" y="3806190"/>
            <a:ext cx="2784" cy="20003"/>
          </a:xfrm>
          <a:prstGeom prst="line">
            <a:avLst/>
          </a:prstGeom>
          <a:noFill/>
          <a:ln w="19050">
            <a:solidFill>
              <a:srgbClr val="2E8B57"/>
            </a:solidFill>
            <a:prstDash val="solid"/>
          </a:ln>
        </p:spPr>
      </p:sp>
      <p:sp>
        <p:nvSpPr>
          <p:cNvPr id="24" name="Shape 22"/>
          <p:cNvSpPr/>
          <p:nvPr/>
        </p:nvSpPr>
        <p:spPr>
          <a:xfrm flipH="1" flipV="1">
            <a:off x="2319792" y="3786188"/>
            <a:ext cx="2784" cy="20002"/>
          </a:xfrm>
          <a:prstGeom prst="line">
            <a:avLst/>
          </a:prstGeom>
          <a:noFill/>
          <a:ln w="19050">
            <a:solidFill>
              <a:srgbClr val="2E8B57"/>
            </a:solidFill>
            <a:prstDash val="solid"/>
          </a:ln>
        </p:spPr>
      </p:sp>
      <p:sp>
        <p:nvSpPr>
          <p:cNvPr id="25" name="Shape 23"/>
          <p:cNvSpPr/>
          <p:nvPr/>
        </p:nvSpPr>
        <p:spPr>
          <a:xfrm flipH="1" flipV="1">
            <a:off x="2311863" y="3766185"/>
            <a:ext cx="7929" cy="20002"/>
          </a:xfrm>
          <a:prstGeom prst="line">
            <a:avLst/>
          </a:prstGeom>
          <a:noFill/>
          <a:ln w="19050">
            <a:solidFill>
              <a:srgbClr val="2E8B57"/>
            </a:solidFill>
            <a:prstDash val="solid"/>
          </a:ln>
        </p:spPr>
      </p:sp>
      <p:sp>
        <p:nvSpPr>
          <p:cNvPr id="26" name="Shape 24"/>
          <p:cNvSpPr/>
          <p:nvPr/>
        </p:nvSpPr>
        <p:spPr>
          <a:xfrm flipH="1" flipV="1">
            <a:off x="2299997" y="3746183"/>
            <a:ext cx="11866" cy="20003"/>
          </a:xfrm>
          <a:prstGeom prst="line">
            <a:avLst/>
          </a:prstGeom>
          <a:noFill/>
          <a:ln w="19050">
            <a:solidFill>
              <a:srgbClr val="2E8B57"/>
            </a:solidFill>
            <a:prstDash val="solid"/>
          </a:ln>
        </p:spPr>
      </p:sp>
      <p:sp>
        <p:nvSpPr>
          <p:cNvPr id="27" name="Shape 25"/>
          <p:cNvSpPr/>
          <p:nvPr/>
        </p:nvSpPr>
        <p:spPr>
          <a:xfrm flipH="1" flipV="1">
            <a:off x="2286000" y="3726180"/>
            <a:ext cx="13997" cy="20002"/>
          </a:xfrm>
          <a:prstGeom prst="line">
            <a:avLst/>
          </a:prstGeom>
          <a:noFill/>
          <a:ln w="19050">
            <a:solidFill>
              <a:srgbClr val="2E8B57"/>
            </a:solidFill>
            <a:prstDash val="solid"/>
          </a:ln>
        </p:spPr>
      </p:sp>
      <p:sp>
        <p:nvSpPr>
          <p:cNvPr id="28" name="Shape 26"/>
          <p:cNvSpPr/>
          <p:nvPr/>
        </p:nvSpPr>
        <p:spPr>
          <a:xfrm flipH="1" flipV="1">
            <a:off x="2272003" y="3706177"/>
            <a:ext cx="13997" cy="20003"/>
          </a:xfrm>
          <a:prstGeom prst="line">
            <a:avLst/>
          </a:prstGeom>
          <a:noFill/>
          <a:ln w="19050">
            <a:solidFill>
              <a:srgbClr val="2E8B57"/>
            </a:solidFill>
            <a:prstDash val="solid"/>
          </a:ln>
        </p:spPr>
      </p:sp>
      <p:sp>
        <p:nvSpPr>
          <p:cNvPr id="29" name="Shape 27"/>
          <p:cNvSpPr/>
          <p:nvPr/>
        </p:nvSpPr>
        <p:spPr>
          <a:xfrm flipH="1" flipV="1">
            <a:off x="2260137" y="3686175"/>
            <a:ext cx="11866" cy="20002"/>
          </a:xfrm>
          <a:prstGeom prst="line">
            <a:avLst/>
          </a:prstGeom>
          <a:noFill/>
          <a:ln w="19050">
            <a:solidFill>
              <a:srgbClr val="2E8B57"/>
            </a:solidFill>
            <a:prstDash val="solid"/>
          </a:ln>
        </p:spPr>
      </p:sp>
      <p:sp>
        <p:nvSpPr>
          <p:cNvPr id="30" name="Shape 28"/>
          <p:cNvSpPr/>
          <p:nvPr/>
        </p:nvSpPr>
        <p:spPr>
          <a:xfrm flipH="1" flipV="1">
            <a:off x="2252208" y="3666173"/>
            <a:ext cx="7929" cy="20002"/>
          </a:xfrm>
          <a:prstGeom prst="line">
            <a:avLst/>
          </a:prstGeom>
          <a:noFill/>
          <a:ln w="19050">
            <a:solidFill>
              <a:srgbClr val="2E8B57"/>
            </a:solidFill>
            <a:prstDash val="solid"/>
          </a:ln>
        </p:spPr>
      </p:sp>
      <p:sp>
        <p:nvSpPr>
          <p:cNvPr id="31" name="Shape 29"/>
          <p:cNvSpPr/>
          <p:nvPr/>
        </p:nvSpPr>
        <p:spPr>
          <a:xfrm flipH="1" flipV="1">
            <a:off x="2249424" y="3646170"/>
            <a:ext cx="2784" cy="20003"/>
          </a:xfrm>
          <a:prstGeom prst="line">
            <a:avLst/>
          </a:prstGeom>
          <a:noFill/>
          <a:ln w="19050">
            <a:solidFill>
              <a:srgbClr val="2E8B57"/>
            </a:solidFill>
            <a:prstDash val="solid"/>
          </a:ln>
        </p:spPr>
      </p:sp>
      <p:sp>
        <p:nvSpPr>
          <p:cNvPr id="32" name="Shape 30"/>
          <p:cNvSpPr/>
          <p:nvPr/>
        </p:nvSpPr>
        <p:spPr>
          <a:xfrm flipV="1">
            <a:off x="2249424" y="3626168"/>
            <a:ext cx="2784" cy="20002"/>
          </a:xfrm>
          <a:prstGeom prst="line">
            <a:avLst/>
          </a:prstGeom>
          <a:noFill/>
          <a:ln w="19050">
            <a:solidFill>
              <a:srgbClr val="2E8B57"/>
            </a:solidFill>
            <a:prstDash val="solid"/>
          </a:ln>
        </p:spPr>
      </p:sp>
      <p:sp>
        <p:nvSpPr>
          <p:cNvPr id="33" name="Shape 31"/>
          <p:cNvSpPr/>
          <p:nvPr/>
        </p:nvSpPr>
        <p:spPr>
          <a:xfrm flipV="1">
            <a:off x="2252208" y="3606165"/>
            <a:ext cx="7929" cy="20003"/>
          </a:xfrm>
          <a:prstGeom prst="line">
            <a:avLst/>
          </a:prstGeom>
          <a:noFill/>
          <a:ln w="19050">
            <a:solidFill>
              <a:srgbClr val="2E8B57"/>
            </a:solidFill>
            <a:prstDash val="solid"/>
          </a:ln>
        </p:spPr>
      </p:sp>
      <p:sp>
        <p:nvSpPr>
          <p:cNvPr id="34" name="Shape 32"/>
          <p:cNvSpPr/>
          <p:nvPr/>
        </p:nvSpPr>
        <p:spPr>
          <a:xfrm flipV="1">
            <a:off x="2260137" y="3586163"/>
            <a:ext cx="11866" cy="20003"/>
          </a:xfrm>
          <a:prstGeom prst="line">
            <a:avLst/>
          </a:prstGeom>
          <a:noFill/>
          <a:ln w="19050">
            <a:solidFill>
              <a:srgbClr val="2E8B57"/>
            </a:solidFill>
            <a:prstDash val="solid"/>
          </a:ln>
        </p:spPr>
      </p:sp>
      <p:sp>
        <p:nvSpPr>
          <p:cNvPr id="35" name="Shape 33"/>
          <p:cNvSpPr/>
          <p:nvPr/>
        </p:nvSpPr>
        <p:spPr>
          <a:xfrm flipV="1">
            <a:off x="2272003" y="3566160"/>
            <a:ext cx="13997" cy="20003"/>
          </a:xfrm>
          <a:prstGeom prst="line">
            <a:avLst/>
          </a:prstGeom>
          <a:noFill/>
          <a:ln w="19050">
            <a:solidFill>
              <a:srgbClr val="2E8B57"/>
            </a:solidFill>
            <a:prstDash val="solid"/>
          </a:ln>
        </p:spPr>
      </p:sp>
      <p:sp>
        <p:nvSpPr>
          <p:cNvPr id="36" name="Shape 34"/>
          <p:cNvSpPr/>
          <p:nvPr/>
        </p:nvSpPr>
        <p:spPr>
          <a:xfrm flipV="1">
            <a:off x="2286000" y="3546158"/>
            <a:ext cx="13997" cy="20003"/>
          </a:xfrm>
          <a:prstGeom prst="line">
            <a:avLst/>
          </a:prstGeom>
          <a:noFill/>
          <a:ln w="19050">
            <a:solidFill>
              <a:srgbClr val="2E8B57"/>
            </a:solidFill>
            <a:prstDash val="solid"/>
          </a:ln>
        </p:spPr>
      </p:sp>
      <p:sp>
        <p:nvSpPr>
          <p:cNvPr id="37" name="Shape 35"/>
          <p:cNvSpPr/>
          <p:nvPr/>
        </p:nvSpPr>
        <p:spPr>
          <a:xfrm flipV="1">
            <a:off x="2299997" y="3526155"/>
            <a:ext cx="11866" cy="20002"/>
          </a:xfrm>
          <a:prstGeom prst="line">
            <a:avLst/>
          </a:prstGeom>
          <a:noFill/>
          <a:ln w="19050">
            <a:solidFill>
              <a:srgbClr val="2E8B57"/>
            </a:solidFill>
            <a:prstDash val="solid"/>
          </a:ln>
        </p:spPr>
      </p:sp>
      <p:sp>
        <p:nvSpPr>
          <p:cNvPr id="38" name="Shape 36"/>
          <p:cNvSpPr/>
          <p:nvPr/>
        </p:nvSpPr>
        <p:spPr>
          <a:xfrm flipV="1">
            <a:off x="2311863" y="3506153"/>
            <a:ext cx="7929" cy="20003"/>
          </a:xfrm>
          <a:prstGeom prst="line">
            <a:avLst/>
          </a:prstGeom>
          <a:noFill/>
          <a:ln w="19050">
            <a:solidFill>
              <a:srgbClr val="2E8B57"/>
            </a:solidFill>
            <a:prstDash val="solid"/>
          </a:ln>
        </p:spPr>
      </p:sp>
      <p:sp>
        <p:nvSpPr>
          <p:cNvPr id="39" name="Shape 37"/>
          <p:cNvSpPr/>
          <p:nvPr/>
        </p:nvSpPr>
        <p:spPr>
          <a:xfrm flipV="1">
            <a:off x="2319792" y="3486150"/>
            <a:ext cx="2784" cy="20003"/>
          </a:xfrm>
          <a:prstGeom prst="line">
            <a:avLst/>
          </a:prstGeom>
          <a:noFill/>
          <a:ln w="19050">
            <a:solidFill>
              <a:srgbClr val="2E8B57"/>
            </a:solidFill>
            <a:prstDash val="solid"/>
          </a:ln>
        </p:spPr>
      </p:sp>
      <p:sp>
        <p:nvSpPr>
          <p:cNvPr id="40" name="Shape 38"/>
          <p:cNvSpPr/>
          <p:nvPr/>
        </p:nvSpPr>
        <p:spPr>
          <a:xfrm flipH="1" flipV="1">
            <a:off x="2319792" y="3466148"/>
            <a:ext cx="2784" cy="20003"/>
          </a:xfrm>
          <a:prstGeom prst="line">
            <a:avLst/>
          </a:prstGeom>
          <a:noFill/>
          <a:ln w="19050">
            <a:solidFill>
              <a:srgbClr val="2E8B57"/>
            </a:solidFill>
            <a:prstDash val="solid"/>
          </a:ln>
        </p:spPr>
      </p:sp>
      <p:sp>
        <p:nvSpPr>
          <p:cNvPr id="41" name="Shape 39"/>
          <p:cNvSpPr/>
          <p:nvPr/>
        </p:nvSpPr>
        <p:spPr>
          <a:xfrm flipH="1" flipV="1">
            <a:off x="2311863" y="3446145"/>
            <a:ext cx="7929" cy="20003"/>
          </a:xfrm>
          <a:prstGeom prst="line">
            <a:avLst/>
          </a:prstGeom>
          <a:noFill/>
          <a:ln w="19050">
            <a:solidFill>
              <a:srgbClr val="2E8B57"/>
            </a:solidFill>
            <a:prstDash val="solid"/>
          </a:ln>
        </p:spPr>
      </p:sp>
      <p:sp>
        <p:nvSpPr>
          <p:cNvPr id="42" name="Shape 40"/>
          <p:cNvSpPr/>
          <p:nvPr/>
        </p:nvSpPr>
        <p:spPr>
          <a:xfrm flipH="1" flipV="1">
            <a:off x="2299997" y="3426143"/>
            <a:ext cx="11866" cy="20002"/>
          </a:xfrm>
          <a:prstGeom prst="line">
            <a:avLst/>
          </a:prstGeom>
          <a:noFill/>
          <a:ln w="19050">
            <a:solidFill>
              <a:srgbClr val="2E8B57"/>
            </a:solidFill>
            <a:prstDash val="solid"/>
          </a:ln>
        </p:spPr>
      </p:sp>
      <p:sp>
        <p:nvSpPr>
          <p:cNvPr id="43" name="Shape 41"/>
          <p:cNvSpPr/>
          <p:nvPr/>
        </p:nvSpPr>
        <p:spPr>
          <a:xfrm flipH="1" flipV="1">
            <a:off x="2286000" y="3406140"/>
            <a:ext cx="13997" cy="20003"/>
          </a:xfrm>
          <a:prstGeom prst="line">
            <a:avLst/>
          </a:prstGeom>
          <a:noFill/>
          <a:ln w="19050">
            <a:solidFill>
              <a:srgbClr val="2E8B57"/>
            </a:solidFill>
            <a:prstDash val="solid"/>
          </a:ln>
        </p:spPr>
      </p:sp>
      <p:sp>
        <p:nvSpPr>
          <p:cNvPr id="44" name="Shape 42"/>
          <p:cNvSpPr/>
          <p:nvPr/>
        </p:nvSpPr>
        <p:spPr>
          <a:xfrm flipH="1" flipV="1">
            <a:off x="2272003" y="3386138"/>
            <a:ext cx="13997" cy="20003"/>
          </a:xfrm>
          <a:prstGeom prst="line">
            <a:avLst/>
          </a:prstGeom>
          <a:noFill/>
          <a:ln w="19050">
            <a:solidFill>
              <a:srgbClr val="2E8B57"/>
            </a:solidFill>
            <a:prstDash val="solid"/>
          </a:ln>
        </p:spPr>
      </p:sp>
      <p:sp>
        <p:nvSpPr>
          <p:cNvPr id="45" name="Shape 43"/>
          <p:cNvSpPr/>
          <p:nvPr/>
        </p:nvSpPr>
        <p:spPr>
          <a:xfrm flipH="1" flipV="1">
            <a:off x="2260137" y="3366135"/>
            <a:ext cx="11866" cy="20003"/>
          </a:xfrm>
          <a:prstGeom prst="line">
            <a:avLst/>
          </a:prstGeom>
          <a:noFill/>
          <a:ln w="19050">
            <a:solidFill>
              <a:srgbClr val="2E8B57"/>
            </a:solidFill>
            <a:prstDash val="solid"/>
          </a:ln>
        </p:spPr>
      </p:sp>
      <p:sp>
        <p:nvSpPr>
          <p:cNvPr id="46" name="Shape 44"/>
          <p:cNvSpPr/>
          <p:nvPr/>
        </p:nvSpPr>
        <p:spPr>
          <a:xfrm flipH="1" flipV="1">
            <a:off x="2252208" y="3346133"/>
            <a:ext cx="7929" cy="20003"/>
          </a:xfrm>
          <a:prstGeom prst="line">
            <a:avLst/>
          </a:prstGeom>
          <a:noFill/>
          <a:ln w="19050">
            <a:solidFill>
              <a:srgbClr val="2E8B57"/>
            </a:solidFill>
            <a:prstDash val="solid"/>
          </a:ln>
        </p:spPr>
      </p:sp>
      <p:sp>
        <p:nvSpPr>
          <p:cNvPr id="47" name="Shape 45"/>
          <p:cNvSpPr/>
          <p:nvPr/>
        </p:nvSpPr>
        <p:spPr>
          <a:xfrm flipH="1" flipV="1">
            <a:off x="2249424" y="3326130"/>
            <a:ext cx="2784" cy="20002"/>
          </a:xfrm>
          <a:prstGeom prst="line">
            <a:avLst/>
          </a:prstGeom>
          <a:noFill/>
          <a:ln w="19050">
            <a:solidFill>
              <a:srgbClr val="2E8B57"/>
            </a:solidFill>
            <a:prstDash val="solid"/>
          </a:ln>
        </p:spPr>
      </p:sp>
      <p:sp>
        <p:nvSpPr>
          <p:cNvPr id="48" name="Shape 46"/>
          <p:cNvSpPr/>
          <p:nvPr/>
        </p:nvSpPr>
        <p:spPr>
          <a:xfrm flipV="1">
            <a:off x="2249424" y="3306128"/>
            <a:ext cx="2784" cy="20003"/>
          </a:xfrm>
          <a:prstGeom prst="line">
            <a:avLst/>
          </a:prstGeom>
          <a:noFill/>
          <a:ln w="19050">
            <a:solidFill>
              <a:srgbClr val="2E8B57"/>
            </a:solidFill>
            <a:prstDash val="solid"/>
          </a:ln>
        </p:spPr>
      </p:sp>
      <p:sp>
        <p:nvSpPr>
          <p:cNvPr id="49" name="Shape 47"/>
          <p:cNvSpPr/>
          <p:nvPr/>
        </p:nvSpPr>
        <p:spPr>
          <a:xfrm flipV="1">
            <a:off x="2252208" y="3286125"/>
            <a:ext cx="7929" cy="20003"/>
          </a:xfrm>
          <a:prstGeom prst="line">
            <a:avLst/>
          </a:prstGeom>
          <a:noFill/>
          <a:ln w="19050">
            <a:solidFill>
              <a:srgbClr val="2E8B57"/>
            </a:solidFill>
            <a:prstDash val="solid"/>
          </a:ln>
        </p:spPr>
      </p:sp>
      <p:sp>
        <p:nvSpPr>
          <p:cNvPr id="50" name="Shape 48"/>
          <p:cNvSpPr/>
          <p:nvPr/>
        </p:nvSpPr>
        <p:spPr>
          <a:xfrm flipV="1">
            <a:off x="2260137" y="3266123"/>
            <a:ext cx="11866" cy="20003"/>
          </a:xfrm>
          <a:prstGeom prst="line">
            <a:avLst/>
          </a:prstGeom>
          <a:noFill/>
          <a:ln w="19050">
            <a:solidFill>
              <a:srgbClr val="2E8B57"/>
            </a:solidFill>
            <a:prstDash val="solid"/>
          </a:ln>
        </p:spPr>
      </p:sp>
      <p:sp>
        <p:nvSpPr>
          <p:cNvPr id="51" name="Shape 49"/>
          <p:cNvSpPr/>
          <p:nvPr/>
        </p:nvSpPr>
        <p:spPr>
          <a:xfrm flipV="1">
            <a:off x="2272003" y="3246120"/>
            <a:ext cx="13997" cy="20003"/>
          </a:xfrm>
          <a:prstGeom prst="line">
            <a:avLst/>
          </a:prstGeom>
          <a:noFill/>
          <a:ln w="19050">
            <a:solidFill>
              <a:srgbClr val="2E8B57"/>
            </a:solidFill>
            <a:prstDash val="solid"/>
          </a:ln>
        </p:spPr>
      </p:sp>
      <p:sp>
        <p:nvSpPr>
          <p:cNvPr id="52" name="Shape 50"/>
          <p:cNvSpPr/>
          <p:nvPr/>
        </p:nvSpPr>
        <p:spPr>
          <a:xfrm flipV="1">
            <a:off x="2286000" y="3226118"/>
            <a:ext cx="13997" cy="20002"/>
          </a:xfrm>
          <a:prstGeom prst="line">
            <a:avLst/>
          </a:prstGeom>
          <a:noFill/>
          <a:ln w="19050">
            <a:solidFill>
              <a:srgbClr val="2E8B57"/>
            </a:solidFill>
            <a:prstDash val="solid"/>
          </a:ln>
        </p:spPr>
      </p:sp>
      <p:sp>
        <p:nvSpPr>
          <p:cNvPr id="53" name="Shape 51"/>
          <p:cNvSpPr/>
          <p:nvPr/>
        </p:nvSpPr>
        <p:spPr>
          <a:xfrm flipV="1">
            <a:off x="2299997" y="3206115"/>
            <a:ext cx="11866" cy="20003"/>
          </a:xfrm>
          <a:prstGeom prst="line">
            <a:avLst/>
          </a:prstGeom>
          <a:noFill/>
          <a:ln w="19050">
            <a:solidFill>
              <a:srgbClr val="2E8B57"/>
            </a:solidFill>
            <a:prstDash val="solid"/>
          </a:ln>
        </p:spPr>
      </p:sp>
      <p:sp>
        <p:nvSpPr>
          <p:cNvPr id="54" name="Shape 52"/>
          <p:cNvSpPr/>
          <p:nvPr/>
        </p:nvSpPr>
        <p:spPr>
          <a:xfrm flipV="1">
            <a:off x="2311863" y="3186113"/>
            <a:ext cx="7929" cy="20003"/>
          </a:xfrm>
          <a:prstGeom prst="line">
            <a:avLst/>
          </a:prstGeom>
          <a:noFill/>
          <a:ln w="19050">
            <a:solidFill>
              <a:srgbClr val="2E8B57"/>
            </a:solidFill>
            <a:prstDash val="solid"/>
          </a:ln>
        </p:spPr>
      </p:sp>
      <p:sp>
        <p:nvSpPr>
          <p:cNvPr id="55" name="Shape 53"/>
          <p:cNvSpPr/>
          <p:nvPr/>
        </p:nvSpPr>
        <p:spPr>
          <a:xfrm flipV="1">
            <a:off x="2319792" y="3166110"/>
            <a:ext cx="2784" cy="20003"/>
          </a:xfrm>
          <a:prstGeom prst="line">
            <a:avLst/>
          </a:prstGeom>
          <a:noFill/>
          <a:ln w="19050">
            <a:solidFill>
              <a:srgbClr val="2E8B57"/>
            </a:solidFill>
            <a:prstDash val="solid"/>
          </a:ln>
        </p:spPr>
      </p:sp>
      <p:sp>
        <p:nvSpPr>
          <p:cNvPr id="56" name="Shape 54"/>
          <p:cNvSpPr/>
          <p:nvPr/>
        </p:nvSpPr>
        <p:spPr>
          <a:xfrm flipH="1" flipV="1">
            <a:off x="2319792" y="3146108"/>
            <a:ext cx="2784" cy="20003"/>
          </a:xfrm>
          <a:prstGeom prst="line">
            <a:avLst/>
          </a:prstGeom>
          <a:noFill/>
          <a:ln w="19050">
            <a:solidFill>
              <a:srgbClr val="2E8B57"/>
            </a:solidFill>
            <a:prstDash val="solid"/>
          </a:ln>
        </p:spPr>
      </p:sp>
      <p:sp>
        <p:nvSpPr>
          <p:cNvPr id="57" name="Shape 55"/>
          <p:cNvSpPr/>
          <p:nvPr/>
        </p:nvSpPr>
        <p:spPr>
          <a:xfrm flipH="1" flipV="1">
            <a:off x="2311863" y="3126105"/>
            <a:ext cx="7929" cy="20002"/>
          </a:xfrm>
          <a:prstGeom prst="line">
            <a:avLst/>
          </a:prstGeom>
          <a:noFill/>
          <a:ln w="19050">
            <a:solidFill>
              <a:srgbClr val="2E8B57"/>
            </a:solidFill>
            <a:prstDash val="solid"/>
          </a:ln>
        </p:spPr>
      </p:sp>
      <p:sp>
        <p:nvSpPr>
          <p:cNvPr id="58" name="Shape 56"/>
          <p:cNvSpPr/>
          <p:nvPr/>
        </p:nvSpPr>
        <p:spPr>
          <a:xfrm flipH="1" flipV="1">
            <a:off x="2299997" y="3106103"/>
            <a:ext cx="11866" cy="20003"/>
          </a:xfrm>
          <a:prstGeom prst="line">
            <a:avLst/>
          </a:prstGeom>
          <a:noFill/>
          <a:ln w="19050">
            <a:solidFill>
              <a:srgbClr val="2E8B57"/>
            </a:solidFill>
            <a:prstDash val="solid"/>
          </a:ln>
        </p:spPr>
      </p:sp>
      <p:sp>
        <p:nvSpPr>
          <p:cNvPr id="59" name="Shape 57"/>
          <p:cNvSpPr/>
          <p:nvPr/>
        </p:nvSpPr>
        <p:spPr>
          <a:xfrm flipH="1" flipV="1">
            <a:off x="2286000" y="3086100"/>
            <a:ext cx="13997" cy="20003"/>
          </a:xfrm>
          <a:prstGeom prst="line">
            <a:avLst/>
          </a:prstGeom>
          <a:noFill/>
          <a:ln w="19050">
            <a:solidFill>
              <a:srgbClr val="2E8B57"/>
            </a:solidFill>
            <a:prstDash val="solid"/>
          </a:ln>
        </p:spPr>
      </p:sp>
      <p:sp>
        <p:nvSpPr>
          <p:cNvPr id="60" name="Shape 58"/>
          <p:cNvSpPr/>
          <p:nvPr/>
        </p:nvSpPr>
        <p:spPr>
          <a:xfrm flipH="1" flipV="1">
            <a:off x="2272003" y="3066098"/>
            <a:ext cx="13997" cy="20003"/>
          </a:xfrm>
          <a:prstGeom prst="line">
            <a:avLst/>
          </a:prstGeom>
          <a:noFill/>
          <a:ln w="19050">
            <a:solidFill>
              <a:srgbClr val="2E8B57"/>
            </a:solidFill>
            <a:prstDash val="solid"/>
          </a:ln>
        </p:spPr>
      </p:sp>
      <p:sp>
        <p:nvSpPr>
          <p:cNvPr id="61" name="Shape 59"/>
          <p:cNvSpPr/>
          <p:nvPr/>
        </p:nvSpPr>
        <p:spPr>
          <a:xfrm flipH="1" flipV="1">
            <a:off x="2260137" y="3046095"/>
            <a:ext cx="11866" cy="20003"/>
          </a:xfrm>
          <a:prstGeom prst="line">
            <a:avLst/>
          </a:prstGeom>
          <a:noFill/>
          <a:ln w="19050">
            <a:solidFill>
              <a:srgbClr val="2E8B57"/>
            </a:solidFill>
            <a:prstDash val="solid"/>
          </a:ln>
        </p:spPr>
      </p:sp>
      <p:sp>
        <p:nvSpPr>
          <p:cNvPr id="62" name="Shape 60"/>
          <p:cNvSpPr/>
          <p:nvPr/>
        </p:nvSpPr>
        <p:spPr>
          <a:xfrm flipH="1" flipV="1">
            <a:off x="2252208" y="3026093"/>
            <a:ext cx="7929" cy="20002"/>
          </a:xfrm>
          <a:prstGeom prst="line">
            <a:avLst/>
          </a:prstGeom>
          <a:noFill/>
          <a:ln w="19050">
            <a:solidFill>
              <a:srgbClr val="2E8B57"/>
            </a:solidFill>
            <a:prstDash val="solid"/>
          </a:ln>
        </p:spPr>
      </p:sp>
      <p:sp>
        <p:nvSpPr>
          <p:cNvPr id="63" name="Shape 61"/>
          <p:cNvSpPr/>
          <p:nvPr/>
        </p:nvSpPr>
        <p:spPr>
          <a:xfrm flipH="1" flipV="1">
            <a:off x="2249424" y="3006090"/>
            <a:ext cx="2784" cy="20003"/>
          </a:xfrm>
          <a:prstGeom prst="line">
            <a:avLst/>
          </a:prstGeom>
          <a:noFill/>
          <a:ln w="19050">
            <a:solidFill>
              <a:srgbClr val="2E8B57"/>
            </a:solidFill>
            <a:prstDash val="solid"/>
          </a:ln>
        </p:spPr>
      </p:sp>
      <p:sp>
        <p:nvSpPr>
          <p:cNvPr id="64" name="Shape 62"/>
          <p:cNvSpPr/>
          <p:nvPr/>
        </p:nvSpPr>
        <p:spPr>
          <a:xfrm flipV="1">
            <a:off x="2249424" y="2986088"/>
            <a:ext cx="2784" cy="20003"/>
          </a:xfrm>
          <a:prstGeom prst="line">
            <a:avLst/>
          </a:prstGeom>
          <a:noFill/>
          <a:ln w="19050">
            <a:solidFill>
              <a:srgbClr val="2E8B57"/>
            </a:solidFill>
            <a:prstDash val="solid"/>
          </a:ln>
        </p:spPr>
      </p:sp>
      <p:sp>
        <p:nvSpPr>
          <p:cNvPr id="65" name="Shape 63"/>
          <p:cNvSpPr/>
          <p:nvPr/>
        </p:nvSpPr>
        <p:spPr>
          <a:xfrm flipV="1">
            <a:off x="2252208" y="2966085"/>
            <a:ext cx="7929" cy="20002"/>
          </a:xfrm>
          <a:prstGeom prst="line">
            <a:avLst/>
          </a:prstGeom>
          <a:noFill/>
          <a:ln w="19050">
            <a:solidFill>
              <a:srgbClr val="2E8B57"/>
            </a:solidFill>
            <a:prstDash val="solid"/>
          </a:ln>
        </p:spPr>
      </p:sp>
      <p:sp>
        <p:nvSpPr>
          <p:cNvPr id="66" name="Shape 64"/>
          <p:cNvSpPr/>
          <p:nvPr/>
        </p:nvSpPr>
        <p:spPr>
          <a:xfrm flipV="1">
            <a:off x="2260137" y="2946083"/>
            <a:ext cx="11866" cy="20003"/>
          </a:xfrm>
          <a:prstGeom prst="line">
            <a:avLst/>
          </a:prstGeom>
          <a:noFill/>
          <a:ln w="19050">
            <a:solidFill>
              <a:srgbClr val="2E8B57"/>
            </a:solidFill>
            <a:prstDash val="solid"/>
          </a:ln>
        </p:spPr>
      </p:sp>
      <p:sp>
        <p:nvSpPr>
          <p:cNvPr id="67" name="Shape 65"/>
          <p:cNvSpPr/>
          <p:nvPr/>
        </p:nvSpPr>
        <p:spPr>
          <a:xfrm flipV="1">
            <a:off x="2272003" y="2926080"/>
            <a:ext cx="13997" cy="20002"/>
          </a:xfrm>
          <a:prstGeom prst="line">
            <a:avLst/>
          </a:prstGeom>
          <a:noFill/>
          <a:ln w="19050">
            <a:solidFill>
              <a:srgbClr val="2E8B57"/>
            </a:solidFill>
            <a:prstDash val="solid"/>
          </a:ln>
        </p:spPr>
      </p:sp>
      <p:sp>
        <p:nvSpPr>
          <p:cNvPr id="68" name="Shape 66"/>
          <p:cNvSpPr/>
          <p:nvPr/>
        </p:nvSpPr>
        <p:spPr>
          <a:xfrm flipV="1">
            <a:off x="2286000" y="2906078"/>
            <a:ext cx="13997" cy="20003"/>
          </a:xfrm>
          <a:prstGeom prst="line">
            <a:avLst/>
          </a:prstGeom>
          <a:noFill/>
          <a:ln w="19050">
            <a:solidFill>
              <a:srgbClr val="2E8B57"/>
            </a:solidFill>
            <a:prstDash val="solid"/>
          </a:ln>
        </p:spPr>
      </p:sp>
      <p:sp>
        <p:nvSpPr>
          <p:cNvPr id="69" name="Shape 67"/>
          <p:cNvSpPr/>
          <p:nvPr/>
        </p:nvSpPr>
        <p:spPr>
          <a:xfrm flipV="1">
            <a:off x="2299997" y="2886075"/>
            <a:ext cx="11866" cy="20003"/>
          </a:xfrm>
          <a:prstGeom prst="line">
            <a:avLst/>
          </a:prstGeom>
          <a:noFill/>
          <a:ln w="19050">
            <a:solidFill>
              <a:srgbClr val="2E8B57"/>
            </a:solidFill>
            <a:prstDash val="solid"/>
          </a:ln>
        </p:spPr>
      </p:sp>
      <p:sp>
        <p:nvSpPr>
          <p:cNvPr id="70" name="Shape 68"/>
          <p:cNvSpPr/>
          <p:nvPr/>
        </p:nvSpPr>
        <p:spPr>
          <a:xfrm flipV="1">
            <a:off x="2311863" y="2866073"/>
            <a:ext cx="7929" cy="20002"/>
          </a:xfrm>
          <a:prstGeom prst="line">
            <a:avLst/>
          </a:prstGeom>
          <a:noFill/>
          <a:ln w="19050">
            <a:solidFill>
              <a:srgbClr val="2E8B57"/>
            </a:solidFill>
            <a:prstDash val="solid"/>
          </a:ln>
        </p:spPr>
      </p:sp>
      <p:sp>
        <p:nvSpPr>
          <p:cNvPr id="71" name="Shape 69"/>
          <p:cNvSpPr/>
          <p:nvPr/>
        </p:nvSpPr>
        <p:spPr>
          <a:xfrm flipV="1">
            <a:off x="2319792" y="2846070"/>
            <a:ext cx="2784" cy="20003"/>
          </a:xfrm>
          <a:prstGeom prst="line">
            <a:avLst/>
          </a:prstGeom>
          <a:noFill/>
          <a:ln w="19050">
            <a:solidFill>
              <a:srgbClr val="2E8B57"/>
            </a:solidFill>
            <a:prstDash val="solid"/>
          </a:ln>
        </p:spPr>
      </p:sp>
      <p:sp>
        <p:nvSpPr>
          <p:cNvPr id="72" name="Shape 70"/>
          <p:cNvSpPr/>
          <p:nvPr/>
        </p:nvSpPr>
        <p:spPr>
          <a:xfrm flipH="1" flipV="1">
            <a:off x="2319792" y="2826068"/>
            <a:ext cx="2784" cy="20002"/>
          </a:xfrm>
          <a:prstGeom prst="line">
            <a:avLst/>
          </a:prstGeom>
          <a:noFill/>
          <a:ln w="19050">
            <a:solidFill>
              <a:srgbClr val="2E8B57"/>
            </a:solidFill>
            <a:prstDash val="solid"/>
          </a:ln>
        </p:spPr>
      </p:sp>
      <p:sp>
        <p:nvSpPr>
          <p:cNvPr id="73" name="Shape 71"/>
          <p:cNvSpPr/>
          <p:nvPr/>
        </p:nvSpPr>
        <p:spPr>
          <a:xfrm flipH="1" flipV="1">
            <a:off x="2311863" y="2806065"/>
            <a:ext cx="7929" cy="20003"/>
          </a:xfrm>
          <a:prstGeom prst="line">
            <a:avLst/>
          </a:prstGeom>
          <a:noFill/>
          <a:ln w="19050">
            <a:solidFill>
              <a:srgbClr val="2E8B57"/>
            </a:solidFill>
            <a:prstDash val="solid"/>
          </a:ln>
        </p:spPr>
      </p:sp>
      <p:sp>
        <p:nvSpPr>
          <p:cNvPr id="74" name="Shape 72"/>
          <p:cNvSpPr/>
          <p:nvPr/>
        </p:nvSpPr>
        <p:spPr>
          <a:xfrm flipH="1" flipV="1">
            <a:off x="2299997" y="2786063"/>
            <a:ext cx="11866" cy="20003"/>
          </a:xfrm>
          <a:prstGeom prst="line">
            <a:avLst/>
          </a:prstGeom>
          <a:noFill/>
          <a:ln w="19050">
            <a:solidFill>
              <a:srgbClr val="2E8B57"/>
            </a:solidFill>
            <a:prstDash val="solid"/>
          </a:ln>
        </p:spPr>
      </p:sp>
      <p:sp>
        <p:nvSpPr>
          <p:cNvPr id="75" name="Shape 73"/>
          <p:cNvSpPr/>
          <p:nvPr/>
        </p:nvSpPr>
        <p:spPr>
          <a:xfrm flipH="1" flipV="1">
            <a:off x="2286000" y="2766060"/>
            <a:ext cx="13997" cy="20002"/>
          </a:xfrm>
          <a:prstGeom prst="line">
            <a:avLst/>
          </a:prstGeom>
          <a:noFill/>
          <a:ln w="19050">
            <a:solidFill>
              <a:srgbClr val="2E8B57"/>
            </a:solidFill>
            <a:prstDash val="solid"/>
          </a:ln>
        </p:spPr>
      </p:sp>
      <p:sp>
        <p:nvSpPr>
          <p:cNvPr id="76" name="Shape 74"/>
          <p:cNvSpPr/>
          <p:nvPr/>
        </p:nvSpPr>
        <p:spPr>
          <a:xfrm flipH="1" flipV="1">
            <a:off x="2272003" y="2746058"/>
            <a:ext cx="13997" cy="20003"/>
          </a:xfrm>
          <a:prstGeom prst="line">
            <a:avLst/>
          </a:prstGeom>
          <a:noFill/>
          <a:ln w="19050">
            <a:solidFill>
              <a:srgbClr val="2E8B57"/>
            </a:solidFill>
            <a:prstDash val="solid"/>
          </a:ln>
        </p:spPr>
      </p:sp>
      <p:sp>
        <p:nvSpPr>
          <p:cNvPr id="77" name="Shape 75"/>
          <p:cNvSpPr/>
          <p:nvPr/>
        </p:nvSpPr>
        <p:spPr>
          <a:xfrm flipH="1" flipV="1">
            <a:off x="2260137" y="2726055"/>
            <a:ext cx="11866" cy="20002"/>
          </a:xfrm>
          <a:prstGeom prst="line">
            <a:avLst/>
          </a:prstGeom>
          <a:noFill/>
          <a:ln w="19050">
            <a:solidFill>
              <a:srgbClr val="2E8B57"/>
            </a:solidFill>
            <a:prstDash val="solid"/>
          </a:ln>
        </p:spPr>
      </p:sp>
      <p:sp>
        <p:nvSpPr>
          <p:cNvPr id="78" name="Shape 76"/>
          <p:cNvSpPr/>
          <p:nvPr/>
        </p:nvSpPr>
        <p:spPr>
          <a:xfrm flipH="1" flipV="1">
            <a:off x="2252208" y="2706053"/>
            <a:ext cx="7929" cy="20003"/>
          </a:xfrm>
          <a:prstGeom prst="line">
            <a:avLst/>
          </a:prstGeom>
          <a:noFill/>
          <a:ln w="19050">
            <a:solidFill>
              <a:srgbClr val="2E8B57"/>
            </a:solidFill>
            <a:prstDash val="solid"/>
          </a:ln>
        </p:spPr>
      </p:sp>
      <p:sp>
        <p:nvSpPr>
          <p:cNvPr id="79" name="Shape 77"/>
          <p:cNvSpPr/>
          <p:nvPr/>
        </p:nvSpPr>
        <p:spPr>
          <a:xfrm flipH="1" flipV="1">
            <a:off x="2249424" y="2686050"/>
            <a:ext cx="2784" cy="20003"/>
          </a:xfrm>
          <a:prstGeom prst="line">
            <a:avLst/>
          </a:prstGeom>
          <a:noFill/>
          <a:ln w="19050">
            <a:solidFill>
              <a:srgbClr val="2E8B57"/>
            </a:solidFill>
            <a:prstDash val="solid"/>
          </a:ln>
        </p:spPr>
      </p:sp>
      <p:sp>
        <p:nvSpPr>
          <p:cNvPr id="80" name="Shape 78"/>
          <p:cNvSpPr/>
          <p:nvPr/>
        </p:nvSpPr>
        <p:spPr>
          <a:xfrm flipV="1">
            <a:off x="2249424" y="2666048"/>
            <a:ext cx="2784" cy="20002"/>
          </a:xfrm>
          <a:prstGeom prst="line">
            <a:avLst/>
          </a:prstGeom>
          <a:noFill/>
          <a:ln w="19050">
            <a:solidFill>
              <a:srgbClr val="2E8B57"/>
            </a:solidFill>
            <a:prstDash val="solid"/>
          </a:ln>
        </p:spPr>
      </p:sp>
      <p:sp>
        <p:nvSpPr>
          <p:cNvPr id="81" name="Shape 79"/>
          <p:cNvSpPr/>
          <p:nvPr/>
        </p:nvSpPr>
        <p:spPr>
          <a:xfrm flipV="1">
            <a:off x="2252208" y="2646045"/>
            <a:ext cx="7929" cy="20003"/>
          </a:xfrm>
          <a:prstGeom prst="line">
            <a:avLst/>
          </a:prstGeom>
          <a:noFill/>
          <a:ln w="19050">
            <a:solidFill>
              <a:srgbClr val="2E8B57"/>
            </a:solidFill>
            <a:prstDash val="solid"/>
          </a:ln>
        </p:spPr>
      </p:sp>
      <p:sp>
        <p:nvSpPr>
          <p:cNvPr id="82" name="Shape 80"/>
          <p:cNvSpPr/>
          <p:nvPr/>
        </p:nvSpPr>
        <p:spPr>
          <a:xfrm flipV="1">
            <a:off x="2260137" y="2626043"/>
            <a:ext cx="11866" cy="20002"/>
          </a:xfrm>
          <a:prstGeom prst="line">
            <a:avLst/>
          </a:prstGeom>
          <a:noFill/>
          <a:ln w="19050">
            <a:solidFill>
              <a:srgbClr val="2E8B57"/>
            </a:solidFill>
            <a:prstDash val="solid"/>
          </a:ln>
        </p:spPr>
      </p:sp>
      <p:sp>
        <p:nvSpPr>
          <p:cNvPr id="83" name="Shape 81"/>
          <p:cNvSpPr/>
          <p:nvPr/>
        </p:nvSpPr>
        <p:spPr>
          <a:xfrm flipV="1">
            <a:off x="2272003" y="2606040"/>
            <a:ext cx="13997" cy="20003"/>
          </a:xfrm>
          <a:prstGeom prst="line">
            <a:avLst/>
          </a:prstGeom>
          <a:noFill/>
          <a:ln w="19050">
            <a:solidFill>
              <a:srgbClr val="2E8B57"/>
            </a:solidFill>
            <a:prstDash val="solid"/>
          </a:ln>
        </p:spPr>
      </p:sp>
      <p:sp>
        <p:nvSpPr>
          <p:cNvPr id="84" name="Shape 82"/>
          <p:cNvSpPr/>
          <p:nvPr/>
        </p:nvSpPr>
        <p:spPr>
          <a:xfrm flipV="1">
            <a:off x="2514600" y="3866198"/>
            <a:ext cx="13997" cy="20002"/>
          </a:xfrm>
          <a:prstGeom prst="line">
            <a:avLst/>
          </a:prstGeom>
          <a:noFill/>
          <a:ln w="19050">
            <a:solidFill>
              <a:srgbClr val="2E8B57"/>
            </a:solidFill>
            <a:prstDash val="solid"/>
          </a:ln>
        </p:spPr>
      </p:sp>
      <p:sp>
        <p:nvSpPr>
          <p:cNvPr id="85" name="Shape 83"/>
          <p:cNvSpPr/>
          <p:nvPr/>
        </p:nvSpPr>
        <p:spPr>
          <a:xfrm flipV="1">
            <a:off x="2528597" y="3846195"/>
            <a:ext cx="11866" cy="20003"/>
          </a:xfrm>
          <a:prstGeom prst="line">
            <a:avLst/>
          </a:prstGeom>
          <a:noFill/>
          <a:ln w="19050">
            <a:solidFill>
              <a:srgbClr val="2E8B57"/>
            </a:solidFill>
            <a:prstDash val="solid"/>
          </a:ln>
        </p:spPr>
      </p:sp>
      <p:sp>
        <p:nvSpPr>
          <p:cNvPr id="86" name="Shape 84"/>
          <p:cNvSpPr/>
          <p:nvPr/>
        </p:nvSpPr>
        <p:spPr>
          <a:xfrm flipV="1">
            <a:off x="2540463" y="3826193"/>
            <a:ext cx="7929" cy="20002"/>
          </a:xfrm>
          <a:prstGeom prst="line">
            <a:avLst/>
          </a:prstGeom>
          <a:noFill/>
          <a:ln w="19050">
            <a:solidFill>
              <a:srgbClr val="2E8B57"/>
            </a:solidFill>
            <a:prstDash val="solid"/>
          </a:ln>
        </p:spPr>
      </p:sp>
      <p:sp>
        <p:nvSpPr>
          <p:cNvPr id="87" name="Shape 85"/>
          <p:cNvSpPr/>
          <p:nvPr/>
        </p:nvSpPr>
        <p:spPr>
          <a:xfrm flipV="1">
            <a:off x="2548392" y="3806190"/>
            <a:ext cx="2784" cy="20003"/>
          </a:xfrm>
          <a:prstGeom prst="line">
            <a:avLst/>
          </a:prstGeom>
          <a:noFill/>
          <a:ln w="19050">
            <a:solidFill>
              <a:srgbClr val="2E8B57"/>
            </a:solidFill>
            <a:prstDash val="solid"/>
          </a:ln>
        </p:spPr>
      </p:sp>
      <p:sp>
        <p:nvSpPr>
          <p:cNvPr id="88" name="Shape 86"/>
          <p:cNvSpPr/>
          <p:nvPr/>
        </p:nvSpPr>
        <p:spPr>
          <a:xfrm flipH="1" flipV="1">
            <a:off x="2548392" y="3786188"/>
            <a:ext cx="2784" cy="20002"/>
          </a:xfrm>
          <a:prstGeom prst="line">
            <a:avLst/>
          </a:prstGeom>
          <a:noFill/>
          <a:ln w="19050">
            <a:solidFill>
              <a:srgbClr val="2E8B57"/>
            </a:solidFill>
            <a:prstDash val="solid"/>
          </a:ln>
        </p:spPr>
      </p:sp>
      <p:sp>
        <p:nvSpPr>
          <p:cNvPr id="89" name="Shape 87"/>
          <p:cNvSpPr/>
          <p:nvPr/>
        </p:nvSpPr>
        <p:spPr>
          <a:xfrm flipH="1" flipV="1">
            <a:off x="2540463" y="3766185"/>
            <a:ext cx="7929" cy="20002"/>
          </a:xfrm>
          <a:prstGeom prst="line">
            <a:avLst/>
          </a:prstGeom>
          <a:noFill/>
          <a:ln w="19050">
            <a:solidFill>
              <a:srgbClr val="2E8B57"/>
            </a:solidFill>
            <a:prstDash val="solid"/>
          </a:ln>
        </p:spPr>
      </p:sp>
      <p:sp>
        <p:nvSpPr>
          <p:cNvPr id="90" name="Shape 88"/>
          <p:cNvSpPr/>
          <p:nvPr/>
        </p:nvSpPr>
        <p:spPr>
          <a:xfrm flipH="1" flipV="1">
            <a:off x="2528597" y="3746183"/>
            <a:ext cx="11866" cy="20003"/>
          </a:xfrm>
          <a:prstGeom prst="line">
            <a:avLst/>
          </a:prstGeom>
          <a:noFill/>
          <a:ln w="19050">
            <a:solidFill>
              <a:srgbClr val="2E8B57"/>
            </a:solidFill>
            <a:prstDash val="solid"/>
          </a:ln>
        </p:spPr>
      </p:sp>
      <p:sp>
        <p:nvSpPr>
          <p:cNvPr id="91" name="Shape 89"/>
          <p:cNvSpPr/>
          <p:nvPr/>
        </p:nvSpPr>
        <p:spPr>
          <a:xfrm flipH="1" flipV="1">
            <a:off x="2514600" y="3726180"/>
            <a:ext cx="13997" cy="20002"/>
          </a:xfrm>
          <a:prstGeom prst="line">
            <a:avLst/>
          </a:prstGeom>
          <a:noFill/>
          <a:ln w="19050">
            <a:solidFill>
              <a:srgbClr val="2E8B57"/>
            </a:solidFill>
            <a:prstDash val="solid"/>
          </a:ln>
        </p:spPr>
      </p:sp>
      <p:sp>
        <p:nvSpPr>
          <p:cNvPr id="92" name="Shape 90"/>
          <p:cNvSpPr/>
          <p:nvPr/>
        </p:nvSpPr>
        <p:spPr>
          <a:xfrm flipH="1" flipV="1">
            <a:off x="2500603" y="3706177"/>
            <a:ext cx="13997" cy="20003"/>
          </a:xfrm>
          <a:prstGeom prst="line">
            <a:avLst/>
          </a:prstGeom>
          <a:noFill/>
          <a:ln w="19050">
            <a:solidFill>
              <a:srgbClr val="2E8B57"/>
            </a:solidFill>
            <a:prstDash val="solid"/>
          </a:ln>
        </p:spPr>
      </p:sp>
      <p:sp>
        <p:nvSpPr>
          <p:cNvPr id="93" name="Shape 91"/>
          <p:cNvSpPr/>
          <p:nvPr/>
        </p:nvSpPr>
        <p:spPr>
          <a:xfrm flipH="1" flipV="1">
            <a:off x="2488737" y="3686175"/>
            <a:ext cx="11866" cy="20002"/>
          </a:xfrm>
          <a:prstGeom prst="line">
            <a:avLst/>
          </a:prstGeom>
          <a:noFill/>
          <a:ln w="19050">
            <a:solidFill>
              <a:srgbClr val="2E8B57"/>
            </a:solidFill>
            <a:prstDash val="solid"/>
          </a:ln>
        </p:spPr>
      </p:sp>
      <p:sp>
        <p:nvSpPr>
          <p:cNvPr id="94" name="Shape 92"/>
          <p:cNvSpPr/>
          <p:nvPr/>
        </p:nvSpPr>
        <p:spPr>
          <a:xfrm flipH="1" flipV="1">
            <a:off x="2480808" y="3666173"/>
            <a:ext cx="7929" cy="20002"/>
          </a:xfrm>
          <a:prstGeom prst="line">
            <a:avLst/>
          </a:prstGeom>
          <a:noFill/>
          <a:ln w="19050">
            <a:solidFill>
              <a:srgbClr val="2E8B57"/>
            </a:solidFill>
            <a:prstDash val="solid"/>
          </a:ln>
        </p:spPr>
      </p:sp>
      <p:sp>
        <p:nvSpPr>
          <p:cNvPr id="95" name="Shape 93"/>
          <p:cNvSpPr/>
          <p:nvPr/>
        </p:nvSpPr>
        <p:spPr>
          <a:xfrm flipH="1" flipV="1">
            <a:off x="2478024" y="3646170"/>
            <a:ext cx="2784" cy="20003"/>
          </a:xfrm>
          <a:prstGeom prst="line">
            <a:avLst/>
          </a:prstGeom>
          <a:noFill/>
          <a:ln w="19050">
            <a:solidFill>
              <a:srgbClr val="2E8B57"/>
            </a:solidFill>
            <a:prstDash val="solid"/>
          </a:ln>
        </p:spPr>
      </p:sp>
      <p:sp>
        <p:nvSpPr>
          <p:cNvPr id="96" name="Shape 94"/>
          <p:cNvSpPr/>
          <p:nvPr/>
        </p:nvSpPr>
        <p:spPr>
          <a:xfrm flipV="1">
            <a:off x="2478024" y="3626168"/>
            <a:ext cx="2784" cy="20002"/>
          </a:xfrm>
          <a:prstGeom prst="line">
            <a:avLst/>
          </a:prstGeom>
          <a:noFill/>
          <a:ln w="19050">
            <a:solidFill>
              <a:srgbClr val="2E8B57"/>
            </a:solidFill>
            <a:prstDash val="solid"/>
          </a:ln>
        </p:spPr>
      </p:sp>
      <p:sp>
        <p:nvSpPr>
          <p:cNvPr id="97" name="Shape 95"/>
          <p:cNvSpPr/>
          <p:nvPr/>
        </p:nvSpPr>
        <p:spPr>
          <a:xfrm flipV="1">
            <a:off x="2480808" y="3606165"/>
            <a:ext cx="7929" cy="20003"/>
          </a:xfrm>
          <a:prstGeom prst="line">
            <a:avLst/>
          </a:prstGeom>
          <a:noFill/>
          <a:ln w="19050">
            <a:solidFill>
              <a:srgbClr val="2E8B57"/>
            </a:solidFill>
            <a:prstDash val="solid"/>
          </a:ln>
        </p:spPr>
      </p:sp>
      <p:sp>
        <p:nvSpPr>
          <p:cNvPr id="98" name="Shape 96"/>
          <p:cNvSpPr/>
          <p:nvPr/>
        </p:nvSpPr>
        <p:spPr>
          <a:xfrm flipV="1">
            <a:off x="2488737" y="3586163"/>
            <a:ext cx="11866" cy="20003"/>
          </a:xfrm>
          <a:prstGeom prst="line">
            <a:avLst/>
          </a:prstGeom>
          <a:noFill/>
          <a:ln w="19050">
            <a:solidFill>
              <a:srgbClr val="2E8B57"/>
            </a:solidFill>
            <a:prstDash val="solid"/>
          </a:ln>
        </p:spPr>
      </p:sp>
      <p:sp>
        <p:nvSpPr>
          <p:cNvPr id="99" name="Shape 97"/>
          <p:cNvSpPr/>
          <p:nvPr/>
        </p:nvSpPr>
        <p:spPr>
          <a:xfrm flipV="1">
            <a:off x="2500603" y="3566160"/>
            <a:ext cx="13997" cy="20003"/>
          </a:xfrm>
          <a:prstGeom prst="line">
            <a:avLst/>
          </a:prstGeom>
          <a:noFill/>
          <a:ln w="19050">
            <a:solidFill>
              <a:srgbClr val="2E8B57"/>
            </a:solidFill>
            <a:prstDash val="solid"/>
          </a:ln>
        </p:spPr>
      </p:sp>
      <p:sp>
        <p:nvSpPr>
          <p:cNvPr id="100" name="Shape 98"/>
          <p:cNvSpPr/>
          <p:nvPr/>
        </p:nvSpPr>
        <p:spPr>
          <a:xfrm flipV="1">
            <a:off x="2514600" y="3546158"/>
            <a:ext cx="13997" cy="20003"/>
          </a:xfrm>
          <a:prstGeom prst="line">
            <a:avLst/>
          </a:prstGeom>
          <a:noFill/>
          <a:ln w="19050">
            <a:solidFill>
              <a:srgbClr val="2E8B57"/>
            </a:solidFill>
            <a:prstDash val="solid"/>
          </a:ln>
        </p:spPr>
      </p:sp>
      <p:sp>
        <p:nvSpPr>
          <p:cNvPr id="101" name="Shape 99"/>
          <p:cNvSpPr/>
          <p:nvPr/>
        </p:nvSpPr>
        <p:spPr>
          <a:xfrm flipV="1">
            <a:off x="2528597" y="3526155"/>
            <a:ext cx="11866" cy="20002"/>
          </a:xfrm>
          <a:prstGeom prst="line">
            <a:avLst/>
          </a:prstGeom>
          <a:noFill/>
          <a:ln w="19050">
            <a:solidFill>
              <a:srgbClr val="2E8B57"/>
            </a:solidFill>
            <a:prstDash val="solid"/>
          </a:ln>
        </p:spPr>
      </p:sp>
      <p:sp>
        <p:nvSpPr>
          <p:cNvPr id="102" name="Shape 100"/>
          <p:cNvSpPr/>
          <p:nvPr/>
        </p:nvSpPr>
        <p:spPr>
          <a:xfrm flipV="1">
            <a:off x="2540463" y="3506153"/>
            <a:ext cx="7929" cy="20003"/>
          </a:xfrm>
          <a:prstGeom prst="line">
            <a:avLst/>
          </a:prstGeom>
          <a:noFill/>
          <a:ln w="19050">
            <a:solidFill>
              <a:srgbClr val="2E8B57"/>
            </a:solidFill>
            <a:prstDash val="solid"/>
          </a:ln>
        </p:spPr>
      </p:sp>
      <p:sp>
        <p:nvSpPr>
          <p:cNvPr id="103" name="Shape 101"/>
          <p:cNvSpPr/>
          <p:nvPr/>
        </p:nvSpPr>
        <p:spPr>
          <a:xfrm flipV="1">
            <a:off x="2548392" y="3486150"/>
            <a:ext cx="2784" cy="20003"/>
          </a:xfrm>
          <a:prstGeom prst="line">
            <a:avLst/>
          </a:prstGeom>
          <a:noFill/>
          <a:ln w="19050">
            <a:solidFill>
              <a:srgbClr val="2E8B57"/>
            </a:solidFill>
            <a:prstDash val="solid"/>
          </a:ln>
        </p:spPr>
      </p:sp>
      <p:sp>
        <p:nvSpPr>
          <p:cNvPr id="104" name="Shape 102"/>
          <p:cNvSpPr/>
          <p:nvPr/>
        </p:nvSpPr>
        <p:spPr>
          <a:xfrm flipH="1" flipV="1">
            <a:off x="2548392" y="3466148"/>
            <a:ext cx="2784" cy="20003"/>
          </a:xfrm>
          <a:prstGeom prst="line">
            <a:avLst/>
          </a:prstGeom>
          <a:noFill/>
          <a:ln w="19050">
            <a:solidFill>
              <a:srgbClr val="2E8B57"/>
            </a:solidFill>
            <a:prstDash val="solid"/>
          </a:ln>
        </p:spPr>
      </p:sp>
      <p:sp>
        <p:nvSpPr>
          <p:cNvPr id="105" name="Shape 103"/>
          <p:cNvSpPr/>
          <p:nvPr/>
        </p:nvSpPr>
        <p:spPr>
          <a:xfrm flipH="1" flipV="1">
            <a:off x="2540463" y="3446145"/>
            <a:ext cx="7929" cy="20003"/>
          </a:xfrm>
          <a:prstGeom prst="line">
            <a:avLst/>
          </a:prstGeom>
          <a:noFill/>
          <a:ln w="19050">
            <a:solidFill>
              <a:srgbClr val="2E8B57"/>
            </a:solidFill>
            <a:prstDash val="solid"/>
          </a:ln>
        </p:spPr>
      </p:sp>
      <p:sp>
        <p:nvSpPr>
          <p:cNvPr id="106" name="Shape 104"/>
          <p:cNvSpPr/>
          <p:nvPr/>
        </p:nvSpPr>
        <p:spPr>
          <a:xfrm flipH="1" flipV="1">
            <a:off x="2528597" y="3426143"/>
            <a:ext cx="11866" cy="20002"/>
          </a:xfrm>
          <a:prstGeom prst="line">
            <a:avLst/>
          </a:prstGeom>
          <a:noFill/>
          <a:ln w="19050">
            <a:solidFill>
              <a:srgbClr val="2E8B57"/>
            </a:solidFill>
            <a:prstDash val="solid"/>
          </a:ln>
        </p:spPr>
      </p:sp>
      <p:sp>
        <p:nvSpPr>
          <p:cNvPr id="107" name="Shape 105"/>
          <p:cNvSpPr/>
          <p:nvPr/>
        </p:nvSpPr>
        <p:spPr>
          <a:xfrm flipH="1" flipV="1">
            <a:off x="2514600" y="3406140"/>
            <a:ext cx="13997" cy="20003"/>
          </a:xfrm>
          <a:prstGeom prst="line">
            <a:avLst/>
          </a:prstGeom>
          <a:noFill/>
          <a:ln w="19050">
            <a:solidFill>
              <a:srgbClr val="2E8B57"/>
            </a:solidFill>
            <a:prstDash val="solid"/>
          </a:ln>
        </p:spPr>
      </p:sp>
      <p:sp>
        <p:nvSpPr>
          <p:cNvPr id="108" name="Shape 106"/>
          <p:cNvSpPr/>
          <p:nvPr/>
        </p:nvSpPr>
        <p:spPr>
          <a:xfrm flipH="1" flipV="1">
            <a:off x="2500603" y="3386138"/>
            <a:ext cx="13997" cy="20003"/>
          </a:xfrm>
          <a:prstGeom prst="line">
            <a:avLst/>
          </a:prstGeom>
          <a:noFill/>
          <a:ln w="19050">
            <a:solidFill>
              <a:srgbClr val="2E8B57"/>
            </a:solidFill>
            <a:prstDash val="solid"/>
          </a:ln>
        </p:spPr>
      </p:sp>
      <p:sp>
        <p:nvSpPr>
          <p:cNvPr id="109" name="Shape 107"/>
          <p:cNvSpPr/>
          <p:nvPr/>
        </p:nvSpPr>
        <p:spPr>
          <a:xfrm flipH="1" flipV="1">
            <a:off x="2488737" y="3366135"/>
            <a:ext cx="11866" cy="20003"/>
          </a:xfrm>
          <a:prstGeom prst="line">
            <a:avLst/>
          </a:prstGeom>
          <a:noFill/>
          <a:ln w="19050">
            <a:solidFill>
              <a:srgbClr val="2E8B57"/>
            </a:solidFill>
            <a:prstDash val="solid"/>
          </a:ln>
        </p:spPr>
      </p:sp>
      <p:sp>
        <p:nvSpPr>
          <p:cNvPr id="110" name="Shape 108"/>
          <p:cNvSpPr/>
          <p:nvPr/>
        </p:nvSpPr>
        <p:spPr>
          <a:xfrm flipH="1" flipV="1">
            <a:off x="2480808" y="3346133"/>
            <a:ext cx="7929" cy="20003"/>
          </a:xfrm>
          <a:prstGeom prst="line">
            <a:avLst/>
          </a:prstGeom>
          <a:noFill/>
          <a:ln w="19050">
            <a:solidFill>
              <a:srgbClr val="2E8B57"/>
            </a:solidFill>
            <a:prstDash val="solid"/>
          </a:ln>
        </p:spPr>
      </p:sp>
      <p:sp>
        <p:nvSpPr>
          <p:cNvPr id="111" name="Shape 109"/>
          <p:cNvSpPr/>
          <p:nvPr/>
        </p:nvSpPr>
        <p:spPr>
          <a:xfrm flipH="1" flipV="1">
            <a:off x="2478024" y="3326130"/>
            <a:ext cx="2784" cy="20002"/>
          </a:xfrm>
          <a:prstGeom prst="line">
            <a:avLst/>
          </a:prstGeom>
          <a:noFill/>
          <a:ln w="19050">
            <a:solidFill>
              <a:srgbClr val="2E8B57"/>
            </a:solidFill>
            <a:prstDash val="solid"/>
          </a:ln>
        </p:spPr>
      </p:sp>
      <p:sp>
        <p:nvSpPr>
          <p:cNvPr id="112" name="Shape 110"/>
          <p:cNvSpPr/>
          <p:nvPr/>
        </p:nvSpPr>
        <p:spPr>
          <a:xfrm flipV="1">
            <a:off x="2478024" y="3306128"/>
            <a:ext cx="2784" cy="20003"/>
          </a:xfrm>
          <a:prstGeom prst="line">
            <a:avLst/>
          </a:prstGeom>
          <a:noFill/>
          <a:ln w="19050">
            <a:solidFill>
              <a:srgbClr val="2E8B57"/>
            </a:solidFill>
            <a:prstDash val="solid"/>
          </a:ln>
        </p:spPr>
      </p:sp>
      <p:sp>
        <p:nvSpPr>
          <p:cNvPr id="113" name="Shape 111"/>
          <p:cNvSpPr/>
          <p:nvPr/>
        </p:nvSpPr>
        <p:spPr>
          <a:xfrm flipV="1">
            <a:off x="2480808" y="3286125"/>
            <a:ext cx="7929" cy="20003"/>
          </a:xfrm>
          <a:prstGeom prst="line">
            <a:avLst/>
          </a:prstGeom>
          <a:noFill/>
          <a:ln w="19050">
            <a:solidFill>
              <a:srgbClr val="2E8B57"/>
            </a:solidFill>
            <a:prstDash val="solid"/>
          </a:ln>
        </p:spPr>
      </p:sp>
      <p:sp>
        <p:nvSpPr>
          <p:cNvPr id="114" name="Shape 112"/>
          <p:cNvSpPr/>
          <p:nvPr/>
        </p:nvSpPr>
        <p:spPr>
          <a:xfrm flipV="1">
            <a:off x="2488737" y="3266123"/>
            <a:ext cx="11866" cy="20003"/>
          </a:xfrm>
          <a:prstGeom prst="line">
            <a:avLst/>
          </a:prstGeom>
          <a:noFill/>
          <a:ln w="19050">
            <a:solidFill>
              <a:srgbClr val="2E8B57"/>
            </a:solidFill>
            <a:prstDash val="solid"/>
          </a:ln>
        </p:spPr>
      </p:sp>
      <p:sp>
        <p:nvSpPr>
          <p:cNvPr id="115" name="Shape 113"/>
          <p:cNvSpPr/>
          <p:nvPr/>
        </p:nvSpPr>
        <p:spPr>
          <a:xfrm flipV="1">
            <a:off x="2500603" y="3246120"/>
            <a:ext cx="13997" cy="20003"/>
          </a:xfrm>
          <a:prstGeom prst="line">
            <a:avLst/>
          </a:prstGeom>
          <a:noFill/>
          <a:ln w="19050">
            <a:solidFill>
              <a:srgbClr val="2E8B57"/>
            </a:solidFill>
            <a:prstDash val="solid"/>
          </a:ln>
        </p:spPr>
      </p:sp>
      <p:sp>
        <p:nvSpPr>
          <p:cNvPr id="116" name="Shape 114"/>
          <p:cNvSpPr/>
          <p:nvPr/>
        </p:nvSpPr>
        <p:spPr>
          <a:xfrm flipV="1">
            <a:off x="2514600" y="3226118"/>
            <a:ext cx="13997" cy="20002"/>
          </a:xfrm>
          <a:prstGeom prst="line">
            <a:avLst/>
          </a:prstGeom>
          <a:noFill/>
          <a:ln w="19050">
            <a:solidFill>
              <a:srgbClr val="2E8B57"/>
            </a:solidFill>
            <a:prstDash val="solid"/>
          </a:ln>
        </p:spPr>
      </p:sp>
      <p:sp>
        <p:nvSpPr>
          <p:cNvPr id="117" name="Shape 115"/>
          <p:cNvSpPr/>
          <p:nvPr/>
        </p:nvSpPr>
        <p:spPr>
          <a:xfrm flipV="1">
            <a:off x="2528597" y="3206115"/>
            <a:ext cx="11866" cy="20003"/>
          </a:xfrm>
          <a:prstGeom prst="line">
            <a:avLst/>
          </a:prstGeom>
          <a:noFill/>
          <a:ln w="19050">
            <a:solidFill>
              <a:srgbClr val="2E8B57"/>
            </a:solidFill>
            <a:prstDash val="solid"/>
          </a:ln>
        </p:spPr>
      </p:sp>
      <p:sp>
        <p:nvSpPr>
          <p:cNvPr id="118" name="Shape 116"/>
          <p:cNvSpPr/>
          <p:nvPr/>
        </p:nvSpPr>
        <p:spPr>
          <a:xfrm flipV="1">
            <a:off x="2540463" y="3186113"/>
            <a:ext cx="7929" cy="20003"/>
          </a:xfrm>
          <a:prstGeom prst="line">
            <a:avLst/>
          </a:prstGeom>
          <a:noFill/>
          <a:ln w="19050">
            <a:solidFill>
              <a:srgbClr val="2E8B57"/>
            </a:solidFill>
            <a:prstDash val="solid"/>
          </a:ln>
        </p:spPr>
      </p:sp>
      <p:sp>
        <p:nvSpPr>
          <p:cNvPr id="119" name="Shape 117"/>
          <p:cNvSpPr/>
          <p:nvPr/>
        </p:nvSpPr>
        <p:spPr>
          <a:xfrm flipV="1">
            <a:off x="2548392" y="3166110"/>
            <a:ext cx="2784" cy="20003"/>
          </a:xfrm>
          <a:prstGeom prst="line">
            <a:avLst/>
          </a:prstGeom>
          <a:noFill/>
          <a:ln w="19050">
            <a:solidFill>
              <a:srgbClr val="2E8B57"/>
            </a:solidFill>
            <a:prstDash val="solid"/>
          </a:ln>
        </p:spPr>
      </p:sp>
      <p:sp>
        <p:nvSpPr>
          <p:cNvPr id="120" name="Shape 118"/>
          <p:cNvSpPr/>
          <p:nvPr/>
        </p:nvSpPr>
        <p:spPr>
          <a:xfrm flipH="1" flipV="1">
            <a:off x="2548392" y="3146108"/>
            <a:ext cx="2784" cy="20003"/>
          </a:xfrm>
          <a:prstGeom prst="line">
            <a:avLst/>
          </a:prstGeom>
          <a:noFill/>
          <a:ln w="19050">
            <a:solidFill>
              <a:srgbClr val="2E8B57"/>
            </a:solidFill>
            <a:prstDash val="solid"/>
          </a:ln>
        </p:spPr>
      </p:sp>
      <p:sp>
        <p:nvSpPr>
          <p:cNvPr id="121" name="Shape 119"/>
          <p:cNvSpPr/>
          <p:nvPr/>
        </p:nvSpPr>
        <p:spPr>
          <a:xfrm flipH="1" flipV="1">
            <a:off x="2540463" y="3126105"/>
            <a:ext cx="7929" cy="20002"/>
          </a:xfrm>
          <a:prstGeom prst="line">
            <a:avLst/>
          </a:prstGeom>
          <a:noFill/>
          <a:ln w="19050">
            <a:solidFill>
              <a:srgbClr val="2E8B57"/>
            </a:solidFill>
            <a:prstDash val="solid"/>
          </a:ln>
        </p:spPr>
      </p:sp>
      <p:sp>
        <p:nvSpPr>
          <p:cNvPr id="122" name="Shape 120"/>
          <p:cNvSpPr/>
          <p:nvPr/>
        </p:nvSpPr>
        <p:spPr>
          <a:xfrm flipH="1" flipV="1">
            <a:off x="2528597" y="3106103"/>
            <a:ext cx="11866" cy="20003"/>
          </a:xfrm>
          <a:prstGeom prst="line">
            <a:avLst/>
          </a:prstGeom>
          <a:noFill/>
          <a:ln w="19050">
            <a:solidFill>
              <a:srgbClr val="2E8B57"/>
            </a:solidFill>
            <a:prstDash val="solid"/>
          </a:ln>
        </p:spPr>
      </p:sp>
      <p:sp>
        <p:nvSpPr>
          <p:cNvPr id="123" name="Shape 121"/>
          <p:cNvSpPr/>
          <p:nvPr/>
        </p:nvSpPr>
        <p:spPr>
          <a:xfrm flipH="1" flipV="1">
            <a:off x="2514600" y="3086100"/>
            <a:ext cx="13997" cy="20003"/>
          </a:xfrm>
          <a:prstGeom prst="line">
            <a:avLst/>
          </a:prstGeom>
          <a:noFill/>
          <a:ln w="19050">
            <a:solidFill>
              <a:srgbClr val="2E8B57"/>
            </a:solidFill>
            <a:prstDash val="solid"/>
          </a:ln>
        </p:spPr>
      </p:sp>
      <p:sp>
        <p:nvSpPr>
          <p:cNvPr id="124" name="Shape 122"/>
          <p:cNvSpPr/>
          <p:nvPr/>
        </p:nvSpPr>
        <p:spPr>
          <a:xfrm flipH="1" flipV="1">
            <a:off x="2500603" y="3066098"/>
            <a:ext cx="13997" cy="20003"/>
          </a:xfrm>
          <a:prstGeom prst="line">
            <a:avLst/>
          </a:prstGeom>
          <a:noFill/>
          <a:ln w="19050">
            <a:solidFill>
              <a:srgbClr val="2E8B57"/>
            </a:solidFill>
            <a:prstDash val="solid"/>
          </a:ln>
        </p:spPr>
      </p:sp>
      <p:sp>
        <p:nvSpPr>
          <p:cNvPr id="125" name="Shape 123"/>
          <p:cNvSpPr/>
          <p:nvPr/>
        </p:nvSpPr>
        <p:spPr>
          <a:xfrm flipH="1" flipV="1">
            <a:off x="2488737" y="3046095"/>
            <a:ext cx="11866" cy="20003"/>
          </a:xfrm>
          <a:prstGeom prst="line">
            <a:avLst/>
          </a:prstGeom>
          <a:noFill/>
          <a:ln w="19050">
            <a:solidFill>
              <a:srgbClr val="2E8B57"/>
            </a:solidFill>
            <a:prstDash val="solid"/>
          </a:ln>
        </p:spPr>
      </p:sp>
      <p:sp>
        <p:nvSpPr>
          <p:cNvPr id="126" name="Shape 124"/>
          <p:cNvSpPr/>
          <p:nvPr/>
        </p:nvSpPr>
        <p:spPr>
          <a:xfrm flipH="1" flipV="1">
            <a:off x="2480808" y="3026093"/>
            <a:ext cx="7929" cy="20002"/>
          </a:xfrm>
          <a:prstGeom prst="line">
            <a:avLst/>
          </a:prstGeom>
          <a:noFill/>
          <a:ln w="19050">
            <a:solidFill>
              <a:srgbClr val="2E8B57"/>
            </a:solidFill>
            <a:prstDash val="solid"/>
          </a:ln>
        </p:spPr>
      </p:sp>
      <p:sp>
        <p:nvSpPr>
          <p:cNvPr id="127" name="Shape 125"/>
          <p:cNvSpPr/>
          <p:nvPr/>
        </p:nvSpPr>
        <p:spPr>
          <a:xfrm flipH="1" flipV="1">
            <a:off x="2478024" y="3006090"/>
            <a:ext cx="2784" cy="20003"/>
          </a:xfrm>
          <a:prstGeom prst="line">
            <a:avLst/>
          </a:prstGeom>
          <a:noFill/>
          <a:ln w="19050">
            <a:solidFill>
              <a:srgbClr val="2E8B57"/>
            </a:solidFill>
            <a:prstDash val="solid"/>
          </a:ln>
        </p:spPr>
      </p:sp>
      <p:sp>
        <p:nvSpPr>
          <p:cNvPr id="128" name="Shape 126"/>
          <p:cNvSpPr/>
          <p:nvPr/>
        </p:nvSpPr>
        <p:spPr>
          <a:xfrm flipV="1">
            <a:off x="2478024" y="2986088"/>
            <a:ext cx="2784" cy="20003"/>
          </a:xfrm>
          <a:prstGeom prst="line">
            <a:avLst/>
          </a:prstGeom>
          <a:noFill/>
          <a:ln w="19050">
            <a:solidFill>
              <a:srgbClr val="2E8B57"/>
            </a:solidFill>
            <a:prstDash val="solid"/>
          </a:ln>
        </p:spPr>
      </p:sp>
      <p:sp>
        <p:nvSpPr>
          <p:cNvPr id="129" name="Shape 127"/>
          <p:cNvSpPr/>
          <p:nvPr/>
        </p:nvSpPr>
        <p:spPr>
          <a:xfrm flipV="1">
            <a:off x="2480808" y="2966085"/>
            <a:ext cx="7929" cy="20002"/>
          </a:xfrm>
          <a:prstGeom prst="line">
            <a:avLst/>
          </a:prstGeom>
          <a:noFill/>
          <a:ln w="19050">
            <a:solidFill>
              <a:srgbClr val="2E8B57"/>
            </a:solidFill>
            <a:prstDash val="solid"/>
          </a:ln>
        </p:spPr>
      </p:sp>
      <p:sp>
        <p:nvSpPr>
          <p:cNvPr id="130" name="Shape 128"/>
          <p:cNvSpPr/>
          <p:nvPr/>
        </p:nvSpPr>
        <p:spPr>
          <a:xfrm flipV="1">
            <a:off x="2488737" y="2946083"/>
            <a:ext cx="11866" cy="20003"/>
          </a:xfrm>
          <a:prstGeom prst="line">
            <a:avLst/>
          </a:prstGeom>
          <a:noFill/>
          <a:ln w="19050">
            <a:solidFill>
              <a:srgbClr val="2E8B57"/>
            </a:solidFill>
            <a:prstDash val="solid"/>
          </a:ln>
        </p:spPr>
      </p:sp>
      <p:sp>
        <p:nvSpPr>
          <p:cNvPr id="131" name="Shape 129"/>
          <p:cNvSpPr/>
          <p:nvPr/>
        </p:nvSpPr>
        <p:spPr>
          <a:xfrm flipV="1">
            <a:off x="2500603" y="2926080"/>
            <a:ext cx="13997" cy="20002"/>
          </a:xfrm>
          <a:prstGeom prst="line">
            <a:avLst/>
          </a:prstGeom>
          <a:noFill/>
          <a:ln w="19050">
            <a:solidFill>
              <a:srgbClr val="2E8B57"/>
            </a:solidFill>
            <a:prstDash val="solid"/>
          </a:ln>
        </p:spPr>
      </p:sp>
      <p:sp>
        <p:nvSpPr>
          <p:cNvPr id="132" name="Shape 130"/>
          <p:cNvSpPr/>
          <p:nvPr/>
        </p:nvSpPr>
        <p:spPr>
          <a:xfrm flipV="1">
            <a:off x="2514600" y="2906078"/>
            <a:ext cx="13997" cy="20003"/>
          </a:xfrm>
          <a:prstGeom prst="line">
            <a:avLst/>
          </a:prstGeom>
          <a:noFill/>
          <a:ln w="19050">
            <a:solidFill>
              <a:srgbClr val="2E8B57"/>
            </a:solidFill>
            <a:prstDash val="solid"/>
          </a:ln>
        </p:spPr>
      </p:sp>
      <p:sp>
        <p:nvSpPr>
          <p:cNvPr id="133" name="Shape 131"/>
          <p:cNvSpPr/>
          <p:nvPr/>
        </p:nvSpPr>
        <p:spPr>
          <a:xfrm flipV="1">
            <a:off x="2528597" y="2886075"/>
            <a:ext cx="11866" cy="20003"/>
          </a:xfrm>
          <a:prstGeom prst="line">
            <a:avLst/>
          </a:prstGeom>
          <a:noFill/>
          <a:ln w="19050">
            <a:solidFill>
              <a:srgbClr val="2E8B57"/>
            </a:solidFill>
            <a:prstDash val="solid"/>
          </a:ln>
        </p:spPr>
      </p:sp>
      <p:sp>
        <p:nvSpPr>
          <p:cNvPr id="134" name="Shape 132"/>
          <p:cNvSpPr/>
          <p:nvPr/>
        </p:nvSpPr>
        <p:spPr>
          <a:xfrm flipV="1">
            <a:off x="2540463" y="2866073"/>
            <a:ext cx="7929" cy="20002"/>
          </a:xfrm>
          <a:prstGeom prst="line">
            <a:avLst/>
          </a:prstGeom>
          <a:noFill/>
          <a:ln w="19050">
            <a:solidFill>
              <a:srgbClr val="2E8B57"/>
            </a:solidFill>
            <a:prstDash val="solid"/>
          </a:ln>
        </p:spPr>
      </p:sp>
      <p:sp>
        <p:nvSpPr>
          <p:cNvPr id="135" name="Shape 133"/>
          <p:cNvSpPr/>
          <p:nvPr/>
        </p:nvSpPr>
        <p:spPr>
          <a:xfrm flipV="1">
            <a:off x="2548392" y="2846070"/>
            <a:ext cx="2784" cy="20003"/>
          </a:xfrm>
          <a:prstGeom prst="line">
            <a:avLst/>
          </a:prstGeom>
          <a:noFill/>
          <a:ln w="19050">
            <a:solidFill>
              <a:srgbClr val="2E8B57"/>
            </a:solidFill>
            <a:prstDash val="solid"/>
          </a:ln>
        </p:spPr>
      </p:sp>
      <p:sp>
        <p:nvSpPr>
          <p:cNvPr id="136" name="Shape 134"/>
          <p:cNvSpPr/>
          <p:nvPr/>
        </p:nvSpPr>
        <p:spPr>
          <a:xfrm flipH="1" flipV="1">
            <a:off x="2548392" y="2826068"/>
            <a:ext cx="2784" cy="20002"/>
          </a:xfrm>
          <a:prstGeom prst="line">
            <a:avLst/>
          </a:prstGeom>
          <a:noFill/>
          <a:ln w="19050">
            <a:solidFill>
              <a:srgbClr val="2E8B57"/>
            </a:solidFill>
            <a:prstDash val="solid"/>
          </a:ln>
        </p:spPr>
      </p:sp>
      <p:sp>
        <p:nvSpPr>
          <p:cNvPr id="137" name="Shape 135"/>
          <p:cNvSpPr/>
          <p:nvPr/>
        </p:nvSpPr>
        <p:spPr>
          <a:xfrm flipH="1" flipV="1">
            <a:off x="2540463" y="2806065"/>
            <a:ext cx="7929" cy="20003"/>
          </a:xfrm>
          <a:prstGeom prst="line">
            <a:avLst/>
          </a:prstGeom>
          <a:noFill/>
          <a:ln w="19050">
            <a:solidFill>
              <a:srgbClr val="2E8B57"/>
            </a:solidFill>
            <a:prstDash val="solid"/>
          </a:ln>
        </p:spPr>
      </p:sp>
      <p:sp>
        <p:nvSpPr>
          <p:cNvPr id="138" name="Shape 136"/>
          <p:cNvSpPr/>
          <p:nvPr/>
        </p:nvSpPr>
        <p:spPr>
          <a:xfrm flipH="1" flipV="1">
            <a:off x="2528597" y="2786063"/>
            <a:ext cx="11866" cy="20003"/>
          </a:xfrm>
          <a:prstGeom prst="line">
            <a:avLst/>
          </a:prstGeom>
          <a:noFill/>
          <a:ln w="19050">
            <a:solidFill>
              <a:srgbClr val="2E8B57"/>
            </a:solidFill>
            <a:prstDash val="solid"/>
          </a:ln>
        </p:spPr>
      </p:sp>
      <p:sp>
        <p:nvSpPr>
          <p:cNvPr id="139" name="Shape 137"/>
          <p:cNvSpPr/>
          <p:nvPr/>
        </p:nvSpPr>
        <p:spPr>
          <a:xfrm flipH="1" flipV="1">
            <a:off x="2514600" y="2766060"/>
            <a:ext cx="13997" cy="20002"/>
          </a:xfrm>
          <a:prstGeom prst="line">
            <a:avLst/>
          </a:prstGeom>
          <a:noFill/>
          <a:ln w="19050">
            <a:solidFill>
              <a:srgbClr val="2E8B57"/>
            </a:solidFill>
            <a:prstDash val="solid"/>
          </a:ln>
        </p:spPr>
      </p:sp>
      <p:sp>
        <p:nvSpPr>
          <p:cNvPr id="140" name="Shape 138"/>
          <p:cNvSpPr/>
          <p:nvPr/>
        </p:nvSpPr>
        <p:spPr>
          <a:xfrm flipH="1" flipV="1">
            <a:off x="2500603" y="2746058"/>
            <a:ext cx="13997" cy="20003"/>
          </a:xfrm>
          <a:prstGeom prst="line">
            <a:avLst/>
          </a:prstGeom>
          <a:noFill/>
          <a:ln w="19050">
            <a:solidFill>
              <a:srgbClr val="2E8B57"/>
            </a:solidFill>
            <a:prstDash val="solid"/>
          </a:ln>
        </p:spPr>
      </p:sp>
      <p:sp>
        <p:nvSpPr>
          <p:cNvPr id="141" name="Shape 139"/>
          <p:cNvSpPr/>
          <p:nvPr/>
        </p:nvSpPr>
        <p:spPr>
          <a:xfrm flipH="1" flipV="1">
            <a:off x="2488737" y="2726055"/>
            <a:ext cx="11866" cy="20002"/>
          </a:xfrm>
          <a:prstGeom prst="line">
            <a:avLst/>
          </a:prstGeom>
          <a:noFill/>
          <a:ln w="19050">
            <a:solidFill>
              <a:srgbClr val="2E8B57"/>
            </a:solidFill>
            <a:prstDash val="solid"/>
          </a:ln>
        </p:spPr>
      </p:sp>
      <p:sp>
        <p:nvSpPr>
          <p:cNvPr id="142" name="Shape 140"/>
          <p:cNvSpPr/>
          <p:nvPr/>
        </p:nvSpPr>
        <p:spPr>
          <a:xfrm flipH="1" flipV="1">
            <a:off x="2480808" y="2706053"/>
            <a:ext cx="7929" cy="20003"/>
          </a:xfrm>
          <a:prstGeom prst="line">
            <a:avLst/>
          </a:prstGeom>
          <a:noFill/>
          <a:ln w="19050">
            <a:solidFill>
              <a:srgbClr val="2E8B57"/>
            </a:solidFill>
            <a:prstDash val="solid"/>
          </a:ln>
        </p:spPr>
      </p:sp>
      <p:sp>
        <p:nvSpPr>
          <p:cNvPr id="143" name="Shape 141"/>
          <p:cNvSpPr/>
          <p:nvPr/>
        </p:nvSpPr>
        <p:spPr>
          <a:xfrm flipH="1" flipV="1">
            <a:off x="2478024" y="2686050"/>
            <a:ext cx="2784" cy="20003"/>
          </a:xfrm>
          <a:prstGeom prst="line">
            <a:avLst/>
          </a:prstGeom>
          <a:noFill/>
          <a:ln w="19050">
            <a:solidFill>
              <a:srgbClr val="2E8B57"/>
            </a:solidFill>
            <a:prstDash val="solid"/>
          </a:ln>
        </p:spPr>
      </p:sp>
      <p:sp>
        <p:nvSpPr>
          <p:cNvPr id="144" name="Shape 142"/>
          <p:cNvSpPr/>
          <p:nvPr/>
        </p:nvSpPr>
        <p:spPr>
          <a:xfrm flipV="1">
            <a:off x="2478024" y="2666048"/>
            <a:ext cx="2784" cy="20002"/>
          </a:xfrm>
          <a:prstGeom prst="line">
            <a:avLst/>
          </a:prstGeom>
          <a:noFill/>
          <a:ln w="19050">
            <a:solidFill>
              <a:srgbClr val="2E8B57"/>
            </a:solidFill>
            <a:prstDash val="solid"/>
          </a:ln>
        </p:spPr>
      </p:sp>
      <p:sp>
        <p:nvSpPr>
          <p:cNvPr id="145" name="Shape 143"/>
          <p:cNvSpPr/>
          <p:nvPr/>
        </p:nvSpPr>
        <p:spPr>
          <a:xfrm flipV="1">
            <a:off x="2480808" y="2646045"/>
            <a:ext cx="7929" cy="20003"/>
          </a:xfrm>
          <a:prstGeom prst="line">
            <a:avLst/>
          </a:prstGeom>
          <a:noFill/>
          <a:ln w="19050">
            <a:solidFill>
              <a:srgbClr val="2E8B57"/>
            </a:solidFill>
            <a:prstDash val="solid"/>
          </a:ln>
        </p:spPr>
      </p:sp>
      <p:sp>
        <p:nvSpPr>
          <p:cNvPr id="146" name="Shape 144"/>
          <p:cNvSpPr/>
          <p:nvPr/>
        </p:nvSpPr>
        <p:spPr>
          <a:xfrm flipV="1">
            <a:off x="2488737" y="2626043"/>
            <a:ext cx="11866" cy="20002"/>
          </a:xfrm>
          <a:prstGeom prst="line">
            <a:avLst/>
          </a:prstGeom>
          <a:noFill/>
          <a:ln w="19050">
            <a:solidFill>
              <a:srgbClr val="2E8B57"/>
            </a:solidFill>
            <a:prstDash val="solid"/>
          </a:ln>
        </p:spPr>
      </p:sp>
      <p:sp>
        <p:nvSpPr>
          <p:cNvPr id="147" name="Shape 145"/>
          <p:cNvSpPr/>
          <p:nvPr/>
        </p:nvSpPr>
        <p:spPr>
          <a:xfrm flipV="1">
            <a:off x="2500603" y="2606040"/>
            <a:ext cx="13997" cy="20003"/>
          </a:xfrm>
          <a:prstGeom prst="line">
            <a:avLst/>
          </a:prstGeom>
          <a:noFill/>
          <a:ln w="19050">
            <a:solidFill>
              <a:srgbClr val="2E8B57"/>
            </a:solidFill>
            <a:prstDash val="solid"/>
          </a:ln>
        </p:spPr>
      </p:sp>
      <p:sp>
        <p:nvSpPr>
          <p:cNvPr id="148" name="Shape 146"/>
          <p:cNvSpPr/>
          <p:nvPr/>
        </p:nvSpPr>
        <p:spPr>
          <a:xfrm flipV="1">
            <a:off x="2971800" y="3866198"/>
            <a:ext cx="13997" cy="20002"/>
          </a:xfrm>
          <a:prstGeom prst="line">
            <a:avLst/>
          </a:prstGeom>
          <a:noFill/>
          <a:ln w="19050">
            <a:solidFill>
              <a:srgbClr val="2E8B57"/>
            </a:solidFill>
            <a:prstDash val="solid"/>
          </a:ln>
        </p:spPr>
      </p:sp>
      <p:sp>
        <p:nvSpPr>
          <p:cNvPr id="149" name="Shape 147"/>
          <p:cNvSpPr/>
          <p:nvPr/>
        </p:nvSpPr>
        <p:spPr>
          <a:xfrm flipV="1">
            <a:off x="2985797" y="3846195"/>
            <a:ext cx="11866" cy="20003"/>
          </a:xfrm>
          <a:prstGeom prst="line">
            <a:avLst/>
          </a:prstGeom>
          <a:noFill/>
          <a:ln w="19050">
            <a:solidFill>
              <a:srgbClr val="2E8B57"/>
            </a:solidFill>
            <a:prstDash val="solid"/>
          </a:ln>
        </p:spPr>
      </p:sp>
      <p:sp>
        <p:nvSpPr>
          <p:cNvPr id="150" name="Shape 148"/>
          <p:cNvSpPr/>
          <p:nvPr/>
        </p:nvSpPr>
        <p:spPr>
          <a:xfrm flipV="1">
            <a:off x="2997663" y="3826193"/>
            <a:ext cx="7929" cy="20002"/>
          </a:xfrm>
          <a:prstGeom prst="line">
            <a:avLst/>
          </a:prstGeom>
          <a:noFill/>
          <a:ln w="19050">
            <a:solidFill>
              <a:srgbClr val="2E8B57"/>
            </a:solidFill>
            <a:prstDash val="solid"/>
          </a:ln>
        </p:spPr>
      </p:sp>
      <p:sp>
        <p:nvSpPr>
          <p:cNvPr id="151" name="Shape 149"/>
          <p:cNvSpPr/>
          <p:nvPr/>
        </p:nvSpPr>
        <p:spPr>
          <a:xfrm flipV="1">
            <a:off x="3005592" y="3806190"/>
            <a:ext cx="2784" cy="20003"/>
          </a:xfrm>
          <a:prstGeom prst="line">
            <a:avLst/>
          </a:prstGeom>
          <a:noFill/>
          <a:ln w="19050">
            <a:solidFill>
              <a:srgbClr val="2E8B57"/>
            </a:solidFill>
            <a:prstDash val="solid"/>
          </a:ln>
        </p:spPr>
      </p:sp>
      <p:sp>
        <p:nvSpPr>
          <p:cNvPr id="152" name="Shape 150"/>
          <p:cNvSpPr/>
          <p:nvPr/>
        </p:nvSpPr>
        <p:spPr>
          <a:xfrm flipH="1" flipV="1">
            <a:off x="3005592" y="3786188"/>
            <a:ext cx="2784" cy="20002"/>
          </a:xfrm>
          <a:prstGeom prst="line">
            <a:avLst/>
          </a:prstGeom>
          <a:noFill/>
          <a:ln w="19050">
            <a:solidFill>
              <a:srgbClr val="2E8B57"/>
            </a:solidFill>
            <a:prstDash val="solid"/>
          </a:ln>
        </p:spPr>
      </p:sp>
      <p:sp>
        <p:nvSpPr>
          <p:cNvPr id="153" name="Shape 151"/>
          <p:cNvSpPr/>
          <p:nvPr/>
        </p:nvSpPr>
        <p:spPr>
          <a:xfrm flipH="1" flipV="1">
            <a:off x="2997663" y="3766185"/>
            <a:ext cx="7929" cy="20002"/>
          </a:xfrm>
          <a:prstGeom prst="line">
            <a:avLst/>
          </a:prstGeom>
          <a:noFill/>
          <a:ln w="19050">
            <a:solidFill>
              <a:srgbClr val="2E8B57"/>
            </a:solidFill>
            <a:prstDash val="solid"/>
          </a:ln>
        </p:spPr>
      </p:sp>
      <p:sp>
        <p:nvSpPr>
          <p:cNvPr id="154" name="Shape 152"/>
          <p:cNvSpPr/>
          <p:nvPr/>
        </p:nvSpPr>
        <p:spPr>
          <a:xfrm flipH="1" flipV="1">
            <a:off x="2985797" y="3746183"/>
            <a:ext cx="11866" cy="20003"/>
          </a:xfrm>
          <a:prstGeom prst="line">
            <a:avLst/>
          </a:prstGeom>
          <a:noFill/>
          <a:ln w="19050">
            <a:solidFill>
              <a:srgbClr val="2E8B57"/>
            </a:solidFill>
            <a:prstDash val="solid"/>
          </a:ln>
        </p:spPr>
      </p:sp>
      <p:sp>
        <p:nvSpPr>
          <p:cNvPr id="155" name="Shape 153"/>
          <p:cNvSpPr/>
          <p:nvPr/>
        </p:nvSpPr>
        <p:spPr>
          <a:xfrm flipH="1" flipV="1">
            <a:off x="2971800" y="3726180"/>
            <a:ext cx="13997" cy="20002"/>
          </a:xfrm>
          <a:prstGeom prst="line">
            <a:avLst/>
          </a:prstGeom>
          <a:noFill/>
          <a:ln w="19050">
            <a:solidFill>
              <a:srgbClr val="2E8B57"/>
            </a:solidFill>
            <a:prstDash val="solid"/>
          </a:ln>
        </p:spPr>
      </p:sp>
      <p:sp>
        <p:nvSpPr>
          <p:cNvPr id="156" name="Shape 154"/>
          <p:cNvSpPr/>
          <p:nvPr/>
        </p:nvSpPr>
        <p:spPr>
          <a:xfrm flipH="1" flipV="1">
            <a:off x="2957803" y="3706177"/>
            <a:ext cx="13997" cy="20003"/>
          </a:xfrm>
          <a:prstGeom prst="line">
            <a:avLst/>
          </a:prstGeom>
          <a:noFill/>
          <a:ln w="19050">
            <a:solidFill>
              <a:srgbClr val="2E8B57"/>
            </a:solidFill>
            <a:prstDash val="solid"/>
          </a:ln>
        </p:spPr>
      </p:sp>
      <p:sp>
        <p:nvSpPr>
          <p:cNvPr id="157" name="Shape 155"/>
          <p:cNvSpPr/>
          <p:nvPr/>
        </p:nvSpPr>
        <p:spPr>
          <a:xfrm flipH="1" flipV="1">
            <a:off x="2945937" y="3686175"/>
            <a:ext cx="11866" cy="20002"/>
          </a:xfrm>
          <a:prstGeom prst="line">
            <a:avLst/>
          </a:prstGeom>
          <a:noFill/>
          <a:ln w="19050">
            <a:solidFill>
              <a:srgbClr val="2E8B57"/>
            </a:solidFill>
            <a:prstDash val="solid"/>
          </a:ln>
        </p:spPr>
      </p:sp>
      <p:sp>
        <p:nvSpPr>
          <p:cNvPr id="158" name="Shape 156"/>
          <p:cNvSpPr/>
          <p:nvPr/>
        </p:nvSpPr>
        <p:spPr>
          <a:xfrm flipH="1" flipV="1">
            <a:off x="2938008" y="3666173"/>
            <a:ext cx="7929" cy="20002"/>
          </a:xfrm>
          <a:prstGeom prst="line">
            <a:avLst/>
          </a:prstGeom>
          <a:noFill/>
          <a:ln w="19050">
            <a:solidFill>
              <a:srgbClr val="2E8B57"/>
            </a:solidFill>
            <a:prstDash val="solid"/>
          </a:ln>
        </p:spPr>
      </p:sp>
      <p:sp>
        <p:nvSpPr>
          <p:cNvPr id="159" name="Shape 157"/>
          <p:cNvSpPr/>
          <p:nvPr/>
        </p:nvSpPr>
        <p:spPr>
          <a:xfrm flipH="1" flipV="1">
            <a:off x="2935224" y="3646170"/>
            <a:ext cx="2784" cy="20003"/>
          </a:xfrm>
          <a:prstGeom prst="line">
            <a:avLst/>
          </a:prstGeom>
          <a:noFill/>
          <a:ln w="19050">
            <a:solidFill>
              <a:srgbClr val="2E8B57"/>
            </a:solidFill>
            <a:prstDash val="solid"/>
          </a:ln>
        </p:spPr>
      </p:sp>
      <p:sp>
        <p:nvSpPr>
          <p:cNvPr id="160" name="Shape 158"/>
          <p:cNvSpPr/>
          <p:nvPr/>
        </p:nvSpPr>
        <p:spPr>
          <a:xfrm flipV="1">
            <a:off x="2935224" y="3626168"/>
            <a:ext cx="2784" cy="20002"/>
          </a:xfrm>
          <a:prstGeom prst="line">
            <a:avLst/>
          </a:prstGeom>
          <a:noFill/>
          <a:ln w="19050">
            <a:solidFill>
              <a:srgbClr val="2E8B57"/>
            </a:solidFill>
            <a:prstDash val="solid"/>
          </a:ln>
        </p:spPr>
      </p:sp>
      <p:sp>
        <p:nvSpPr>
          <p:cNvPr id="161" name="Shape 159"/>
          <p:cNvSpPr/>
          <p:nvPr/>
        </p:nvSpPr>
        <p:spPr>
          <a:xfrm flipV="1">
            <a:off x="2938008" y="3606165"/>
            <a:ext cx="7929" cy="20003"/>
          </a:xfrm>
          <a:prstGeom prst="line">
            <a:avLst/>
          </a:prstGeom>
          <a:noFill/>
          <a:ln w="19050">
            <a:solidFill>
              <a:srgbClr val="2E8B57"/>
            </a:solidFill>
            <a:prstDash val="solid"/>
          </a:ln>
        </p:spPr>
      </p:sp>
      <p:sp>
        <p:nvSpPr>
          <p:cNvPr id="162" name="Shape 160"/>
          <p:cNvSpPr/>
          <p:nvPr/>
        </p:nvSpPr>
        <p:spPr>
          <a:xfrm flipV="1">
            <a:off x="2945937" y="3586163"/>
            <a:ext cx="11866" cy="20003"/>
          </a:xfrm>
          <a:prstGeom prst="line">
            <a:avLst/>
          </a:prstGeom>
          <a:noFill/>
          <a:ln w="19050">
            <a:solidFill>
              <a:srgbClr val="2E8B57"/>
            </a:solidFill>
            <a:prstDash val="solid"/>
          </a:ln>
        </p:spPr>
      </p:sp>
      <p:sp>
        <p:nvSpPr>
          <p:cNvPr id="163" name="Shape 161"/>
          <p:cNvSpPr/>
          <p:nvPr/>
        </p:nvSpPr>
        <p:spPr>
          <a:xfrm flipV="1">
            <a:off x="2957803" y="3566160"/>
            <a:ext cx="13997" cy="20003"/>
          </a:xfrm>
          <a:prstGeom prst="line">
            <a:avLst/>
          </a:prstGeom>
          <a:noFill/>
          <a:ln w="19050">
            <a:solidFill>
              <a:srgbClr val="2E8B57"/>
            </a:solidFill>
            <a:prstDash val="solid"/>
          </a:ln>
        </p:spPr>
      </p:sp>
      <p:sp>
        <p:nvSpPr>
          <p:cNvPr id="164" name="Shape 162"/>
          <p:cNvSpPr/>
          <p:nvPr/>
        </p:nvSpPr>
        <p:spPr>
          <a:xfrm flipV="1">
            <a:off x="2971800" y="3546158"/>
            <a:ext cx="13997" cy="20003"/>
          </a:xfrm>
          <a:prstGeom prst="line">
            <a:avLst/>
          </a:prstGeom>
          <a:noFill/>
          <a:ln w="19050">
            <a:solidFill>
              <a:srgbClr val="2E8B57"/>
            </a:solidFill>
            <a:prstDash val="solid"/>
          </a:ln>
        </p:spPr>
      </p:sp>
      <p:sp>
        <p:nvSpPr>
          <p:cNvPr id="165" name="Shape 163"/>
          <p:cNvSpPr/>
          <p:nvPr/>
        </p:nvSpPr>
        <p:spPr>
          <a:xfrm flipV="1">
            <a:off x="2985797" y="3526155"/>
            <a:ext cx="11866" cy="20002"/>
          </a:xfrm>
          <a:prstGeom prst="line">
            <a:avLst/>
          </a:prstGeom>
          <a:noFill/>
          <a:ln w="19050">
            <a:solidFill>
              <a:srgbClr val="2E8B57"/>
            </a:solidFill>
            <a:prstDash val="solid"/>
          </a:ln>
        </p:spPr>
      </p:sp>
      <p:sp>
        <p:nvSpPr>
          <p:cNvPr id="166" name="Shape 164"/>
          <p:cNvSpPr/>
          <p:nvPr/>
        </p:nvSpPr>
        <p:spPr>
          <a:xfrm flipV="1">
            <a:off x="2997663" y="3506153"/>
            <a:ext cx="7929" cy="20003"/>
          </a:xfrm>
          <a:prstGeom prst="line">
            <a:avLst/>
          </a:prstGeom>
          <a:noFill/>
          <a:ln w="19050">
            <a:solidFill>
              <a:srgbClr val="2E8B57"/>
            </a:solidFill>
            <a:prstDash val="solid"/>
          </a:ln>
        </p:spPr>
      </p:sp>
      <p:sp>
        <p:nvSpPr>
          <p:cNvPr id="167" name="Shape 165"/>
          <p:cNvSpPr/>
          <p:nvPr/>
        </p:nvSpPr>
        <p:spPr>
          <a:xfrm flipV="1">
            <a:off x="3005592" y="3486150"/>
            <a:ext cx="2784" cy="20003"/>
          </a:xfrm>
          <a:prstGeom prst="line">
            <a:avLst/>
          </a:prstGeom>
          <a:noFill/>
          <a:ln w="19050">
            <a:solidFill>
              <a:srgbClr val="2E8B57"/>
            </a:solidFill>
            <a:prstDash val="solid"/>
          </a:ln>
        </p:spPr>
      </p:sp>
      <p:sp>
        <p:nvSpPr>
          <p:cNvPr id="168" name="Shape 166"/>
          <p:cNvSpPr/>
          <p:nvPr/>
        </p:nvSpPr>
        <p:spPr>
          <a:xfrm flipH="1" flipV="1">
            <a:off x="3005592" y="3466148"/>
            <a:ext cx="2784" cy="20003"/>
          </a:xfrm>
          <a:prstGeom prst="line">
            <a:avLst/>
          </a:prstGeom>
          <a:noFill/>
          <a:ln w="19050">
            <a:solidFill>
              <a:srgbClr val="2E8B57"/>
            </a:solidFill>
            <a:prstDash val="solid"/>
          </a:ln>
        </p:spPr>
      </p:sp>
      <p:sp>
        <p:nvSpPr>
          <p:cNvPr id="169" name="Shape 167"/>
          <p:cNvSpPr/>
          <p:nvPr/>
        </p:nvSpPr>
        <p:spPr>
          <a:xfrm flipH="1" flipV="1">
            <a:off x="2997663" y="3446145"/>
            <a:ext cx="7929" cy="20003"/>
          </a:xfrm>
          <a:prstGeom prst="line">
            <a:avLst/>
          </a:prstGeom>
          <a:noFill/>
          <a:ln w="19050">
            <a:solidFill>
              <a:srgbClr val="2E8B57"/>
            </a:solidFill>
            <a:prstDash val="solid"/>
          </a:ln>
        </p:spPr>
      </p:sp>
      <p:sp>
        <p:nvSpPr>
          <p:cNvPr id="170" name="Shape 168"/>
          <p:cNvSpPr/>
          <p:nvPr/>
        </p:nvSpPr>
        <p:spPr>
          <a:xfrm flipH="1" flipV="1">
            <a:off x="2985797" y="3426143"/>
            <a:ext cx="11866" cy="20002"/>
          </a:xfrm>
          <a:prstGeom prst="line">
            <a:avLst/>
          </a:prstGeom>
          <a:noFill/>
          <a:ln w="19050">
            <a:solidFill>
              <a:srgbClr val="2E8B57"/>
            </a:solidFill>
            <a:prstDash val="solid"/>
          </a:ln>
        </p:spPr>
      </p:sp>
      <p:sp>
        <p:nvSpPr>
          <p:cNvPr id="171" name="Shape 169"/>
          <p:cNvSpPr/>
          <p:nvPr/>
        </p:nvSpPr>
        <p:spPr>
          <a:xfrm flipH="1" flipV="1">
            <a:off x="2971800" y="3406140"/>
            <a:ext cx="13997" cy="20003"/>
          </a:xfrm>
          <a:prstGeom prst="line">
            <a:avLst/>
          </a:prstGeom>
          <a:noFill/>
          <a:ln w="19050">
            <a:solidFill>
              <a:srgbClr val="2E8B57"/>
            </a:solidFill>
            <a:prstDash val="solid"/>
          </a:ln>
        </p:spPr>
      </p:sp>
      <p:sp>
        <p:nvSpPr>
          <p:cNvPr id="172" name="Shape 170"/>
          <p:cNvSpPr/>
          <p:nvPr/>
        </p:nvSpPr>
        <p:spPr>
          <a:xfrm flipH="1" flipV="1">
            <a:off x="2957803" y="3386138"/>
            <a:ext cx="13997" cy="20003"/>
          </a:xfrm>
          <a:prstGeom prst="line">
            <a:avLst/>
          </a:prstGeom>
          <a:noFill/>
          <a:ln w="19050">
            <a:solidFill>
              <a:srgbClr val="2E8B57"/>
            </a:solidFill>
            <a:prstDash val="solid"/>
          </a:ln>
        </p:spPr>
      </p:sp>
      <p:sp>
        <p:nvSpPr>
          <p:cNvPr id="173" name="Shape 171"/>
          <p:cNvSpPr/>
          <p:nvPr/>
        </p:nvSpPr>
        <p:spPr>
          <a:xfrm flipH="1" flipV="1">
            <a:off x="2945937" y="3366135"/>
            <a:ext cx="11866" cy="20003"/>
          </a:xfrm>
          <a:prstGeom prst="line">
            <a:avLst/>
          </a:prstGeom>
          <a:noFill/>
          <a:ln w="19050">
            <a:solidFill>
              <a:srgbClr val="2E8B57"/>
            </a:solidFill>
            <a:prstDash val="solid"/>
          </a:ln>
        </p:spPr>
      </p:sp>
      <p:sp>
        <p:nvSpPr>
          <p:cNvPr id="174" name="Shape 172"/>
          <p:cNvSpPr/>
          <p:nvPr/>
        </p:nvSpPr>
        <p:spPr>
          <a:xfrm flipH="1" flipV="1">
            <a:off x="2938008" y="3346133"/>
            <a:ext cx="7929" cy="20003"/>
          </a:xfrm>
          <a:prstGeom prst="line">
            <a:avLst/>
          </a:prstGeom>
          <a:noFill/>
          <a:ln w="19050">
            <a:solidFill>
              <a:srgbClr val="2E8B57"/>
            </a:solidFill>
            <a:prstDash val="solid"/>
          </a:ln>
        </p:spPr>
      </p:sp>
      <p:sp>
        <p:nvSpPr>
          <p:cNvPr id="175" name="Shape 173"/>
          <p:cNvSpPr/>
          <p:nvPr/>
        </p:nvSpPr>
        <p:spPr>
          <a:xfrm flipH="1" flipV="1">
            <a:off x="2935224" y="3326130"/>
            <a:ext cx="2784" cy="20002"/>
          </a:xfrm>
          <a:prstGeom prst="line">
            <a:avLst/>
          </a:prstGeom>
          <a:noFill/>
          <a:ln w="19050">
            <a:solidFill>
              <a:srgbClr val="2E8B57"/>
            </a:solidFill>
            <a:prstDash val="solid"/>
          </a:ln>
        </p:spPr>
      </p:sp>
      <p:sp>
        <p:nvSpPr>
          <p:cNvPr id="176" name="Shape 174"/>
          <p:cNvSpPr/>
          <p:nvPr/>
        </p:nvSpPr>
        <p:spPr>
          <a:xfrm flipV="1">
            <a:off x="2935224" y="3306128"/>
            <a:ext cx="2784" cy="20003"/>
          </a:xfrm>
          <a:prstGeom prst="line">
            <a:avLst/>
          </a:prstGeom>
          <a:noFill/>
          <a:ln w="19050">
            <a:solidFill>
              <a:srgbClr val="2E8B57"/>
            </a:solidFill>
            <a:prstDash val="solid"/>
          </a:ln>
        </p:spPr>
      </p:sp>
      <p:sp>
        <p:nvSpPr>
          <p:cNvPr id="177" name="Shape 175"/>
          <p:cNvSpPr/>
          <p:nvPr/>
        </p:nvSpPr>
        <p:spPr>
          <a:xfrm flipV="1">
            <a:off x="2938008" y="3286125"/>
            <a:ext cx="7929" cy="20003"/>
          </a:xfrm>
          <a:prstGeom prst="line">
            <a:avLst/>
          </a:prstGeom>
          <a:noFill/>
          <a:ln w="19050">
            <a:solidFill>
              <a:srgbClr val="2E8B57"/>
            </a:solidFill>
            <a:prstDash val="solid"/>
          </a:ln>
        </p:spPr>
      </p:sp>
      <p:sp>
        <p:nvSpPr>
          <p:cNvPr id="178" name="Shape 176"/>
          <p:cNvSpPr/>
          <p:nvPr/>
        </p:nvSpPr>
        <p:spPr>
          <a:xfrm flipV="1">
            <a:off x="2945937" y="3266123"/>
            <a:ext cx="11866" cy="20003"/>
          </a:xfrm>
          <a:prstGeom prst="line">
            <a:avLst/>
          </a:prstGeom>
          <a:noFill/>
          <a:ln w="19050">
            <a:solidFill>
              <a:srgbClr val="2E8B57"/>
            </a:solidFill>
            <a:prstDash val="solid"/>
          </a:ln>
        </p:spPr>
      </p:sp>
      <p:sp>
        <p:nvSpPr>
          <p:cNvPr id="179" name="Shape 177"/>
          <p:cNvSpPr/>
          <p:nvPr/>
        </p:nvSpPr>
        <p:spPr>
          <a:xfrm flipV="1">
            <a:off x="2957803" y="3246120"/>
            <a:ext cx="13997" cy="20003"/>
          </a:xfrm>
          <a:prstGeom prst="line">
            <a:avLst/>
          </a:prstGeom>
          <a:noFill/>
          <a:ln w="19050">
            <a:solidFill>
              <a:srgbClr val="2E8B57"/>
            </a:solidFill>
            <a:prstDash val="solid"/>
          </a:ln>
        </p:spPr>
      </p:sp>
      <p:sp>
        <p:nvSpPr>
          <p:cNvPr id="180" name="Shape 178"/>
          <p:cNvSpPr/>
          <p:nvPr/>
        </p:nvSpPr>
        <p:spPr>
          <a:xfrm flipV="1">
            <a:off x="2971800" y="3226118"/>
            <a:ext cx="13997" cy="20002"/>
          </a:xfrm>
          <a:prstGeom prst="line">
            <a:avLst/>
          </a:prstGeom>
          <a:noFill/>
          <a:ln w="19050">
            <a:solidFill>
              <a:srgbClr val="2E8B57"/>
            </a:solidFill>
            <a:prstDash val="solid"/>
          </a:ln>
        </p:spPr>
      </p:sp>
      <p:sp>
        <p:nvSpPr>
          <p:cNvPr id="181" name="Shape 179"/>
          <p:cNvSpPr/>
          <p:nvPr/>
        </p:nvSpPr>
        <p:spPr>
          <a:xfrm flipV="1">
            <a:off x="2985797" y="3206115"/>
            <a:ext cx="11866" cy="20003"/>
          </a:xfrm>
          <a:prstGeom prst="line">
            <a:avLst/>
          </a:prstGeom>
          <a:noFill/>
          <a:ln w="19050">
            <a:solidFill>
              <a:srgbClr val="2E8B57"/>
            </a:solidFill>
            <a:prstDash val="solid"/>
          </a:ln>
        </p:spPr>
      </p:sp>
      <p:sp>
        <p:nvSpPr>
          <p:cNvPr id="182" name="Shape 180"/>
          <p:cNvSpPr/>
          <p:nvPr/>
        </p:nvSpPr>
        <p:spPr>
          <a:xfrm flipV="1">
            <a:off x="2997663" y="3186113"/>
            <a:ext cx="7929" cy="20003"/>
          </a:xfrm>
          <a:prstGeom prst="line">
            <a:avLst/>
          </a:prstGeom>
          <a:noFill/>
          <a:ln w="19050">
            <a:solidFill>
              <a:srgbClr val="2E8B57"/>
            </a:solidFill>
            <a:prstDash val="solid"/>
          </a:ln>
        </p:spPr>
      </p:sp>
      <p:sp>
        <p:nvSpPr>
          <p:cNvPr id="183" name="Shape 181"/>
          <p:cNvSpPr/>
          <p:nvPr/>
        </p:nvSpPr>
        <p:spPr>
          <a:xfrm flipV="1">
            <a:off x="3005592" y="3166110"/>
            <a:ext cx="2784" cy="20003"/>
          </a:xfrm>
          <a:prstGeom prst="line">
            <a:avLst/>
          </a:prstGeom>
          <a:noFill/>
          <a:ln w="19050">
            <a:solidFill>
              <a:srgbClr val="2E8B57"/>
            </a:solidFill>
            <a:prstDash val="solid"/>
          </a:ln>
        </p:spPr>
      </p:sp>
      <p:sp>
        <p:nvSpPr>
          <p:cNvPr id="184" name="Shape 182"/>
          <p:cNvSpPr/>
          <p:nvPr/>
        </p:nvSpPr>
        <p:spPr>
          <a:xfrm flipH="1" flipV="1">
            <a:off x="3005592" y="3146108"/>
            <a:ext cx="2784" cy="20003"/>
          </a:xfrm>
          <a:prstGeom prst="line">
            <a:avLst/>
          </a:prstGeom>
          <a:noFill/>
          <a:ln w="19050">
            <a:solidFill>
              <a:srgbClr val="2E8B57"/>
            </a:solidFill>
            <a:prstDash val="solid"/>
          </a:ln>
        </p:spPr>
      </p:sp>
      <p:sp>
        <p:nvSpPr>
          <p:cNvPr id="185" name="Shape 183"/>
          <p:cNvSpPr/>
          <p:nvPr/>
        </p:nvSpPr>
        <p:spPr>
          <a:xfrm flipH="1" flipV="1">
            <a:off x="2997663" y="3126105"/>
            <a:ext cx="7929" cy="20002"/>
          </a:xfrm>
          <a:prstGeom prst="line">
            <a:avLst/>
          </a:prstGeom>
          <a:noFill/>
          <a:ln w="19050">
            <a:solidFill>
              <a:srgbClr val="2E8B57"/>
            </a:solidFill>
            <a:prstDash val="solid"/>
          </a:ln>
        </p:spPr>
      </p:sp>
      <p:sp>
        <p:nvSpPr>
          <p:cNvPr id="186" name="Shape 184"/>
          <p:cNvSpPr/>
          <p:nvPr/>
        </p:nvSpPr>
        <p:spPr>
          <a:xfrm flipH="1" flipV="1">
            <a:off x="2985797" y="3106103"/>
            <a:ext cx="11866" cy="20003"/>
          </a:xfrm>
          <a:prstGeom prst="line">
            <a:avLst/>
          </a:prstGeom>
          <a:noFill/>
          <a:ln w="19050">
            <a:solidFill>
              <a:srgbClr val="2E8B57"/>
            </a:solidFill>
            <a:prstDash val="solid"/>
          </a:ln>
        </p:spPr>
      </p:sp>
      <p:sp>
        <p:nvSpPr>
          <p:cNvPr id="187" name="Shape 185"/>
          <p:cNvSpPr/>
          <p:nvPr/>
        </p:nvSpPr>
        <p:spPr>
          <a:xfrm flipH="1" flipV="1">
            <a:off x="2971800" y="3086100"/>
            <a:ext cx="13997" cy="20003"/>
          </a:xfrm>
          <a:prstGeom prst="line">
            <a:avLst/>
          </a:prstGeom>
          <a:noFill/>
          <a:ln w="19050">
            <a:solidFill>
              <a:srgbClr val="2E8B57"/>
            </a:solidFill>
            <a:prstDash val="solid"/>
          </a:ln>
        </p:spPr>
      </p:sp>
      <p:sp>
        <p:nvSpPr>
          <p:cNvPr id="188" name="Shape 186"/>
          <p:cNvSpPr/>
          <p:nvPr/>
        </p:nvSpPr>
        <p:spPr>
          <a:xfrm flipH="1" flipV="1">
            <a:off x="2957803" y="3066098"/>
            <a:ext cx="13997" cy="20003"/>
          </a:xfrm>
          <a:prstGeom prst="line">
            <a:avLst/>
          </a:prstGeom>
          <a:noFill/>
          <a:ln w="19050">
            <a:solidFill>
              <a:srgbClr val="2E8B57"/>
            </a:solidFill>
            <a:prstDash val="solid"/>
          </a:ln>
        </p:spPr>
      </p:sp>
      <p:sp>
        <p:nvSpPr>
          <p:cNvPr id="189" name="Shape 187"/>
          <p:cNvSpPr/>
          <p:nvPr/>
        </p:nvSpPr>
        <p:spPr>
          <a:xfrm flipH="1" flipV="1">
            <a:off x="2945937" y="3046095"/>
            <a:ext cx="11866" cy="20003"/>
          </a:xfrm>
          <a:prstGeom prst="line">
            <a:avLst/>
          </a:prstGeom>
          <a:noFill/>
          <a:ln w="19050">
            <a:solidFill>
              <a:srgbClr val="2E8B57"/>
            </a:solidFill>
            <a:prstDash val="solid"/>
          </a:ln>
        </p:spPr>
      </p:sp>
      <p:sp>
        <p:nvSpPr>
          <p:cNvPr id="190" name="Shape 188"/>
          <p:cNvSpPr/>
          <p:nvPr/>
        </p:nvSpPr>
        <p:spPr>
          <a:xfrm flipH="1" flipV="1">
            <a:off x="2938008" y="3026093"/>
            <a:ext cx="7929" cy="20002"/>
          </a:xfrm>
          <a:prstGeom prst="line">
            <a:avLst/>
          </a:prstGeom>
          <a:noFill/>
          <a:ln w="19050">
            <a:solidFill>
              <a:srgbClr val="2E8B57"/>
            </a:solidFill>
            <a:prstDash val="solid"/>
          </a:ln>
        </p:spPr>
      </p:sp>
      <p:sp>
        <p:nvSpPr>
          <p:cNvPr id="191" name="Shape 189"/>
          <p:cNvSpPr/>
          <p:nvPr/>
        </p:nvSpPr>
        <p:spPr>
          <a:xfrm flipH="1" flipV="1">
            <a:off x="2935224" y="3006090"/>
            <a:ext cx="2784" cy="20003"/>
          </a:xfrm>
          <a:prstGeom prst="line">
            <a:avLst/>
          </a:prstGeom>
          <a:noFill/>
          <a:ln w="19050">
            <a:solidFill>
              <a:srgbClr val="2E8B57"/>
            </a:solidFill>
            <a:prstDash val="solid"/>
          </a:ln>
        </p:spPr>
      </p:sp>
      <p:sp>
        <p:nvSpPr>
          <p:cNvPr id="192" name="Shape 190"/>
          <p:cNvSpPr/>
          <p:nvPr/>
        </p:nvSpPr>
        <p:spPr>
          <a:xfrm flipV="1">
            <a:off x="2935224" y="2986088"/>
            <a:ext cx="2784" cy="20003"/>
          </a:xfrm>
          <a:prstGeom prst="line">
            <a:avLst/>
          </a:prstGeom>
          <a:noFill/>
          <a:ln w="19050">
            <a:solidFill>
              <a:srgbClr val="2E8B57"/>
            </a:solidFill>
            <a:prstDash val="solid"/>
          </a:ln>
        </p:spPr>
      </p:sp>
      <p:sp>
        <p:nvSpPr>
          <p:cNvPr id="193" name="Shape 191"/>
          <p:cNvSpPr/>
          <p:nvPr/>
        </p:nvSpPr>
        <p:spPr>
          <a:xfrm flipV="1">
            <a:off x="2938008" y="2966085"/>
            <a:ext cx="7929" cy="20002"/>
          </a:xfrm>
          <a:prstGeom prst="line">
            <a:avLst/>
          </a:prstGeom>
          <a:noFill/>
          <a:ln w="19050">
            <a:solidFill>
              <a:srgbClr val="2E8B57"/>
            </a:solidFill>
            <a:prstDash val="solid"/>
          </a:ln>
        </p:spPr>
      </p:sp>
      <p:sp>
        <p:nvSpPr>
          <p:cNvPr id="194" name="Shape 192"/>
          <p:cNvSpPr/>
          <p:nvPr/>
        </p:nvSpPr>
        <p:spPr>
          <a:xfrm flipV="1">
            <a:off x="2945937" y="2946083"/>
            <a:ext cx="11866" cy="20003"/>
          </a:xfrm>
          <a:prstGeom prst="line">
            <a:avLst/>
          </a:prstGeom>
          <a:noFill/>
          <a:ln w="19050">
            <a:solidFill>
              <a:srgbClr val="2E8B57"/>
            </a:solidFill>
            <a:prstDash val="solid"/>
          </a:ln>
        </p:spPr>
      </p:sp>
      <p:sp>
        <p:nvSpPr>
          <p:cNvPr id="195" name="Shape 193"/>
          <p:cNvSpPr/>
          <p:nvPr/>
        </p:nvSpPr>
        <p:spPr>
          <a:xfrm flipV="1">
            <a:off x="2957803" y="2926080"/>
            <a:ext cx="13997" cy="20002"/>
          </a:xfrm>
          <a:prstGeom prst="line">
            <a:avLst/>
          </a:prstGeom>
          <a:noFill/>
          <a:ln w="19050">
            <a:solidFill>
              <a:srgbClr val="2E8B57"/>
            </a:solidFill>
            <a:prstDash val="solid"/>
          </a:ln>
        </p:spPr>
      </p:sp>
      <p:sp>
        <p:nvSpPr>
          <p:cNvPr id="196" name="Shape 194"/>
          <p:cNvSpPr/>
          <p:nvPr/>
        </p:nvSpPr>
        <p:spPr>
          <a:xfrm flipV="1">
            <a:off x="2971800" y="2906078"/>
            <a:ext cx="13997" cy="20003"/>
          </a:xfrm>
          <a:prstGeom prst="line">
            <a:avLst/>
          </a:prstGeom>
          <a:noFill/>
          <a:ln w="19050">
            <a:solidFill>
              <a:srgbClr val="2E8B57"/>
            </a:solidFill>
            <a:prstDash val="solid"/>
          </a:ln>
        </p:spPr>
      </p:sp>
      <p:sp>
        <p:nvSpPr>
          <p:cNvPr id="197" name="Shape 195"/>
          <p:cNvSpPr/>
          <p:nvPr/>
        </p:nvSpPr>
        <p:spPr>
          <a:xfrm flipV="1">
            <a:off x="2985797" y="2886075"/>
            <a:ext cx="11866" cy="20003"/>
          </a:xfrm>
          <a:prstGeom prst="line">
            <a:avLst/>
          </a:prstGeom>
          <a:noFill/>
          <a:ln w="19050">
            <a:solidFill>
              <a:srgbClr val="2E8B57"/>
            </a:solidFill>
            <a:prstDash val="solid"/>
          </a:ln>
        </p:spPr>
      </p:sp>
      <p:sp>
        <p:nvSpPr>
          <p:cNvPr id="198" name="Shape 196"/>
          <p:cNvSpPr/>
          <p:nvPr/>
        </p:nvSpPr>
        <p:spPr>
          <a:xfrm flipV="1">
            <a:off x="2997663" y="2866073"/>
            <a:ext cx="7929" cy="20002"/>
          </a:xfrm>
          <a:prstGeom prst="line">
            <a:avLst/>
          </a:prstGeom>
          <a:noFill/>
          <a:ln w="19050">
            <a:solidFill>
              <a:srgbClr val="2E8B57"/>
            </a:solidFill>
            <a:prstDash val="solid"/>
          </a:ln>
        </p:spPr>
      </p:sp>
      <p:sp>
        <p:nvSpPr>
          <p:cNvPr id="199" name="Shape 197"/>
          <p:cNvSpPr/>
          <p:nvPr/>
        </p:nvSpPr>
        <p:spPr>
          <a:xfrm flipV="1">
            <a:off x="3005592" y="2846070"/>
            <a:ext cx="2784" cy="20003"/>
          </a:xfrm>
          <a:prstGeom prst="line">
            <a:avLst/>
          </a:prstGeom>
          <a:noFill/>
          <a:ln w="19050">
            <a:solidFill>
              <a:srgbClr val="2E8B57"/>
            </a:solidFill>
            <a:prstDash val="solid"/>
          </a:ln>
        </p:spPr>
      </p:sp>
      <p:sp>
        <p:nvSpPr>
          <p:cNvPr id="200" name="Shape 198"/>
          <p:cNvSpPr/>
          <p:nvPr/>
        </p:nvSpPr>
        <p:spPr>
          <a:xfrm flipH="1" flipV="1">
            <a:off x="3005592" y="2826068"/>
            <a:ext cx="2784" cy="20002"/>
          </a:xfrm>
          <a:prstGeom prst="line">
            <a:avLst/>
          </a:prstGeom>
          <a:noFill/>
          <a:ln w="19050">
            <a:solidFill>
              <a:srgbClr val="2E8B57"/>
            </a:solidFill>
            <a:prstDash val="solid"/>
          </a:ln>
        </p:spPr>
      </p:sp>
      <p:sp>
        <p:nvSpPr>
          <p:cNvPr id="201" name="Shape 199"/>
          <p:cNvSpPr/>
          <p:nvPr/>
        </p:nvSpPr>
        <p:spPr>
          <a:xfrm flipH="1" flipV="1">
            <a:off x="2997663" y="2806065"/>
            <a:ext cx="7929" cy="20003"/>
          </a:xfrm>
          <a:prstGeom prst="line">
            <a:avLst/>
          </a:prstGeom>
          <a:noFill/>
          <a:ln w="19050">
            <a:solidFill>
              <a:srgbClr val="2E8B57"/>
            </a:solidFill>
            <a:prstDash val="solid"/>
          </a:ln>
        </p:spPr>
      </p:sp>
      <p:sp>
        <p:nvSpPr>
          <p:cNvPr id="202" name="Shape 200"/>
          <p:cNvSpPr/>
          <p:nvPr/>
        </p:nvSpPr>
        <p:spPr>
          <a:xfrm flipH="1" flipV="1">
            <a:off x="2985797" y="2786063"/>
            <a:ext cx="11866" cy="20003"/>
          </a:xfrm>
          <a:prstGeom prst="line">
            <a:avLst/>
          </a:prstGeom>
          <a:noFill/>
          <a:ln w="19050">
            <a:solidFill>
              <a:srgbClr val="2E8B57"/>
            </a:solidFill>
            <a:prstDash val="solid"/>
          </a:ln>
        </p:spPr>
      </p:sp>
      <p:sp>
        <p:nvSpPr>
          <p:cNvPr id="203" name="Shape 201"/>
          <p:cNvSpPr/>
          <p:nvPr/>
        </p:nvSpPr>
        <p:spPr>
          <a:xfrm flipH="1" flipV="1">
            <a:off x="2971800" y="2766060"/>
            <a:ext cx="13997" cy="20002"/>
          </a:xfrm>
          <a:prstGeom prst="line">
            <a:avLst/>
          </a:prstGeom>
          <a:noFill/>
          <a:ln w="19050">
            <a:solidFill>
              <a:srgbClr val="2E8B57"/>
            </a:solidFill>
            <a:prstDash val="solid"/>
          </a:ln>
        </p:spPr>
      </p:sp>
      <p:sp>
        <p:nvSpPr>
          <p:cNvPr id="204" name="Shape 202"/>
          <p:cNvSpPr/>
          <p:nvPr/>
        </p:nvSpPr>
        <p:spPr>
          <a:xfrm flipH="1" flipV="1">
            <a:off x="2957803" y="2746058"/>
            <a:ext cx="13997" cy="20003"/>
          </a:xfrm>
          <a:prstGeom prst="line">
            <a:avLst/>
          </a:prstGeom>
          <a:noFill/>
          <a:ln w="19050">
            <a:solidFill>
              <a:srgbClr val="2E8B57"/>
            </a:solidFill>
            <a:prstDash val="solid"/>
          </a:ln>
        </p:spPr>
      </p:sp>
      <p:sp>
        <p:nvSpPr>
          <p:cNvPr id="205" name="Shape 203"/>
          <p:cNvSpPr/>
          <p:nvPr/>
        </p:nvSpPr>
        <p:spPr>
          <a:xfrm flipH="1" flipV="1">
            <a:off x="2945937" y="2726055"/>
            <a:ext cx="11866" cy="20002"/>
          </a:xfrm>
          <a:prstGeom prst="line">
            <a:avLst/>
          </a:prstGeom>
          <a:noFill/>
          <a:ln w="19050">
            <a:solidFill>
              <a:srgbClr val="2E8B57"/>
            </a:solidFill>
            <a:prstDash val="solid"/>
          </a:ln>
        </p:spPr>
      </p:sp>
      <p:sp>
        <p:nvSpPr>
          <p:cNvPr id="206" name="Shape 204"/>
          <p:cNvSpPr/>
          <p:nvPr/>
        </p:nvSpPr>
        <p:spPr>
          <a:xfrm flipH="1" flipV="1">
            <a:off x="2938008" y="2706053"/>
            <a:ext cx="7929" cy="20003"/>
          </a:xfrm>
          <a:prstGeom prst="line">
            <a:avLst/>
          </a:prstGeom>
          <a:noFill/>
          <a:ln w="19050">
            <a:solidFill>
              <a:srgbClr val="2E8B57"/>
            </a:solidFill>
            <a:prstDash val="solid"/>
          </a:ln>
        </p:spPr>
      </p:sp>
      <p:sp>
        <p:nvSpPr>
          <p:cNvPr id="207" name="Shape 205"/>
          <p:cNvSpPr/>
          <p:nvPr/>
        </p:nvSpPr>
        <p:spPr>
          <a:xfrm flipH="1" flipV="1">
            <a:off x="2935224" y="2686050"/>
            <a:ext cx="2784" cy="20003"/>
          </a:xfrm>
          <a:prstGeom prst="line">
            <a:avLst/>
          </a:prstGeom>
          <a:noFill/>
          <a:ln w="19050">
            <a:solidFill>
              <a:srgbClr val="2E8B57"/>
            </a:solidFill>
            <a:prstDash val="solid"/>
          </a:ln>
        </p:spPr>
      </p:sp>
      <p:sp>
        <p:nvSpPr>
          <p:cNvPr id="208" name="Shape 206"/>
          <p:cNvSpPr/>
          <p:nvPr/>
        </p:nvSpPr>
        <p:spPr>
          <a:xfrm flipV="1">
            <a:off x="2935224" y="2666048"/>
            <a:ext cx="2784" cy="20002"/>
          </a:xfrm>
          <a:prstGeom prst="line">
            <a:avLst/>
          </a:prstGeom>
          <a:noFill/>
          <a:ln w="19050">
            <a:solidFill>
              <a:srgbClr val="2E8B57"/>
            </a:solidFill>
            <a:prstDash val="solid"/>
          </a:ln>
        </p:spPr>
      </p:sp>
      <p:sp>
        <p:nvSpPr>
          <p:cNvPr id="209" name="Shape 207"/>
          <p:cNvSpPr/>
          <p:nvPr/>
        </p:nvSpPr>
        <p:spPr>
          <a:xfrm flipV="1">
            <a:off x="2938008" y="2646045"/>
            <a:ext cx="7929" cy="20003"/>
          </a:xfrm>
          <a:prstGeom prst="line">
            <a:avLst/>
          </a:prstGeom>
          <a:noFill/>
          <a:ln w="19050">
            <a:solidFill>
              <a:srgbClr val="2E8B57"/>
            </a:solidFill>
            <a:prstDash val="solid"/>
          </a:ln>
        </p:spPr>
      </p:sp>
      <p:sp>
        <p:nvSpPr>
          <p:cNvPr id="210" name="Shape 208"/>
          <p:cNvSpPr/>
          <p:nvPr/>
        </p:nvSpPr>
        <p:spPr>
          <a:xfrm flipV="1">
            <a:off x="2945937" y="2626043"/>
            <a:ext cx="11866" cy="20002"/>
          </a:xfrm>
          <a:prstGeom prst="line">
            <a:avLst/>
          </a:prstGeom>
          <a:noFill/>
          <a:ln w="19050">
            <a:solidFill>
              <a:srgbClr val="2E8B57"/>
            </a:solidFill>
            <a:prstDash val="solid"/>
          </a:ln>
        </p:spPr>
      </p:sp>
      <p:sp>
        <p:nvSpPr>
          <p:cNvPr id="211" name="Shape 209"/>
          <p:cNvSpPr/>
          <p:nvPr/>
        </p:nvSpPr>
        <p:spPr>
          <a:xfrm flipV="1">
            <a:off x="2957803" y="2606040"/>
            <a:ext cx="13997" cy="20003"/>
          </a:xfrm>
          <a:prstGeom prst="line">
            <a:avLst/>
          </a:prstGeom>
          <a:noFill/>
          <a:ln w="19050">
            <a:solidFill>
              <a:srgbClr val="2E8B57"/>
            </a:solidFill>
            <a:prstDash val="solid"/>
          </a:ln>
        </p:spPr>
      </p:sp>
      <p:sp>
        <p:nvSpPr>
          <p:cNvPr id="212" name="Shape 210"/>
          <p:cNvSpPr/>
          <p:nvPr/>
        </p:nvSpPr>
        <p:spPr>
          <a:xfrm flipV="1">
            <a:off x="3200400" y="3866198"/>
            <a:ext cx="13997" cy="20002"/>
          </a:xfrm>
          <a:prstGeom prst="line">
            <a:avLst/>
          </a:prstGeom>
          <a:noFill/>
          <a:ln w="19050">
            <a:solidFill>
              <a:srgbClr val="2E8B57"/>
            </a:solidFill>
            <a:prstDash val="solid"/>
          </a:ln>
        </p:spPr>
      </p:sp>
      <p:sp>
        <p:nvSpPr>
          <p:cNvPr id="213" name="Shape 211"/>
          <p:cNvSpPr/>
          <p:nvPr/>
        </p:nvSpPr>
        <p:spPr>
          <a:xfrm flipV="1">
            <a:off x="3214397" y="3846195"/>
            <a:ext cx="11866" cy="20003"/>
          </a:xfrm>
          <a:prstGeom prst="line">
            <a:avLst/>
          </a:prstGeom>
          <a:noFill/>
          <a:ln w="19050">
            <a:solidFill>
              <a:srgbClr val="2E8B57"/>
            </a:solidFill>
            <a:prstDash val="solid"/>
          </a:ln>
        </p:spPr>
      </p:sp>
      <p:sp>
        <p:nvSpPr>
          <p:cNvPr id="214" name="Shape 212"/>
          <p:cNvSpPr/>
          <p:nvPr/>
        </p:nvSpPr>
        <p:spPr>
          <a:xfrm flipV="1">
            <a:off x="3226263" y="3826193"/>
            <a:ext cx="7929" cy="20002"/>
          </a:xfrm>
          <a:prstGeom prst="line">
            <a:avLst/>
          </a:prstGeom>
          <a:noFill/>
          <a:ln w="19050">
            <a:solidFill>
              <a:srgbClr val="2E8B57"/>
            </a:solidFill>
            <a:prstDash val="solid"/>
          </a:ln>
        </p:spPr>
      </p:sp>
      <p:sp>
        <p:nvSpPr>
          <p:cNvPr id="215" name="Shape 213"/>
          <p:cNvSpPr/>
          <p:nvPr/>
        </p:nvSpPr>
        <p:spPr>
          <a:xfrm flipV="1">
            <a:off x="3234192" y="3806190"/>
            <a:ext cx="2784" cy="20003"/>
          </a:xfrm>
          <a:prstGeom prst="line">
            <a:avLst/>
          </a:prstGeom>
          <a:noFill/>
          <a:ln w="19050">
            <a:solidFill>
              <a:srgbClr val="2E8B57"/>
            </a:solidFill>
            <a:prstDash val="solid"/>
          </a:ln>
        </p:spPr>
      </p:sp>
      <p:sp>
        <p:nvSpPr>
          <p:cNvPr id="216" name="Shape 214"/>
          <p:cNvSpPr/>
          <p:nvPr/>
        </p:nvSpPr>
        <p:spPr>
          <a:xfrm flipH="1" flipV="1">
            <a:off x="3234192" y="3786188"/>
            <a:ext cx="2784" cy="20002"/>
          </a:xfrm>
          <a:prstGeom prst="line">
            <a:avLst/>
          </a:prstGeom>
          <a:noFill/>
          <a:ln w="19050">
            <a:solidFill>
              <a:srgbClr val="2E8B57"/>
            </a:solidFill>
            <a:prstDash val="solid"/>
          </a:ln>
        </p:spPr>
      </p:sp>
      <p:sp>
        <p:nvSpPr>
          <p:cNvPr id="217" name="Shape 215"/>
          <p:cNvSpPr/>
          <p:nvPr/>
        </p:nvSpPr>
        <p:spPr>
          <a:xfrm flipH="1" flipV="1">
            <a:off x="3226263" y="3766185"/>
            <a:ext cx="7929" cy="20002"/>
          </a:xfrm>
          <a:prstGeom prst="line">
            <a:avLst/>
          </a:prstGeom>
          <a:noFill/>
          <a:ln w="19050">
            <a:solidFill>
              <a:srgbClr val="2E8B57"/>
            </a:solidFill>
            <a:prstDash val="solid"/>
          </a:ln>
        </p:spPr>
      </p:sp>
      <p:sp>
        <p:nvSpPr>
          <p:cNvPr id="218" name="Shape 216"/>
          <p:cNvSpPr/>
          <p:nvPr/>
        </p:nvSpPr>
        <p:spPr>
          <a:xfrm flipH="1" flipV="1">
            <a:off x="3214397" y="3746183"/>
            <a:ext cx="11866" cy="20003"/>
          </a:xfrm>
          <a:prstGeom prst="line">
            <a:avLst/>
          </a:prstGeom>
          <a:noFill/>
          <a:ln w="19050">
            <a:solidFill>
              <a:srgbClr val="2E8B57"/>
            </a:solidFill>
            <a:prstDash val="solid"/>
          </a:ln>
        </p:spPr>
      </p:sp>
      <p:sp>
        <p:nvSpPr>
          <p:cNvPr id="219" name="Shape 217"/>
          <p:cNvSpPr/>
          <p:nvPr/>
        </p:nvSpPr>
        <p:spPr>
          <a:xfrm flipH="1" flipV="1">
            <a:off x="3200400" y="3726180"/>
            <a:ext cx="13997" cy="20002"/>
          </a:xfrm>
          <a:prstGeom prst="line">
            <a:avLst/>
          </a:prstGeom>
          <a:noFill/>
          <a:ln w="19050">
            <a:solidFill>
              <a:srgbClr val="2E8B57"/>
            </a:solidFill>
            <a:prstDash val="solid"/>
          </a:ln>
        </p:spPr>
      </p:sp>
      <p:sp>
        <p:nvSpPr>
          <p:cNvPr id="220" name="Shape 218"/>
          <p:cNvSpPr/>
          <p:nvPr/>
        </p:nvSpPr>
        <p:spPr>
          <a:xfrm flipH="1" flipV="1">
            <a:off x="3186403" y="3706177"/>
            <a:ext cx="13997" cy="20003"/>
          </a:xfrm>
          <a:prstGeom prst="line">
            <a:avLst/>
          </a:prstGeom>
          <a:noFill/>
          <a:ln w="19050">
            <a:solidFill>
              <a:srgbClr val="2E8B57"/>
            </a:solidFill>
            <a:prstDash val="solid"/>
          </a:ln>
        </p:spPr>
      </p:sp>
      <p:sp>
        <p:nvSpPr>
          <p:cNvPr id="221" name="Shape 219"/>
          <p:cNvSpPr/>
          <p:nvPr/>
        </p:nvSpPr>
        <p:spPr>
          <a:xfrm flipH="1" flipV="1">
            <a:off x="3174537" y="3686175"/>
            <a:ext cx="11866" cy="20002"/>
          </a:xfrm>
          <a:prstGeom prst="line">
            <a:avLst/>
          </a:prstGeom>
          <a:noFill/>
          <a:ln w="19050">
            <a:solidFill>
              <a:srgbClr val="2E8B57"/>
            </a:solidFill>
            <a:prstDash val="solid"/>
          </a:ln>
        </p:spPr>
      </p:sp>
      <p:sp>
        <p:nvSpPr>
          <p:cNvPr id="222" name="Shape 220"/>
          <p:cNvSpPr/>
          <p:nvPr/>
        </p:nvSpPr>
        <p:spPr>
          <a:xfrm flipH="1" flipV="1">
            <a:off x="3166608" y="3666173"/>
            <a:ext cx="7929" cy="20002"/>
          </a:xfrm>
          <a:prstGeom prst="line">
            <a:avLst/>
          </a:prstGeom>
          <a:noFill/>
          <a:ln w="19050">
            <a:solidFill>
              <a:srgbClr val="2E8B57"/>
            </a:solidFill>
            <a:prstDash val="solid"/>
          </a:ln>
        </p:spPr>
      </p:sp>
      <p:sp>
        <p:nvSpPr>
          <p:cNvPr id="223" name="Shape 221"/>
          <p:cNvSpPr/>
          <p:nvPr/>
        </p:nvSpPr>
        <p:spPr>
          <a:xfrm flipH="1" flipV="1">
            <a:off x="3163824" y="3646170"/>
            <a:ext cx="2784" cy="20003"/>
          </a:xfrm>
          <a:prstGeom prst="line">
            <a:avLst/>
          </a:prstGeom>
          <a:noFill/>
          <a:ln w="19050">
            <a:solidFill>
              <a:srgbClr val="2E8B57"/>
            </a:solidFill>
            <a:prstDash val="solid"/>
          </a:ln>
        </p:spPr>
      </p:sp>
      <p:sp>
        <p:nvSpPr>
          <p:cNvPr id="224" name="Shape 222"/>
          <p:cNvSpPr/>
          <p:nvPr/>
        </p:nvSpPr>
        <p:spPr>
          <a:xfrm flipV="1">
            <a:off x="3163824" y="3626168"/>
            <a:ext cx="2784" cy="20002"/>
          </a:xfrm>
          <a:prstGeom prst="line">
            <a:avLst/>
          </a:prstGeom>
          <a:noFill/>
          <a:ln w="19050">
            <a:solidFill>
              <a:srgbClr val="2E8B57"/>
            </a:solidFill>
            <a:prstDash val="solid"/>
          </a:ln>
        </p:spPr>
      </p:sp>
      <p:sp>
        <p:nvSpPr>
          <p:cNvPr id="225" name="Shape 223"/>
          <p:cNvSpPr/>
          <p:nvPr/>
        </p:nvSpPr>
        <p:spPr>
          <a:xfrm flipV="1">
            <a:off x="3166608" y="3606165"/>
            <a:ext cx="7929" cy="20003"/>
          </a:xfrm>
          <a:prstGeom prst="line">
            <a:avLst/>
          </a:prstGeom>
          <a:noFill/>
          <a:ln w="19050">
            <a:solidFill>
              <a:srgbClr val="2E8B57"/>
            </a:solidFill>
            <a:prstDash val="solid"/>
          </a:ln>
        </p:spPr>
      </p:sp>
      <p:sp>
        <p:nvSpPr>
          <p:cNvPr id="226" name="Shape 224"/>
          <p:cNvSpPr/>
          <p:nvPr/>
        </p:nvSpPr>
        <p:spPr>
          <a:xfrm flipV="1">
            <a:off x="3174537" y="3586163"/>
            <a:ext cx="11866" cy="20003"/>
          </a:xfrm>
          <a:prstGeom prst="line">
            <a:avLst/>
          </a:prstGeom>
          <a:noFill/>
          <a:ln w="19050">
            <a:solidFill>
              <a:srgbClr val="2E8B57"/>
            </a:solidFill>
            <a:prstDash val="solid"/>
          </a:ln>
        </p:spPr>
      </p:sp>
      <p:sp>
        <p:nvSpPr>
          <p:cNvPr id="227" name="Shape 225"/>
          <p:cNvSpPr/>
          <p:nvPr/>
        </p:nvSpPr>
        <p:spPr>
          <a:xfrm flipV="1">
            <a:off x="3186403" y="3566160"/>
            <a:ext cx="13997" cy="20003"/>
          </a:xfrm>
          <a:prstGeom prst="line">
            <a:avLst/>
          </a:prstGeom>
          <a:noFill/>
          <a:ln w="19050">
            <a:solidFill>
              <a:srgbClr val="2E8B57"/>
            </a:solidFill>
            <a:prstDash val="solid"/>
          </a:ln>
        </p:spPr>
      </p:sp>
      <p:sp>
        <p:nvSpPr>
          <p:cNvPr id="228" name="Shape 226"/>
          <p:cNvSpPr/>
          <p:nvPr/>
        </p:nvSpPr>
        <p:spPr>
          <a:xfrm flipV="1">
            <a:off x="3200400" y="3546158"/>
            <a:ext cx="13997" cy="20003"/>
          </a:xfrm>
          <a:prstGeom prst="line">
            <a:avLst/>
          </a:prstGeom>
          <a:noFill/>
          <a:ln w="19050">
            <a:solidFill>
              <a:srgbClr val="2E8B57"/>
            </a:solidFill>
            <a:prstDash val="solid"/>
          </a:ln>
        </p:spPr>
      </p:sp>
      <p:sp>
        <p:nvSpPr>
          <p:cNvPr id="229" name="Shape 227"/>
          <p:cNvSpPr/>
          <p:nvPr/>
        </p:nvSpPr>
        <p:spPr>
          <a:xfrm flipV="1">
            <a:off x="3214397" y="3526155"/>
            <a:ext cx="11866" cy="20002"/>
          </a:xfrm>
          <a:prstGeom prst="line">
            <a:avLst/>
          </a:prstGeom>
          <a:noFill/>
          <a:ln w="19050">
            <a:solidFill>
              <a:srgbClr val="2E8B57"/>
            </a:solidFill>
            <a:prstDash val="solid"/>
          </a:ln>
        </p:spPr>
      </p:sp>
      <p:sp>
        <p:nvSpPr>
          <p:cNvPr id="230" name="Shape 228"/>
          <p:cNvSpPr/>
          <p:nvPr/>
        </p:nvSpPr>
        <p:spPr>
          <a:xfrm flipV="1">
            <a:off x="3226263" y="3506153"/>
            <a:ext cx="7929" cy="20003"/>
          </a:xfrm>
          <a:prstGeom prst="line">
            <a:avLst/>
          </a:prstGeom>
          <a:noFill/>
          <a:ln w="19050">
            <a:solidFill>
              <a:srgbClr val="2E8B57"/>
            </a:solidFill>
            <a:prstDash val="solid"/>
          </a:ln>
        </p:spPr>
      </p:sp>
      <p:sp>
        <p:nvSpPr>
          <p:cNvPr id="231" name="Shape 229"/>
          <p:cNvSpPr/>
          <p:nvPr/>
        </p:nvSpPr>
        <p:spPr>
          <a:xfrm flipV="1">
            <a:off x="3234192" y="3486150"/>
            <a:ext cx="2784" cy="20003"/>
          </a:xfrm>
          <a:prstGeom prst="line">
            <a:avLst/>
          </a:prstGeom>
          <a:noFill/>
          <a:ln w="19050">
            <a:solidFill>
              <a:srgbClr val="2E8B57"/>
            </a:solidFill>
            <a:prstDash val="solid"/>
          </a:ln>
        </p:spPr>
      </p:sp>
      <p:sp>
        <p:nvSpPr>
          <p:cNvPr id="232" name="Shape 230"/>
          <p:cNvSpPr/>
          <p:nvPr/>
        </p:nvSpPr>
        <p:spPr>
          <a:xfrm flipH="1" flipV="1">
            <a:off x="3234192" y="3466148"/>
            <a:ext cx="2784" cy="20003"/>
          </a:xfrm>
          <a:prstGeom prst="line">
            <a:avLst/>
          </a:prstGeom>
          <a:noFill/>
          <a:ln w="19050">
            <a:solidFill>
              <a:srgbClr val="2E8B57"/>
            </a:solidFill>
            <a:prstDash val="solid"/>
          </a:ln>
        </p:spPr>
      </p:sp>
      <p:sp>
        <p:nvSpPr>
          <p:cNvPr id="233" name="Shape 231"/>
          <p:cNvSpPr/>
          <p:nvPr/>
        </p:nvSpPr>
        <p:spPr>
          <a:xfrm flipH="1" flipV="1">
            <a:off x="3226263" y="3446145"/>
            <a:ext cx="7929" cy="20003"/>
          </a:xfrm>
          <a:prstGeom prst="line">
            <a:avLst/>
          </a:prstGeom>
          <a:noFill/>
          <a:ln w="19050">
            <a:solidFill>
              <a:srgbClr val="2E8B57"/>
            </a:solidFill>
            <a:prstDash val="solid"/>
          </a:ln>
        </p:spPr>
      </p:sp>
      <p:sp>
        <p:nvSpPr>
          <p:cNvPr id="234" name="Shape 232"/>
          <p:cNvSpPr/>
          <p:nvPr/>
        </p:nvSpPr>
        <p:spPr>
          <a:xfrm flipH="1" flipV="1">
            <a:off x="3214397" y="3426143"/>
            <a:ext cx="11866" cy="20002"/>
          </a:xfrm>
          <a:prstGeom prst="line">
            <a:avLst/>
          </a:prstGeom>
          <a:noFill/>
          <a:ln w="19050">
            <a:solidFill>
              <a:srgbClr val="2E8B57"/>
            </a:solidFill>
            <a:prstDash val="solid"/>
          </a:ln>
        </p:spPr>
      </p:sp>
      <p:sp>
        <p:nvSpPr>
          <p:cNvPr id="235" name="Shape 233"/>
          <p:cNvSpPr/>
          <p:nvPr/>
        </p:nvSpPr>
        <p:spPr>
          <a:xfrm flipH="1" flipV="1">
            <a:off x="3200400" y="3406140"/>
            <a:ext cx="13997" cy="20003"/>
          </a:xfrm>
          <a:prstGeom prst="line">
            <a:avLst/>
          </a:prstGeom>
          <a:noFill/>
          <a:ln w="19050">
            <a:solidFill>
              <a:srgbClr val="2E8B57"/>
            </a:solidFill>
            <a:prstDash val="solid"/>
          </a:ln>
        </p:spPr>
      </p:sp>
      <p:sp>
        <p:nvSpPr>
          <p:cNvPr id="236" name="Shape 234"/>
          <p:cNvSpPr/>
          <p:nvPr/>
        </p:nvSpPr>
        <p:spPr>
          <a:xfrm flipH="1" flipV="1">
            <a:off x="3186403" y="3386138"/>
            <a:ext cx="13997" cy="20003"/>
          </a:xfrm>
          <a:prstGeom prst="line">
            <a:avLst/>
          </a:prstGeom>
          <a:noFill/>
          <a:ln w="19050">
            <a:solidFill>
              <a:srgbClr val="2E8B57"/>
            </a:solidFill>
            <a:prstDash val="solid"/>
          </a:ln>
        </p:spPr>
      </p:sp>
      <p:sp>
        <p:nvSpPr>
          <p:cNvPr id="237" name="Shape 235"/>
          <p:cNvSpPr/>
          <p:nvPr/>
        </p:nvSpPr>
        <p:spPr>
          <a:xfrm flipH="1" flipV="1">
            <a:off x="3174537" y="3366135"/>
            <a:ext cx="11866" cy="20003"/>
          </a:xfrm>
          <a:prstGeom prst="line">
            <a:avLst/>
          </a:prstGeom>
          <a:noFill/>
          <a:ln w="19050">
            <a:solidFill>
              <a:srgbClr val="2E8B57"/>
            </a:solidFill>
            <a:prstDash val="solid"/>
          </a:ln>
        </p:spPr>
      </p:sp>
      <p:sp>
        <p:nvSpPr>
          <p:cNvPr id="238" name="Shape 236"/>
          <p:cNvSpPr/>
          <p:nvPr/>
        </p:nvSpPr>
        <p:spPr>
          <a:xfrm flipH="1" flipV="1">
            <a:off x="3166608" y="3346133"/>
            <a:ext cx="7929" cy="20003"/>
          </a:xfrm>
          <a:prstGeom prst="line">
            <a:avLst/>
          </a:prstGeom>
          <a:noFill/>
          <a:ln w="19050">
            <a:solidFill>
              <a:srgbClr val="2E8B57"/>
            </a:solidFill>
            <a:prstDash val="solid"/>
          </a:ln>
        </p:spPr>
      </p:sp>
      <p:sp>
        <p:nvSpPr>
          <p:cNvPr id="239" name="Shape 237"/>
          <p:cNvSpPr/>
          <p:nvPr/>
        </p:nvSpPr>
        <p:spPr>
          <a:xfrm flipH="1" flipV="1">
            <a:off x="3163824" y="3326130"/>
            <a:ext cx="2784" cy="20002"/>
          </a:xfrm>
          <a:prstGeom prst="line">
            <a:avLst/>
          </a:prstGeom>
          <a:noFill/>
          <a:ln w="19050">
            <a:solidFill>
              <a:srgbClr val="2E8B57"/>
            </a:solidFill>
            <a:prstDash val="solid"/>
          </a:ln>
        </p:spPr>
      </p:sp>
      <p:sp>
        <p:nvSpPr>
          <p:cNvPr id="240" name="Shape 238"/>
          <p:cNvSpPr/>
          <p:nvPr/>
        </p:nvSpPr>
        <p:spPr>
          <a:xfrm flipV="1">
            <a:off x="3163824" y="3306128"/>
            <a:ext cx="2784" cy="20003"/>
          </a:xfrm>
          <a:prstGeom prst="line">
            <a:avLst/>
          </a:prstGeom>
          <a:noFill/>
          <a:ln w="19050">
            <a:solidFill>
              <a:srgbClr val="2E8B57"/>
            </a:solidFill>
            <a:prstDash val="solid"/>
          </a:ln>
        </p:spPr>
      </p:sp>
      <p:sp>
        <p:nvSpPr>
          <p:cNvPr id="241" name="Shape 239"/>
          <p:cNvSpPr/>
          <p:nvPr/>
        </p:nvSpPr>
        <p:spPr>
          <a:xfrm flipV="1">
            <a:off x="3166608" y="3286125"/>
            <a:ext cx="7929" cy="20003"/>
          </a:xfrm>
          <a:prstGeom prst="line">
            <a:avLst/>
          </a:prstGeom>
          <a:noFill/>
          <a:ln w="19050">
            <a:solidFill>
              <a:srgbClr val="2E8B57"/>
            </a:solidFill>
            <a:prstDash val="solid"/>
          </a:ln>
        </p:spPr>
      </p:sp>
      <p:sp>
        <p:nvSpPr>
          <p:cNvPr id="242" name="Shape 240"/>
          <p:cNvSpPr/>
          <p:nvPr/>
        </p:nvSpPr>
        <p:spPr>
          <a:xfrm flipV="1">
            <a:off x="3174537" y="3266123"/>
            <a:ext cx="11866" cy="20003"/>
          </a:xfrm>
          <a:prstGeom prst="line">
            <a:avLst/>
          </a:prstGeom>
          <a:noFill/>
          <a:ln w="19050">
            <a:solidFill>
              <a:srgbClr val="2E8B57"/>
            </a:solidFill>
            <a:prstDash val="solid"/>
          </a:ln>
        </p:spPr>
      </p:sp>
      <p:sp>
        <p:nvSpPr>
          <p:cNvPr id="243" name="Shape 241"/>
          <p:cNvSpPr/>
          <p:nvPr/>
        </p:nvSpPr>
        <p:spPr>
          <a:xfrm flipV="1">
            <a:off x="3186403" y="3246120"/>
            <a:ext cx="13997" cy="20003"/>
          </a:xfrm>
          <a:prstGeom prst="line">
            <a:avLst/>
          </a:prstGeom>
          <a:noFill/>
          <a:ln w="19050">
            <a:solidFill>
              <a:srgbClr val="2E8B57"/>
            </a:solidFill>
            <a:prstDash val="solid"/>
          </a:ln>
        </p:spPr>
      </p:sp>
      <p:sp>
        <p:nvSpPr>
          <p:cNvPr id="244" name="Shape 242"/>
          <p:cNvSpPr/>
          <p:nvPr/>
        </p:nvSpPr>
        <p:spPr>
          <a:xfrm flipV="1">
            <a:off x="3200400" y="3226118"/>
            <a:ext cx="13997" cy="20002"/>
          </a:xfrm>
          <a:prstGeom prst="line">
            <a:avLst/>
          </a:prstGeom>
          <a:noFill/>
          <a:ln w="19050">
            <a:solidFill>
              <a:srgbClr val="2E8B57"/>
            </a:solidFill>
            <a:prstDash val="solid"/>
          </a:ln>
        </p:spPr>
      </p:sp>
      <p:sp>
        <p:nvSpPr>
          <p:cNvPr id="245" name="Shape 243"/>
          <p:cNvSpPr/>
          <p:nvPr/>
        </p:nvSpPr>
        <p:spPr>
          <a:xfrm flipV="1">
            <a:off x="3214397" y="3206115"/>
            <a:ext cx="11866" cy="20003"/>
          </a:xfrm>
          <a:prstGeom prst="line">
            <a:avLst/>
          </a:prstGeom>
          <a:noFill/>
          <a:ln w="19050">
            <a:solidFill>
              <a:srgbClr val="2E8B57"/>
            </a:solidFill>
            <a:prstDash val="solid"/>
          </a:ln>
        </p:spPr>
      </p:sp>
      <p:sp>
        <p:nvSpPr>
          <p:cNvPr id="246" name="Shape 244"/>
          <p:cNvSpPr/>
          <p:nvPr/>
        </p:nvSpPr>
        <p:spPr>
          <a:xfrm flipV="1">
            <a:off x="3226263" y="3186113"/>
            <a:ext cx="7929" cy="20003"/>
          </a:xfrm>
          <a:prstGeom prst="line">
            <a:avLst/>
          </a:prstGeom>
          <a:noFill/>
          <a:ln w="19050">
            <a:solidFill>
              <a:srgbClr val="2E8B57"/>
            </a:solidFill>
            <a:prstDash val="solid"/>
          </a:ln>
        </p:spPr>
      </p:sp>
      <p:sp>
        <p:nvSpPr>
          <p:cNvPr id="247" name="Shape 245"/>
          <p:cNvSpPr/>
          <p:nvPr/>
        </p:nvSpPr>
        <p:spPr>
          <a:xfrm flipV="1">
            <a:off x="3234192" y="3166110"/>
            <a:ext cx="2784" cy="20003"/>
          </a:xfrm>
          <a:prstGeom prst="line">
            <a:avLst/>
          </a:prstGeom>
          <a:noFill/>
          <a:ln w="19050">
            <a:solidFill>
              <a:srgbClr val="2E8B57"/>
            </a:solidFill>
            <a:prstDash val="solid"/>
          </a:ln>
        </p:spPr>
      </p:sp>
      <p:sp>
        <p:nvSpPr>
          <p:cNvPr id="248" name="Shape 246"/>
          <p:cNvSpPr/>
          <p:nvPr/>
        </p:nvSpPr>
        <p:spPr>
          <a:xfrm flipH="1" flipV="1">
            <a:off x="3234192" y="3146108"/>
            <a:ext cx="2784" cy="20003"/>
          </a:xfrm>
          <a:prstGeom prst="line">
            <a:avLst/>
          </a:prstGeom>
          <a:noFill/>
          <a:ln w="19050">
            <a:solidFill>
              <a:srgbClr val="2E8B57"/>
            </a:solidFill>
            <a:prstDash val="solid"/>
          </a:ln>
        </p:spPr>
      </p:sp>
      <p:sp>
        <p:nvSpPr>
          <p:cNvPr id="249" name="Shape 247"/>
          <p:cNvSpPr/>
          <p:nvPr/>
        </p:nvSpPr>
        <p:spPr>
          <a:xfrm flipH="1" flipV="1">
            <a:off x="3226263" y="3126105"/>
            <a:ext cx="7929" cy="20002"/>
          </a:xfrm>
          <a:prstGeom prst="line">
            <a:avLst/>
          </a:prstGeom>
          <a:noFill/>
          <a:ln w="19050">
            <a:solidFill>
              <a:srgbClr val="2E8B57"/>
            </a:solidFill>
            <a:prstDash val="solid"/>
          </a:ln>
        </p:spPr>
      </p:sp>
      <p:sp>
        <p:nvSpPr>
          <p:cNvPr id="250" name="Shape 248"/>
          <p:cNvSpPr/>
          <p:nvPr/>
        </p:nvSpPr>
        <p:spPr>
          <a:xfrm flipH="1" flipV="1">
            <a:off x="3214397" y="3106103"/>
            <a:ext cx="11866" cy="20003"/>
          </a:xfrm>
          <a:prstGeom prst="line">
            <a:avLst/>
          </a:prstGeom>
          <a:noFill/>
          <a:ln w="19050">
            <a:solidFill>
              <a:srgbClr val="2E8B57"/>
            </a:solidFill>
            <a:prstDash val="solid"/>
          </a:ln>
        </p:spPr>
      </p:sp>
      <p:sp>
        <p:nvSpPr>
          <p:cNvPr id="251" name="Shape 249"/>
          <p:cNvSpPr/>
          <p:nvPr/>
        </p:nvSpPr>
        <p:spPr>
          <a:xfrm flipH="1" flipV="1">
            <a:off x="3200400" y="3086100"/>
            <a:ext cx="13997" cy="20003"/>
          </a:xfrm>
          <a:prstGeom prst="line">
            <a:avLst/>
          </a:prstGeom>
          <a:noFill/>
          <a:ln w="19050">
            <a:solidFill>
              <a:srgbClr val="2E8B57"/>
            </a:solidFill>
            <a:prstDash val="solid"/>
          </a:ln>
        </p:spPr>
      </p:sp>
      <p:sp>
        <p:nvSpPr>
          <p:cNvPr id="252" name="Shape 250"/>
          <p:cNvSpPr/>
          <p:nvPr/>
        </p:nvSpPr>
        <p:spPr>
          <a:xfrm flipH="1" flipV="1">
            <a:off x="3186403" y="3066098"/>
            <a:ext cx="13997" cy="20003"/>
          </a:xfrm>
          <a:prstGeom prst="line">
            <a:avLst/>
          </a:prstGeom>
          <a:noFill/>
          <a:ln w="19050">
            <a:solidFill>
              <a:srgbClr val="2E8B57"/>
            </a:solidFill>
            <a:prstDash val="solid"/>
          </a:ln>
        </p:spPr>
      </p:sp>
      <p:sp>
        <p:nvSpPr>
          <p:cNvPr id="253" name="Shape 251"/>
          <p:cNvSpPr/>
          <p:nvPr/>
        </p:nvSpPr>
        <p:spPr>
          <a:xfrm flipH="1" flipV="1">
            <a:off x="3174537" y="3046095"/>
            <a:ext cx="11866" cy="20003"/>
          </a:xfrm>
          <a:prstGeom prst="line">
            <a:avLst/>
          </a:prstGeom>
          <a:noFill/>
          <a:ln w="19050">
            <a:solidFill>
              <a:srgbClr val="2E8B57"/>
            </a:solidFill>
            <a:prstDash val="solid"/>
          </a:ln>
        </p:spPr>
      </p:sp>
      <p:sp>
        <p:nvSpPr>
          <p:cNvPr id="254" name="Shape 252"/>
          <p:cNvSpPr/>
          <p:nvPr/>
        </p:nvSpPr>
        <p:spPr>
          <a:xfrm flipH="1" flipV="1">
            <a:off x="3166608" y="3026093"/>
            <a:ext cx="7929" cy="20002"/>
          </a:xfrm>
          <a:prstGeom prst="line">
            <a:avLst/>
          </a:prstGeom>
          <a:noFill/>
          <a:ln w="19050">
            <a:solidFill>
              <a:srgbClr val="2E8B57"/>
            </a:solidFill>
            <a:prstDash val="solid"/>
          </a:ln>
        </p:spPr>
      </p:sp>
      <p:sp>
        <p:nvSpPr>
          <p:cNvPr id="255" name="Shape 253"/>
          <p:cNvSpPr/>
          <p:nvPr/>
        </p:nvSpPr>
        <p:spPr>
          <a:xfrm flipH="1" flipV="1">
            <a:off x="3163824" y="3006090"/>
            <a:ext cx="2784" cy="20003"/>
          </a:xfrm>
          <a:prstGeom prst="line">
            <a:avLst/>
          </a:prstGeom>
          <a:noFill/>
          <a:ln w="19050">
            <a:solidFill>
              <a:srgbClr val="2E8B57"/>
            </a:solidFill>
            <a:prstDash val="solid"/>
          </a:ln>
        </p:spPr>
      </p:sp>
      <p:sp>
        <p:nvSpPr>
          <p:cNvPr id="256" name="Shape 254"/>
          <p:cNvSpPr/>
          <p:nvPr/>
        </p:nvSpPr>
        <p:spPr>
          <a:xfrm flipV="1">
            <a:off x="3163824" y="2986088"/>
            <a:ext cx="2784" cy="20003"/>
          </a:xfrm>
          <a:prstGeom prst="line">
            <a:avLst/>
          </a:prstGeom>
          <a:noFill/>
          <a:ln w="19050">
            <a:solidFill>
              <a:srgbClr val="2E8B57"/>
            </a:solidFill>
            <a:prstDash val="solid"/>
          </a:ln>
        </p:spPr>
      </p:sp>
      <p:sp>
        <p:nvSpPr>
          <p:cNvPr id="257" name="Shape 255"/>
          <p:cNvSpPr/>
          <p:nvPr/>
        </p:nvSpPr>
        <p:spPr>
          <a:xfrm flipV="1">
            <a:off x="3166608" y="2966085"/>
            <a:ext cx="7929" cy="20002"/>
          </a:xfrm>
          <a:prstGeom prst="line">
            <a:avLst/>
          </a:prstGeom>
          <a:noFill/>
          <a:ln w="19050">
            <a:solidFill>
              <a:srgbClr val="2E8B57"/>
            </a:solidFill>
            <a:prstDash val="solid"/>
          </a:ln>
        </p:spPr>
      </p:sp>
      <p:sp>
        <p:nvSpPr>
          <p:cNvPr id="258" name="Shape 256"/>
          <p:cNvSpPr/>
          <p:nvPr/>
        </p:nvSpPr>
        <p:spPr>
          <a:xfrm flipV="1">
            <a:off x="3174537" y="2946083"/>
            <a:ext cx="11866" cy="20003"/>
          </a:xfrm>
          <a:prstGeom prst="line">
            <a:avLst/>
          </a:prstGeom>
          <a:noFill/>
          <a:ln w="19050">
            <a:solidFill>
              <a:srgbClr val="2E8B57"/>
            </a:solidFill>
            <a:prstDash val="solid"/>
          </a:ln>
        </p:spPr>
      </p:sp>
      <p:sp>
        <p:nvSpPr>
          <p:cNvPr id="259" name="Shape 257"/>
          <p:cNvSpPr/>
          <p:nvPr/>
        </p:nvSpPr>
        <p:spPr>
          <a:xfrm flipV="1">
            <a:off x="3186403" y="2926080"/>
            <a:ext cx="13997" cy="20002"/>
          </a:xfrm>
          <a:prstGeom prst="line">
            <a:avLst/>
          </a:prstGeom>
          <a:noFill/>
          <a:ln w="19050">
            <a:solidFill>
              <a:srgbClr val="2E8B57"/>
            </a:solidFill>
            <a:prstDash val="solid"/>
          </a:ln>
        </p:spPr>
      </p:sp>
      <p:sp>
        <p:nvSpPr>
          <p:cNvPr id="260" name="Shape 258"/>
          <p:cNvSpPr/>
          <p:nvPr/>
        </p:nvSpPr>
        <p:spPr>
          <a:xfrm flipV="1">
            <a:off x="3200400" y="2906078"/>
            <a:ext cx="13997" cy="20003"/>
          </a:xfrm>
          <a:prstGeom prst="line">
            <a:avLst/>
          </a:prstGeom>
          <a:noFill/>
          <a:ln w="19050">
            <a:solidFill>
              <a:srgbClr val="2E8B57"/>
            </a:solidFill>
            <a:prstDash val="solid"/>
          </a:ln>
        </p:spPr>
      </p:sp>
      <p:sp>
        <p:nvSpPr>
          <p:cNvPr id="261" name="Shape 259"/>
          <p:cNvSpPr/>
          <p:nvPr/>
        </p:nvSpPr>
        <p:spPr>
          <a:xfrm flipV="1">
            <a:off x="3214397" y="2886075"/>
            <a:ext cx="11866" cy="20003"/>
          </a:xfrm>
          <a:prstGeom prst="line">
            <a:avLst/>
          </a:prstGeom>
          <a:noFill/>
          <a:ln w="19050">
            <a:solidFill>
              <a:srgbClr val="2E8B57"/>
            </a:solidFill>
            <a:prstDash val="solid"/>
          </a:ln>
        </p:spPr>
      </p:sp>
      <p:sp>
        <p:nvSpPr>
          <p:cNvPr id="262" name="Shape 260"/>
          <p:cNvSpPr/>
          <p:nvPr/>
        </p:nvSpPr>
        <p:spPr>
          <a:xfrm flipV="1">
            <a:off x="3226263" y="2866073"/>
            <a:ext cx="7929" cy="20002"/>
          </a:xfrm>
          <a:prstGeom prst="line">
            <a:avLst/>
          </a:prstGeom>
          <a:noFill/>
          <a:ln w="19050">
            <a:solidFill>
              <a:srgbClr val="2E8B57"/>
            </a:solidFill>
            <a:prstDash val="solid"/>
          </a:ln>
        </p:spPr>
      </p:sp>
      <p:sp>
        <p:nvSpPr>
          <p:cNvPr id="263" name="Shape 261"/>
          <p:cNvSpPr/>
          <p:nvPr/>
        </p:nvSpPr>
        <p:spPr>
          <a:xfrm flipV="1">
            <a:off x="3234192" y="2846070"/>
            <a:ext cx="2784" cy="20003"/>
          </a:xfrm>
          <a:prstGeom prst="line">
            <a:avLst/>
          </a:prstGeom>
          <a:noFill/>
          <a:ln w="19050">
            <a:solidFill>
              <a:srgbClr val="2E8B57"/>
            </a:solidFill>
            <a:prstDash val="solid"/>
          </a:ln>
        </p:spPr>
      </p:sp>
      <p:sp>
        <p:nvSpPr>
          <p:cNvPr id="264" name="Shape 262"/>
          <p:cNvSpPr/>
          <p:nvPr/>
        </p:nvSpPr>
        <p:spPr>
          <a:xfrm flipH="1" flipV="1">
            <a:off x="3234192" y="2826068"/>
            <a:ext cx="2784" cy="20002"/>
          </a:xfrm>
          <a:prstGeom prst="line">
            <a:avLst/>
          </a:prstGeom>
          <a:noFill/>
          <a:ln w="19050">
            <a:solidFill>
              <a:srgbClr val="2E8B57"/>
            </a:solidFill>
            <a:prstDash val="solid"/>
          </a:ln>
        </p:spPr>
      </p:sp>
      <p:sp>
        <p:nvSpPr>
          <p:cNvPr id="265" name="Shape 263"/>
          <p:cNvSpPr/>
          <p:nvPr/>
        </p:nvSpPr>
        <p:spPr>
          <a:xfrm flipH="1" flipV="1">
            <a:off x="3226263" y="2806065"/>
            <a:ext cx="7929" cy="20003"/>
          </a:xfrm>
          <a:prstGeom prst="line">
            <a:avLst/>
          </a:prstGeom>
          <a:noFill/>
          <a:ln w="19050">
            <a:solidFill>
              <a:srgbClr val="2E8B57"/>
            </a:solidFill>
            <a:prstDash val="solid"/>
          </a:ln>
        </p:spPr>
      </p:sp>
      <p:sp>
        <p:nvSpPr>
          <p:cNvPr id="266" name="Shape 264"/>
          <p:cNvSpPr/>
          <p:nvPr/>
        </p:nvSpPr>
        <p:spPr>
          <a:xfrm flipH="1" flipV="1">
            <a:off x="3214397" y="2786063"/>
            <a:ext cx="11866" cy="20003"/>
          </a:xfrm>
          <a:prstGeom prst="line">
            <a:avLst/>
          </a:prstGeom>
          <a:noFill/>
          <a:ln w="19050">
            <a:solidFill>
              <a:srgbClr val="2E8B57"/>
            </a:solidFill>
            <a:prstDash val="solid"/>
          </a:ln>
        </p:spPr>
      </p:sp>
      <p:sp>
        <p:nvSpPr>
          <p:cNvPr id="267" name="Shape 265"/>
          <p:cNvSpPr/>
          <p:nvPr/>
        </p:nvSpPr>
        <p:spPr>
          <a:xfrm flipH="1" flipV="1">
            <a:off x="3200400" y="2766060"/>
            <a:ext cx="13997" cy="20002"/>
          </a:xfrm>
          <a:prstGeom prst="line">
            <a:avLst/>
          </a:prstGeom>
          <a:noFill/>
          <a:ln w="19050">
            <a:solidFill>
              <a:srgbClr val="2E8B57"/>
            </a:solidFill>
            <a:prstDash val="solid"/>
          </a:ln>
        </p:spPr>
      </p:sp>
      <p:sp>
        <p:nvSpPr>
          <p:cNvPr id="268" name="Shape 266"/>
          <p:cNvSpPr/>
          <p:nvPr/>
        </p:nvSpPr>
        <p:spPr>
          <a:xfrm flipH="1" flipV="1">
            <a:off x="3186403" y="2746058"/>
            <a:ext cx="13997" cy="20003"/>
          </a:xfrm>
          <a:prstGeom prst="line">
            <a:avLst/>
          </a:prstGeom>
          <a:noFill/>
          <a:ln w="19050">
            <a:solidFill>
              <a:srgbClr val="2E8B57"/>
            </a:solidFill>
            <a:prstDash val="solid"/>
          </a:ln>
        </p:spPr>
      </p:sp>
      <p:sp>
        <p:nvSpPr>
          <p:cNvPr id="269" name="Shape 267"/>
          <p:cNvSpPr/>
          <p:nvPr/>
        </p:nvSpPr>
        <p:spPr>
          <a:xfrm flipH="1" flipV="1">
            <a:off x="3174537" y="2726055"/>
            <a:ext cx="11866" cy="20002"/>
          </a:xfrm>
          <a:prstGeom prst="line">
            <a:avLst/>
          </a:prstGeom>
          <a:noFill/>
          <a:ln w="19050">
            <a:solidFill>
              <a:srgbClr val="2E8B57"/>
            </a:solidFill>
            <a:prstDash val="solid"/>
          </a:ln>
        </p:spPr>
      </p:sp>
      <p:sp>
        <p:nvSpPr>
          <p:cNvPr id="270" name="Shape 268"/>
          <p:cNvSpPr/>
          <p:nvPr/>
        </p:nvSpPr>
        <p:spPr>
          <a:xfrm flipH="1" flipV="1">
            <a:off x="3166608" y="2706053"/>
            <a:ext cx="7929" cy="20003"/>
          </a:xfrm>
          <a:prstGeom prst="line">
            <a:avLst/>
          </a:prstGeom>
          <a:noFill/>
          <a:ln w="19050">
            <a:solidFill>
              <a:srgbClr val="2E8B57"/>
            </a:solidFill>
            <a:prstDash val="solid"/>
          </a:ln>
        </p:spPr>
      </p:sp>
      <p:sp>
        <p:nvSpPr>
          <p:cNvPr id="271" name="Shape 269"/>
          <p:cNvSpPr/>
          <p:nvPr/>
        </p:nvSpPr>
        <p:spPr>
          <a:xfrm flipH="1" flipV="1">
            <a:off x="3163824" y="2686050"/>
            <a:ext cx="2784" cy="20003"/>
          </a:xfrm>
          <a:prstGeom prst="line">
            <a:avLst/>
          </a:prstGeom>
          <a:noFill/>
          <a:ln w="19050">
            <a:solidFill>
              <a:srgbClr val="2E8B57"/>
            </a:solidFill>
            <a:prstDash val="solid"/>
          </a:ln>
        </p:spPr>
      </p:sp>
      <p:sp>
        <p:nvSpPr>
          <p:cNvPr id="272" name="Shape 270"/>
          <p:cNvSpPr/>
          <p:nvPr/>
        </p:nvSpPr>
        <p:spPr>
          <a:xfrm flipV="1">
            <a:off x="3163824" y="2666048"/>
            <a:ext cx="2784" cy="20002"/>
          </a:xfrm>
          <a:prstGeom prst="line">
            <a:avLst/>
          </a:prstGeom>
          <a:noFill/>
          <a:ln w="19050">
            <a:solidFill>
              <a:srgbClr val="2E8B57"/>
            </a:solidFill>
            <a:prstDash val="solid"/>
          </a:ln>
        </p:spPr>
      </p:sp>
      <p:sp>
        <p:nvSpPr>
          <p:cNvPr id="273" name="Shape 271"/>
          <p:cNvSpPr/>
          <p:nvPr/>
        </p:nvSpPr>
        <p:spPr>
          <a:xfrm flipV="1">
            <a:off x="3166608" y="2646045"/>
            <a:ext cx="7929" cy="20003"/>
          </a:xfrm>
          <a:prstGeom prst="line">
            <a:avLst/>
          </a:prstGeom>
          <a:noFill/>
          <a:ln w="19050">
            <a:solidFill>
              <a:srgbClr val="2E8B57"/>
            </a:solidFill>
            <a:prstDash val="solid"/>
          </a:ln>
        </p:spPr>
      </p:sp>
      <p:sp>
        <p:nvSpPr>
          <p:cNvPr id="274" name="Shape 272"/>
          <p:cNvSpPr/>
          <p:nvPr/>
        </p:nvSpPr>
        <p:spPr>
          <a:xfrm flipV="1">
            <a:off x="3174537" y="2626043"/>
            <a:ext cx="11866" cy="20002"/>
          </a:xfrm>
          <a:prstGeom prst="line">
            <a:avLst/>
          </a:prstGeom>
          <a:noFill/>
          <a:ln w="19050">
            <a:solidFill>
              <a:srgbClr val="2E8B57"/>
            </a:solidFill>
            <a:prstDash val="solid"/>
          </a:ln>
        </p:spPr>
      </p:sp>
      <p:sp>
        <p:nvSpPr>
          <p:cNvPr id="275" name="Shape 273"/>
          <p:cNvSpPr/>
          <p:nvPr/>
        </p:nvSpPr>
        <p:spPr>
          <a:xfrm flipV="1">
            <a:off x="3186403" y="2606040"/>
            <a:ext cx="13997" cy="20003"/>
          </a:xfrm>
          <a:prstGeom prst="line">
            <a:avLst/>
          </a:prstGeom>
          <a:noFill/>
          <a:ln w="19050">
            <a:solidFill>
              <a:srgbClr val="2E8B57"/>
            </a:solidFill>
            <a:prstDash val="solid"/>
          </a:ln>
        </p:spPr>
      </p:sp>
      <p:sp>
        <p:nvSpPr>
          <p:cNvPr id="276" name="Text 274"/>
          <p:cNvSpPr/>
          <p:nvPr/>
        </p:nvSpPr>
        <p:spPr>
          <a:xfrm>
            <a:off x="548640" y="3017520"/>
            <a:ext cx="1737360" cy="256032"/>
          </a:xfrm>
          <a:prstGeom prst="rect">
            <a:avLst/>
          </a:prstGeom>
          <a:noFill/>
          <a:ln/>
        </p:spPr>
        <p:txBody>
          <a:bodyPr wrap="square" lIns="0" tIns="0" rIns="0" bIns="0" rtlCol="0" anchor="ctr"/>
          <a:lstStyle/>
          <a:p>
            <a:pPr algn="l" indent="0" marL="0">
              <a:buNone/>
            </a:pPr>
            <a:r>
              <a:rPr lang="en-US" sz="1050" b="1" dirty="0">
                <a:solidFill>
                  <a:srgbClr val="2E8B57"/>
                </a:solidFill>
                <a:latin typeface="Calibri" pitchFamily="34" charset="0"/>
                <a:ea typeface="Calibri" pitchFamily="34" charset="-122"/>
                <a:cs typeface="Calibri" pitchFamily="34" charset="-120"/>
              </a:rPr>
              <a:t>γ rays leave the body</a:t>
            </a:r>
            <a:endParaRPr lang="en-US" sz="1050" dirty="0"/>
          </a:p>
        </p:txBody>
      </p:sp>
      <p:sp>
        <p:nvSpPr>
          <p:cNvPr id="277" name="Shape 275"/>
          <p:cNvSpPr/>
          <p:nvPr/>
        </p:nvSpPr>
        <p:spPr>
          <a:xfrm>
            <a:off x="4434840" y="3291840"/>
            <a:ext cx="731520" cy="128016"/>
          </a:xfrm>
          <a:prstGeom prst="rect">
            <a:avLst/>
          </a:prstGeom>
          <a:solidFill>
            <a:srgbClr val="E6EBF4"/>
          </a:solidFill>
          <a:ln w="12700">
            <a:solidFill>
              <a:srgbClr val="6B7385"/>
            </a:solidFill>
            <a:prstDash val="solid"/>
          </a:ln>
        </p:spPr>
      </p:sp>
      <p:sp>
        <p:nvSpPr>
          <p:cNvPr id="278" name="Shape 276"/>
          <p:cNvSpPr/>
          <p:nvPr/>
        </p:nvSpPr>
        <p:spPr>
          <a:xfrm flipH="1">
            <a:off x="4251960" y="3355848"/>
            <a:ext cx="182880" cy="256032"/>
          </a:xfrm>
          <a:prstGeom prst="line">
            <a:avLst/>
          </a:prstGeom>
          <a:noFill/>
          <a:ln w="19050">
            <a:solidFill>
              <a:srgbClr val="6B7385"/>
            </a:solidFill>
            <a:prstDash val="solid"/>
          </a:ln>
        </p:spPr>
      </p:sp>
      <p:sp>
        <p:nvSpPr>
          <p:cNvPr id="279" name="Text 277"/>
          <p:cNvSpPr/>
          <p:nvPr/>
        </p:nvSpPr>
        <p:spPr>
          <a:xfrm>
            <a:off x="4206240" y="2971800"/>
            <a:ext cx="173736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tracer injected</a:t>
            </a:r>
            <a:endParaRPr lang="en-US" sz="1050" dirty="0"/>
          </a:p>
        </p:txBody>
      </p:sp>
      <p:sp>
        <p:nvSpPr>
          <p:cNvPr id="280" name="Shape 278"/>
          <p:cNvSpPr/>
          <p:nvPr/>
        </p:nvSpPr>
        <p:spPr>
          <a:xfrm>
            <a:off x="3749040" y="2331720"/>
            <a:ext cx="457200" cy="91"/>
          </a:xfrm>
          <a:prstGeom prst="line">
            <a:avLst/>
          </a:prstGeom>
          <a:noFill/>
          <a:ln w="15875">
            <a:solidFill>
              <a:srgbClr val="1A2340"/>
            </a:solidFill>
            <a:prstDash val="solid"/>
          </a:ln>
        </p:spPr>
      </p:sp>
      <p:sp>
        <p:nvSpPr>
          <p:cNvPr id="281" name="Shape 279"/>
          <p:cNvSpPr/>
          <p:nvPr/>
        </p:nvSpPr>
        <p:spPr>
          <a:xfrm flipV="1">
            <a:off x="4206240" y="2011680"/>
            <a:ext cx="91" cy="320040"/>
          </a:xfrm>
          <a:prstGeom prst="line">
            <a:avLst/>
          </a:prstGeom>
          <a:noFill/>
          <a:ln w="15875">
            <a:solidFill>
              <a:srgbClr val="1A2340"/>
            </a:solidFill>
            <a:prstDash val="solid"/>
          </a:ln>
        </p:spPr>
      </p:sp>
      <p:sp>
        <p:nvSpPr>
          <p:cNvPr id="282" name="Shape 280"/>
          <p:cNvSpPr/>
          <p:nvPr/>
        </p:nvSpPr>
        <p:spPr>
          <a:xfrm>
            <a:off x="4023360" y="1371600"/>
            <a:ext cx="1691640" cy="1097280"/>
          </a:xfrm>
          <a:prstGeom prst="roundRect">
            <a:avLst>
              <a:gd name="adj" fmla="val 4167"/>
            </a:avLst>
          </a:prstGeom>
          <a:solidFill>
            <a:srgbClr val="1A2340"/>
          </a:solidFill>
          <a:ln/>
        </p:spPr>
      </p:sp>
      <p:sp>
        <p:nvSpPr>
          <p:cNvPr id="283" name="Shape 281"/>
          <p:cNvSpPr/>
          <p:nvPr/>
        </p:nvSpPr>
        <p:spPr>
          <a:xfrm>
            <a:off x="4114800" y="1463040"/>
            <a:ext cx="1508760" cy="777240"/>
          </a:xfrm>
          <a:prstGeom prst="rect">
            <a:avLst/>
          </a:prstGeom>
          <a:solidFill>
            <a:srgbClr val="0E1426"/>
          </a:solidFill>
          <a:ln/>
        </p:spPr>
      </p:sp>
      <p:sp>
        <p:nvSpPr>
          <p:cNvPr id="284" name="Shape 282"/>
          <p:cNvSpPr/>
          <p:nvPr/>
        </p:nvSpPr>
        <p:spPr>
          <a:xfrm>
            <a:off x="4526280" y="1600200"/>
            <a:ext cx="292608" cy="502920"/>
          </a:xfrm>
          <a:prstGeom prst="ellipse">
            <a:avLst/>
          </a:prstGeom>
          <a:solidFill>
            <a:srgbClr val="F5A742"/>
          </a:solidFill>
          <a:ln w="9525">
            <a:solidFill>
              <a:srgbClr val="F5C518"/>
            </a:solidFill>
            <a:prstDash val="solid"/>
          </a:ln>
        </p:spPr>
      </p:sp>
      <p:sp>
        <p:nvSpPr>
          <p:cNvPr id="285" name="Shape 283"/>
          <p:cNvSpPr/>
          <p:nvPr/>
        </p:nvSpPr>
        <p:spPr>
          <a:xfrm>
            <a:off x="4983480" y="1600200"/>
            <a:ext cx="292608" cy="502920"/>
          </a:xfrm>
          <a:prstGeom prst="ellipse">
            <a:avLst/>
          </a:prstGeom>
          <a:solidFill>
            <a:srgbClr val="F5A742"/>
          </a:solidFill>
          <a:ln w="9525">
            <a:solidFill>
              <a:srgbClr val="F5C518"/>
            </a:solidFill>
            <a:prstDash val="solid"/>
          </a:ln>
        </p:spPr>
      </p:sp>
      <p:sp>
        <p:nvSpPr>
          <p:cNvPr id="286" name="Text 284"/>
          <p:cNvSpPr/>
          <p:nvPr/>
        </p:nvSpPr>
        <p:spPr>
          <a:xfrm>
            <a:off x="4023360" y="2240280"/>
            <a:ext cx="1691640" cy="201168"/>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image of the kidneys</a:t>
            </a:r>
            <a:endParaRPr lang="en-US" sz="1000" dirty="0"/>
          </a:p>
        </p:txBody>
      </p:sp>
      <p:sp>
        <p:nvSpPr>
          <p:cNvPr id="287" name="Shape 285"/>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88" name="Text 28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How a tracer works</a:t>
            </a:r>
            <a:endParaRPr lang="en-US" sz="1300" dirty="0"/>
          </a:p>
        </p:txBody>
      </p:sp>
      <p:sp>
        <p:nvSpPr>
          <p:cNvPr id="289" name="Text 28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small amount of a radioactive isotope is </a:t>
            </a:r>
            <a:r>
              <a:rPr lang="en-US" sz="1150" b="1" dirty="0">
                <a:solidFill>
                  <a:srgbClr val="262B3A"/>
                </a:solidFill>
                <a:latin typeface="Calibri" pitchFamily="34" charset="0"/>
                <a:ea typeface="Calibri" pitchFamily="34" charset="-122"/>
                <a:cs typeface="Calibri" pitchFamily="34" charset="-120"/>
              </a:rPr>
              <a:t>injected</a:t>
            </a:r>
            <a:r>
              <a:rPr lang="en-US" sz="1150" dirty="0">
                <a:solidFill>
                  <a:srgbClr val="262B3A"/>
                </a:solidFill>
                <a:latin typeface="Calibri" pitchFamily="34" charset="0"/>
                <a:ea typeface="Calibri" pitchFamily="34" charset="-122"/>
                <a:cs typeface="Calibri" pitchFamily="34" charset="-120"/>
              </a:rPr>
              <a:t> or </a:t>
            </a:r>
            <a:r>
              <a:rPr lang="en-US" sz="1150" b="1" dirty="0">
                <a:solidFill>
                  <a:srgbClr val="262B3A"/>
                </a:solidFill>
                <a:latin typeface="Calibri" pitchFamily="34" charset="0"/>
                <a:ea typeface="Calibri" pitchFamily="34" charset="-122"/>
                <a:cs typeface="Calibri" pitchFamily="34" charset="-120"/>
              </a:rPr>
              <a:t>swallowed</a:t>
            </a:r>
            <a:r>
              <a:rPr lang="en-US" sz="1150" dirty="0">
                <a:solidFill>
                  <a:srgbClr val="262B3A"/>
                </a:solidFill>
                <a:latin typeface="Calibri" pitchFamily="34" charset="0"/>
                <a:ea typeface="Calibri" pitchFamily="34" charset="-122"/>
                <a:cs typeface="Calibri" pitchFamily="34" charset="-120"/>
              </a:rPr>
              <a:t>. It collects in the organ being studied.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gamma camera</a:t>
            </a:r>
            <a:r>
              <a:rPr lang="en-US" sz="1150" dirty="0">
                <a:solidFill>
                  <a:srgbClr val="262B3A"/>
                </a:solidFill>
                <a:latin typeface="Calibri" pitchFamily="34" charset="0"/>
                <a:ea typeface="Calibri" pitchFamily="34" charset="-122"/>
                <a:cs typeface="Calibri" pitchFamily="34" charset="-120"/>
              </a:rPr>
              <a:t> outside the body detects the radiation and makes an image. It shows how well the organ works.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Gamma</a:t>
            </a:r>
            <a:r>
              <a:rPr lang="en-US" sz="1150" dirty="0">
                <a:solidFill>
                  <a:srgbClr val="262B3A"/>
                </a:solidFill>
                <a:latin typeface="Calibri" pitchFamily="34" charset="0"/>
                <a:ea typeface="Calibri" pitchFamily="34" charset="-122"/>
                <a:cs typeface="Calibri" pitchFamily="34" charset="-120"/>
              </a:rPr>
              <a:t>: it passes out of the body to the camera and is </a:t>
            </a:r>
            <a:r>
              <a:rPr lang="en-US" sz="1150" b="1" dirty="0">
                <a:solidFill>
                  <a:srgbClr val="262B3A"/>
                </a:solidFill>
                <a:latin typeface="Calibri" pitchFamily="34" charset="0"/>
                <a:ea typeface="Calibri" pitchFamily="34" charset="-122"/>
                <a:cs typeface="Calibri" pitchFamily="34" charset="-120"/>
              </a:rPr>
              <a:t>weakly ionising</a:t>
            </a:r>
            <a:r>
              <a:rPr lang="en-US" sz="1150" dirty="0">
                <a:solidFill>
                  <a:srgbClr val="262B3A"/>
                </a:solidFill>
                <a:latin typeface="Calibri" pitchFamily="34" charset="0"/>
                <a:ea typeface="Calibri" pitchFamily="34" charset="-122"/>
                <a:cs typeface="Calibri" pitchFamily="34" charset="-120"/>
              </a:rPr>
              <a:t>, so it does little damage.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Short half-life</a:t>
            </a:r>
            <a:r>
              <a:rPr lang="en-US" sz="1150" dirty="0">
                <a:solidFill>
                  <a:srgbClr val="262B3A"/>
                </a:solidFill>
                <a:latin typeface="Calibri" pitchFamily="34" charset="0"/>
                <a:ea typeface="Calibri" pitchFamily="34" charset="-122"/>
                <a:cs typeface="Calibri" pitchFamily="34" charset="-120"/>
              </a:rPr>
              <a:t> (hours): long enough to do the scan, then the activity soon falls. Technetium-99m: half-life 6 hours.</a:t>
            </a:r>
            <a:endParaRPr lang="en-US" sz="1150" dirty="0"/>
          </a:p>
        </p:txBody>
      </p:sp>
      <p:sp>
        <p:nvSpPr>
          <p:cNvPr id="290" name="Shape 28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91" name="Text 28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why a 6-hour half-life?</a:t>
            </a:r>
            <a:endParaRPr lang="en-US" sz="1300" dirty="0"/>
          </a:p>
        </p:txBody>
      </p:sp>
      <p:sp>
        <p:nvSpPr>
          <p:cNvPr id="292" name="Text 290"/>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What fraction of the Tc-99m is left after 24 hours?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Half-lives   </a:t>
            </a:r>
            <a:r>
              <a:rPr lang="en-US" sz="1050" dirty="0">
                <a:solidFill>
                  <a:srgbClr val="262B3A"/>
                </a:solidFill>
                <a:latin typeface="Calibri" pitchFamily="34" charset="0"/>
                <a:ea typeface="Calibri" pitchFamily="34" charset="-122"/>
                <a:cs typeface="Calibri" pitchFamily="34" charset="-120"/>
              </a:rPr>
              <a:t>24 ÷ 6 = 4</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Fraction   </a:t>
            </a:r>
            <a:r>
              <a:rPr lang="en-US" sz="1050" dirty="0">
                <a:solidFill>
                  <a:srgbClr val="262B3A"/>
                </a:solidFill>
                <a:latin typeface="Calibri" pitchFamily="34" charset="0"/>
                <a:ea typeface="Calibri" pitchFamily="34" charset="-122"/>
                <a:cs typeface="Calibri" pitchFamily="34" charset="-120"/>
              </a:rPr>
              <a:t>(½)</a:t>
            </a:r>
            <a:r>
              <a:rPr lang="en-US" sz="1050" baseline="30000" dirty="0">
                <a:solidFill>
                  <a:srgbClr val="262B3A"/>
                </a:solidFill>
                <a:latin typeface="Calibri" pitchFamily="34" charset="0"/>
                <a:ea typeface="Calibri" pitchFamily="34" charset="-122"/>
                <a:cs typeface="Calibri" pitchFamily="34" charset="-120"/>
              </a:rPr>
              <a:t>4</a:t>
            </a:r>
            <a:r>
              <a:rPr lang="en-US" sz="1050" dirty="0">
                <a:solidFill>
                  <a:srgbClr val="262B3A"/>
                </a:solidFill>
                <a:latin typeface="Calibri" pitchFamily="34" charset="0"/>
                <a:ea typeface="Calibri" pitchFamily="34" charset="-122"/>
                <a:cs typeface="Calibri" pitchFamily="34" charset="-120"/>
              </a:rPr>
              <a:t> = 1/16</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Percent   </a:t>
            </a:r>
            <a:r>
              <a:rPr lang="en-US" sz="1050" dirty="0">
                <a:solidFill>
                  <a:srgbClr val="262B3A"/>
                </a:solidFill>
                <a:latin typeface="Calibri" pitchFamily="34" charset="0"/>
                <a:ea typeface="Calibri" pitchFamily="34" charset="-122"/>
                <a:cs typeface="Calibri" pitchFamily="34" charset="-120"/>
              </a:rPr>
              <a:t>6.25% remains after one day</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enough for a scan of a few hours, then very little is left</a:t>
            </a:r>
            <a:endParaRPr lang="en-US" sz="1050" dirty="0"/>
          </a:p>
        </p:txBody>
      </p:sp>
      <p:sp>
        <p:nvSpPr>
          <p:cNvPr id="293" name="Shape 291"/>
          <p:cNvSpPr/>
          <p:nvPr/>
        </p:nvSpPr>
        <p:spPr>
          <a:xfrm>
            <a:off x="411480" y="5833872"/>
            <a:ext cx="11368735" cy="530352"/>
          </a:xfrm>
          <a:prstGeom prst="rect">
            <a:avLst/>
          </a:prstGeom>
          <a:solidFill>
            <a:srgbClr val="FFF4E0"/>
          </a:solidFill>
          <a:ln w="6350">
            <a:solidFill>
              <a:srgbClr val="F1D9A8"/>
            </a:solidFill>
            <a:prstDash val="solid"/>
          </a:ln>
        </p:spPr>
      </p:sp>
      <p:sp>
        <p:nvSpPr>
          <p:cNvPr id="294" name="Shape 292"/>
          <p:cNvSpPr/>
          <p:nvPr/>
        </p:nvSpPr>
        <p:spPr>
          <a:xfrm>
            <a:off x="411480" y="5833872"/>
            <a:ext cx="82296" cy="530352"/>
          </a:xfrm>
          <a:prstGeom prst="rect">
            <a:avLst/>
          </a:prstGeom>
          <a:solidFill>
            <a:srgbClr val="E39A2F"/>
          </a:solidFill>
          <a:ln w="12700">
            <a:solidFill>
              <a:srgbClr val="E39A2F"/>
            </a:solidFill>
            <a:prstDash val="solid"/>
          </a:ln>
        </p:spPr>
      </p:sp>
      <p:sp>
        <p:nvSpPr>
          <p:cNvPr id="295" name="Text 29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an alpha emitter would be no use as a medical tracer.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Radiotherapy and sterilising</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P5.2.4 • killing unwanted cells and bacteria with gamma rays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P5.2.4  |  19</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top: beams from several directions meet at the tumour; bottom: sealed packs pass a gamma source</a:t>
            </a:r>
            <a:endParaRPr lang="en-US" sz="1000" dirty="0"/>
          </a:p>
        </p:txBody>
      </p:sp>
      <p:sp>
        <p:nvSpPr>
          <p:cNvPr id="10" name="Shape 8"/>
          <p:cNvSpPr/>
          <p:nvPr/>
        </p:nvSpPr>
        <p:spPr>
          <a:xfrm>
            <a:off x="960120" y="1737360"/>
            <a:ext cx="2468880" cy="1920240"/>
          </a:xfrm>
          <a:prstGeom prst="ellipse">
            <a:avLst/>
          </a:prstGeom>
          <a:solidFill>
            <a:srgbClr val="F7DCCB"/>
          </a:solidFill>
          <a:ln w="15875">
            <a:solidFill>
              <a:srgbClr val="C99A5B"/>
            </a:solidFill>
            <a:prstDash val="solid"/>
          </a:ln>
        </p:spPr>
      </p:sp>
      <p:sp>
        <p:nvSpPr>
          <p:cNvPr id="11" name="Shape 9"/>
          <p:cNvSpPr/>
          <p:nvPr/>
        </p:nvSpPr>
        <p:spPr>
          <a:xfrm>
            <a:off x="731520" y="2560320"/>
            <a:ext cx="2926080" cy="274320"/>
          </a:xfrm>
          <a:prstGeom prst="rect">
            <a:avLst/>
          </a:prstGeom>
          <a:solidFill>
            <a:srgbClr val="2E8B57">
              <a:alpha val="30000"/>
            </a:srgbClr>
          </a:solidFill>
          <a:ln/>
        </p:spPr>
      </p:sp>
      <p:sp>
        <p:nvSpPr>
          <p:cNvPr id="12" name="Shape 10"/>
          <p:cNvSpPr/>
          <p:nvPr/>
        </p:nvSpPr>
        <p:spPr>
          <a:xfrm>
            <a:off x="393192" y="2551176"/>
            <a:ext cx="402336" cy="292608"/>
          </a:xfrm>
          <a:prstGeom prst="rect">
            <a:avLst/>
          </a:prstGeom>
          <a:solidFill>
            <a:srgbClr val="4A5262"/>
          </a:solidFill>
          <a:ln w="9525">
            <a:solidFill>
              <a:srgbClr val="2E3442"/>
            </a:solidFill>
            <a:prstDash val="solid"/>
          </a:ln>
        </p:spPr>
      </p:sp>
      <p:sp>
        <p:nvSpPr>
          <p:cNvPr id="13" name="Shape 11"/>
          <p:cNvSpPr/>
          <p:nvPr/>
        </p:nvSpPr>
        <p:spPr>
          <a:xfrm rot="3600000">
            <a:off x="731520" y="2560320"/>
            <a:ext cx="2926080" cy="274320"/>
          </a:xfrm>
          <a:prstGeom prst="rect">
            <a:avLst/>
          </a:prstGeom>
          <a:solidFill>
            <a:srgbClr val="2E8B57">
              <a:alpha val="30000"/>
            </a:srgbClr>
          </a:solidFill>
          <a:ln/>
        </p:spPr>
      </p:sp>
      <p:sp>
        <p:nvSpPr>
          <p:cNvPr id="14" name="Shape 12"/>
          <p:cNvSpPr/>
          <p:nvPr/>
        </p:nvSpPr>
        <p:spPr>
          <a:xfrm rot="3600000">
            <a:off x="1193292" y="1165362"/>
            <a:ext cx="402336" cy="292608"/>
          </a:xfrm>
          <a:prstGeom prst="rect">
            <a:avLst/>
          </a:prstGeom>
          <a:solidFill>
            <a:srgbClr val="4A5262"/>
          </a:solidFill>
          <a:ln w="9525">
            <a:solidFill>
              <a:srgbClr val="2E3442"/>
            </a:solidFill>
            <a:prstDash val="solid"/>
          </a:ln>
        </p:spPr>
      </p:sp>
      <p:sp>
        <p:nvSpPr>
          <p:cNvPr id="15" name="Shape 13"/>
          <p:cNvSpPr/>
          <p:nvPr/>
        </p:nvSpPr>
        <p:spPr>
          <a:xfrm rot="7200000">
            <a:off x="731520" y="2560320"/>
            <a:ext cx="2926080" cy="274320"/>
          </a:xfrm>
          <a:prstGeom prst="rect">
            <a:avLst/>
          </a:prstGeom>
          <a:solidFill>
            <a:srgbClr val="2E8B57">
              <a:alpha val="30000"/>
            </a:srgbClr>
          </a:solidFill>
          <a:ln/>
        </p:spPr>
      </p:sp>
      <p:sp>
        <p:nvSpPr>
          <p:cNvPr id="16" name="Shape 14"/>
          <p:cNvSpPr/>
          <p:nvPr/>
        </p:nvSpPr>
        <p:spPr>
          <a:xfrm rot="7200000">
            <a:off x="2793492" y="1165362"/>
            <a:ext cx="402336" cy="292608"/>
          </a:xfrm>
          <a:prstGeom prst="rect">
            <a:avLst/>
          </a:prstGeom>
          <a:solidFill>
            <a:srgbClr val="4A5262"/>
          </a:solidFill>
          <a:ln w="9525">
            <a:solidFill>
              <a:srgbClr val="2E3442"/>
            </a:solidFill>
            <a:prstDash val="solid"/>
          </a:ln>
        </p:spPr>
      </p:sp>
      <p:sp>
        <p:nvSpPr>
          <p:cNvPr id="17" name="Shape 15"/>
          <p:cNvSpPr/>
          <p:nvPr/>
        </p:nvSpPr>
        <p:spPr>
          <a:xfrm>
            <a:off x="2011680" y="2542032"/>
            <a:ext cx="365760" cy="310896"/>
          </a:xfrm>
          <a:prstGeom prst="ellipse">
            <a:avLst/>
          </a:prstGeom>
          <a:solidFill>
            <a:srgbClr val="C8414C"/>
          </a:solidFill>
          <a:ln w="12700">
            <a:solidFill>
              <a:srgbClr val="8E2A33"/>
            </a:solidFill>
            <a:prstDash val="solid"/>
          </a:ln>
        </p:spPr>
      </p:sp>
      <p:sp>
        <p:nvSpPr>
          <p:cNvPr id="18" name="Text 16"/>
          <p:cNvSpPr/>
          <p:nvPr/>
        </p:nvSpPr>
        <p:spPr>
          <a:xfrm>
            <a:off x="3520440" y="2011680"/>
            <a:ext cx="2286000" cy="411480"/>
          </a:xfrm>
          <a:prstGeom prst="rect">
            <a:avLst/>
          </a:prstGeom>
          <a:noFill/>
          <a:ln/>
        </p:spPr>
        <p:txBody>
          <a:bodyPr wrap="square" lIns="0" tIns="0" rIns="0" bIns="0" rtlCol="0" anchor="t"/>
          <a:lstStyle/>
          <a:p>
            <a:pPr algn="l" indent="0" marL="0">
              <a:buNone/>
            </a:pPr>
            <a:r>
              <a:rPr lang="en-US" sz="1050" dirty="0">
                <a:solidFill>
                  <a:srgbClr val="C8414C"/>
                </a:solidFill>
                <a:latin typeface="Calibri" pitchFamily="34" charset="0"/>
                <a:ea typeface="Calibri" pitchFamily="34" charset="-122"/>
                <a:cs typeface="Calibri" pitchFamily="34" charset="-120"/>
              </a:rPr>
              <a:t>tumour gets the dose from </a:t>
            </a:r>
            <a:r>
              <a:rPr lang="en-US" sz="1050" b="1" dirty="0">
                <a:solidFill>
                  <a:srgbClr val="C8414C"/>
                </a:solidFill>
                <a:latin typeface="Calibri" pitchFamily="34" charset="0"/>
                <a:ea typeface="Calibri" pitchFamily="34" charset="-122"/>
                <a:cs typeface="Calibri" pitchFamily="34" charset="-120"/>
              </a:rPr>
              <a:t>every</a:t>
            </a:r>
            <a:r>
              <a:rPr lang="en-US" sz="1050" dirty="0">
                <a:solidFill>
                  <a:srgbClr val="C8414C"/>
                </a:solidFill>
                <a:latin typeface="Calibri" pitchFamily="34" charset="0"/>
                <a:ea typeface="Calibri" pitchFamily="34" charset="-122"/>
                <a:cs typeface="Calibri" pitchFamily="34" charset="-120"/>
              </a:rPr>
              <a:t> beam</a:t>
            </a:r>
            <a:endParaRPr lang="en-US" sz="1050" dirty="0"/>
          </a:p>
        </p:txBody>
      </p:sp>
      <p:sp>
        <p:nvSpPr>
          <p:cNvPr id="19" name="Text 17"/>
          <p:cNvSpPr/>
          <p:nvPr/>
        </p:nvSpPr>
        <p:spPr>
          <a:xfrm>
            <a:off x="3520440" y="2560320"/>
            <a:ext cx="2286000" cy="411480"/>
          </a:xfrm>
          <a:prstGeom prst="rect">
            <a:avLst/>
          </a:prstGeom>
          <a:noFill/>
          <a:ln/>
        </p:spPr>
        <p:txBody>
          <a:bodyPr wrap="square" lIns="0" tIns="0" rIns="0" bIns="0" rtlCol="0" anchor="t"/>
          <a:lstStyle/>
          <a:p>
            <a:pPr algn="l" indent="0" marL="0">
              <a:buNone/>
            </a:pPr>
            <a:r>
              <a:rPr lang="en-US" sz="1050" dirty="0">
                <a:solidFill>
                  <a:srgbClr val="8A6A3A"/>
                </a:solidFill>
                <a:latin typeface="Calibri" pitchFamily="34" charset="0"/>
                <a:ea typeface="Calibri" pitchFamily="34" charset="-122"/>
                <a:cs typeface="Calibri" pitchFamily="34" charset="-120"/>
              </a:rPr>
              <a:t>healthy tissue gets only </a:t>
            </a:r>
            <a:r>
              <a:rPr lang="en-US" sz="1050" b="1" dirty="0">
                <a:solidFill>
                  <a:srgbClr val="8A6A3A"/>
                </a:solidFill>
                <a:latin typeface="Calibri" pitchFamily="34" charset="0"/>
                <a:ea typeface="Calibri" pitchFamily="34" charset="-122"/>
                <a:cs typeface="Calibri" pitchFamily="34" charset="-120"/>
              </a:rPr>
              <a:t>one</a:t>
            </a:r>
            <a:r>
              <a:rPr lang="en-US" sz="1050" dirty="0">
                <a:solidFill>
                  <a:srgbClr val="8A6A3A"/>
                </a:solidFill>
                <a:latin typeface="Calibri" pitchFamily="34" charset="0"/>
                <a:ea typeface="Calibri" pitchFamily="34" charset="-122"/>
                <a:cs typeface="Calibri" pitchFamily="34" charset="-120"/>
              </a:rPr>
              <a:t> beam</a:t>
            </a:r>
            <a:endParaRPr lang="en-US" sz="1050" dirty="0"/>
          </a:p>
        </p:txBody>
      </p:sp>
      <p:sp>
        <p:nvSpPr>
          <p:cNvPr id="20" name="Text 18"/>
          <p:cNvSpPr/>
          <p:nvPr/>
        </p:nvSpPr>
        <p:spPr>
          <a:xfrm>
            <a:off x="3520440" y="3108960"/>
            <a:ext cx="2286000" cy="411480"/>
          </a:xfrm>
          <a:prstGeom prst="rect">
            <a:avLst/>
          </a:prstGeom>
          <a:noFill/>
          <a:ln/>
        </p:spPr>
        <p:txBody>
          <a:bodyPr wrap="square" lIns="0" tIns="0" rIns="0" bIns="0" rtlCol="0" anchor="t"/>
          <a:lstStyle/>
          <a:p>
            <a:pPr algn="l" indent="0" marL="0">
              <a:buNone/>
            </a:pPr>
            <a:r>
              <a:rPr lang="en-US" sz="1050" dirty="0">
                <a:solidFill>
                  <a:srgbClr val="1A2340"/>
                </a:solidFill>
                <a:latin typeface="Calibri" pitchFamily="34" charset="0"/>
                <a:ea typeface="Calibri" pitchFamily="34" charset="-122"/>
                <a:cs typeface="Calibri" pitchFamily="34" charset="-120"/>
              </a:rPr>
              <a:t>gamma source rotates around the patient</a:t>
            </a:r>
            <a:endParaRPr lang="en-US" sz="1050" dirty="0"/>
          </a:p>
        </p:txBody>
      </p:sp>
      <p:sp>
        <p:nvSpPr>
          <p:cNvPr id="21" name="Shape 19"/>
          <p:cNvSpPr/>
          <p:nvPr/>
        </p:nvSpPr>
        <p:spPr>
          <a:xfrm>
            <a:off x="640080" y="4160520"/>
            <a:ext cx="5166360" cy="91"/>
          </a:xfrm>
          <a:prstGeom prst="line">
            <a:avLst/>
          </a:prstGeom>
          <a:noFill/>
          <a:ln w="12700">
            <a:solidFill>
              <a:srgbClr val="D5DCEB"/>
            </a:solidFill>
            <a:prstDash val="dash"/>
          </a:ln>
        </p:spPr>
      </p:sp>
      <p:sp>
        <p:nvSpPr>
          <p:cNvPr id="22" name="Shape 20"/>
          <p:cNvSpPr/>
          <p:nvPr/>
        </p:nvSpPr>
        <p:spPr>
          <a:xfrm>
            <a:off x="685800" y="4892040"/>
            <a:ext cx="5029200" cy="91440"/>
          </a:xfrm>
          <a:prstGeom prst="rect">
            <a:avLst/>
          </a:prstGeom>
          <a:solidFill>
            <a:srgbClr val="5A6275"/>
          </a:solidFill>
          <a:ln/>
        </p:spPr>
      </p:sp>
      <p:sp>
        <p:nvSpPr>
          <p:cNvPr id="23" name="Shape 21"/>
          <p:cNvSpPr/>
          <p:nvPr/>
        </p:nvSpPr>
        <p:spPr>
          <a:xfrm>
            <a:off x="914400" y="4526280"/>
            <a:ext cx="640080" cy="365760"/>
          </a:xfrm>
          <a:prstGeom prst="rect">
            <a:avLst/>
          </a:prstGeom>
          <a:solidFill>
            <a:srgbClr val="E6EBF4"/>
          </a:solidFill>
          <a:ln w="12700">
            <a:solidFill>
              <a:srgbClr val="6B7385"/>
            </a:solidFill>
            <a:prstDash val="solid"/>
          </a:ln>
        </p:spPr>
      </p:sp>
      <p:sp>
        <p:nvSpPr>
          <p:cNvPr id="24" name="Text 22"/>
          <p:cNvSpPr/>
          <p:nvPr/>
        </p:nvSpPr>
        <p:spPr>
          <a:xfrm>
            <a:off x="914400" y="4526280"/>
            <a:ext cx="640080" cy="365760"/>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sealed</a:t>
            </a:r>
            <a:endParaRPr lang="en-US" sz="1000" dirty="0"/>
          </a:p>
        </p:txBody>
      </p:sp>
      <p:sp>
        <p:nvSpPr>
          <p:cNvPr id="25" name="Shape 23"/>
          <p:cNvSpPr/>
          <p:nvPr/>
        </p:nvSpPr>
        <p:spPr>
          <a:xfrm>
            <a:off x="1828800" y="4526280"/>
            <a:ext cx="640080" cy="365760"/>
          </a:xfrm>
          <a:prstGeom prst="rect">
            <a:avLst/>
          </a:prstGeom>
          <a:solidFill>
            <a:srgbClr val="E6EBF4"/>
          </a:solidFill>
          <a:ln w="12700">
            <a:solidFill>
              <a:srgbClr val="6B7385"/>
            </a:solidFill>
            <a:prstDash val="solid"/>
          </a:ln>
        </p:spPr>
      </p:sp>
      <p:sp>
        <p:nvSpPr>
          <p:cNvPr id="26" name="Text 24"/>
          <p:cNvSpPr/>
          <p:nvPr/>
        </p:nvSpPr>
        <p:spPr>
          <a:xfrm>
            <a:off x="1828800" y="4526280"/>
            <a:ext cx="640080" cy="365760"/>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sealed</a:t>
            </a:r>
            <a:endParaRPr lang="en-US" sz="1000" dirty="0"/>
          </a:p>
        </p:txBody>
      </p:sp>
      <p:sp>
        <p:nvSpPr>
          <p:cNvPr id="27" name="Shape 25"/>
          <p:cNvSpPr/>
          <p:nvPr/>
        </p:nvSpPr>
        <p:spPr>
          <a:xfrm>
            <a:off x="3657600" y="4526280"/>
            <a:ext cx="640080" cy="365760"/>
          </a:xfrm>
          <a:prstGeom prst="rect">
            <a:avLst/>
          </a:prstGeom>
          <a:solidFill>
            <a:srgbClr val="E6EBF4"/>
          </a:solidFill>
          <a:ln w="12700">
            <a:solidFill>
              <a:srgbClr val="6B7385"/>
            </a:solidFill>
            <a:prstDash val="solid"/>
          </a:ln>
        </p:spPr>
      </p:sp>
      <p:sp>
        <p:nvSpPr>
          <p:cNvPr id="28" name="Text 26"/>
          <p:cNvSpPr/>
          <p:nvPr/>
        </p:nvSpPr>
        <p:spPr>
          <a:xfrm>
            <a:off x="3657600" y="4526280"/>
            <a:ext cx="640080" cy="365760"/>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sealed</a:t>
            </a:r>
            <a:endParaRPr lang="en-US" sz="1000" dirty="0"/>
          </a:p>
        </p:txBody>
      </p:sp>
      <p:sp>
        <p:nvSpPr>
          <p:cNvPr id="29" name="Shape 27"/>
          <p:cNvSpPr/>
          <p:nvPr/>
        </p:nvSpPr>
        <p:spPr>
          <a:xfrm>
            <a:off x="4572000" y="4526280"/>
            <a:ext cx="640080" cy="365760"/>
          </a:xfrm>
          <a:prstGeom prst="rect">
            <a:avLst/>
          </a:prstGeom>
          <a:solidFill>
            <a:srgbClr val="E6EBF4"/>
          </a:solidFill>
          <a:ln w="12700">
            <a:solidFill>
              <a:srgbClr val="6B7385"/>
            </a:solidFill>
            <a:prstDash val="solid"/>
          </a:ln>
        </p:spPr>
      </p:sp>
      <p:sp>
        <p:nvSpPr>
          <p:cNvPr id="30" name="Text 28"/>
          <p:cNvSpPr/>
          <p:nvPr/>
        </p:nvSpPr>
        <p:spPr>
          <a:xfrm>
            <a:off x="4572000" y="4526280"/>
            <a:ext cx="640080" cy="365760"/>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sealed</a:t>
            </a:r>
            <a:endParaRPr lang="en-US" sz="1000" dirty="0"/>
          </a:p>
        </p:txBody>
      </p:sp>
      <p:sp>
        <p:nvSpPr>
          <p:cNvPr id="31" name="Shape 29"/>
          <p:cNvSpPr/>
          <p:nvPr/>
        </p:nvSpPr>
        <p:spPr>
          <a:xfrm>
            <a:off x="731520" y="5120640"/>
            <a:ext cx="914400" cy="91"/>
          </a:xfrm>
          <a:prstGeom prst="line">
            <a:avLst/>
          </a:prstGeom>
          <a:noFill/>
          <a:ln w="19050">
            <a:solidFill>
              <a:srgbClr val="1A2340"/>
            </a:solidFill>
            <a:prstDash val="solid"/>
            <a:tailEnd type="triangle"/>
          </a:ln>
        </p:spPr>
      </p:sp>
      <p:sp>
        <p:nvSpPr>
          <p:cNvPr id="32" name="Text 30"/>
          <p:cNvSpPr/>
          <p:nvPr/>
        </p:nvSpPr>
        <p:spPr>
          <a:xfrm>
            <a:off x="1691640" y="5010912"/>
            <a:ext cx="1371600" cy="219456"/>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conveyor</a:t>
            </a:r>
            <a:endParaRPr lang="en-US" sz="1050" dirty="0"/>
          </a:p>
        </p:txBody>
      </p:sp>
      <p:sp>
        <p:nvSpPr>
          <p:cNvPr id="33" name="Shape 31"/>
          <p:cNvSpPr/>
          <p:nvPr/>
        </p:nvSpPr>
        <p:spPr>
          <a:xfrm>
            <a:off x="2651760" y="4251960"/>
            <a:ext cx="731520" cy="320040"/>
          </a:xfrm>
          <a:prstGeom prst="rect">
            <a:avLst/>
          </a:prstGeom>
          <a:solidFill>
            <a:srgbClr val="4A5262"/>
          </a:solidFill>
          <a:ln w="12700">
            <a:solidFill>
              <a:srgbClr val="2E3442"/>
            </a:solidFill>
            <a:prstDash val="solid"/>
          </a:ln>
        </p:spPr>
      </p:sp>
      <p:sp>
        <p:nvSpPr>
          <p:cNvPr id="34" name="Text 32"/>
          <p:cNvSpPr/>
          <p:nvPr/>
        </p:nvSpPr>
        <p:spPr>
          <a:xfrm>
            <a:off x="2651760" y="4251960"/>
            <a:ext cx="73152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Co-60</a:t>
            </a:r>
            <a:endParaRPr lang="en-US" sz="1000" dirty="0"/>
          </a:p>
        </p:txBody>
      </p:sp>
      <p:sp>
        <p:nvSpPr>
          <p:cNvPr id="35" name="Shape 33"/>
          <p:cNvSpPr/>
          <p:nvPr/>
        </p:nvSpPr>
        <p:spPr>
          <a:xfrm flipH="1">
            <a:off x="2824142" y="4572000"/>
            <a:ext cx="10498" cy="9144"/>
          </a:xfrm>
          <a:prstGeom prst="line">
            <a:avLst/>
          </a:prstGeom>
          <a:noFill/>
          <a:ln w="15875">
            <a:solidFill>
              <a:srgbClr val="2E8B57"/>
            </a:solidFill>
            <a:prstDash val="solid"/>
          </a:ln>
        </p:spPr>
      </p:sp>
      <p:sp>
        <p:nvSpPr>
          <p:cNvPr id="36" name="Shape 34"/>
          <p:cNvSpPr/>
          <p:nvPr/>
        </p:nvSpPr>
        <p:spPr>
          <a:xfrm flipH="1">
            <a:off x="2815243" y="4581144"/>
            <a:ext cx="8900" cy="9144"/>
          </a:xfrm>
          <a:prstGeom prst="line">
            <a:avLst/>
          </a:prstGeom>
          <a:noFill/>
          <a:ln w="15875">
            <a:solidFill>
              <a:srgbClr val="2E8B57"/>
            </a:solidFill>
            <a:prstDash val="solid"/>
          </a:ln>
        </p:spPr>
      </p:sp>
      <p:sp>
        <p:nvSpPr>
          <p:cNvPr id="37" name="Shape 35"/>
          <p:cNvSpPr/>
          <p:nvPr/>
        </p:nvSpPr>
        <p:spPr>
          <a:xfrm flipH="1">
            <a:off x="2809296" y="4590288"/>
            <a:ext cx="5947" cy="9144"/>
          </a:xfrm>
          <a:prstGeom prst="line">
            <a:avLst/>
          </a:prstGeom>
          <a:noFill/>
          <a:ln w="15875">
            <a:solidFill>
              <a:srgbClr val="2E8B57"/>
            </a:solidFill>
            <a:prstDash val="solid"/>
          </a:ln>
        </p:spPr>
      </p:sp>
      <p:sp>
        <p:nvSpPr>
          <p:cNvPr id="38" name="Shape 36"/>
          <p:cNvSpPr/>
          <p:nvPr/>
        </p:nvSpPr>
        <p:spPr>
          <a:xfrm flipH="1">
            <a:off x="2807208" y="4599432"/>
            <a:ext cx="2088" cy="9144"/>
          </a:xfrm>
          <a:prstGeom prst="line">
            <a:avLst/>
          </a:prstGeom>
          <a:noFill/>
          <a:ln w="15875">
            <a:solidFill>
              <a:srgbClr val="2E8B57"/>
            </a:solidFill>
            <a:prstDash val="solid"/>
          </a:ln>
        </p:spPr>
      </p:sp>
      <p:sp>
        <p:nvSpPr>
          <p:cNvPr id="39" name="Shape 37"/>
          <p:cNvSpPr/>
          <p:nvPr/>
        </p:nvSpPr>
        <p:spPr>
          <a:xfrm>
            <a:off x="2807208" y="4608576"/>
            <a:ext cx="2088" cy="9144"/>
          </a:xfrm>
          <a:prstGeom prst="line">
            <a:avLst/>
          </a:prstGeom>
          <a:noFill/>
          <a:ln w="15875">
            <a:solidFill>
              <a:srgbClr val="2E8B57"/>
            </a:solidFill>
            <a:prstDash val="solid"/>
          </a:ln>
        </p:spPr>
      </p:sp>
      <p:sp>
        <p:nvSpPr>
          <p:cNvPr id="40" name="Shape 38"/>
          <p:cNvSpPr/>
          <p:nvPr/>
        </p:nvSpPr>
        <p:spPr>
          <a:xfrm>
            <a:off x="2809296" y="4617720"/>
            <a:ext cx="5947" cy="9144"/>
          </a:xfrm>
          <a:prstGeom prst="line">
            <a:avLst/>
          </a:prstGeom>
          <a:noFill/>
          <a:ln w="15875">
            <a:solidFill>
              <a:srgbClr val="2E8B57"/>
            </a:solidFill>
            <a:prstDash val="solid"/>
          </a:ln>
        </p:spPr>
      </p:sp>
      <p:sp>
        <p:nvSpPr>
          <p:cNvPr id="41" name="Shape 39"/>
          <p:cNvSpPr/>
          <p:nvPr/>
        </p:nvSpPr>
        <p:spPr>
          <a:xfrm>
            <a:off x="2815243" y="4626864"/>
            <a:ext cx="8900" cy="9144"/>
          </a:xfrm>
          <a:prstGeom prst="line">
            <a:avLst/>
          </a:prstGeom>
          <a:noFill/>
          <a:ln w="15875">
            <a:solidFill>
              <a:srgbClr val="2E8B57"/>
            </a:solidFill>
            <a:prstDash val="solid"/>
          </a:ln>
        </p:spPr>
      </p:sp>
      <p:sp>
        <p:nvSpPr>
          <p:cNvPr id="42" name="Shape 40"/>
          <p:cNvSpPr/>
          <p:nvPr/>
        </p:nvSpPr>
        <p:spPr>
          <a:xfrm>
            <a:off x="2824142" y="4636008"/>
            <a:ext cx="10498" cy="9144"/>
          </a:xfrm>
          <a:prstGeom prst="line">
            <a:avLst/>
          </a:prstGeom>
          <a:noFill/>
          <a:ln w="15875">
            <a:solidFill>
              <a:srgbClr val="2E8B57"/>
            </a:solidFill>
            <a:prstDash val="solid"/>
          </a:ln>
        </p:spPr>
      </p:sp>
      <p:sp>
        <p:nvSpPr>
          <p:cNvPr id="43" name="Shape 41"/>
          <p:cNvSpPr/>
          <p:nvPr/>
        </p:nvSpPr>
        <p:spPr>
          <a:xfrm>
            <a:off x="2834640" y="4645152"/>
            <a:ext cx="10498" cy="9144"/>
          </a:xfrm>
          <a:prstGeom prst="line">
            <a:avLst/>
          </a:prstGeom>
          <a:noFill/>
          <a:ln w="15875">
            <a:solidFill>
              <a:srgbClr val="2E8B57"/>
            </a:solidFill>
            <a:prstDash val="solid"/>
          </a:ln>
        </p:spPr>
      </p:sp>
      <p:sp>
        <p:nvSpPr>
          <p:cNvPr id="44" name="Shape 42"/>
          <p:cNvSpPr/>
          <p:nvPr/>
        </p:nvSpPr>
        <p:spPr>
          <a:xfrm>
            <a:off x="2845138" y="4654296"/>
            <a:ext cx="8900" cy="9144"/>
          </a:xfrm>
          <a:prstGeom prst="line">
            <a:avLst/>
          </a:prstGeom>
          <a:noFill/>
          <a:ln w="15875">
            <a:solidFill>
              <a:srgbClr val="2E8B57"/>
            </a:solidFill>
            <a:prstDash val="solid"/>
          </a:ln>
        </p:spPr>
      </p:sp>
      <p:sp>
        <p:nvSpPr>
          <p:cNvPr id="45" name="Shape 43"/>
          <p:cNvSpPr/>
          <p:nvPr/>
        </p:nvSpPr>
        <p:spPr>
          <a:xfrm>
            <a:off x="2854037" y="4663440"/>
            <a:ext cx="5947" cy="9144"/>
          </a:xfrm>
          <a:prstGeom prst="line">
            <a:avLst/>
          </a:prstGeom>
          <a:noFill/>
          <a:ln w="15875">
            <a:solidFill>
              <a:srgbClr val="2E8B57"/>
            </a:solidFill>
            <a:prstDash val="solid"/>
          </a:ln>
        </p:spPr>
      </p:sp>
      <p:sp>
        <p:nvSpPr>
          <p:cNvPr id="46" name="Shape 44"/>
          <p:cNvSpPr/>
          <p:nvPr/>
        </p:nvSpPr>
        <p:spPr>
          <a:xfrm>
            <a:off x="2859984" y="4672584"/>
            <a:ext cx="2088" cy="9144"/>
          </a:xfrm>
          <a:prstGeom prst="line">
            <a:avLst/>
          </a:prstGeom>
          <a:noFill/>
          <a:ln w="15875">
            <a:solidFill>
              <a:srgbClr val="2E8B57"/>
            </a:solidFill>
            <a:prstDash val="solid"/>
          </a:ln>
        </p:spPr>
      </p:sp>
      <p:sp>
        <p:nvSpPr>
          <p:cNvPr id="47" name="Shape 45"/>
          <p:cNvSpPr/>
          <p:nvPr/>
        </p:nvSpPr>
        <p:spPr>
          <a:xfrm flipH="1">
            <a:off x="2859984" y="4681728"/>
            <a:ext cx="2088" cy="9144"/>
          </a:xfrm>
          <a:prstGeom prst="line">
            <a:avLst/>
          </a:prstGeom>
          <a:noFill/>
          <a:ln w="15875">
            <a:solidFill>
              <a:srgbClr val="2E8B57"/>
            </a:solidFill>
            <a:prstDash val="solid"/>
          </a:ln>
        </p:spPr>
      </p:sp>
      <p:sp>
        <p:nvSpPr>
          <p:cNvPr id="48" name="Shape 46"/>
          <p:cNvSpPr/>
          <p:nvPr/>
        </p:nvSpPr>
        <p:spPr>
          <a:xfrm flipH="1">
            <a:off x="2854037" y="4690872"/>
            <a:ext cx="5947" cy="9144"/>
          </a:xfrm>
          <a:prstGeom prst="line">
            <a:avLst/>
          </a:prstGeom>
          <a:noFill/>
          <a:ln w="15875">
            <a:solidFill>
              <a:srgbClr val="2E8B57"/>
            </a:solidFill>
            <a:prstDash val="solid"/>
          </a:ln>
        </p:spPr>
      </p:sp>
      <p:sp>
        <p:nvSpPr>
          <p:cNvPr id="49" name="Shape 47"/>
          <p:cNvSpPr/>
          <p:nvPr/>
        </p:nvSpPr>
        <p:spPr>
          <a:xfrm flipH="1">
            <a:off x="2845138" y="4700016"/>
            <a:ext cx="8900" cy="9144"/>
          </a:xfrm>
          <a:prstGeom prst="line">
            <a:avLst/>
          </a:prstGeom>
          <a:noFill/>
          <a:ln w="15875">
            <a:solidFill>
              <a:srgbClr val="2E8B57"/>
            </a:solidFill>
            <a:prstDash val="solid"/>
          </a:ln>
        </p:spPr>
      </p:sp>
      <p:sp>
        <p:nvSpPr>
          <p:cNvPr id="50" name="Shape 48"/>
          <p:cNvSpPr/>
          <p:nvPr/>
        </p:nvSpPr>
        <p:spPr>
          <a:xfrm flipH="1">
            <a:off x="2834640" y="4709160"/>
            <a:ext cx="10498" cy="9144"/>
          </a:xfrm>
          <a:prstGeom prst="line">
            <a:avLst/>
          </a:prstGeom>
          <a:noFill/>
          <a:ln w="15875">
            <a:solidFill>
              <a:srgbClr val="2E8B57"/>
            </a:solidFill>
            <a:prstDash val="solid"/>
          </a:ln>
        </p:spPr>
      </p:sp>
      <p:sp>
        <p:nvSpPr>
          <p:cNvPr id="51" name="Shape 49"/>
          <p:cNvSpPr/>
          <p:nvPr/>
        </p:nvSpPr>
        <p:spPr>
          <a:xfrm flipH="1">
            <a:off x="2824142" y="4718304"/>
            <a:ext cx="10498" cy="9144"/>
          </a:xfrm>
          <a:prstGeom prst="line">
            <a:avLst/>
          </a:prstGeom>
          <a:noFill/>
          <a:ln w="15875">
            <a:solidFill>
              <a:srgbClr val="2E8B57"/>
            </a:solidFill>
            <a:prstDash val="solid"/>
          </a:ln>
        </p:spPr>
      </p:sp>
      <p:sp>
        <p:nvSpPr>
          <p:cNvPr id="52" name="Shape 50"/>
          <p:cNvSpPr/>
          <p:nvPr/>
        </p:nvSpPr>
        <p:spPr>
          <a:xfrm flipH="1">
            <a:off x="2815243" y="4727448"/>
            <a:ext cx="8900" cy="9144"/>
          </a:xfrm>
          <a:prstGeom prst="line">
            <a:avLst/>
          </a:prstGeom>
          <a:noFill/>
          <a:ln w="15875">
            <a:solidFill>
              <a:srgbClr val="2E8B57"/>
            </a:solidFill>
            <a:prstDash val="solid"/>
          </a:ln>
        </p:spPr>
      </p:sp>
      <p:sp>
        <p:nvSpPr>
          <p:cNvPr id="53" name="Shape 51"/>
          <p:cNvSpPr/>
          <p:nvPr/>
        </p:nvSpPr>
        <p:spPr>
          <a:xfrm flipH="1">
            <a:off x="2809296" y="4736592"/>
            <a:ext cx="5947" cy="9144"/>
          </a:xfrm>
          <a:prstGeom prst="line">
            <a:avLst/>
          </a:prstGeom>
          <a:noFill/>
          <a:ln w="15875">
            <a:solidFill>
              <a:srgbClr val="2E8B57"/>
            </a:solidFill>
            <a:prstDash val="solid"/>
          </a:ln>
        </p:spPr>
      </p:sp>
      <p:sp>
        <p:nvSpPr>
          <p:cNvPr id="54" name="Shape 52"/>
          <p:cNvSpPr/>
          <p:nvPr/>
        </p:nvSpPr>
        <p:spPr>
          <a:xfrm flipH="1">
            <a:off x="2807208" y="4745736"/>
            <a:ext cx="2088" cy="9144"/>
          </a:xfrm>
          <a:prstGeom prst="line">
            <a:avLst/>
          </a:prstGeom>
          <a:noFill/>
          <a:ln w="15875">
            <a:solidFill>
              <a:srgbClr val="2E8B57"/>
            </a:solidFill>
            <a:prstDash val="solid"/>
          </a:ln>
        </p:spPr>
      </p:sp>
      <p:sp>
        <p:nvSpPr>
          <p:cNvPr id="55" name="Shape 53"/>
          <p:cNvSpPr/>
          <p:nvPr/>
        </p:nvSpPr>
        <p:spPr>
          <a:xfrm>
            <a:off x="2807208" y="4754880"/>
            <a:ext cx="2088" cy="9144"/>
          </a:xfrm>
          <a:prstGeom prst="line">
            <a:avLst/>
          </a:prstGeom>
          <a:noFill/>
          <a:ln w="15875">
            <a:solidFill>
              <a:srgbClr val="2E8B57"/>
            </a:solidFill>
            <a:prstDash val="solid"/>
          </a:ln>
        </p:spPr>
      </p:sp>
      <p:sp>
        <p:nvSpPr>
          <p:cNvPr id="56" name="Shape 54"/>
          <p:cNvSpPr/>
          <p:nvPr/>
        </p:nvSpPr>
        <p:spPr>
          <a:xfrm>
            <a:off x="2809296" y="4764024"/>
            <a:ext cx="5947" cy="9144"/>
          </a:xfrm>
          <a:prstGeom prst="line">
            <a:avLst/>
          </a:prstGeom>
          <a:noFill/>
          <a:ln w="15875">
            <a:solidFill>
              <a:srgbClr val="2E8B57"/>
            </a:solidFill>
            <a:prstDash val="solid"/>
          </a:ln>
        </p:spPr>
      </p:sp>
      <p:sp>
        <p:nvSpPr>
          <p:cNvPr id="57" name="Shape 55"/>
          <p:cNvSpPr/>
          <p:nvPr/>
        </p:nvSpPr>
        <p:spPr>
          <a:xfrm>
            <a:off x="2815243" y="4773168"/>
            <a:ext cx="8900" cy="9144"/>
          </a:xfrm>
          <a:prstGeom prst="line">
            <a:avLst/>
          </a:prstGeom>
          <a:noFill/>
          <a:ln w="15875">
            <a:solidFill>
              <a:srgbClr val="2E8B57"/>
            </a:solidFill>
            <a:prstDash val="solid"/>
          </a:ln>
        </p:spPr>
      </p:sp>
      <p:sp>
        <p:nvSpPr>
          <p:cNvPr id="58" name="Shape 56"/>
          <p:cNvSpPr/>
          <p:nvPr/>
        </p:nvSpPr>
        <p:spPr>
          <a:xfrm>
            <a:off x="2824142" y="4782312"/>
            <a:ext cx="10498" cy="9144"/>
          </a:xfrm>
          <a:prstGeom prst="line">
            <a:avLst/>
          </a:prstGeom>
          <a:noFill/>
          <a:ln w="15875">
            <a:solidFill>
              <a:srgbClr val="2E8B57"/>
            </a:solidFill>
            <a:prstDash val="solid"/>
          </a:ln>
        </p:spPr>
      </p:sp>
      <p:sp>
        <p:nvSpPr>
          <p:cNvPr id="59" name="Shape 57"/>
          <p:cNvSpPr/>
          <p:nvPr/>
        </p:nvSpPr>
        <p:spPr>
          <a:xfrm>
            <a:off x="2834640" y="4791456"/>
            <a:ext cx="10498" cy="9144"/>
          </a:xfrm>
          <a:prstGeom prst="line">
            <a:avLst/>
          </a:prstGeom>
          <a:noFill/>
          <a:ln w="15875">
            <a:solidFill>
              <a:srgbClr val="2E8B57"/>
            </a:solidFill>
            <a:prstDash val="solid"/>
          </a:ln>
        </p:spPr>
      </p:sp>
      <p:sp>
        <p:nvSpPr>
          <p:cNvPr id="60" name="Shape 58"/>
          <p:cNvSpPr/>
          <p:nvPr/>
        </p:nvSpPr>
        <p:spPr>
          <a:xfrm>
            <a:off x="2845138" y="4800600"/>
            <a:ext cx="8900" cy="9144"/>
          </a:xfrm>
          <a:prstGeom prst="line">
            <a:avLst/>
          </a:prstGeom>
          <a:noFill/>
          <a:ln w="15875">
            <a:solidFill>
              <a:srgbClr val="2E8B57"/>
            </a:solidFill>
            <a:prstDash val="solid"/>
          </a:ln>
        </p:spPr>
      </p:sp>
      <p:sp>
        <p:nvSpPr>
          <p:cNvPr id="61" name="Shape 59"/>
          <p:cNvSpPr/>
          <p:nvPr/>
        </p:nvSpPr>
        <p:spPr>
          <a:xfrm>
            <a:off x="2854037" y="4809744"/>
            <a:ext cx="5947" cy="9144"/>
          </a:xfrm>
          <a:prstGeom prst="line">
            <a:avLst/>
          </a:prstGeom>
          <a:noFill/>
          <a:ln w="15875">
            <a:solidFill>
              <a:srgbClr val="2E8B57"/>
            </a:solidFill>
            <a:prstDash val="solid"/>
          </a:ln>
        </p:spPr>
      </p:sp>
      <p:sp>
        <p:nvSpPr>
          <p:cNvPr id="62" name="Shape 60"/>
          <p:cNvSpPr/>
          <p:nvPr/>
        </p:nvSpPr>
        <p:spPr>
          <a:xfrm>
            <a:off x="2859984" y="4818888"/>
            <a:ext cx="2088" cy="9144"/>
          </a:xfrm>
          <a:prstGeom prst="line">
            <a:avLst/>
          </a:prstGeom>
          <a:noFill/>
          <a:ln w="15875">
            <a:solidFill>
              <a:srgbClr val="2E8B57"/>
            </a:solidFill>
            <a:prstDash val="solid"/>
          </a:ln>
        </p:spPr>
      </p:sp>
      <p:sp>
        <p:nvSpPr>
          <p:cNvPr id="63" name="Shape 61"/>
          <p:cNvSpPr/>
          <p:nvPr/>
        </p:nvSpPr>
        <p:spPr>
          <a:xfrm flipH="1">
            <a:off x="2859984" y="4828032"/>
            <a:ext cx="2088" cy="9144"/>
          </a:xfrm>
          <a:prstGeom prst="line">
            <a:avLst/>
          </a:prstGeom>
          <a:noFill/>
          <a:ln w="15875">
            <a:solidFill>
              <a:srgbClr val="2E8B57"/>
            </a:solidFill>
            <a:prstDash val="solid"/>
          </a:ln>
        </p:spPr>
      </p:sp>
      <p:sp>
        <p:nvSpPr>
          <p:cNvPr id="64" name="Shape 62"/>
          <p:cNvSpPr/>
          <p:nvPr/>
        </p:nvSpPr>
        <p:spPr>
          <a:xfrm flipH="1">
            <a:off x="2854037" y="4837176"/>
            <a:ext cx="5947" cy="9144"/>
          </a:xfrm>
          <a:prstGeom prst="line">
            <a:avLst/>
          </a:prstGeom>
          <a:noFill/>
          <a:ln w="15875">
            <a:solidFill>
              <a:srgbClr val="2E8B57"/>
            </a:solidFill>
            <a:prstDash val="solid"/>
          </a:ln>
        </p:spPr>
      </p:sp>
      <p:sp>
        <p:nvSpPr>
          <p:cNvPr id="65" name="Shape 63"/>
          <p:cNvSpPr/>
          <p:nvPr/>
        </p:nvSpPr>
        <p:spPr>
          <a:xfrm flipH="1">
            <a:off x="2845138" y="4846320"/>
            <a:ext cx="8900" cy="9144"/>
          </a:xfrm>
          <a:prstGeom prst="line">
            <a:avLst/>
          </a:prstGeom>
          <a:noFill/>
          <a:ln w="15875">
            <a:solidFill>
              <a:srgbClr val="2E8B57"/>
            </a:solidFill>
            <a:prstDash val="solid"/>
          </a:ln>
        </p:spPr>
      </p:sp>
      <p:sp>
        <p:nvSpPr>
          <p:cNvPr id="66" name="Shape 64"/>
          <p:cNvSpPr/>
          <p:nvPr/>
        </p:nvSpPr>
        <p:spPr>
          <a:xfrm flipH="1">
            <a:off x="2834640" y="4855464"/>
            <a:ext cx="10498" cy="9144"/>
          </a:xfrm>
          <a:prstGeom prst="line">
            <a:avLst/>
          </a:prstGeom>
          <a:noFill/>
          <a:ln w="15875">
            <a:solidFill>
              <a:srgbClr val="2E8B57"/>
            </a:solidFill>
            <a:prstDash val="solid"/>
          </a:ln>
        </p:spPr>
      </p:sp>
      <p:sp>
        <p:nvSpPr>
          <p:cNvPr id="67" name="Shape 65"/>
          <p:cNvSpPr/>
          <p:nvPr/>
        </p:nvSpPr>
        <p:spPr>
          <a:xfrm flipH="1">
            <a:off x="3007022" y="4572000"/>
            <a:ext cx="10498" cy="9144"/>
          </a:xfrm>
          <a:prstGeom prst="line">
            <a:avLst/>
          </a:prstGeom>
          <a:noFill/>
          <a:ln w="15875">
            <a:solidFill>
              <a:srgbClr val="2E8B57"/>
            </a:solidFill>
            <a:prstDash val="solid"/>
          </a:ln>
        </p:spPr>
      </p:sp>
      <p:sp>
        <p:nvSpPr>
          <p:cNvPr id="68" name="Shape 66"/>
          <p:cNvSpPr/>
          <p:nvPr/>
        </p:nvSpPr>
        <p:spPr>
          <a:xfrm flipH="1">
            <a:off x="2998123" y="4581144"/>
            <a:ext cx="8900" cy="9144"/>
          </a:xfrm>
          <a:prstGeom prst="line">
            <a:avLst/>
          </a:prstGeom>
          <a:noFill/>
          <a:ln w="15875">
            <a:solidFill>
              <a:srgbClr val="2E8B57"/>
            </a:solidFill>
            <a:prstDash val="solid"/>
          </a:ln>
        </p:spPr>
      </p:sp>
      <p:sp>
        <p:nvSpPr>
          <p:cNvPr id="69" name="Shape 67"/>
          <p:cNvSpPr/>
          <p:nvPr/>
        </p:nvSpPr>
        <p:spPr>
          <a:xfrm flipH="1">
            <a:off x="2992176" y="4590288"/>
            <a:ext cx="5947" cy="9144"/>
          </a:xfrm>
          <a:prstGeom prst="line">
            <a:avLst/>
          </a:prstGeom>
          <a:noFill/>
          <a:ln w="15875">
            <a:solidFill>
              <a:srgbClr val="2E8B57"/>
            </a:solidFill>
            <a:prstDash val="solid"/>
          </a:ln>
        </p:spPr>
      </p:sp>
      <p:sp>
        <p:nvSpPr>
          <p:cNvPr id="70" name="Shape 68"/>
          <p:cNvSpPr/>
          <p:nvPr/>
        </p:nvSpPr>
        <p:spPr>
          <a:xfrm flipH="1">
            <a:off x="2990088" y="4599432"/>
            <a:ext cx="2088" cy="9144"/>
          </a:xfrm>
          <a:prstGeom prst="line">
            <a:avLst/>
          </a:prstGeom>
          <a:noFill/>
          <a:ln w="15875">
            <a:solidFill>
              <a:srgbClr val="2E8B57"/>
            </a:solidFill>
            <a:prstDash val="solid"/>
          </a:ln>
        </p:spPr>
      </p:sp>
      <p:sp>
        <p:nvSpPr>
          <p:cNvPr id="71" name="Shape 69"/>
          <p:cNvSpPr/>
          <p:nvPr/>
        </p:nvSpPr>
        <p:spPr>
          <a:xfrm>
            <a:off x="2990088" y="4608576"/>
            <a:ext cx="2088" cy="9144"/>
          </a:xfrm>
          <a:prstGeom prst="line">
            <a:avLst/>
          </a:prstGeom>
          <a:noFill/>
          <a:ln w="15875">
            <a:solidFill>
              <a:srgbClr val="2E8B57"/>
            </a:solidFill>
            <a:prstDash val="solid"/>
          </a:ln>
        </p:spPr>
      </p:sp>
      <p:sp>
        <p:nvSpPr>
          <p:cNvPr id="72" name="Shape 70"/>
          <p:cNvSpPr/>
          <p:nvPr/>
        </p:nvSpPr>
        <p:spPr>
          <a:xfrm>
            <a:off x="2992176" y="4617720"/>
            <a:ext cx="5947" cy="9144"/>
          </a:xfrm>
          <a:prstGeom prst="line">
            <a:avLst/>
          </a:prstGeom>
          <a:noFill/>
          <a:ln w="15875">
            <a:solidFill>
              <a:srgbClr val="2E8B57"/>
            </a:solidFill>
            <a:prstDash val="solid"/>
          </a:ln>
        </p:spPr>
      </p:sp>
      <p:sp>
        <p:nvSpPr>
          <p:cNvPr id="73" name="Shape 71"/>
          <p:cNvSpPr/>
          <p:nvPr/>
        </p:nvSpPr>
        <p:spPr>
          <a:xfrm>
            <a:off x="2998123" y="4626864"/>
            <a:ext cx="8900" cy="9144"/>
          </a:xfrm>
          <a:prstGeom prst="line">
            <a:avLst/>
          </a:prstGeom>
          <a:noFill/>
          <a:ln w="15875">
            <a:solidFill>
              <a:srgbClr val="2E8B57"/>
            </a:solidFill>
            <a:prstDash val="solid"/>
          </a:ln>
        </p:spPr>
      </p:sp>
      <p:sp>
        <p:nvSpPr>
          <p:cNvPr id="74" name="Shape 72"/>
          <p:cNvSpPr/>
          <p:nvPr/>
        </p:nvSpPr>
        <p:spPr>
          <a:xfrm>
            <a:off x="3007022" y="4636008"/>
            <a:ext cx="10498" cy="9144"/>
          </a:xfrm>
          <a:prstGeom prst="line">
            <a:avLst/>
          </a:prstGeom>
          <a:noFill/>
          <a:ln w="15875">
            <a:solidFill>
              <a:srgbClr val="2E8B57"/>
            </a:solidFill>
            <a:prstDash val="solid"/>
          </a:ln>
        </p:spPr>
      </p:sp>
      <p:sp>
        <p:nvSpPr>
          <p:cNvPr id="75" name="Shape 73"/>
          <p:cNvSpPr/>
          <p:nvPr/>
        </p:nvSpPr>
        <p:spPr>
          <a:xfrm>
            <a:off x="3017520" y="4645152"/>
            <a:ext cx="10498" cy="9144"/>
          </a:xfrm>
          <a:prstGeom prst="line">
            <a:avLst/>
          </a:prstGeom>
          <a:noFill/>
          <a:ln w="15875">
            <a:solidFill>
              <a:srgbClr val="2E8B57"/>
            </a:solidFill>
            <a:prstDash val="solid"/>
          </a:ln>
        </p:spPr>
      </p:sp>
      <p:sp>
        <p:nvSpPr>
          <p:cNvPr id="76" name="Shape 74"/>
          <p:cNvSpPr/>
          <p:nvPr/>
        </p:nvSpPr>
        <p:spPr>
          <a:xfrm>
            <a:off x="3028018" y="4654296"/>
            <a:ext cx="8900" cy="9144"/>
          </a:xfrm>
          <a:prstGeom prst="line">
            <a:avLst/>
          </a:prstGeom>
          <a:noFill/>
          <a:ln w="15875">
            <a:solidFill>
              <a:srgbClr val="2E8B57"/>
            </a:solidFill>
            <a:prstDash val="solid"/>
          </a:ln>
        </p:spPr>
      </p:sp>
      <p:sp>
        <p:nvSpPr>
          <p:cNvPr id="77" name="Shape 75"/>
          <p:cNvSpPr/>
          <p:nvPr/>
        </p:nvSpPr>
        <p:spPr>
          <a:xfrm>
            <a:off x="3036917" y="4663440"/>
            <a:ext cx="5947" cy="9144"/>
          </a:xfrm>
          <a:prstGeom prst="line">
            <a:avLst/>
          </a:prstGeom>
          <a:noFill/>
          <a:ln w="15875">
            <a:solidFill>
              <a:srgbClr val="2E8B57"/>
            </a:solidFill>
            <a:prstDash val="solid"/>
          </a:ln>
        </p:spPr>
      </p:sp>
      <p:sp>
        <p:nvSpPr>
          <p:cNvPr id="78" name="Shape 76"/>
          <p:cNvSpPr/>
          <p:nvPr/>
        </p:nvSpPr>
        <p:spPr>
          <a:xfrm>
            <a:off x="3042864" y="4672584"/>
            <a:ext cx="2088" cy="9144"/>
          </a:xfrm>
          <a:prstGeom prst="line">
            <a:avLst/>
          </a:prstGeom>
          <a:noFill/>
          <a:ln w="15875">
            <a:solidFill>
              <a:srgbClr val="2E8B57"/>
            </a:solidFill>
            <a:prstDash val="solid"/>
          </a:ln>
        </p:spPr>
      </p:sp>
      <p:sp>
        <p:nvSpPr>
          <p:cNvPr id="79" name="Shape 77"/>
          <p:cNvSpPr/>
          <p:nvPr/>
        </p:nvSpPr>
        <p:spPr>
          <a:xfrm flipH="1">
            <a:off x="3042864" y="4681728"/>
            <a:ext cx="2088" cy="9144"/>
          </a:xfrm>
          <a:prstGeom prst="line">
            <a:avLst/>
          </a:prstGeom>
          <a:noFill/>
          <a:ln w="15875">
            <a:solidFill>
              <a:srgbClr val="2E8B57"/>
            </a:solidFill>
            <a:prstDash val="solid"/>
          </a:ln>
        </p:spPr>
      </p:sp>
      <p:sp>
        <p:nvSpPr>
          <p:cNvPr id="80" name="Shape 78"/>
          <p:cNvSpPr/>
          <p:nvPr/>
        </p:nvSpPr>
        <p:spPr>
          <a:xfrm flipH="1">
            <a:off x="3036917" y="4690872"/>
            <a:ext cx="5947" cy="9144"/>
          </a:xfrm>
          <a:prstGeom prst="line">
            <a:avLst/>
          </a:prstGeom>
          <a:noFill/>
          <a:ln w="15875">
            <a:solidFill>
              <a:srgbClr val="2E8B57"/>
            </a:solidFill>
            <a:prstDash val="solid"/>
          </a:ln>
        </p:spPr>
      </p:sp>
      <p:sp>
        <p:nvSpPr>
          <p:cNvPr id="81" name="Shape 79"/>
          <p:cNvSpPr/>
          <p:nvPr/>
        </p:nvSpPr>
        <p:spPr>
          <a:xfrm flipH="1">
            <a:off x="3028018" y="4700016"/>
            <a:ext cx="8900" cy="9144"/>
          </a:xfrm>
          <a:prstGeom prst="line">
            <a:avLst/>
          </a:prstGeom>
          <a:noFill/>
          <a:ln w="15875">
            <a:solidFill>
              <a:srgbClr val="2E8B57"/>
            </a:solidFill>
            <a:prstDash val="solid"/>
          </a:ln>
        </p:spPr>
      </p:sp>
      <p:sp>
        <p:nvSpPr>
          <p:cNvPr id="82" name="Shape 80"/>
          <p:cNvSpPr/>
          <p:nvPr/>
        </p:nvSpPr>
        <p:spPr>
          <a:xfrm flipH="1">
            <a:off x="3017520" y="4709160"/>
            <a:ext cx="10498" cy="9144"/>
          </a:xfrm>
          <a:prstGeom prst="line">
            <a:avLst/>
          </a:prstGeom>
          <a:noFill/>
          <a:ln w="15875">
            <a:solidFill>
              <a:srgbClr val="2E8B57"/>
            </a:solidFill>
            <a:prstDash val="solid"/>
          </a:ln>
        </p:spPr>
      </p:sp>
      <p:sp>
        <p:nvSpPr>
          <p:cNvPr id="83" name="Shape 81"/>
          <p:cNvSpPr/>
          <p:nvPr/>
        </p:nvSpPr>
        <p:spPr>
          <a:xfrm flipH="1">
            <a:off x="3007022" y="4718304"/>
            <a:ext cx="10498" cy="9144"/>
          </a:xfrm>
          <a:prstGeom prst="line">
            <a:avLst/>
          </a:prstGeom>
          <a:noFill/>
          <a:ln w="15875">
            <a:solidFill>
              <a:srgbClr val="2E8B57"/>
            </a:solidFill>
            <a:prstDash val="solid"/>
          </a:ln>
        </p:spPr>
      </p:sp>
      <p:sp>
        <p:nvSpPr>
          <p:cNvPr id="84" name="Shape 82"/>
          <p:cNvSpPr/>
          <p:nvPr/>
        </p:nvSpPr>
        <p:spPr>
          <a:xfrm flipH="1">
            <a:off x="2998123" y="4727448"/>
            <a:ext cx="8900" cy="9144"/>
          </a:xfrm>
          <a:prstGeom prst="line">
            <a:avLst/>
          </a:prstGeom>
          <a:noFill/>
          <a:ln w="15875">
            <a:solidFill>
              <a:srgbClr val="2E8B57"/>
            </a:solidFill>
            <a:prstDash val="solid"/>
          </a:ln>
        </p:spPr>
      </p:sp>
      <p:sp>
        <p:nvSpPr>
          <p:cNvPr id="85" name="Shape 83"/>
          <p:cNvSpPr/>
          <p:nvPr/>
        </p:nvSpPr>
        <p:spPr>
          <a:xfrm flipH="1">
            <a:off x="2992176" y="4736592"/>
            <a:ext cx="5947" cy="9144"/>
          </a:xfrm>
          <a:prstGeom prst="line">
            <a:avLst/>
          </a:prstGeom>
          <a:noFill/>
          <a:ln w="15875">
            <a:solidFill>
              <a:srgbClr val="2E8B57"/>
            </a:solidFill>
            <a:prstDash val="solid"/>
          </a:ln>
        </p:spPr>
      </p:sp>
      <p:sp>
        <p:nvSpPr>
          <p:cNvPr id="86" name="Shape 84"/>
          <p:cNvSpPr/>
          <p:nvPr/>
        </p:nvSpPr>
        <p:spPr>
          <a:xfrm flipH="1">
            <a:off x="2990088" y="4745736"/>
            <a:ext cx="2088" cy="9144"/>
          </a:xfrm>
          <a:prstGeom prst="line">
            <a:avLst/>
          </a:prstGeom>
          <a:noFill/>
          <a:ln w="15875">
            <a:solidFill>
              <a:srgbClr val="2E8B57"/>
            </a:solidFill>
            <a:prstDash val="solid"/>
          </a:ln>
        </p:spPr>
      </p:sp>
      <p:sp>
        <p:nvSpPr>
          <p:cNvPr id="87" name="Shape 85"/>
          <p:cNvSpPr/>
          <p:nvPr/>
        </p:nvSpPr>
        <p:spPr>
          <a:xfrm>
            <a:off x="2990088" y="4754880"/>
            <a:ext cx="2088" cy="9144"/>
          </a:xfrm>
          <a:prstGeom prst="line">
            <a:avLst/>
          </a:prstGeom>
          <a:noFill/>
          <a:ln w="15875">
            <a:solidFill>
              <a:srgbClr val="2E8B57"/>
            </a:solidFill>
            <a:prstDash val="solid"/>
          </a:ln>
        </p:spPr>
      </p:sp>
      <p:sp>
        <p:nvSpPr>
          <p:cNvPr id="88" name="Shape 86"/>
          <p:cNvSpPr/>
          <p:nvPr/>
        </p:nvSpPr>
        <p:spPr>
          <a:xfrm>
            <a:off x="2992176" y="4764024"/>
            <a:ext cx="5947" cy="9144"/>
          </a:xfrm>
          <a:prstGeom prst="line">
            <a:avLst/>
          </a:prstGeom>
          <a:noFill/>
          <a:ln w="15875">
            <a:solidFill>
              <a:srgbClr val="2E8B57"/>
            </a:solidFill>
            <a:prstDash val="solid"/>
          </a:ln>
        </p:spPr>
      </p:sp>
      <p:sp>
        <p:nvSpPr>
          <p:cNvPr id="89" name="Shape 87"/>
          <p:cNvSpPr/>
          <p:nvPr/>
        </p:nvSpPr>
        <p:spPr>
          <a:xfrm>
            <a:off x="2998123" y="4773168"/>
            <a:ext cx="8900" cy="9144"/>
          </a:xfrm>
          <a:prstGeom prst="line">
            <a:avLst/>
          </a:prstGeom>
          <a:noFill/>
          <a:ln w="15875">
            <a:solidFill>
              <a:srgbClr val="2E8B57"/>
            </a:solidFill>
            <a:prstDash val="solid"/>
          </a:ln>
        </p:spPr>
      </p:sp>
      <p:sp>
        <p:nvSpPr>
          <p:cNvPr id="90" name="Shape 88"/>
          <p:cNvSpPr/>
          <p:nvPr/>
        </p:nvSpPr>
        <p:spPr>
          <a:xfrm>
            <a:off x="3007022" y="4782312"/>
            <a:ext cx="10498" cy="9144"/>
          </a:xfrm>
          <a:prstGeom prst="line">
            <a:avLst/>
          </a:prstGeom>
          <a:noFill/>
          <a:ln w="15875">
            <a:solidFill>
              <a:srgbClr val="2E8B57"/>
            </a:solidFill>
            <a:prstDash val="solid"/>
          </a:ln>
        </p:spPr>
      </p:sp>
      <p:sp>
        <p:nvSpPr>
          <p:cNvPr id="91" name="Shape 89"/>
          <p:cNvSpPr/>
          <p:nvPr/>
        </p:nvSpPr>
        <p:spPr>
          <a:xfrm>
            <a:off x="3017520" y="4791456"/>
            <a:ext cx="10498" cy="9144"/>
          </a:xfrm>
          <a:prstGeom prst="line">
            <a:avLst/>
          </a:prstGeom>
          <a:noFill/>
          <a:ln w="15875">
            <a:solidFill>
              <a:srgbClr val="2E8B57"/>
            </a:solidFill>
            <a:prstDash val="solid"/>
          </a:ln>
        </p:spPr>
      </p:sp>
      <p:sp>
        <p:nvSpPr>
          <p:cNvPr id="92" name="Shape 90"/>
          <p:cNvSpPr/>
          <p:nvPr/>
        </p:nvSpPr>
        <p:spPr>
          <a:xfrm>
            <a:off x="3028018" y="4800600"/>
            <a:ext cx="8900" cy="9144"/>
          </a:xfrm>
          <a:prstGeom prst="line">
            <a:avLst/>
          </a:prstGeom>
          <a:noFill/>
          <a:ln w="15875">
            <a:solidFill>
              <a:srgbClr val="2E8B57"/>
            </a:solidFill>
            <a:prstDash val="solid"/>
          </a:ln>
        </p:spPr>
      </p:sp>
      <p:sp>
        <p:nvSpPr>
          <p:cNvPr id="93" name="Shape 91"/>
          <p:cNvSpPr/>
          <p:nvPr/>
        </p:nvSpPr>
        <p:spPr>
          <a:xfrm>
            <a:off x="3036917" y="4809744"/>
            <a:ext cx="5947" cy="9144"/>
          </a:xfrm>
          <a:prstGeom prst="line">
            <a:avLst/>
          </a:prstGeom>
          <a:noFill/>
          <a:ln w="15875">
            <a:solidFill>
              <a:srgbClr val="2E8B57"/>
            </a:solidFill>
            <a:prstDash val="solid"/>
          </a:ln>
        </p:spPr>
      </p:sp>
      <p:sp>
        <p:nvSpPr>
          <p:cNvPr id="94" name="Shape 92"/>
          <p:cNvSpPr/>
          <p:nvPr/>
        </p:nvSpPr>
        <p:spPr>
          <a:xfrm>
            <a:off x="3042864" y="4818888"/>
            <a:ext cx="2088" cy="9144"/>
          </a:xfrm>
          <a:prstGeom prst="line">
            <a:avLst/>
          </a:prstGeom>
          <a:noFill/>
          <a:ln w="15875">
            <a:solidFill>
              <a:srgbClr val="2E8B57"/>
            </a:solidFill>
            <a:prstDash val="solid"/>
          </a:ln>
        </p:spPr>
      </p:sp>
      <p:sp>
        <p:nvSpPr>
          <p:cNvPr id="95" name="Shape 93"/>
          <p:cNvSpPr/>
          <p:nvPr/>
        </p:nvSpPr>
        <p:spPr>
          <a:xfrm flipH="1">
            <a:off x="3042864" y="4828032"/>
            <a:ext cx="2088" cy="9144"/>
          </a:xfrm>
          <a:prstGeom prst="line">
            <a:avLst/>
          </a:prstGeom>
          <a:noFill/>
          <a:ln w="15875">
            <a:solidFill>
              <a:srgbClr val="2E8B57"/>
            </a:solidFill>
            <a:prstDash val="solid"/>
          </a:ln>
        </p:spPr>
      </p:sp>
      <p:sp>
        <p:nvSpPr>
          <p:cNvPr id="96" name="Shape 94"/>
          <p:cNvSpPr/>
          <p:nvPr/>
        </p:nvSpPr>
        <p:spPr>
          <a:xfrm flipH="1">
            <a:off x="3036917" y="4837176"/>
            <a:ext cx="5947" cy="9144"/>
          </a:xfrm>
          <a:prstGeom prst="line">
            <a:avLst/>
          </a:prstGeom>
          <a:noFill/>
          <a:ln w="15875">
            <a:solidFill>
              <a:srgbClr val="2E8B57"/>
            </a:solidFill>
            <a:prstDash val="solid"/>
          </a:ln>
        </p:spPr>
      </p:sp>
      <p:sp>
        <p:nvSpPr>
          <p:cNvPr id="97" name="Shape 95"/>
          <p:cNvSpPr/>
          <p:nvPr/>
        </p:nvSpPr>
        <p:spPr>
          <a:xfrm flipH="1">
            <a:off x="3028018" y="4846320"/>
            <a:ext cx="8900" cy="9144"/>
          </a:xfrm>
          <a:prstGeom prst="line">
            <a:avLst/>
          </a:prstGeom>
          <a:noFill/>
          <a:ln w="15875">
            <a:solidFill>
              <a:srgbClr val="2E8B57"/>
            </a:solidFill>
            <a:prstDash val="solid"/>
          </a:ln>
        </p:spPr>
      </p:sp>
      <p:sp>
        <p:nvSpPr>
          <p:cNvPr id="98" name="Shape 96"/>
          <p:cNvSpPr/>
          <p:nvPr/>
        </p:nvSpPr>
        <p:spPr>
          <a:xfrm flipH="1">
            <a:off x="3017520" y="4855464"/>
            <a:ext cx="10498" cy="9144"/>
          </a:xfrm>
          <a:prstGeom prst="line">
            <a:avLst/>
          </a:prstGeom>
          <a:noFill/>
          <a:ln w="15875">
            <a:solidFill>
              <a:srgbClr val="2E8B57"/>
            </a:solidFill>
            <a:prstDash val="solid"/>
          </a:ln>
        </p:spPr>
      </p:sp>
      <p:sp>
        <p:nvSpPr>
          <p:cNvPr id="99" name="Shape 97"/>
          <p:cNvSpPr/>
          <p:nvPr/>
        </p:nvSpPr>
        <p:spPr>
          <a:xfrm flipH="1">
            <a:off x="3189902" y="4572000"/>
            <a:ext cx="10498" cy="9144"/>
          </a:xfrm>
          <a:prstGeom prst="line">
            <a:avLst/>
          </a:prstGeom>
          <a:noFill/>
          <a:ln w="15875">
            <a:solidFill>
              <a:srgbClr val="2E8B57"/>
            </a:solidFill>
            <a:prstDash val="solid"/>
          </a:ln>
        </p:spPr>
      </p:sp>
      <p:sp>
        <p:nvSpPr>
          <p:cNvPr id="100" name="Shape 98"/>
          <p:cNvSpPr/>
          <p:nvPr/>
        </p:nvSpPr>
        <p:spPr>
          <a:xfrm flipH="1">
            <a:off x="3181003" y="4581144"/>
            <a:ext cx="8900" cy="9144"/>
          </a:xfrm>
          <a:prstGeom prst="line">
            <a:avLst/>
          </a:prstGeom>
          <a:noFill/>
          <a:ln w="15875">
            <a:solidFill>
              <a:srgbClr val="2E8B57"/>
            </a:solidFill>
            <a:prstDash val="solid"/>
          </a:ln>
        </p:spPr>
      </p:sp>
      <p:sp>
        <p:nvSpPr>
          <p:cNvPr id="101" name="Shape 99"/>
          <p:cNvSpPr/>
          <p:nvPr/>
        </p:nvSpPr>
        <p:spPr>
          <a:xfrm flipH="1">
            <a:off x="3175056" y="4590288"/>
            <a:ext cx="5947" cy="9144"/>
          </a:xfrm>
          <a:prstGeom prst="line">
            <a:avLst/>
          </a:prstGeom>
          <a:noFill/>
          <a:ln w="15875">
            <a:solidFill>
              <a:srgbClr val="2E8B57"/>
            </a:solidFill>
            <a:prstDash val="solid"/>
          </a:ln>
        </p:spPr>
      </p:sp>
      <p:sp>
        <p:nvSpPr>
          <p:cNvPr id="102" name="Shape 100"/>
          <p:cNvSpPr/>
          <p:nvPr/>
        </p:nvSpPr>
        <p:spPr>
          <a:xfrm flipH="1">
            <a:off x="3172968" y="4599432"/>
            <a:ext cx="2088" cy="9144"/>
          </a:xfrm>
          <a:prstGeom prst="line">
            <a:avLst/>
          </a:prstGeom>
          <a:noFill/>
          <a:ln w="15875">
            <a:solidFill>
              <a:srgbClr val="2E8B57"/>
            </a:solidFill>
            <a:prstDash val="solid"/>
          </a:ln>
        </p:spPr>
      </p:sp>
      <p:sp>
        <p:nvSpPr>
          <p:cNvPr id="103" name="Shape 101"/>
          <p:cNvSpPr/>
          <p:nvPr/>
        </p:nvSpPr>
        <p:spPr>
          <a:xfrm>
            <a:off x="3172968" y="4608576"/>
            <a:ext cx="2088" cy="9144"/>
          </a:xfrm>
          <a:prstGeom prst="line">
            <a:avLst/>
          </a:prstGeom>
          <a:noFill/>
          <a:ln w="15875">
            <a:solidFill>
              <a:srgbClr val="2E8B57"/>
            </a:solidFill>
            <a:prstDash val="solid"/>
          </a:ln>
        </p:spPr>
      </p:sp>
      <p:sp>
        <p:nvSpPr>
          <p:cNvPr id="104" name="Shape 102"/>
          <p:cNvSpPr/>
          <p:nvPr/>
        </p:nvSpPr>
        <p:spPr>
          <a:xfrm>
            <a:off x="3175056" y="4617720"/>
            <a:ext cx="5947" cy="9144"/>
          </a:xfrm>
          <a:prstGeom prst="line">
            <a:avLst/>
          </a:prstGeom>
          <a:noFill/>
          <a:ln w="15875">
            <a:solidFill>
              <a:srgbClr val="2E8B57"/>
            </a:solidFill>
            <a:prstDash val="solid"/>
          </a:ln>
        </p:spPr>
      </p:sp>
      <p:sp>
        <p:nvSpPr>
          <p:cNvPr id="105" name="Shape 103"/>
          <p:cNvSpPr/>
          <p:nvPr/>
        </p:nvSpPr>
        <p:spPr>
          <a:xfrm>
            <a:off x="3181003" y="4626864"/>
            <a:ext cx="8900" cy="9144"/>
          </a:xfrm>
          <a:prstGeom prst="line">
            <a:avLst/>
          </a:prstGeom>
          <a:noFill/>
          <a:ln w="15875">
            <a:solidFill>
              <a:srgbClr val="2E8B57"/>
            </a:solidFill>
            <a:prstDash val="solid"/>
          </a:ln>
        </p:spPr>
      </p:sp>
      <p:sp>
        <p:nvSpPr>
          <p:cNvPr id="106" name="Shape 104"/>
          <p:cNvSpPr/>
          <p:nvPr/>
        </p:nvSpPr>
        <p:spPr>
          <a:xfrm>
            <a:off x="3189902" y="4636008"/>
            <a:ext cx="10498" cy="9144"/>
          </a:xfrm>
          <a:prstGeom prst="line">
            <a:avLst/>
          </a:prstGeom>
          <a:noFill/>
          <a:ln w="15875">
            <a:solidFill>
              <a:srgbClr val="2E8B57"/>
            </a:solidFill>
            <a:prstDash val="solid"/>
          </a:ln>
        </p:spPr>
      </p:sp>
      <p:sp>
        <p:nvSpPr>
          <p:cNvPr id="107" name="Shape 105"/>
          <p:cNvSpPr/>
          <p:nvPr/>
        </p:nvSpPr>
        <p:spPr>
          <a:xfrm>
            <a:off x="3200400" y="4645152"/>
            <a:ext cx="10498" cy="9144"/>
          </a:xfrm>
          <a:prstGeom prst="line">
            <a:avLst/>
          </a:prstGeom>
          <a:noFill/>
          <a:ln w="15875">
            <a:solidFill>
              <a:srgbClr val="2E8B57"/>
            </a:solidFill>
            <a:prstDash val="solid"/>
          </a:ln>
        </p:spPr>
      </p:sp>
      <p:sp>
        <p:nvSpPr>
          <p:cNvPr id="108" name="Shape 106"/>
          <p:cNvSpPr/>
          <p:nvPr/>
        </p:nvSpPr>
        <p:spPr>
          <a:xfrm>
            <a:off x="3210898" y="4654296"/>
            <a:ext cx="8900" cy="9144"/>
          </a:xfrm>
          <a:prstGeom prst="line">
            <a:avLst/>
          </a:prstGeom>
          <a:noFill/>
          <a:ln w="15875">
            <a:solidFill>
              <a:srgbClr val="2E8B57"/>
            </a:solidFill>
            <a:prstDash val="solid"/>
          </a:ln>
        </p:spPr>
      </p:sp>
      <p:sp>
        <p:nvSpPr>
          <p:cNvPr id="109" name="Shape 107"/>
          <p:cNvSpPr/>
          <p:nvPr/>
        </p:nvSpPr>
        <p:spPr>
          <a:xfrm>
            <a:off x="3219797" y="4663440"/>
            <a:ext cx="5947" cy="9144"/>
          </a:xfrm>
          <a:prstGeom prst="line">
            <a:avLst/>
          </a:prstGeom>
          <a:noFill/>
          <a:ln w="15875">
            <a:solidFill>
              <a:srgbClr val="2E8B57"/>
            </a:solidFill>
            <a:prstDash val="solid"/>
          </a:ln>
        </p:spPr>
      </p:sp>
      <p:sp>
        <p:nvSpPr>
          <p:cNvPr id="110" name="Shape 108"/>
          <p:cNvSpPr/>
          <p:nvPr/>
        </p:nvSpPr>
        <p:spPr>
          <a:xfrm>
            <a:off x="3225744" y="4672584"/>
            <a:ext cx="2088" cy="9144"/>
          </a:xfrm>
          <a:prstGeom prst="line">
            <a:avLst/>
          </a:prstGeom>
          <a:noFill/>
          <a:ln w="15875">
            <a:solidFill>
              <a:srgbClr val="2E8B57"/>
            </a:solidFill>
            <a:prstDash val="solid"/>
          </a:ln>
        </p:spPr>
      </p:sp>
      <p:sp>
        <p:nvSpPr>
          <p:cNvPr id="111" name="Shape 109"/>
          <p:cNvSpPr/>
          <p:nvPr/>
        </p:nvSpPr>
        <p:spPr>
          <a:xfrm flipH="1">
            <a:off x="3225744" y="4681728"/>
            <a:ext cx="2088" cy="9144"/>
          </a:xfrm>
          <a:prstGeom prst="line">
            <a:avLst/>
          </a:prstGeom>
          <a:noFill/>
          <a:ln w="15875">
            <a:solidFill>
              <a:srgbClr val="2E8B57"/>
            </a:solidFill>
            <a:prstDash val="solid"/>
          </a:ln>
        </p:spPr>
      </p:sp>
      <p:sp>
        <p:nvSpPr>
          <p:cNvPr id="112" name="Shape 110"/>
          <p:cNvSpPr/>
          <p:nvPr/>
        </p:nvSpPr>
        <p:spPr>
          <a:xfrm flipH="1">
            <a:off x="3219797" y="4690872"/>
            <a:ext cx="5947" cy="9144"/>
          </a:xfrm>
          <a:prstGeom prst="line">
            <a:avLst/>
          </a:prstGeom>
          <a:noFill/>
          <a:ln w="15875">
            <a:solidFill>
              <a:srgbClr val="2E8B57"/>
            </a:solidFill>
            <a:prstDash val="solid"/>
          </a:ln>
        </p:spPr>
      </p:sp>
      <p:sp>
        <p:nvSpPr>
          <p:cNvPr id="113" name="Shape 111"/>
          <p:cNvSpPr/>
          <p:nvPr/>
        </p:nvSpPr>
        <p:spPr>
          <a:xfrm flipH="1">
            <a:off x="3210898" y="4700016"/>
            <a:ext cx="8900" cy="9144"/>
          </a:xfrm>
          <a:prstGeom prst="line">
            <a:avLst/>
          </a:prstGeom>
          <a:noFill/>
          <a:ln w="15875">
            <a:solidFill>
              <a:srgbClr val="2E8B57"/>
            </a:solidFill>
            <a:prstDash val="solid"/>
          </a:ln>
        </p:spPr>
      </p:sp>
      <p:sp>
        <p:nvSpPr>
          <p:cNvPr id="114" name="Shape 112"/>
          <p:cNvSpPr/>
          <p:nvPr/>
        </p:nvSpPr>
        <p:spPr>
          <a:xfrm flipH="1">
            <a:off x="3200400" y="4709160"/>
            <a:ext cx="10498" cy="9144"/>
          </a:xfrm>
          <a:prstGeom prst="line">
            <a:avLst/>
          </a:prstGeom>
          <a:noFill/>
          <a:ln w="15875">
            <a:solidFill>
              <a:srgbClr val="2E8B57"/>
            </a:solidFill>
            <a:prstDash val="solid"/>
          </a:ln>
        </p:spPr>
      </p:sp>
      <p:sp>
        <p:nvSpPr>
          <p:cNvPr id="115" name="Shape 113"/>
          <p:cNvSpPr/>
          <p:nvPr/>
        </p:nvSpPr>
        <p:spPr>
          <a:xfrm flipH="1">
            <a:off x="3189902" y="4718304"/>
            <a:ext cx="10498" cy="9144"/>
          </a:xfrm>
          <a:prstGeom prst="line">
            <a:avLst/>
          </a:prstGeom>
          <a:noFill/>
          <a:ln w="15875">
            <a:solidFill>
              <a:srgbClr val="2E8B57"/>
            </a:solidFill>
            <a:prstDash val="solid"/>
          </a:ln>
        </p:spPr>
      </p:sp>
      <p:sp>
        <p:nvSpPr>
          <p:cNvPr id="116" name="Shape 114"/>
          <p:cNvSpPr/>
          <p:nvPr/>
        </p:nvSpPr>
        <p:spPr>
          <a:xfrm flipH="1">
            <a:off x="3181003" y="4727448"/>
            <a:ext cx="8900" cy="9144"/>
          </a:xfrm>
          <a:prstGeom prst="line">
            <a:avLst/>
          </a:prstGeom>
          <a:noFill/>
          <a:ln w="15875">
            <a:solidFill>
              <a:srgbClr val="2E8B57"/>
            </a:solidFill>
            <a:prstDash val="solid"/>
          </a:ln>
        </p:spPr>
      </p:sp>
      <p:sp>
        <p:nvSpPr>
          <p:cNvPr id="117" name="Shape 115"/>
          <p:cNvSpPr/>
          <p:nvPr/>
        </p:nvSpPr>
        <p:spPr>
          <a:xfrm flipH="1">
            <a:off x="3175056" y="4736592"/>
            <a:ext cx="5947" cy="9144"/>
          </a:xfrm>
          <a:prstGeom prst="line">
            <a:avLst/>
          </a:prstGeom>
          <a:noFill/>
          <a:ln w="15875">
            <a:solidFill>
              <a:srgbClr val="2E8B57"/>
            </a:solidFill>
            <a:prstDash val="solid"/>
          </a:ln>
        </p:spPr>
      </p:sp>
      <p:sp>
        <p:nvSpPr>
          <p:cNvPr id="118" name="Shape 116"/>
          <p:cNvSpPr/>
          <p:nvPr/>
        </p:nvSpPr>
        <p:spPr>
          <a:xfrm flipH="1">
            <a:off x="3172968" y="4745736"/>
            <a:ext cx="2088" cy="9144"/>
          </a:xfrm>
          <a:prstGeom prst="line">
            <a:avLst/>
          </a:prstGeom>
          <a:noFill/>
          <a:ln w="15875">
            <a:solidFill>
              <a:srgbClr val="2E8B57"/>
            </a:solidFill>
            <a:prstDash val="solid"/>
          </a:ln>
        </p:spPr>
      </p:sp>
      <p:sp>
        <p:nvSpPr>
          <p:cNvPr id="119" name="Shape 117"/>
          <p:cNvSpPr/>
          <p:nvPr/>
        </p:nvSpPr>
        <p:spPr>
          <a:xfrm>
            <a:off x="3172968" y="4754880"/>
            <a:ext cx="2088" cy="9144"/>
          </a:xfrm>
          <a:prstGeom prst="line">
            <a:avLst/>
          </a:prstGeom>
          <a:noFill/>
          <a:ln w="15875">
            <a:solidFill>
              <a:srgbClr val="2E8B57"/>
            </a:solidFill>
            <a:prstDash val="solid"/>
          </a:ln>
        </p:spPr>
      </p:sp>
      <p:sp>
        <p:nvSpPr>
          <p:cNvPr id="120" name="Shape 118"/>
          <p:cNvSpPr/>
          <p:nvPr/>
        </p:nvSpPr>
        <p:spPr>
          <a:xfrm>
            <a:off x="3175056" y="4764024"/>
            <a:ext cx="5947" cy="9144"/>
          </a:xfrm>
          <a:prstGeom prst="line">
            <a:avLst/>
          </a:prstGeom>
          <a:noFill/>
          <a:ln w="15875">
            <a:solidFill>
              <a:srgbClr val="2E8B57"/>
            </a:solidFill>
            <a:prstDash val="solid"/>
          </a:ln>
        </p:spPr>
      </p:sp>
      <p:sp>
        <p:nvSpPr>
          <p:cNvPr id="121" name="Shape 119"/>
          <p:cNvSpPr/>
          <p:nvPr/>
        </p:nvSpPr>
        <p:spPr>
          <a:xfrm>
            <a:off x="3181003" y="4773168"/>
            <a:ext cx="8900" cy="9144"/>
          </a:xfrm>
          <a:prstGeom prst="line">
            <a:avLst/>
          </a:prstGeom>
          <a:noFill/>
          <a:ln w="15875">
            <a:solidFill>
              <a:srgbClr val="2E8B57"/>
            </a:solidFill>
            <a:prstDash val="solid"/>
          </a:ln>
        </p:spPr>
      </p:sp>
      <p:sp>
        <p:nvSpPr>
          <p:cNvPr id="122" name="Shape 120"/>
          <p:cNvSpPr/>
          <p:nvPr/>
        </p:nvSpPr>
        <p:spPr>
          <a:xfrm>
            <a:off x="3189902" y="4782312"/>
            <a:ext cx="10498" cy="9144"/>
          </a:xfrm>
          <a:prstGeom prst="line">
            <a:avLst/>
          </a:prstGeom>
          <a:noFill/>
          <a:ln w="15875">
            <a:solidFill>
              <a:srgbClr val="2E8B57"/>
            </a:solidFill>
            <a:prstDash val="solid"/>
          </a:ln>
        </p:spPr>
      </p:sp>
      <p:sp>
        <p:nvSpPr>
          <p:cNvPr id="123" name="Shape 121"/>
          <p:cNvSpPr/>
          <p:nvPr/>
        </p:nvSpPr>
        <p:spPr>
          <a:xfrm>
            <a:off x="3200400" y="4791456"/>
            <a:ext cx="10498" cy="9144"/>
          </a:xfrm>
          <a:prstGeom prst="line">
            <a:avLst/>
          </a:prstGeom>
          <a:noFill/>
          <a:ln w="15875">
            <a:solidFill>
              <a:srgbClr val="2E8B57"/>
            </a:solidFill>
            <a:prstDash val="solid"/>
          </a:ln>
        </p:spPr>
      </p:sp>
      <p:sp>
        <p:nvSpPr>
          <p:cNvPr id="124" name="Shape 122"/>
          <p:cNvSpPr/>
          <p:nvPr/>
        </p:nvSpPr>
        <p:spPr>
          <a:xfrm>
            <a:off x="3210898" y="4800600"/>
            <a:ext cx="8900" cy="9144"/>
          </a:xfrm>
          <a:prstGeom prst="line">
            <a:avLst/>
          </a:prstGeom>
          <a:noFill/>
          <a:ln w="15875">
            <a:solidFill>
              <a:srgbClr val="2E8B57"/>
            </a:solidFill>
            <a:prstDash val="solid"/>
          </a:ln>
        </p:spPr>
      </p:sp>
      <p:sp>
        <p:nvSpPr>
          <p:cNvPr id="125" name="Shape 123"/>
          <p:cNvSpPr/>
          <p:nvPr/>
        </p:nvSpPr>
        <p:spPr>
          <a:xfrm>
            <a:off x="3219797" y="4809744"/>
            <a:ext cx="5947" cy="9144"/>
          </a:xfrm>
          <a:prstGeom prst="line">
            <a:avLst/>
          </a:prstGeom>
          <a:noFill/>
          <a:ln w="15875">
            <a:solidFill>
              <a:srgbClr val="2E8B57"/>
            </a:solidFill>
            <a:prstDash val="solid"/>
          </a:ln>
        </p:spPr>
      </p:sp>
      <p:sp>
        <p:nvSpPr>
          <p:cNvPr id="126" name="Shape 124"/>
          <p:cNvSpPr/>
          <p:nvPr/>
        </p:nvSpPr>
        <p:spPr>
          <a:xfrm>
            <a:off x="3225744" y="4818888"/>
            <a:ext cx="2088" cy="9144"/>
          </a:xfrm>
          <a:prstGeom prst="line">
            <a:avLst/>
          </a:prstGeom>
          <a:noFill/>
          <a:ln w="15875">
            <a:solidFill>
              <a:srgbClr val="2E8B57"/>
            </a:solidFill>
            <a:prstDash val="solid"/>
          </a:ln>
        </p:spPr>
      </p:sp>
      <p:sp>
        <p:nvSpPr>
          <p:cNvPr id="127" name="Shape 125"/>
          <p:cNvSpPr/>
          <p:nvPr/>
        </p:nvSpPr>
        <p:spPr>
          <a:xfrm flipH="1">
            <a:off x="3225744" y="4828032"/>
            <a:ext cx="2088" cy="9144"/>
          </a:xfrm>
          <a:prstGeom prst="line">
            <a:avLst/>
          </a:prstGeom>
          <a:noFill/>
          <a:ln w="15875">
            <a:solidFill>
              <a:srgbClr val="2E8B57"/>
            </a:solidFill>
            <a:prstDash val="solid"/>
          </a:ln>
        </p:spPr>
      </p:sp>
      <p:sp>
        <p:nvSpPr>
          <p:cNvPr id="128" name="Shape 126"/>
          <p:cNvSpPr/>
          <p:nvPr/>
        </p:nvSpPr>
        <p:spPr>
          <a:xfrm flipH="1">
            <a:off x="3219797" y="4837176"/>
            <a:ext cx="5947" cy="9144"/>
          </a:xfrm>
          <a:prstGeom prst="line">
            <a:avLst/>
          </a:prstGeom>
          <a:noFill/>
          <a:ln w="15875">
            <a:solidFill>
              <a:srgbClr val="2E8B57"/>
            </a:solidFill>
            <a:prstDash val="solid"/>
          </a:ln>
        </p:spPr>
      </p:sp>
      <p:sp>
        <p:nvSpPr>
          <p:cNvPr id="129" name="Shape 127"/>
          <p:cNvSpPr/>
          <p:nvPr/>
        </p:nvSpPr>
        <p:spPr>
          <a:xfrm flipH="1">
            <a:off x="3210898" y="4846320"/>
            <a:ext cx="8900" cy="9144"/>
          </a:xfrm>
          <a:prstGeom prst="line">
            <a:avLst/>
          </a:prstGeom>
          <a:noFill/>
          <a:ln w="15875">
            <a:solidFill>
              <a:srgbClr val="2E8B57"/>
            </a:solidFill>
            <a:prstDash val="solid"/>
          </a:ln>
        </p:spPr>
      </p:sp>
      <p:sp>
        <p:nvSpPr>
          <p:cNvPr id="130" name="Shape 128"/>
          <p:cNvSpPr/>
          <p:nvPr/>
        </p:nvSpPr>
        <p:spPr>
          <a:xfrm flipH="1">
            <a:off x="3200400" y="4855464"/>
            <a:ext cx="10498" cy="9144"/>
          </a:xfrm>
          <a:prstGeom prst="line">
            <a:avLst/>
          </a:prstGeom>
          <a:noFill/>
          <a:ln w="15875">
            <a:solidFill>
              <a:srgbClr val="2E8B57"/>
            </a:solidFill>
            <a:prstDash val="solid"/>
          </a:ln>
        </p:spPr>
      </p:sp>
      <p:sp>
        <p:nvSpPr>
          <p:cNvPr id="131" name="Shape 129"/>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32" name="Text 13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Destroying unwanted tissue and microbes</a:t>
            </a:r>
            <a:endParaRPr lang="en-US" sz="1300" dirty="0"/>
          </a:p>
        </p:txBody>
      </p:sp>
      <p:sp>
        <p:nvSpPr>
          <p:cNvPr id="133" name="Text 131"/>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Radiotherapy</a:t>
            </a:r>
            <a:r>
              <a:rPr lang="en-US" sz="1150" dirty="0">
                <a:solidFill>
                  <a:srgbClr val="262B3A"/>
                </a:solidFill>
                <a:latin typeface="Calibri" pitchFamily="34" charset="0"/>
                <a:ea typeface="Calibri" pitchFamily="34" charset="-122"/>
                <a:cs typeface="Calibri" pitchFamily="34" charset="-120"/>
              </a:rPr>
              <a:t>: high doses of radiation kill </a:t>
            </a:r>
            <a:r>
              <a:rPr lang="en-US" sz="1150" b="1" dirty="0">
                <a:solidFill>
                  <a:srgbClr val="262B3A"/>
                </a:solidFill>
                <a:latin typeface="Calibri" pitchFamily="34" charset="0"/>
                <a:ea typeface="Calibri" pitchFamily="34" charset="-122"/>
                <a:cs typeface="Calibri" pitchFamily="34" charset="-120"/>
              </a:rPr>
              <a:t>cancer cells</a:t>
            </a:r>
            <a:r>
              <a:rPr lang="en-US" sz="1150" dirty="0">
                <a:solidFill>
                  <a:srgbClr val="262B3A"/>
                </a:solidFill>
                <a:latin typeface="Calibri" pitchFamily="34" charset="0"/>
                <a:ea typeface="Calibri" pitchFamily="34" charset="-122"/>
                <a:cs typeface="Calibri" pitchFamily="34" charset="-120"/>
              </a:rPr>
              <a:t>. Beams of </a:t>
            </a:r>
            <a:r>
              <a:rPr lang="en-US" sz="1150" b="1" dirty="0">
                <a:solidFill>
                  <a:srgbClr val="262B3A"/>
                </a:solidFill>
                <a:latin typeface="Calibri" pitchFamily="34" charset="0"/>
                <a:ea typeface="Calibri" pitchFamily="34" charset="-122"/>
                <a:cs typeface="Calibri" pitchFamily="34" charset="-120"/>
              </a:rPr>
              <a:t>gamma rays</a:t>
            </a:r>
            <a:r>
              <a:rPr lang="en-US" sz="1150" dirty="0">
                <a:solidFill>
                  <a:srgbClr val="262B3A"/>
                </a:solidFill>
                <a:latin typeface="Calibri" pitchFamily="34" charset="0"/>
                <a:ea typeface="Calibri" pitchFamily="34" charset="-122"/>
                <a:cs typeface="Calibri" pitchFamily="34" charset="-120"/>
              </a:rPr>
              <a:t> (or X-rays) come from </a:t>
            </a:r>
            <a:r>
              <a:rPr lang="en-US" sz="1150" b="1" dirty="0">
                <a:solidFill>
                  <a:srgbClr val="262B3A"/>
                </a:solidFill>
                <a:latin typeface="Calibri" pitchFamily="34" charset="0"/>
                <a:ea typeface="Calibri" pitchFamily="34" charset="-122"/>
                <a:cs typeface="Calibri" pitchFamily="34" charset="-120"/>
              </a:rPr>
              <a:t>outside</a:t>
            </a:r>
            <a:r>
              <a:rPr lang="en-US" sz="1150" dirty="0">
                <a:solidFill>
                  <a:srgbClr val="262B3A"/>
                </a:solidFill>
                <a:latin typeface="Calibri" pitchFamily="34" charset="0"/>
                <a:ea typeface="Calibri" pitchFamily="34" charset="-122"/>
                <a:cs typeface="Calibri" pitchFamily="34" charset="-120"/>
              </a:rPr>
              <a:t> the body.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source </a:t>
            </a:r>
            <a:r>
              <a:rPr lang="en-US" sz="1150" b="1" dirty="0">
                <a:solidFill>
                  <a:srgbClr val="262B3A"/>
                </a:solidFill>
                <a:latin typeface="Calibri" pitchFamily="34" charset="0"/>
                <a:ea typeface="Calibri" pitchFamily="34" charset="-122"/>
                <a:cs typeface="Calibri" pitchFamily="34" charset="-120"/>
              </a:rPr>
              <a:t>rotates</a:t>
            </a:r>
            <a:r>
              <a:rPr lang="en-US" sz="1150" dirty="0">
                <a:solidFill>
                  <a:srgbClr val="262B3A"/>
                </a:solidFill>
                <a:latin typeface="Calibri" pitchFamily="34" charset="0"/>
                <a:ea typeface="Calibri" pitchFamily="34" charset="-122"/>
                <a:cs typeface="Calibri" pitchFamily="34" charset="-120"/>
              </a:rPr>
              <a:t> so the tumour is always in the beam; healthy tissue gets a much smaller dose.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Some cancers are treated from </a:t>
            </a:r>
            <a:r>
              <a:rPr lang="en-US" sz="1150" b="1" dirty="0">
                <a:solidFill>
                  <a:srgbClr val="262B3A"/>
                </a:solidFill>
                <a:latin typeface="Calibri" pitchFamily="34" charset="0"/>
                <a:ea typeface="Calibri" pitchFamily="34" charset="-122"/>
                <a:cs typeface="Calibri" pitchFamily="34" charset="-120"/>
              </a:rPr>
              <a:t>inside</a:t>
            </a:r>
            <a:r>
              <a:rPr lang="en-US" sz="1150" dirty="0">
                <a:solidFill>
                  <a:srgbClr val="262B3A"/>
                </a:solidFill>
                <a:latin typeface="Calibri" pitchFamily="34" charset="0"/>
                <a:ea typeface="Calibri" pitchFamily="34" charset="-122"/>
                <a:cs typeface="Calibri" pitchFamily="34" charset="-120"/>
              </a:rPr>
              <a:t>: e.g. iodine-131 collects in the thyroid.</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Sterilising</a:t>
            </a:r>
            <a:r>
              <a:rPr lang="en-US" sz="1150" dirty="0">
                <a:solidFill>
                  <a:srgbClr val="262B3A"/>
                </a:solidFill>
                <a:latin typeface="Calibri" pitchFamily="34" charset="0"/>
                <a:ea typeface="Calibri" pitchFamily="34" charset="-122"/>
                <a:cs typeface="Calibri" pitchFamily="34" charset="-120"/>
              </a:rPr>
              <a:t>: gamma rays kill </a:t>
            </a:r>
            <a:r>
              <a:rPr lang="en-US" sz="1150" b="1" dirty="0">
                <a:solidFill>
                  <a:srgbClr val="262B3A"/>
                </a:solidFill>
                <a:latin typeface="Calibri" pitchFamily="34" charset="0"/>
                <a:ea typeface="Calibri" pitchFamily="34" charset="-122"/>
                <a:cs typeface="Calibri" pitchFamily="34" charset="-120"/>
              </a:rPr>
              <a:t>bacteria</a:t>
            </a:r>
            <a:r>
              <a:rPr lang="en-US" sz="1150" dirty="0">
                <a:solidFill>
                  <a:srgbClr val="262B3A"/>
                </a:solidFill>
                <a:latin typeface="Calibri" pitchFamily="34" charset="0"/>
                <a:ea typeface="Calibri" pitchFamily="34" charset="-122"/>
                <a:cs typeface="Calibri" pitchFamily="34" charset="-120"/>
              </a:rPr>
              <a:t> on medical equipment </a:t>
            </a:r>
            <a:r>
              <a:rPr lang="en-US" sz="1150" b="1" dirty="0">
                <a:solidFill>
                  <a:srgbClr val="262B3A"/>
                </a:solidFill>
                <a:latin typeface="Calibri" pitchFamily="34" charset="0"/>
                <a:ea typeface="Calibri" pitchFamily="34" charset="-122"/>
                <a:cs typeface="Calibri" pitchFamily="34" charset="-120"/>
              </a:rPr>
              <a:t>through sealed packaging</a:t>
            </a:r>
            <a:r>
              <a:rPr lang="en-US" sz="1150" dirty="0">
                <a:solidFill>
                  <a:srgbClr val="262B3A"/>
                </a:solidFill>
                <a:latin typeface="Calibri" pitchFamily="34" charset="0"/>
                <a:ea typeface="Calibri" pitchFamily="34" charset="-122"/>
                <a:cs typeface="Calibri" pitchFamily="34" charset="-120"/>
              </a:rPr>
              <a:t>. The equipment does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become radioactive (irradiation).</a:t>
            </a:r>
            <a:endParaRPr lang="en-US" sz="1150" dirty="0"/>
          </a:p>
        </p:txBody>
      </p:sp>
      <p:sp>
        <p:nvSpPr>
          <p:cNvPr id="134" name="Shape 132"/>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35" name="Text 133"/>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Why rotate the source?</a:t>
            </a:r>
            <a:endParaRPr lang="en-US" sz="1300" dirty="0"/>
          </a:p>
        </p:txBody>
      </p:sp>
      <p:sp>
        <p:nvSpPr>
          <p:cNvPr id="136" name="Text 134"/>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Beams   </a:t>
            </a:r>
            <a:r>
              <a:rPr lang="en-US" sz="1050" dirty="0">
                <a:solidFill>
                  <a:srgbClr val="262B3A"/>
                </a:solidFill>
                <a:latin typeface="Calibri" pitchFamily="34" charset="0"/>
                <a:ea typeface="Calibri" pitchFamily="34" charset="-122"/>
                <a:cs typeface="Calibri" pitchFamily="34" charset="-120"/>
              </a:rPr>
              <a:t>every beam passes through the tumour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Healthy tissue   </a:t>
            </a:r>
            <a:r>
              <a:rPr lang="en-US" sz="1050" dirty="0">
                <a:solidFill>
                  <a:srgbClr val="262B3A"/>
                </a:solidFill>
                <a:latin typeface="Calibri" pitchFamily="34" charset="0"/>
                <a:ea typeface="Calibri" pitchFamily="34" charset="-122"/>
                <a:cs typeface="Calibri" pitchFamily="34" charset="-120"/>
              </a:rPr>
              <a:t>each part is in only one beam, for a short time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Effect   </a:t>
            </a:r>
            <a:r>
              <a:rPr lang="en-US" sz="1050" dirty="0">
                <a:solidFill>
                  <a:srgbClr val="262B3A"/>
                </a:solidFill>
                <a:latin typeface="Calibri" pitchFamily="34" charset="0"/>
                <a:ea typeface="Calibri" pitchFamily="34" charset="-122"/>
                <a:cs typeface="Calibri" pitchFamily="34" charset="-120"/>
              </a:rPr>
              <a:t>large dose to cancer cells, small dose elsewhere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kills the tumour and reduces damage to healthy cells</a:t>
            </a:r>
            <a:endParaRPr lang="en-US" sz="1050" dirty="0"/>
          </a:p>
        </p:txBody>
      </p:sp>
      <p:sp>
        <p:nvSpPr>
          <p:cNvPr id="137" name="Shape 135"/>
          <p:cNvSpPr/>
          <p:nvPr/>
        </p:nvSpPr>
        <p:spPr>
          <a:xfrm>
            <a:off x="411480" y="5833872"/>
            <a:ext cx="11368735" cy="530352"/>
          </a:xfrm>
          <a:prstGeom prst="rect">
            <a:avLst/>
          </a:prstGeom>
          <a:solidFill>
            <a:srgbClr val="FFF4E0"/>
          </a:solidFill>
          <a:ln w="6350">
            <a:solidFill>
              <a:srgbClr val="F1D9A8"/>
            </a:solidFill>
            <a:prstDash val="solid"/>
          </a:ln>
        </p:spPr>
      </p:sp>
      <p:sp>
        <p:nvSpPr>
          <p:cNvPr id="138" name="Shape 136"/>
          <p:cNvSpPr/>
          <p:nvPr/>
        </p:nvSpPr>
        <p:spPr>
          <a:xfrm>
            <a:off x="411480" y="5833872"/>
            <a:ext cx="82296" cy="530352"/>
          </a:xfrm>
          <a:prstGeom prst="rect">
            <a:avLst/>
          </a:prstGeom>
          <a:solidFill>
            <a:srgbClr val="E39A2F"/>
          </a:solidFill>
          <a:ln w="12700">
            <a:solidFill>
              <a:srgbClr val="E39A2F"/>
            </a:solidFill>
            <a:prstDash val="solid"/>
          </a:ln>
        </p:spPr>
      </p:sp>
      <p:sp>
        <p:nvSpPr>
          <p:cNvPr id="139" name="Text 13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gamma rays, not beta particles, are used to sterilise syringes in sealed plastic packs.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Choosing the right isotope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P5.2.4, P5.2.2 • match the radiation type and the half-life to the job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P5.2.4  |  20</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half-lives are real values; choose by type first, then half-life</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5120640" cy="914400"/>
        </p:xfrm>
        <a:graphic>
          <a:graphicData uri="http://schemas.openxmlformats.org/drawingml/2006/table">
            <a:tbl>
              <a:tblPr/>
              <a:tblGrid>
                <a:gridCol w="1417320"/>
                <a:gridCol w="777240"/>
                <a:gridCol w="914400"/>
                <a:gridCol w="2011680"/>
              </a:tblGrid>
              <a:tr h="292608">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Isotope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Emits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Half-life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Used for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9260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technetium-99m</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γ</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 hours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medical tracer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9260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iodine-131</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β and γ</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8 days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treating thyroid cancer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9260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cobalt-60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γ</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5.3 years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radiotherapy, sterilising</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9260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strontium-90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β</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29 years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thickness gauge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9260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americium-241</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α</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432 years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smoke detector</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92608">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polonium-210</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α</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138 days</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(very dangerous inside)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bl>
          </a:graphicData>
        </a:graphic>
      </p:graphicFrame>
      <p:sp>
        <p:nvSpPr>
          <p:cNvPr id="11" name="Shape 8"/>
          <p:cNvSpPr/>
          <p:nvPr/>
        </p:nvSpPr>
        <p:spPr>
          <a:xfrm>
            <a:off x="640080" y="3657600"/>
            <a:ext cx="5120640" cy="685800"/>
          </a:xfrm>
          <a:prstGeom prst="roundRect">
            <a:avLst>
              <a:gd name="adj" fmla="val 6667"/>
            </a:avLst>
          </a:prstGeom>
          <a:solidFill>
            <a:srgbClr val="FFFFFF"/>
          </a:solidFill>
          <a:ln w="12700">
            <a:solidFill>
              <a:srgbClr val="D5DCEB"/>
            </a:solidFill>
            <a:prstDash val="solid"/>
          </a:ln>
        </p:spPr>
      </p:sp>
      <p:sp>
        <p:nvSpPr>
          <p:cNvPr id="12" name="Text 9"/>
          <p:cNvSpPr/>
          <p:nvPr/>
        </p:nvSpPr>
        <p:spPr>
          <a:xfrm>
            <a:off x="731520" y="3694176"/>
            <a:ext cx="1097280" cy="612648"/>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1  Type</a:t>
            </a:r>
            <a:endParaRPr lang="en-US" sz="1100" dirty="0"/>
          </a:p>
        </p:txBody>
      </p:sp>
      <p:sp>
        <p:nvSpPr>
          <p:cNvPr id="13" name="Text 10"/>
          <p:cNvSpPr/>
          <p:nvPr/>
        </p:nvSpPr>
        <p:spPr>
          <a:xfrm>
            <a:off x="1783080" y="3694176"/>
            <a:ext cx="3886200" cy="61264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Must it get out of the body or through thick material? → γ. Absorbed by thin material? → β. Ionise air nearby? → α.</a:t>
            </a:r>
            <a:endParaRPr lang="en-US" sz="1050" dirty="0"/>
          </a:p>
        </p:txBody>
      </p:sp>
      <p:sp>
        <p:nvSpPr>
          <p:cNvPr id="14" name="Shape 11"/>
          <p:cNvSpPr/>
          <p:nvPr/>
        </p:nvSpPr>
        <p:spPr>
          <a:xfrm>
            <a:off x="640080" y="4434840"/>
            <a:ext cx="5120640" cy="685800"/>
          </a:xfrm>
          <a:prstGeom prst="roundRect">
            <a:avLst>
              <a:gd name="adj" fmla="val 6667"/>
            </a:avLst>
          </a:prstGeom>
          <a:solidFill>
            <a:srgbClr val="FFFFFF"/>
          </a:solidFill>
          <a:ln w="12700">
            <a:solidFill>
              <a:srgbClr val="D5DCEB"/>
            </a:solidFill>
            <a:prstDash val="solid"/>
          </a:ln>
        </p:spPr>
      </p:sp>
      <p:sp>
        <p:nvSpPr>
          <p:cNvPr id="15" name="Text 12"/>
          <p:cNvSpPr/>
          <p:nvPr/>
        </p:nvSpPr>
        <p:spPr>
          <a:xfrm>
            <a:off x="731520" y="4471416"/>
            <a:ext cx="1097280" cy="612648"/>
          </a:xfrm>
          <a:prstGeom prst="rect">
            <a:avLst/>
          </a:prstGeom>
          <a:noFill/>
          <a:ln/>
        </p:spPr>
        <p:txBody>
          <a:bodyPr wrap="square" lIns="0" tIns="0" rIns="0" bIns="0" rtlCol="0" anchor="ctr"/>
          <a:lstStyle/>
          <a:p>
            <a:pPr algn="l" indent="0" marL="0">
              <a:buNone/>
            </a:pPr>
            <a:r>
              <a:rPr lang="en-US" sz="1100" b="1" dirty="0">
                <a:solidFill>
                  <a:srgbClr val="2E5BD8"/>
                </a:solidFill>
                <a:latin typeface="Calibri" pitchFamily="34" charset="0"/>
                <a:ea typeface="Calibri" pitchFamily="34" charset="-122"/>
                <a:cs typeface="Calibri" pitchFamily="34" charset="-120"/>
              </a:rPr>
              <a:t>2  Half-life</a:t>
            </a:r>
            <a:endParaRPr lang="en-US" sz="1100" dirty="0"/>
          </a:p>
        </p:txBody>
      </p:sp>
      <p:sp>
        <p:nvSpPr>
          <p:cNvPr id="16" name="Text 13"/>
          <p:cNvSpPr/>
          <p:nvPr/>
        </p:nvSpPr>
        <p:spPr>
          <a:xfrm>
            <a:off x="1783080" y="4471416"/>
            <a:ext cx="3886200" cy="612648"/>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Short (hours) for use inside the body. Long (years) for a device that must work for years.</a:t>
            </a:r>
            <a:endParaRPr lang="en-US" sz="1050" dirty="0"/>
          </a:p>
        </p:txBody>
      </p:sp>
      <p:sp>
        <p:nvSpPr>
          <p:cNvPr id="17" name="Shape 1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18" name="Text 1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Two questions to ask</a:t>
            </a:r>
            <a:endParaRPr lang="en-US" sz="1300" dirty="0"/>
          </a:p>
        </p:txBody>
      </p:sp>
      <p:sp>
        <p:nvSpPr>
          <p:cNvPr id="19" name="Text 1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Which radiation?</a:t>
            </a:r>
            <a:r>
              <a:rPr lang="en-US" sz="1150" dirty="0">
                <a:solidFill>
                  <a:srgbClr val="262B3A"/>
                </a:solidFill>
                <a:latin typeface="Calibri" pitchFamily="34" charset="0"/>
                <a:ea typeface="Calibri" pitchFamily="34" charset="-122"/>
                <a:cs typeface="Calibri" pitchFamily="34" charset="-120"/>
              </a:rPr>
              <a:t> It must reach where it is needed, and do as little harm as possible.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What half-life?</a:t>
            </a:r>
            <a:r>
              <a:rPr lang="en-US" sz="1150" dirty="0">
                <a:solidFill>
                  <a:srgbClr val="262B3A"/>
                </a:solidFill>
                <a:latin typeface="Calibri" pitchFamily="34" charset="0"/>
                <a:ea typeface="Calibri" pitchFamily="34" charset="-122"/>
                <a:cs typeface="Calibri" pitchFamily="34" charset="-120"/>
              </a:rPr>
              <a:t> Long enough to do the job, but no longer than needed, especially inside a person.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Inside the body: avoid </a:t>
            </a:r>
            <a:r>
              <a:rPr lang="en-US" sz="1150" b="1" dirty="0">
                <a:solidFill>
                  <a:srgbClr val="262B3A"/>
                </a:solidFill>
                <a:latin typeface="Calibri" pitchFamily="34" charset="0"/>
                <a:ea typeface="Calibri" pitchFamily="34" charset="-122"/>
                <a:cs typeface="Calibri" pitchFamily="34" charset="-120"/>
              </a:rPr>
              <a:t>alpha</a:t>
            </a:r>
            <a:r>
              <a:rPr lang="en-US" sz="1150" dirty="0">
                <a:solidFill>
                  <a:srgbClr val="262B3A"/>
                </a:solidFill>
                <a:latin typeface="Calibri" pitchFamily="34" charset="0"/>
                <a:ea typeface="Calibri" pitchFamily="34" charset="-122"/>
                <a:cs typeface="Calibri" pitchFamily="34" charset="-120"/>
              </a:rPr>
              <a:t>; use </a:t>
            </a:r>
            <a:r>
              <a:rPr lang="en-US" sz="1150" b="1" dirty="0">
                <a:solidFill>
                  <a:srgbClr val="262B3A"/>
                </a:solidFill>
                <a:latin typeface="Calibri" pitchFamily="34" charset="0"/>
                <a:ea typeface="Calibri" pitchFamily="34" charset="-122"/>
                <a:cs typeface="Calibri" pitchFamily="34" charset="-120"/>
              </a:rPr>
              <a:t>gamma</a:t>
            </a:r>
            <a:r>
              <a:rPr lang="en-US" sz="1150" dirty="0">
                <a:solidFill>
                  <a:srgbClr val="262B3A"/>
                </a:solidFill>
                <a:latin typeface="Calibri" pitchFamily="34" charset="0"/>
                <a:ea typeface="Calibri" pitchFamily="34" charset="-122"/>
                <a:cs typeface="Calibri" pitchFamily="34" charset="-120"/>
              </a:rPr>
              <a:t> for imaging.</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 device: a </a:t>
            </a:r>
            <a:r>
              <a:rPr lang="en-US" sz="1150" b="1" dirty="0">
                <a:solidFill>
                  <a:srgbClr val="262B3A"/>
                </a:solidFill>
                <a:latin typeface="Calibri" pitchFamily="34" charset="0"/>
                <a:ea typeface="Calibri" pitchFamily="34" charset="-122"/>
                <a:cs typeface="Calibri" pitchFamily="34" charset="-120"/>
              </a:rPr>
              <a:t>long</a:t>
            </a:r>
            <a:r>
              <a:rPr lang="en-US" sz="1150" dirty="0">
                <a:solidFill>
                  <a:srgbClr val="262B3A"/>
                </a:solidFill>
                <a:latin typeface="Calibri" pitchFamily="34" charset="0"/>
                <a:ea typeface="Calibri" pitchFamily="34" charset="-122"/>
                <a:cs typeface="Calibri" pitchFamily="34" charset="-120"/>
              </a:rPr>
              <a:t> half-life means the source does not need replacing.</a:t>
            </a:r>
            <a:endParaRPr lang="en-US" sz="1150" dirty="0"/>
          </a:p>
        </p:txBody>
      </p:sp>
      <p:sp>
        <p:nvSpPr>
          <p:cNvPr id="20" name="Shape 1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21" name="Text 1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22" name="Text 19"/>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doctor needs a tracer for a lung scan. Choose from the table and explain.</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Type   </a:t>
            </a:r>
            <a:r>
              <a:rPr lang="en-US" sz="1050" dirty="0">
                <a:solidFill>
                  <a:srgbClr val="262B3A"/>
                </a:solidFill>
                <a:latin typeface="Calibri" pitchFamily="34" charset="0"/>
                <a:ea typeface="Calibri" pitchFamily="34" charset="-122"/>
                <a:cs typeface="Calibri" pitchFamily="34" charset="-120"/>
              </a:rPr>
              <a:t>must leave the body → gamma → Tc-99m or Co-60</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Half-life   </a:t>
            </a:r>
            <a:r>
              <a:rPr lang="en-US" sz="1050" dirty="0">
                <a:solidFill>
                  <a:srgbClr val="262B3A"/>
                </a:solidFill>
                <a:latin typeface="Calibri" pitchFamily="34" charset="0"/>
                <a:ea typeface="Calibri" pitchFamily="34" charset="-122"/>
                <a:cs typeface="Calibri" pitchFamily="34" charset="-120"/>
              </a:rPr>
              <a:t>Co-60 (5.3 years) would stay active in the body far too long</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Hazard   </a:t>
            </a:r>
            <a:r>
              <a:rPr lang="en-US" sz="1050" dirty="0">
                <a:solidFill>
                  <a:srgbClr val="262B3A"/>
                </a:solidFill>
                <a:latin typeface="Calibri" pitchFamily="34" charset="0"/>
                <a:ea typeface="Calibri" pitchFamily="34" charset="-122"/>
                <a:cs typeface="Calibri" pitchFamily="34" charset="-120"/>
              </a:rPr>
              <a:t>Tc-99m: 6 hours, enough for the scan; activity soon falls</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technetium-99m</a:t>
            </a:r>
            <a:endParaRPr lang="en-US" sz="1050" dirty="0"/>
          </a:p>
        </p:txBody>
      </p:sp>
      <p:sp>
        <p:nvSpPr>
          <p:cNvPr id="23" name="Shape 20"/>
          <p:cNvSpPr/>
          <p:nvPr/>
        </p:nvSpPr>
        <p:spPr>
          <a:xfrm>
            <a:off x="411480" y="5833872"/>
            <a:ext cx="11368735" cy="530352"/>
          </a:xfrm>
          <a:prstGeom prst="rect">
            <a:avLst/>
          </a:prstGeom>
          <a:solidFill>
            <a:srgbClr val="FFF4E0"/>
          </a:solidFill>
          <a:ln w="6350">
            <a:solidFill>
              <a:srgbClr val="F1D9A8"/>
            </a:solidFill>
            <a:prstDash val="solid"/>
          </a:ln>
        </p:spPr>
      </p:sp>
      <p:sp>
        <p:nvSpPr>
          <p:cNvPr id="24" name="Shape 21"/>
          <p:cNvSpPr/>
          <p:nvPr/>
        </p:nvSpPr>
        <p:spPr>
          <a:xfrm>
            <a:off x="411480" y="5833872"/>
            <a:ext cx="82296" cy="530352"/>
          </a:xfrm>
          <a:prstGeom prst="rect">
            <a:avLst/>
          </a:prstGeom>
          <a:solidFill>
            <a:srgbClr val="E39A2F"/>
          </a:solidFill>
          <a:ln w="12700">
            <a:solidFill>
              <a:srgbClr val="E39A2F"/>
            </a:solidFill>
            <a:prstDash val="solid"/>
          </a:ln>
        </p:spPr>
      </p:sp>
      <p:sp>
        <p:nvSpPr>
          <p:cNvPr id="25" name="Text 2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table. Which isotope is used in a smoke detector? Explain why its type and half-life suit this use.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P5.2.4 • medical uses and choosing isotopes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reasons why a gamma emitter is used as a medical tracer.</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tracer should have a half-life of a few hours, not a few seconds or many years.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Iodine-131 has a half-life of </a:t>
            </a:r>
            <a:r>
              <a:rPr lang="en-US" sz="1250" b="1" dirty="0">
                <a:solidFill>
                  <a:srgbClr val="262B3A"/>
                </a:solidFill>
                <a:latin typeface="Calibri" pitchFamily="34" charset="0"/>
                <a:ea typeface="Calibri" pitchFamily="34" charset="-122"/>
                <a:cs typeface="Calibri" pitchFamily="34" charset="-120"/>
              </a:rPr>
              <a:t>8 days</a:t>
            </a:r>
            <a:r>
              <a:rPr lang="en-US" sz="1250" dirty="0">
                <a:solidFill>
                  <a:srgbClr val="262B3A"/>
                </a:solidFill>
                <a:latin typeface="Calibri" pitchFamily="34" charset="0"/>
                <a:ea typeface="Calibri" pitchFamily="34" charset="-122"/>
                <a:cs typeface="Calibri" pitchFamily="34" charset="-120"/>
              </a:rPr>
              <a:t>. A thyroid treatment uses a sample with activity </a:t>
            </a:r>
            <a:r>
              <a:rPr lang="en-US" sz="1250" b="1" dirty="0">
                <a:solidFill>
                  <a:srgbClr val="262B3A"/>
                </a:solidFill>
                <a:latin typeface="Calibri" pitchFamily="34" charset="0"/>
                <a:ea typeface="Calibri" pitchFamily="34" charset="-122"/>
                <a:cs typeface="Calibri" pitchFamily="34" charset="-120"/>
              </a:rPr>
              <a:t>400 MBq</a:t>
            </a:r>
            <a:r>
              <a:rPr lang="en-US" sz="1250" dirty="0">
                <a:solidFill>
                  <a:srgbClr val="262B3A"/>
                </a:solidFill>
                <a:latin typeface="Calibri" pitchFamily="34" charset="0"/>
                <a:ea typeface="Calibri" pitchFamily="34" charset="-122"/>
                <a:cs typeface="Calibri" pitchFamily="34" charset="-120"/>
              </a:rPr>
              <a:t>. Calculate its activity after </a:t>
            </a:r>
            <a:r>
              <a:rPr lang="en-US" sz="1250" b="1" dirty="0">
                <a:solidFill>
                  <a:srgbClr val="262B3A"/>
                </a:solidFill>
                <a:latin typeface="Calibri" pitchFamily="34" charset="0"/>
                <a:ea typeface="Calibri" pitchFamily="34" charset="-122"/>
                <a:cs typeface="Calibri" pitchFamily="34" charset="-120"/>
              </a:rPr>
              <a:t>24 days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Medical equipment is sterilised with gamma rays. Explain why the equipment is safe to use afterwards.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Other uses: smoke detectors and thickness gauges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P5.2.4 context • choosing the radiation for the job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Uses  |  22</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left: smoke detector chamber; right: beta thickness gauge with feedback</a:t>
            </a:r>
            <a:endParaRPr lang="en-US" sz="1000" dirty="0"/>
          </a:p>
        </p:txBody>
      </p:sp>
      <p:sp>
        <p:nvSpPr>
          <p:cNvPr id="10" name="Text 8"/>
          <p:cNvSpPr/>
          <p:nvPr/>
        </p:nvSpPr>
        <p:spPr>
          <a:xfrm>
            <a:off x="594360" y="1298448"/>
            <a:ext cx="2560320" cy="256032"/>
          </a:xfrm>
          <a:prstGeom prst="rect">
            <a:avLst/>
          </a:prstGeom>
          <a:noFill/>
          <a:ln/>
        </p:spPr>
        <p:txBody>
          <a:bodyPr wrap="square" lIns="0" tIns="0" rIns="0" bIns="0" rtlCol="0" anchor="ctr"/>
          <a:lstStyle/>
          <a:p>
            <a:pPr algn="l" indent="0" marL="0">
              <a:buNone/>
            </a:pPr>
            <a:r>
              <a:rPr lang="en-US" sz="1150" b="1" dirty="0">
                <a:solidFill>
                  <a:srgbClr val="C8414C"/>
                </a:solidFill>
                <a:latin typeface="Calibri" pitchFamily="34" charset="0"/>
                <a:ea typeface="Calibri" pitchFamily="34" charset="-122"/>
                <a:cs typeface="Calibri" pitchFamily="34" charset="-120"/>
              </a:rPr>
              <a:t>Smoke detector (α)</a:t>
            </a:r>
            <a:endParaRPr lang="en-US" sz="1150" dirty="0"/>
          </a:p>
        </p:txBody>
      </p:sp>
      <p:sp>
        <p:nvSpPr>
          <p:cNvPr id="11" name="Shape 9"/>
          <p:cNvSpPr/>
          <p:nvPr/>
        </p:nvSpPr>
        <p:spPr>
          <a:xfrm>
            <a:off x="685800" y="1783080"/>
            <a:ext cx="109728" cy="1463040"/>
          </a:xfrm>
          <a:prstGeom prst="rect">
            <a:avLst/>
          </a:prstGeom>
          <a:solidFill>
            <a:srgbClr val="8C96A8"/>
          </a:solidFill>
          <a:ln w="12700">
            <a:solidFill>
              <a:srgbClr val="4A5262"/>
            </a:solidFill>
            <a:prstDash val="solid"/>
          </a:ln>
        </p:spPr>
      </p:sp>
      <p:sp>
        <p:nvSpPr>
          <p:cNvPr id="12" name="Shape 10"/>
          <p:cNvSpPr/>
          <p:nvPr/>
        </p:nvSpPr>
        <p:spPr>
          <a:xfrm>
            <a:off x="2377440" y="1783080"/>
            <a:ext cx="109728" cy="1463040"/>
          </a:xfrm>
          <a:prstGeom prst="rect">
            <a:avLst/>
          </a:prstGeom>
          <a:solidFill>
            <a:srgbClr val="8C96A8"/>
          </a:solidFill>
          <a:ln w="12700">
            <a:solidFill>
              <a:srgbClr val="4A5262"/>
            </a:solidFill>
            <a:prstDash val="solid"/>
          </a:ln>
        </p:spPr>
      </p:sp>
      <p:sp>
        <p:nvSpPr>
          <p:cNvPr id="13" name="Shape 11"/>
          <p:cNvSpPr/>
          <p:nvPr/>
        </p:nvSpPr>
        <p:spPr>
          <a:xfrm>
            <a:off x="1371600" y="1645920"/>
            <a:ext cx="411480" cy="182880"/>
          </a:xfrm>
          <a:prstGeom prst="rect">
            <a:avLst/>
          </a:prstGeom>
          <a:solidFill>
            <a:srgbClr val="4A5262"/>
          </a:solidFill>
          <a:ln w="12700">
            <a:solidFill>
              <a:srgbClr val="2E3442"/>
            </a:solidFill>
            <a:prstDash val="solid"/>
          </a:ln>
        </p:spPr>
      </p:sp>
      <p:sp>
        <p:nvSpPr>
          <p:cNvPr id="14" name="Text 12"/>
          <p:cNvSpPr/>
          <p:nvPr/>
        </p:nvSpPr>
        <p:spPr>
          <a:xfrm>
            <a:off x="1051560" y="1417320"/>
            <a:ext cx="109728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Am-241</a:t>
            </a:r>
            <a:endParaRPr lang="en-US" sz="1000" dirty="0"/>
          </a:p>
        </p:txBody>
      </p:sp>
      <p:sp>
        <p:nvSpPr>
          <p:cNvPr id="15" name="Shape 13"/>
          <p:cNvSpPr/>
          <p:nvPr/>
        </p:nvSpPr>
        <p:spPr>
          <a:xfrm flipH="1">
            <a:off x="1463040" y="1847088"/>
            <a:ext cx="109728" cy="530352"/>
          </a:xfrm>
          <a:prstGeom prst="line">
            <a:avLst/>
          </a:prstGeom>
          <a:noFill/>
          <a:ln w="19050">
            <a:solidFill>
              <a:srgbClr val="C8414C"/>
            </a:solidFill>
            <a:prstDash val="solid"/>
            <a:tailEnd type="triangle"/>
          </a:ln>
        </p:spPr>
      </p:sp>
      <p:sp>
        <p:nvSpPr>
          <p:cNvPr id="16" name="Shape 14"/>
          <p:cNvSpPr/>
          <p:nvPr/>
        </p:nvSpPr>
        <p:spPr>
          <a:xfrm>
            <a:off x="1572768" y="1847088"/>
            <a:ext cx="91" cy="667512"/>
          </a:xfrm>
          <a:prstGeom prst="line">
            <a:avLst/>
          </a:prstGeom>
          <a:noFill/>
          <a:ln w="19050">
            <a:solidFill>
              <a:srgbClr val="C8414C"/>
            </a:solidFill>
            <a:prstDash val="solid"/>
            <a:tailEnd type="triangle"/>
          </a:ln>
        </p:spPr>
      </p:sp>
      <p:sp>
        <p:nvSpPr>
          <p:cNvPr id="17" name="Shape 15"/>
          <p:cNvSpPr/>
          <p:nvPr/>
        </p:nvSpPr>
        <p:spPr>
          <a:xfrm>
            <a:off x="1572768" y="1847088"/>
            <a:ext cx="118872" cy="530352"/>
          </a:xfrm>
          <a:prstGeom prst="line">
            <a:avLst/>
          </a:prstGeom>
          <a:noFill/>
          <a:ln w="19050">
            <a:solidFill>
              <a:srgbClr val="C8414C"/>
            </a:solidFill>
            <a:prstDash val="solid"/>
            <a:tailEnd type="triangle"/>
          </a:ln>
        </p:spPr>
      </p:sp>
      <p:sp>
        <p:nvSpPr>
          <p:cNvPr id="18" name="Shape 16"/>
          <p:cNvSpPr/>
          <p:nvPr/>
        </p:nvSpPr>
        <p:spPr>
          <a:xfrm>
            <a:off x="1019556" y="2628671"/>
            <a:ext cx="64008" cy="64008"/>
          </a:xfrm>
          <a:prstGeom prst="ellipse">
            <a:avLst/>
          </a:prstGeom>
          <a:solidFill>
            <a:srgbClr val="F2B8BD"/>
          </a:solidFill>
          <a:ln w="9525">
            <a:solidFill>
              <a:srgbClr val="C8414C"/>
            </a:solidFill>
            <a:prstDash val="solid"/>
          </a:ln>
        </p:spPr>
      </p:sp>
      <p:sp>
        <p:nvSpPr>
          <p:cNvPr id="19" name="Text 17"/>
          <p:cNvSpPr/>
          <p:nvPr/>
        </p:nvSpPr>
        <p:spPr>
          <a:xfrm>
            <a:off x="1019556" y="262867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20" name="Shape 18"/>
          <p:cNvSpPr/>
          <p:nvPr/>
        </p:nvSpPr>
        <p:spPr>
          <a:xfrm>
            <a:off x="1029157" y="2711882"/>
            <a:ext cx="44806" cy="44806"/>
          </a:xfrm>
          <a:prstGeom prst="ellipse">
            <a:avLst/>
          </a:prstGeom>
          <a:solidFill>
            <a:srgbClr val="2E5BD8"/>
          </a:solidFill>
          <a:ln w="9525">
            <a:solidFill>
              <a:srgbClr val="1F3F9E"/>
            </a:solidFill>
            <a:prstDash val="solid"/>
          </a:ln>
        </p:spPr>
      </p:sp>
      <p:sp>
        <p:nvSpPr>
          <p:cNvPr id="21" name="Shape 19"/>
          <p:cNvSpPr/>
          <p:nvPr/>
        </p:nvSpPr>
        <p:spPr>
          <a:xfrm>
            <a:off x="1431036" y="2811551"/>
            <a:ext cx="64008" cy="64008"/>
          </a:xfrm>
          <a:prstGeom prst="ellipse">
            <a:avLst/>
          </a:prstGeom>
          <a:solidFill>
            <a:srgbClr val="F2B8BD"/>
          </a:solidFill>
          <a:ln w="9525">
            <a:solidFill>
              <a:srgbClr val="C8414C"/>
            </a:solidFill>
            <a:prstDash val="solid"/>
          </a:ln>
        </p:spPr>
      </p:sp>
      <p:sp>
        <p:nvSpPr>
          <p:cNvPr id="22" name="Text 20"/>
          <p:cNvSpPr/>
          <p:nvPr/>
        </p:nvSpPr>
        <p:spPr>
          <a:xfrm>
            <a:off x="1431036" y="281155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23" name="Shape 21"/>
          <p:cNvSpPr/>
          <p:nvPr/>
        </p:nvSpPr>
        <p:spPr>
          <a:xfrm>
            <a:off x="1440637" y="2894762"/>
            <a:ext cx="44806" cy="44806"/>
          </a:xfrm>
          <a:prstGeom prst="ellipse">
            <a:avLst/>
          </a:prstGeom>
          <a:solidFill>
            <a:srgbClr val="2E5BD8"/>
          </a:solidFill>
          <a:ln w="9525">
            <a:solidFill>
              <a:srgbClr val="1F3F9E"/>
            </a:solidFill>
            <a:prstDash val="solid"/>
          </a:ln>
        </p:spPr>
      </p:sp>
      <p:sp>
        <p:nvSpPr>
          <p:cNvPr id="24" name="Shape 22"/>
          <p:cNvSpPr/>
          <p:nvPr/>
        </p:nvSpPr>
        <p:spPr>
          <a:xfrm>
            <a:off x="1888236" y="2628671"/>
            <a:ext cx="64008" cy="64008"/>
          </a:xfrm>
          <a:prstGeom prst="ellipse">
            <a:avLst/>
          </a:prstGeom>
          <a:solidFill>
            <a:srgbClr val="F2B8BD"/>
          </a:solidFill>
          <a:ln w="9525">
            <a:solidFill>
              <a:srgbClr val="C8414C"/>
            </a:solidFill>
            <a:prstDash val="solid"/>
          </a:ln>
        </p:spPr>
      </p:sp>
      <p:sp>
        <p:nvSpPr>
          <p:cNvPr id="25" name="Text 23"/>
          <p:cNvSpPr/>
          <p:nvPr/>
        </p:nvSpPr>
        <p:spPr>
          <a:xfrm>
            <a:off x="1888236" y="262867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26" name="Shape 24"/>
          <p:cNvSpPr/>
          <p:nvPr/>
        </p:nvSpPr>
        <p:spPr>
          <a:xfrm>
            <a:off x="1897837" y="2711882"/>
            <a:ext cx="44806" cy="44806"/>
          </a:xfrm>
          <a:prstGeom prst="ellipse">
            <a:avLst/>
          </a:prstGeom>
          <a:solidFill>
            <a:srgbClr val="2E5BD8"/>
          </a:solidFill>
          <a:ln w="9525">
            <a:solidFill>
              <a:srgbClr val="1F3F9E"/>
            </a:solidFill>
            <a:prstDash val="solid"/>
          </a:ln>
        </p:spPr>
      </p:sp>
      <p:sp>
        <p:nvSpPr>
          <p:cNvPr id="27" name="Shape 25"/>
          <p:cNvSpPr/>
          <p:nvPr/>
        </p:nvSpPr>
        <p:spPr>
          <a:xfrm>
            <a:off x="2071116" y="2948711"/>
            <a:ext cx="64008" cy="64008"/>
          </a:xfrm>
          <a:prstGeom prst="ellipse">
            <a:avLst/>
          </a:prstGeom>
          <a:solidFill>
            <a:srgbClr val="F2B8BD"/>
          </a:solidFill>
          <a:ln w="9525">
            <a:solidFill>
              <a:srgbClr val="C8414C"/>
            </a:solidFill>
            <a:prstDash val="solid"/>
          </a:ln>
        </p:spPr>
      </p:sp>
      <p:sp>
        <p:nvSpPr>
          <p:cNvPr id="28" name="Text 26"/>
          <p:cNvSpPr/>
          <p:nvPr/>
        </p:nvSpPr>
        <p:spPr>
          <a:xfrm>
            <a:off x="2071116" y="294871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29" name="Shape 27"/>
          <p:cNvSpPr/>
          <p:nvPr/>
        </p:nvSpPr>
        <p:spPr>
          <a:xfrm>
            <a:off x="2080717" y="3031922"/>
            <a:ext cx="44806" cy="44806"/>
          </a:xfrm>
          <a:prstGeom prst="ellipse">
            <a:avLst/>
          </a:prstGeom>
          <a:solidFill>
            <a:srgbClr val="2E5BD8"/>
          </a:solidFill>
          <a:ln w="9525">
            <a:solidFill>
              <a:srgbClr val="1F3F9E"/>
            </a:solidFill>
            <a:prstDash val="solid"/>
          </a:ln>
        </p:spPr>
      </p:sp>
      <p:sp>
        <p:nvSpPr>
          <p:cNvPr id="30" name="Shape 28"/>
          <p:cNvSpPr/>
          <p:nvPr/>
        </p:nvSpPr>
        <p:spPr>
          <a:xfrm>
            <a:off x="1156716" y="2994431"/>
            <a:ext cx="64008" cy="64008"/>
          </a:xfrm>
          <a:prstGeom prst="ellipse">
            <a:avLst/>
          </a:prstGeom>
          <a:solidFill>
            <a:srgbClr val="F2B8BD"/>
          </a:solidFill>
          <a:ln w="9525">
            <a:solidFill>
              <a:srgbClr val="C8414C"/>
            </a:solidFill>
            <a:prstDash val="solid"/>
          </a:ln>
        </p:spPr>
      </p:sp>
      <p:sp>
        <p:nvSpPr>
          <p:cNvPr id="31" name="Text 29"/>
          <p:cNvSpPr/>
          <p:nvPr/>
        </p:nvSpPr>
        <p:spPr>
          <a:xfrm>
            <a:off x="1156716" y="2994431"/>
            <a:ext cx="64008" cy="6400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p>
        </p:txBody>
      </p:sp>
      <p:sp>
        <p:nvSpPr>
          <p:cNvPr id="32" name="Shape 30"/>
          <p:cNvSpPr/>
          <p:nvPr/>
        </p:nvSpPr>
        <p:spPr>
          <a:xfrm>
            <a:off x="1166317" y="3077642"/>
            <a:ext cx="44806" cy="44806"/>
          </a:xfrm>
          <a:prstGeom prst="ellipse">
            <a:avLst/>
          </a:prstGeom>
          <a:solidFill>
            <a:srgbClr val="2E5BD8"/>
          </a:solidFill>
          <a:ln w="9525">
            <a:solidFill>
              <a:srgbClr val="1F3F9E"/>
            </a:solidFill>
            <a:prstDash val="solid"/>
          </a:ln>
        </p:spPr>
      </p:sp>
      <p:sp>
        <p:nvSpPr>
          <p:cNvPr id="33" name="Shape 31"/>
          <p:cNvSpPr/>
          <p:nvPr/>
        </p:nvSpPr>
        <p:spPr>
          <a:xfrm>
            <a:off x="740664" y="3246120"/>
            <a:ext cx="91" cy="548640"/>
          </a:xfrm>
          <a:prstGeom prst="line">
            <a:avLst/>
          </a:prstGeom>
          <a:noFill/>
          <a:ln w="19050">
            <a:solidFill>
              <a:srgbClr val="1A2340"/>
            </a:solidFill>
            <a:prstDash val="solid"/>
          </a:ln>
        </p:spPr>
      </p:sp>
      <p:sp>
        <p:nvSpPr>
          <p:cNvPr id="34" name="Shape 32"/>
          <p:cNvSpPr/>
          <p:nvPr/>
        </p:nvSpPr>
        <p:spPr>
          <a:xfrm>
            <a:off x="2432304" y="3246120"/>
            <a:ext cx="91" cy="548640"/>
          </a:xfrm>
          <a:prstGeom prst="line">
            <a:avLst/>
          </a:prstGeom>
          <a:noFill/>
          <a:ln w="19050">
            <a:solidFill>
              <a:srgbClr val="1A2340"/>
            </a:solidFill>
            <a:prstDash val="solid"/>
          </a:ln>
        </p:spPr>
      </p:sp>
      <p:sp>
        <p:nvSpPr>
          <p:cNvPr id="35" name="Shape 33"/>
          <p:cNvSpPr/>
          <p:nvPr/>
        </p:nvSpPr>
        <p:spPr>
          <a:xfrm>
            <a:off x="740664" y="3794760"/>
            <a:ext cx="236830" cy="91"/>
          </a:xfrm>
          <a:prstGeom prst="line">
            <a:avLst/>
          </a:prstGeom>
          <a:noFill/>
          <a:ln w="19050">
            <a:solidFill>
              <a:srgbClr val="1A2340"/>
            </a:solidFill>
            <a:prstDash val="solid"/>
          </a:ln>
        </p:spPr>
      </p:sp>
      <p:sp>
        <p:nvSpPr>
          <p:cNvPr id="36" name="Shape 34"/>
          <p:cNvSpPr/>
          <p:nvPr/>
        </p:nvSpPr>
        <p:spPr>
          <a:xfrm>
            <a:off x="1226210" y="3794760"/>
            <a:ext cx="236830" cy="91"/>
          </a:xfrm>
          <a:prstGeom prst="line">
            <a:avLst/>
          </a:prstGeom>
          <a:noFill/>
          <a:ln w="19050">
            <a:solidFill>
              <a:srgbClr val="1A2340"/>
            </a:solidFill>
            <a:prstDash val="solid"/>
          </a:ln>
        </p:spPr>
      </p:sp>
      <p:sp>
        <p:nvSpPr>
          <p:cNvPr id="37" name="Shape 35"/>
          <p:cNvSpPr/>
          <p:nvPr/>
        </p:nvSpPr>
        <p:spPr>
          <a:xfrm>
            <a:off x="977494" y="3633826"/>
            <a:ext cx="91" cy="321869"/>
          </a:xfrm>
          <a:prstGeom prst="line">
            <a:avLst/>
          </a:prstGeom>
          <a:noFill/>
          <a:ln w="19050">
            <a:solidFill>
              <a:srgbClr val="1A2340"/>
            </a:solidFill>
            <a:prstDash val="solid"/>
          </a:ln>
        </p:spPr>
      </p:sp>
      <p:sp>
        <p:nvSpPr>
          <p:cNvPr id="38" name="Shape 36"/>
          <p:cNvSpPr/>
          <p:nvPr/>
        </p:nvSpPr>
        <p:spPr>
          <a:xfrm>
            <a:off x="1050646" y="3714293"/>
            <a:ext cx="91" cy="160934"/>
          </a:xfrm>
          <a:prstGeom prst="line">
            <a:avLst/>
          </a:prstGeom>
          <a:noFill/>
          <a:ln w="57150">
            <a:solidFill>
              <a:srgbClr val="1A2340"/>
            </a:solidFill>
            <a:prstDash val="solid"/>
          </a:ln>
        </p:spPr>
      </p:sp>
      <p:sp>
        <p:nvSpPr>
          <p:cNvPr id="39" name="Shape 37"/>
          <p:cNvSpPr/>
          <p:nvPr/>
        </p:nvSpPr>
        <p:spPr>
          <a:xfrm>
            <a:off x="1050646" y="3794760"/>
            <a:ext cx="102413" cy="91"/>
          </a:xfrm>
          <a:prstGeom prst="line">
            <a:avLst/>
          </a:prstGeom>
          <a:noFill/>
          <a:ln w="19050">
            <a:solidFill>
              <a:srgbClr val="1A2340"/>
            </a:solidFill>
            <a:prstDash val="solid"/>
          </a:ln>
        </p:spPr>
      </p:sp>
      <p:sp>
        <p:nvSpPr>
          <p:cNvPr id="40" name="Shape 38"/>
          <p:cNvSpPr/>
          <p:nvPr/>
        </p:nvSpPr>
        <p:spPr>
          <a:xfrm>
            <a:off x="1153058" y="3633826"/>
            <a:ext cx="91" cy="321869"/>
          </a:xfrm>
          <a:prstGeom prst="line">
            <a:avLst/>
          </a:prstGeom>
          <a:noFill/>
          <a:ln w="19050">
            <a:solidFill>
              <a:srgbClr val="1A2340"/>
            </a:solidFill>
            <a:prstDash val="solid"/>
          </a:ln>
        </p:spPr>
      </p:sp>
      <p:sp>
        <p:nvSpPr>
          <p:cNvPr id="41" name="Shape 39"/>
          <p:cNvSpPr/>
          <p:nvPr/>
        </p:nvSpPr>
        <p:spPr>
          <a:xfrm>
            <a:off x="1226210" y="3714293"/>
            <a:ext cx="91" cy="160934"/>
          </a:xfrm>
          <a:prstGeom prst="line">
            <a:avLst/>
          </a:prstGeom>
          <a:noFill/>
          <a:ln w="57150">
            <a:solidFill>
              <a:srgbClr val="1A2340"/>
            </a:solidFill>
            <a:prstDash val="solid"/>
          </a:ln>
        </p:spPr>
      </p:sp>
      <p:sp>
        <p:nvSpPr>
          <p:cNvPr id="42" name="Shape 40"/>
          <p:cNvSpPr/>
          <p:nvPr/>
        </p:nvSpPr>
        <p:spPr>
          <a:xfrm>
            <a:off x="1463040" y="3794760"/>
            <a:ext cx="345643" cy="91"/>
          </a:xfrm>
          <a:prstGeom prst="line">
            <a:avLst/>
          </a:prstGeom>
          <a:noFill/>
          <a:ln w="19050">
            <a:solidFill>
              <a:srgbClr val="1A2340"/>
            </a:solidFill>
            <a:prstDash val="solid"/>
          </a:ln>
        </p:spPr>
      </p:sp>
      <p:sp>
        <p:nvSpPr>
          <p:cNvPr id="43" name="Shape 41"/>
          <p:cNvSpPr/>
          <p:nvPr/>
        </p:nvSpPr>
        <p:spPr>
          <a:xfrm>
            <a:off x="2086661" y="3794760"/>
            <a:ext cx="345643" cy="91"/>
          </a:xfrm>
          <a:prstGeom prst="line">
            <a:avLst/>
          </a:prstGeom>
          <a:noFill/>
          <a:ln w="19050">
            <a:solidFill>
              <a:srgbClr val="1A2340"/>
            </a:solidFill>
            <a:prstDash val="solid"/>
          </a:ln>
        </p:spPr>
      </p:sp>
      <p:sp>
        <p:nvSpPr>
          <p:cNvPr id="44" name="Shape 42"/>
          <p:cNvSpPr/>
          <p:nvPr/>
        </p:nvSpPr>
        <p:spPr>
          <a:xfrm>
            <a:off x="1808683" y="3655771"/>
            <a:ext cx="277978" cy="277978"/>
          </a:xfrm>
          <a:prstGeom prst="ellipse">
            <a:avLst/>
          </a:prstGeom>
          <a:solidFill>
            <a:srgbClr val="FFFFFF"/>
          </a:solidFill>
          <a:ln w="19050">
            <a:solidFill>
              <a:srgbClr val="1A2340"/>
            </a:solidFill>
            <a:prstDash val="solid"/>
          </a:ln>
        </p:spPr>
      </p:sp>
      <p:sp>
        <p:nvSpPr>
          <p:cNvPr id="45" name="Text 43"/>
          <p:cNvSpPr/>
          <p:nvPr/>
        </p:nvSpPr>
        <p:spPr>
          <a:xfrm>
            <a:off x="1801368" y="3648456"/>
            <a:ext cx="292608" cy="292608"/>
          </a:xfrm>
          <a:prstGeom prst="rect">
            <a:avLst/>
          </a:prstGeom>
          <a:noFill/>
          <a:ln/>
        </p:spPr>
        <p:txBody>
          <a:bodyPr wrap="square" lIns="0" tIns="0" rIns="0" bIns="0" rtlCol="0" anchor="ctr"/>
          <a:lstStyle/>
          <a:p>
            <a:pPr algn="ctr" indent="0" marL="0">
              <a:buNone/>
            </a:pPr>
            <a:r>
              <a:rPr lang="en-US" sz="1040" b="1" dirty="0">
                <a:solidFill>
                  <a:srgbClr val="1A2340"/>
                </a:solidFill>
                <a:latin typeface="Calibri" pitchFamily="34" charset="0"/>
                <a:ea typeface="Calibri" pitchFamily="34" charset="-122"/>
                <a:cs typeface="Calibri" pitchFamily="34" charset="-120"/>
              </a:rPr>
              <a:t>A</a:t>
            </a:r>
            <a:endParaRPr lang="en-US" sz="1040" dirty="0"/>
          </a:p>
        </p:txBody>
      </p:sp>
      <p:sp>
        <p:nvSpPr>
          <p:cNvPr id="46" name="Text 44"/>
          <p:cNvSpPr/>
          <p:nvPr/>
        </p:nvSpPr>
        <p:spPr>
          <a:xfrm>
            <a:off x="548640" y="4069080"/>
            <a:ext cx="2194560" cy="77724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ions carry a current; smoke absorbs α → current falls → </a:t>
            </a:r>
            <a:r>
              <a:rPr lang="en-US" sz="1050" b="1" dirty="0">
                <a:solidFill>
                  <a:srgbClr val="262B3A"/>
                </a:solidFill>
                <a:latin typeface="Calibri" pitchFamily="34" charset="0"/>
                <a:ea typeface="Calibri" pitchFamily="34" charset="-122"/>
                <a:cs typeface="Calibri" pitchFamily="34" charset="-120"/>
              </a:rPr>
              <a:t>alarm</a:t>
            </a:r>
            <a:endParaRPr lang="en-US" sz="1050" dirty="0"/>
          </a:p>
        </p:txBody>
      </p:sp>
      <p:sp>
        <p:nvSpPr>
          <p:cNvPr id="47" name="Text 45"/>
          <p:cNvSpPr/>
          <p:nvPr/>
        </p:nvSpPr>
        <p:spPr>
          <a:xfrm>
            <a:off x="3246120" y="1298448"/>
            <a:ext cx="2651760" cy="256032"/>
          </a:xfrm>
          <a:prstGeom prst="rect">
            <a:avLst/>
          </a:prstGeom>
          <a:noFill/>
          <a:ln/>
        </p:spPr>
        <p:txBody>
          <a:bodyPr wrap="square" lIns="0" tIns="0" rIns="0" bIns="0" rtlCol="0" anchor="ctr"/>
          <a:lstStyle/>
          <a:p>
            <a:pPr algn="l" indent="0" marL="0">
              <a:buNone/>
            </a:pPr>
            <a:r>
              <a:rPr lang="en-US" sz="1150" b="1" dirty="0">
                <a:solidFill>
                  <a:srgbClr val="2E5BD8"/>
                </a:solidFill>
                <a:latin typeface="Calibri" pitchFamily="34" charset="0"/>
                <a:ea typeface="Calibri" pitchFamily="34" charset="-122"/>
                <a:cs typeface="Calibri" pitchFamily="34" charset="-120"/>
              </a:rPr>
              <a:t>Thickness gauge (β)</a:t>
            </a:r>
            <a:endParaRPr lang="en-US" sz="1150" dirty="0"/>
          </a:p>
        </p:txBody>
      </p:sp>
      <p:sp>
        <p:nvSpPr>
          <p:cNvPr id="48" name="Shape 46"/>
          <p:cNvSpPr/>
          <p:nvPr/>
        </p:nvSpPr>
        <p:spPr>
          <a:xfrm>
            <a:off x="3246120" y="2606040"/>
            <a:ext cx="2560320" cy="73152"/>
          </a:xfrm>
          <a:prstGeom prst="rect">
            <a:avLst/>
          </a:prstGeom>
          <a:solidFill>
            <a:srgbClr val="FFFDF5"/>
          </a:solidFill>
          <a:ln w="9525">
            <a:solidFill>
              <a:srgbClr val="9C8F6A"/>
            </a:solidFill>
            <a:prstDash val="solid"/>
          </a:ln>
        </p:spPr>
      </p:sp>
      <p:sp>
        <p:nvSpPr>
          <p:cNvPr id="49" name="Shape 47"/>
          <p:cNvSpPr/>
          <p:nvPr/>
        </p:nvSpPr>
        <p:spPr>
          <a:xfrm>
            <a:off x="3337560" y="2103120"/>
            <a:ext cx="457200" cy="457200"/>
          </a:xfrm>
          <a:prstGeom prst="ellipse">
            <a:avLst/>
          </a:prstGeom>
          <a:solidFill>
            <a:srgbClr val="C9CED8"/>
          </a:solidFill>
          <a:ln w="12700">
            <a:solidFill>
              <a:srgbClr val="6B7385"/>
            </a:solidFill>
            <a:prstDash val="solid"/>
          </a:ln>
        </p:spPr>
      </p:sp>
      <p:sp>
        <p:nvSpPr>
          <p:cNvPr id="50" name="Shape 48"/>
          <p:cNvSpPr/>
          <p:nvPr/>
        </p:nvSpPr>
        <p:spPr>
          <a:xfrm>
            <a:off x="3337560" y="2724912"/>
            <a:ext cx="457200" cy="457200"/>
          </a:xfrm>
          <a:prstGeom prst="ellipse">
            <a:avLst/>
          </a:prstGeom>
          <a:solidFill>
            <a:srgbClr val="C9CED8"/>
          </a:solidFill>
          <a:ln w="12700">
            <a:solidFill>
              <a:srgbClr val="6B7385"/>
            </a:solidFill>
            <a:prstDash val="solid"/>
          </a:ln>
        </p:spPr>
      </p:sp>
      <p:sp>
        <p:nvSpPr>
          <p:cNvPr id="51" name="Text 49"/>
          <p:cNvSpPr/>
          <p:nvPr/>
        </p:nvSpPr>
        <p:spPr>
          <a:xfrm>
            <a:off x="3200400" y="3200400"/>
            <a:ext cx="731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rollers</a:t>
            </a:r>
            <a:endParaRPr lang="en-US" sz="1050" dirty="0"/>
          </a:p>
        </p:txBody>
      </p:sp>
      <p:sp>
        <p:nvSpPr>
          <p:cNvPr id="52" name="Shape 50"/>
          <p:cNvSpPr/>
          <p:nvPr/>
        </p:nvSpPr>
        <p:spPr>
          <a:xfrm>
            <a:off x="4160520" y="2514600"/>
            <a:ext cx="548640" cy="91"/>
          </a:xfrm>
          <a:prstGeom prst="line">
            <a:avLst/>
          </a:prstGeom>
          <a:noFill/>
          <a:ln w="15875">
            <a:solidFill>
              <a:srgbClr val="1A2340"/>
            </a:solidFill>
            <a:prstDash val="solid"/>
            <a:tailEnd type="triangle"/>
          </a:ln>
        </p:spPr>
      </p:sp>
      <p:sp>
        <p:nvSpPr>
          <p:cNvPr id="53" name="Text 51"/>
          <p:cNvSpPr/>
          <p:nvPr/>
        </p:nvSpPr>
        <p:spPr>
          <a:xfrm>
            <a:off x="4709160" y="2377440"/>
            <a:ext cx="914400" cy="219456"/>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paper</a:t>
            </a:r>
            <a:endParaRPr lang="en-US" sz="1050" dirty="0"/>
          </a:p>
        </p:txBody>
      </p:sp>
      <p:sp>
        <p:nvSpPr>
          <p:cNvPr id="54" name="Shape 52"/>
          <p:cNvSpPr/>
          <p:nvPr/>
        </p:nvSpPr>
        <p:spPr>
          <a:xfrm>
            <a:off x="4846320" y="3108960"/>
            <a:ext cx="457200" cy="320040"/>
          </a:xfrm>
          <a:prstGeom prst="rect">
            <a:avLst/>
          </a:prstGeom>
          <a:solidFill>
            <a:srgbClr val="4A5262"/>
          </a:solidFill>
          <a:ln w="12700">
            <a:solidFill>
              <a:srgbClr val="2E3442"/>
            </a:solidFill>
            <a:prstDash val="solid"/>
          </a:ln>
        </p:spPr>
      </p:sp>
      <p:sp>
        <p:nvSpPr>
          <p:cNvPr id="55" name="Text 53"/>
          <p:cNvSpPr/>
          <p:nvPr/>
        </p:nvSpPr>
        <p:spPr>
          <a:xfrm>
            <a:off x="5349240" y="3154680"/>
            <a:ext cx="685800" cy="219456"/>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β source</a:t>
            </a:r>
            <a:endParaRPr lang="en-US" sz="1050" dirty="0"/>
          </a:p>
        </p:txBody>
      </p:sp>
      <p:sp>
        <p:nvSpPr>
          <p:cNvPr id="56" name="Shape 54"/>
          <p:cNvSpPr/>
          <p:nvPr/>
        </p:nvSpPr>
        <p:spPr>
          <a:xfrm flipV="1">
            <a:off x="4983480" y="2057400"/>
            <a:ext cx="91" cy="1033272"/>
          </a:xfrm>
          <a:prstGeom prst="line">
            <a:avLst/>
          </a:prstGeom>
          <a:noFill/>
          <a:ln w="19050">
            <a:solidFill>
              <a:srgbClr val="2E5BD8"/>
            </a:solidFill>
            <a:prstDash val="solid"/>
            <a:tailEnd type="triangle"/>
          </a:ln>
        </p:spPr>
      </p:sp>
      <p:sp>
        <p:nvSpPr>
          <p:cNvPr id="57" name="Shape 55"/>
          <p:cNvSpPr/>
          <p:nvPr/>
        </p:nvSpPr>
        <p:spPr>
          <a:xfrm flipV="1">
            <a:off x="5166360" y="2057400"/>
            <a:ext cx="91" cy="1033272"/>
          </a:xfrm>
          <a:prstGeom prst="line">
            <a:avLst/>
          </a:prstGeom>
          <a:noFill/>
          <a:ln w="19050">
            <a:solidFill>
              <a:srgbClr val="2E5BD8"/>
            </a:solidFill>
            <a:prstDash val="solid"/>
            <a:tailEnd type="triangle"/>
          </a:ln>
        </p:spPr>
      </p:sp>
      <p:sp>
        <p:nvSpPr>
          <p:cNvPr id="58" name="Shape 56"/>
          <p:cNvSpPr/>
          <p:nvPr/>
        </p:nvSpPr>
        <p:spPr>
          <a:xfrm>
            <a:off x="4800600" y="1691640"/>
            <a:ext cx="548640" cy="347472"/>
          </a:xfrm>
          <a:prstGeom prst="roundRect">
            <a:avLst>
              <a:gd name="adj" fmla="val 15789"/>
            </a:avLst>
          </a:prstGeom>
          <a:solidFill>
            <a:srgbClr val="D5DCEB"/>
          </a:solidFill>
          <a:ln w="12700">
            <a:solidFill>
              <a:srgbClr val="4A5262"/>
            </a:solidFill>
            <a:prstDash val="solid"/>
          </a:ln>
        </p:spPr>
      </p:sp>
      <p:sp>
        <p:nvSpPr>
          <p:cNvPr id="59" name="Text 57"/>
          <p:cNvSpPr/>
          <p:nvPr/>
        </p:nvSpPr>
        <p:spPr>
          <a:xfrm>
            <a:off x="4800600" y="1691640"/>
            <a:ext cx="548640" cy="34747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GM</a:t>
            </a:r>
            <a:endParaRPr lang="en-US" sz="1050" dirty="0"/>
          </a:p>
        </p:txBody>
      </p:sp>
      <p:sp>
        <p:nvSpPr>
          <p:cNvPr id="60" name="Shape 58"/>
          <p:cNvSpPr/>
          <p:nvPr/>
        </p:nvSpPr>
        <p:spPr>
          <a:xfrm>
            <a:off x="3246120" y="1645920"/>
            <a:ext cx="1005840" cy="411480"/>
          </a:xfrm>
          <a:prstGeom prst="roundRect">
            <a:avLst>
              <a:gd name="adj" fmla="val 11111"/>
            </a:avLst>
          </a:prstGeom>
          <a:solidFill>
            <a:srgbClr val="1A2340"/>
          </a:solidFill>
          <a:ln/>
        </p:spPr>
      </p:sp>
      <p:sp>
        <p:nvSpPr>
          <p:cNvPr id="61" name="Text 59"/>
          <p:cNvSpPr/>
          <p:nvPr/>
        </p:nvSpPr>
        <p:spPr>
          <a:xfrm>
            <a:off x="3246120" y="1645920"/>
            <a:ext cx="100584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control</a:t>
            </a:r>
            <a:endParaRPr lang="en-US" sz="1050" dirty="0"/>
          </a:p>
        </p:txBody>
      </p:sp>
      <p:sp>
        <p:nvSpPr>
          <p:cNvPr id="62" name="Shape 60"/>
          <p:cNvSpPr/>
          <p:nvPr/>
        </p:nvSpPr>
        <p:spPr>
          <a:xfrm flipH="1">
            <a:off x="4270248" y="1856232"/>
            <a:ext cx="530352" cy="91"/>
          </a:xfrm>
          <a:prstGeom prst="line">
            <a:avLst/>
          </a:prstGeom>
          <a:noFill/>
          <a:ln w="15875">
            <a:solidFill>
              <a:srgbClr val="1A2340"/>
            </a:solidFill>
            <a:prstDash val="solid"/>
            <a:tailEnd type="triangle"/>
          </a:ln>
        </p:spPr>
      </p:sp>
      <p:sp>
        <p:nvSpPr>
          <p:cNvPr id="63" name="Shape 61"/>
          <p:cNvSpPr/>
          <p:nvPr/>
        </p:nvSpPr>
        <p:spPr>
          <a:xfrm>
            <a:off x="3566160" y="2057400"/>
            <a:ext cx="91" cy="64008"/>
          </a:xfrm>
          <a:prstGeom prst="line">
            <a:avLst/>
          </a:prstGeom>
          <a:noFill/>
          <a:ln w="15875">
            <a:solidFill>
              <a:srgbClr val="1A2340"/>
            </a:solidFill>
            <a:prstDash val="solid"/>
            <a:tailEnd type="triangle"/>
          </a:ln>
        </p:spPr>
      </p:sp>
      <p:sp>
        <p:nvSpPr>
          <p:cNvPr id="64" name="Text 62"/>
          <p:cNvSpPr/>
          <p:nvPr/>
        </p:nvSpPr>
        <p:spPr>
          <a:xfrm>
            <a:off x="3200400" y="3520440"/>
            <a:ext cx="2651760" cy="54864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count rate rises → paper too thin → rollers move apart</a:t>
            </a:r>
            <a:endParaRPr lang="en-US" sz="1050" dirty="0"/>
          </a:p>
        </p:txBody>
      </p:sp>
      <p:sp>
        <p:nvSpPr>
          <p:cNvPr id="65" name="Shape 63"/>
          <p:cNvSpPr/>
          <p:nvPr/>
        </p:nvSpPr>
        <p:spPr>
          <a:xfrm>
            <a:off x="685800" y="4617720"/>
            <a:ext cx="5120640" cy="640080"/>
          </a:xfrm>
          <a:prstGeom prst="roundRect">
            <a:avLst>
              <a:gd name="adj" fmla="val 7143"/>
            </a:avLst>
          </a:prstGeom>
          <a:solidFill>
            <a:srgbClr val="FFFFFF"/>
          </a:solidFill>
          <a:ln w="15875">
            <a:solidFill>
              <a:srgbClr val="2E8B57"/>
            </a:solidFill>
            <a:prstDash val="solid"/>
          </a:ln>
        </p:spPr>
      </p:sp>
      <p:sp>
        <p:nvSpPr>
          <p:cNvPr id="66" name="Text 64"/>
          <p:cNvSpPr/>
          <p:nvPr/>
        </p:nvSpPr>
        <p:spPr>
          <a:xfrm>
            <a:off x="822960" y="4645152"/>
            <a:ext cx="4892040" cy="585216"/>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Food irradiation (γ)</a:t>
            </a:r>
            <a:r>
              <a:rPr lang="en-US" sz="1050" dirty="0">
                <a:solidFill>
                  <a:srgbClr val="262B3A"/>
                </a:solidFill>
                <a:latin typeface="Calibri" pitchFamily="34" charset="0"/>
                <a:ea typeface="Calibri" pitchFamily="34" charset="-122"/>
                <a:cs typeface="Calibri" pitchFamily="34" charset="-120"/>
              </a:rPr>
              <a:t>: gamma kills bacteria so food keeps longer. The food is irradiated, </a:t>
            </a:r>
            <a:r>
              <a:rPr lang="en-US" sz="1050" b="1" dirty="0">
                <a:solidFill>
                  <a:srgbClr val="262B3A"/>
                </a:solidFill>
                <a:latin typeface="Calibri" pitchFamily="34" charset="0"/>
                <a:ea typeface="Calibri" pitchFamily="34" charset="-122"/>
                <a:cs typeface="Calibri" pitchFamily="34" charset="-120"/>
              </a:rPr>
              <a:t>not</a:t>
            </a:r>
            <a:r>
              <a:rPr lang="en-US" sz="1050" dirty="0">
                <a:solidFill>
                  <a:srgbClr val="262B3A"/>
                </a:solidFill>
                <a:latin typeface="Calibri" pitchFamily="34" charset="0"/>
                <a:ea typeface="Calibri" pitchFamily="34" charset="-122"/>
                <a:cs typeface="Calibri" pitchFamily="34" charset="-120"/>
              </a:rPr>
              <a:t> made radioactive.</a:t>
            </a:r>
            <a:endParaRPr lang="en-US" sz="1050" dirty="0"/>
          </a:p>
        </p:txBody>
      </p:sp>
      <p:sp>
        <p:nvSpPr>
          <p:cNvPr id="67" name="Shape 65"/>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68" name="Text 6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Why each radiation is chosen</a:t>
            </a:r>
            <a:endParaRPr lang="en-US" sz="1300" dirty="0"/>
          </a:p>
        </p:txBody>
      </p:sp>
      <p:sp>
        <p:nvSpPr>
          <p:cNvPr id="69" name="Text 6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Smoke detector</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alpha</a:t>
            </a:r>
            <a:r>
              <a:rPr lang="en-US" sz="1150" dirty="0">
                <a:solidFill>
                  <a:srgbClr val="262B3A"/>
                </a:solidFill>
                <a:latin typeface="Calibri" pitchFamily="34" charset="0"/>
                <a:ea typeface="Calibri" pitchFamily="34" charset="-122"/>
                <a:cs typeface="Calibri" pitchFamily="34" charset="-120"/>
              </a:rPr>
              <a:t> strongly ionises the air, so a current flows. Smoke absorbs the alpha, the current drops and the alarm sounds. Alpha cannot get out of the case.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Thickness gauge</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beta</a:t>
            </a:r>
            <a:r>
              <a:rPr lang="en-US" sz="1150" dirty="0">
                <a:solidFill>
                  <a:srgbClr val="262B3A"/>
                </a:solidFill>
                <a:latin typeface="Calibri" pitchFamily="34" charset="0"/>
                <a:ea typeface="Calibri" pitchFamily="34" charset="-122"/>
                <a:cs typeface="Calibri" pitchFamily="34" charset="-120"/>
              </a:rPr>
              <a:t> is partly absorbed by paper or thin foil. A thicker sheet absorbs more, so the count rate falls.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Alpha would be stopped by any paper; gamma would pass straight through. Only </a:t>
            </a:r>
            <a:r>
              <a:rPr lang="en-US" sz="1150" b="1" dirty="0">
                <a:solidFill>
                  <a:srgbClr val="262B3A"/>
                </a:solidFill>
                <a:latin typeface="Calibri" pitchFamily="34" charset="0"/>
                <a:ea typeface="Calibri" pitchFamily="34" charset="-122"/>
                <a:cs typeface="Calibri" pitchFamily="34" charset="-120"/>
              </a:rPr>
              <a:t>beta</a:t>
            </a:r>
            <a:r>
              <a:rPr lang="en-US" sz="1150" dirty="0">
                <a:solidFill>
                  <a:srgbClr val="262B3A"/>
                </a:solidFill>
                <a:latin typeface="Calibri" pitchFamily="34" charset="0"/>
                <a:ea typeface="Calibri" pitchFamily="34" charset="-122"/>
                <a:cs typeface="Calibri" pitchFamily="34" charset="-120"/>
              </a:rPr>
              <a:t> changes with small changes in thickness.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Both use sources with </a:t>
            </a:r>
            <a:r>
              <a:rPr lang="en-US" sz="1150" b="1" dirty="0">
                <a:solidFill>
                  <a:srgbClr val="262B3A"/>
                </a:solidFill>
                <a:latin typeface="Calibri" pitchFamily="34" charset="0"/>
                <a:ea typeface="Calibri" pitchFamily="34" charset="-122"/>
                <a:cs typeface="Calibri" pitchFamily="34" charset="-120"/>
              </a:rPr>
              <a:t>long half-lives</a:t>
            </a:r>
            <a:r>
              <a:rPr lang="en-US" sz="1150" dirty="0">
                <a:solidFill>
                  <a:srgbClr val="262B3A"/>
                </a:solidFill>
                <a:latin typeface="Calibri" pitchFamily="34" charset="0"/>
                <a:ea typeface="Calibri" pitchFamily="34" charset="-122"/>
                <a:cs typeface="Calibri" pitchFamily="34" charset="-120"/>
              </a:rPr>
              <a:t>, so the count rate stays steady for years.</a:t>
            </a:r>
            <a:endParaRPr lang="en-US" sz="1150" dirty="0"/>
          </a:p>
        </p:txBody>
      </p:sp>
      <p:sp>
        <p:nvSpPr>
          <p:cNvPr id="70" name="Shape 6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71" name="Text 6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72" name="Text 70"/>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The count rate at the detector falls. What has happened, and what does the control do?</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Count falls   </a:t>
            </a:r>
            <a:r>
              <a:rPr lang="en-US" sz="1050" dirty="0">
                <a:solidFill>
                  <a:srgbClr val="262B3A"/>
                </a:solidFill>
                <a:latin typeface="Calibri" pitchFamily="34" charset="0"/>
                <a:ea typeface="Calibri" pitchFamily="34" charset="-122"/>
                <a:cs typeface="Calibri" pitchFamily="34" charset="-120"/>
              </a:rPr>
              <a:t>more beta absorbed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So   </a:t>
            </a:r>
            <a:r>
              <a:rPr lang="en-US" sz="1050" dirty="0">
                <a:solidFill>
                  <a:srgbClr val="262B3A"/>
                </a:solidFill>
                <a:latin typeface="Calibri" pitchFamily="34" charset="0"/>
                <a:ea typeface="Calibri" pitchFamily="34" charset="-122"/>
                <a:cs typeface="Calibri" pitchFamily="34" charset="-120"/>
              </a:rPr>
              <a:t>the paper has become too thick</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Control   </a:t>
            </a:r>
            <a:r>
              <a:rPr lang="en-US" sz="1050" dirty="0">
                <a:solidFill>
                  <a:srgbClr val="262B3A"/>
                </a:solidFill>
                <a:latin typeface="Calibri" pitchFamily="34" charset="0"/>
                <a:ea typeface="Calibri" pitchFamily="34" charset="-122"/>
                <a:cs typeface="Calibri" pitchFamily="34" charset="-120"/>
              </a:rPr>
              <a:t>moves the rollers closer together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the paper is squeezed thinner until the count rate is back to normal</a:t>
            </a:r>
            <a:endParaRPr lang="en-US" sz="1050" dirty="0"/>
          </a:p>
        </p:txBody>
      </p:sp>
      <p:sp>
        <p:nvSpPr>
          <p:cNvPr id="73" name="Shape 71"/>
          <p:cNvSpPr/>
          <p:nvPr/>
        </p:nvSpPr>
        <p:spPr>
          <a:xfrm>
            <a:off x="411480" y="5833872"/>
            <a:ext cx="11368735" cy="530352"/>
          </a:xfrm>
          <a:prstGeom prst="rect">
            <a:avLst/>
          </a:prstGeom>
          <a:solidFill>
            <a:srgbClr val="FFF4E0"/>
          </a:solidFill>
          <a:ln w="6350">
            <a:solidFill>
              <a:srgbClr val="F1D9A8"/>
            </a:solidFill>
            <a:prstDash val="solid"/>
          </a:ln>
        </p:spPr>
      </p:sp>
      <p:sp>
        <p:nvSpPr>
          <p:cNvPr id="74" name="Shape 72"/>
          <p:cNvSpPr/>
          <p:nvPr/>
        </p:nvSpPr>
        <p:spPr>
          <a:xfrm>
            <a:off x="411480" y="5833872"/>
            <a:ext cx="82296" cy="530352"/>
          </a:xfrm>
          <a:prstGeom prst="rect">
            <a:avLst/>
          </a:prstGeom>
          <a:solidFill>
            <a:srgbClr val="E39A2F"/>
          </a:solidFill>
          <a:ln w="12700">
            <a:solidFill>
              <a:srgbClr val="E39A2F"/>
            </a:solidFill>
            <a:prstDash val="solid"/>
          </a:ln>
        </p:spPr>
      </p:sp>
      <p:sp>
        <p:nvSpPr>
          <p:cNvPr id="75" name="Text 7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factory makes steel sheets 1 cm thick. Which radiation should its thickness gauge use? Explain why.</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Handling radioactive sources safely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P5.2.3 context • time, distance, shielding and monitoring</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Safety  |  23</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left: handling a source; right: a film badge shows the dose a worker has received</a:t>
            </a:r>
            <a:endParaRPr lang="en-US" sz="1000" dirty="0"/>
          </a:p>
        </p:txBody>
      </p:sp>
      <p:sp>
        <p:nvSpPr>
          <p:cNvPr id="10" name="Shape 8"/>
          <p:cNvSpPr/>
          <p:nvPr/>
        </p:nvSpPr>
        <p:spPr>
          <a:xfrm>
            <a:off x="594360" y="4023360"/>
            <a:ext cx="3200400" cy="109728"/>
          </a:xfrm>
          <a:prstGeom prst="rect">
            <a:avLst/>
          </a:prstGeom>
          <a:solidFill>
            <a:srgbClr val="C99A5B"/>
          </a:solidFill>
          <a:ln w="12700">
            <a:solidFill>
              <a:srgbClr val="8A6A3A"/>
            </a:solidFill>
            <a:prstDash val="solid"/>
          </a:ln>
        </p:spPr>
      </p:sp>
      <p:sp>
        <p:nvSpPr>
          <p:cNvPr id="11" name="Shape 9"/>
          <p:cNvSpPr/>
          <p:nvPr/>
        </p:nvSpPr>
        <p:spPr>
          <a:xfrm>
            <a:off x="731520" y="3337560"/>
            <a:ext cx="914400" cy="685800"/>
          </a:xfrm>
          <a:prstGeom prst="roundRect">
            <a:avLst>
              <a:gd name="adj" fmla="val 5333"/>
            </a:avLst>
          </a:prstGeom>
          <a:solidFill>
            <a:srgbClr val="5A6275"/>
          </a:solidFill>
          <a:ln w="12700">
            <a:solidFill>
              <a:srgbClr val="3B4252"/>
            </a:solidFill>
            <a:prstDash val="solid"/>
          </a:ln>
        </p:spPr>
      </p:sp>
      <p:sp>
        <p:nvSpPr>
          <p:cNvPr id="12" name="Text 10"/>
          <p:cNvSpPr/>
          <p:nvPr/>
        </p:nvSpPr>
        <p:spPr>
          <a:xfrm>
            <a:off x="731520" y="3337560"/>
            <a:ext cx="914400"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lead-lined box</a:t>
            </a:r>
            <a:endParaRPr lang="en-US" sz="1000" dirty="0"/>
          </a:p>
        </p:txBody>
      </p:sp>
      <p:sp>
        <p:nvSpPr>
          <p:cNvPr id="13" name="Shape 11"/>
          <p:cNvSpPr/>
          <p:nvPr/>
        </p:nvSpPr>
        <p:spPr>
          <a:xfrm>
            <a:off x="3099816" y="1600200"/>
            <a:ext cx="384048" cy="384048"/>
          </a:xfrm>
          <a:prstGeom prst="ellipse">
            <a:avLst/>
          </a:prstGeom>
          <a:solidFill>
            <a:srgbClr val="F2D7C2"/>
          </a:solidFill>
          <a:ln w="9525">
            <a:solidFill>
              <a:srgbClr val="9A7B66"/>
            </a:solidFill>
            <a:prstDash val="solid"/>
          </a:ln>
        </p:spPr>
      </p:sp>
      <p:sp>
        <p:nvSpPr>
          <p:cNvPr id="14" name="Shape 12"/>
          <p:cNvSpPr/>
          <p:nvPr/>
        </p:nvSpPr>
        <p:spPr>
          <a:xfrm>
            <a:off x="3003804" y="2022653"/>
            <a:ext cx="576072" cy="912114"/>
          </a:xfrm>
          <a:prstGeom prst="roundRect">
            <a:avLst>
              <a:gd name="adj" fmla="val 13333"/>
            </a:avLst>
          </a:prstGeom>
          <a:solidFill>
            <a:srgbClr val="9FB2DA"/>
          </a:solidFill>
          <a:ln w="9525">
            <a:solidFill>
              <a:srgbClr val="5A6275"/>
            </a:solidFill>
            <a:prstDash val="solid"/>
          </a:ln>
        </p:spPr>
      </p:sp>
      <p:sp>
        <p:nvSpPr>
          <p:cNvPr id="15" name="Shape 13"/>
          <p:cNvSpPr/>
          <p:nvPr/>
        </p:nvSpPr>
        <p:spPr>
          <a:xfrm>
            <a:off x="3032608" y="2944368"/>
            <a:ext cx="211226" cy="768096"/>
          </a:xfrm>
          <a:prstGeom prst="rect">
            <a:avLst/>
          </a:prstGeom>
          <a:solidFill>
            <a:srgbClr val="4A5262"/>
          </a:solidFill>
          <a:ln w="12700">
            <a:solidFill>
              <a:srgbClr val="4A5262"/>
            </a:solidFill>
            <a:prstDash val="solid"/>
          </a:ln>
        </p:spPr>
      </p:sp>
      <p:sp>
        <p:nvSpPr>
          <p:cNvPr id="16" name="Shape 14"/>
          <p:cNvSpPr/>
          <p:nvPr/>
        </p:nvSpPr>
        <p:spPr>
          <a:xfrm>
            <a:off x="3339846" y="2944368"/>
            <a:ext cx="211226" cy="768096"/>
          </a:xfrm>
          <a:prstGeom prst="rect">
            <a:avLst/>
          </a:prstGeom>
          <a:solidFill>
            <a:srgbClr val="4A5262"/>
          </a:solidFill>
          <a:ln w="12700">
            <a:solidFill>
              <a:srgbClr val="4A5262"/>
            </a:solidFill>
            <a:prstDash val="solid"/>
          </a:ln>
        </p:spPr>
      </p:sp>
      <p:sp>
        <p:nvSpPr>
          <p:cNvPr id="17" name="Shape 15"/>
          <p:cNvSpPr/>
          <p:nvPr/>
        </p:nvSpPr>
        <p:spPr>
          <a:xfrm>
            <a:off x="2869387" y="2080260"/>
            <a:ext cx="124816" cy="720090"/>
          </a:xfrm>
          <a:prstGeom prst="roundRect">
            <a:avLst>
              <a:gd name="adj" fmla="val 38461"/>
            </a:avLst>
          </a:prstGeom>
          <a:solidFill>
            <a:srgbClr val="9FB2DA"/>
          </a:solidFill>
          <a:ln w="9525">
            <a:solidFill>
              <a:srgbClr val="5A6275"/>
            </a:solidFill>
            <a:prstDash val="solid"/>
          </a:ln>
        </p:spPr>
      </p:sp>
      <p:sp>
        <p:nvSpPr>
          <p:cNvPr id="18" name="Shape 16"/>
          <p:cNvSpPr/>
          <p:nvPr/>
        </p:nvSpPr>
        <p:spPr>
          <a:xfrm>
            <a:off x="3589477" y="2080260"/>
            <a:ext cx="124816" cy="720090"/>
          </a:xfrm>
          <a:prstGeom prst="roundRect">
            <a:avLst>
              <a:gd name="adj" fmla="val 38461"/>
            </a:avLst>
          </a:prstGeom>
          <a:solidFill>
            <a:srgbClr val="9FB2DA"/>
          </a:solidFill>
          <a:ln w="9525">
            <a:solidFill>
              <a:srgbClr val="5A6275"/>
            </a:solidFill>
            <a:prstDash val="solid"/>
          </a:ln>
        </p:spPr>
      </p:sp>
      <p:sp>
        <p:nvSpPr>
          <p:cNvPr id="19" name="Shape 17"/>
          <p:cNvSpPr/>
          <p:nvPr/>
        </p:nvSpPr>
        <p:spPr>
          <a:xfrm flipH="1">
            <a:off x="1920240" y="2788920"/>
            <a:ext cx="914400" cy="182880"/>
          </a:xfrm>
          <a:prstGeom prst="line">
            <a:avLst/>
          </a:prstGeom>
          <a:noFill/>
          <a:ln w="31750">
            <a:solidFill>
              <a:srgbClr val="4A5262"/>
            </a:solidFill>
            <a:prstDash val="solid"/>
          </a:ln>
        </p:spPr>
      </p:sp>
      <p:sp>
        <p:nvSpPr>
          <p:cNvPr id="20" name="Shape 18"/>
          <p:cNvSpPr/>
          <p:nvPr/>
        </p:nvSpPr>
        <p:spPr>
          <a:xfrm flipH="1">
            <a:off x="1920240" y="2834640"/>
            <a:ext cx="914400" cy="256032"/>
          </a:xfrm>
          <a:prstGeom prst="line">
            <a:avLst/>
          </a:prstGeom>
          <a:noFill/>
          <a:ln w="31750">
            <a:solidFill>
              <a:srgbClr val="4A5262"/>
            </a:solidFill>
            <a:prstDash val="solid"/>
          </a:ln>
        </p:spPr>
      </p:sp>
      <p:sp>
        <p:nvSpPr>
          <p:cNvPr id="21" name="Shape 19"/>
          <p:cNvSpPr/>
          <p:nvPr/>
        </p:nvSpPr>
        <p:spPr>
          <a:xfrm>
            <a:off x="1783080" y="2907792"/>
            <a:ext cx="164592" cy="164592"/>
          </a:xfrm>
          <a:prstGeom prst="rect">
            <a:avLst/>
          </a:prstGeom>
          <a:solidFill>
            <a:srgbClr val="4A5262"/>
          </a:solidFill>
          <a:ln w="12700">
            <a:solidFill>
              <a:srgbClr val="2E3442"/>
            </a:solidFill>
            <a:prstDash val="solid"/>
          </a:ln>
        </p:spPr>
      </p:sp>
      <p:sp>
        <p:nvSpPr>
          <p:cNvPr id="22" name="Shape 20"/>
          <p:cNvSpPr/>
          <p:nvPr/>
        </p:nvSpPr>
        <p:spPr>
          <a:xfrm flipH="1" flipV="1">
            <a:off x="1097280" y="2606040"/>
            <a:ext cx="685800" cy="365760"/>
          </a:xfrm>
          <a:prstGeom prst="line">
            <a:avLst/>
          </a:prstGeom>
          <a:noFill/>
          <a:ln w="15875">
            <a:solidFill>
              <a:srgbClr val="C8414C"/>
            </a:solidFill>
            <a:prstDash val="solid"/>
            <a:tailEnd type="triangle"/>
          </a:ln>
        </p:spPr>
      </p:sp>
      <p:sp>
        <p:nvSpPr>
          <p:cNvPr id="23" name="Shape 21"/>
          <p:cNvSpPr/>
          <p:nvPr/>
        </p:nvSpPr>
        <p:spPr>
          <a:xfrm flipH="1">
            <a:off x="1097280" y="3017520"/>
            <a:ext cx="685800" cy="91"/>
          </a:xfrm>
          <a:prstGeom prst="line">
            <a:avLst/>
          </a:prstGeom>
          <a:noFill/>
          <a:ln w="15875">
            <a:solidFill>
              <a:srgbClr val="C8414C"/>
            </a:solidFill>
            <a:prstDash val="solid"/>
            <a:tailEnd type="triangle"/>
          </a:ln>
        </p:spPr>
      </p:sp>
      <p:sp>
        <p:nvSpPr>
          <p:cNvPr id="24" name="Text 22"/>
          <p:cNvSpPr/>
          <p:nvPr/>
        </p:nvSpPr>
        <p:spPr>
          <a:xfrm>
            <a:off x="548640" y="2103120"/>
            <a:ext cx="1463040" cy="411480"/>
          </a:xfrm>
          <a:prstGeom prst="rect">
            <a:avLst/>
          </a:prstGeom>
          <a:noFill/>
          <a:ln/>
        </p:spPr>
        <p:txBody>
          <a:bodyPr wrap="square" lIns="0" tIns="0" rIns="0" bIns="0" rtlCol="0" anchor="t"/>
          <a:lstStyle/>
          <a:p>
            <a:pPr algn="l" indent="0" marL="0">
              <a:buNone/>
            </a:pPr>
            <a:r>
              <a:rPr lang="en-US" sz="1050" b="1" dirty="0">
                <a:solidFill>
                  <a:srgbClr val="C8414C"/>
                </a:solidFill>
                <a:latin typeface="Calibri" pitchFamily="34" charset="0"/>
                <a:ea typeface="Calibri" pitchFamily="34" charset="-122"/>
                <a:cs typeface="Calibri" pitchFamily="34" charset="-120"/>
              </a:rPr>
              <a:t>pointed away from people</a:t>
            </a:r>
            <a:endParaRPr lang="en-US" sz="1050" dirty="0"/>
          </a:p>
        </p:txBody>
      </p:sp>
      <p:sp>
        <p:nvSpPr>
          <p:cNvPr id="25" name="Text 23"/>
          <p:cNvSpPr/>
          <p:nvPr/>
        </p:nvSpPr>
        <p:spPr>
          <a:xfrm>
            <a:off x="1371600" y="3200400"/>
            <a:ext cx="1645920" cy="219456"/>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long tongs</a:t>
            </a:r>
            <a:endParaRPr lang="en-US" sz="1050" dirty="0"/>
          </a:p>
        </p:txBody>
      </p:sp>
      <p:sp>
        <p:nvSpPr>
          <p:cNvPr id="26" name="Shape 24"/>
          <p:cNvSpPr/>
          <p:nvPr/>
        </p:nvSpPr>
        <p:spPr>
          <a:xfrm>
            <a:off x="4160520" y="1600200"/>
            <a:ext cx="1600200" cy="2194560"/>
          </a:xfrm>
          <a:prstGeom prst="roundRect">
            <a:avLst>
              <a:gd name="adj" fmla="val 3429"/>
            </a:avLst>
          </a:prstGeom>
          <a:solidFill>
            <a:srgbClr val="E6EBF4"/>
          </a:solidFill>
          <a:ln w="15875">
            <a:solidFill>
              <a:srgbClr val="4A5262"/>
            </a:solidFill>
            <a:prstDash val="solid"/>
          </a:ln>
        </p:spPr>
      </p:sp>
      <p:sp>
        <p:nvSpPr>
          <p:cNvPr id="27" name="Text 25"/>
          <p:cNvSpPr/>
          <p:nvPr/>
        </p:nvSpPr>
        <p:spPr>
          <a:xfrm>
            <a:off x="4160520" y="1645920"/>
            <a:ext cx="1600200" cy="219456"/>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film badge</a:t>
            </a:r>
            <a:endParaRPr lang="en-US" sz="1050" dirty="0"/>
          </a:p>
        </p:txBody>
      </p:sp>
      <p:sp>
        <p:nvSpPr>
          <p:cNvPr id="28" name="Shape 26"/>
          <p:cNvSpPr/>
          <p:nvPr/>
        </p:nvSpPr>
        <p:spPr>
          <a:xfrm>
            <a:off x="4297680" y="1965960"/>
            <a:ext cx="548640" cy="438912"/>
          </a:xfrm>
          <a:prstGeom prst="rect">
            <a:avLst/>
          </a:prstGeom>
          <a:solidFill>
            <a:srgbClr val="FFFFFF"/>
          </a:solidFill>
          <a:ln w="9525">
            <a:solidFill>
              <a:srgbClr val="4A5262"/>
            </a:solidFill>
            <a:prstDash val="solid"/>
          </a:ln>
        </p:spPr>
      </p:sp>
      <p:sp>
        <p:nvSpPr>
          <p:cNvPr id="29" name="Text 27"/>
          <p:cNvSpPr/>
          <p:nvPr/>
        </p:nvSpPr>
        <p:spPr>
          <a:xfrm>
            <a:off x="4297680" y="1965960"/>
            <a:ext cx="548640" cy="438912"/>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open</a:t>
            </a:r>
            <a:endParaRPr lang="en-US" sz="1000" dirty="0"/>
          </a:p>
        </p:txBody>
      </p:sp>
      <p:sp>
        <p:nvSpPr>
          <p:cNvPr id="30" name="Shape 28"/>
          <p:cNvSpPr/>
          <p:nvPr/>
        </p:nvSpPr>
        <p:spPr>
          <a:xfrm>
            <a:off x="5029200" y="1965960"/>
            <a:ext cx="594360" cy="438912"/>
          </a:xfrm>
          <a:prstGeom prst="rect">
            <a:avLst/>
          </a:prstGeom>
          <a:solidFill>
            <a:srgbClr val="2B2B2B"/>
          </a:solidFill>
          <a:ln w="6350">
            <a:solidFill>
              <a:srgbClr val="4A5262"/>
            </a:solidFill>
            <a:prstDash val="solid"/>
          </a:ln>
        </p:spPr>
      </p:sp>
      <p:sp>
        <p:nvSpPr>
          <p:cNvPr id="31" name="Shape 29"/>
          <p:cNvSpPr/>
          <p:nvPr/>
        </p:nvSpPr>
        <p:spPr>
          <a:xfrm>
            <a:off x="4297680" y="2514600"/>
            <a:ext cx="548640" cy="438912"/>
          </a:xfrm>
          <a:prstGeom prst="rect">
            <a:avLst/>
          </a:prstGeom>
          <a:solidFill>
            <a:srgbClr val="C9CED8"/>
          </a:solidFill>
          <a:ln w="9525">
            <a:solidFill>
              <a:srgbClr val="4A5262"/>
            </a:solidFill>
            <a:prstDash val="solid"/>
          </a:ln>
        </p:spPr>
      </p:sp>
      <p:sp>
        <p:nvSpPr>
          <p:cNvPr id="32" name="Text 30"/>
          <p:cNvSpPr/>
          <p:nvPr/>
        </p:nvSpPr>
        <p:spPr>
          <a:xfrm>
            <a:off x="4297680" y="2514600"/>
            <a:ext cx="548640" cy="438912"/>
          </a:xfrm>
          <a:prstGeom prst="rect">
            <a:avLst/>
          </a:prstGeom>
          <a:noFill/>
          <a:ln/>
        </p:spPr>
        <p:txBody>
          <a:bodyPr wrap="square" lIns="0" tIns="0" rIns="0" bIns="0" rtlCol="0" anchor="ctr"/>
          <a:lstStyle/>
          <a:p>
            <a:pPr algn="ctr" indent="0" marL="0">
              <a:buNone/>
            </a:pPr>
            <a:r>
              <a:rPr lang="en-US" sz="1000" b="1" dirty="0">
                <a:solidFill>
                  <a:srgbClr val="1A2340"/>
                </a:solidFill>
                <a:latin typeface="Calibri" pitchFamily="34" charset="0"/>
                <a:ea typeface="Calibri" pitchFamily="34" charset="-122"/>
                <a:cs typeface="Calibri" pitchFamily="34" charset="-120"/>
              </a:rPr>
              <a:t>Al</a:t>
            </a:r>
            <a:endParaRPr lang="en-US" sz="1000" dirty="0"/>
          </a:p>
        </p:txBody>
      </p:sp>
      <p:sp>
        <p:nvSpPr>
          <p:cNvPr id="33" name="Shape 31"/>
          <p:cNvSpPr/>
          <p:nvPr/>
        </p:nvSpPr>
        <p:spPr>
          <a:xfrm>
            <a:off x="5029200" y="2514600"/>
            <a:ext cx="594360" cy="438912"/>
          </a:xfrm>
          <a:prstGeom prst="rect">
            <a:avLst/>
          </a:prstGeom>
          <a:solidFill>
            <a:srgbClr val="7A7A7A"/>
          </a:solidFill>
          <a:ln w="6350">
            <a:solidFill>
              <a:srgbClr val="4A5262"/>
            </a:solidFill>
            <a:prstDash val="solid"/>
          </a:ln>
        </p:spPr>
      </p:sp>
      <p:sp>
        <p:nvSpPr>
          <p:cNvPr id="34" name="Shape 32"/>
          <p:cNvSpPr/>
          <p:nvPr/>
        </p:nvSpPr>
        <p:spPr>
          <a:xfrm>
            <a:off x="4297680" y="3063240"/>
            <a:ext cx="548640" cy="438912"/>
          </a:xfrm>
          <a:prstGeom prst="rect">
            <a:avLst/>
          </a:prstGeom>
          <a:solidFill>
            <a:srgbClr val="5A6275"/>
          </a:solidFill>
          <a:ln w="9525">
            <a:solidFill>
              <a:srgbClr val="4A5262"/>
            </a:solidFill>
            <a:prstDash val="solid"/>
          </a:ln>
        </p:spPr>
      </p:sp>
      <p:sp>
        <p:nvSpPr>
          <p:cNvPr id="35" name="Text 33"/>
          <p:cNvSpPr/>
          <p:nvPr/>
        </p:nvSpPr>
        <p:spPr>
          <a:xfrm>
            <a:off x="4297680" y="3063240"/>
            <a:ext cx="548640" cy="43891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lead</a:t>
            </a:r>
            <a:endParaRPr lang="en-US" sz="1000" dirty="0"/>
          </a:p>
        </p:txBody>
      </p:sp>
      <p:sp>
        <p:nvSpPr>
          <p:cNvPr id="36" name="Shape 34"/>
          <p:cNvSpPr/>
          <p:nvPr/>
        </p:nvSpPr>
        <p:spPr>
          <a:xfrm>
            <a:off x="5029200" y="3063240"/>
            <a:ext cx="594360" cy="438912"/>
          </a:xfrm>
          <a:prstGeom prst="rect">
            <a:avLst/>
          </a:prstGeom>
          <a:solidFill>
            <a:srgbClr val="D6D6D6"/>
          </a:solidFill>
          <a:ln w="6350">
            <a:solidFill>
              <a:srgbClr val="4A5262"/>
            </a:solidFill>
            <a:prstDash val="solid"/>
          </a:ln>
        </p:spPr>
      </p:sp>
      <p:sp>
        <p:nvSpPr>
          <p:cNvPr id="37" name="Text 35"/>
          <p:cNvSpPr/>
          <p:nvPr/>
        </p:nvSpPr>
        <p:spPr>
          <a:xfrm>
            <a:off x="4983480" y="3611880"/>
            <a:ext cx="731520" cy="182880"/>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film</a:t>
            </a:r>
            <a:endParaRPr lang="en-US" sz="1000" dirty="0"/>
          </a:p>
        </p:txBody>
      </p:sp>
      <p:sp>
        <p:nvSpPr>
          <p:cNvPr id="38" name="Text 36"/>
          <p:cNvSpPr/>
          <p:nvPr/>
        </p:nvSpPr>
        <p:spPr>
          <a:xfrm>
            <a:off x="4069080" y="3840480"/>
            <a:ext cx="1783080" cy="777240"/>
          </a:xfrm>
          <a:prstGeom prst="rect">
            <a:avLst/>
          </a:prstGeom>
          <a:noFill/>
          <a:ln/>
        </p:spPr>
        <p:txBody>
          <a:bodyPr wrap="square" lIns="0" tIns="0" rIns="0" bIns="0" rtlCol="0" anchor="t"/>
          <a:lstStyle/>
          <a:p>
            <a:pPr algn="l" indent="0" marL="0">
              <a:buNone/>
            </a:pPr>
            <a:r>
              <a:rPr lang="en-US" sz="1050" dirty="0">
                <a:solidFill>
                  <a:srgbClr val="262B3A"/>
                </a:solidFill>
                <a:latin typeface="Calibri" pitchFamily="34" charset="0"/>
                <a:ea typeface="Calibri" pitchFamily="34" charset="-122"/>
                <a:cs typeface="Calibri" pitchFamily="34" charset="-120"/>
              </a:rPr>
              <a:t>dark under open and Al, light under lead → </a:t>
            </a:r>
            <a:r>
              <a:rPr lang="en-US" sz="1050" b="1" dirty="0">
                <a:solidFill>
                  <a:srgbClr val="262B3A"/>
                </a:solidFill>
                <a:latin typeface="Calibri" pitchFamily="34" charset="0"/>
                <a:ea typeface="Calibri" pitchFamily="34" charset="-122"/>
                <a:cs typeface="Calibri" pitchFamily="34" charset="-120"/>
              </a:rPr>
              <a:t>β</a:t>
            </a:r>
            <a:r>
              <a:rPr lang="en-US" sz="1050" dirty="0">
                <a:solidFill>
                  <a:srgbClr val="262B3A"/>
                </a:solidFill>
                <a:latin typeface="Calibri" pitchFamily="34" charset="0"/>
                <a:ea typeface="Calibri" pitchFamily="34" charset="-122"/>
                <a:cs typeface="Calibri" pitchFamily="34" charset="-120"/>
              </a:rPr>
              <a:t> and some </a:t>
            </a:r>
            <a:r>
              <a:rPr lang="en-US" sz="1050" b="1" dirty="0">
                <a:solidFill>
                  <a:srgbClr val="262B3A"/>
                </a:solidFill>
                <a:latin typeface="Calibri" pitchFamily="34" charset="0"/>
                <a:ea typeface="Calibri" pitchFamily="34" charset="-122"/>
                <a:cs typeface="Calibri" pitchFamily="34" charset="-120"/>
              </a:rPr>
              <a:t>γ</a:t>
            </a:r>
            <a:endParaRPr lang="en-US" sz="1050" dirty="0"/>
          </a:p>
        </p:txBody>
      </p:sp>
      <p:sp>
        <p:nvSpPr>
          <p:cNvPr id="39" name="Shape 37"/>
          <p:cNvSpPr/>
          <p:nvPr/>
        </p:nvSpPr>
        <p:spPr>
          <a:xfrm>
            <a:off x="685800" y="4343400"/>
            <a:ext cx="5120640" cy="868680"/>
          </a:xfrm>
          <a:prstGeom prst="roundRect">
            <a:avLst>
              <a:gd name="adj" fmla="val 5263"/>
            </a:avLst>
          </a:prstGeom>
          <a:solidFill>
            <a:srgbClr val="FFFFFF"/>
          </a:solidFill>
          <a:ln w="12700">
            <a:solidFill>
              <a:srgbClr val="D5DCEB"/>
            </a:solidFill>
            <a:prstDash val="solid"/>
          </a:ln>
        </p:spPr>
      </p:sp>
      <p:sp>
        <p:nvSpPr>
          <p:cNvPr id="40" name="Text 38"/>
          <p:cNvSpPr/>
          <p:nvPr/>
        </p:nvSpPr>
        <p:spPr>
          <a:xfrm>
            <a:off x="777240" y="4407408"/>
            <a:ext cx="1600200" cy="256032"/>
          </a:xfrm>
          <a:prstGeom prst="rect">
            <a:avLst/>
          </a:prstGeom>
          <a:noFill/>
          <a:ln/>
        </p:spPr>
        <p:txBody>
          <a:bodyPr wrap="square" lIns="0" tIns="0" rIns="0" bIns="0" rtlCol="0" anchor="ctr"/>
          <a:lstStyle/>
          <a:p>
            <a:pPr algn="ctr" indent="0" marL="0">
              <a:buNone/>
            </a:pPr>
            <a:r>
              <a:rPr lang="en-US" sz="1150" b="1" dirty="0">
                <a:solidFill>
                  <a:srgbClr val="2E5BD8"/>
                </a:solidFill>
                <a:latin typeface="Calibri" pitchFamily="34" charset="0"/>
                <a:ea typeface="Calibri" pitchFamily="34" charset="-122"/>
                <a:cs typeface="Calibri" pitchFamily="34" charset="-120"/>
              </a:rPr>
              <a:t>TIME</a:t>
            </a:r>
            <a:endParaRPr lang="en-US" sz="1150" dirty="0"/>
          </a:p>
        </p:txBody>
      </p:sp>
      <p:sp>
        <p:nvSpPr>
          <p:cNvPr id="41" name="Text 39"/>
          <p:cNvSpPr/>
          <p:nvPr/>
        </p:nvSpPr>
        <p:spPr>
          <a:xfrm>
            <a:off x="777240" y="4681728"/>
            <a:ext cx="1600200" cy="4572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as short as possible</a:t>
            </a:r>
            <a:endParaRPr lang="en-US" sz="1050" dirty="0"/>
          </a:p>
        </p:txBody>
      </p:sp>
      <p:sp>
        <p:nvSpPr>
          <p:cNvPr id="42" name="Text 40"/>
          <p:cNvSpPr/>
          <p:nvPr/>
        </p:nvSpPr>
        <p:spPr>
          <a:xfrm>
            <a:off x="2468880" y="4407408"/>
            <a:ext cx="1600200" cy="256032"/>
          </a:xfrm>
          <a:prstGeom prst="rect">
            <a:avLst/>
          </a:prstGeom>
          <a:noFill/>
          <a:ln/>
        </p:spPr>
        <p:txBody>
          <a:bodyPr wrap="square" lIns="0" tIns="0" rIns="0" bIns="0" rtlCol="0" anchor="ctr"/>
          <a:lstStyle/>
          <a:p>
            <a:pPr algn="ctr" indent="0" marL="0">
              <a:buNone/>
            </a:pPr>
            <a:r>
              <a:rPr lang="en-US" sz="1150" b="1" dirty="0">
                <a:solidFill>
                  <a:srgbClr val="2E5BD8"/>
                </a:solidFill>
                <a:latin typeface="Calibri" pitchFamily="34" charset="0"/>
                <a:ea typeface="Calibri" pitchFamily="34" charset="-122"/>
                <a:cs typeface="Calibri" pitchFamily="34" charset="-120"/>
              </a:rPr>
              <a:t>DISTANCE</a:t>
            </a:r>
            <a:endParaRPr lang="en-US" sz="1150" dirty="0"/>
          </a:p>
        </p:txBody>
      </p:sp>
      <p:sp>
        <p:nvSpPr>
          <p:cNvPr id="43" name="Text 41"/>
          <p:cNvSpPr/>
          <p:nvPr/>
        </p:nvSpPr>
        <p:spPr>
          <a:xfrm>
            <a:off x="2468880" y="4681728"/>
            <a:ext cx="1600200" cy="4572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as far away as possible</a:t>
            </a:r>
            <a:endParaRPr lang="en-US" sz="1050" dirty="0"/>
          </a:p>
        </p:txBody>
      </p:sp>
      <p:sp>
        <p:nvSpPr>
          <p:cNvPr id="44" name="Text 42"/>
          <p:cNvSpPr/>
          <p:nvPr/>
        </p:nvSpPr>
        <p:spPr>
          <a:xfrm>
            <a:off x="4160520" y="4407408"/>
            <a:ext cx="1600200" cy="256032"/>
          </a:xfrm>
          <a:prstGeom prst="rect">
            <a:avLst/>
          </a:prstGeom>
          <a:noFill/>
          <a:ln/>
        </p:spPr>
        <p:txBody>
          <a:bodyPr wrap="square" lIns="0" tIns="0" rIns="0" bIns="0" rtlCol="0" anchor="ctr"/>
          <a:lstStyle/>
          <a:p>
            <a:pPr algn="ctr" indent="0" marL="0">
              <a:buNone/>
            </a:pPr>
            <a:r>
              <a:rPr lang="en-US" sz="1150" b="1" dirty="0">
                <a:solidFill>
                  <a:srgbClr val="2E5BD8"/>
                </a:solidFill>
                <a:latin typeface="Calibri" pitchFamily="34" charset="0"/>
                <a:ea typeface="Calibri" pitchFamily="34" charset="-122"/>
                <a:cs typeface="Calibri" pitchFamily="34" charset="-120"/>
              </a:rPr>
              <a:t>SHIELDING</a:t>
            </a:r>
            <a:endParaRPr lang="en-US" sz="1150" dirty="0"/>
          </a:p>
        </p:txBody>
      </p:sp>
      <p:sp>
        <p:nvSpPr>
          <p:cNvPr id="45" name="Text 43"/>
          <p:cNvSpPr/>
          <p:nvPr/>
        </p:nvSpPr>
        <p:spPr>
          <a:xfrm>
            <a:off x="4160520" y="4681728"/>
            <a:ext cx="1600200" cy="45720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lead, concrete, lead apron</a:t>
            </a:r>
            <a:endParaRPr lang="en-US" sz="1050" dirty="0"/>
          </a:p>
        </p:txBody>
      </p:sp>
      <p:sp>
        <p:nvSpPr>
          <p:cNvPr id="46" name="Shape 44"/>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47" name="Text 45"/>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Precautions and why they work</a:t>
            </a:r>
            <a:endParaRPr lang="en-US" sz="1300" dirty="0"/>
          </a:p>
        </p:txBody>
      </p:sp>
      <p:sp>
        <p:nvSpPr>
          <p:cNvPr id="48" name="Text 46"/>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Tongs</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gloves</a:t>
            </a:r>
            <a:r>
              <a:rPr lang="en-US" sz="1150" dirty="0">
                <a:solidFill>
                  <a:srgbClr val="262B3A"/>
                </a:solidFill>
                <a:latin typeface="Calibri" pitchFamily="34" charset="0"/>
                <a:ea typeface="Calibri" pitchFamily="34" charset="-122"/>
                <a:cs typeface="Calibri" pitchFamily="34" charset="-120"/>
              </a:rPr>
              <a:t>: keep the source away from your hands and stop contamination of skin.</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Distance</a:t>
            </a:r>
            <a:r>
              <a:rPr lang="en-US" sz="1150" dirty="0">
                <a:solidFill>
                  <a:srgbClr val="262B3A"/>
                </a:solidFill>
                <a:latin typeface="Calibri" pitchFamily="34" charset="0"/>
                <a:ea typeface="Calibri" pitchFamily="34" charset="-122"/>
                <a:cs typeface="Calibri" pitchFamily="34" charset="-120"/>
              </a:rPr>
              <a:t>: point the source away; the further away, the less radiation reaches you.</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Time</a:t>
            </a:r>
            <a:r>
              <a:rPr lang="en-US" sz="1150" dirty="0">
                <a:solidFill>
                  <a:srgbClr val="262B3A"/>
                </a:solidFill>
                <a:latin typeface="Calibri" pitchFamily="34" charset="0"/>
                <a:ea typeface="Calibri" pitchFamily="34" charset="-122"/>
                <a:cs typeface="Calibri" pitchFamily="34" charset="-120"/>
              </a:rPr>
              <a:t>: take the source out only when needed; a shorter time means a smaller dose.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Shielding</a:t>
            </a:r>
            <a:r>
              <a:rPr lang="en-US" sz="1150" dirty="0">
                <a:solidFill>
                  <a:srgbClr val="262B3A"/>
                </a:solidFill>
                <a:latin typeface="Calibri" pitchFamily="34" charset="0"/>
                <a:ea typeface="Calibri" pitchFamily="34" charset="-122"/>
                <a:cs typeface="Calibri" pitchFamily="34" charset="-120"/>
              </a:rPr>
              <a:t>: store sources in </a:t>
            </a:r>
            <a:r>
              <a:rPr lang="en-US" sz="1150" b="1" dirty="0">
                <a:solidFill>
                  <a:srgbClr val="262B3A"/>
                </a:solidFill>
                <a:latin typeface="Calibri" pitchFamily="34" charset="0"/>
                <a:ea typeface="Calibri" pitchFamily="34" charset="-122"/>
                <a:cs typeface="Calibri" pitchFamily="34" charset="-120"/>
              </a:rPr>
              <a:t>lead-lined boxes</a:t>
            </a:r>
            <a:r>
              <a:rPr lang="en-US" sz="1150" dirty="0">
                <a:solidFill>
                  <a:srgbClr val="262B3A"/>
                </a:solidFill>
                <a:latin typeface="Calibri" pitchFamily="34" charset="0"/>
                <a:ea typeface="Calibri" pitchFamily="34" charset="-122"/>
                <a:cs typeface="Calibri" pitchFamily="34" charset="-120"/>
              </a:rPr>
              <a:t>; hospital staff stand behind lead screens.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Monitoring</a:t>
            </a:r>
            <a:r>
              <a:rPr lang="en-US" sz="1150" dirty="0">
                <a:solidFill>
                  <a:srgbClr val="262B3A"/>
                </a:solidFill>
                <a:latin typeface="Calibri" pitchFamily="34" charset="0"/>
                <a:ea typeface="Calibri" pitchFamily="34" charset="-122"/>
                <a:cs typeface="Calibri" pitchFamily="34" charset="-120"/>
              </a:rPr>
              <a:t>: workers wear a </a:t>
            </a:r>
            <a:r>
              <a:rPr lang="en-US" sz="1150" b="1" dirty="0">
                <a:solidFill>
                  <a:srgbClr val="262B3A"/>
                </a:solidFill>
                <a:latin typeface="Calibri" pitchFamily="34" charset="0"/>
                <a:ea typeface="Calibri" pitchFamily="34" charset="-122"/>
                <a:cs typeface="Calibri" pitchFamily="34" charset="-120"/>
              </a:rPr>
              <a:t>film badge</a:t>
            </a:r>
            <a:r>
              <a:rPr lang="en-US" sz="1150" dirty="0">
                <a:solidFill>
                  <a:srgbClr val="262B3A"/>
                </a:solidFill>
                <a:latin typeface="Calibri" pitchFamily="34" charset="0"/>
                <a:ea typeface="Calibri" pitchFamily="34" charset="-122"/>
                <a:cs typeface="Calibri" pitchFamily="34" charset="-120"/>
              </a:rPr>
              <a:t> (dosimeter) so their dose can be checked.</a:t>
            </a:r>
            <a:endParaRPr lang="en-US" sz="1150" dirty="0"/>
          </a:p>
        </p:txBody>
      </p:sp>
      <p:sp>
        <p:nvSpPr>
          <p:cNvPr id="49" name="Shape 47"/>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50" name="Text 48"/>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Reading a film badge</a:t>
            </a:r>
            <a:endParaRPr lang="en-US" sz="1300" dirty="0"/>
          </a:p>
        </p:txBody>
      </p:sp>
      <p:sp>
        <p:nvSpPr>
          <p:cNvPr id="51" name="Text 49"/>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After a month the film is dark under the open window only. Under Al and lead it is not fogged.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Open only   </a:t>
            </a:r>
            <a:r>
              <a:rPr lang="en-US" sz="1050" dirty="0">
                <a:solidFill>
                  <a:srgbClr val="262B3A"/>
                </a:solidFill>
                <a:latin typeface="Calibri" pitchFamily="34" charset="0"/>
                <a:ea typeface="Calibri" pitchFamily="34" charset="-122"/>
                <a:cs typeface="Calibri" pitchFamily="34" charset="-120"/>
              </a:rPr>
              <a:t>radiation stopped by aluminium</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Not γ   </a:t>
            </a:r>
            <a:r>
              <a:rPr lang="en-US" sz="1050" dirty="0">
                <a:solidFill>
                  <a:srgbClr val="262B3A"/>
                </a:solidFill>
                <a:latin typeface="Calibri" pitchFamily="34" charset="0"/>
                <a:ea typeface="Calibri" pitchFamily="34" charset="-122"/>
                <a:cs typeface="Calibri" pitchFamily="34" charset="-120"/>
              </a:rPr>
              <a:t>gamma would also darken under the Al</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Not α   </a:t>
            </a:r>
            <a:r>
              <a:rPr lang="en-US" sz="1050" dirty="0">
                <a:solidFill>
                  <a:srgbClr val="262B3A"/>
                </a:solidFill>
                <a:latin typeface="Calibri" pitchFamily="34" charset="0"/>
                <a:ea typeface="Calibri" pitchFamily="34" charset="-122"/>
                <a:cs typeface="Calibri" pitchFamily="34" charset="-120"/>
              </a:rPr>
              <a:t>alpha cannot get through the badge case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the worker was exposed to </a:t>
            </a:r>
            <a:r>
              <a:rPr lang="en-US" sz="1050" b="1" dirty="0">
                <a:solidFill>
                  <a:srgbClr val="C8414C"/>
                </a:solidFill>
                <a:latin typeface="Calibri" pitchFamily="34" charset="0"/>
                <a:ea typeface="Calibri" pitchFamily="34" charset="-122"/>
                <a:cs typeface="Calibri" pitchFamily="34" charset="-120"/>
              </a:rPr>
              <a:t>beta</a:t>
            </a:r>
            <a:endParaRPr lang="en-US" sz="1050" dirty="0"/>
          </a:p>
        </p:txBody>
      </p:sp>
      <p:sp>
        <p:nvSpPr>
          <p:cNvPr id="52" name="Shape 50"/>
          <p:cNvSpPr/>
          <p:nvPr/>
        </p:nvSpPr>
        <p:spPr>
          <a:xfrm>
            <a:off x="411480" y="5833872"/>
            <a:ext cx="11368735" cy="530352"/>
          </a:xfrm>
          <a:prstGeom prst="rect">
            <a:avLst/>
          </a:prstGeom>
          <a:solidFill>
            <a:srgbClr val="FFF4E0"/>
          </a:solidFill>
          <a:ln w="6350">
            <a:solidFill>
              <a:srgbClr val="F1D9A8"/>
            </a:solidFill>
            <a:prstDash val="solid"/>
          </a:ln>
        </p:spPr>
      </p:sp>
      <p:sp>
        <p:nvSpPr>
          <p:cNvPr id="53" name="Shape 51"/>
          <p:cNvSpPr/>
          <p:nvPr/>
        </p:nvSpPr>
        <p:spPr>
          <a:xfrm>
            <a:off x="411480" y="5833872"/>
            <a:ext cx="82296" cy="530352"/>
          </a:xfrm>
          <a:prstGeom prst="rect">
            <a:avLst/>
          </a:prstGeom>
          <a:solidFill>
            <a:srgbClr val="E39A2F"/>
          </a:solidFill>
          <a:ln w="12700">
            <a:solidFill>
              <a:srgbClr val="E39A2F"/>
            </a:solidFill>
            <a:prstDash val="solid"/>
          </a:ln>
        </p:spPr>
      </p:sp>
      <p:sp>
        <p:nvSpPr>
          <p:cNvPr id="54" name="Text 52"/>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student says, "Wearing gloves protects you from gamma rays." Explain why this is wrong, and what gloves do protect against.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Risk, benefit and perceived risk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Ideas about Science • making decisions about using radioactive materials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IaS  |  24</a:t>
            </a:r>
            <a:endParaRPr lang="en-US" sz="1000" dirty="0"/>
          </a:p>
        </p:txBody>
      </p:sp>
      <p:sp>
        <p:nvSpPr>
          <p:cNvPr id="8" name="Shape 6"/>
          <p:cNvSpPr/>
          <p:nvPr/>
        </p:nvSpPr>
        <p:spPr>
          <a:xfrm>
            <a:off x="411480" y="1188720"/>
            <a:ext cx="5577840" cy="4526280"/>
          </a:xfrm>
          <a:prstGeom prst="roundRect">
            <a:avLst>
              <a:gd name="adj" fmla="val 1616"/>
            </a:avLst>
          </a:prstGeom>
          <a:solidFill>
            <a:srgbClr val="EEF1F8"/>
          </a:solidFill>
          <a:ln w="9525">
            <a:solidFill>
              <a:srgbClr val="DCE2EF"/>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decision weighs benefits against risks</a:t>
            </a:r>
            <a:endParaRPr lang="en-US" sz="1000" dirty="0"/>
          </a:p>
        </p:txBody>
      </p:sp>
      <p:sp>
        <p:nvSpPr>
          <p:cNvPr id="10" name="Shape 8"/>
          <p:cNvSpPr/>
          <p:nvPr/>
        </p:nvSpPr>
        <p:spPr>
          <a:xfrm>
            <a:off x="2926080" y="2286000"/>
            <a:ext cx="548640" cy="822960"/>
          </a:xfrm>
          <a:prstGeom prst="triangle">
            <a:avLst/>
          </a:prstGeom>
          <a:solidFill>
            <a:srgbClr val="5A6275"/>
          </a:solidFill>
          <a:ln w="12700">
            <a:solidFill>
              <a:srgbClr val="3B4252"/>
            </a:solidFill>
            <a:prstDash val="solid"/>
          </a:ln>
        </p:spPr>
      </p:sp>
      <p:sp>
        <p:nvSpPr>
          <p:cNvPr id="11" name="Shape 9"/>
          <p:cNvSpPr/>
          <p:nvPr/>
        </p:nvSpPr>
        <p:spPr>
          <a:xfrm>
            <a:off x="2377440" y="3108960"/>
            <a:ext cx="1645920" cy="109728"/>
          </a:xfrm>
          <a:prstGeom prst="rect">
            <a:avLst/>
          </a:prstGeom>
          <a:solidFill>
            <a:srgbClr val="5A6275"/>
          </a:solidFill>
          <a:ln w="12700">
            <a:solidFill>
              <a:srgbClr val="3B4252"/>
            </a:solidFill>
            <a:prstDash val="solid"/>
          </a:ln>
        </p:spPr>
      </p:sp>
      <p:sp>
        <p:nvSpPr>
          <p:cNvPr id="12" name="Shape 10"/>
          <p:cNvSpPr/>
          <p:nvPr/>
        </p:nvSpPr>
        <p:spPr>
          <a:xfrm rot="480000">
            <a:off x="1188720" y="2194560"/>
            <a:ext cx="4023360" cy="91440"/>
          </a:xfrm>
          <a:prstGeom prst="rect">
            <a:avLst/>
          </a:prstGeom>
          <a:solidFill>
            <a:srgbClr val="4A5262"/>
          </a:solidFill>
          <a:ln w="9525">
            <a:solidFill>
              <a:srgbClr val="2E3442"/>
            </a:solidFill>
            <a:prstDash val="solid"/>
          </a:ln>
        </p:spPr>
      </p:sp>
      <p:sp>
        <p:nvSpPr>
          <p:cNvPr id="13" name="Shape 11"/>
          <p:cNvSpPr/>
          <p:nvPr/>
        </p:nvSpPr>
        <p:spPr>
          <a:xfrm flipH="1">
            <a:off x="659658" y="1960308"/>
            <a:ext cx="548640" cy="502920"/>
          </a:xfrm>
          <a:prstGeom prst="line">
            <a:avLst/>
          </a:prstGeom>
          <a:noFill/>
          <a:ln w="12700">
            <a:solidFill>
              <a:srgbClr val="6B7385"/>
            </a:solidFill>
            <a:prstDash val="solid"/>
          </a:ln>
        </p:spPr>
      </p:sp>
      <p:sp>
        <p:nvSpPr>
          <p:cNvPr id="14" name="Shape 12"/>
          <p:cNvSpPr/>
          <p:nvPr/>
        </p:nvSpPr>
        <p:spPr>
          <a:xfrm>
            <a:off x="1208298" y="1960308"/>
            <a:ext cx="548640" cy="502920"/>
          </a:xfrm>
          <a:prstGeom prst="line">
            <a:avLst/>
          </a:prstGeom>
          <a:noFill/>
          <a:ln w="12700">
            <a:solidFill>
              <a:srgbClr val="6B7385"/>
            </a:solidFill>
            <a:prstDash val="solid"/>
          </a:ln>
        </p:spPr>
      </p:sp>
      <p:sp>
        <p:nvSpPr>
          <p:cNvPr id="15" name="Shape 13"/>
          <p:cNvSpPr/>
          <p:nvPr/>
        </p:nvSpPr>
        <p:spPr>
          <a:xfrm>
            <a:off x="248178" y="2463228"/>
            <a:ext cx="1920240" cy="1234440"/>
          </a:xfrm>
          <a:prstGeom prst="roundRect">
            <a:avLst>
              <a:gd name="adj" fmla="val 3704"/>
            </a:avLst>
          </a:prstGeom>
          <a:solidFill>
            <a:srgbClr val="FFFFFF"/>
          </a:solidFill>
          <a:ln w="19050">
            <a:solidFill>
              <a:srgbClr val="2E8B57"/>
            </a:solidFill>
            <a:prstDash val="solid"/>
          </a:ln>
        </p:spPr>
      </p:sp>
      <p:sp>
        <p:nvSpPr>
          <p:cNvPr id="16" name="Text 14"/>
          <p:cNvSpPr/>
          <p:nvPr/>
        </p:nvSpPr>
        <p:spPr>
          <a:xfrm>
            <a:off x="293898" y="2490660"/>
            <a:ext cx="1828800" cy="237744"/>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BENEFITS</a:t>
            </a:r>
            <a:endParaRPr lang="en-US" sz="1100" dirty="0"/>
          </a:p>
        </p:txBody>
      </p:sp>
      <p:sp>
        <p:nvSpPr>
          <p:cNvPr id="17" name="Text 15"/>
          <p:cNvSpPr/>
          <p:nvPr/>
        </p:nvSpPr>
        <p:spPr>
          <a:xfrm>
            <a:off x="293898" y="2746692"/>
            <a:ext cx="182880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finds and treats disease</a:t>
            </a:r>
            <a:endParaRPr lang="en-US" sz="1050" dirty="0"/>
          </a:p>
        </p:txBody>
      </p:sp>
      <p:sp>
        <p:nvSpPr>
          <p:cNvPr id="18" name="Text 16"/>
          <p:cNvSpPr/>
          <p:nvPr/>
        </p:nvSpPr>
        <p:spPr>
          <a:xfrm>
            <a:off x="293898" y="3048444"/>
            <a:ext cx="182880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sterile equipment</a:t>
            </a:r>
            <a:endParaRPr lang="en-US" sz="1050" dirty="0"/>
          </a:p>
        </p:txBody>
      </p:sp>
      <p:sp>
        <p:nvSpPr>
          <p:cNvPr id="19" name="Text 17"/>
          <p:cNvSpPr/>
          <p:nvPr/>
        </p:nvSpPr>
        <p:spPr>
          <a:xfrm>
            <a:off x="293898" y="3350196"/>
            <a:ext cx="182880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safer, longer-lasting food</a:t>
            </a:r>
            <a:endParaRPr lang="en-US" sz="1050" dirty="0"/>
          </a:p>
        </p:txBody>
      </p:sp>
      <p:sp>
        <p:nvSpPr>
          <p:cNvPr id="20" name="Shape 18"/>
          <p:cNvSpPr/>
          <p:nvPr/>
        </p:nvSpPr>
        <p:spPr>
          <a:xfrm flipH="1">
            <a:off x="4643862" y="2520252"/>
            <a:ext cx="548640" cy="502920"/>
          </a:xfrm>
          <a:prstGeom prst="line">
            <a:avLst/>
          </a:prstGeom>
          <a:noFill/>
          <a:ln w="12700">
            <a:solidFill>
              <a:srgbClr val="6B7385"/>
            </a:solidFill>
            <a:prstDash val="solid"/>
          </a:ln>
        </p:spPr>
      </p:sp>
      <p:sp>
        <p:nvSpPr>
          <p:cNvPr id="21" name="Shape 19"/>
          <p:cNvSpPr/>
          <p:nvPr/>
        </p:nvSpPr>
        <p:spPr>
          <a:xfrm>
            <a:off x="5192502" y="2520252"/>
            <a:ext cx="548640" cy="502920"/>
          </a:xfrm>
          <a:prstGeom prst="line">
            <a:avLst/>
          </a:prstGeom>
          <a:noFill/>
          <a:ln w="12700">
            <a:solidFill>
              <a:srgbClr val="6B7385"/>
            </a:solidFill>
            <a:prstDash val="solid"/>
          </a:ln>
        </p:spPr>
      </p:sp>
      <p:sp>
        <p:nvSpPr>
          <p:cNvPr id="22" name="Shape 20"/>
          <p:cNvSpPr/>
          <p:nvPr/>
        </p:nvSpPr>
        <p:spPr>
          <a:xfrm>
            <a:off x="4232382" y="3023172"/>
            <a:ext cx="1920240" cy="1234440"/>
          </a:xfrm>
          <a:prstGeom prst="roundRect">
            <a:avLst>
              <a:gd name="adj" fmla="val 3704"/>
            </a:avLst>
          </a:prstGeom>
          <a:solidFill>
            <a:srgbClr val="FFFFFF"/>
          </a:solidFill>
          <a:ln w="19050">
            <a:solidFill>
              <a:srgbClr val="C8414C"/>
            </a:solidFill>
            <a:prstDash val="solid"/>
          </a:ln>
        </p:spPr>
      </p:sp>
      <p:sp>
        <p:nvSpPr>
          <p:cNvPr id="23" name="Text 21"/>
          <p:cNvSpPr/>
          <p:nvPr/>
        </p:nvSpPr>
        <p:spPr>
          <a:xfrm>
            <a:off x="4278102" y="3050604"/>
            <a:ext cx="1828800" cy="237744"/>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RISKS</a:t>
            </a:r>
            <a:endParaRPr lang="en-US" sz="1100" dirty="0"/>
          </a:p>
        </p:txBody>
      </p:sp>
      <p:sp>
        <p:nvSpPr>
          <p:cNvPr id="24" name="Text 22"/>
          <p:cNvSpPr/>
          <p:nvPr/>
        </p:nvSpPr>
        <p:spPr>
          <a:xfrm>
            <a:off x="4278102" y="3306636"/>
            <a:ext cx="182880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small extra chance of cancer</a:t>
            </a:r>
            <a:endParaRPr lang="en-US" sz="1050" dirty="0"/>
          </a:p>
        </p:txBody>
      </p:sp>
      <p:sp>
        <p:nvSpPr>
          <p:cNvPr id="25" name="Text 23"/>
          <p:cNvSpPr/>
          <p:nvPr/>
        </p:nvSpPr>
        <p:spPr>
          <a:xfrm>
            <a:off x="4278102" y="3608388"/>
            <a:ext cx="182880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contamination if mishandled</a:t>
            </a:r>
            <a:endParaRPr lang="en-US" sz="1050" dirty="0"/>
          </a:p>
        </p:txBody>
      </p:sp>
      <p:sp>
        <p:nvSpPr>
          <p:cNvPr id="26" name="Text 24"/>
          <p:cNvSpPr/>
          <p:nvPr/>
        </p:nvSpPr>
        <p:spPr>
          <a:xfrm>
            <a:off x="4278102" y="3910140"/>
            <a:ext cx="182880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waste to store</a:t>
            </a:r>
            <a:endParaRPr lang="en-US" sz="10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4160520"/>
          <a:ext cx="5120640" cy="914400"/>
        </p:xfrm>
        <a:graphic>
          <a:graphicData uri="http://schemas.openxmlformats.org/drawingml/2006/table">
            <a:tbl>
              <a:tblPr/>
              <a:tblGrid>
                <a:gridCol w="2560320"/>
                <a:gridCol w="2560320"/>
              </a:tblGrid>
              <a:tr h="265176">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Risks feel BIGGER when they are…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Risks feel SMALLER when they are…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1A2340"/>
                    </a:solidFill>
                  </a:tcPr>
                </a:tc>
              </a:tr>
              <a:tr h="26517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unfamiliar, invisible</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familiar (e.g. driving)</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r h="26517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imposed on you</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chosen by you</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FFFFF"/>
                    </a:solidFill>
                  </a:tcPr>
                </a:tc>
              </a:tr>
              <a:tr h="26517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possibly catastrophic</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under your control</a:t>
                      </a:r>
                      <a:endParaRPr lang="en-US" sz="1050" dirty="0">
                        <a:latin typeface="Calibri" charset="0"/>
                        <a:ea typeface="Calibri" charset="0"/>
                        <a:cs typeface="Calibri" charset="0"/>
                      </a:endParaRPr>
                    </a:p>
                  </a:txBody>
                  <a:tcPr marL="91440" marR="91440" marT="45720" marB="45720" anchor="ctr">
                    <a:lnL w="9525" cap="flat" cmpd="sng" algn="ctr">
                      <a:solidFill>
                        <a:srgbClr val="D5DCEB"/>
                      </a:solidFill>
                      <a:prstDash val="solid"/>
                      <a:round/>
                      <a:headEnd type="none" w="med" len="med"/>
                      <a:tailEnd type="none" w="med" len="med"/>
                    </a:lnL>
                    <a:lnR w="9525" cap="flat" cmpd="sng" algn="ctr">
                      <a:solidFill>
                        <a:srgbClr val="D5DCEB"/>
                      </a:solidFill>
                      <a:prstDash val="solid"/>
                      <a:round/>
                      <a:headEnd type="none" w="med" len="med"/>
                      <a:tailEnd type="none" w="med" len="med"/>
                    </a:lnR>
                    <a:lnT w="9525" cap="flat" cmpd="sng" algn="ctr">
                      <a:solidFill>
                        <a:srgbClr val="D5DCEB"/>
                      </a:solidFill>
                      <a:prstDash val="solid"/>
                      <a:round/>
                      <a:headEnd type="none" w="med" len="med"/>
                      <a:tailEnd type="none" w="med" len="med"/>
                    </a:lnT>
                    <a:lnB w="9525" cap="flat" cmpd="sng" algn="ctr">
                      <a:solidFill>
                        <a:srgbClr val="D5DCEB"/>
                      </a:solidFill>
                      <a:prstDash val="solid"/>
                      <a:round/>
                      <a:headEnd type="none" w="med" len="med"/>
                      <a:tailEnd type="none" w="med" len="med"/>
                    </a:lnB>
                    <a:solidFill>
                      <a:srgbClr val="F5F8FE"/>
                    </a:solidFill>
                  </a:tcPr>
                </a:tc>
              </a:tr>
            </a:tbl>
          </a:graphicData>
        </a:graphic>
      </p:graphicFrame>
      <p:sp>
        <p:nvSpPr>
          <p:cNvPr id="28" name="Shape 25"/>
          <p:cNvSpPr/>
          <p:nvPr/>
        </p:nvSpPr>
        <p:spPr>
          <a:xfrm>
            <a:off x="6217920" y="1188720"/>
            <a:ext cx="5562295" cy="2423160"/>
          </a:xfrm>
          <a:prstGeom prst="roundRect">
            <a:avLst>
              <a:gd name="adj" fmla="val 2264"/>
            </a:avLst>
          </a:prstGeom>
          <a:solidFill>
            <a:srgbClr val="F5F8FE"/>
          </a:solidFill>
          <a:ln w="9525">
            <a:solidFill>
              <a:srgbClr val="D5DCEB"/>
            </a:solidFill>
            <a:prstDash val="solid"/>
          </a:ln>
        </p:spPr>
      </p:sp>
      <p:sp>
        <p:nvSpPr>
          <p:cNvPr id="29" name="Text 2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A2340"/>
                </a:solidFill>
                <a:latin typeface="Calibri" pitchFamily="34" charset="0"/>
                <a:ea typeface="Calibri" pitchFamily="34" charset="-122"/>
                <a:cs typeface="Calibri" pitchFamily="34" charset="-120"/>
              </a:rPr>
              <a:t>Weighing it up</a:t>
            </a:r>
            <a:endParaRPr lang="en-US" sz="1300" dirty="0"/>
          </a:p>
        </p:txBody>
      </p:sp>
      <p:sp>
        <p:nvSpPr>
          <p:cNvPr id="30" name="Text 2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Every use of radiation has a </a:t>
            </a:r>
            <a:r>
              <a:rPr lang="en-US" sz="1150" b="1" dirty="0">
                <a:solidFill>
                  <a:srgbClr val="262B3A"/>
                </a:solidFill>
                <a:latin typeface="Calibri" pitchFamily="34" charset="0"/>
                <a:ea typeface="Calibri" pitchFamily="34" charset="-122"/>
                <a:cs typeface="Calibri" pitchFamily="34" charset="-120"/>
              </a:rPr>
              <a:t>risk</a:t>
            </a:r>
            <a:r>
              <a:rPr lang="en-US" sz="1150" dirty="0">
                <a:solidFill>
                  <a:srgbClr val="262B3A"/>
                </a:solidFill>
                <a:latin typeface="Calibri" pitchFamily="34" charset="0"/>
                <a:ea typeface="Calibri" pitchFamily="34" charset="-122"/>
                <a:cs typeface="Calibri" pitchFamily="34" charset="-120"/>
              </a:rPr>
              <a:t> (chance of harm × how serious it is) and a </a:t>
            </a:r>
            <a:r>
              <a:rPr lang="en-US" sz="1150" b="1" dirty="0">
                <a:solidFill>
                  <a:srgbClr val="262B3A"/>
                </a:solidFill>
                <a:latin typeface="Calibri" pitchFamily="34" charset="0"/>
                <a:ea typeface="Calibri" pitchFamily="34" charset="-122"/>
                <a:cs typeface="Calibri" pitchFamily="34" charset="-120"/>
              </a:rPr>
              <a:t>benefit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It is used when the </a:t>
            </a:r>
            <a:r>
              <a:rPr lang="en-US" sz="1150" b="1" dirty="0">
                <a:solidFill>
                  <a:srgbClr val="262B3A"/>
                </a:solidFill>
                <a:latin typeface="Calibri" pitchFamily="34" charset="0"/>
                <a:ea typeface="Calibri" pitchFamily="34" charset="-122"/>
                <a:cs typeface="Calibri" pitchFamily="34" charset="-120"/>
              </a:rPr>
              <a:t>benefit outweighs the risk</a:t>
            </a:r>
            <a:r>
              <a:rPr lang="en-US" sz="1150" dirty="0">
                <a:solidFill>
                  <a:srgbClr val="262B3A"/>
                </a:solidFill>
                <a:latin typeface="Calibri" pitchFamily="34" charset="0"/>
                <a:ea typeface="Calibri" pitchFamily="34" charset="-122"/>
                <a:cs typeface="Calibri" pitchFamily="34" charset="-120"/>
              </a:rPr>
              <a:t>, e.g. a scan that finds a cancer early.</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Keep doses </a:t>
            </a:r>
            <a:r>
              <a:rPr lang="en-US" sz="1150" b="1" dirty="0">
                <a:solidFill>
                  <a:srgbClr val="262B3A"/>
                </a:solidFill>
                <a:latin typeface="Calibri" pitchFamily="34" charset="0"/>
                <a:ea typeface="Calibri" pitchFamily="34" charset="-122"/>
                <a:cs typeface="Calibri" pitchFamily="34" charset="-120"/>
              </a:rPr>
              <a:t>as low as reasonably possible</a:t>
            </a:r>
            <a:r>
              <a:rPr lang="en-US" sz="1150" dirty="0">
                <a:solidFill>
                  <a:srgbClr val="262B3A"/>
                </a:solidFill>
                <a:latin typeface="Calibri" pitchFamily="34" charset="0"/>
                <a:ea typeface="Calibri" pitchFamily="34" charset="-122"/>
                <a:cs typeface="Calibri" pitchFamily="34" charset="-120"/>
              </a:rPr>
              <a:t>; consider who gets the benefit and who takes the risk.</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Perceived risk</a:t>
            </a:r>
            <a:r>
              <a:rPr lang="en-US" sz="1150" dirty="0">
                <a:solidFill>
                  <a:srgbClr val="262B3A"/>
                </a:solidFill>
                <a:latin typeface="Calibri" pitchFamily="34" charset="0"/>
                <a:ea typeface="Calibri" pitchFamily="34" charset="-122"/>
                <a:cs typeface="Calibri" pitchFamily="34" charset="-120"/>
              </a:rPr>
              <a:t> is how big people *think* a risk is. Radiation is often feared more than familiar risks that are actually larger.</a:t>
            </a:r>
            <a:endParaRPr lang="en-US" sz="1150" dirty="0"/>
          </a:p>
        </p:txBody>
      </p:sp>
      <p:sp>
        <p:nvSpPr>
          <p:cNvPr id="31" name="Shape 2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32" name="Text 2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should the patient have the scan?</a:t>
            </a:r>
            <a:endParaRPr lang="en-US" sz="1300" dirty="0"/>
          </a:p>
        </p:txBody>
      </p:sp>
      <p:sp>
        <p:nvSpPr>
          <p:cNvPr id="33" name="Text 30"/>
          <p:cNvSpPr/>
          <p:nvPr/>
        </p:nvSpPr>
        <p:spPr>
          <a:xfrm>
            <a:off x="6382512" y="4133088"/>
            <a:ext cx="5233111" cy="1508760"/>
          </a:xfrm>
          <a:prstGeom prst="rect">
            <a:avLst/>
          </a:prstGeom>
          <a:noFill/>
          <a:ln/>
        </p:spPr>
        <p:txBody>
          <a:bodyPr wrap="square" lIns="0" tIns="0" rIns="0" bIns="0" rtlCol="0" anchor="t"/>
          <a:lstStyle/>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1 Benefit   </a:t>
            </a:r>
            <a:r>
              <a:rPr lang="en-US" sz="1050" dirty="0">
                <a:solidFill>
                  <a:srgbClr val="262B3A"/>
                </a:solidFill>
                <a:latin typeface="Calibri" pitchFamily="34" charset="0"/>
                <a:ea typeface="Calibri" pitchFamily="34" charset="-122"/>
                <a:cs typeface="Calibri" pitchFamily="34" charset="-120"/>
              </a:rPr>
              <a:t>the scan can show whether the kidney is damaged</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2 Risk   </a:t>
            </a:r>
            <a:r>
              <a:rPr lang="en-US" sz="1050" dirty="0">
                <a:solidFill>
                  <a:srgbClr val="262B3A"/>
                </a:solidFill>
                <a:latin typeface="Calibri" pitchFamily="34" charset="0"/>
                <a:ea typeface="Calibri" pitchFamily="34" charset="-122"/>
                <a:cs typeface="Calibri" pitchFamily="34" charset="-120"/>
              </a:rPr>
              <a:t>a small dose from a short half-life gamma tracer</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3 Reduce risk   </a:t>
            </a:r>
            <a:r>
              <a:rPr lang="en-US" sz="1050" dirty="0">
                <a:solidFill>
                  <a:srgbClr val="262B3A"/>
                </a:solidFill>
                <a:latin typeface="Calibri" pitchFamily="34" charset="0"/>
                <a:ea typeface="Calibri" pitchFamily="34" charset="-122"/>
                <a:cs typeface="Calibri" pitchFamily="34" charset="-120"/>
              </a:rPr>
              <a:t>lowest activity that gives a clear image</a:t>
            </a:r>
            <a:endParaRPr lang="en-US" sz="1050" dirty="0"/>
          </a:p>
          <a:p>
            <a:pPr indent="0" marL="0">
              <a:spcBef>
                <a:spcPts val="200"/>
              </a:spcBef>
              <a:buNone/>
            </a:pPr>
            <a:r>
              <a:rPr lang="en-US" sz="1050" b="1" dirty="0">
                <a:solidFill>
                  <a:srgbClr val="2E5BD8"/>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yes: the benefit is much greater than the small risk</a:t>
            </a:r>
            <a:endParaRPr lang="en-US" sz="1050" dirty="0"/>
          </a:p>
        </p:txBody>
      </p:sp>
      <p:sp>
        <p:nvSpPr>
          <p:cNvPr id="34" name="Shape 31"/>
          <p:cNvSpPr/>
          <p:nvPr/>
        </p:nvSpPr>
        <p:spPr>
          <a:xfrm>
            <a:off x="411480" y="5833872"/>
            <a:ext cx="11368735" cy="530352"/>
          </a:xfrm>
          <a:prstGeom prst="rect">
            <a:avLst/>
          </a:prstGeom>
          <a:solidFill>
            <a:srgbClr val="FFF4E0"/>
          </a:solidFill>
          <a:ln w="6350">
            <a:solidFill>
              <a:srgbClr val="F1D9A8"/>
            </a:solidFill>
            <a:prstDash val="solid"/>
          </a:ln>
        </p:spPr>
      </p:sp>
      <p:sp>
        <p:nvSpPr>
          <p:cNvPr id="35" name="Shape 32"/>
          <p:cNvSpPr/>
          <p:nvPr/>
        </p:nvSpPr>
        <p:spPr>
          <a:xfrm>
            <a:off x="411480" y="5833872"/>
            <a:ext cx="82296" cy="530352"/>
          </a:xfrm>
          <a:prstGeom prst="rect">
            <a:avLst/>
          </a:prstGeom>
          <a:solidFill>
            <a:srgbClr val="E39A2F"/>
          </a:solidFill>
          <a:ln w="12700">
            <a:solidFill>
              <a:srgbClr val="E39A2F"/>
            </a:solidFill>
            <a:prstDash val="solid"/>
          </a:ln>
        </p:spPr>
      </p:sp>
      <p:sp>
        <p:nvSpPr>
          <p:cNvPr id="36" name="Text 3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Suggest why some people are more worried about living near a nuclear power station than about travelling by car.</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Exam practice: recap 6</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Other uses, safety and risk</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6  |  25</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5DCEB"/>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t>
            </a:r>
            <a:r>
              <a:rPr lang="en-US" sz="1250" b="1" dirty="0">
                <a:solidFill>
                  <a:srgbClr val="262B3A"/>
                </a:solidFill>
                <a:latin typeface="Calibri" pitchFamily="34" charset="0"/>
                <a:ea typeface="Calibri" pitchFamily="34" charset="-122"/>
                <a:cs typeface="Calibri" pitchFamily="34" charset="-120"/>
              </a:rPr>
              <a:t>beta</a:t>
            </a:r>
            <a:r>
              <a:rPr lang="en-US" sz="1250" dirty="0">
                <a:solidFill>
                  <a:srgbClr val="262B3A"/>
                </a:solidFill>
                <a:latin typeface="Calibri" pitchFamily="34" charset="0"/>
                <a:ea typeface="Calibri" pitchFamily="34" charset="-122"/>
                <a:cs typeface="Calibri" pitchFamily="34" charset="-120"/>
              </a:rPr>
              <a:t> radiation is used to monitor the thickness of paper.</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5DCEB"/>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three</a:t>
            </a:r>
            <a:r>
              <a:rPr lang="en-US" sz="1250" dirty="0">
                <a:solidFill>
                  <a:srgbClr val="262B3A"/>
                </a:solidFill>
                <a:latin typeface="Calibri" pitchFamily="34" charset="0"/>
                <a:ea typeface="Calibri" pitchFamily="34" charset="-122"/>
                <a:cs typeface="Calibri" pitchFamily="34" charset="-120"/>
              </a:rPr>
              <a:t> precautions a hospital technician takes when preparing a radioactive tracer.</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5DCEB"/>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what is meant by </a:t>
            </a:r>
            <a:r>
              <a:rPr lang="en-US" sz="1250" b="1" dirty="0">
                <a:solidFill>
                  <a:srgbClr val="262B3A"/>
                </a:solidFill>
                <a:latin typeface="Calibri" pitchFamily="34" charset="0"/>
                <a:ea typeface="Calibri" pitchFamily="34" charset="-122"/>
                <a:cs typeface="Calibri" pitchFamily="34" charset="-120"/>
              </a:rPr>
              <a:t>perceived risk</a:t>
            </a:r>
            <a:r>
              <a:rPr lang="en-US" sz="1250" dirty="0">
                <a:solidFill>
                  <a:srgbClr val="262B3A"/>
                </a:solidFill>
                <a:latin typeface="Calibri" pitchFamily="34" charset="0"/>
                <a:ea typeface="Calibri" pitchFamily="34" charset="-122"/>
                <a:cs typeface="Calibri" pitchFamily="34" charset="-120"/>
              </a:rPr>
              <a:t>, and why it may differ from the actual risk.</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5DCEB"/>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are smoke detectors allowed in homes even though they contain a radioactive source?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P5.2 How can radioactive materials be used safely?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26</a:t>
            </a:r>
            <a:endParaRPr lang="en-US" sz="1000" dirty="0"/>
          </a:p>
        </p:txBody>
      </p:sp>
      <p:sp>
        <p:nvSpPr>
          <p:cNvPr id="8" name="Shape 6"/>
          <p:cNvSpPr/>
          <p:nvPr/>
        </p:nvSpPr>
        <p:spPr>
          <a:xfrm>
            <a:off x="411480" y="1188720"/>
            <a:ext cx="2739314" cy="1143000"/>
          </a:xfrm>
          <a:prstGeom prst="rect">
            <a:avLst/>
          </a:prstGeom>
          <a:solidFill>
            <a:srgbClr val="F5F8FE"/>
          </a:solidFill>
          <a:ln w="9525">
            <a:solidFill>
              <a:srgbClr val="D5DCEB"/>
            </a:solidFill>
            <a:prstDash val="solid"/>
          </a:ln>
        </p:spPr>
      </p:sp>
      <p:sp>
        <p:nvSpPr>
          <p:cNvPr id="9" name="Shape 7"/>
          <p:cNvSpPr/>
          <p:nvPr/>
        </p:nvSpPr>
        <p:spPr>
          <a:xfrm>
            <a:off x="411480" y="1188720"/>
            <a:ext cx="73152" cy="1143000"/>
          </a:xfrm>
          <a:prstGeom prst="rect">
            <a:avLst/>
          </a:prstGeom>
          <a:solidFill>
            <a:srgbClr val="2E5BD8"/>
          </a:solidFill>
          <a:ln w="12700">
            <a:solidFill>
              <a:srgbClr val="2E5BD8"/>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Ionisation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Removing electrons from atoms, making ions.</a:t>
            </a:r>
            <a:endParaRPr lang="en-US" sz="1200" dirty="0"/>
          </a:p>
        </p:txBody>
      </p:sp>
      <p:sp>
        <p:nvSpPr>
          <p:cNvPr id="11" name="Shape 9"/>
          <p:cNvSpPr/>
          <p:nvPr/>
        </p:nvSpPr>
        <p:spPr>
          <a:xfrm>
            <a:off x="3287954" y="1188720"/>
            <a:ext cx="2739314" cy="1143000"/>
          </a:xfrm>
          <a:prstGeom prst="rect">
            <a:avLst/>
          </a:prstGeom>
          <a:solidFill>
            <a:srgbClr val="F5F8FE"/>
          </a:solidFill>
          <a:ln w="9525">
            <a:solidFill>
              <a:srgbClr val="D5DCEB"/>
            </a:solidFill>
            <a:prstDash val="solid"/>
          </a:ln>
        </p:spPr>
      </p:sp>
      <p:sp>
        <p:nvSpPr>
          <p:cNvPr id="12" name="Shape 10"/>
          <p:cNvSpPr/>
          <p:nvPr/>
        </p:nvSpPr>
        <p:spPr>
          <a:xfrm>
            <a:off x="3287954" y="1188720"/>
            <a:ext cx="73152" cy="1143000"/>
          </a:xfrm>
          <a:prstGeom prst="rect">
            <a:avLst/>
          </a:prstGeom>
          <a:solidFill>
            <a:srgbClr val="2E5BD8"/>
          </a:solidFill>
          <a:ln w="12700">
            <a:solidFill>
              <a:srgbClr val="2E5BD8"/>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Ionising power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How strongly radiation ionises: α &gt; β &gt; γ.</a:t>
            </a:r>
            <a:endParaRPr lang="en-US" sz="1200" dirty="0"/>
          </a:p>
        </p:txBody>
      </p:sp>
      <p:sp>
        <p:nvSpPr>
          <p:cNvPr id="14" name="Shape 12"/>
          <p:cNvSpPr/>
          <p:nvPr/>
        </p:nvSpPr>
        <p:spPr>
          <a:xfrm>
            <a:off x="6164428" y="1188720"/>
            <a:ext cx="2739314" cy="1143000"/>
          </a:xfrm>
          <a:prstGeom prst="rect">
            <a:avLst/>
          </a:prstGeom>
          <a:solidFill>
            <a:srgbClr val="F5F8FE"/>
          </a:solidFill>
          <a:ln w="9525">
            <a:solidFill>
              <a:srgbClr val="D5DCEB"/>
            </a:solidFill>
            <a:prstDash val="solid"/>
          </a:ln>
        </p:spPr>
      </p:sp>
      <p:sp>
        <p:nvSpPr>
          <p:cNvPr id="15" name="Shape 13"/>
          <p:cNvSpPr/>
          <p:nvPr/>
        </p:nvSpPr>
        <p:spPr>
          <a:xfrm>
            <a:off x="6164428" y="1188720"/>
            <a:ext cx="73152" cy="1143000"/>
          </a:xfrm>
          <a:prstGeom prst="rect">
            <a:avLst/>
          </a:prstGeom>
          <a:solidFill>
            <a:srgbClr val="2E5BD8"/>
          </a:solidFill>
          <a:ln w="12700">
            <a:solidFill>
              <a:srgbClr val="2E5BD8"/>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Penetration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How far radiation gets into materials: γ &gt; β &gt; α.</a:t>
            </a:r>
            <a:endParaRPr lang="en-US" sz="1200" dirty="0"/>
          </a:p>
        </p:txBody>
      </p:sp>
      <p:sp>
        <p:nvSpPr>
          <p:cNvPr id="17" name="Shape 15"/>
          <p:cNvSpPr/>
          <p:nvPr/>
        </p:nvSpPr>
        <p:spPr>
          <a:xfrm>
            <a:off x="9040901" y="1188720"/>
            <a:ext cx="2739314" cy="1143000"/>
          </a:xfrm>
          <a:prstGeom prst="rect">
            <a:avLst/>
          </a:prstGeom>
          <a:solidFill>
            <a:srgbClr val="F5F8FE"/>
          </a:solidFill>
          <a:ln w="9525">
            <a:solidFill>
              <a:srgbClr val="D5DCEB"/>
            </a:solidFill>
            <a:prstDash val="solid"/>
          </a:ln>
        </p:spPr>
      </p:sp>
      <p:sp>
        <p:nvSpPr>
          <p:cNvPr id="18" name="Shape 16"/>
          <p:cNvSpPr/>
          <p:nvPr/>
        </p:nvSpPr>
        <p:spPr>
          <a:xfrm>
            <a:off x="9040901" y="1188720"/>
            <a:ext cx="73152" cy="1143000"/>
          </a:xfrm>
          <a:prstGeom prst="rect">
            <a:avLst/>
          </a:prstGeom>
          <a:solidFill>
            <a:srgbClr val="2E5BD8"/>
          </a:solidFill>
          <a:ln w="12700">
            <a:solidFill>
              <a:srgbClr val="2E5BD8"/>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Range in air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α a few cm; β about 1 m; γ very far.</a:t>
            </a:r>
            <a:endParaRPr lang="en-US" sz="1200" dirty="0"/>
          </a:p>
        </p:txBody>
      </p:sp>
      <p:sp>
        <p:nvSpPr>
          <p:cNvPr id="20" name="Shape 18"/>
          <p:cNvSpPr/>
          <p:nvPr/>
        </p:nvSpPr>
        <p:spPr>
          <a:xfrm>
            <a:off x="411480" y="2441448"/>
            <a:ext cx="2739314" cy="1143000"/>
          </a:xfrm>
          <a:prstGeom prst="rect">
            <a:avLst/>
          </a:prstGeom>
          <a:solidFill>
            <a:srgbClr val="F5F8FE"/>
          </a:solidFill>
          <a:ln w="9525">
            <a:solidFill>
              <a:srgbClr val="D5DCEB"/>
            </a:solidFill>
            <a:prstDash val="solid"/>
          </a:ln>
        </p:spPr>
      </p:sp>
      <p:sp>
        <p:nvSpPr>
          <p:cNvPr id="21" name="Shape 19"/>
          <p:cNvSpPr/>
          <p:nvPr/>
        </p:nvSpPr>
        <p:spPr>
          <a:xfrm>
            <a:off x="411480" y="2441448"/>
            <a:ext cx="73152" cy="1143000"/>
          </a:xfrm>
          <a:prstGeom prst="rect">
            <a:avLst/>
          </a:prstGeom>
          <a:solidFill>
            <a:srgbClr val="2E5BD8"/>
          </a:solidFill>
          <a:ln w="12700">
            <a:solidFill>
              <a:srgbClr val="2E5BD8"/>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Absorber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Material that stops radiation: paper (α), few mm Al (β), thick lead (reduces γ).</a:t>
            </a:r>
            <a:endParaRPr lang="en-US" sz="1200" dirty="0"/>
          </a:p>
        </p:txBody>
      </p:sp>
      <p:sp>
        <p:nvSpPr>
          <p:cNvPr id="23" name="Shape 21"/>
          <p:cNvSpPr/>
          <p:nvPr/>
        </p:nvSpPr>
        <p:spPr>
          <a:xfrm>
            <a:off x="3287954" y="2441448"/>
            <a:ext cx="2739314" cy="1143000"/>
          </a:xfrm>
          <a:prstGeom prst="rect">
            <a:avLst/>
          </a:prstGeom>
          <a:solidFill>
            <a:srgbClr val="F5F8FE"/>
          </a:solidFill>
          <a:ln w="9525">
            <a:solidFill>
              <a:srgbClr val="D5DCEB"/>
            </a:solidFill>
            <a:prstDash val="solid"/>
          </a:ln>
        </p:spPr>
      </p:sp>
      <p:sp>
        <p:nvSpPr>
          <p:cNvPr id="24" name="Shape 22"/>
          <p:cNvSpPr/>
          <p:nvPr/>
        </p:nvSpPr>
        <p:spPr>
          <a:xfrm>
            <a:off x="3287954" y="2441448"/>
            <a:ext cx="73152" cy="1143000"/>
          </a:xfrm>
          <a:prstGeom prst="rect">
            <a:avLst/>
          </a:prstGeom>
          <a:solidFill>
            <a:srgbClr val="2E5BD8"/>
          </a:solidFill>
          <a:ln w="12700">
            <a:solidFill>
              <a:srgbClr val="2E5BD8"/>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Background radiation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Radiation always around us, from radon, rocks, cosmic rays, food and medical uses.</a:t>
            </a:r>
            <a:endParaRPr lang="en-US" sz="1200" dirty="0"/>
          </a:p>
        </p:txBody>
      </p:sp>
      <p:sp>
        <p:nvSpPr>
          <p:cNvPr id="26" name="Shape 24"/>
          <p:cNvSpPr/>
          <p:nvPr/>
        </p:nvSpPr>
        <p:spPr>
          <a:xfrm>
            <a:off x="6164428" y="2441448"/>
            <a:ext cx="2739314" cy="1143000"/>
          </a:xfrm>
          <a:prstGeom prst="rect">
            <a:avLst/>
          </a:prstGeom>
          <a:solidFill>
            <a:srgbClr val="F5F8FE"/>
          </a:solidFill>
          <a:ln w="9525">
            <a:solidFill>
              <a:srgbClr val="D5DCEB"/>
            </a:solidFill>
            <a:prstDash val="solid"/>
          </a:ln>
        </p:spPr>
      </p:sp>
      <p:sp>
        <p:nvSpPr>
          <p:cNvPr id="27" name="Shape 25"/>
          <p:cNvSpPr/>
          <p:nvPr/>
        </p:nvSpPr>
        <p:spPr>
          <a:xfrm>
            <a:off x="6164428" y="2441448"/>
            <a:ext cx="73152" cy="1143000"/>
          </a:xfrm>
          <a:prstGeom prst="rect">
            <a:avLst/>
          </a:prstGeom>
          <a:solidFill>
            <a:srgbClr val="2E5BD8"/>
          </a:solidFill>
          <a:ln w="12700">
            <a:solidFill>
              <a:srgbClr val="2E5BD8"/>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Corrected count rate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Measured count rate minus the background count rate.</a:t>
            </a:r>
            <a:endParaRPr lang="en-US" sz="1200" dirty="0"/>
          </a:p>
        </p:txBody>
      </p:sp>
      <p:sp>
        <p:nvSpPr>
          <p:cNvPr id="29" name="Shape 27"/>
          <p:cNvSpPr/>
          <p:nvPr/>
        </p:nvSpPr>
        <p:spPr>
          <a:xfrm>
            <a:off x="9040901" y="2441448"/>
            <a:ext cx="2739314" cy="1143000"/>
          </a:xfrm>
          <a:prstGeom prst="rect">
            <a:avLst/>
          </a:prstGeom>
          <a:solidFill>
            <a:srgbClr val="F5F8FE"/>
          </a:solidFill>
          <a:ln w="9525">
            <a:solidFill>
              <a:srgbClr val="D5DCEB"/>
            </a:solidFill>
            <a:prstDash val="solid"/>
          </a:ln>
        </p:spPr>
      </p:sp>
      <p:sp>
        <p:nvSpPr>
          <p:cNvPr id="30" name="Shape 28"/>
          <p:cNvSpPr/>
          <p:nvPr/>
        </p:nvSpPr>
        <p:spPr>
          <a:xfrm>
            <a:off x="9040901" y="2441448"/>
            <a:ext cx="73152" cy="1143000"/>
          </a:xfrm>
          <a:prstGeom prst="rect">
            <a:avLst/>
          </a:prstGeom>
          <a:solidFill>
            <a:srgbClr val="2E5BD8"/>
          </a:solidFill>
          <a:ln w="12700">
            <a:solidFill>
              <a:srgbClr val="2E5BD8"/>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Irradiation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Exposure to radiation from an outside source; the object does not become radioactive.</a:t>
            </a:r>
            <a:endParaRPr lang="en-US" sz="1200" dirty="0"/>
          </a:p>
        </p:txBody>
      </p:sp>
      <p:sp>
        <p:nvSpPr>
          <p:cNvPr id="32" name="Shape 30"/>
          <p:cNvSpPr/>
          <p:nvPr/>
        </p:nvSpPr>
        <p:spPr>
          <a:xfrm>
            <a:off x="411480" y="3694176"/>
            <a:ext cx="2739314" cy="1143000"/>
          </a:xfrm>
          <a:prstGeom prst="rect">
            <a:avLst/>
          </a:prstGeom>
          <a:solidFill>
            <a:srgbClr val="F5F8FE"/>
          </a:solidFill>
          <a:ln w="9525">
            <a:solidFill>
              <a:srgbClr val="D5DCEB"/>
            </a:solidFill>
            <a:prstDash val="solid"/>
          </a:ln>
        </p:spPr>
      </p:sp>
      <p:sp>
        <p:nvSpPr>
          <p:cNvPr id="33" name="Shape 31"/>
          <p:cNvSpPr/>
          <p:nvPr/>
        </p:nvSpPr>
        <p:spPr>
          <a:xfrm>
            <a:off x="411480" y="3694176"/>
            <a:ext cx="73152" cy="1143000"/>
          </a:xfrm>
          <a:prstGeom prst="rect">
            <a:avLst/>
          </a:prstGeom>
          <a:solidFill>
            <a:srgbClr val="2E5BD8"/>
          </a:solidFill>
          <a:ln w="12700">
            <a:solidFill>
              <a:srgbClr val="2E5BD8"/>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Contamination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Unwanted radioactive atoms on or inside an object or person.</a:t>
            </a:r>
            <a:endParaRPr lang="en-US" sz="1200" dirty="0"/>
          </a:p>
        </p:txBody>
      </p:sp>
      <p:sp>
        <p:nvSpPr>
          <p:cNvPr id="35" name="Shape 33"/>
          <p:cNvSpPr/>
          <p:nvPr/>
        </p:nvSpPr>
        <p:spPr>
          <a:xfrm>
            <a:off x="3287954" y="3694176"/>
            <a:ext cx="2739314" cy="1143000"/>
          </a:xfrm>
          <a:prstGeom prst="rect">
            <a:avLst/>
          </a:prstGeom>
          <a:solidFill>
            <a:srgbClr val="F5F8FE"/>
          </a:solidFill>
          <a:ln w="9525">
            <a:solidFill>
              <a:srgbClr val="D5DCEB"/>
            </a:solidFill>
            <a:prstDash val="solid"/>
          </a:ln>
        </p:spPr>
      </p:sp>
      <p:sp>
        <p:nvSpPr>
          <p:cNvPr id="36" name="Shape 34"/>
          <p:cNvSpPr/>
          <p:nvPr/>
        </p:nvSpPr>
        <p:spPr>
          <a:xfrm>
            <a:off x="3287954" y="3694176"/>
            <a:ext cx="73152" cy="1143000"/>
          </a:xfrm>
          <a:prstGeom prst="rect">
            <a:avLst/>
          </a:prstGeom>
          <a:solidFill>
            <a:srgbClr val="2E5BD8"/>
          </a:solidFill>
          <a:ln w="12700">
            <a:solidFill>
              <a:srgbClr val="2E5BD8"/>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Mutation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change in DNA; can lead to cells dividing out of control (cancer).</a:t>
            </a:r>
            <a:endParaRPr lang="en-US" sz="1200" dirty="0"/>
          </a:p>
        </p:txBody>
      </p:sp>
      <p:sp>
        <p:nvSpPr>
          <p:cNvPr id="38" name="Shape 36"/>
          <p:cNvSpPr/>
          <p:nvPr/>
        </p:nvSpPr>
        <p:spPr>
          <a:xfrm>
            <a:off x="6164428" y="3694176"/>
            <a:ext cx="2739314" cy="1143000"/>
          </a:xfrm>
          <a:prstGeom prst="rect">
            <a:avLst/>
          </a:prstGeom>
          <a:solidFill>
            <a:srgbClr val="F5F8FE"/>
          </a:solidFill>
          <a:ln w="9525">
            <a:solidFill>
              <a:srgbClr val="D5DCEB"/>
            </a:solidFill>
            <a:prstDash val="solid"/>
          </a:ln>
        </p:spPr>
      </p:sp>
      <p:sp>
        <p:nvSpPr>
          <p:cNvPr id="39" name="Shape 37"/>
          <p:cNvSpPr/>
          <p:nvPr/>
        </p:nvSpPr>
        <p:spPr>
          <a:xfrm>
            <a:off x="6164428" y="3694176"/>
            <a:ext cx="73152" cy="1143000"/>
          </a:xfrm>
          <a:prstGeom prst="rect">
            <a:avLst/>
          </a:prstGeom>
          <a:solidFill>
            <a:srgbClr val="2E5BD8"/>
          </a:solidFill>
          <a:ln w="12700">
            <a:solidFill>
              <a:srgbClr val="2E5BD8"/>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Tracer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Short half-life gamma emitter put in the body and detected outside.</a:t>
            </a:r>
            <a:endParaRPr lang="en-US" sz="1200" dirty="0"/>
          </a:p>
        </p:txBody>
      </p:sp>
      <p:sp>
        <p:nvSpPr>
          <p:cNvPr id="41" name="Shape 39"/>
          <p:cNvSpPr/>
          <p:nvPr/>
        </p:nvSpPr>
        <p:spPr>
          <a:xfrm>
            <a:off x="9040901" y="3694176"/>
            <a:ext cx="2739314" cy="1143000"/>
          </a:xfrm>
          <a:prstGeom prst="rect">
            <a:avLst/>
          </a:prstGeom>
          <a:solidFill>
            <a:srgbClr val="F5F8FE"/>
          </a:solidFill>
          <a:ln w="9525">
            <a:solidFill>
              <a:srgbClr val="D5DCEB"/>
            </a:solidFill>
            <a:prstDash val="solid"/>
          </a:ln>
        </p:spPr>
      </p:sp>
      <p:sp>
        <p:nvSpPr>
          <p:cNvPr id="42" name="Shape 40"/>
          <p:cNvSpPr/>
          <p:nvPr/>
        </p:nvSpPr>
        <p:spPr>
          <a:xfrm>
            <a:off x="9040901" y="3694176"/>
            <a:ext cx="73152" cy="1143000"/>
          </a:xfrm>
          <a:prstGeom prst="rect">
            <a:avLst/>
          </a:prstGeom>
          <a:solidFill>
            <a:srgbClr val="2E5BD8"/>
          </a:solidFill>
          <a:ln w="12700">
            <a:solidFill>
              <a:srgbClr val="2E5BD8"/>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Radiotherapy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Using high doses of radiation (e.g. gamma beams) to kill cancer cells.</a:t>
            </a:r>
            <a:endParaRPr lang="en-US" sz="1200" dirty="0"/>
          </a:p>
        </p:txBody>
      </p:sp>
      <p:sp>
        <p:nvSpPr>
          <p:cNvPr id="44" name="Shape 42"/>
          <p:cNvSpPr/>
          <p:nvPr/>
        </p:nvSpPr>
        <p:spPr>
          <a:xfrm>
            <a:off x="411480" y="4946904"/>
            <a:ext cx="2739314" cy="1143000"/>
          </a:xfrm>
          <a:prstGeom prst="rect">
            <a:avLst/>
          </a:prstGeom>
          <a:solidFill>
            <a:srgbClr val="F5F8FE"/>
          </a:solidFill>
          <a:ln w="9525">
            <a:solidFill>
              <a:srgbClr val="D5DCEB"/>
            </a:solidFill>
            <a:prstDash val="solid"/>
          </a:ln>
        </p:spPr>
      </p:sp>
      <p:sp>
        <p:nvSpPr>
          <p:cNvPr id="45" name="Shape 43"/>
          <p:cNvSpPr/>
          <p:nvPr/>
        </p:nvSpPr>
        <p:spPr>
          <a:xfrm>
            <a:off x="411480" y="4946904"/>
            <a:ext cx="73152" cy="1143000"/>
          </a:xfrm>
          <a:prstGeom prst="rect">
            <a:avLst/>
          </a:prstGeom>
          <a:solidFill>
            <a:srgbClr val="2E5BD8"/>
          </a:solidFill>
          <a:ln w="12700">
            <a:solidFill>
              <a:srgbClr val="2E5BD8"/>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Sterilisation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Killing bacteria on equipment or food with gamma rays.</a:t>
            </a:r>
            <a:endParaRPr lang="en-US" sz="1200" dirty="0"/>
          </a:p>
        </p:txBody>
      </p:sp>
      <p:sp>
        <p:nvSpPr>
          <p:cNvPr id="47" name="Shape 45"/>
          <p:cNvSpPr/>
          <p:nvPr/>
        </p:nvSpPr>
        <p:spPr>
          <a:xfrm>
            <a:off x="3287954" y="4946904"/>
            <a:ext cx="2739314" cy="1143000"/>
          </a:xfrm>
          <a:prstGeom prst="rect">
            <a:avLst/>
          </a:prstGeom>
          <a:solidFill>
            <a:srgbClr val="F5F8FE"/>
          </a:solidFill>
          <a:ln w="9525">
            <a:solidFill>
              <a:srgbClr val="D5DCEB"/>
            </a:solidFill>
            <a:prstDash val="solid"/>
          </a:ln>
        </p:spPr>
      </p:sp>
      <p:sp>
        <p:nvSpPr>
          <p:cNvPr id="48" name="Shape 46"/>
          <p:cNvSpPr/>
          <p:nvPr/>
        </p:nvSpPr>
        <p:spPr>
          <a:xfrm>
            <a:off x="3287954" y="4946904"/>
            <a:ext cx="73152" cy="1143000"/>
          </a:xfrm>
          <a:prstGeom prst="rect">
            <a:avLst/>
          </a:prstGeom>
          <a:solidFill>
            <a:srgbClr val="2E5BD8"/>
          </a:solidFill>
          <a:ln w="12700">
            <a:solidFill>
              <a:srgbClr val="2E5BD8"/>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Film badge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Dosimeter worn by workers to record the radiation they receive.</a:t>
            </a:r>
            <a:endParaRPr lang="en-US" sz="1200" dirty="0"/>
          </a:p>
        </p:txBody>
      </p:sp>
      <p:sp>
        <p:nvSpPr>
          <p:cNvPr id="50" name="Shape 48"/>
          <p:cNvSpPr/>
          <p:nvPr/>
        </p:nvSpPr>
        <p:spPr>
          <a:xfrm>
            <a:off x="6164428" y="4946904"/>
            <a:ext cx="2739314" cy="1143000"/>
          </a:xfrm>
          <a:prstGeom prst="rect">
            <a:avLst/>
          </a:prstGeom>
          <a:solidFill>
            <a:srgbClr val="F5F8FE"/>
          </a:solidFill>
          <a:ln w="9525">
            <a:solidFill>
              <a:srgbClr val="D5DCEB"/>
            </a:solidFill>
            <a:prstDash val="solid"/>
          </a:ln>
        </p:spPr>
      </p:sp>
      <p:sp>
        <p:nvSpPr>
          <p:cNvPr id="51" name="Shape 49"/>
          <p:cNvSpPr/>
          <p:nvPr/>
        </p:nvSpPr>
        <p:spPr>
          <a:xfrm>
            <a:off x="6164428" y="4946904"/>
            <a:ext cx="73152" cy="1143000"/>
          </a:xfrm>
          <a:prstGeom prst="rect">
            <a:avLst/>
          </a:prstGeom>
          <a:solidFill>
            <a:srgbClr val="2E5BD8"/>
          </a:solidFill>
          <a:ln w="12700">
            <a:solidFill>
              <a:srgbClr val="2E5BD8"/>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Risk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chance of harm and how serious the harm would be.</a:t>
            </a:r>
            <a:endParaRPr lang="en-US" sz="1200" dirty="0"/>
          </a:p>
        </p:txBody>
      </p:sp>
      <p:sp>
        <p:nvSpPr>
          <p:cNvPr id="53" name="Shape 51"/>
          <p:cNvSpPr/>
          <p:nvPr/>
        </p:nvSpPr>
        <p:spPr>
          <a:xfrm>
            <a:off x="9040901" y="4946904"/>
            <a:ext cx="2739314" cy="1143000"/>
          </a:xfrm>
          <a:prstGeom prst="rect">
            <a:avLst/>
          </a:prstGeom>
          <a:solidFill>
            <a:srgbClr val="F5F8FE"/>
          </a:solidFill>
          <a:ln w="9525">
            <a:solidFill>
              <a:srgbClr val="D5DCEB"/>
            </a:solidFill>
            <a:prstDash val="solid"/>
          </a:ln>
        </p:spPr>
      </p:sp>
      <p:sp>
        <p:nvSpPr>
          <p:cNvPr id="54" name="Shape 52"/>
          <p:cNvSpPr/>
          <p:nvPr/>
        </p:nvSpPr>
        <p:spPr>
          <a:xfrm>
            <a:off x="9040901" y="4946904"/>
            <a:ext cx="73152" cy="1143000"/>
          </a:xfrm>
          <a:prstGeom prst="rect">
            <a:avLst/>
          </a:prstGeom>
          <a:solidFill>
            <a:srgbClr val="2E5BD8"/>
          </a:solidFill>
          <a:ln w="12700">
            <a:solidFill>
              <a:srgbClr val="2E5BD8"/>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A2340"/>
                </a:solidFill>
                <a:latin typeface="Calibri" pitchFamily="34" charset="0"/>
                <a:ea typeface="Calibri" pitchFamily="34" charset="-122"/>
                <a:cs typeface="Calibri" pitchFamily="34" charset="-120"/>
              </a:rPr>
              <a:t>Perceived risk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How big people think a risk is; can differ from the actual risk.</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Specification P5.2.1–P5.2.4 (part f uses P5.1.9) • answer every part • 13 marks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27</a:t>
            </a:r>
            <a:endParaRPr lang="en-US" sz="1000" dirty="0"/>
          </a:p>
        </p:txBody>
      </p:sp>
      <p:sp>
        <p:nvSpPr>
          <p:cNvPr id="10" name="Text 8"/>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home smoke detector contains a small sealed source of americium-241, which emits </a:t>
            </a:r>
            <a:r>
              <a:rPr lang="en-US" sz="1200" b="1" i="1" dirty="0">
                <a:solidFill>
                  <a:srgbClr val="262B3A"/>
                </a:solidFill>
                <a:latin typeface="Calibri" pitchFamily="34" charset="0"/>
                <a:ea typeface="Calibri" pitchFamily="34" charset="-122"/>
                <a:cs typeface="Calibri" pitchFamily="34" charset="-120"/>
              </a:rPr>
              <a:t>alpha</a:t>
            </a:r>
            <a:r>
              <a:rPr lang="en-US" sz="1200" i="1" dirty="0">
                <a:solidFill>
                  <a:srgbClr val="262B3A"/>
                </a:solidFill>
                <a:latin typeface="Calibri" pitchFamily="34" charset="0"/>
                <a:ea typeface="Calibri" pitchFamily="34" charset="-122"/>
                <a:cs typeface="Calibri" pitchFamily="34" charset="-120"/>
              </a:rPr>
              <a:t> radiation and has a half-life of </a:t>
            </a:r>
            <a:r>
              <a:rPr lang="en-US" sz="1200" b="1" i="1" dirty="0">
                <a:solidFill>
                  <a:srgbClr val="262B3A"/>
                </a:solidFill>
                <a:latin typeface="Calibri" pitchFamily="34" charset="0"/>
                <a:ea typeface="Calibri" pitchFamily="34" charset="-122"/>
                <a:cs typeface="Calibri" pitchFamily="34" charset="-120"/>
              </a:rPr>
              <a:t>432 years</a:t>
            </a:r>
            <a:r>
              <a:rPr lang="en-US" sz="1200" i="1" dirty="0">
                <a:solidFill>
                  <a:srgbClr val="262B3A"/>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411480" y="1719072"/>
            <a:ext cx="5570068" cy="1253656"/>
          </a:xfrm>
          <a:prstGeom prst="roundRect">
            <a:avLst>
              <a:gd name="adj" fmla="val 3647"/>
            </a:avLst>
          </a:prstGeom>
          <a:solidFill>
            <a:srgbClr val="F5F8FE"/>
          </a:solidFill>
          <a:ln w="9525">
            <a:solidFill>
              <a:srgbClr val="D5DCEB"/>
            </a:solidFill>
            <a:prstDash val="solid"/>
          </a:ln>
        </p:spPr>
      </p:sp>
      <p:sp>
        <p:nvSpPr>
          <p:cNvPr id="12" name="Text 10"/>
          <p:cNvSpPr/>
          <p:nvPr/>
        </p:nvSpPr>
        <p:spPr>
          <a:xfrm>
            <a:off x="548640" y="1792224"/>
            <a:ext cx="5295748" cy="887896"/>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Explain why an </a:t>
            </a:r>
            <a:r>
              <a:rPr lang="en-US" sz="1200" b="1" dirty="0">
                <a:solidFill>
                  <a:srgbClr val="262B3A"/>
                </a:solidFill>
                <a:latin typeface="Calibri" pitchFamily="34" charset="0"/>
                <a:ea typeface="Calibri" pitchFamily="34" charset="-122"/>
                <a:cs typeface="Calibri" pitchFamily="34" charset="-120"/>
              </a:rPr>
              <a:t>alpha</a:t>
            </a:r>
            <a:r>
              <a:rPr lang="en-US" sz="1200" dirty="0">
                <a:solidFill>
                  <a:srgbClr val="262B3A"/>
                </a:solidFill>
                <a:latin typeface="Calibri" pitchFamily="34" charset="0"/>
                <a:ea typeface="Calibri" pitchFamily="34" charset="-122"/>
                <a:cs typeface="Calibri" pitchFamily="34" charset="-120"/>
              </a:rPr>
              <a:t> source is used in the smoke detector.</a:t>
            </a:r>
            <a:endParaRPr lang="en-US" sz="1200" dirty="0"/>
          </a:p>
        </p:txBody>
      </p:sp>
      <p:sp>
        <p:nvSpPr>
          <p:cNvPr id="13" name="Text 11"/>
          <p:cNvSpPr/>
          <p:nvPr/>
        </p:nvSpPr>
        <p:spPr>
          <a:xfrm>
            <a:off x="4518508" y="266183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4" name="Shape 12"/>
          <p:cNvSpPr/>
          <p:nvPr/>
        </p:nvSpPr>
        <p:spPr>
          <a:xfrm>
            <a:off x="411480" y="3082456"/>
            <a:ext cx="5570068" cy="1253656"/>
          </a:xfrm>
          <a:prstGeom prst="roundRect">
            <a:avLst>
              <a:gd name="adj" fmla="val 3647"/>
            </a:avLst>
          </a:prstGeom>
          <a:solidFill>
            <a:srgbClr val="FFFFFF"/>
          </a:solidFill>
          <a:ln w="9525">
            <a:solidFill>
              <a:srgbClr val="D5DCEB"/>
            </a:solidFill>
            <a:prstDash val="solid"/>
          </a:ln>
        </p:spPr>
      </p:sp>
      <p:sp>
        <p:nvSpPr>
          <p:cNvPr id="15" name="Text 13"/>
          <p:cNvSpPr/>
          <p:nvPr/>
        </p:nvSpPr>
        <p:spPr>
          <a:xfrm>
            <a:off x="548640" y="3155608"/>
            <a:ext cx="5295748" cy="887896"/>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Explain why the alpha radiation from the detector is </a:t>
            </a:r>
            <a:r>
              <a:rPr lang="en-US" sz="1200" b="1" dirty="0">
                <a:solidFill>
                  <a:srgbClr val="262B3A"/>
                </a:solidFill>
                <a:latin typeface="Calibri" pitchFamily="34" charset="0"/>
                <a:ea typeface="Calibri" pitchFamily="34" charset="-122"/>
                <a:cs typeface="Calibri" pitchFamily="34" charset="-120"/>
              </a:rPr>
              <a:t>not</a:t>
            </a:r>
            <a:r>
              <a:rPr lang="en-US" sz="1200" dirty="0">
                <a:solidFill>
                  <a:srgbClr val="262B3A"/>
                </a:solidFill>
                <a:latin typeface="Calibri" pitchFamily="34" charset="0"/>
                <a:ea typeface="Calibri" pitchFamily="34" charset="-122"/>
                <a:cs typeface="Calibri" pitchFamily="34" charset="-120"/>
              </a:rPr>
              <a:t> a hazard to people in the room.</a:t>
            </a:r>
            <a:endParaRPr lang="en-US" sz="1200" dirty="0"/>
          </a:p>
        </p:txBody>
      </p:sp>
      <p:sp>
        <p:nvSpPr>
          <p:cNvPr id="16" name="Text 14"/>
          <p:cNvSpPr/>
          <p:nvPr/>
        </p:nvSpPr>
        <p:spPr>
          <a:xfrm>
            <a:off x="4518508" y="4025215"/>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4445839"/>
            <a:ext cx="5570068" cy="1817801"/>
          </a:xfrm>
          <a:prstGeom prst="roundRect">
            <a:avLst>
              <a:gd name="adj" fmla="val 2515"/>
            </a:avLst>
          </a:prstGeom>
          <a:solidFill>
            <a:srgbClr val="F5F8FE"/>
          </a:solidFill>
          <a:ln w="9525">
            <a:solidFill>
              <a:srgbClr val="D5DCEB"/>
            </a:solidFill>
            <a:prstDash val="solid"/>
          </a:ln>
        </p:spPr>
      </p:sp>
      <p:sp>
        <p:nvSpPr>
          <p:cNvPr id="18" name="Text 16"/>
          <p:cNvSpPr/>
          <p:nvPr/>
        </p:nvSpPr>
        <p:spPr>
          <a:xfrm>
            <a:off x="548640" y="4518991"/>
            <a:ext cx="5295748" cy="1452041"/>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A student tests a </a:t>
            </a:r>
            <a:r>
              <a:rPr lang="en-US" sz="1200" b="1" dirty="0">
                <a:solidFill>
                  <a:srgbClr val="262B3A"/>
                </a:solidFill>
                <a:latin typeface="Calibri" pitchFamily="34" charset="0"/>
                <a:ea typeface="Calibri" pitchFamily="34" charset="-122"/>
                <a:cs typeface="Calibri" pitchFamily="34" charset="-120"/>
              </a:rPr>
              <a:t>different</a:t>
            </a:r>
            <a:r>
              <a:rPr lang="en-US" sz="1200" dirty="0">
                <a:solidFill>
                  <a:srgbClr val="262B3A"/>
                </a:solidFill>
                <a:latin typeface="Calibri" pitchFamily="34" charset="0"/>
                <a:ea typeface="Calibri" pitchFamily="34" charset="-122"/>
                <a:cs typeface="Calibri" pitchFamily="34" charset="-120"/>
              </a:rPr>
              <a:t> source. Background = </a:t>
            </a:r>
            <a:r>
              <a:rPr lang="en-US" sz="1200" b="1" dirty="0">
                <a:solidFill>
                  <a:srgbClr val="262B3A"/>
                </a:solidFill>
                <a:latin typeface="Calibri" pitchFamily="34" charset="0"/>
                <a:ea typeface="Calibri" pitchFamily="34" charset="-122"/>
                <a:cs typeface="Calibri" pitchFamily="34" charset="-120"/>
              </a:rPr>
              <a:t>30 counts/min</a:t>
            </a:r>
            <a:r>
              <a:rPr lang="en-US" sz="1200" dirty="0">
                <a:solidFill>
                  <a:srgbClr val="262B3A"/>
                </a:solidFill>
                <a:latin typeface="Calibri" pitchFamily="34" charset="0"/>
                <a:ea typeface="Calibri" pitchFamily="34" charset="-122"/>
                <a:cs typeface="Calibri" pitchFamily="34" charset="-120"/>
              </a:rPr>
              <a:t>. With no absorber: </a:t>
            </a:r>
            <a:r>
              <a:rPr lang="en-US" sz="1200" b="1" dirty="0">
                <a:solidFill>
                  <a:srgbClr val="262B3A"/>
                </a:solidFill>
                <a:latin typeface="Calibri" pitchFamily="34" charset="0"/>
                <a:ea typeface="Calibri" pitchFamily="34" charset="-122"/>
                <a:cs typeface="Calibri" pitchFamily="34" charset="-120"/>
              </a:rPr>
              <a:t>270</a:t>
            </a:r>
            <a:r>
              <a:rPr lang="en-US" sz="1200" dirty="0">
                <a:solidFill>
                  <a:srgbClr val="262B3A"/>
                </a:solidFill>
                <a:latin typeface="Calibri" pitchFamily="34" charset="0"/>
                <a:ea typeface="Calibri" pitchFamily="34" charset="-122"/>
                <a:cs typeface="Calibri" pitchFamily="34" charset="-120"/>
              </a:rPr>
              <a:t>; with paper: </a:t>
            </a:r>
            <a:r>
              <a:rPr lang="en-US" sz="1200" b="1" dirty="0">
                <a:solidFill>
                  <a:srgbClr val="262B3A"/>
                </a:solidFill>
                <a:latin typeface="Calibri" pitchFamily="34" charset="0"/>
                <a:ea typeface="Calibri" pitchFamily="34" charset="-122"/>
                <a:cs typeface="Calibri" pitchFamily="34" charset="-120"/>
              </a:rPr>
              <a:t>268</a:t>
            </a:r>
            <a:r>
              <a:rPr lang="en-US" sz="1200" dirty="0">
                <a:solidFill>
                  <a:srgbClr val="262B3A"/>
                </a:solidFill>
                <a:latin typeface="Calibri" pitchFamily="34" charset="0"/>
                <a:ea typeface="Calibri" pitchFamily="34" charset="-122"/>
                <a:cs typeface="Calibri" pitchFamily="34" charset="-120"/>
              </a:rPr>
              <a:t>; with 3 mm aluminium: </a:t>
            </a:r>
            <a:r>
              <a:rPr lang="en-US" sz="1200" b="1" dirty="0">
                <a:solidFill>
                  <a:srgbClr val="262B3A"/>
                </a:solidFill>
                <a:latin typeface="Calibri" pitchFamily="34" charset="0"/>
                <a:ea typeface="Calibri" pitchFamily="34" charset="-122"/>
                <a:cs typeface="Calibri" pitchFamily="34" charset="-120"/>
              </a:rPr>
              <a:t>32</a:t>
            </a:r>
            <a:r>
              <a:rPr lang="en-US" sz="1200" dirty="0">
                <a:solidFill>
                  <a:srgbClr val="262B3A"/>
                </a:solidFill>
                <a:latin typeface="Calibri" pitchFamily="34" charset="0"/>
                <a:ea typeface="Calibri" pitchFamily="34" charset="-122"/>
                <a:cs typeface="Calibri" pitchFamily="34" charset="-120"/>
              </a:rPr>
              <a:t> counts/min. Calculate the corrected count rate with no absorber and identify the radiation emitted.</a:t>
            </a:r>
            <a:endParaRPr lang="en-US" sz="1200" dirty="0"/>
          </a:p>
        </p:txBody>
      </p:sp>
      <p:sp>
        <p:nvSpPr>
          <p:cNvPr id="19" name="Text 17"/>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0" name="Shape 18"/>
          <p:cNvSpPr/>
          <p:nvPr/>
        </p:nvSpPr>
        <p:spPr>
          <a:xfrm>
            <a:off x="6210148" y="1719072"/>
            <a:ext cx="5570068" cy="1416847"/>
          </a:xfrm>
          <a:prstGeom prst="roundRect">
            <a:avLst>
              <a:gd name="adj" fmla="val 3227"/>
            </a:avLst>
          </a:prstGeom>
          <a:solidFill>
            <a:srgbClr val="F5F8FE"/>
          </a:solidFill>
          <a:ln w="9525">
            <a:solidFill>
              <a:srgbClr val="D5DCEB"/>
            </a:solidFill>
            <a:prstDash val="solid"/>
          </a:ln>
        </p:spPr>
      </p:sp>
      <p:sp>
        <p:nvSpPr>
          <p:cNvPr id="21" name="Text 19"/>
          <p:cNvSpPr/>
          <p:nvPr/>
        </p:nvSpPr>
        <p:spPr>
          <a:xfrm>
            <a:off x="6347308" y="1792224"/>
            <a:ext cx="5295748" cy="1051087"/>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Explain why a half-life of </a:t>
            </a:r>
            <a:r>
              <a:rPr lang="en-US" sz="1200" b="1" dirty="0">
                <a:solidFill>
                  <a:srgbClr val="262B3A"/>
                </a:solidFill>
                <a:latin typeface="Calibri" pitchFamily="34" charset="0"/>
                <a:ea typeface="Calibri" pitchFamily="34" charset="-122"/>
                <a:cs typeface="Calibri" pitchFamily="34" charset="-120"/>
              </a:rPr>
              <a:t>432 years</a:t>
            </a:r>
            <a:r>
              <a:rPr lang="en-US" sz="1200" dirty="0">
                <a:solidFill>
                  <a:srgbClr val="262B3A"/>
                </a:solidFill>
                <a:latin typeface="Calibri" pitchFamily="34" charset="0"/>
                <a:ea typeface="Calibri" pitchFamily="34" charset="-122"/>
                <a:cs typeface="Calibri" pitchFamily="34" charset="-120"/>
              </a:rPr>
              <a:t> is suitable for a smoke detector.</a:t>
            </a:r>
            <a:endParaRPr lang="en-US" sz="1200" dirty="0"/>
          </a:p>
        </p:txBody>
      </p:sp>
      <p:sp>
        <p:nvSpPr>
          <p:cNvPr id="22" name="Text 20"/>
          <p:cNvSpPr/>
          <p:nvPr/>
        </p:nvSpPr>
        <p:spPr>
          <a:xfrm>
            <a:off x="10317175" y="282502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6210148" y="3245647"/>
            <a:ext cx="5570068" cy="1565989"/>
          </a:xfrm>
          <a:prstGeom prst="roundRect">
            <a:avLst>
              <a:gd name="adj" fmla="val 2920"/>
            </a:avLst>
          </a:prstGeom>
          <a:solidFill>
            <a:srgbClr val="FFFFFF"/>
          </a:solidFill>
          <a:ln w="9525">
            <a:solidFill>
              <a:srgbClr val="D5DCEB"/>
            </a:solidFill>
            <a:prstDash val="solid"/>
          </a:ln>
        </p:spPr>
      </p:sp>
      <p:sp>
        <p:nvSpPr>
          <p:cNvPr id="24" name="Text 22"/>
          <p:cNvSpPr/>
          <p:nvPr/>
        </p:nvSpPr>
        <p:spPr>
          <a:xfrm>
            <a:off x="6347308" y="3318799"/>
            <a:ext cx="5295748" cy="1200229"/>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Explain why americium-241 would be </a:t>
            </a:r>
            <a:r>
              <a:rPr lang="en-US" sz="1200" b="1" dirty="0">
                <a:solidFill>
                  <a:srgbClr val="262B3A"/>
                </a:solidFill>
                <a:latin typeface="Calibri" pitchFamily="34" charset="0"/>
                <a:ea typeface="Calibri" pitchFamily="34" charset="-122"/>
                <a:cs typeface="Calibri" pitchFamily="34" charset="-120"/>
              </a:rPr>
              <a:t>far more</a:t>
            </a:r>
            <a:r>
              <a:rPr lang="en-US" sz="1200" dirty="0">
                <a:solidFill>
                  <a:srgbClr val="262B3A"/>
                </a:solidFill>
                <a:latin typeface="Calibri" pitchFamily="34" charset="0"/>
                <a:ea typeface="Calibri" pitchFamily="34" charset="-122"/>
                <a:cs typeface="Calibri" pitchFamily="34" charset="-120"/>
              </a:rPr>
              <a:t> dangerous if it were swallowed.</a:t>
            </a:r>
            <a:endParaRPr lang="en-US" sz="1200" dirty="0"/>
          </a:p>
        </p:txBody>
      </p:sp>
      <p:sp>
        <p:nvSpPr>
          <p:cNvPr id="25" name="Text 23"/>
          <p:cNvSpPr/>
          <p:nvPr/>
        </p:nvSpPr>
        <p:spPr>
          <a:xfrm>
            <a:off x="10317175" y="450074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4921364"/>
            <a:ext cx="5570068" cy="1342276"/>
          </a:xfrm>
          <a:prstGeom prst="roundRect">
            <a:avLst>
              <a:gd name="adj" fmla="val 3406"/>
            </a:avLst>
          </a:prstGeom>
          <a:solidFill>
            <a:srgbClr val="F5F8FE"/>
          </a:solidFill>
          <a:ln w="9525">
            <a:solidFill>
              <a:srgbClr val="D5DCEB"/>
            </a:solidFill>
            <a:prstDash val="solid"/>
          </a:ln>
        </p:spPr>
      </p:sp>
      <p:sp>
        <p:nvSpPr>
          <p:cNvPr id="27" name="Text 25"/>
          <p:cNvSpPr/>
          <p:nvPr/>
        </p:nvSpPr>
        <p:spPr>
          <a:xfrm>
            <a:off x="6347308" y="4994516"/>
            <a:ext cx="4792828" cy="976516"/>
          </a:xfrm>
          <a:prstGeom prst="rect">
            <a:avLst/>
          </a:prstGeom>
          <a:noFill/>
          <a:ln/>
        </p:spPr>
        <p:txBody>
          <a:bodyPr wrap="square" lIns="0" tIns="0" rIns="0" bIns="0" rtlCol="0" anchor="t"/>
          <a:lstStyle/>
          <a:p>
            <a:pPr indent="0" marL="0">
              <a:buNone/>
            </a:pPr>
            <a:r>
              <a:rPr lang="en-US" sz="1200" b="1" dirty="0">
                <a:solidFill>
                  <a:srgbClr val="2E5BD8"/>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Calculate the ratio of the activity of the source after </a:t>
            </a:r>
            <a:r>
              <a:rPr lang="en-US" sz="1200" b="1" dirty="0">
                <a:solidFill>
                  <a:srgbClr val="262B3A"/>
                </a:solidFill>
                <a:latin typeface="Calibri" pitchFamily="34" charset="0"/>
                <a:ea typeface="Calibri" pitchFamily="34" charset="-122"/>
                <a:cs typeface="Calibri" pitchFamily="34" charset="-120"/>
              </a:rPr>
              <a:t>1296 years</a:t>
            </a:r>
            <a:r>
              <a:rPr lang="en-US" sz="1200" dirty="0">
                <a:solidFill>
                  <a:srgbClr val="262B3A"/>
                </a:solidFill>
                <a:latin typeface="Calibri" pitchFamily="34" charset="0"/>
                <a:ea typeface="Calibri" pitchFamily="34" charset="-122"/>
                <a:cs typeface="Calibri" pitchFamily="34" charset="-120"/>
              </a:rPr>
              <a:t> to its activity now.</a:t>
            </a:r>
            <a:endParaRPr lang="en-US" sz="1200" dirty="0"/>
          </a:p>
        </p:txBody>
      </p:sp>
      <p:sp>
        <p:nvSpPr>
          <p:cNvPr id="28" name="Shape 26"/>
          <p:cNvSpPr/>
          <p:nvPr/>
        </p:nvSpPr>
        <p:spPr>
          <a:xfrm>
            <a:off x="11231575" y="4994516"/>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11231575" y="499451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Text 29"/>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3A63C9"/>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2B4C9B"/>
          </a:solidFill>
          <a:ln w="12700">
            <a:solidFill>
              <a:srgbClr val="2B4C9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3A63C9"/>
          </a:solidFill>
          <a:ln w="12700">
            <a:solidFill>
              <a:srgbClr val="3A63C9"/>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E8FA"/>
                </a:solidFill>
                <a:latin typeface="Calibri" pitchFamily="34" charset="0"/>
                <a:ea typeface="Calibri" pitchFamily="34" charset="-122"/>
                <a:cs typeface="Calibri" pitchFamily="34" charset="-120"/>
              </a:rPr>
              <a:t>P5.2 How can radioactive materials be used safely?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A9B4CF"/>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A9B4CF"/>
                </a:solidFill>
                <a:latin typeface="Calibri" pitchFamily="34" charset="0"/>
                <a:ea typeface="Calibri" pitchFamily="34" charset="-122"/>
                <a:cs typeface="Calibri" pitchFamily="34" charset="-120"/>
              </a:rPr>
              <a:t>Homework  |  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EF2FA"/>
          </a:solidFill>
          <a:ln w="12700">
            <a:solidFill>
              <a:srgbClr val="EEF2FA"/>
            </a:solidFill>
            <a:prstDash val="solid"/>
          </a:ln>
        </p:spPr>
      </p:sp>
      <p:sp>
        <p:nvSpPr>
          <p:cNvPr id="3" name="Shape 1"/>
          <p:cNvSpPr/>
          <p:nvPr/>
        </p:nvSpPr>
        <p:spPr>
          <a:xfrm>
            <a:off x="0" y="987552"/>
            <a:ext cx="12191695" cy="27432"/>
          </a:xfrm>
          <a:prstGeom prst="rect">
            <a:avLst/>
          </a:prstGeom>
          <a:solidFill>
            <a:srgbClr val="D3DCF0"/>
          </a:solidFill>
          <a:ln w="12700">
            <a:solidFill>
              <a:srgbClr val="D3DCF0"/>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A2340"/>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2E5BD8"/>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P5.2 How can radioactive materials be used safely?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29</a:t>
            </a:r>
            <a:endParaRPr lang="en-US" sz="1000" dirty="0"/>
          </a:p>
        </p:txBody>
      </p:sp>
      <p:sp>
        <p:nvSpPr>
          <p:cNvPr id="10" name="Text 8"/>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Foundation: answer Q1–Q4, Q6 and Q7 (15 marks). Higher: answer all questions.</a:t>
            </a:r>
            <a:endParaRPr lang="en-US" sz="1150" dirty="0"/>
          </a:p>
        </p:txBody>
      </p:sp>
      <p:sp>
        <p:nvSpPr>
          <p:cNvPr id="11" name="Shape 9"/>
          <p:cNvSpPr/>
          <p:nvPr/>
        </p:nvSpPr>
        <p:spPr>
          <a:xfrm>
            <a:off x="411480" y="1517904"/>
            <a:ext cx="5570068" cy="1120140"/>
          </a:xfrm>
          <a:prstGeom prst="roundRect">
            <a:avLst>
              <a:gd name="adj" fmla="val 4082"/>
            </a:avLst>
          </a:prstGeom>
          <a:solidFill>
            <a:srgbClr val="F5F8FE"/>
          </a:solidFill>
          <a:ln w="9525">
            <a:solidFill>
              <a:srgbClr val="D5DCEB"/>
            </a:solidFill>
            <a:prstDash val="solid"/>
          </a:ln>
        </p:spPr>
      </p:sp>
      <p:sp>
        <p:nvSpPr>
          <p:cNvPr id="12" name="Text 10"/>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source that contributes the </a:t>
            </a:r>
            <a:r>
              <a:rPr lang="en-US" sz="1150" b="1" dirty="0">
                <a:solidFill>
                  <a:srgbClr val="262B3A"/>
                </a:solidFill>
                <a:latin typeface="Calibri" pitchFamily="34" charset="0"/>
                <a:ea typeface="Calibri" pitchFamily="34" charset="-122"/>
                <a:cs typeface="Calibri" pitchFamily="34" charset="-120"/>
              </a:rPr>
              <a:t>largest</a:t>
            </a:r>
            <a:r>
              <a:rPr lang="en-US" sz="1150" dirty="0">
                <a:solidFill>
                  <a:srgbClr val="262B3A"/>
                </a:solidFill>
                <a:latin typeface="Calibri" pitchFamily="34" charset="0"/>
                <a:ea typeface="Calibri" pitchFamily="34" charset="-122"/>
                <a:cs typeface="Calibri" pitchFamily="34" charset="-120"/>
              </a:rPr>
              <a:t> share of background radiation in the UK.</a:t>
            </a:r>
            <a:endParaRPr lang="en-US" sz="1150" dirty="0"/>
          </a:p>
        </p:txBody>
      </p:sp>
      <p:sp>
        <p:nvSpPr>
          <p:cNvPr id="13" name="Text 11"/>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4" name="Shape 12"/>
          <p:cNvSpPr/>
          <p:nvPr/>
        </p:nvSpPr>
        <p:spPr>
          <a:xfrm>
            <a:off x="411480" y="2747772"/>
            <a:ext cx="5570068" cy="1120140"/>
          </a:xfrm>
          <a:prstGeom prst="roundRect">
            <a:avLst>
              <a:gd name="adj" fmla="val 4082"/>
            </a:avLst>
          </a:prstGeom>
          <a:solidFill>
            <a:srgbClr val="F5F8FE"/>
          </a:solidFill>
          <a:ln w="9525">
            <a:solidFill>
              <a:srgbClr val="D5DCEB"/>
            </a:solidFill>
            <a:prstDash val="solid"/>
          </a:ln>
        </p:spPr>
      </p:sp>
      <p:sp>
        <p:nvSpPr>
          <p:cNvPr id="15" name="Text 13"/>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Describe the difference between </a:t>
            </a:r>
            <a:r>
              <a:rPr lang="en-US" sz="1150" b="1" dirty="0">
                <a:solidFill>
                  <a:srgbClr val="262B3A"/>
                </a:solidFill>
                <a:latin typeface="Calibri" pitchFamily="34" charset="0"/>
                <a:ea typeface="Calibri" pitchFamily="34" charset="-122"/>
                <a:cs typeface="Calibri" pitchFamily="34" charset="-120"/>
              </a:rPr>
              <a:t>irradiation</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contamination</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6" name="Text 14"/>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3977640"/>
            <a:ext cx="5570068" cy="1120140"/>
          </a:xfrm>
          <a:prstGeom prst="roundRect">
            <a:avLst>
              <a:gd name="adj" fmla="val 4082"/>
            </a:avLst>
          </a:prstGeom>
          <a:solidFill>
            <a:srgbClr val="F5F8FE"/>
          </a:solidFill>
          <a:ln w="9525">
            <a:solidFill>
              <a:srgbClr val="D5DCEB"/>
            </a:solidFill>
            <a:prstDash val="solid"/>
          </a:ln>
        </p:spPr>
      </p:sp>
      <p:sp>
        <p:nvSpPr>
          <p:cNvPr id="18" name="Text 16"/>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precautions used when handling radioactive sources in school, and say how each reduces the risk.</a:t>
            </a:r>
            <a:endParaRPr lang="en-US" sz="1150" dirty="0"/>
          </a:p>
        </p:txBody>
      </p:sp>
      <p:sp>
        <p:nvSpPr>
          <p:cNvPr id="19" name="Text 17"/>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0" name="Shape 18"/>
          <p:cNvSpPr/>
          <p:nvPr/>
        </p:nvSpPr>
        <p:spPr>
          <a:xfrm>
            <a:off x="411480" y="5207508"/>
            <a:ext cx="5570068" cy="1120140"/>
          </a:xfrm>
          <a:prstGeom prst="roundRect">
            <a:avLst>
              <a:gd name="adj" fmla="val 4082"/>
            </a:avLst>
          </a:prstGeom>
          <a:solidFill>
            <a:srgbClr val="F5F8FE"/>
          </a:solidFill>
          <a:ln w="9525">
            <a:solidFill>
              <a:srgbClr val="D5DCEB"/>
            </a:solidFill>
            <a:prstDash val="solid"/>
          </a:ln>
        </p:spPr>
      </p:sp>
      <p:sp>
        <p:nvSpPr>
          <p:cNvPr id="21" name="Text 19"/>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A GM tube records </a:t>
            </a:r>
            <a:r>
              <a:rPr lang="en-US" sz="1150" b="1" dirty="0">
                <a:solidFill>
                  <a:srgbClr val="262B3A"/>
                </a:solidFill>
                <a:latin typeface="Calibri" pitchFamily="34" charset="0"/>
                <a:ea typeface="Calibri" pitchFamily="34" charset="-122"/>
                <a:cs typeface="Calibri" pitchFamily="34" charset="-120"/>
              </a:rPr>
              <a:t>1218 counts in 2 minutes</a:t>
            </a:r>
            <a:r>
              <a:rPr lang="en-US" sz="1150" dirty="0">
                <a:solidFill>
                  <a:srgbClr val="262B3A"/>
                </a:solidFill>
                <a:latin typeface="Calibri" pitchFamily="34" charset="0"/>
                <a:ea typeface="Calibri" pitchFamily="34" charset="-122"/>
                <a:cs typeface="Calibri" pitchFamily="34" charset="-120"/>
              </a:rPr>
              <a:t> near a source. The background count rate is </a:t>
            </a:r>
            <a:r>
              <a:rPr lang="en-US" sz="1150" b="1" dirty="0">
                <a:solidFill>
                  <a:srgbClr val="262B3A"/>
                </a:solidFill>
                <a:latin typeface="Calibri" pitchFamily="34" charset="0"/>
                <a:ea typeface="Calibri" pitchFamily="34" charset="-122"/>
                <a:cs typeface="Calibri" pitchFamily="34" charset="-120"/>
              </a:rPr>
              <a:t>18 counts/min</a:t>
            </a:r>
            <a:r>
              <a:rPr lang="en-US" sz="1150" dirty="0">
                <a:solidFill>
                  <a:srgbClr val="262B3A"/>
                </a:solidFill>
                <a:latin typeface="Calibri" pitchFamily="34" charset="0"/>
                <a:ea typeface="Calibri" pitchFamily="34" charset="-122"/>
                <a:cs typeface="Calibri" pitchFamily="34" charset="-120"/>
              </a:rPr>
              <a:t>. Calculate the corrected count rate.</a:t>
            </a:r>
            <a:endParaRPr lang="en-US" sz="1150" dirty="0"/>
          </a:p>
        </p:txBody>
      </p:sp>
      <p:sp>
        <p:nvSpPr>
          <p:cNvPr id="22" name="Text 20"/>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6210148" y="1517904"/>
            <a:ext cx="5570068" cy="1067509"/>
          </a:xfrm>
          <a:prstGeom prst="roundRect">
            <a:avLst>
              <a:gd name="adj" fmla="val 4283"/>
            </a:avLst>
          </a:prstGeom>
          <a:solidFill>
            <a:srgbClr val="F5F8FE"/>
          </a:solidFill>
          <a:ln w="9525">
            <a:solidFill>
              <a:srgbClr val="D5DCEB"/>
            </a:solidFill>
            <a:prstDash val="solid"/>
          </a:ln>
        </p:spPr>
      </p:sp>
      <p:sp>
        <p:nvSpPr>
          <p:cNvPr id="24" name="Text 22"/>
          <p:cNvSpPr/>
          <p:nvPr/>
        </p:nvSpPr>
        <p:spPr>
          <a:xfrm>
            <a:off x="6347308" y="1591056"/>
            <a:ext cx="4792828" cy="72003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A tracer has a half-life of </a:t>
            </a:r>
            <a:r>
              <a:rPr lang="en-US" sz="1150" b="1" dirty="0">
                <a:solidFill>
                  <a:srgbClr val="262B3A"/>
                </a:solidFill>
                <a:latin typeface="Calibri" pitchFamily="34" charset="0"/>
                <a:ea typeface="Calibri" pitchFamily="34" charset="-122"/>
                <a:cs typeface="Calibri" pitchFamily="34" charset="-120"/>
              </a:rPr>
              <a:t>6 hours</a:t>
            </a:r>
            <a:r>
              <a:rPr lang="en-US" sz="1150" dirty="0">
                <a:solidFill>
                  <a:srgbClr val="262B3A"/>
                </a:solidFill>
                <a:latin typeface="Calibri" pitchFamily="34" charset="0"/>
                <a:ea typeface="Calibri" pitchFamily="34" charset="-122"/>
                <a:cs typeface="Calibri" pitchFamily="34" charset="-120"/>
              </a:rPr>
              <a:t>. Calculate the ratio of its activity after </a:t>
            </a:r>
            <a:r>
              <a:rPr lang="en-US" sz="1150" b="1" dirty="0">
                <a:solidFill>
                  <a:srgbClr val="262B3A"/>
                </a:solidFill>
                <a:latin typeface="Calibri" pitchFamily="34" charset="0"/>
                <a:ea typeface="Calibri" pitchFamily="34" charset="-122"/>
                <a:cs typeface="Calibri" pitchFamily="34" charset="-120"/>
              </a:rPr>
              <a:t>24 hours</a:t>
            </a:r>
            <a:r>
              <a:rPr lang="en-US" sz="1150" dirty="0">
                <a:solidFill>
                  <a:srgbClr val="262B3A"/>
                </a:solidFill>
                <a:latin typeface="Calibri" pitchFamily="34" charset="0"/>
                <a:ea typeface="Calibri" pitchFamily="34" charset="-122"/>
                <a:cs typeface="Calibri" pitchFamily="34" charset="-120"/>
              </a:rPr>
              <a:t> to its starting activity.</a:t>
            </a:r>
            <a:endParaRPr lang="en-US" sz="1150" dirty="0"/>
          </a:p>
        </p:txBody>
      </p:sp>
      <p:sp>
        <p:nvSpPr>
          <p:cNvPr id="25" name="Shape 23"/>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Text 25"/>
          <p:cNvSpPr/>
          <p:nvPr/>
        </p:nvSpPr>
        <p:spPr>
          <a:xfrm>
            <a:off x="10317175" y="229280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8" name="Shape 26"/>
          <p:cNvSpPr/>
          <p:nvPr/>
        </p:nvSpPr>
        <p:spPr>
          <a:xfrm>
            <a:off x="6210148" y="2695141"/>
            <a:ext cx="5570068" cy="1067509"/>
          </a:xfrm>
          <a:prstGeom prst="roundRect">
            <a:avLst>
              <a:gd name="adj" fmla="val 4283"/>
            </a:avLst>
          </a:prstGeom>
          <a:solidFill>
            <a:srgbClr val="F5F8FE"/>
          </a:solidFill>
          <a:ln w="9525">
            <a:solidFill>
              <a:srgbClr val="D5DCEB"/>
            </a:solidFill>
            <a:prstDash val="solid"/>
          </a:ln>
        </p:spPr>
      </p:sp>
      <p:sp>
        <p:nvSpPr>
          <p:cNvPr id="29" name="Text 27"/>
          <p:cNvSpPr/>
          <p:nvPr/>
        </p:nvSpPr>
        <p:spPr>
          <a:xfrm>
            <a:off x="6347308" y="2768293"/>
            <a:ext cx="5295748" cy="720037"/>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Explain why </a:t>
            </a:r>
            <a:r>
              <a:rPr lang="en-US" sz="1150" b="1" dirty="0">
                <a:solidFill>
                  <a:srgbClr val="262B3A"/>
                </a:solidFill>
                <a:latin typeface="Calibri" pitchFamily="34" charset="0"/>
                <a:ea typeface="Calibri" pitchFamily="34" charset="-122"/>
                <a:cs typeface="Calibri" pitchFamily="34" charset="-120"/>
              </a:rPr>
              <a:t>gamma</a:t>
            </a:r>
            <a:r>
              <a:rPr lang="en-US" sz="1150" dirty="0">
                <a:solidFill>
                  <a:srgbClr val="262B3A"/>
                </a:solidFill>
                <a:latin typeface="Calibri" pitchFamily="34" charset="0"/>
                <a:ea typeface="Calibri" pitchFamily="34" charset="-122"/>
                <a:cs typeface="Calibri" pitchFamily="34" charset="-120"/>
              </a:rPr>
              <a:t> rays are used to sterilise surgical instruments in sealed packs.</a:t>
            </a:r>
            <a:endParaRPr lang="en-US" sz="1150" dirty="0"/>
          </a:p>
        </p:txBody>
      </p:sp>
      <p:sp>
        <p:nvSpPr>
          <p:cNvPr id="30" name="Text 28"/>
          <p:cNvSpPr/>
          <p:nvPr/>
        </p:nvSpPr>
        <p:spPr>
          <a:xfrm>
            <a:off x="10317175" y="347004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6210148" y="3872378"/>
            <a:ext cx="5570068" cy="2455270"/>
          </a:xfrm>
          <a:prstGeom prst="roundRect">
            <a:avLst>
              <a:gd name="adj" fmla="val 1862"/>
            </a:avLst>
          </a:prstGeom>
          <a:solidFill>
            <a:srgbClr val="FFF4E0"/>
          </a:solidFill>
          <a:ln w="9525">
            <a:solidFill>
              <a:srgbClr val="F1D9A8"/>
            </a:solidFill>
            <a:prstDash val="solid"/>
          </a:ln>
        </p:spPr>
      </p:sp>
      <p:sp>
        <p:nvSpPr>
          <p:cNvPr id="32" name="Text 30"/>
          <p:cNvSpPr/>
          <p:nvPr/>
        </p:nvSpPr>
        <p:spPr>
          <a:xfrm>
            <a:off x="6347308" y="3945530"/>
            <a:ext cx="5295748" cy="2107798"/>
          </a:xfrm>
          <a:prstGeom prst="rect">
            <a:avLst/>
          </a:prstGeom>
          <a:noFill/>
          <a:ln/>
        </p:spPr>
        <p:txBody>
          <a:bodyPr wrap="square" lIns="0" tIns="0" rIns="0" bIns="0" rtlCol="0" anchor="t"/>
          <a:lstStyle/>
          <a:p>
            <a:pPr indent="0" marL="0">
              <a:buNone/>
            </a:pPr>
            <a:r>
              <a:rPr lang="en-US" sz="1150" b="1" dirty="0">
                <a:solidFill>
                  <a:srgbClr val="2E5BD8"/>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Technetium-99m is a </a:t>
            </a:r>
            <a:r>
              <a:rPr lang="en-US" sz="1150" b="1" dirty="0">
                <a:solidFill>
                  <a:srgbClr val="262B3A"/>
                </a:solidFill>
                <a:latin typeface="Calibri" pitchFamily="34" charset="0"/>
                <a:ea typeface="Calibri" pitchFamily="34" charset="-122"/>
                <a:cs typeface="Calibri" pitchFamily="34" charset="-120"/>
              </a:rPr>
              <a:t>gamma</a:t>
            </a:r>
            <a:r>
              <a:rPr lang="en-US" sz="1150" dirty="0">
                <a:solidFill>
                  <a:srgbClr val="262B3A"/>
                </a:solidFill>
                <a:latin typeface="Calibri" pitchFamily="34" charset="0"/>
                <a:ea typeface="Calibri" pitchFamily="34" charset="-122"/>
                <a:cs typeface="Calibri" pitchFamily="34" charset="-120"/>
              </a:rPr>
              <a:t> emitter with a half-life of </a:t>
            </a:r>
            <a:r>
              <a:rPr lang="en-US" sz="1150" b="1" dirty="0">
                <a:solidFill>
                  <a:srgbClr val="262B3A"/>
                </a:solidFill>
                <a:latin typeface="Calibri" pitchFamily="34" charset="0"/>
                <a:ea typeface="Calibri" pitchFamily="34" charset="-122"/>
                <a:cs typeface="Calibri" pitchFamily="34" charset="-120"/>
              </a:rPr>
              <a:t>6 hours</a:t>
            </a:r>
            <a:r>
              <a:rPr lang="en-US" sz="1150" dirty="0">
                <a:solidFill>
                  <a:srgbClr val="262B3A"/>
                </a:solidFill>
                <a:latin typeface="Calibri" pitchFamily="34" charset="0"/>
                <a:ea typeface="Calibri" pitchFamily="34" charset="-122"/>
                <a:cs typeface="Calibri" pitchFamily="34" charset="-120"/>
              </a:rPr>
              <a:t>. It is injected as a tracer to check how well a patient's kidneys work. </a:t>
            </a:r>
            <a:r>
              <a:rPr lang="en-US" sz="1150" b="1" dirty="0">
                <a:solidFill>
                  <a:srgbClr val="262B3A"/>
                </a:solidFill>
                <a:latin typeface="Calibri" pitchFamily="34" charset="0"/>
                <a:ea typeface="Calibri" pitchFamily="34" charset="-122"/>
                <a:cs typeface="Calibri" pitchFamily="34" charset="-120"/>
              </a:rPr>
              <a:t>Evaluate</a:t>
            </a:r>
            <a:r>
              <a:rPr lang="en-US" sz="1150" dirty="0">
                <a:solidFill>
                  <a:srgbClr val="262B3A"/>
                </a:solidFill>
                <a:latin typeface="Calibri" pitchFamily="34" charset="0"/>
                <a:ea typeface="Calibri" pitchFamily="34" charset="-122"/>
                <a:cs typeface="Calibri" pitchFamily="34" charset="-120"/>
              </a:rPr>
              <a:t> the use of technetium-99m for this scan. Include its benefits and its risks.</a:t>
            </a:r>
            <a:endParaRPr lang="en-US" sz="1150" dirty="0"/>
          </a:p>
        </p:txBody>
      </p:sp>
      <p:sp>
        <p:nvSpPr>
          <p:cNvPr id="33" name="Text 31"/>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P5.2 How can radioactive materials be used safely?</dc:title>
  <dc:subject>PptxGenJS Presentation</dc:subject>
  <dc:creator>GCSE Physics</dc:creator>
  <cp:lastModifiedBy>GCSE Physics</cp:lastModifiedBy>
  <cp:revision>1</cp:revision>
  <dcterms:created xsi:type="dcterms:W3CDTF">2026-10-29T17:35:25Z</dcterms:created>
  <dcterms:modified xsi:type="dcterms:W3CDTF">2026-10-29T17:35:25Z</dcterms:modified>
</cp:coreProperties>
</file>