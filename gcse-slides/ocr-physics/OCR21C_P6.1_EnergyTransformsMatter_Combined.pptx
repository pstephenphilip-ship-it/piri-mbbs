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P6.1 How does energy transform matter? is Part 1 of 3 in J260 Chapter P6 (P6.1, P6.2, P6.3). P6.4 (particle model and pressure in fluids) and P6.5 (scientific models and the Big Bang) are in the separate-science Physics B (J259) only.
Spec wording and numbering in this deck were reconstructed from search extracts and memory because ocr.org.uk could not be fetched: see SPEC_P6_1.md before showing codes to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P6.1 statement was found to be Higher tier only (bold) in the J260 specification (UNVERIFIED: check the spec). All objectives are for both tiers; multi-step heating-curve calculations are marked GRADE 7–9 STRETCH.
Numbering P6.1.1–P6.1.8 is reconstructed (see SPEC_P6_1.md): check against the OCR J260 specification before using codes with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J260 Chapter P6 has three sub-topics in Combined Science: P6.1, P6.2 and P6.3 (verified from search extracts of the docbrown J260 page and the OCR outline scheme of work). P6.4 and P6.5 are separate science (J259) only.
Where things go: gas pressure and temperature, kelvin and any pV work are P6.2; springs, F = kx and elastic energy are P6.3. This deck does not teach them.
PAG links: the OCR outline scheme lists "PAG1: Determine the densities of a variety of objects" against 6.1. PAG P5 (specific heat capacity) placed here is UNVERIFIED but fits the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Solid, liquid, gas. e.g. solid: fixed shape and volume; liquid: fixed volume, takes the shape of its container, flows; gas: no fixed shape or volume, fills its container, can be compressed.
2. Melts at 0 °C; boils at 100 °C.
3. Thermal energy store (internal energy).
4. E = P × t = 2000 × 60 = 120 000 J (120 kJ).
5. About 1 × 10⁻¹⁰ m.
6. 0.25 kg; 500 ÷ 1 000 000 = 5.0 × 10⁻⁴ m³.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Sublimation (sublimating). The mass of carbon dioxide stays the same because the particles are not created or destroyed, just spread out.
Terminology: evaporation happens from the surface at any temperature; boiling happens throughout the liquid at the boiling point. Both are liquid → gas. Gas → solid directly (deposition) is not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wax becomes solid wax again with the same properties (no new substance is made); the particles are only rearranged. A chemical change would make a new substance that does not turn back when cooled.
The balance reading (152.4 g) is illustrative: flask + ice. If the flask were open, condensation from the air could add a little mass.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1 (total 7 marks)
Q1 [3]: (i) evaporating / boiling (1); (ii) condensing (1); (iii) sublimating / sublimation (1).
Q2 [2]: 50 g (1); the particles are the same / no particles are added or lost; they are only rearranged (1).
Q3 [2]: Melting is a physical change / no new substance; burning is a chemical change / new substances made (1); melted ice can be frozen back to ice with the same properties, burnt paper cannot be turned back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ρ = 460 ÷ 500 = 0.92 g/cm³ = 920 kg/m³. Yes: it is less dense than water (1000 kg/m³), so it floats.
ρ = m/V is a RECALL equation in J260 (not on the equation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V = m ÷ ρ = 1.0 ÷ 0.60 = 1.7 m³, about 1700 times the 0.001 m³ of water (the mass is still 1.0 kg).
Steam density 0.60 kg/m³ is for steam at 100 °C and normal pressure (0.598). The gas box cannot be drawn to scale: at the same scale there would be about one gas particle for every 1700 particles in the water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2 (total 7 marks)
Q1 [2]: Gas particles are far apart / spread out; solid particles are close together / touching (1); so the same mass of gas takes up a much bigger volume / less mass in each m³ (1).
Q2 [2]: ρ = m ÷ V = 81 ÷ 30 (1); = 2.7 g/cm³ (1).
Q3 [3]: V(ice) = 1.0 ÷ 920 = 1.09 × 10⁻³ m³ (1); V(water) = 1.0 ÷ 1000 = 1.00 × 10⁻³ m³ (1); decrease of 8.7 × 10⁻⁵ m³ (accept 9 × 10⁻⁵ m³)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So that the water level starts exactly at the spout: then all the water pushed out by the stone (and only that water) flows into the measuring cylinder. If the can were not full, the first water displaced would just raise the level and not be collected, so the volume would be too small.
Alternative for small objects: put water in a measuring cylinder, read the volume, add the object, read again; volume = difference.
PAG P1 (OCR Materials group): "Determine the densities of a variety of objects" — listed against 6.1 in the OCR outline scheme of work (search extract).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2.6 g/cm³ = 2600 kg/m³. The polythene cube (930 kg/m³) floats.
Calculations (node): block 54.0 ÷ 20.0 = 2.70; stone 46.8 ÷ 18.0 = 2.60; cube 25.1 ÷ 27.0 = 0.93 g/cm³. Graph best fit through origin (least squares) gradient = 2.707 g/cm³; samples within 2% of 2.7 ×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3 (total 7 marks)
Q1 [3]: Fill the can until water comes out of the spout / to the spout (1); lower the stone in (on a thread) (1); collect the displaced water in a measuring cylinder; its volume = volume of stone (1).
Q2 [2]: V = 65.0 − 50.0 = 15.0 cm³ (1); ρ = 39.0 ÷ 15.0 = 2.6 g/cm³ (1).
Q3 [2]: e.g. resolution of ruler (1 mm) is large compared with the length / parallax / edges not square (1); use vernier callipers or a micrometer / read at eye level / measure several times and average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Into breaking the bonds / separating the water particles to form steam (increasing their potential energy, i.e. the internal energy), not into making them move faster, so the temperature does not rise.
The J260 wording is "describe how heating a system will change the energy stored within the system and raise its temperature or produce changes of state" (reconstructed, UNVERIFIED). The kinetic + potential definition of internal energy is taught here as the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ΔE = 2.0 × 900 × 25 = 45 000 J.
ΔE = mcΔθ is on the J260 equation sheet (GIVEN). Values: water 4200, ice 2100, aluminium 900, iron 450, copper 385 J/kg °C (typical data-book values used in GCSE papers). Bars drawn to scale (bar length ∝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4 (total 8 marks)
Q1 [1]: The total kinetic and potential energy of all its particles (1).
Q2 [2]: Energy needed to raise the temperature of 1 kg of a substance (1); by 1 °C (1).
Q3 [2]: ΔE = 2.0 × 4200 × 50 (1); = 420 000 J (1).
Q4 [3]: c = ΔE ÷ (m × Δθ) (1); = 9000 ÷ (0.50 × 20) (1); = 900 J/kg °C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To reduce energy transferred to the surroundings. Without it more energy is lost, the temperature rise is smaller, so the calculated c = E ÷ (mΔθ) is too big.
PAG P5 (OCR Energy group) example: "Determining the specific heat capacity of a metal". Its link to P6.1 in J260 is UNVERIFIED (see SPEC_P6_1.md). Water can also be used (heater in a beaker of water, stir).
Circuit: ammeter in series with the heater, voltmeter in parallel across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Δθ = E ÷ (m × c) = 28 800 ÷ (1.0 × 900) = 32 °C (it actually rose 26.5 °C).
Stretch (gradient method): c = P ÷ (m × gradient) = 48 ÷ (1.0 × 0.0460) ≈ 1044 J/kg °C; it ignores the slow start, so is closer to 900. Line of best fit = least squares through the 60–600 s points (node).
P = V × I and P = E ÷ t are RECALL equations in J260.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5 (total 8 marks)
Q1 [2]: Potential difference and current (1); time (1). (E = V × I × t.)
Q2 [2]: E = P × t = 40 × 300 (1); = 12 000 J (1).
Q3 [2]: Energy is lost to the surroundings / used to heat the heater or thermometer (1); so the temperature rise is smaller than it should be, so c = E ÷ (mΔθ) is larger (1).
Q4 [2]: Any two (1 each): more insulation / lagging; lid on top; oil or water in the holes for good thermal contact; thermometer with better resolution or data logger; use gradient of the linear part of the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E = 0.40 × 2 260 000 = 904 000 J (904 kJ).
E = mL is on the J260 equation sheet (GIVEN). Common error: using ΔE = mcΔθ during a change of state. Bars to scale: 2260 ÷ 334 ≈ 6.8 times longer.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energy is used to break the bonds between water particles / increase their potential energy to change liquid into gas (latent heat), not to make them move faster, so the temperature does not rise.
Curve computed in node: ice 0.20 × 2100 × 30 / 1000 = 12.6 s; melting 0.20 × 334 000 / 1000 = 66.8 s; water 0.20 × 4200 × 100 / 1000 = 84 s; boiling 0.20 × 2 260 000 / 1000 = 452 s; steam 0.20 × 2000 × 20 / 1000 = 8 s. Totals at 12.6, 79.4, 163.4, 615.4, 623.4 s. Slopes differ because c differs (ice and steam warm about twice as fast per joule as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6 (total 7 marks)
Q1 [2]: Energy needed to change 1 kg of a liquid into a gas / vapour (1); with no change in temperature (1).
Q2 [2]: E = m × L = 0.30 × 334 000 (1); = 100 200 J (accept 1.0 × 10⁵ J) (1).
Q3 [2]: Energy is used to break bonds / increase the potential energy of particles (1); not to increase their kinetic energy, so the temperature does not change (1).
Q4 [1]: Specific latent heat of vaporisation is (much) greater than of fusion / more energy needed to separate particles completely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cover-and-recall activity: hide the definitions, students say them, then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Learn: ρ = m ÷ V, P = E ÷ t, P = V × I. Given on the sheet: ΔE = mcΔθ and E = mL.
Status follows the GCSE subject content equation lists used by J260 (density, power = energy/time and power = p.d. × current are recall; ΔE = mcΔθ and E = mL are on the sheet). UNVERIFIED against the current J260 equation sheet wording: check before printing.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full question (total 13 marks)
(a) [3]: Water: particles touching/close together, random arrangement, move past each other (1); steam: particles far apart, moving fast in random directions (1); so the same mass takes up a much larger volume, so density = m ÷ V is much smaller (1).
(b) [2]: ΔE = 0.50 × 4200 × 80 (1); = 168 000 J (1).
(c) [2]: t = E ÷ P = 168 000 ÷ 2000 (1); = 84 s (1). ECF from (b).
(d) [2]: E = m × L = 0.050 × 2 260 000 (1); = 113 000 J (1).
(e) [2]: Energy is used to break bonds / separate particles / increase potential energy (1); not to increase kinetic energy, so temperature stays the same (1).
(f) [2]: No new substance is made / the water is the same substance and can be turned back into steam (1); the mass of water formed equals the mass of steam (mass conserved, particles not created or destroyed)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homework (total 17 marks)
1 [1]: Sublimation / sublimating (1).
2 [2]: The particles are only rearranged / same particles (1); no particles are added or lost, so mass is conserved (1).
3 [2]: ρ = 54 ÷ 20 = 2.7 g/cm³ (1); = 2700 kg/m³ (1).
4 [2]: ΔE = 0.80 × 2000 × 30 (1); = 48 000 J (1).
5 [2]: Specific heat capacity: energy to raise temperature of 1 kg by 1 °C (1); specific latent heat: energy to change the state of 1 kg with no temperature change (1).
6 [2]: 0.20 × 334 000 = 66 800 J and 0.20 × 4200 × 20 = 16 800 J (1); total = 83 600 J (1).
7 [6]: OCR level-of-response mark scheme (6 marks). Read the whole answer, decide the level from the content descriptor, then the mark within the level from the quality of the line of reasoning. Use the indicative scientific points below.
Level 3 (5–6 marks): Describes a full method including the measurements AND explains how to calculate c from them AND gives at least one way to improve accuracy with a reason. There is a well-developed line of reasoning which is clear and logically structured. The information presented is relevant and substantiated.
Level 2 (3–4 marks): Describes a method with most measurements AND EITHER how to calculate c OR a way to improve accuracy. There is a line of reasoning presented with some structure. The information presented is relevant and supported by some evidence.
Level 1 (1–2 marks): Gives a simple description of heating the block and measuring the temperature OR names some equipment. There is an attempt at a logical structure with a line of reasoning. The information is in the most part relevant.
0 marks: no response or no response worthy of credit.
Indicative scientific points may include:
 • Equipment: metal block (e.g. 1 kg aluminium) with holes, immersion heater, thermometer, low-voltage supply, ammeter and voltmeter (or joulemeter), stopwatch, balance, insulation.
 • Measure the mass of the block with a balance.
 • Record the starting temperature; switch on the heater and start the stopwatch.
 • Record p.d. and current (power P = V × I) or joulemeter readings; record the temperature after a measured time (e.g. every minute for 10 minutes).
 • Energy E = P × t (or joulemeter); Δθ = final − starting temperature.
 • c = E ÷ (m × Δθ); or plot temperature against time / energy and use the gradient.
 • Accuracy: insulate the block; put water or oil in the thermometer hole for good thermal contact; use a lid; read the thermometer at eye level; repeat and average.
 • Energy losses make Δθ smaller, so the measured c is bigger than the true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4A"/>
        </a:solidFill>
      </p:bgPr>
    </p:bg>
    <p:spTree>
      <p:nvGrpSpPr>
        <p:cNvPr id="1" name=""/>
        <p:cNvGrpSpPr/>
        <p:nvPr/>
      </p:nvGrpSpPr>
      <p:grpSpPr>
        <a:xfrm>
          <a:off x="0" y="0"/>
          <a:ext cx="0" cy="0"/>
          <a:chOff x="0" y="0"/>
          <a:chExt cx="0" cy="0"/>
        </a:xfrm>
      </p:grpSpPr>
      <p:sp>
        <p:nvSpPr>
          <p:cNvPr id="2" name="Shape 0"/>
          <p:cNvSpPr/>
          <p:nvPr/>
        </p:nvSpPr>
        <p:spPr>
          <a:xfrm>
            <a:off x="7589520" y="-1463040"/>
            <a:ext cx="6035040" cy="6035040"/>
          </a:xfrm>
          <a:prstGeom prst="ellipse">
            <a:avLst/>
          </a:prstGeom>
          <a:solidFill>
            <a:srgbClr val="2B4C9B"/>
          </a:solidFill>
          <a:ln w="12700">
            <a:solidFill>
              <a:srgbClr val="2B4C9B"/>
            </a:solidFill>
            <a:prstDash val="solid"/>
          </a:ln>
        </p:spPr>
      </p:sp>
      <p:sp>
        <p:nvSpPr>
          <p:cNvPr id="3" name="Shape 1"/>
          <p:cNvSpPr/>
          <p:nvPr/>
        </p:nvSpPr>
        <p:spPr>
          <a:xfrm>
            <a:off x="9326880" y="2377440"/>
            <a:ext cx="4937760" cy="4937760"/>
          </a:xfrm>
          <a:prstGeom prst="ellipse">
            <a:avLst/>
          </a:prstGeom>
          <a:solidFill>
            <a:srgbClr val="3A63C9">
              <a:alpha val="85000"/>
            </a:srgbClr>
          </a:solidFill>
          <a:ln w="12700">
            <a:solidFill>
              <a:srgbClr val="3A63C9"/>
            </a:solidFill>
            <a:prstDash val="solid"/>
          </a:ln>
        </p:spPr>
      </p:sp>
      <p:sp>
        <p:nvSpPr>
          <p:cNvPr id="4" name="Shape 2"/>
          <p:cNvSpPr/>
          <p:nvPr/>
        </p:nvSpPr>
        <p:spPr>
          <a:xfrm>
            <a:off x="0" y="0"/>
            <a:ext cx="164592" cy="6858000"/>
          </a:xfrm>
          <a:prstGeom prst="rect">
            <a:avLst/>
          </a:prstGeom>
          <a:solidFill>
            <a:srgbClr val="3A63C9"/>
          </a:solidFill>
          <a:ln w="12700">
            <a:solidFill>
              <a:srgbClr val="3A63C9"/>
            </a:solidFill>
            <a:prstDash val="solid"/>
          </a:ln>
        </p:spPr>
      </p:sp>
      <p:sp>
        <p:nvSpPr>
          <p:cNvPr id="5" name="Text 3"/>
          <p:cNvSpPr/>
          <p:nvPr/>
        </p:nvSpPr>
        <p:spPr>
          <a:xfrm>
            <a:off x="731520" y="822960"/>
            <a:ext cx="8686800" cy="320040"/>
          </a:xfrm>
          <a:prstGeom prst="rect">
            <a:avLst/>
          </a:prstGeom>
          <a:noFill/>
          <a:ln/>
        </p:spPr>
        <p:txBody>
          <a:bodyPr wrap="square" lIns="0" tIns="0" rIns="0" bIns="0" rtlCol="0" anchor="ctr"/>
          <a:lstStyle/>
          <a:p>
            <a:pPr indent="0" marL="0">
              <a:buNone/>
            </a:pPr>
            <a:r>
              <a:rPr lang="en-US" sz="1300" b="1" spc="400" kern="0" dirty="0">
                <a:solidFill>
                  <a:srgbClr val="9FB8F0"/>
                </a:solidFill>
                <a:latin typeface="Calibri" pitchFamily="34" charset="0"/>
                <a:ea typeface="Calibri" pitchFamily="34" charset="-122"/>
                <a:cs typeface="Calibri" pitchFamily="34" charset="-120"/>
              </a:rPr>
              <a:t>OCR GCSE COMBINED SCIENCE B (TWENTY FIRST CENTURY)</a:t>
            </a:r>
            <a:endParaRPr lang="en-US" sz="1300" dirty="0"/>
          </a:p>
        </p:txBody>
      </p:sp>
      <p:sp>
        <p:nvSpPr>
          <p:cNvPr id="6" name="Text 4"/>
          <p:cNvSpPr/>
          <p:nvPr/>
        </p:nvSpPr>
        <p:spPr>
          <a:xfrm>
            <a:off x="731520" y="1325880"/>
            <a:ext cx="9601200" cy="100584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P6.1  Energy and matter</a:t>
            </a:r>
            <a:endParaRPr lang="en-US" sz="4000" dirty="0"/>
          </a:p>
        </p:txBody>
      </p:sp>
      <p:sp>
        <p:nvSpPr>
          <p:cNvPr id="7" name="Text 5"/>
          <p:cNvSpPr/>
          <p:nvPr/>
        </p:nvSpPr>
        <p:spPr>
          <a:xfrm>
            <a:off x="731520" y="2377440"/>
            <a:ext cx="7863840" cy="457200"/>
          </a:xfrm>
          <a:prstGeom prst="rect">
            <a:avLst/>
          </a:prstGeom>
          <a:noFill/>
          <a:ln/>
        </p:spPr>
        <p:txBody>
          <a:bodyPr wrap="square" lIns="0" tIns="0" rIns="0" bIns="0" rtlCol="0" anchor="ctr"/>
          <a:lstStyle/>
          <a:p>
            <a:pPr indent="0" marL="0">
              <a:buNone/>
            </a:pPr>
            <a:r>
              <a:rPr lang="en-US" sz="1800" i="1" dirty="0">
                <a:solidFill>
                  <a:srgbClr val="C9D5F2"/>
                </a:solidFill>
                <a:latin typeface="Georgia" pitchFamily="34" charset="0"/>
                <a:ea typeface="Georgia" pitchFamily="34" charset="-122"/>
                <a:cs typeface="Georgia" pitchFamily="34" charset="-120"/>
              </a:rPr>
              <a:t>Changes of state, density, internal energy, specific heat capacity and specific latent heat</a:t>
            </a:r>
            <a:endParaRPr lang="en-US" sz="1800" dirty="0"/>
          </a:p>
        </p:txBody>
      </p:sp>
      <p:sp>
        <p:nvSpPr>
          <p:cNvPr id="8" name="Shape 6"/>
          <p:cNvSpPr/>
          <p:nvPr/>
        </p:nvSpPr>
        <p:spPr>
          <a:xfrm>
            <a:off x="731520" y="3017520"/>
            <a:ext cx="2011680" cy="0"/>
          </a:xfrm>
          <a:prstGeom prst="line">
            <a:avLst/>
          </a:prstGeom>
          <a:noFill/>
          <a:ln w="31750">
            <a:solidFill>
              <a:srgbClr val="F5A742"/>
            </a:solidFill>
            <a:prstDash val="solid"/>
          </a:ln>
        </p:spPr>
      </p:sp>
      <p:sp>
        <p:nvSpPr>
          <p:cNvPr id="9" name="Text 7"/>
          <p:cNvSpPr/>
          <p:nvPr/>
        </p:nvSpPr>
        <p:spPr>
          <a:xfrm>
            <a:off x="731520" y="3154680"/>
            <a:ext cx="8046720" cy="365760"/>
          </a:xfrm>
          <a:prstGeom prst="rect">
            <a:avLst/>
          </a:prstGeom>
          <a:noFill/>
          <a:ln/>
        </p:spPr>
        <p:txBody>
          <a:bodyPr wrap="square" lIns="0" tIns="0" rIns="0" bIns="0" rtlCol="0" anchor="ctr"/>
          <a:lstStyle/>
          <a:p>
            <a:pPr indent="0" marL="0">
              <a:buNone/>
            </a:pPr>
            <a:r>
              <a:rPr lang="en-US" sz="1300" dirty="0">
                <a:solidFill>
                  <a:srgbClr val="DCE4F7"/>
                </a:solidFill>
                <a:latin typeface="Calibri" pitchFamily="34" charset="0"/>
                <a:ea typeface="Calibri" pitchFamily="34" charset="-122"/>
                <a:cs typeface="Calibri" pitchFamily="34" charset="-120"/>
              </a:rPr>
              <a:t>Particle model  •  Density  •  Change of state  •  Internal energy  •  Specific heat capacity  •  Specific latent heat</a:t>
            </a:r>
            <a:endParaRPr lang="en-US" sz="1300" dirty="0"/>
          </a:p>
        </p:txBody>
      </p:sp>
      <p:sp>
        <p:nvSpPr>
          <p:cNvPr id="10" name="Shape 8"/>
          <p:cNvSpPr/>
          <p:nvPr/>
        </p:nvSpPr>
        <p:spPr>
          <a:xfrm>
            <a:off x="731520" y="3886200"/>
            <a:ext cx="457200" cy="457200"/>
          </a:xfrm>
          <a:prstGeom prst="ellipse">
            <a:avLst/>
          </a:prstGeom>
          <a:solidFill>
            <a:srgbClr val="3A63C9"/>
          </a:solidFill>
          <a:ln w="12700">
            <a:solidFill>
              <a:srgbClr val="9FB8F0"/>
            </a:solidFill>
            <a:prstDash val="solid"/>
          </a:ln>
        </p:spPr>
      </p:sp>
      <p:sp>
        <p:nvSpPr>
          <p:cNvPr id="11" name="Text 9"/>
          <p:cNvSpPr/>
          <p:nvPr/>
        </p:nvSpPr>
        <p:spPr>
          <a:xfrm>
            <a:off x="731520" y="3886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371600" y="3886200"/>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Specification P6.1.1–P6.1.8 • PAG P1 density • PAG P5 specific heat capacity</a:t>
            </a:r>
            <a:endParaRPr lang="en-US" sz="1400" dirty="0"/>
          </a:p>
        </p:txBody>
      </p:sp>
      <p:sp>
        <p:nvSpPr>
          <p:cNvPr id="13" name="Shape 11"/>
          <p:cNvSpPr/>
          <p:nvPr/>
        </p:nvSpPr>
        <p:spPr>
          <a:xfrm>
            <a:off x="731520" y="4507992"/>
            <a:ext cx="457200" cy="457200"/>
          </a:xfrm>
          <a:prstGeom prst="ellipse">
            <a:avLst/>
          </a:prstGeom>
          <a:solidFill>
            <a:srgbClr val="3A63C9"/>
          </a:solidFill>
          <a:ln w="12700">
            <a:solidFill>
              <a:srgbClr val="9FB8F0"/>
            </a:solidFill>
            <a:prstDash val="solid"/>
          </a:ln>
        </p:spPr>
      </p:sp>
      <p:sp>
        <p:nvSpPr>
          <p:cNvPr id="14" name="Text 12"/>
          <p:cNvSpPr/>
          <p:nvPr/>
        </p:nvSpPr>
        <p:spPr>
          <a:xfrm>
            <a:off x="731520" y="45079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t>
            </a:r>
            <a:endParaRPr lang="en-US" sz="1500" dirty="0"/>
          </a:p>
        </p:txBody>
      </p:sp>
      <p:sp>
        <p:nvSpPr>
          <p:cNvPr id="15" name="Text 13"/>
          <p:cNvSpPr/>
          <p:nvPr/>
        </p:nvSpPr>
        <p:spPr>
          <a:xfrm>
            <a:off x="1371600" y="4507992"/>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Higher &amp; Foundation in one deck • no Higher-only statements found in P6.1 • stretch items marked</a:t>
            </a:r>
            <a:endParaRPr lang="en-US" sz="1400" dirty="0"/>
          </a:p>
        </p:txBody>
      </p:sp>
      <p:sp>
        <p:nvSpPr>
          <p:cNvPr id="16" name="Shape 14"/>
          <p:cNvSpPr/>
          <p:nvPr/>
        </p:nvSpPr>
        <p:spPr>
          <a:xfrm>
            <a:off x="731520" y="5129784"/>
            <a:ext cx="457200" cy="457200"/>
          </a:xfrm>
          <a:prstGeom prst="ellipse">
            <a:avLst/>
          </a:prstGeom>
          <a:solidFill>
            <a:srgbClr val="3A63C9"/>
          </a:solidFill>
          <a:ln w="12700">
            <a:solidFill>
              <a:srgbClr val="9FB8F0"/>
            </a:solidFill>
            <a:prstDash val="solid"/>
          </a:ln>
        </p:spPr>
      </p:sp>
      <p:sp>
        <p:nvSpPr>
          <p:cNvPr id="17" name="Text 15"/>
          <p:cNvSpPr/>
          <p:nvPr/>
        </p:nvSpPr>
        <p:spPr>
          <a:xfrm>
            <a:off x="731520" y="51297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ρ</a:t>
            </a:r>
            <a:endParaRPr lang="en-US" sz="1500" dirty="0"/>
          </a:p>
        </p:txBody>
      </p:sp>
      <p:sp>
        <p:nvSpPr>
          <p:cNvPr id="18" name="Text 16"/>
          <p:cNvSpPr/>
          <p:nvPr/>
        </p:nvSpPr>
        <p:spPr>
          <a:xfrm>
            <a:off x="1371600" y="5129784"/>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Changes of state • density • internal energy • ΔE = mcΔθ • E = mL • heating curves</a:t>
            </a:r>
            <a:endParaRPr lang="en-US" sz="1400" dirty="0"/>
          </a:p>
        </p:txBody>
      </p:sp>
      <p:sp>
        <p:nvSpPr>
          <p:cNvPr id="19" name="Shape 17"/>
          <p:cNvSpPr/>
          <p:nvPr/>
        </p:nvSpPr>
        <p:spPr>
          <a:xfrm>
            <a:off x="731520" y="5769864"/>
            <a:ext cx="5582412" cy="365760"/>
          </a:xfrm>
          <a:prstGeom prst="roundRect">
            <a:avLst>
              <a:gd name="adj" fmla="val 50000"/>
            </a:avLst>
          </a:prstGeom>
          <a:solidFill>
            <a:srgbClr val="16213E"/>
          </a:solidFill>
          <a:ln w="15875">
            <a:solidFill>
              <a:srgbClr val="F5A742"/>
            </a:solidFill>
            <a:prstDash val="solid"/>
          </a:ln>
        </p:spPr>
      </p:sp>
      <p:sp>
        <p:nvSpPr>
          <p:cNvPr id="20" name="Text 18"/>
          <p:cNvSpPr/>
          <p:nvPr/>
        </p:nvSpPr>
        <p:spPr>
          <a:xfrm>
            <a:off x="731520" y="5769864"/>
            <a:ext cx="5582412" cy="365760"/>
          </a:xfrm>
          <a:prstGeom prst="rect">
            <a:avLst/>
          </a:prstGeom>
          <a:noFill/>
          <a:ln/>
        </p:spPr>
        <p:txBody>
          <a:bodyPr wrap="square" lIns="0" tIns="0" rIns="0" bIns="0" rtlCol="0" anchor="ctr"/>
          <a:lstStyle/>
          <a:p>
            <a:pPr algn="ctr" indent="0" marL="0">
              <a:buNone/>
            </a:pPr>
            <a:r>
              <a:rPr lang="en-US" sz="1200" b="1" dirty="0">
                <a:solidFill>
                  <a:srgbClr val="F5A742"/>
                </a:solidFill>
                <a:latin typeface="Calibri" pitchFamily="34" charset="0"/>
                <a:ea typeface="Calibri" pitchFamily="34" charset="-122"/>
                <a:cs typeface="Calibri" pitchFamily="34" charset="-120"/>
              </a:rPr>
              <a:t>Part 1 of 3 in Chapter P6: Matter – models and explanations</a:t>
            </a:r>
            <a:endParaRPr lang="en-US" sz="1200" dirty="0"/>
          </a:p>
        </p:txBody>
      </p:sp>
      <p:sp>
        <p:nvSpPr>
          <p:cNvPr id="21" name="Text 19"/>
          <p:cNvSpPr/>
          <p:nvPr/>
        </p:nvSpPr>
        <p:spPr>
          <a:xfrm>
            <a:off x="731520" y="6172200"/>
            <a:ext cx="8229600" cy="274320"/>
          </a:xfrm>
          <a:prstGeom prst="rect">
            <a:avLst/>
          </a:prstGeom>
          <a:noFill/>
          <a:ln/>
        </p:spPr>
        <p:txBody>
          <a:bodyPr wrap="square" lIns="0" tIns="0" rIns="0" bIns="0" rtlCol="0" anchor="ctr"/>
          <a:lstStyle/>
          <a:p>
            <a:pPr indent="0" marL="0">
              <a:buNone/>
            </a:pPr>
            <a:r>
              <a:rPr lang="en-US" sz="1000" i="1" dirty="0">
                <a:solidFill>
                  <a:srgbClr val="A9B4CF"/>
                </a:solidFill>
                <a:latin typeface="Calibri" pitchFamily="34" charset="0"/>
                <a:ea typeface="Calibri" pitchFamily="34" charset="-122"/>
                <a:cs typeface="Calibri" pitchFamily="34" charset="-120"/>
              </a:rPr>
              <a:t>OCR J260 Combined Science B • P6.1 How does energy transform matter? • teacher deck • mark schemes and answers in the speaker notes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Learning objectives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P6.1.1–P6.1.8 • by the end of this sub-topic you can…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P6.1 How does energy transform matter?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Objectives  |  2</a:t>
            </a:r>
            <a:endParaRPr lang="en-US" sz="1000" dirty="0"/>
          </a:p>
        </p:txBody>
      </p:sp>
      <p:sp>
        <p:nvSpPr>
          <p:cNvPr id="8" name="Shape 6"/>
          <p:cNvSpPr/>
          <p:nvPr/>
        </p:nvSpPr>
        <p:spPr>
          <a:xfrm>
            <a:off x="502920" y="1325880"/>
            <a:ext cx="457200" cy="457200"/>
          </a:xfrm>
          <a:prstGeom prst="ellipse">
            <a:avLst/>
          </a:prstGeom>
          <a:solidFill>
            <a:srgbClr val="2E5BD8"/>
          </a:solidFill>
          <a:ln w="12700">
            <a:solidFill>
              <a:srgbClr val="2E5BD8"/>
            </a:solidFill>
            <a:prstDash val="solid"/>
          </a:ln>
        </p:spPr>
      </p:sp>
      <p:sp>
        <p:nvSpPr>
          <p:cNvPr id="9" name="Text 7"/>
          <p:cNvSpPr/>
          <p:nvPr/>
        </p:nvSpPr>
        <p:spPr>
          <a:xfrm>
            <a:off x="50292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0" name="Text 8"/>
          <p:cNvSpPr/>
          <p:nvPr/>
        </p:nvSpPr>
        <p:spPr>
          <a:xfrm>
            <a:off x="1097280" y="128016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P6.1.1   </a:t>
            </a:r>
            <a:r>
              <a:rPr lang="en-US" sz="1200" dirty="0">
                <a:solidFill>
                  <a:srgbClr val="262B3A"/>
                </a:solidFill>
                <a:latin typeface="Calibri" pitchFamily="34" charset="0"/>
                <a:ea typeface="Calibri" pitchFamily="34" charset="-122"/>
                <a:cs typeface="Calibri" pitchFamily="34" charset="-120"/>
              </a:rPr>
              <a:t>Describe how </a:t>
            </a:r>
            <a:r>
              <a:rPr lang="en-US" sz="1200" b="1" dirty="0">
                <a:solidFill>
                  <a:srgbClr val="262B3A"/>
                </a:solidFill>
                <a:latin typeface="Calibri" pitchFamily="34" charset="0"/>
                <a:ea typeface="Calibri" pitchFamily="34" charset="-122"/>
                <a:cs typeface="Calibri" pitchFamily="34" charset="-120"/>
              </a:rPr>
              <a:t>mass is conserved</a:t>
            </a:r>
            <a:r>
              <a:rPr lang="en-US" sz="1200" dirty="0">
                <a:solidFill>
                  <a:srgbClr val="262B3A"/>
                </a:solidFill>
                <a:latin typeface="Calibri" pitchFamily="34" charset="0"/>
                <a:ea typeface="Calibri" pitchFamily="34" charset="-122"/>
                <a:cs typeface="Calibri" pitchFamily="34" charset="-120"/>
              </a:rPr>
              <a:t> when substances melt, freeze, evaporate, condense or sublimate.</a:t>
            </a:r>
            <a:endParaRPr lang="en-US" sz="1100" dirty="0"/>
          </a:p>
        </p:txBody>
      </p:sp>
      <p:sp>
        <p:nvSpPr>
          <p:cNvPr id="11" name="Shape 9"/>
          <p:cNvSpPr/>
          <p:nvPr/>
        </p:nvSpPr>
        <p:spPr>
          <a:xfrm>
            <a:off x="502920" y="2194560"/>
            <a:ext cx="457200" cy="457200"/>
          </a:xfrm>
          <a:prstGeom prst="ellipse">
            <a:avLst/>
          </a:prstGeom>
          <a:solidFill>
            <a:srgbClr val="2E5BD8"/>
          </a:solidFill>
          <a:ln w="12700">
            <a:solidFill>
              <a:srgbClr val="2E5BD8"/>
            </a:solidFill>
            <a:prstDash val="solid"/>
          </a:ln>
        </p:spPr>
      </p:sp>
      <p:sp>
        <p:nvSpPr>
          <p:cNvPr id="12" name="Text 10"/>
          <p:cNvSpPr/>
          <p:nvPr/>
        </p:nvSpPr>
        <p:spPr>
          <a:xfrm>
            <a:off x="50292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097280" y="214884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P6.1.2   </a:t>
            </a:r>
            <a:r>
              <a:rPr lang="en-US" sz="1200" dirty="0">
                <a:solidFill>
                  <a:srgbClr val="262B3A"/>
                </a:solidFill>
                <a:latin typeface="Calibri" pitchFamily="34" charset="0"/>
                <a:ea typeface="Calibri" pitchFamily="34" charset="-122"/>
                <a:cs typeface="Calibri" pitchFamily="34" charset="-120"/>
              </a:rPr>
              <a:t>Describe how these </a:t>
            </a:r>
            <a:r>
              <a:rPr lang="en-US" sz="1200" b="1" dirty="0">
                <a:solidFill>
                  <a:srgbClr val="262B3A"/>
                </a:solidFill>
                <a:latin typeface="Calibri" pitchFamily="34" charset="0"/>
                <a:ea typeface="Calibri" pitchFamily="34" charset="-122"/>
                <a:cs typeface="Calibri" pitchFamily="34" charset="-120"/>
              </a:rPr>
              <a:t>physical changes</a:t>
            </a:r>
            <a:r>
              <a:rPr lang="en-US" sz="1200" dirty="0">
                <a:solidFill>
                  <a:srgbClr val="262B3A"/>
                </a:solidFill>
                <a:latin typeface="Calibri" pitchFamily="34" charset="0"/>
                <a:ea typeface="Calibri" pitchFamily="34" charset="-122"/>
                <a:cs typeface="Calibri" pitchFamily="34" charset="-120"/>
              </a:rPr>
              <a:t> differ from </a:t>
            </a:r>
            <a:r>
              <a:rPr lang="en-US" sz="1200" b="1" dirty="0">
                <a:solidFill>
                  <a:srgbClr val="262B3A"/>
                </a:solidFill>
                <a:latin typeface="Calibri" pitchFamily="34" charset="0"/>
                <a:ea typeface="Calibri" pitchFamily="34" charset="-122"/>
                <a:cs typeface="Calibri" pitchFamily="34" charset="-120"/>
              </a:rPr>
              <a:t>chemical changes</a:t>
            </a:r>
            <a:r>
              <a:rPr lang="en-US" sz="1200" dirty="0">
                <a:solidFill>
                  <a:srgbClr val="262B3A"/>
                </a:solidFill>
                <a:latin typeface="Calibri" pitchFamily="34" charset="0"/>
                <a:ea typeface="Calibri" pitchFamily="34" charset="-122"/>
                <a:cs typeface="Calibri" pitchFamily="34" charset="-120"/>
              </a:rPr>
              <a:t>: the material recovers its properties if reversed.</a:t>
            </a:r>
            <a:endParaRPr lang="en-US" sz="1100" dirty="0"/>
          </a:p>
        </p:txBody>
      </p:sp>
      <p:sp>
        <p:nvSpPr>
          <p:cNvPr id="14" name="Shape 12"/>
          <p:cNvSpPr/>
          <p:nvPr/>
        </p:nvSpPr>
        <p:spPr>
          <a:xfrm>
            <a:off x="502920" y="3063240"/>
            <a:ext cx="457200" cy="457200"/>
          </a:xfrm>
          <a:prstGeom prst="ellipse">
            <a:avLst/>
          </a:prstGeom>
          <a:solidFill>
            <a:srgbClr val="2E5BD8"/>
          </a:solidFill>
          <a:ln w="12700">
            <a:solidFill>
              <a:srgbClr val="2E5BD8"/>
            </a:solidFill>
            <a:prstDash val="solid"/>
          </a:ln>
        </p:spPr>
      </p:sp>
      <p:sp>
        <p:nvSpPr>
          <p:cNvPr id="15" name="Text 13"/>
          <p:cNvSpPr/>
          <p:nvPr/>
        </p:nvSpPr>
        <p:spPr>
          <a:xfrm>
            <a:off x="50292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6" name="Text 14"/>
          <p:cNvSpPr/>
          <p:nvPr/>
        </p:nvSpPr>
        <p:spPr>
          <a:xfrm>
            <a:off x="1097280" y="301752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P6.1.3   </a:t>
            </a:r>
            <a:r>
              <a:rPr lang="en-US" sz="1200" dirty="0">
                <a:solidFill>
                  <a:srgbClr val="262B3A"/>
                </a:solidFill>
                <a:latin typeface="Calibri" pitchFamily="34" charset="0"/>
                <a:ea typeface="Calibri" pitchFamily="34" charset="-122"/>
                <a:cs typeface="Calibri" pitchFamily="34" charset="-120"/>
              </a:rPr>
              <a:t>Explain the differences in </a:t>
            </a:r>
            <a:r>
              <a:rPr lang="en-US" sz="1200" b="1" dirty="0">
                <a:solidFill>
                  <a:srgbClr val="262B3A"/>
                </a:solidFill>
                <a:latin typeface="Calibri" pitchFamily="34" charset="0"/>
                <a:ea typeface="Calibri" pitchFamily="34" charset="-122"/>
                <a:cs typeface="Calibri" pitchFamily="34" charset="-120"/>
              </a:rPr>
              <a:t>density</a:t>
            </a:r>
            <a:r>
              <a:rPr lang="en-US" sz="1200" dirty="0">
                <a:solidFill>
                  <a:srgbClr val="262B3A"/>
                </a:solidFill>
                <a:latin typeface="Calibri" pitchFamily="34" charset="0"/>
                <a:ea typeface="Calibri" pitchFamily="34" charset="-122"/>
                <a:cs typeface="Calibri" pitchFamily="34" charset="-120"/>
              </a:rPr>
              <a:t> between solids, liquids and gases using the </a:t>
            </a:r>
            <a:r>
              <a:rPr lang="en-US" sz="1200" b="1" dirty="0">
                <a:solidFill>
                  <a:srgbClr val="262B3A"/>
                </a:solidFill>
                <a:latin typeface="Calibri" pitchFamily="34" charset="0"/>
                <a:ea typeface="Calibri" pitchFamily="34" charset="-122"/>
                <a:cs typeface="Calibri" pitchFamily="34" charset="-120"/>
              </a:rPr>
              <a:t>arrangement of particles</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17" name="Shape 15"/>
          <p:cNvSpPr/>
          <p:nvPr/>
        </p:nvSpPr>
        <p:spPr>
          <a:xfrm>
            <a:off x="502920" y="3931920"/>
            <a:ext cx="457200" cy="457200"/>
          </a:xfrm>
          <a:prstGeom prst="ellipse">
            <a:avLst/>
          </a:prstGeom>
          <a:solidFill>
            <a:srgbClr val="2E5BD8"/>
          </a:solidFill>
          <a:ln w="12700">
            <a:solidFill>
              <a:srgbClr val="2E5BD8"/>
            </a:solidFill>
            <a:prstDash val="solid"/>
          </a:ln>
        </p:spPr>
      </p:sp>
      <p:sp>
        <p:nvSpPr>
          <p:cNvPr id="18" name="Text 16"/>
          <p:cNvSpPr/>
          <p:nvPr/>
        </p:nvSpPr>
        <p:spPr>
          <a:xfrm>
            <a:off x="50292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19" name="Text 17"/>
          <p:cNvSpPr/>
          <p:nvPr/>
        </p:nvSpPr>
        <p:spPr>
          <a:xfrm>
            <a:off x="1097280" y="388620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P6.1.4   </a:t>
            </a:r>
            <a:r>
              <a:rPr lang="en-US" sz="1200" dirty="0">
                <a:solidFill>
                  <a:srgbClr val="262B3A"/>
                </a:solidFill>
                <a:latin typeface="Calibri" pitchFamily="34" charset="0"/>
                <a:ea typeface="Calibri" pitchFamily="34" charset="-122"/>
                <a:cs typeface="Calibri" pitchFamily="34" charset="-120"/>
              </a:rPr>
              <a:t>Recall and apply </a:t>
            </a:r>
            <a:r>
              <a:rPr lang="en-US" sz="1200" b="1" dirty="0">
                <a:solidFill>
                  <a:srgbClr val="262B3A"/>
                </a:solidFill>
                <a:latin typeface="Calibri" pitchFamily="34" charset="0"/>
                <a:ea typeface="Calibri" pitchFamily="34" charset="-122"/>
                <a:cs typeface="Calibri" pitchFamily="34" charset="-120"/>
              </a:rPr>
              <a:t>ρ = m ÷ V</a:t>
            </a:r>
            <a:r>
              <a:rPr lang="en-US" sz="1200" dirty="0">
                <a:solidFill>
                  <a:srgbClr val="262B3A"/>
                </a:solidFill>
                <a:latin typeface="Calibri" pitchFamily="34" charset="0"/>
                <a:ea typeface="Calibri" pitchFamily="34" charset="-122"/>
                <a:cs typeface="Calibri" pitchFamily="34" charset="-120"/>
              </a:rPr>
              <a:t>, including to changes where mass is conserved (PAG P1).</a:t>
            </a:r>
            <a:endParaRPr lang="en-US" sz="1100" dirty="0"/>
          </a:p>
        </p:txBody>
      </p:sp>
      <p:sp>
        <p:nvSpPr>
          <p:cNvPr id="20" name="Shape 18"/>
          <p:cNvSpPr/>
          <p:nvPr/>
        </p:nvSpPr>
        <p:spPr>
          <a:xfrm>
            <a:off x="6263640" y="1325880"/>
            <a:ext cx="457200" cy="457200"/>
          </a:xfrm>
          <a:prstGeom prst="ellipse">
            <a:avLst/>
          </a:prstGeom>
          <a:solidFill>
            <a:srgbClr val="2E5BD8"/>
          </a:solidFill>
          <a:ln w="12700">
            <a:solidFill>
              <a:srgbClr val="2E5BD8"/>
            </a:solidFill>
            <a:prstDash val="solid"/>
          </a:ln>
        </p:spPr>
      </p:sp>
      <p:sp>
        <p:nvSpPr>
          <p:cNvPr id="21" name="Text 19"/>
          <p:cNvSpPr/>
          <p:nvPr/>
        </p:nvSpPr>
        <p:spPr>
          <a:xfrm>
            <a:off x="626364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2" name="Text 20"/>
          <p:cNvSpPr/>
          <p:nvPr/>
        </p:nvSpPr>
        <p:spPr>
          <a:xfrm>
            <a:off x="6858000" y="128016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P6.1.5   </a:t>
            </a:r>
            <a:r>
              <a:rPr lang="en-US" sz="1200" dirty="0">
                <a:solidFill>
                  <a:srgbClr val="262B3A"/>
                </a:solidFill>
                <a:latin typeface="Calibri" pitchFamily="34" charset="0"/>
                <a:ea typeface="Calibri" pitchFamily="34" charset="-122"/>
                <a:cs typeface="Calibri" pitchFamily="34" charset="-120"/>
              </a:rPr>
              <a:t>Describe how heating changes the </a:t>
            </a:r>
            <a:r>
              <a:rPr lang="en-US" sz="1200" b="1" dirty="0">
                <a:solidFill>
                  <a:srgbClr val="262B3A"/>
                </a:solidFill>
                <a:latin typeface="Calibri" pitchFamily="34" charset="0"/>
                <a:ea typeface="Calibri" pitchFamily="34" charset="-122"/>
                <a:cs typeface="Calibri" pitchFamily="34" charset="-120"/>
              </a:rPr>
              <a:t>internal energy</a:t>
            </a:r>
            <a:r>
              <a:rPr lang="en-US" sz="1200" dirty="0">
                <a:solidFill>
                  <a:srgbClr val="262B3A"/>
                </a:solidFill>
                <a:latin typeface="Calibri" pitchFamily="34" charset="0"/>
                <a:ea typeface="Calibri" pitchFamily="34" charset="-122"/>
                <a:cs typeface="Calibri" pitchFamily="34" charset="-120"/>
              </a:rPr>
              <a:t> of a system: it raises the temperature or changes the state.</a:t>
            </a:r>
            <a:endParaRPr lang="en-US" sz="1100" dirty="0"/>
          </a:p>
        </p:txBody>
      </p:sp>
      <p:sp>
        <p:nvSpPr>
          <p:cNvPr id="23" name="Shape 21"/>
          <p:cNvSpPr/>
          <p:nvPr/>
        </p:nvSpPr>
        <p:spPr>
          <a:xfrm>
            <a:off x="6263640" y="2194560"/>
            <a:ext cx="457200" cy="457200"/>
          </a:xfrm>
          <a:prstGeom prst="ellipse">
            <a:avLst/>
          </a:prstGeom>
          <a:solidFill>
            <a:srgbClr val="2E5BD8"/>
          </a:solidFill>
          <a:ln w="12700">
            <a:solidFill>
              <a:srgbClr val="2E5BD8"/>
            </a:solidFill>
            <a:prstDash val="solid"/>
          </a:ln>
        </p:spPr>
      </p:sp>
      <p:sp>
        <p:nvSpPr>
          <p:cNvPr id="24" name="Text 22"/>
          <p:cNvSpPr/>
          <p:nvPr/>
        </p:nvSpPr>
        <p:spPr>
          <a:xfrm>
            <a:off x="626364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25" name="Text 23"/>
          <p:cNvSpPr/>
          <p:nvPr/>
        </p:nvSpPr>
        <p:spPr>
          <a:xfrm>
            <a:off x="6858000" y="214884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P6.1.6   </a:t>
            </a:r>
            <a:r>
              <a:rPr lang="en-US" sz="1200" dirty="0">
                <a:solidFill>
                  <a:srgbClr val="262B3A"/>
                </a:solidFill>
                <a:latin typeface="Calibri" pitchFamily="34" charset="0"/>
                <a:ea typeface="Calibri" pitchFamily="34" charset="-122"/>
                <a:cs typeface="Calibri" pitchFamily="34" charset="-120"/>
              </a:rPr>
              <a:t>Define </a:t>
            </a:r>
            <a:r>
              <a:rPr lang="en-US" sz="1200" b="1" dirty="0">
                <a:solidFill>
                  <a:srgbClr val="262B3A"/>
                </a:solidFill>
                <a:latin typeface="Calibri" pitchFamily="34" charset="0"/>
                <a:ea typeface="Calibri" pitchFamily="34" charset="-122"/>
                <a:cs typeface="Calibri" pitchFamily="34" charset="-120"/>
              </a:rPr>
              <a:t>specific heat capacity</a:t>
            </a:r>
            <a:r>
              <a:rPr lang="en-US" sz="1200" dirty="0">
                <a:solidFill>
                  <a:srgbClr val="262B3A"/>
                </a:solidFill>
                <a:latin typeface="Calibri" pitchFamily="34" charset="0"/>
                <a:ea typeface="Calibri" pitchFamily="34" charset="-122"/>
                <a:cs typeface="Calibri" pitchFamily="34" charset="-120"/>
              </a:rPr>
              <a:t> and distinguish it from </a:t>
            </a:r>
            <a:r>
              <a:rPr lang="en-US" sz="1200" b="1" dirty="0">
                <a:solidFill>
                  <a:srgbClr val="262B3A"/>
                </a:solidFill>
                <a:latin typeface="Calibri" pitchFamily="34" charset="0"/>
                <a:ea typeface="Calibri" pitchFamily="34" charset="-122"/>
                <a:cs typeface="Calibri" pitchFamily="34" charset="-120"/>
              </a:rPr>
              <a:t>specific latent heat</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26" name="Shape 24"/>
          <p:cNvSpPr/>
          <p:nvPr/>
        </p:nvSpPr>
        <p:spPr>
          <a:xfrm>
            <a:off x="6263640" y="3063240"/>
            <a:ext cx="457200" cy="457200"/>
          </a:xfrm>
          <a:prstGeom prst="ellipse">
            <a:avLst/>
          </a:prstGeom>
          <a:solidFill>
            <a:srgbClr val="2E5BD8"/>
          </a:solidFill>
          <a:ln w="12700">
            <a:solidFill>
              <a:srgbClr val="2E5BD8"/>
            </a:solidFill>
            <a:prstDash val="solid"/>
          </a:ln>
        </p:spPr>
      </p:sp>
      <p:sp>
        <p:nvSpPr>
          <p:cNvPr id="27" name="Text 25"/>
          <p:cNvSpPr/>
          <p:nvPr/>
        </p:nvSpPr>
        <p:spPr>
          <a:xfrm>
            <a:off x="626364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7</a:t>
            </a:r>
            <a:endParaRPr lang="en-US" sz="1600" dirty="0"/>
          </a:p>
        </p:txBody>
      </p:sp>
      <p:sp>
        <p:nvSpPr>
          <p:cNvPr id="28" name="Text 26"/>
          <p:cNvSpPr/>
          <p:nvPr/>
        </p:nvSpPr>
        <p:spPr>
          <a:xfrm>
            <a:off x="6858000" y="301752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P6.1.7   </a:t>
            </a:r>
            <a:r>
              <a:rPr lang="en-US" sz="1200" dirty="0">
                <a:solidFill>
                  <a:srgbClr val="262B3A"/>
                </a:solidFill>
                <a:latin typeface="Calibri" pitchFamily="34" charset="0"/>
                <a:ea typeface="Calibri" pitchFamily="34" charset="-122"/>
                <a:cs typeface="Calibri" pitchFamily="34" charset="-120"/>
              </a:rPr>
              <a:t>Apply </a:t>
            </a:r>
            <a:r>
              <a:rPr lang="en-US" sz="1200" b="1" dirty="0">
                <a:solidFill>
                  <a:srgbClr val="262B3A"/>
                </a:solidFill>
                <a:latin typeface="Calibri" pitchFamily="34" charset="0"/>
                <a:ea typeface="Calibri" pitchFamily="34" charset="-122"/>
                <a:cs typeface="Calibri" pitchFamily="34" charset="-120"/>
              </a:rPr>
              <a:t>ΔE = m × c × Δθ</a:t>
            </a:r>
            <a:r>
              <a:rPr lang="en-US" sz="1200" dirty="0">
                <a:solidFill>
                  <a:srgbClr val="262B3A"/>
                </a:solidFill>
                <a:latin typeface="Calibri" pitchFamily="34" charset="0"/>
                <a:ea typeface="Calibri" pitchFamily="34" charset="-122"/>
                <a:cs typeface="Calibri" pitchFamily="34" charset="-120"/>
              </a:rPr>
              <a:t> to calculate energy changes (PAG P5).</a:t>
            </a:r>
            <a:endParaRPr lang="en-US" sz="1100" dirty="0"/>
          </a:p>
        </p:txBody>
      </p:sp>
      <p:sp>
        <p:nvSpPr>
          <p:cNvPr id="29" name="Shape 27"/>
          <p:cNvSpPr/>
          <p:nvPr/>
        </p:nvSpPr>
        <p:spPr>
          <a:xfrm>
            <a:off x="6263640" y="3931920"/>
            <a:ext cx="457200" cy="457200"/>
          </a:xfrm>
          <a:prstGeom prst="ellipse">
            <a:avLst/>
          </a:prstGeom>
          <a:solidFill>
            <a:srgbClr val="2E5BD8"/>
          </a:solidFill>
          <a:ln w="12700">
            <a:solidFill>
              <a:srgbClr val="2E5BD8"/>
            </a:solidFill>
            <a:prstDash val="solid"/>
          </a:ln>
        </p:spPr>
      </p:sp>
      <p:sp>
        <p:nvSpPr>
          <p:cNvPr id="30" name="Text 28"/>
          <p:cNvSpPr/>
          <p:nvPr/>
        </p:nvSpPr>
        <p:spPr>
          <a:xfrm>
            <a:off x="626364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8</a:t>
            </a:r>
            <a:endParaRPr lang="en-US" sz="1600" dirty="0"/>
          </a:p>
        </p:txBody>
      </p:sp>
      <p:sp>
        <p:nvSpPr>
          <p:cNvPr id="31" name="Text 29"/>
          <p:cNvSpPr/>
          <p:nvPr/>
        </p:nvSpPr>
        <p:spPr>
          <a:xfrm>
            <a:off x="6858000" y="388620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P6.1.8   </a:t>
            </a:r>
            <a:r>
              <a:rPr lang="en-US" sz="1200" dirty="0">
                <a:solidFill>
                  <a:srgbClr val="262B3A"/>
                </a:solidFill>
                <a:latin typeface="Calibri" pitchFamily="34" charset="0"/>
                <a:ea typeface="Calibri" pitchFamily="34" charset="-122"/>
                <a:cs typeface="Calibri" pitchFamily="34" charset="-120"/>
              </a:rPr>
              <a:t>Apply </a:t>
            </a:r>
            <a:r>
              <a:rPr lang="en-US" sz="1200" b="1" dirty="0">
                <a:solidFill>
                  <a:srgbClr val="262B3A"/>
                </a:solidFill>
                <a:latin typeface="Calibri" pitchFamily="34" charset="0"/>
                <a:ea typeface="Calibri" pitchFamily="34" charset="-122"/>
                <a:cs typeface="Calibri" pitchFamily="34" charset="-120"/>
              </a:rPr>
              <a:t>E = m × L</a:t>
            </a:r>
            <a:r>
              <a:rPr lang="en-US" sz="1200" dirty="0">
                <a:solidFill>
                  <a:srgbClr val="262B3A"/>
                </a:solidFill>
                <a:latin typeface="Calibri" pitchFamily="34" charset="0"/>
                <a:ea typeface="Calibri" pitchFamily="34" charset="-122"/>
                <a:cs typeface="Calibri" pitchFamily="34" charset="-120"/>
              </a:rPr>
              <a:t> to changes of state, and interpret </a:t>
            </a:r>
            <a:r>
              <a:rPr lang="en-US" sz="1200" b="1" dirty="0">
                <a:solidFill>
                  <a:srgbClr val="262B3A"/>
                </a:solidFill>
                <a:latin typeface="Calibri" pitchFamily="34" charset="0"/>
                <a:ea typeface="Calibri" pitchFamily="34" charset="-122"/>
                <a:cs typeface="Calibri" pitchFamily="34" charset="-120"/>
              </a:rPr>
              <a:t>heating curves</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Where this fits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Chapter P6 Matter – models and explanations • P6.1 is Part 1 of 3 in Combined Science B</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P6.1 How does energy transform matter?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Context  |  3</a:t>
            </a:r>
            <a:endParaRPr lang="en-US" sz="1000" dirty="0"/>
          </a:p>
        </p:txBody>
      </p:sp>
      <p:sp>
        <p:nvSpPr>
          <p:cNvPr id="8" name="Shape 6"/>
          <p:cNvSpPr/>
          <p:nvPr/>
        </p:nvSpPr>
        <p:spPr>
          <a:xfrm>
            <a:off x="411480" y="1234440"/>
            <a:ext cx="2103120" cy="685800"/>
          </a:xfrm>
          <a:prstGeom prst="roundRect">
            <a:avLst>
              <a:gd name="adj" fmla="val 8000"/>
            </a:avLst>
          </a:prstGeom>
          <a:solidFill>
            <a:srgbClr val="1A2340"/>
          </a:solidFill>
          <a:ln/>
        </p:spPr>
      </p:sp>
      <p:sp>
        <p:nvSpPr>
          <p:cNvPr id="9" name="Text 7"/>
          <p:cNvSpPr/>
          <p:nvPr/>
        </p:nvSpPr>
        <p:spPr>
          <a:xfrm>
            <a:off x="411480" y="1234440"/>
            <a:ext cx="2103120"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P6.1</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How does energy transform matter?</a:t>
            </a:r>
            <a:endParaRPr lang="en-US" sz="1150" dirty="0"/>
          </a:p>
        </p:txBody>
      </p:sp>
      <p:sp>
        <p:nvSpPr>
          <p:cNvPr id="10" name="Shape 8"/>
          <p:cNvSpPr/>
          <p:nvPr/>
        </p:nvSpPr>
        <p:spPr>
          <a:xfrm>
            <a:off x="914400" y="1920240"/>
            <a:ext cx="91" cy="3758184"/>
          </a:xfrm>
          <a:prstGeom prst="line">
            <a:avLst/>
          </a:prstGeom>
          <a:noFill/>
          <a:ln w="19050">
            <a:solidFill>
              <a:srgbClr val="2E5BD8"/>
            </a:solidFill>
            <a:prstDash val="solid"/>
          </a:ln>
        </p:spPr>
      </p:sp>
      <p:sp>
        <p:nvSpPr>
          <p:cNvPr id="11" name="Shape 9"/>
          <p:cNvSpPr/>
          <p:nvPr/>
        </p:nvSpPr>
        <p:spPr>
          <a:xfrm>
            <a:off x="914400" y="2386584"/>
            <a:ext cx="411480" cy="91"/>
          </a:xfrm>
          <a:prstGeom prst="line">
            <a:avLst/>
          </a:prstGeom>
          <a:noFill/>
          <a:ln w="19050">
            <a:solidFill>
              <a:srgbClr val="2E5BD8"/>
            </a:solidFill>
            <a:prstDash val="solid"/>
          </a:ln>
        </p:spPr>
      </p:sp>
      <p:sp>
        <p:nvSpPr>
          <p:cNvPr id="12" name="Shape 10"/>
          <p:cNvSpPr/>
          <p:nvPr/>
        </p:nvSpPr>
        <p:spPr>
          <a:xfrm>
            <a:off x="1325880" y="2103120"/>
            <a:ext cx="5120640" cy="566928"/>
          </a:xfrm>
          <a:prstGeom prst="roundRect">
            <a:avLst>
              <a:gd name="adj" fmla="val 8065"/>
            </a:avLst>
          </a:prstGeom>
          <a:solidFill>
            <a:srgbClr val="F5F8FE"/>
          </a:solidFill>
          <a:ln w="12700">
            <a:solidFill>
              <a:srgbClr val="D5DCEB"/>
            </a:solidFill>
            <a:prstDash val="solid"/>
          </a:ln>
        </p:spPr>
      </p:sp>
      <p:sp>
        <p:nvSpPr>
          <p:cNvPr id="13" name="Text 11"/>
          <p:cNvSpPr/>
          <p:nvPr/>
        </p:nvSpPr>
        <p:spPr>
          <a:xfrm>
            <a:off x="1463040" y="2103120"/>
            <a:ext cx="3749040" cy="566928"/>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P6.1.1–P6.1.2   </a:t>
            </a:r>
            <a:r>
              <a:rPr lang="en-US" sz="1100" dirty="0">
                <a:solidFill>
                  <a:srgbClr val="262B3A"/>
                </a:solidFill>
                <a:latin typeface="Calibri" pitchFamily="34" charset="0"/>
                <a:ea typeface="Calibri" pitchFamily="34" charset="-122"/>
                <a:cs typeface="Calibri" pitchFamily="34" charset="-120"/>
              </a:rPr>
              <a:t>Changes of state, conservation of mass, physical vs chemical change</a:t>
            </a:r>
            <a:endParaRPr lang="en-US" sz="1100" dirty="0"/>
          </a:p>
        </p:txBody>
      </p:sp>
      <p:sp>
        <p:nvSpPr>
          <p:cNvPr id="14" name="Shape 12"/>
          <p:cNvSpPr/>
          <p:nvPr/>
        </p:nvSpPr>
        <p:spPr>
          <a:xfrm>
            <a:off x="5257800" y="2249424"/>
            <a:ext cx="1097280" cy="274320"/>
          </a:xfrm>
          <a:prstGeom prst="roundRect">
            <a:avLst>
              <a:gd name="adj" fmla="val 50000"/>
            </a:avLst>
          </a:prstGeom>
          <a:solidFill>
            <a:srgbClr val="2E5BD8"/>
          </a:solidFill>
          <a:ln w="12700">
            <a:solidFill>
              <a:srgbClr val="2E5BD8"/>
            </a:solidFill>
            <a:prstDash val="solid"/>
          </a:ln>
        </p:spPr>
      </p:sp>
      <p:sp>
        <p:nvSpPr>
          <p:cNvPr id="15" name="Text 13"/>
          <p:cNvSpPr/>
          <p:nvPr/>
        </p:nvSpPr>
        <p:spPr>
          <a:xfrm>
            <a:off x="5257800" y="224942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16" name="Shape 14"/>
          <p:cNvSpPr/>
          <p:nvPr/>
        </p:nvSpPr>
        <p:spPr>
          <a:xfrm>
            <a:off x="914400" y="3044952"/>
            <a:ext cx="411480" cy="91"/>
          </a:xfrm>
          <a:prstGeom prst="line">
            <a:avLst/>
          </a:prstGeom>
          <a:noFill/>
          <a:ln w="19050">
            <a:solidFill>
              <a:srgbClr val="2E5BD8"/>
            </a:solidFill>
            <a:prstDash val="solid"/>
          </a:ln>
        </p:spPr>
      </p:sp>
      <p:sp>
        <p:nvSpPr>
          <p:cNvPr id="17" name="Shape 15"/>
          <p:cNvSpPr/>
          <p:nvPr/>
        </p:nvSpPr>
        <p:spPr>
          <a:xfrm>
            <a:off x="1325880" y="2761488"/>
            <a:ext cx="5120640" cy="566928"/>
          </a:xfrm>
          <a:prstGeom prst="roundRect">
            <a:avLst>
              <a:gd name="adj" fmla="val 8065"/>
            </a:avLst>
          </a:prstGeom>
          <a:solidFill>
            <a:srgbClr val="F5F8FE"/>
          </a:solidFill>
          <a:ln w="12700">
            <a:solidFill>
              <a:srgbClr val="D5DCEB"/>
            </a:solidFill>
            <a:prstDash val="solid"/>
          </a:ln>
        </p:spPr>
      </p:sp>
      <p:sp>
        <p:nvSpPr>
          <p:cNvPr id="18" name="Text 16"/>
          <p:cNvSpPr/>
          <p:nvPr/>
        </p:nvSpPr>
        <p:spPr>
          <a:xfrm>
            <a:off x="1463040" y="2761488"/>
            <a:ext cx="3749040" cy="566928"/>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P6.1.3–P6.1.4   </a:t>
            </a:r>
            <a:r>
              <a:rPr lang="en-US" sz="1100" dirty="0">
                <a:solidFill>
                  <a:srgbClr val="262B3A"/>
                </a:solidFill>
                <a:latin typeface="Calibri" pitchFamily="34" charset="0"/>
                <a:ea typeface="Calibri" pitchFamily="34" charset="-122"/>
                <a:cs typeface="Calibri" pitchFamily="34" charset="-120"/>
              </a:rPr>
              <a:t>Density and the particle model; ρ = m ÷ V</a:t>
            </a:r>
            <a:endParaRPr lang="en-US" sz="1100" dirty="0"/>
          </a:p>
        </p:txBody>
      </p:sp>
      <p:sp>
        <p:nvSpPr>
          <p:cNvPr id="19" name="Shape 17"/>
          <p:cNvSpPr/>
          <p:nvPr/>
        </p:nvSpPr>
        <p:spPr>
          <a:xfrm>
            <a:off x="5257800" y="2907792"/>
            <a:ext cx="1097280" cy="274320"/>
          </a:xfrm>
          <a:prstGeom prst="roundRect">
            <a:avLst>
              <a:gd name="adj" fmla="val 50000"/>
            </a:avLst>
          </a:prstGeom>
          <a:solidFill>
            <a:srgbClr val="2E5BD8"/>
          </a:solidFill>
          <a:ln w="12700">
            <a:solidFill>
              <a:srgbClr val="2E5BD8"/>
            </a:solidFill>
            <a:prstDash val="solid"/>
          </a:ln>
        </p:spPr>
      </p:sp>
      <p:sp>
        <p:nvSpPr>
          <p:cNvPr id="20" name="Text 18"/>
          <p:cNvSpPr/>
          <p:nvPr/>
        </p:nvSpPr>
        <p:spPr>
          <a:xfrm>
            <a:off x="5257800" y="290779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1" name="Shape 19"/>
          <p:cNvSpPr/>
          <p:nvPr/>
        </p:nvSpPr>
        <p:spPr>
          <a:xfrm>
            <a:off x="914400" y="3703320"/>
            <a:ext cx="411480" cy="91"/>
          </a:xfrm>
          <a:prstGeom prst="line">
            <a:avLst/>
          </a:prstGeom>
          <a:noFill/>
          <a:ln w="19050">
            <a:solidFill>
              <a:srgbClr val="2E5BD8"/>
            </a:solidFill>
            <a:prstDash val="solid"/>
          </a:ln>
        </p:spPr>
      </p:sp>
      <p:sp>
        <p:nvSpPr>
          <p:cNvPr id="22" name="Shape 20"/>
          <p:cNvSpPr/>
          <p:nvPr/>
        </p:nvSpPr>
        <p:spPr>
          <a:xfrm>
            <a:off x="1325880" y="3419856"/>
            <a:ext cx="5120640" cy="566928"/>
          </a:xfrm>
          <a:prstGeom prst="roundRect">
            <a:avLst>
              <a:gd name="adj" fmla="val 8065"/>
            </a:avLst>
          </a:prstGeom>
          <a:solidFill>
            <a:srgbClr val="F5F8FE"/>
          </a:solidFill>
          <a:ln w="12700">
            <a:solidFill>
              <a:srgbClr val="D5DCEB"/>
            </a:solidFill>
            <a:prstDash val="solid"/>
          </a:ln>
        </p:spPr>
      </p:sp>
      <p:sp>
        <p:nvSpPr>
          <p:cNvPr id="23" name="Text 21"/>
          <p:cNvSpPr/>
          <p:nvPr/>
        </p:nvSpPr>
        <p:spPr>
          <a:xfrm>
            <a:off x="1463040" y="3419856"/>
            <a:ext cx="3749040" cy="566928"/>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PAG P1   </a:t>
            </a:r>
            <a:r>
              <a:rPr lang="en-US" sz="1100" dirty="0">
                <a:solidFill>
                  <a:srgbClr val="262B3A"/>
                </a:solidFill>
                <a:latin typeface="Calibri" pitchFamily="34" charset="0"/>
                <a:ea typeface="Calibri" pitchFamily="34" charset="-122"/>
                <a:cs typeface="Calibri" pitchFamily="34" charset="-120"/>
              </a:rPr>
              <a:t>Practical: measuring the density of regular and irregular objects</a:t>
            </a:r>
            <a:endParaRPr lang="en-US" sz="1100" dirty="0"/>
          </a:p>
        </p:txBody>
      </p:sp>
      <p:sp>
        <p:nvSpPr>
          <p:cNvPr id="24" name="Shape 22"/>
          <p:cNvSpPr/>
          <p:nvPr/>
        </p:nvSpPr>
        <p:spPr>
          <a:xfrm>
            <a:off x="5257800" y="3566160"/>
            <a:ext cx="1097280" cy="274320"/>
          </a:xfrm>
          <a:prstGeom prst="roundRect">
            <a:avLst>
              <a:gd name="adj" fmla="val 50000"/>
            </a:avLst>
          </a:prstGeom>
          <a:solidFill>
            <a:srgbClr val="B8730A"/>
          </a:solidFill>
          <a:ln w="12700">
            <a:solidFill>
              <a:srgbClr val="B8730A"/>
            </a:solidFill>
            <a:prstDash val="solid"/>
          </a:ln>
        </p:spPr>
      </p:sp>
      <p:sp>
        <p:nvSpPr>
          <p:cNvPr id="25" name="Text 23"/>
          <p:cNvSpPr/>
          <p:nvPr/>
        </p:nvSpPr>
        <p:spPr>
          <a:xfrm>
            <a:off x="5257800" y="356616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26" name="Shape 24"/>
          <p:cNvSpPr/>
          <p:nvPr/>
        </p:nvSpPr>
        <p:spPr>
          <a:xfrm>
            <a:off x="914400" y="4361688"/>
            <a:ext cx="411480" cy="91"/>
          </a:xfrm>
          <a:prstGeom prst="line">
            <a:avLst/>
          </a:prstGeom>
          <a:noFill/>
          <a:ln w="19050">
            <a:solidFill>
              <a:srgbClr val="2E5BD8"/>
            </a:solidFill>
            <a:prstDash val="solid"/>
          </a:ln>
        </p:spPr>
      </p:sp>
      <p:sp>
        <p:nvSpPr>
          <p:cNvPr id="27" name="Shape 25"/>
          <p:cNvSpPr/>
          <p:nvPr/>
        </p:nvSpPr>
        <p:spPr>
          <a:xfrm>
            <a:off x="1325880" y="4078224"/>
            <a:ext cx="5120640" cy="566928"/>
          </a:xfrm>
          <a:prstGeom prst="roundRect">
            <a:avLst>
              <a:gd name="adj" fmla="val 8065"/>
            </a:avLst>
          </a:prstGeom>
          <a:solidFill>
            <a:srgbClr val="F5F8FE"/>
          </a:solidFill>
          <a:ln w="12700">
            <a:solidFill>
              <a:srgbClr val="D5DCEB"/>
            </a:solidFill>
            <a:prstDash val="solid"/>
          </a:ln>
        </p:spPr>
      </p:sp>
      <p:sp>
        <p:nvSpPr>
          <p:cNvPr id="28" name="Text 26"/>
          <p:cNvSpPr/>
          <p:nvPr/>
        </p:nvSpPr>
        <p:spPr>
          <a:xfrm>
            <a:off x="1463040" y="4078224"/>
            <a:ext cx="3749040" cy="566928"/>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P6.1.5   </a:t>
            </a:r>
            <a:r>
              <a:rPr lang="en-US" sz="1100" dirty="0">
                <a:solidFill>
                  <a:srgbClr val="262B3A"/>
                </a:solidFill>
                <a:latin typeface="Calibri" pitchFamily="34" charset="0"/>
                <a:ea typeface="Calibri" pitchFamily="34" charset="-122"/>
                <a:cs typeface="Calibri" pitchFamily="34" charset="-120"/>
              </a:rPr>
              <a:t>Heating changes internal energy: temperature rise or change of state</a:t>
            </a:r>
            <a:endParaRPr lang="en-US" sz="1100" dirty="0"/>
          </a:p>
        </p:txBody>
      </p:sp>
      <p:sp>
        <p:nvSpPr>
          <p:cNvPr id="29" name="Shape 27"/>
          <p:cNvSpPr/>
          <p:nvPr/>
        </p:nvSpPr>
        <p:spPr>
          <a:xfrm>
            <a:off x="5257800" y="4224528"/>
            <a:ext cx="1097280" cy="274320"/>
          </a:xfrm>
          <a:prstGeom prst="roundRect">
            <a:avLst>
              <a:gd name="adj" fmla="val 50000"/>
            </a:avLst>
          </a:prstGeom>
          <a:solidFill>
            <a:srgbClr val="2E5BD8"/>
          </a:solidFill>
          <a:ln w="12700">
            <a:solidFill>
              <a:srgbClr val="2E5BD8"/>
            </a:solidFill>
            <a:prstDash val="solid"/>
          </a:ln>
        </p:spPr>
      </p:sp>
      <p:sp>
        <p:nvSpPr>
          <p:cNvPr id="30" name="Text 28"/>
          <p:cNvSpPr/>
          <p:nvPr/>
        </p:nvSpPr>
        <p:spPr>
          <a:xfrm>
            <a:off x="5257800" y="422452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31" name="Shape 29"/>
          <p:cNvSpPr/>
          <p:nvPr/>
        </p:nvSpPr>
        <p:spPr>
          <a:xfrm>
            <a:off x="914400" y="5020056"/>
            <a:ext cx="411480" cy="91"/>
          </a:xfrm>
          <a:prstGeom prst="line">
            <a:avLst/>
          </a:prstGeom>
          <a:noFill/>
          <a:ln w="19050">
            <a:solidFill>
              <a:srgbClr val="2E5BD8"/>
            </a:solidFill>
            <a:prstDash val="solid"/>
          </a:ln>
        </p:spPr>
      </p:sp>
      <p:sp>
        <p:nvSpPr>
          <p:cNvPr id="32" name="Shape 30"/>
          <p:cNvSpPr/>
          <p:nvPr/>
        </p:nvSpPr>
        <p:spPr>
          <a:xfrm>
            <a:off x="1325880" y="4736592"/>
            <a:ext cx="5120640" cy="566928"/>
          </a:xfrm>
          <a:prstGeom prst="roundRect">
            <a:avLst>
              <a:gd name="adj" fmla="val 8065"/>
            </a:avLst>
          </a:prstGeom>
          <a:solidFill>
            <a:srgbClr val="F5F8FE"/>
          </a:solidFill>
          <a:ln w="12700">
            <a:solidFill>
              <a:srgbClr val="D5DCEB"/>
            </a:solidFill>
            <a:prstDash val="solid"/>
          </a:ln>
        </p:spPr>
      </p:sp>
      <p:sp>
        <p:nvSpPr>
          <p:cNvPr id="33" name="Text 31"/>
          <p:cNvSpPr/>
          <p:nvPr/>
        </p:nvSpPr>
        <p:spPr>
          <a:xfrm>
            <a:off x="1463040" y="4736592"/>
            <a:ext cx="3749040" cy="566928"/>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P6.1.6–P6.1.7   </a:t>
            </a:r>
            <a:r>
              <a:rPr lang="en-US" sz="1100" dirty="0">
                <a:solidFill>
                  <a:srgbClr val="262B3A"/>
                </a:solidFill>
                <a:latin typeface="Calibri" pitchFamily="34" charset="0"/>
                <a:ea typeface="Calibri" pitchFamily="34" charset="-122"/>
                <a:cs typeface="Calibri" pitchFamily="34" charset="-120"/>
              </a:rPr>
              <a:t>Specific heat capacity, ΔE = mcΔθ • PAG P5</a:t>
            </a:r>
            <a:endParaRPr lang="en-US" sz="1100" dirty="0"/>
          </a:p>
        </p:txBody>
      </p:sp>
      <p:sp>
        <p:nvSpPr>
          <p:cNvPr id="34" name="Shape 32"/>
          <p:cNvSpPr/>
          <p:nvPr/>
        </p:nvSpPr>
        <p:spPr>
          <a:xfrm>
            <a:off x="5257800" y="4882896"/>
            <a:ext cx="1097280" cy="274320"/>
          </a:xfrm>
          <a:prstGeom prst="roundRect">
            <a:avLst>
              <a:gd name="adj" fmla="val 50000"/>
            </a:avLst>
          </a:prstGeom>
          <a:solidFill>
            <a:srgbClr val="2E5BD8"/>
          </a:solidFill>
          <a:ln w="12700">
            <a:solidFill>
              <a:srgbClr val="2E5BD8"/>
            </a:solidFill>
            <a:prstDash val="solid"/>
          </a:ln>
        </p:spPr>
      </p:sp>
      <p:sp>
        <p:nvSpPr>
          <p:cNvPr id="35" name="Text 33"/>
          <p:cNvSpPr/>
          <p:nvPr/>
        </p:nvSpPr>
        <p:spPr>
          <a:xfrm>
            <a:off x="5257800" y="488289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36" name="Shape 34"/>
          <p:cNvSpPr/>
          <p:nvPr/>
        </p:nvSpPr>
        <p:spPr>
          <a:xfrm>
            <a:off x="914400" y="5678424"/>
            <a:ext cx="411480" cy="91"/>
          </a:xfrm>
          <a:prstGeom prst="line">
            <a:avLst/>
          </a:prstGeom>
          <a:noFill/>
          <a:ln w="19050">
            <a:solidFill>
              <a:srgbClr val="2E5BD8"/>
            </a:solidFill>
            <a:prstDash val="solid"/>
          </a:ln>
        </p:spPr>
      </p:sp>
      <p:sp>
        <p:nvSpPr>
          <p:cNvPr id="37" name="Shape 35"/>
          <p:cNvSpPr/>
          <p:nvPr/>
        </p:nvSpPr>
        <p:spPr>
          <a:xfrm>
            <a:off x="1325880" y="5394960"/>
            <a:ext cx="5120640" cy="566928"/>
          </a:xfrm>
          <a:prstGeom prst="roundRect">
            <a:avLst>
              <a:gd name="adj" fmla="val 8065"/>
            </a:avLst>
          </a:prstGeom>
          <a:solidFill>
            <a:srgbClr val="F5F8FE"/>
          </a:solidFill>
          <a:ln w="12700">
            <a:solidFill>
              <a:srgbClr val="D5DCEB"/>
            </a:solidFill>
            <a:prstDash val="solid"/>
          </a:ln>
        </p:spPr>
      </p:sp>
      <p:sp>
        <p:nvSpPr>
          <p:cNvPr id="38" name="Text 36"/>
          <p:cNvSpPr/>
          <p:nvPr/>
        </p:nvSpPr>
        <p:spPr>
          <a:xfrm>
            <a:off x="1463040" y="5394960"/>
            <a:ext cx="3749040" cy="566928"/>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P6.1.6, P6.1.8   </a:t>
            </a:r>
            <a:r>
              <a:rPr lang="en-US" sz="1100" dirty="0">
                <a:solidFill>
                  <a:srgbClr val="262B3A"/>
                </a:solidFill>
                <a:latin typeface="Calibri" pitchFamily="34" charset="0"/>
                <a:ea typeface="Calibri" pitchFamily="34" charset="-122"/>
                <a:cs typeface="Calibri" pitchFamily="34" charset="-120"/>
              </a:rPr>
              <a:t>Specific latent heat, E = mL, heating curves</a:t>
            </a:r>
            <a:endParaRPr lang="en-US" sz="1100" dirty="0"/>
          </a:p>
        </p:txBody>
      </p:sp>
      <p:sp>
        <p:nvSpPr>
          <p:cNvPr id="39" name="Shape 37"/>
          <p:cNvSpPr/>
          <p:nvPr/>
        </p:nvSpPr>
        <p:spPr>
          <a:xfrm>
            <a:off x="5257800" y="5541264"/>
            <a:ext cx="1097280" cy="274320"/>
          </a:xfrm>
          <a:prstGeom prst="roundRect">
            <a:avLst>
              <a:gd name="adj" fmla="val 50000"/>
            </a:avLst>
          </a:prstGeom>
          <a:solidFill>
            <a:srgbClr val="2E5BD8"/>
          </a:solidFill>
          <a:ln w="12700">
            <a:solidFill>
              <a:srgbClr val="2E5BD8"/>
            </a:solidFill>
            <a:prstDash val="solid"/>
          </a:ln>
        </p:spPr>
      </p:sp>
      <p:sp>
        <p:nvSpPr>
          <p:cNvPr id="40" name="Text 38"/>
          <p:cNvSpPr/>
          <p:nvPr/>
        </p:nvSpPr>
        <p:spPr>
          <a:xfrm>
            <a:off x="5257800" y="554126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41" name="Text 39"/>
          <p:cNvSpPr/>
          <p:nvPr/>
        </p:nvSpPr>
        <p:spPr>
          <a:xfrm>
            <a:off x="411480" y="6053328"/>
            <a:ext cx="603504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Earlier links: P2 energy stores and power • P5.1 atoms • chemistry: states of matter • maths: units, rearranging</a:t>
            </a:r>
            <a:endParaRPr lang="en-US" sz="1050" dirty="0"/>
          </a:p>
        </p:txBody>
      </p:sp>
      <p:sp>
        <p:nvSpPr>
          <p:cNvPr id="42" name="Shape 40"/>
          <p:cNvSpPr/>
          <p:nvPr/>
        </p:nvSpPr>
        <p:spPr>
          <a:xfrm>
            <a:off x="6720840" y="1234440"/>
            <a:ext cx="5056632" cy="2788920"/>
          </a:xfrm>
          <a:prstGeom prst="roundRect">
            <a:avLst>
              <a:gd name="adj" fmla="val 1967"/>
            </a:avLst>
          </a:prstGeom>
          <a:solidFill>
            <a:srgbClr val="1F2A4A"/>
          </a:solidFill>
          <a:ln/>
        </p:spPr>
      </p:sp>
      <p:sp>
        <p:nvSpPr>
          <p:cNvPr id="43" name="Text 41"/>
          <p:cNvSpPr/>
          <p:nvPr/>
        </p:nvSpPr>
        <p:spPr>
          <a:xfrm>
            <a:off x="6903720" y="1325880"/>
            <a:ext cx="4709160" cy="2606040"/>
          </a:xfrm>
          <a:prstGeom prst="rect">
            <a:avLst/>
          </a:prstGeom>
          <a:noFill/>
          <a:ln/>
        </p:spPr>
        <p:txBody>
          <a:bodyPr wrap="square" lIns="0" tIns="0" rIns="0" bIns="0" rtlCol="0" anchor="t"/>
          <a:lstStyle/>
          <a:p>
            <a:pPr indent="0" marL="0">
              <a:buNone/>
            </a:pPr>
            <a:r>
              <a:rPr lang="en-US" sz="1500" b="1" dirty="0">
                <a:solidFill>
                  <a:srgbClr val="FFFFFF"/>
                </a:solidFill>
                <a:latin typeface="Georgia" pitchFamily="34" charset="0"/>
                <a:ea typeface="Georgia" pitchFamily="34" charset="-122"/>
                <a:cs typeface="Georgia" pitchFamily="34" charset="-120"/>
              </a:rPr>
              <a:t>Chapter P6 in J260</a:t>
            </a:r>
            <a:endParaRPr lang="en-US" sz="1500" dirty="0"/>
          </a:p>
          <a:p>
            <a:pPr marL="152400" indent="-152400">
              <a:spcAft>
                <a:spcPts val="300"/>
              </a:spcAft>
              <a:buSzPct val="100000"/>
              <a:buChar char="▪"/>
            </a:pPr>
            <a:r>
              <a:rPr lang="en-US" sz="1150" b="1" dirty="0">
                <a:solidFill>
                  <a:srgbClr val="E6ECFA"/>
                </a:solidFill>
                <a:latin typeface="Calibri" pitchFamily="34" charset="0"/>
                <a:ea typeface="Calibri" pitchFamily="34" charset="-122"/>
                <a:cs typeface="Calibri" pitchFamily="34" charset="-120"/>
              </a:rPr>
              <a:t>P6.1 How does energy transform matter?</a:t>
            </a:r>
            <a:r>
              <a:rPr lang="en-US" sz="1150" dirty="0">
                <a:solidFill>
                  <a:srgbClr val="E6ECFA"/>
                </a:solidFill>
                <a:latin typeface="Calibri" pitchFamily="34" charset="0"/>
                <a:ea typeface="Calibri" pitchFamily="34" charset="-122"/>
                <a:cs typeface="Calibri" pitchFamily="34" charset="-120"/>
              </a:rPr>
              <a:t> (this deck)</a:t>
            </a:r>
            <a:endParaRPr lang="en-US" sz="1500" dirty="0"/>
          </a:p>
          <a:p>
            <a:pPr marL="152400" indent="-152400">
              <a:spcAft>
                <a:spcPts val="300"/>
              </a:spcAft>
              <a:buSzPct val="100000"/>
              <a:buChar char="▪"/>
            </a:pPr>
            <a:r>
              <a:rPr lang="en-US" sz="1150" b="1" dirty="0">
                <a:solidFill>
                  <a:srgbClr val="E6ECFA"/>
                </a:solidFill>
                <a:latin typeface="Calibri" pitchFamily="34" charset="0"/>
                <a:ea typeface="Calibri" pitchFamily="34" charset="-122"/>
                <a:cs typeface="Calibri" pitchFamily="34" charset="-120"/>
              </a:rPr>
              <a:t>P6.2 How does the particle model explain the effects of heating?</a:t>
            </a:r>
            <a:r>
              <a:rPr lang="en-US" sz="1150" dirty="0">
                <a:solidFill>
                  <a:srgbClr val="E6ECFA"/>
                </a:solidFill>
                <a:latin typeface="Calibri" pitchFamily="34" charset="0"/>
                <a:ea typeface="Calibri" pitchFamily="34" charset="-122"/>
                <a:cs typeface="Calibri" pitchFamily="34" charset="-120"/>
              </a:rPr>
              <a:t> Gas particles, temperature and pressure.</a:t>
            </a:r>
            <a:endParaRPr lang="en-US" sz="1500" dirty="0"/>
          </a:p>
          <a:p>
            <a:pPr marL="152400" indent="-152400">
              <a:spcAft>
                <a:spcPts val="300"/>
              </a:spcAft>
              <a:buSzPct val="100000"/>
              <a:buChar char="▪"/>
            </a:pPr>
            <a:r>
              <a:rPr lang="en-US" sz="1150" b="1" dirty="0">
                <a:solidFill>
                  <a:srgbClr val="E6ECFA"/>
                </a:solidFill>
                <a:latin typeface="Calibri" pitchFamily="34" charset="0"/>
                <a:ea typeface="Calibri" pitchFamily="34" charset="-122"/>
                <a:cs typeface="Calibri" pitchFamily="34" charset="-120"/>
              </a:rPr>
              <a:t>P6.3 How does the particle model relate to material under stress?</a:t>
            </a:r>
            <a:r>
              <a:rPr lang="en-US" sz="1150" dirty="0">
                <a:solidFill>
                  <a:srgbClr val="E6ECFA"/>
                </a:solidFill>
                <a:latin typeface="Calibri" pitchFamily="34" charset="0"/>
                <a:ea typeface="Calibri" pitchFamily="34" charset="-122"/>
                <a:cs typeface="Calibri" pitchFamily="34" charset="-120"/>
              </a:rPr>
              <a:t> Forces on springs, F = kx, elastic energy.</a:t>
            </a:r>
            <a:endParaRPr lang="en-US" sz="1500" dirty="0"/>
          </a:p>
          <a:p>
            <a:pPr marL="152400" indent="-152400">
              <a:spcAft>
                <a:spcPts val="300"/>
              </a:spcAft>
              <a:buSzPct val="100000"/>
              <a:buChar char="▪"/>
            </a:pPr>
            <a:r>
              <a:rPr lang="en-US" sz="1150" dirty="0">
                <a:solidFill>
                  <a:srgbClr val="E6ECFA"/>
                </a:solidFill>
                <a:latin typeface="Calibri" pitchFamily="34" charset="0"/>
                <a:ea typeface="Calibri" pitchFamily="34" charset="-122"/>
                <a:cs typeface="Calibri" pitchFamily="34" charset="-120"/>
              </a:rPr>
              <a:t>P6.4 (pressure in fluids) and P6.5 (the Big Bang) are </a:t>
            </a:r>
            <a:r>
              <a:rPr lang="en-US" sz="1150" b="1" dirty="0">
                <a:solidFill>
                  <a:srgbClr val="E6ECFA"/>
                </a:solidFill>
                <a:latin typeface="Calibri" pitchFamily="34" charset="0"/>
                <a:ea typeface="Calibri" pitchFamily="34" charset="-122"/>
                <a:cs typeface="Calibri" pitchFamily="34" charset="-120"/>
              </a:rPr>
              <a:t>Physics B J259 only</a:t>
            </a:r>
            <a:r>
              <a:rPr lang="en-US" sz="1150" dirty="0">
                <a:solidFill>
                  <a:srgbClr val="E6ECFA"/>
                </a:solidFill>
                <a:latin typeface="Calibri" pitchFamily="34" charset="0"/>
                <a:ea typeface="Calibri" pitchFamily="34" charset="-122"/>
                <a:cs typeface="Calibri" pitchFamily="34" charset="-120"/>
              </a:rPr>
              <a:t>.</a:t>
            </a:r>
            <a:endParaRPr lang="en-US" sz="1500" dirty="0"/>
          </a:p>
        </p:txBody>
      </p:sp>
      <p:sp>
        <p:nvSpPr>
          <p:cNvPr id="44" name="Shape 42"/>
          <p:cNvSpPr/>
          <p:nvPr/>
        </p:nvSpPr>
        <p:spPr>
          <a:xfrm>
            <a:off x="6720840" y="4160520"/>
            <a:ext cx="5056632" cy="2103120"/>
          </a:xfrm>
          <a:prstGeom prst="roundRect">
            <a:avLst>
              <a:gd name="adj" fmla="val 2609"/>
            </a:avLst>
          </a:prstGeom>
          <a:solidFill>
            <a:srgbClr val="FFF4E0"/>
          </a:solidFill>
          <a:ln w="12700">
            <a:solidFill>
              <a:srgbClr val="F1D9A8"/>
            </a:solidFill>
            <a:prstDash val="solid"/>
          </a:ln>
        </p:spPr>
      </p:sp>
      <p:sp>
        <p:nvSpPr>
          <p:cNvPr id="45" name="Text 43"/>
          <p:cNvSpPr/>
          <p:nvPr/>
        </p:nvSpPr>
        <p:spPr>
          <a:xfrm>
            <a:off x="6903720" y="4251960"/>
            <a:ext cx="4709160" cy="1920240"/>
          </a:xfrm>
          <a:prstGeom prst="rect">
            <a:avLst/>
          </a:prstGeom>
          <a:noFill/>
          <a:ln/>
        </p:spPr>
        <p:txBody>
          <a:bodyPr wrap="square" lIns="0" tIns="0" rIns="0" bIns="0" rtlCol="0" anchor="t"/>
          <a:lstStyle/>
          <a:p>
            <a:pPr indent="0" marL="0">
              <a:buNone/>
            </a:pPr>
            <a:r>
              <a:rPr lang="en-US" sz="1500" b="1" dirty="0">
                <a:solidFill>
                  <a:srgbClr val="B8730A"/>
                </a:solidFill>
                <a:latin typeface="Georgia" pitchFamily="34" charset="0"/>
                <a:ea typeface="Georgia" pitchFamily="34" charset="-122"/>
                <a:cs typeface="Georgia" pitchFamily="34" charset="-120"/>
              </a:rPr>
              <a:t>One deck for both tiers</a:t>
            </a:r>
            <a:endParaRPr lang="en-US" sz="150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Every slide is for both tiers: no P6.1 statement is Higher only.</a:t>
            </a:r>
            <a:endParaRPr lang="en-US" sz="150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ρ = m ÷ V</a:t>
            </a:r>
            <a:r>
              <a:rPr lang="en-US" sz="1150" dirty="0">
                <a:solidFill>
                  <a:srgbClr val="262B3A"/>
                </a:solidFill>
                <a:latin typeface="Calibri" pitchFamily="34" charset="0"/>
                <a:ea typeface="Calibri" pitchFamily="34" charset="-122"/>
                <a:cs typeface="Calibri" pitchFamily="34" charset="-120"/>
              </a:rPr>
              <a:t> must be recalled; </a:t>
            </a:r>
            <a:r>
              <a:rPr lang="en-US" sz="1150" b="1" dirty="0">
                <a:solidFill>
                  <a:srgbClr val="262B3A"/>
                </a:solidFill>
                <a:latin typeface="Calibri" pitchFamily="34" charset="0"/>
                <a:ea typeface="Calibri" pitchFamily="34" charset="-122"/>
                <a:cs typeface="Calibri" pitchFamily="34" charset="-120"/>
              </a:rPr>
              <a:t>ΔE = mcΔθ</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E = mL</a:t>
            </a:r>
            <a:r>
              <a:rPr lang="en-US" sz="1150" dirty="0">
                <a:solidFill>
                  <a:srgbClr val="262B3A"/>
                </a:solidFill>
                <a:latin typeface="Calibri" pitchFamily="34" charset="0"/>
                <a:ea typeface="Calibri" pitchFamily="34" charset="-122"/>
                <a:cs typeface="Calibri" pitchFamily="34" charset="-120"/>
              </a:rPr>
              <a:t> are given on the equation sheet.</a:t>
            </a:r>
            <a:endParaRPr lang="en-US" sz="150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Two practicals: </a:t>
            </a:r>
            <a:r>
              <a:rPr lang="en-US" sz="1150" b="1" dirty="0">
                <a:solidFill>
                  <a:srgbClr val="262B3A"/>
                </a:solidFill>
                <a:latin typeface="Calibri" pitchFamily="34" charset="0"/>
                <a:ea typeface="Calibri" pitchFamily="34" charset="-122"/>
                <a:cs typeface="Calibri" pitchFamily="34" charset="-120"/>
              </a:rPr>
              <a:t>PAG P1</a:t>
            </a:r>
            <a:r>
              <a:rPr lang="en-US" sz="1150" dirty="0">
                <a:solidFill>
                  <a:srgbClr val="262B3A"/>
                </a:solidFill>
                <a:latin typeface="Calibri" pitchFamily="34" charset="0"/>
                <a:ea typeface="Calibri" pitchFamily="34" charset="-122"/>
                <a:cs typeface="Calibri" pitchFamily="34" charset="-120"/>
              </a:rPr>
              <a:t> (density) and </a:t>
            </a:r>
            <a:r>
              <a:rPr lang="en-US" sz="1150" b="1" dirty="0">
                <a:solidFill>
                  <a:srgbClr val="262B3A"/>
                </a:solidFill>
                <a:latin typeface="Calibri" pitchFamily="34" charset="0"/>
                <a:ea typeface="Calibri" pitchFamily="34" charset="-122"/>
                <a:cs typeface="Calibri" pitchFamily="34" charset="-120"/>
              </a:rPr>
              <a:t>PAG P5</a:t>
            </a:r>
            <a:r>
              <a:rPr lang="en-US" sz="1150" dirty="0">
                <a:solidFill>
                  <a:srgbClr val="262B3A"/>
                </a:solidFill>
                <a:latin typeface="Calibri" pitchFamily="34" charset="0"/>
                <a:ea typeface="Calibri" pitchFamily="34" charset="-122"/>
                <a:cs typeface="Calibri" pitchFamily="34" charset="-120"/>
              </a:rPr>
              <a:t> (specific heat capacity).</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Retrieval starter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Recall from KS3, P2, P5.1 and maths • 6 minutes • no notes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P6.1 How does energy transform matter?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Starter  |  4</a:t>
            </a:r>
            <a:endParaRPr lang="en-US" sz="1000" dirty="0"/>
          </a:p>
        </p:txBody>
      </p:sp>
      <p:sp>
        <p:nvSpPr>
          <p:cNvPr id="8" name="Shape 6"/>
          <p:cNvSpPr/>
          <p:nvPr/>
        </p:nvSpPr>
        <p:spPr>
          <a:xfrm>
            <a:off x="411480" y="1234440"/>
            <a:ext cx="3657600" cy="2011680"/>
          </a:xfrm>
          <a:prstGeom prst="roundRect">
            <a:avLst>
              <a:gd name="adj" fmla="val 2727"/>
            </a:avLst>
          </a:prstGeom>
          <a:solidFill>
            <a:srgbClr val="F5F8FE"/>
          </a:solidFill>
          <a:ln w="9525">
            <a:solidFill>
              <a:srgbClr val="D5DCEB"/>
            </a:solidFill>
            <a:prstDash val="solid"/>
          </a:ln>
        </p:spPr>
      </p:sp>
      <p:sp>
        <p:nvSpPr>
          <p:cNvPr id="9" name="Shape 7"/>
          <p:cNvSpPr/>
          <p:nvPr/>
        </p:nvSpPr>
        <p:spPr>
          <a:xfrm>
            <a:off x="548640" y="1371600"/>
            <a:ext cx="438912" cy="438912"/>
          </a:xfrm>
          <a:prstGeom prst="ellipse">
            <a:avLst/>
          </a:prstGeom>
          <a:solidFill>
            <a:srgbClr val="2E5BD8"/>
          </a:solidFill>
          <a:ln w="12700">
            <a:solidFill>
              <a:srgbClr val="2E5BD8"/>
            </a:solidFill>
            <a:prstDash val="solid"/>
          </a:ln>
        </p:spPr>
      </p:sp>
      <p:sp>
        <p:nvSpPr>
          <p:cNvPr id="10" name="Text 8"/>
          <p:cNvSpPr/>
          <p:nvPr/>
        </p:nvSpPr>
        <p:spPr>
          <a:xfrm>
            <a:off x="54864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1" name="Text 9"/>
          <p:cNvSpPr/>
          <p:nvPr/>
        </p:nvSpPr>
        <p:spPr>
          <a:xfrm>
            <a:off x="1097280" y="141732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KS3 / chemistry • states of matter</a:t>
            </a:r>
            <a:endParaRPr lang="en-US" sz="1050" dirty="0"/>
          </a:p>
        </p:txBody>
      </p:sp>
      <p:sp>
        <p:nvSpPr>
          <p:cNvPr id="12" name="Text 10"/>
          <p:cNvSpPr/>
          <p:nvPr/>
        </p:nvSpPr>
        <p:spPr>
          <a:xfrm>
            <a:off x="59436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a:t>
            </a:r>
            <a:r>
              <a:rPr lang="en-US" sz="1250" b="1" dirty="0">
                <a:solidFill>
                  <a:srgbClr val="262B3A"/>
                </a:solidFill>
                <a:latin typeface="Calibri" pitchFamily="34" charset="0"/>
                <a:ea typeface="Calibri" pitchFamily="34" charset="-122"/>
                <a:cs typeface="Calibri" pitchFamily="34" charset="-120"/>
              </a:rPr>
              <a:t>three states of matter</a:t>
            </a:r>
            <a:r>
              <a:rPr lang="en-US" sz="1250" dirty="0">
                <a:solidFill>
                  <a:srgbClr val="262B3A"/>
                </a:solidFill>
                <a:latin typeface="Calibri" pitchFamily="34" charset="0"/>
                <a:ea typeface="Calibri" pitchFamily="34" charset="-122"/>
                <a:cs typeface="Calibri" pitchFamily="34" charset="-120"/>
              </a:rPr>
              <a:t>. Give one property of each.</a:t>
            </a:r>
            <a:endParaRPr lang="en-US" sz="1250" dirty="0"/>
          </a:p>
        </p:txBody>
      </p:sp>
      <p:sp>
        <p:nvSpPr>
          <p:cNvPr id="13" name="Shape 11"/>
          <p:cNvSpPr/>
          <p:nvPr/>
        </p:nvSpPr>
        <p:spPr>
          <a:xfrm>
            <a:off x="4251960" y="1234440"/>
            <a:ext cx="3657600" cy="2011680"/>
          </a:xfrm>
          <a:prstGeom prst="roundRect">
            <a:avLst>
              <a:gd name="adj" fmla="val 2727"/>
            </a:avLst>
          </a:prstGeom>
          <a:solidFill>
            <a:srgbClr val="F5F8FE"/>
          </a:solidFill>
          <a:ln w="9525">
            <a:solidFill>
              <a:srgbClr val="D5DCEB"/>
            </a:solidFill>
            <a:prstDash val="solid"/>
          </a:ln>
        </p:spPr>
      </p:sp>
      <p:sp>
        <p:nvSpPr>
          <p:cNvPr id="14" name="Shape 12"/>
          <p:cNvSpPr/>
          <p:nvPr/>
        </p:nvSpPr>
        <p:spPr>
          <a:xfrm>
            <a:off x="4389120" y="1371600"/>
            <a:ext cx="438912" cy="438912"/>
          </a:xfrm>
          <a:prstGeom prst="ellipse">
            <a:avLst/>
          </a:prstGeom>
          <a:solidFill>
            <a:srgbClr val="2E5BD8"/>
          </a:solidFill>
          <a:ln w="12700">
            <a:solidFill>
              <a:srgbClr val="2E5BD8"/>
            </a:solidFill>
            <a:prstDash val="solid"/>
          </a:ln>
        </p:spPr>
      </p:sp>
      <p:sp>
        <p:nvSpPr>
          <p:cNvPr id="15" name="Text 13"/>
          <p:cNvSpPr/>
          <p:nvPr/>
        </p:nvSpPr>
        <p:spPr>
          <a:xfrm>
            <a:off x="438912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6" name="Text 14"/>
          <p:cNvSpPr/>
          <p:nvPr/>
        </p:nvSpPr>
        <p:spPr>
          <a:xfrm>
            <a:off x="4937760" y="141732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KS3 • changes of state</a:t>
            </a:r>
            <a:endParaRPr lang="en-US" sz="1050" dirty="0"/>
          </a:p>
        </p:txBody>
      </p:sp>
      <p:sp>
        <p:nvSpPr>
          <p:cNvPr id="17" name="Text 15"/>
          <p:cNvSpPr/>
          <p:nvPr/>
        </p:nvSpPr>
        <p:spPr>
          <a:xfrm>
            <a:off x="443484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At normal air pressure, at what temperature does ice </a:t>
            </a:r>
            <a:r>
              <a:rPr lang="en-US" sz="1250" b="1" dirty="0">
                <a:solidFill>
                  <a:srgbClr val="262B3A"/>
                </a:solidFill>
                <a:latin typeface="Calibri" pitchFamily="34" charset="0"/>
                <a:ea typeface="Calibri" pitchFamily="34" charset="-122"/>
                <a:cs typeface="Calibri" pitchFamily="34" charset="-120"/>
              </a:rPr>
              <a:t>melt</a:t>
            </a:r>
            <a:r>
              <a:rPr lang="en-US" sz="1250" dirty="0">
                <a:solidFill>
                  <a:srgbClr val="262B3A"/>
                </a:solidFill>
                <a:latin typeface="Calibri" pitchFamily="34" charset="0"/>
                <a:ea typeface="Calibri" pitchFamily="34" charset="-122"/>
                <a:cs typeface="Calibri" pitchFamily="34" charset="-120"/>
              </a:rPr>
              <a:t>? At what temperature does water </a:t>
            </a:r>
            <a:r>
              <a:rPr lang="en-US" sz="1250" b="1" dirty="0">
                <a:solidFill>
                  <a:srgbClr val="262B3A"/>
                </a:solidFill>
                <a:latin typeface="Calibri" pitchFamily="34" charset="0"/>
                <a:ea typeface="Calibri" pitchFamily="34" charset="-122"/>
                <a:cs typeface="Calibri" pitchFamily="34" charset="-120"/>
              </a:rPr>
              <a:t>boil</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8" name="Shape 16"/>
          <p:cNvSpPr/>
          <p:nvPr/>
        </p:nvSpPr>
        <p:spPr>
          <a:xfrm>
            <a:off x="8092440" y="1234440"/>
            <a:ext cx="3657600" cy="2011680"/>
          </a:xfrm>
          <a:prstGeom prst="roundRect">
            <a:avLst>
              <a:gd name="adj" fmla="val 2727"/>
            </a:avLst>
          </a:prstGeom>
          <a:solidFill>
            <a:srgbClr val="F5F8FE"/>
          </a:solidFill>
          <a:ln w="9525">
            <a:solidFill>
              <a:srgbClr val="D5DCEB"/>
            </a:solidFill>
            <a:prstDash val="solid"/>
          </a:ln>
        </p:spPr>
      </p:sp>
      <p:sp>
        <p:nvSpPr>
          <p:cNvPr id="19" name="Shape 17"/>
          <p:cNvSpPr/>
          <p:nvPr/>
        </p:nvSpPr>
        <p:spPr>
          <a:xfrm>
            <a:off x="8229600" y="1371600"/>
            <a:ext cx="438912" cy="438912"/>
          </a:xfrm>
          <a:prstGeom prst="ellipse">
            <a:avLst/>
          </a:prstGeom>
          <a:solidFill>
            <a:srgbClr val="2E5BD8"/>
          </a:solidFill>
          <a:ln w="12700">
            <a:solidFill>
              <a:srgbClr val="2E5BD8"/>
            </a:solidFill>
            <a:prstDash val="solid"/>
          </a:ln>
        </p:spPr>
      </p:sp>
      <p:sp>
        <p:nvSpPr>
          <p:cNvPr id="20" name="Text 18"/>
          <p:cNvSpPr/>
          <p:nvPr/>
        </p:nvSpPr>
        <p:spPr>
          <a:xfrm>
            <a:off x="822960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1" name="Text 19"/>
          <p:cNvSpPr/>
          <p:nvPr/>
        </p:nvSpPr>
        <p:spPr>
          <a:xfrm>
            <a:off x="8778240" y="141732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P2 • energy stores</a:t>
            </a:r>
            <a:endParaRPr lang="en-US" sz="1050" dirty="0"/>
          </a:p>
        </p:txBody>
      </p:sp>
      <p:sp>
        <p:nvSpPr>
          <p:cNvPr id="22" name="Text 20"/>
          <p:cNvSpPr/>
          <p:nvPr/>
        </p:nvSpPr>
        <p:spPr>
          <a:xfrm>
            <a:off x="827532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pan of water is warmed on a hob. Which </a:t>
            </a:r>
            <a:r>
              <a:rPr lang="en-US" sz="1250" b="1" dirty="0">
                <a:solidFill>
                  <a:srgbClr val="262B3A"/>
                </a:solidFill>
                <a:latin typeface="Calibri" pitchFamily="34" charset="0"/>
                <a:ea typeface="Calibri" pitchFamily="34" charset="-122"/>
                <a:cs typeface="Calibri" pitchFamily="34" charset="-120"/>
              </a:rPr>
              <a:t>energy store</a:t>
            </a:r>
            <a:r>
              <a:rPr lang="en-US" sz="1250" dirty="0">
                <a:solidFill>
                  <a:srgbClr val="262B3A"/>
                </a:solidFill>
                <a:latin typeface="Calibri" pitchFamily="34" charset="0"/>
                <a:ea typeface="Calibri" pitchFamily="34" charset="-122"/>
                <a:cs typeface="Calibri" pitchFamily="34" charset="-120"/>
              </a:rPr>
              <a:t> of the water increases?</a:t>
            </a:r>
            <a:endParaRPr lang="en-US" sz="1250" dirty="0"/>
          </a:p>
        </p:txBody>
      </p:sp>
      <p:sp>
        <p:nvSpPr>
          <p:cNvPr id="23" name="Shape 21"/>
          <p:cNvSpPr/>
          <p:nvPr/>
        </p:nvSpPr>
        <p:spPr>
          <a:xfrm>
            <a:off x="411480" y="3429000"/>
            <a:ext cx="3657600" cy="2011680"/>
          </a:xfrm>
          <a:prstGeom prst="roundRect">
            <a:avLst>
              <a:gd name="adj" fmla="val 2727"/>
            </a:avLst>
          </a:prstGeom>
          <a:solidFill>
            <a:srgbClr val="F5F8FE"/>
          </a:solidFill>
          <a:ln w="9525">
            <a:solidFill>
              <a:srgbClr val="D5DCEB"/>
            </a:solidFill>
            <a:prstDash val="solid"/>
          </a:ln>
        </p:spPr>
      </p:sp>
      <p:sp>
        <p:nvSpPr>
          <p:cNvPr id="24" name="Shape 22"/>
          <p:cNvSpPr/>
          <p:nvPr/>
        </p:nvSpPr>
        <p:spPr>
          <a:xfrm>
            <a:off x="548640" y="3566160"/>
            <a:ext cx="438912" cy="438912"/>
          </a:xfrm>
          <a:prstGeom prst="ellipse">
            <a:avLst/>
          </a:prstGeom>
          <a:solidFill>
            <a:srgbClr val="2E5BD8"/>
          </a:solidFill>
          <a:ln w="12700">
            <a:solidFill>
              <a:srgbClr val="2E5BD8"/>
            </a:solidFill>
            <a:prstDash val="solid"/>
          </a:ln>
        </p:spPr>
      </p:sp>
      <p:sp>
        <p:nvSpPr>
          <p:cNvPr id="25" name="Text 23"/>
          <p:cNvSpPr/>
          <p:nvPr/>
        </p:nvSpPr>
        <p:spPr>
          <a:xfrm>
            <a:off x="54864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6" name="Text 24"/>
          <p:cNvSpPr/>
          <p:nvPr/>
        </p:nvSpPr>
        <p:spPr>
          <a:xfrm>
            <a:off x="1097280" y="361188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P2 • power</a:t>
            </a:r>
            <a:endParaRPr lang="en-US" sz="1050" dirty="0"/>
          </a:p>
        </p:txBody>
      </p:sp>
      <p:sp>
        <p:nvSpPr>
          <p:cNvPr id="27" name="Text 25"/>
          <p:cNvSpPr/>
          <p:nvPr/>
        </p:nvSpPr>
        <p:spPr>
          <a:xfrm>
            <a:off x="59436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a:t>
            </a:r>
            <a:r>
              <a:rPr lang="en-US" sz="1250" b="1" dirty="0">
                <a:solidFill>
                  <a:srgbClr val="262B3A"/>
                </a:solidFill>
                <a:latin typeface="Calibri" pitchFamily="34" charset="0"/>
                <a:ea typeface="Calibri" pitchFamily="34" charset="-122"/>
                <a:cs typeface="Calibri" pitchFamily="34" charset="-120"/>
              </a:rPr>
              <a:t>2000 W</a:t>
            </a:r>
            <a:r>
              <a:rPr lang="en-US" sz="1250" dirty="0">
                <a:solidFill>
                  <a:srgbClr val="262B3A"/>
                </a:solidFill>
                <a:latin typeface="Calibri" pitchFamily="34" charset="0"/>
                <a:ea typeface="Calibri" pitchFamily="34" charset="-122"/>
                <a:cs typeface="Calibri" pitchFamily="34" charset="-120"/>
              </a:rPr>
              <a:t> kettle is switched on for </a:t>
            </a:r>
            <a:r>
              <a:rPr lang="en-US" sz="1250" b="1" dirty="0">
                <a:solidFill>
                  <a:srgbClr val="262B3A"/>
                </a:solidFill>
                <a:latin typeface="Calibri" pitchFamily="34" charset="0"/>
                <a:ea typeface="Calibri" pitchFamily="34" charset="-122"/>
                <a:cs typeface="Calibri" pitchFamily="34" charset="-120"/>
              </a:rPr>
              <a:t>60 s</a:t>
            </a:r>
            <a:r>
              <a:rPr lang="en-US" sz="1250" dirty="0">
                <a:solidFill>
                  <a:srgbClr val="262B3A"/>
                </a:solidFill>
                <a:latin typeface="Calibri" pitchFamily="34" charset="0"/>
                <a:ea typeface="Calibri" pitchFamily="34" charset="-122"/>
                <a:cs typeface="Calibri" pitchFamily="34" charset="-120"/>
              </a:rPr>
              <a:t>. How much energy does it transfer?</a:t>
            </a:r>
            <a:endParaRPr lang="en-US" sz="1250" dirty="0"/>
          </a:p>
        </p:txBody>
      </p:sp>
      <p:sp>
        <p:nvSpPr>
          <p:cNvPr id="28" name="Shape 26"/>
          <p:cNvSpPr/>
          <p:nvPr/>
        </p:nvSpPr>
        <p:spPr>
          <a:xfrm>
            <a:off x="4251960" y="3429000"/>
            <a:ext cx="3657600" cy="2011680"/>
          </a:xfrm>
          <a:prstGeom prst="roundRect">
            <a:avLst>
              <a:gd name="adj" fmla="val 2727"/>
            </a:avLst>
          </a:prstGeom>
          <a:solidFill>
            <a:srgbClr val="F5F8FE"/>
          </a:solidFill>
          <a:ln w="9525">
            <a:solidFill>
              <a:srgbClr val="D5DCEB"/>
            </a:solidFill>
            <a:prstDash val="solid"/>
          </a:ln>
        </p:spPr>
      </p:sp>
      <p:sp>
        <p:nvSpPr>
          <p:cNvPr id="29" name="Shape 27"/>
          <p:cNvSpPr/>
          <p:nvPr/>
        </p:nvSpPr>
        <p:spPr>
          <a:xfrm>
            <a:off x="4389120" y="3566160"/>
            <a:ext cx="438912" cy="438912"/>
          </a:xfrm>
          <a:prstGeom prst="ellipse">
            <a:avLst/>
          </a:prstGeom>
          <a:solidFill>
            <a:srgbClr val="2E5BD8"/>
          </a:solidFill>
          <a:ln w="12700">
            <a:solidFill>
              <a:srgbClr val="2E5BD8"/>
            </a:solidFill>
            <a:prstDash val="solid"/>
          </a:ln>
        </p:spPr>
      </p:sp>
      <p:sp>
        <p:nvSpPr>
          <p:cNvPr id="30" name="Text 28"/>
          <p:cNvSpPr/>
          <p:nvPr/>
        </p:nvSpPr>
        <p:spPr>
          <a:xfrm>
            <a:off x="438912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31" name="Text 29"/>
          <p:cNvSpPr/>
          <p:nvPr/>
        </p:nvSpPr>
        <p:spPr>
          <a:xfrm>
            <a:off x="4937760" y="361188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P5.1 • atoms</a:t>
            </a:r>
            <a:endParaRPr lang="en-US" sz="1050" dirty="0"/>
          </a:p>
        </p:txBody>
      </p:sp>
      <p:sp>
        <p:nvSpPr>
          <p:cNvPr id="32" name="Text 30"/>
          <p:cNvSpPr/>
          <p:nvPr/>
        </p:nvSpPr>
        <p:spPr>
          <a:xfrm>
            <a:off x="443484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the typical radius of an </a:t>
            </a:r>
            <a:r>
              <a:rPr lang="en-US" sz="1250" b="1" dirty="0">
                <a:solidFill>
                  <a:srgbClr val="262B3A"/>
                </a:solidFill>
                <a:latin typeface="Calibri" pitchFamily="34" charset="0"/>
                <a:ea typeface="Calibri" pitchFamily="34" charset="-122"/>
                <a:cs typeface="Calibri" pitchFamily="34" charset="-120"/>
              </a:rPr>
              <a:t>atom</a:t>
            </a:r>
            <a:r>
              <a:rPr lang="en-US" sz="1250" dirty="0">
                <a:solidFill>
                  <a:srgbClr val="262B3A"/>
                </a:solidFill>
                <a:latin typeface="Calibri" pitchFamily="34" charset="0"/>
                <a:ea typeface="Calibri" pitchFamily="34" charset="-122"/>
                <a:cs typeface="Calibri" pitchFamily="34" charset="-120"/>
              </a:rPr>
              <a:t>? Give your answer in standard form.</a:t>
            </a:r>
            <a:endParaRPr lang="en-US" sz="1250" dirty="0"/>
          </a:p>
        </p:txBody>
      </p:sp>
      <p:sp>
        <p:nvSpPr>
          <p:cNvPr id="33" name="Shape 31"/>
          <p:cNvSpPr/>
          <p:nvPr/>
        </p:nvSpPr>
        <p:spPr>
          <a:xfrm>
            <a:off x="8092440" y="3429000"/>
            <a:ext cx="3657600" cy="2011680"/>
          </a:xfrm>
          <a:prstGeom prst="roundRect">
            <a:avLst>
              <a:gd name="adj" fmla="val 2727"/>
            </a:avLst>
          </a:prstGeom>
          <a:solidFill>
            <a:srgbClr val="F5F8FE"/>
          </a:solidFill>
          <a:ln w="9525">
            <a:solidFill>
              <a:srgbClr val="D5DCEB"/>
            </a:solidFill>
            <a:prstDash val="solid"/>
          </a:ln>
        </p:spPr>
      </p:sp>
      <p:sp>
        <p:nvSpPr>
          <p:cNvPr id="34" name="Shape 32"/>
          <p:cNvSpPr/>
          <p:nvPr/>
        </p:nvSpPr>
        <p:spPr>
          <a:xfrm>
            <a:off x="8229600" y="3566160"/>
            <a:ext cx="438912" cy="438912"/>
          </a:xfrm>
          <a:prstGeom prst="ellipse">
            <a:avLst/>
          </a:prstGeom>
          <a:solidFill>
            <a:srgbClr val="2E5BD8"/>
          </a:solidFill>
          <a:ln w="12700">
            <a:solidFill>
              <a:srgbClr val="2E5BD8"/>
            </a:solidFill>
            <a:prstDash val="solid"/>
          </a:ln>
        </p:spPr>
      </p:sp>
      <p:sp>
        <p:nvSpPr>
          <p:cNvPr id="35" name="Text 33"/>
          <p:cNvSpPr/>
          <p:nvPr/>
        </p:nvSpPr>
        <p:spPr>
          <a:xfrm>
            <a:off x="822960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36" name="Text 34"/>
          <p:cNvSpPr/>
          <p:nvPr/>
        </p:nvSpPr>
        <p:spPr>
          <a:xfrm>
            <a:off x="8778240" y="361188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Maths • units</a:t>
            </a:r>
            <a:endParaRPr lang="en-US" sz="1050" dirty="0"/>
          </a:p>
        </p:txBody>
      </p:sp>
      <p:sp>
        <p:nvSpPr>
          <p:cNvPr id="37" name="Text 35"/>
          <p:cNvSpPr/>
          <p:nvPr/>
        </p:nvSpPr>
        <p:spPr>
          <a:xfrm>
            <a:off x="827532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Convert </a:t>
            </a:r>
            <a:r>
              <a:rPr lang="en-US" sz="1250" b="1" dirty="0">
                <a:solidFill>
                  <a:srgbClr val="262B3A"/>
                </a:solidFill>
                <a:latin typeface="Calibri" pitchFamily="34" charset="0"/>
                <a:ea typeface="Calibri" pitchFamily="34" charset="-122"/>
                <a:cs typeface="Calibri" pitchFamily="34" charset="-120"/>
              </a:rPr>
              <a:t>250 g</a:t>
            </a:r>
            <a:r>
              <a:rPr lang="en-US" sz="1250" dirty="0">
                <a:solidFill>
                  <a:srgbClr val="262B3A"/>
                </a:solidFill>
                <a:latin typeface="Calibri" pitchFamily="34" charset="0"/>
                <a:ea typeface="Calibri" pitchFamily="34" charset="-122"/>
                <a:cs typeface="Calibri" pitchFamily="34" charset="-120"/>
              </a:rPr>
              <a:t> into kg. Convert </a:t>
            </a:r>
            <a:r>
              <a:rPr lang="en-US" sz="1250" b="1" dirty="0">
                <a:solidFill>
                  <a:srgbClr val="262B3A"/>
                </a:solidFill>
                <a:latin typeface="Calibri" pitchFamily="34" charset="0"/>
                <a:ea typeface="Calibri" pitchFamily="34" charset="-122"/>
                <a:cs typeface="Calibri" pitchFamily="34" charset="-120"/>
              </a:rPr>
              <a:t>500 cm³</a:t>
            </a:r>
            <a:r>
              <a:rPr lang="en-US" sz="1250" dirty="0">
                <a:solidFill>
                  <a:srgbClr val="262B3A"/>
                </a:solidFill>
                <a:latin typeface="Calibri" pitchFamily="34" charset="0"/>
                <a:ea typeface="Calibri" pitchFamily="34" charset="-122"/>
                <a:cs typeface="Calibri" pitchFamily="34" charset="-120"/>
              </a:rPr>
              <a:t> into m³.</a:t>
            </a:r>
            <a:endParaRPr lang="en-US" sz="1250" dirty="0"/>
          </a:p>
        </p:txBody>
      </p:sp>
      <p:sp>
        <p:nvSpPr>
          <p:cNvPr id="38" name="Shape 36"/>
          <p:cNvSpPr/>
          <p:nvPr/>
        </p:nvSpPr>
        <p:spPr>
          <a:xfrm>
            <a:off x="411480" y="5715000"/>
            <a:ext cx="11368735" cy="548640"/>
          </a:xfrm>
          <a:prstGeom prst="rect">
            <a:avLst/>
          </a:prstGeom>
          <a:solidFill>
            <a:srgbClr val="EEF2FA"/>
          </a:solidFill>
          <a:ln w="12700">
            <a:solidFill>
              <a:srgbClr val="D5DCEB"/>
            </a:solidFill>
            <a:prstDash val="solid"/>
          </a:ln>
        </p:spPr>
      </p:sp>
      <p:sp>
        <p:nvSpPr>
          <p:cNvPr id="39" name="Text 37"/>
          <p:cNvSpPr/>
          <p:nvPr/>
        </p:nvSpPr>
        <p:spPr>
          <a:xfrm>
            <a:off x="640080" y="5715000"/>
            <a:ext cx="10911535" cy="548640"/>
          </a:xfrm>
          <a:prstGeom prst="rect">
            <a:avLst/>
          </a:prstGeom>
          <a:noFill/>
          <a:ln/>
        </p:spPr>
        <p:txBody>
          <a:bodyPr wrap="square" lIns="0" tIns="0" rIns="0" bIns="0" rtlCol="0" anchor="ctr"/>
          <a:lstStyle/>
          <a:p>
            <a:pPr indent="0" marL="0">
              <a:buNone/>
            </a:pPr>
            <a:r>
              <a:rPr lang="en-US" sz="1200" b="1" dirty="0">
                <a:solidFill>
                  <a:srgbClr val="2E5BD8"/>
                </a:solidFill>
                <a:latin typeface="Calibri" pitchFamily="34" charset="0"/>
                <a:ea typeface="Calibri" pitchFamily="34" charset="-122"/>
                <a:cs typeface="Calibri" pitchFamily="34" charset="-120"/>
              </a:rPr>
              <a:t>Self-mark   </a:t>
            </a:r>
            <a:r>
              <a:rPr lang="en-US" sz="1200" dirty="0">
                <a:solidFill>
                  <a:srgbClr val="262B3A"/>
                </a:solidFill>
                <a:latin typeface="Calibri" pitchFamily="34" charset="0"/>
                <a:ea typeface="Calibri" pitchFamily="34" charset="-122"/>
                <a:cs typeface="Calibri" pitchFamily="34" charset="-120"/>
              </a:rPr>
              <a:t>Swap and mark from the answers.  6/6 secure  •  4–5 nearly there  •  0–3 revisit the topic notes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Changes of state and conservation of mass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P6.1.1 • the particles are rearranged, not created or destroyed</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P6.1 How does energy transform matter?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P6.1.1  |  5</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the same particles in three arrangements; arrows show the changes of state</a:t>
            </a:r>
            <a:endParaRPr lang="en-US" sz="1000" dirty="0"/>
          </a:p>
        </p:txBody>
      </p:sp>
      <p:sp>
        <p:nvSpPr>
          <p:cNvPr id="10" name="Shape 8"/>
          <p:cNvSpPr/>
          <p:nvPr/>
        </p:nvSpPr>
        <p:spPr>
          <a:xfrm>
            <a:off x="2487168" y="1417320"/>
            <a:ext cx="1417320" cy="1051560"/>
          </a:xfrm>
          <a:prstGeom prst="rect">
            <a:avLst/>
          </a:prstGeom>
          <a:solidFill>
            <a:srgbClr val="FFFFFF"/>
          </a:solidFill>
          <a:ln w="15875">
            <a:solidFill>
              <a:srgbClr val="1A2340"/>
            </a:solidFill>
            <a:prstDash val="solid"/>
          </a:ln>
        </p:spPr>
      </p:sp>
      <p:sp>
        <p:nvSpPr>
          <p:cNvPr id="11" name="Shape 9"/>
          <p:cNvSpPr/>
          <p:nvPr/>
        </p:nvSpPr>
        <p:spPr>
          <a:xfrm>
            <a:off x="3133821" y="1890118"/>
            <a:ext cx="149230" cy="149230"/>
          </a:xfrm>
          <a:prstGeom prst="ellipse">
            <a:avLst/>
          </a:prstGeom>
          <a:solidFill>
            <a:srgbClr val="E0884A"/>
          </a:solidFill>
          <a:ln w="9525">
            <a:solidFill>
              <a:srgbClr val="9A5320"/>
            </a:solidFill>
            <a:prstDash val="solid"/>
          </a:ln>
        </p:spPr>
      </p:sp>
      <p:sp>
        <p:nvSpPr>
          <p:cNvPr id="12" name="Shape 10"/>
          <p:cNvSpPr/>
          <p:nvPr/>
        </p:nvSpPr>
        <p:spPr>
          <a:xfrm flipH="1">
            <a:off x="3071484" y="2036100"/>
            <a:ext cx="89875" cy="136248"/>
          </a:xfrm>
          <a:prstGeom prst="line">
            <a:avLst/>
          </a:prstGeom>
          <a:noFill/>
          <a:ln w="12700">
            <a:solidFill>
              <a:srgbClr val="6B7385"/>
            </a:solidFill>
            <a:prstDash val="solid"/>
            <a:tailEnd type="triangle"/>
          </a:ln>
        </p:spPr>
      </p:sp>
      <p:sp>
        <p:nvSpPr>
          <p:cNvPr id="13" name="Shape 11"/>
          <p:cNvSpPr/>
          <p:nvPr/>
        </p:nvSpPr>
        <p:spPr>
          <a:xfrm>
            <a:off x="2664224" y="1890521"/>
            <a:ext cx="149230" cy="149230"/>
          </a:xfrm>
          <a:prstGeom prst="ellipse">
            <a:avLst/>
          </a:prstGeom>
          <a:solidFill>
            <a:srgbClr val="E0884A"/>
          </a:solidFill>
          <a:ln w="9525">
            <a:solidFill>
              <a:srgbClr val="9A5320"/>
            </a:solidFill>
            <a:prstDash val="solid"/>
          </a:ln>
        </p:spPr>
      </p:sp>
      <p:sp>
        <p:nvSpPr>
          <p:cNvPr id="14" name="Shape 12"/>
          <p:cNvSpPr/>
          <p:nvPr/>
        </p:nvSpPr>
        <p:spPr>
          <a:xfrm flipH="1">
            <a:off x="2540991" y="2016946"/>
            <a:ext cx="129838" cy="98909"/>
          </a:xfrm>
          <a:prstGeom prst="line">
            <a:avLst/>
          </a:prstGeom>
          <a:noFill/>
          <a:ln w="12700">
            <a:solidFill>
              <a:srgbClr val="6B7385"/>
            </a:solidFill>
            <a:prstDash val="solid"/>
            <a:tailEnd type="triangle"/>
          </a:ln>
        </p:spPr>
      </p:sp>
      <p:sp>
        <p:nvSpPr>
          <p:cNvPr id="15" name="Shape 13"/>
          <p:cNvSpPr/>
          <p:nvPr/>
        </p:nvSpPr>
        <p:spPr>
          <a:xfrm>
            <a:off x="2851006" y="1547919"/>
            <a:ext cx="149230" cy="149230"/>
          </a:xfrm>
          <a:prstGeom prst="ellipse">
            <a:avLst/>
          </a:prstGeom>
          <a:solidFill>
            <a:srgbClr val="E0884A"/>
          </a:solidFill>
          <a:ln w="9525">
            <a:solidFill>
              <a:srgbClr val="9A5320"/>
            </a:solidFill>
            <a:prstDash val="solid"/>
          </a:ln>
        </p:spPr>
      </p:sp>
      <p:sp>
        <p:nvSpPr>
          <p:cNvPr id="16" name="Shape 14"/>
          <p:cNvSpPr/>
          <p:nvPr/>
        </p:nvSpPr>
        <p:spPr>
          <a:xfrm>
            <a:off x="2981323" y="1687394"/>
            <a:ext cx="106341" cy="123825"/>
          </a:xfrm>
          <a:prstGeom prst="line">
            <a:avLst/>
          </a:prstGeom>
          <a:noFill/>
          <a:ln w="12700">
            <a:solidFill>
              <a:srgbClr val="6B7385"/>
            </a:solidFill>
            <a:prstDash val="solid"/>
            <a:tailEnd type="triangle"/>
          </a:ln>
        </p:spPr>
      </p:sp>
      <p:sp>
        <p:nvSpPr>
          <p:cNvPr id="17" name="Shape 15"/>
          <p:cNvSpPr/>
          <p:nvPr/>
        </p:nvSpPr>
        <p:spPr>
          <a:xfrm>
            <a:off x="3383356" y="2213542"/>
            <a:ext cx="149230" cy="149230"/>
          </a:xfrm>
          <a:prstGeom prst="ellipse">
            <a:avLst/>
          </a:prstGeom>
          <a:solidFill>
            <a:srgbClr val="E0884A"/>
          </a:solidFill>
          <a:ln w="9525">
            <a:solidFill>
              <a:srgbClr val="9A5320"/>
            </a:solidFill>
            <a:prstDash val="solid"/>
          </a:ln>
        </p:spPr>
      </p:sp>
      <p:sp>
        <p:nvSpPr>
          <p:cNvPr id="18" name="Shape 16"/>
          <p:cNvSpPr/>
          <p:nvPr/>
        </p:nvSpPr>
        <p:spPr>
          <a:xfrm flipH="1">
            <a:off x="3386825" y="2370081"/>
            <a:ext cx="46690" cy="156400"/>
          </a:xfrm>
          <a:prstGeom prst="line">
            <a:avLst/>
          </a:prstGeom>
          <a:noFill/>
          <a:ln w="12700">
            <a:solidFill>
              <a:srgbClr val="6B7385"/>
            </a:solidFill>
            <a:prstDash val="solid"/>
            <a:tailEnd type="triangle"/>
          </a:ln>
        </p:spPr>
      </p:sp>
      <p:sp>
        <p:nvSpPr>
          <p:cNvPr id="19" name="Shape 17"/>
          <p:cNvSpPr/>
          <p:nvPr/>
        </p:nvSpPr>
        <p:spPr>
          <a:xfrm>
            <a:off x="3497170" y="1610754"/>
            <a:ext cx="149230" cy="149230"/>
          </a:xfrm>
          <a:prstGeom prst="ellipse">
            <a:avLst/>
          </a:prstGeom>
          <a:solidFill>
            <a:srgbClr val="E0884A"/>
          </a:solidFill>
          <a:ln w="9525">
            <a:solidFill>
              <a:srgbClr val="9A5320"/>
            </a:solidFill>
            <a:prstDash val="solid"/>
          </a:ln>
        </p:spPr>
      </p:sp>
      <p:sp>
        <p:nvSpPr>
          <p:cNvPr id="20" name="Shape 18"/>
          <p:cNvSpPr/>
          <p:nvPr/>
        </p:nvSpPr>
        <p:spPr>
          <a:xfrm flipV="1">
            <a:off x="3650898" y="1591071"/>
            <a:ext cx="151034" cy="61883"/>
          </a:xfrm>
          <a:prstGeom prst="line">
            <a:avLst/>
          </a:prstGeom>
          <a:noFill/>
          <a:ln w="12700">
            <a:solidFill>
              <a:srgbClr val="6B7385"/>
            </a:solidFill>
            <a:prstDash val="solid"/>
            <a:tailEnd type="triangle"/>
          </a:ln>
        </p:spPr>
      </p:sp>
      <p:sp>
        <p:nvSpPr>
          <p:cNvPr id="21" name="Shape 19"/>
          <p:cNvSpPr/>
          <p:nvPr/>
        </p:nvSpPr>
        <p:spPr>
          <a:xfrm>
            <a:off x="2918342" y="2228815"/>
            <a:ext cx="149230" cy="149230"/>
          </a:xfrm>
          <a:prstGeom prst="ellipse">
            <a:avLst/>
          </a:prstGeom>
          <a:solidFill>
            <a:srgbClr val="E0884A"/>
          </a:solidFill>
          <a:ln w="9525">
            <a:solidFill>
              <a:srgbClr val="9A5320"/>
            </a:solidFill>
            <a:prstDash val="solid"/>
          </a:ln>
        </p:spPr>
      </p:sp>
      <p:sp>
        <p:nvSpPr>
          <p:cNvPr id="22" name="Shape 20"/>
          <p:cNvSpPr/>
          <p:nvPr/>
        </p:nvSpPr>
        <p:spPr>
          <a:xfrm>
            <a:off x="3007479" y="2387684"/>
            <a:ext cx="27725" cy="160848"/>
          </a:xfrm>
          <a:prstGeom prst="line">
            <a:avLst/>
          </a:prstGeom>
          <a:noFill/>
          <a:ln w="12700">
            <a:solidFill>
              <a:srgbClr val="6B7385"/>
            </a:solidFill>
            <a:prstDash val="solid"/>
            <a:tailEnd type="triangle"/>
          </a:ln>
        </p:spPr>
      </p:sp>
      <p:sp>
        <p:nvSpPr>
          <p:cNvPr id="23" name="Shape 21"/>
          <p:cNvSpPr/>
          <p:nvPr/>
        </p:nvSpPr>
        <p:spPr>
          <a:xfrm>
            <a:off x="685800" y="3703320"/>
            <a:ext cx="1417320" cy="1051560"/>
          </a:xfrm>
          <a:prstGeom prst="rect">
            <a:avLst/>
          </a:prstGeom>
          <a:solidFill>
            <a:srgbClr val="FFFFFF"/>
          </a:solidFill>
          <a:ln w="15875">
            <a:solidFill>
              <a:srgbClr val="1A2340"/>
            </a:solidFill>
            <a:prstDash val="solid"/>
          </a:ln>
        </p:spPr>
      </p:sp>
      <p:sp>
        <p:nvSpPr>
          <p:cNvPr id="24" name="Shape 22"/>
          <p:cNvSpPr/>
          <p:nvPr/>
        </p:nvSpPr>
        <p:spPr>
          <a:xfrm>
            <a:off x="775777" y="4575109"/>
            <a:ext cx="149230" cy="149230"/>
          </a:xfrm>
          <a:prstGeom prst="ellipse">
            <a:avLst/>
          </a:prstGeom>
          <a:solidFill>
            <a:srgbClr val="5B7FD6"/>
          </a:solidFill>
          <a:ln w="9525">
            <a:solidFill>
              <a:srgbClr val="2E4A9A"/>
            </a:solidFill>
            <a:prstDash val="solid"/>
          </a:ln>
        </p:spPr>
      </p:sp>
      <p:sp>
        <p:nvSpPr>
          <p:cNvPr id="25" name="Shape 23"/>
          <p:cNvSpPr/>
          <p:nvPr/>
        </p:nvSpPr>
        <p:spPr>
          <a:xfrm>
            <a:off x="931225" y="4575109"/>
            <a:ext cx="149230" cy="149230"/>
          </a:xfrm>
          <a:prstGeom prst="ellipse">
            <a:avLst/>
          </a:prstGeom>
          <a:solidFill>
            <a:srgbClr val="5B7FD6"/>
          </a:solidFill>
          <a:ln w="9525">
            <a:solidFill>
              <a:srgbClr val="2E4A9A"/>
            </a:solidFill>
            <a:prstDash val="solid"/>
          </a:ln>
        </p:spPr>
      </p:sp>
      <p:sp>
        <p:nvSpPr>
          <p:cNvPr id="26" name="Shape 24"/>
          <p:cNvSpPr/>
          <p:nvPr/>
        </p:nvSpPr>
        <p:spPr>
          <a:xfrm>
            <a:off x="1086673" y="4575109"/>
            <a:ext cx="149230" cy="149230"/>
          </a:xfrm>
          <a:prstGeom prst="ellipse">
            <a:avLst/>
          </a:prstGeom>
          <a:solidFill>
            <a:srgbClr val="5B7FD6"/>
          </a:solidFill>
          <a:ln w="9525">
            <a:solidFill>
              <a:srgbClr val="2E4A9A"/>
            </a:solidFill>
            <a:prstDash val="solid"/>
          </a:ln>
        </p:spPr>
      </p:sp>
      <p:sp>
        <p:nvSpPr>
          <p:cNvPr id="27" name="Shape 25"/>
          <p:cNvSpPr/>
          <p:nvPr/>
        </p:nvSpPr>
        <p:spPr>
          <a:xfrm>
            <a:off x="1242121" y="4575109"/>
            <a:ext cx="149230" cy="149230"/>
          </a:xfrm>
          <a:prstGeom prst="ellipse">
            <a:avLst/>
          </a:prstGeom>
          <a:solidFill>
            <a:srgbClr val="5B7FD6"/>
          </a:solidFill>
          <a:ln w="9525">
            <a:solidFill>
              <a:srgbClr val="2E4A9A"/>
            </a:solidFill>
            <a:prstDash val="solid"/>
          </a:ln>
        </p:spPr>
      </p:sp>
      <p:sp>
        <p:nvSpPr>
          <p:cNvPr id="28" name="Shape 26"/>
          <p:cNvSpPr/>
          <p:nvPr/>
        </p:nvSpPr>
        <p:spPr>
          <a:xfrm>
            <a:off x="1397569" y="4575109"/>
            <a:ext cx="149230" cy="149230"/>
          </a:xfrm>
          <a:prstGeom prst="ellipse">
            <a:avLst/>
          </a:prstGeom>
          <a:solidFill>
            <a:srgbClr val="5B7FD6"/>
          </a:solidFill>
          <a:ln w="9525">
            <a:solidFill>
              <a:srgbClr val="2E4A9A"/>
            </a:solidFill>
            <a:prstDash val="solid"/>
          </a:ln>
        </p:spPr>
      </p:sp>
      <p:sp>
        <p:nvSpPr>
          <p:cNvPr id="29" name="Shape 27"/>
          <p:cNvSpPr/>
          <p:nvPr/>
        </p:nvSpPr>
        <p:spPr>
          <a:xfrm>
            <a:off x="1553017" y="4575109"/>
            <a:ext cx="149230" cy="149230"/>
          </a:xfrm>
          <a:prstGeom prst="ellipse">
            <a:avLst/>
          </a:prstGeom>
          <a:solidFill>
            <a:srgbClr val="5B7FD6"/>
          </a:solidFill>
          <a:ln w="9525">
            <a:solidFill>
              <a:srgbClr val="2E4A9A"/>
            </a:solidFill>
            <a:prstDash val="solid"/>
          </a:ln>
        </p:spPr>
      </p:sp>
      <p:sp>
        <p:nvSpPr>
          <p:cNvPr id="30" name="Shape 28"/>
          <p:cNvSpPr/>
          <p:nvPr/>
        </p:nvSpPr>
        <p:spPr>
          <a:xfrm>
            <a:off x="1708465" y="4575109"/>
            <a:ext cx="149230" cy="149230"/>
          </a:xfrm>
          <a:prstGeom prst="ellipse">
            <a:avLst/>
          </a:prstGeom>
          <a:solidFill>
            <a:srgbClr val="5B7FD6"/>
          </a:solidFill>
          <a:ln w="9525">
            <a:solidFill>
              <a:srgbClr val="2E4A9A"/>
            </a:solidFill>
            <a:prstDash val="solid"/>
          </a:ln>
        </p:spPr>
      </p:sp>
      <p:sp>
        <p:nvSpPr>
          <p:cNvPr id="31" name="Shape 29"/>
          <p:cNvSpPr/>
          <p:nvPr/>
        </p:nvSpPr>
        <p:spPr>
          <a:xfrm>
            <a:off x="1863913" y="4575109"/>
            <a:ext cx="149230" cy="149230"/>
          </a:xfrm>
          <a:prstGeom prst="ellipse">
            <a:avLst/>
          </a:prstGeom>
          <a:solidFill>
            <a:srgbClr val="5B7FD6"/>
          </a:solidFill>
          <a:ln w="9525">
            <a:solidFill>
              <a:srgbClr val="2E4A9A"/>
            </a:solidFill>
            <a:prstDash val="solid"/>
          </a:ln>
        </p:spPr>
      </p:sp>
      <p:sp>
        <p:nvSpPr>
          <p:cNvPr id="32" name="Shape 30"/>
          <p:cNvSpPr/>
          <p:nvPr/>
        </p:nvSpPr>
        <p:spPr>
          <a:xfrm>
            <a:off x="775777" y="4419661"/>
            <a:ext cx="149230" cy="149230"/>
          </a:xfrm>
          <a:prstGeom prst="ellipse">
            <a:avLst/>
          </a:prstGeom>
          <a:solidFill>
            <a:srgbClr val="5B7FD6"/>
          </a:solidFill>
          <a:ln w="9525">
            <a:solidFill>
              <a:srgbClr val="2E4A9A"/>
            </a:solidFill>
            <a:prstDash val="solid"/>
          </a:ln>
        </p:spPr>
      </p:sp>
      <p:sp>
        <p:nvSpPr>
          <p:cNvPr id="33" name="Shape 31"/>
          <p:cNvSpPr/>
          <p:nvPr/>
        </p:nvSpPr>
        <p:spPr>
          <a:xfrm>
            <a:off x="931225" y="4419661"/>
            <a:ext cx="149230" cy="149230"/>
          </a:xfrm>
          <a:prstGeom prst="ellipse">
            <a:avLst/>
          </a:prstGeom>
          <a:solidFill>
            <a:srgbClr val="5B7FD6"/>
          </a:solidFill>
          <a:ln w="9525">
            <a:solidFill>
              <a:srgbClr val="2E4A9A"/>
            </a:solidFill>
            <a:prstDash val="solid"/>
          </a:ln>
        </p:spPr>
      </p:sp>
      <p:sp>
        <p:nvSpPr>
          <p:cNvPr id="34" name="Shape 32"/>
          <p:cNvSpPr/>
          <p:nvPr/>
        </p:nvSpPr>
        <p:spPr>
          <a:xfrm>
            <a:off x="1086673" y="4419661"/>
            <a:ext cx="149230" cy="149230"/>
          </a:xfrm>
          <a:prstGeom prst="ellipse">
            <a:avLst/>
          </a:prstGeom>
          <a:solidFill>
            <a:srgbClr val="5B7FD6"/>
          </a:solidFill>
          <a:ln w="9525">
            <a:solidFill>
              <a:srgbClr val="2E4A9A"/>
            </a:solidFill>
            <a:prstDash val="solid"/>
          </a:ln>
        </p:spPr>
      </p:sp>
      <p:sp>
        <p:nvSpPr>
          <p:cNvPr id="35" name="Shape 33"/>
          <p:cNvSpPr/>
          <p:nvPr/>
        </p:nvSpPr>
        <p:spPr>
          <a:xfrm>
            <a:off x="1242121" y="4419661"/>
            <a:ext cx="149230" cy="149230"/>
          </a:xfrm>
          <a:prstGeom prst="ellipse">
            <a:avLst/>
          </a:prstGeom>
          <a:solidFill>
            <a:srgbClr val="5B7FD6"/>
          </a:solidFill>
          <a:ln w="9525">
            <a:solidFill>
              <a:srgbClr val="2E4A9A"/>
            </a:solidFill>
            <a:prstDash val="solid"/>
          </a:ln>
        </p:spPr>
      </p:sp>
      <p:sp>
        <p:nvSpPr>
          <p:cNvPr id="36" name="Shape 34"/>
          <p:cNvSpPr/>
          <p:nvPr/>
        </p:nvSpPr>
        <p:spPr>
          <a:xfrm>
            <a:off x="1397569" y="4419661"/>
            <a:ext cx="149230" cy="149230"/>
          </a:xfrm>
          <a:prstGeom prst="ellipse">
            <a:avLst/>
          </a:prstGeom>
          <a:solidFill>
            <a:srgbClr val="5B7FD6"/>
          </a:solidFill>
          <a:ln w="9525">
            <a:solidFill>
              <a:srgbClr val="2E4A9A"/>
            </a:solidFill>
            <a:prstDash val="solid"/>
          </a:ln>
        </p:spPr>
      </p:sp>
      <p:sp>
        <p:nvSpPr>
          <p:cNvPr id="37" name="Shape 35"/>
          <p:cNvSpPr/>
          <p:nvPr/>
        </p:nvSpPr>
        <p:spPr>
          <a:xfrm>
            <a:off x="1553017" y="4419661"/>
            <a:ext cx="149230" cy="149230"/>
          </a:xfrm>
          <a:prstGeom prst="ellipse">
            <a:avLst/>
          </a:prstGeom>
          <a:solidFill>
            <a:srgbClr val="5B7FD6"/>
          </a:solidFill>
          <a:ln w="9525">
            <a:solidFill>
              <a:srgbClr val="2E4A9A"/>
            </a:solidFill>
            <a:prstDash val="solid"/>
          </a:ln>
        </p:spPr>
      </p:sp>
      <p:sp>
        <p:nvSpPr>
          <p:cNvPr id="38" name="Shape 36"/>
          <p:cNvSpPr/>
          <p:nvPr/>
        </p:nvSpPr>
        <p:spPr>
          <a:xfrm>
            <a:off x="1708465" y="4419661"/>
            <a:ext cx="149230" cy="149230"/>
          </a:xfrm>
          <a:prstGeom prst="ellipse">
            <a:avLst/>
          </a:prstGeom>
          <a:solidFill>
            <a:srgbClr val="5B7FD6"/>
          </a:solidFill>
          <a:ln w="9525">
            <a:solidFill>
              <a:srgbClr val="2E4A9A"/>
            </a:solidFill>
            <a:prstDash val="solid"/>
          </a:ln>
        </p:spPr>
      </p:sp>
      <p:sp>
        <p:nvSpPr>
          <p:cNvPr id="39" name="Shape 37"/>
          <p:cNvSpPr/>
          <p:nvPr/>
        </p:nvSpPr>
        <p:spPr>
          <a:xfrm>
            <a:off x="1863913" y="4419661"/>
            <a:ext cx="149230" cy="149230"/>
          </a:xfrm>
          <a:prstGeom prst="ellipse">
            <a:avLst/>
          </a:prstGeom>
          <a:solidFill>
            <a:srgbClr val="5B7FD6"/>
          </a:solidFill>
          <a:ln w="9525">
            <a:solidFill>
              <a:srgbClr val="2E4A9A"/>
            </a:solidFill>
            <a:prstDash val="solid"/>
          </a:ln>
        </p:spPr>
      </p:sp>
      <p:sp>
        <p:nvSpPr>
          <p:cNvPr id="40" name="Shape 38"/>
          <p:cNvSpPr/>
          <p:nvPr/>
        </p:nvSpPr>
        <p:spPr>
          <a:xfrm>
            <a:off x="775777" y="4264213"/>
            <a:ext cx="149230" cy="149230"/>
          </a:xfrm>
          <a:prstGeom prst="ellipse">
            <a:avLst/>
          </a:prstGeom>
          <a:solidFill>
            <a:srgbClr val="5B7FD6"/>
          </a:solidFill>
          <a:ln w="9525">
            <a:solidFill>
              <a:srgbClr val="2E4A9A"/>
            </a:solidFill>
            <a:prstDash val="solid"/>
          </a:ln>
        </p:spPr>
      </p:sp>
      <p:sp>
        <p:nvSpPr>
          <p:cNvPr id="41" name="Shape 39"/>
          <p:cNvSpPr/>
          <p:nvPr/>
        </p:nvSpPr>
        <p:spPr>
          <a:xfrm>
            <a:off x="931225" y="4264213"/>
            <a:ext cx="149230" cy="149230"/>
          </a:xfrm>
          <a:prstGeom prst="ellipse">
            <a:avLst/>
          </a:prstGeom>
          <a:solidFill>
            <a:srgbClr val="5B7FD6"/>
          </a:solidFill>
          <a:ln w="9525">
            <a:solidFill>
              <a:srgbClr val="2E4A9A"/>
            </a:solidFill>
            <a:prstDash val="solid"/>
          </a:ln>
        </p:spPr>
      </p:sp>
      <p:sp>
        <p:nvSpPr>
          <p:cNvPr id="42" name="Shape 40"/>
          <p:cNvSpPr/>
          <p:nvPr/>
        </p:nvSpPr>
        <p:spPr>
          <a:xfrm>
            <a:off x="1086673" y="4264213"/>
            <a:ext cx="149230" cy="149230"/>
          </a:xfrm>
          <a:prstGeom prst="ellipse">
            <a:avLst/>
          </a:prstGeom>
          <a:solidFill>
            <a:srgbClr val="5B7FD6"/>
          </a:solidFill>
          <a:ln w="9525">
            <a:solidFill>
              <a:srgbClr val="2E4A9A"/>
            </a:solidFill>
            <a:prstDash val="solid"/>
          </a:ln>
        </p:spPr>
      </p:sp>
      <p:sp>
        <p:nvSpPr>
          <p:cNvPr id="43" name="Shape 41"/>
          <p:cNvSpPr/>
          <p:nvPr/>
        </p:nvSpPr>
        <p:spPr>
          <a:xfrm>
            <a:off x="1242121" y="4264213"/>
            <a:ext cx="149230" cy="149230"/>
          </a:xfrm>
          <a:prstGeom prst="ellipse">
            <a:avLst/>
          </a:prstGeom>
          <a:solidFill>
            <a:srgbClr val="5B7FD6"/>
          </a:solidFill>
          <a:ln w="9525">
            <a:solidFill>
              <a:srgbClr val="2E4A9A"/>
            </a:solidFill>
            <a:prstDash val="solid"/>
          </a:ln>
        </p:spPr>
      </p:sp>
      <p:sp>
        <p:nvSpPr>
          <p:cNvPr id="44" name="Shape 42"/>
          <p:cNvSpPr/>
          <p:nvPr/>
        </p:nvSpPr>
        <p:spPr>
          <a:xfrm>
            <a:off x="1397569" y="4264213"/>
            <a:ext cx="149230" cy="149230"/>
          </a:xfrm>
          <a:prstGeom prst="ellipse">
            <a:avLst/>
          </a:prstGeom>
          <a:solidFill>
            <a:srgbClr val="5B7FD6"/>
          </a:solidFill>
          <a:ln w="9525">
            <a:solidFill>
              <a:srgbClr val="2E4A9A"/>
            </a:solidFill>
            <a:prstDash val="solid"/>
          </a:ln>
        </p:spPr>
      </p:sp>
      <p:sp>
        <p:nvSpPr>
          <p:cNvPr id="45" name="Shape 43"/>
          <p:cNvSpPr/>
          <p:nvPr/>
        </p:nvSpPr>
        <p:spPr>
          <a:xfrm>
            <a:off x="1553017" y="4264213"/>
            <a:ext cx="149230" cy="149230"/>
          </a:xfrm>
          <a:prstGeom prst="ellipse">
            <a:avLst/>
          </a:prstGeom>
          <a:solidFill>
            <a:srgbClr val="5B7FD6"/>
          </a:solidFill>
          <a:ln w="9525">
            <a:solidFill>
              <a:srgbClr val="2E4A9A"/>
            </a:solidFill>
            <a:prstDash val="solid"/>
          </a:ln>
        </p:spPr>
      </p:sp>
      <p:sp>
        <p:nvSpPr>
          <p:cNvPr id="46" name="Shape 44"/>
          <p:cNvSpPr/>
          <p:nvPr/>
        </p:nvSpPr>
        <p:spPr>
          <a:xfrm>
            <a:off x="1708465" y="4264213"/>
            <a:ext cx="149230" cy="149230"/>
          </a:xfrm>
          <a:prstGeom prst="ellipse">
            <a:avLst/>
          </a:prstGeom>
          <a:solidFill>
            <a:srgbClr val="5B7FD6"/>
          </a:solidFill>
          <a:ln w="9525">
            <a:solidFill>
              <a:srgbClr val="2E4A9A"/>
            </a:solidFill>
            <a:prstDash val="solid"/>
          </a:ln>
        </p:spPr>
      </p:sp>
      <p:sp>
        <p:nvSpPr>
          <p:cNvPr id="47" name="Shape 45"/>
          <p:cNvSpPr/>
          <p:nvPr/>
        </p:nvSpPr>
        <p:spPr>
          <a:xfrm>
            <a:off x="1863913" y="4264213"/>
            <a:ext cx="149230" cy="149230"/>
          </a:xfrm>
          <a:prstGeom prst="ellipse">
            <a:avLst/>
          </a:prstGeom>
          <a:solidFill>
            <a:srgbClr val="5B7FD6"/>
          </a:solidFill>
          <a:ln w="9525">
            <a:solidFill>
              <a:srgbClr val="2E4A9A"/>
            </a:solidFill>
            <a:prstDash val="solid"/>
          </a:ln>
        </p:spPr>
      </p:sp>
      <p:sp>
        <p:nvSpPr>
          <p:cNvPr id="48" name="Shape 46"/>
          <p:cNvSpPr/>
          <p:nvPr/>
        </p:nvSpPr>
        <p:spPr>
          <a:xfrm>
            <a:off x="775777" y="4108765"/>
            <a:ext cx="149230" cy="149230"/>
          </a:xfrm>
          <a:prstGeom prst="ellipse">
            <a:avLst/>
          </a:prstGeom>
          <a:solidFill>
            <a:srgbClr val="5B7FD6"/>
          </a:solidFill>
          <a:ln w="9525">
            <a:solidFill>
              <a:srgbClr val="2E4A9A"/>
            </a:solidFill>
            <a:prstDash val="solid"/>
          </a:ln>
        </p:spPr>
      </p:sp>
      <p:sp>
        <p:nvSpPr>
          <p:cNvPr id="49" name="Shape 47"/>
          <p:cNvSpPr/>
          <p:nvPr/>
        </p:nvSpPr>
        <p:spPr>
          <a:xfrm>
            <a:off x="931225" y="4108765"/>
            <a:ext cx="149230" cy="149230"/>
          </a:xfrm>
          <a:prstGeom prst="ellipse">
            <a:avLst/>
          </a:prstGeom>
          <a:solidFill>
            <a:srgbClr val="5B7FD6"/>
          </a:solidFill>
          <a:ln w="9525">
            <a:solidFill>
              <a:srgbClr val="2E4A9A"/>
            </a:solidFill>
            <a:prstDash val="solid"/>
          </a:ln>
        </p:spPr>
      </p:sp>
      <p:sp>
        <p:nvSpPr>
          <p:cNvPr id="50" name="Shape 48"/>
          <p:cNvSpPr/>
          <p:nvPr/>
        </p:nvSpPr>
        <p:spPr>
          <a:xfrm>
            <a:off x="1086673" y="4108765"/>
            <a:ext cx="149230" cy="149230"/>
          </a:xfrm>
          <a:prstGeom prst="ellipse">
            <a:avLst/>
          </a:prstGeom>
          <a:solidFill>
            <a:srgbClr val="5B7FD6"/>
          </a:solidFill>
          <a:ln w="9525">
            <a:solidFill>
              <a:srgbClr val="2E4A9A"/>
            </a:solidFill>
            <a:prstDash val="solid"/>
          </a:ln>
        </p:spPr>
      </p:sp>
      <p:sp>
        <p:nvSpPr>
          <p:cNvPr id="51" name="Shape 49"/>
          <p:cNvSpPr/>
          <p:nvPr/>
        </p:nvSpPr>
        <p:spPr>
          <a:xfrm>
            <a:off x="1242121" y="4108765"/>
            <a:ext cx="149230" cy="149230"/>
          </a:xfrm>
          <a:prstGeom prst="ellipse">
            <a:avLst/>
          </a:prstGeom>
          <a:solidFill>
            <a:srgbClr val="5B7FD6"/>
          </a:solidFill>
          <a:ln w="9525">
            <a:solidFill>
              <a:srgbClr val="2E4A9A"/>
            </a:solidFill>
            <a:prstDash val="solid"/>
          </a:ln>
        </p:spPr>
      </p:sp>
      <p:sp>
        <p:nvSpPr>
          <p:cNvPr id="52" name="Shape 50"/>
          <p:cNvSpPr/>
          <p:nvPr/>
        </p:nvSpPr>
        <p:spPr>
          <a:xfrm>
            <a:off x="1397569" y="4108765"/>
            <a:ext cx="149230" cy="149230"/>
          </a:xfrm>
          <a:prstGeom prst="ellipse">
            <a:avLst/>
          </a:prstGeom>
          <a:solidFill>
            <a:srgbClr val="5B7FD6"/>
          </a:solidFill>
          <a:ln w="9525">
            <a:solidFill>
              <a:srgbClr val="2E4A9A"/>
            </a:solidFill>
            <a:prstDash val="solid"/>
          </a:ln>
        </p:spPr>
      </p:sp>
      <p:sp>
        <p:nvSpPr>
          <p:cNvPr id="53" name="Shape 51"/>
          <p:cNvSpPr/>
          <p:nvPr/>
        </p:nvSpPr>
        <p:spPr>
          <a:xfrm>
            <a:off x="1553017" y="4108765"/>
            <a:ext cx="149230" cy="149230"/>
          </a:xfrm>
          <a:prstGeom prst="ellipse">
            <a:avLst/>
          </a:prstGeom>
          <a:solidFill>
            <a:srgbClr val="5B7FD6"/>
          </a:solidFill>
          <a:ln w="9525">
            <a:solidFill>
              <a:srgbClr val="2E4A9A"/>
            </a:solidFill>
            <a:prstDash val="solid"/>
          </a:ln>
        </p:spPr>
      </p:sp>
      <p:sp>
        <p:nvSpPr>
          <p:cNvPr id="54" name="Shape 52"/>
          <p:cNvSpPr/>
          <p:nvPr/>
        </p:nvSpPr>
        <p:spPr>
          <a:xfrm>
            <a:off x="1708465" y="4108765"/>
            <a:ext cx="149230" cy="149230"/>
          </a:xfrm>
          <a:prstGeom prst="ellipse">
            <a:avLst/>
          </a:prstGeom>
          <a:solidFill>
            <a:srgbClr val="5B7FD6"/>
          </a:solidFill>
          <a:ln w="9525">
            <a:solidFill>
              <a:srgbClr val="2E4A9A"/>
            </a:solidFill>
            <a:prstDash val="solid"/>
          </a:ln>
        </p:spPr>
      </p:sp>
      <p:sp>
        <p:nvSpPr>
          <p:cNvPr id="55" name="Shape 53"/>
          <p:cNvSpPr/>
          <p:nvPr/>
        </p:nvSpPr>
        <p:spPr>
          <a:xfrm>
            <a:off x="1863913" y="4108765"/>
            <a:ext cx="149230" cy="149230"/>
          </a:xfrm>
          <a:prstGeom prst="ellipse">
            <a:avLst/>
          </a:prstGeom>
          <a:solidFill>
            <a:srgbClr val="5B7FD6"/>
          </a:solidFill>
          <a:ln w="9525">
            <a:solidFill>
              <a:srgbClr val="2E4A9A"/>
            </a:solidFill>
            <a:prstDash val="solid"/>
          </a:ln>
        </p:spPr>
      </p:sp>
      <p:sp>
        <p:nvSpPr>
          <p:cNvPr id="56" name="Shape 54"/>
          <p:cNvSpPr/>
          <p:nvPr/>
        </p:nvSpPr>
        <p:spPr>
          <a:xfrm>
            <a:off x="775777" y="3953317"/>
            <a:ext cx="149230" cy="149230"/>
          </a:xfrm>
          <a:prstGeom prst="ellipse">
            <a:avLst/>
          </a:prstGeom>
          <a:solidFill>
            <a:srgbClr val="5B7FD6"/>
          </a:solidFill>
          <a:ln w="9525">
            <a:solidFill>
              <a:srgbClr val="2E4A9A"/>
            </a:solidFill>
            <a:prstDash val="solid"/>
          </a:ln>
        </p:spPr>
      </p:sp>
      <p:sp>
        <p:nvSpPr>
          <p:cNvPr id="57" name="Shape 55"/>
          <p:cNvSpPr/>
          <p:nvPr/>
        </p:nvSpPr>
        <p:spPr>
          <a:xfrm>
            <a:off x="931225" y="3953317"/>
            <a:ext cx="149230" cy="149230"/>
          </a:xfrm>
          <a:prstGeom prst="ellipse">
            <a:avLst/>
          </a:prstGeom>
          <a:solidFill>
            <a:srgbClr val="5B7FD6"/>
          </a:solidFill>
          <a:ln w="9525">
            <a:solidFill>
              <a:srgbClr val="2E4A9A"/>
            </a:solidFill>
            <a:prstDash val="solid"/>
          </a:ln>
        </p:spPr>
      </p:sp>
      <p:sp>
        <p:nvSpPr>
          <p:cNvPr id="58" name="Shape 56"/>
          <p:cNvSpPr/>
          <p:nvPr/>
        </p:nvSpPr>
        <p:spPr>
          <a:xfrm>
            <a:off x="1086673" y="3953317"/>
            <a:ext cx="149230" cy="149230"/>
          </a:xfrm>
          <a:prstGeom prst="ellipse">
            <a:avLst/>
          </a:prstGeom>
          <a:solidFill>
            <a:srgbClr val="5B7FD6"/>
          </a:solidFill>
          <a:ln w="9525">
            <a:solidFill>
              <a:srgbClr val="2E4A9A"/>
            </a:solidFill>
            <a:prstDash val="solid"/>
          </a:ln>
        </p:spPr>
      </p:sp>
      <p:sp>
        <p:nvSpPr>
          <p:cNvPr id="59" name="Shape 57"/>
          <p:cNvSpPr/>
          <p:nvPr/>
        </p:nvSpPr>
        <p:spPr>
          <a:xfrm>
            <a:off x="1242121" y="3953317"/>
            <a:ext cx="149230" cy="149230"/>
          </a:xfrm>
          <a:prstGeom prst="ellipse">
            <a:avLst/>
          </a:prstGeom>
          <a:solidFill>
            <a:srgbClr val="5B7FD6"/>
          </a:solidFill>
          <a:ln w="9525">
            <a:solidFill>
              <a:srgbClr val="2E4A9A"/>
            </a:solidFill>
            <a:prstDash val="solid"/>
          </a:ln>
        </p:spPr>
      </p:sp>
      <p:sp>
        <p:nvSpPr>
          <p:cNvPr id="60" name="Shape 58"/>
          <p:cNvSpPr/>
          <p:nvPr/>
        </p:nvSpPr>
        <p:spPr>
          <a:xfrm>
            <a:off x="1397569" y="3953317"/>
            <a:ext cx="149230" cy="149230"/>
          </a:xfrm>
          <a:prstGeom prst="ellipse">
            <a:avLst/>
          </a:prstGeom>
          <a:solidFill>
            <a:srgbClr val="5B7FD6"/>
          </a:solidFill>
          <a:ln w="9525">
            <a:solidFill>
              <a:srgbClr val="2E4A9A"/>
            </a:solidFill>
            <a:prstDash val="solid"/>
          </a:ln>
        </p:spPr>
      </p:sp>
      <p:sp>
        <p:nvSpPr>
          <p:cNvPr id="61" name="Shape 59"/>
          <p:cNvSpPr/>
          <p:nvPr/>
        </p:nvSpPr>
        <p:spPr>
          <a:xfrm>
            <a:off x="1553017" y="3953317"/>
            <a:ext cx="149230" cy="149230"/>
          </a:xfrm>
          <a:prstGeom prst="ellipse">
            <a:avLst/>
          </a:prstGeom>
          <a:solidFill>
            <a:srgbClr val="5B7FD6"/>
          </a:solidFill>
          <a:ln w="9525">
            <a:solidFill>
              <a:srgbClr val="2E4A9A"/>
            </a:solidFill>
            <a:prstDash val="solid"/>
          </a:ln>
        </p:spPr>
      </p:sp>
      <p:sp>
        <p:nvSpPr>
          <p:cNvPr id="62" name="Shape 60"/>
          <p:cNvSpPr/>
          <p:nvPr/>
        </p:nvSpPr>
        <p:spPr>
          <a:xfrm>
            <a:off x="1708465" y="3953317"/>
            <a:ext cx="149230" cy="149230"/>
          </a:xfrm>
          <a:prstGeom prst="ellipse">
            <a:avLst/>
          </a:prstGeom>
          <a:solidFill>
            <a:srgbClr val="5B7FD6"/>
          </a:solidFill>
          <a:ln w="9525">
            <a:solidFill>
              <a:srgbClr val="2E4A9A"/>
            </a:solidFill>
            <a:prstDash val="solid"/>
          </a:ln>
        </p:spPr>
      </p:sp>
      <p:sp>
        <p:nvSpPr>
          <p:cNvPr id="63" name="Shape 61"/>
          <p:cNvSpPr/>
          <p:nvPr/>
        </p:nvSpPr>
        <p:spPr>
          <a:xfrm>
            <a:off x="1863913" y="3953317"/>
            <a:ext cx="149230" cy="149230"/>
          </a:xfrm>
          <a:prstGeom prst="ellipse">
            <a:avLst/>
          </a:prstGeom>
          <a:solidFill>
            <a:srgbClr val="5B7FD6"/>
          </a:solidFill>
          <a:ln w="9525">
            <a:solidFill>
              <a:srgbClr val="2E4A9A"/>
            </a:solidFill>
            <a:prstDash val="solid"/>
          </a:ln>
        </p:spPr>
      </p:sp>
      <p:sp>
        <p:nvSpPr>
          <p:cNvPr id="64" name="Shape 62"/>
          <p:cNvSpPr/>
          <p:nvPr/>
        </p:nvSpPr>
        <p:spPr>
          <a:xfrm>
            <a:off x="775777" y="3797869"/>
            <a:ext cx="149230" cy="149230"/>
          </a:xfrm>
          <a:prstGeom prst="ellipse">
            <a:avLst/>
          </a:prstGeom>
          <a:solidFill>
            <a:srgbClr val="5B7FD6"/>
          </a:solidFill>
          <a:ln w="9525">
            <a:solidFill>
              <a:srgbClr val="2E4A9A"/>
            </a:solidFill>
            <a:prstDash val="solid"/>
          </a:ln>
        </p:spPr>
      </p:sp>
      <p:sp>
        <p:nvSpPr>
          <p:cNvPr id="65" name="Shape 63"/>
          <p:cNvSpPr/>
          <p:nvPr/>
        </p:nvSpPr>
        <p:spPr>
          <a:xfrm>
            <a:off x="931225" y="3797869"/>
            <a:ext cx="149230" cy="149230"/>
          </a:xfrm>
          <a:prstGeom prst="ellipse">
            <a:avLst/>
          </a:prstGeom>
          <a:solidFill>
            <a:srgbClr val="5B7FD6"/>
          </a:solidFill>
          <a:ln w="9525">
            <a:solidFill>
              <a:srgbClr val="2E4A9A"/>
            </a:solidFill>
            <a:prstDash val="solid"/>
          </a:ln>
        </p:spPr>
      </p:sp>
      <p:sp>
        <p:nvSpPr>
          <p:cNvPr id="66" name="Shape 64"/>
          <p:cNvSpPr/>
          <p:nvPr/>
        </p:nvSpPr>
        <p:spPr>
          <a:xfrm>
            <a:off x="1086673" y="3797869"/>
            <a:ext cx="149230" cy="149230"/>
          </a:xfrm>
          <a:prstGeom prst="ellipse">
            <a:avLst/>
          </a:prstGeom>
          <a:solidFill>
            <a:srgbClr val="5B7FD6"/>
          </a:solidFill>
          <a:ln w="9525">
            <a:solidFill>
              <a:srgbClr val="2E4A9A"/>
            </a:solidFill>
            <a:prstDash val="solid"/>
          </a:ln>
        </p:spPr>
      </p:sp>
      <p:sp>
        <p:nvSpPr>
          <p:cNvPr id="67" name="Shape 65"/>
          <p:cNvSpPr/>
          <p:nvPr/>
        </p:nvSpPr>
        <p:spPr>
          <a:xfrm>
            <a:off x="1242121" y="3797869"/>
            <a:ext cx="149230" cy="149230"/>
          </a:xfrm>
          <a:prstGeom prst="ellipse">
            <a:avLst/>
          </a:prstGeom>
          <a:solidFill>
            <a:srgbClr val="5B7FD6"/>
          </a:solidFill>
          <a:ln w="9525">
            <a:solidFill>
              <a:srgbClr val="2E4A9A"/>
            </a:solidFill>
            <a:prstDash val="solid"/>
          </a:ln>
        </p:spPr>
      </p:sp>
      <p:sp>
        <p:nvSpPr>
          <p:cNvPr id="68" name="Shape 66"/>
          <p:cNvSpPr/>
          <p:nvPr/>
        </p:nvSpPr>
        <p:spPr>
          <a:xfrm>
            <a:off x="1397569" y="3797869"/>
            <a:ext cx="149230" cy="149230"/>
          </a:xfrm>
          <a:prstGeom prst="ellipse">
            <a:avLst/>
          </a:prstGeom>
          <a:solidFill>
            <a:srgbClr val="5B7FD6"/>
          </a:solidFill>
          <a:ln w="9525">
            <a:solidFill>
              <a:srgbClr val="2E4A9A"/>
            </a:solidFill>
            <a:prstDash val="solid"/>
          </a:ln>
        </p:spPr>
      </p:sp>
      <p:sp>
        <p:nvSpPr>
          <p:cNvPr id="69" name="Shape 67"/>
          <p:cNvSpPr/>
          <p:nvPr/>
        </p:nvSpPr>
        <p:spPr>
          <a:xfrm>
            <a:off x="1553017" y="3797869"/>
            <a:ext cx="149230" cy="149230"/>
          </a:xfrm>
          <a:prstGeom prst="ellipse">
            <a:avLst/>
          </a:prstGeom>
          <a:solidFill>
            <a:srgbClr val="5B7FD6"/>
          </a:solidFill>
          <a:ln w="9525">
            <a:solidFill>
              <a:srgbClr val="2E4A9A"/>
            </a:solidFill>
            <a:prstDash val="solid"/>
          </a:ln>
        </p:spPr>
      </p:sp>
      <p:sp>
        <p:nvSpPr>
          <p:cNvPr id="70" name="Shape 68"/>
          <p:cNvSpPr/>
          <p:nvPr/>
        </p:nvSpPr>
        <p:spPr>
          <a:xfrm>
            <a:off x="1708465" y="3797869"/>
            <a:ext cx="149230" cy="149230"/>
          </a:xfrm>
          <a:prstGeom prst="ellipse">
            <a:avLst/>
          </a:prstGeom>
          <a:solidFill>
            <a:srgbClr val="5B7FD6"/>
          </a:solidFill>
          <a:ln w="9525">
            <a:solidFill>
              <a:srgbClr val="2E4A9A"/>
            </a:solidFill>
            <a:prstDash val="solid"/>
          </a:ln>
        </p:spPr>
      </p:sp>
      <p:sp>
        <p:nvSpPr>
          <p:cNvPr id="71" name="Shape 69"/>
          <p:cNvSpPr/>
          <p:nvPr/>
        </p:nvSpPr>
        <p:spPr>
          <a:xfrm>
            <a:off x="1863913" y="3797869"/>
            <a:ext cx="149230" cy="149230"/>
          </a:xfrm>
          <a:prstGeom prst="ellipse">
            <a:avLst/>
          </a:prstGeom>
          <a:solidFill>
            <a:srgbClr val="5B7FD6"/>
          </a:solidFill>
          <a:ln w="9525">
            <a:solidFill>
              <a:srgbClr val="2E4A9A"/>
            </a:solidFill>
            <a:prstDash val="solid"/>
          </a:ln>
        </p:spPr>
      </p:sp>
      <p:sp>
        <p:nvSpPr>
          <p:cNvPr id="72" name="Shape 70"/>
          <p:cNvSpPr/>
          <p:nvPr/>
        </p:nvSpPr>
        <p:spPr>
          <a:xfrm>
            <a:off x="4297680" y="3703320"/>
            <a:ext cx="1417320" cy="1051560"/>
          </a:xfrm>
          <a:prstGeom prst="rect">
            <a:avLst/>
          </a:prstGeom>
          <a:solidFill>
            <a:srgbClr val="FFFFFF"/>
          </a:solidFill>
          <a:ln w="15875">
            <a:solidFill>
              <a:srgbClr val="1A2340"/>
            </a:solidFill>
            <a:prstDash val="solid"/>
          </a:ln>
        </p:spPr>
      </p:sp>
      <p:sp>
        <p:nvSpPr>
          <p:cNvPr id="73" name="Shape 71"/>
          <p:cNvSpPr/>
          <p:nvPr/>
        </p:nvSpPr>
        <p:spPr>
          <a:xfrm>
            <a:off x="4332898" y="4562040"/>
            <a:ext cx="149230" cy="149230"/>
          </a:xfrm>
          <a:prstGeom prst="ellipse">
            <a:avLst/>
          </a:prstGeom>
          <a:solidFill>
            <a:srgbClr val="3FA3C9"/>
          </a:solidFill>
          <a:ln w="9525">
            <a:solidFill>
              <a:srgbClr val="1F6E8C"/>
            </a:solidFill>
            <a:prstDash val="solid"/>
          </a:ln>
        </p:spPr>
      </p:sp>
      <p:sp>
        <p:nvSpPr>
          <p:cNvPr id="74" name="Shape 72"/>
          <p:cNvSpPr/>
          <p:nvPr/>
        </p:nvSpPr>
        <p:spPr>
          <a:xfrm>
            <a:off x="4493991" y="4573155"/>
            <a:ext cx="149230" cy="149230"/>
          </a:xfrm>
          <a:prstGeom prst="ellipse">
            <a:avLst/>
          </a:prstGeom>
          <a:solidFill>
            <a:srgbClr val="3FA3C9"/>
          </a:solidFill>
          <a:ln w="9525">
            <a:solidFill>
              <a:srgbClr val="1F6E8C"/>
            </a:solidFill>
            <a:prstDash val="solid"/>
          </a:ln>
        </p:spPr>
      </p:sp>
      <p:sp>
        <p:nvSpPr>
          <p:cNvPr id="75" name="Shape 73"/>
          <p:cNvSpPr/>
          <p:nvPr/>
        </p:nvSpPr>
        <p:spPr>
          <a:xfrm>
            <a:off x="4660200" y="4582597"/>
            <a:ext cx="149230" cy="149230"/>
          </a:xfrm>
          <a:prstGeom prst="ellipse">
            <a:avLst/>
          </a:prstGeom>
          <a:solidFill>
            <a:srgbClr val="3FA3C9"/>
          </a:solidFill>
          <a:ln w="9525">
            <a:solidFill>
              <a:srgbClr val="1F6E8C"/>
            </a:solidFill>
            <a:prstDash val="solid"/>
          </a:ln>
        </p:spPr>
      </p:sp>
      <p:sp>
        <p:nvSpPr>
          <p:cNvPr id="76" name="Shape 74"/>
          <p:cNvSpPr/>
          <p:nvPr/>
        </p:nvSpPr>
        <p:spPr>
          <a:xfrm>
            <a:off x="4958097" y="4587015"/>
            <a:ext cx="149230" cy="149230"/>
          </a:xfrm>
          <a:prstGeom prst="ellipse">
            <a:avLst/>
          </a:prstGeom>
          <a:solidFill>
            <a:srgbClr val="3FA3C9"/>
          </a:solidFill>
          <a:ln w="9525">
            <a:solidFill>
              <a:srgbClr val="1F6E8C"/>
            </a:solidFill>
            <a:prstDash val="solid"/>
          </a:ln>
        </p:spPr>
      </p:sp>
      <p:sp>
        <p:nvSpPr>
          <p:cNvPr id="77" name="Shape 75"/>
          <p:cNvSpPr/>
          <p:nvPr/>
        </p:nvSpPr>
        <p:spPr>
          <a:xfrm>
            <a:off x="5120456" y="4552679"/>
            <a:ext cx="149230" cy="149230"/>
          </a:xfrm>
          <a:prstGeom prst="ellipse">
            <a:avLst/>
          </a:prstGeom>
          <a:solidFill>
            <a:srgbClr val="3FA3C9"/>
          </a:solidFill>
          <a:ln w="9525">
            <a:solidFill>
              <a:srgbClr val="1F6E8C"/>
            </a:solidFill>
            <a:prstDash val="solid"/>
          </a:ln>
        </p:spPr>
      </p:sp>
      <p:sp>
        <p:nvSpPr>
          <p:cNvPr id="78" name="Shape 76"/>
          <p:cNvSpPr/>
          <p:nvPr/>
        </p:nvSpPr>
        <p:spPr>
          <a:xfrm>
            <a:off x="5282063" y="4564505"/>
            <a:ext cx="149230" cy="149230"/>
          </a:xfrm>
          <a:prstGeom prst="ellipse">
            <a:avLst/>
          </a:prstGeom>
          <a:solidFill>
            <a:srgbClr val="3FA3C9"/>
          </a:solidFill>
          <a:ln w="9525">
            <a:solidFill>
              <a:srgbClr val="1F6E8C"/>
            </a:solidFill>
            <a:prstDash val="solid"/>
          </a:ln>
        </p:spPr>
      </p:sp>
      <p:sp>
        <p:nvSpPr>
          <p:cNvPr id="79" name="Shape 77"/>
          <p:cNvSpPr/>
          <p:nvPr/>
        </p:nvSpPr>
        <p:spPr>
          <a:xfrm>
            <a:off x="4430598" y="4406703"/>
            <a:ext cx="149230" cy="149230"/>
          </a:xfrm>
          <a:prstGeom prst="ellipse">
            <a:avLst/>
          </a:prstGeom>
          <a:solidFill>
            <a:srgbClr val="3FA3C9"/>
          </a:solidFill>
          <a:ln w="9525">
            <a:solidFill>
              <a:srgbClr val="1F6E8C"/>
            </a:solidFill>
            <a:prstDash val="solid"/>
          </a:ln>
        </p:spPr>
      </p:sp>
      <p:sp>
        <p:nvSpPr>
          <p:cNvPr id="80" name="Shape 78"/>
          <p:cNvSpPr/>
          <p:nvPr/>
        </p:nvSpPr>
        <p:spPr>
          <a:xfrm>
            <a:off x="4712957" y="4414262"/>
            <a:ext cx="149230" cy="149230"/>
          </a:xfrm>
          <a:prstGeom prst="ellipse">
            <a:avLst/>
          </a:prstGeom>
          <a:solidFill>
            <a:srgbClr val="3FA3C9"/>
          </a:solidFill>
          <a:ln w="9525">
            <a:solidFill>
              <a:srgbClr val="1F6E8C"/>
            </a:solidFill>
            <a:prstDash val="solid"/>
          </a:ln>
        </p:spPr>
      </p:sp>
      <p:sp>
        <p:nvSpPr>
          <p:cNvPr id="81" name="Shape 79"/>
          <p:cNvSpPr/>
          <p:nvPr/>
        </p:nvSpPr>
        <p:spPr>
          <a:xfrm>
            <a:off x="4874581" y="4413261"/>
            <a:ext cx="149230" cy="149230"/>
          </a:xfrm>
          <a:prstGeom prst="ellipse">
            <a:avLst/>
          </a:prstGeom>
          <a:solidFill>
            <a:srgbClr val="3FA3C9"/>
          </a:solidFill>
          <a:ln w="9525">
            <a:solidFill>
              <a:srgbClr val="1F6E8C"/>
            </a:solidFill>
            <a:prstDash val="solid"/>
          </a:ln>
        </p:spPr>
      </p:sp>
      <p:sp>
        <p:nvSpPr>
          <p:cNvPr id="82" name="Shape 80"/>
          <p:cNvSpPr/>
          <p:nvPr/>
        </p:nvSpPr>
        <p:spPr>
          <a:xfrm>
            <a:off x="5030098" y="4424917"/>
            <a:ext cx="149230" cy="149230"/>
          </a:xfrm>
          <a:prstGeom prst="ellipse">
            <a:avLst/>
          </a:prstGeom>
          <a:solidFill>
            <a:srgbClr val="3FA3C9"/>
          </a:solidFill>
          <a:ln w="9525">
            <a:solidFill>
              <a:srgbClr val="1F6E8C"/>
            </a:solidFill>
            <a:prstDash val="solid"/>
          </a:ln>
        </p:spPr>
      </p:sp>
      <p:sp>
        <p:nvSpPr>
          <p:cNvPr id="83" name="Shape 81"/>
          <p:cNvSpPr/>
          <p:nvPr/>
        </p:nvSpPr>
        <p:spPr>
          <a:xfrm>
            <a:off x="5227735" y="4395635"/>
            <a:ext cx="149230" cy="149230"/>
          </a:xfrm>
          <a:prstGeom prst="ellipse">
            <a:avLst/>
          </a:prstGeom>
          <a:solidFill>
            <a:srgbClr val="3FA3C9"/>
          </a:solidFill>
          <a:ln w="9525">
            <a:solidFill>
              <a:srgbClr val="1F6E8C"/>
            </a:solidFill>
            <a:prstDash val="solid"/>
          </a:ln>
        </p:spPr>
      </p:sp>
      <p:sp>
        <p:nvSpPr>
          <p:cNvPr id="84" name="Shape 82"/>
          <p:cNvSpPr/>
          <p:nvPr/>
        </p:nvSpPr>
        <p:spPr>
          <a:xfrm>
            <a:off x="5411060" y="4406877"/>
            <a:ext cx="149230" cy="149230"/>
          </a:xfrm>
          <a:prstGeom prst="ellipse">
            <a:avLst/>
          </a:prstGeom>
          <a:solidFill>
            <a:srgbClr val="3FA3C9"/>
          </a:solidFill>
          <a:ln w="9525">
            <a:solidFill>
              <a:srgbClr val="1F6E8C"/>
            </a:solidFill>
            <a:prstDash val="solid"/>
          </a:ln>
        </p:spPr>
      </p:sp>
      <p:sp>
        <p:nvSpPr>
          <p:cNvPr id="85" name="Shape 83"/>
          <p:cNvSpPr/>
          <p:nvPr/>
        </p:nvSpPr>
        <p:spPr>
          <a:xfrm>
            <a:off x="4315880" y="4245948"/>
            <a:ext cx="149230" cy="149230"/>
          </a:xfrm>
          <a:prstGeom prst="ellipse">
            <a:avLst/>
          </a:prstGeom>
          <a:solidFill>
            <a:srgbClr val="3FA3C9"/>
          </a:solidFill>
          <a:ln w="9525">
            <a:solidFill>
              <a:srgbClr val="1F6E8C"/>
            </a:solidFill>
            <a:prstDash val="solid"/>
          </a:ln>
        </p:spPr>
      </p:sp>
      <p:sp>
        <p:nvSpPr>
          <p:cNvPr id="86" name="Shape 84"/>
          <p:cNvSpPr/>
          <p:nvPr/>
        </p:nvSpPr>
        <p:spPr>
          <a:xfrm>
            <a:off x="4497261" y="4245182"/>
            <a:ext cx="149230" cy="149230"/>
          </a:xfrm>
          <a:prstGeom prst="ellipse">
            <a:avLst/>
          </a:prstGeom>
          <a:solidFill>
            <a:srgbClr val="3FA3C9"/>
          </a:solidFill>
          <a:ln w="9525">
            <a:solidFill>
              <a:srgbClr val="1F6E8C"/>
            </a:solidFill>
            <a:prstDash val="solid"/>
          </a:ln>
        </p:spPr>
      </p:sp>
      <p:sp>
        <p:nvSpPr>
          <p:cNvPr id="87" name="Shape 85"/>
          <p:cNvSpPr/>
          <p:nvPr/>
        </p:nvSpPr>
        <p:spPr>
          <a:xfrm>
            <a:off x="4802025" y="4243271"/>
            <a:ext cx="149230" cy="149230"/>
          </a:xfrm>
          <a:prstGeom prst="ellipse">
            <a:avLst/>
          </a:prstGeom>
          <a:solidFill>
            <a:srgbClr val="3FA3C9"/>
          </a:solidFill>
          <a:ln w="9525">
            <a:solidFill>
              <a:srgbClr val="1F6E8C"/>
            </a:solidFill>
            <a:prstDash val="solid"/>
          </a:ln>
        </p:spPr>
      </p:sp>
      <p:sp>
        <p:nvSpPr>
          <p:cNvPr id="88" name="Shape 86"/>
          <p:cNvSpPr/>
          <p:nvPr/>
        </p:nvSpPr>
        <p:spPr>
          <a:xfrm>
            <a:off x="5004880" y="4253944"/>
            <a:ext cx="149230" cy="149230"/>
          </a:xfrm>
          <a:prstGeom prst="ellipse">
            <a:avLst/>
          </a:prstGeom>
          <a:solidFill>
            <a:srgbClr val="3FA3C9"/>
          </a:solidFill>
          <a:ln w="9525">
            <a:solidFill>
              <a:srgbClr val="1F6E8C"/>
            </a:solidFill>
            <a:prstDash val="solid"/>
          </a:ln>
        </p:spPr>
      </p:sp>
      <p:sp>
        <p:nvSpPr>
          <p:cNvPr id="89" name="Shape 87"/>
          <p:cNvSpPr/>
          <p:nvPr/>
        </p:nvSpPr>
        <p:spPr>
          <a:xfrm>
            <a:off x="5166920" y="4253235"/>
            <a:ext cx="149230" cy="149230"/>
          </a:xfrm>
          <a:prstGeom prst="ellipse">
            <a:avLst/>
          </a:prstGeom>
          <a:solidFill>
            <a:srgbClr val="3FA3C9"/>
          </a:solidFill>
          <a:ln w="9525">
            <a:solidFill>
              <a:srgbClr val="1F6E8C"/>
            </a:solidFill>
            <a:prstDash val="solid"/>
          </a:ln>
        </p:spPr>
      </p:sp>
      <p:sp>
        <p:nvSpPr>
          <p:cNvPr id="90" name="Shape 88"/>
          <p:cNvSpPr/>
          <p:nvPr/>
        </p:nvSpPr>
        <p:spPr>
          <a:xfrm>
            <a:off x="5325333" y="4248500"/>
            <a:ext cx="149230" cy="149230"/>
          </a:xfrm>
          <a:prstGeom prst="ellipse">
            <a:avLst/>
          </a:prstGeom>
          <a:solidFill>
            <a:srgbClr val="3FA3C9"/>
          </a:solidFill>
          <a:ln w="9525">
            <a:solidFill>
              <a:srgbClr val="1F6E8C"/>
            </a:solidFill>
            <a:prstDash val="solid"/>
          </a:ln>
        </p:spPr>
      </p:sp>
      <p:sp>
        <p:nvSpPr>
          <p:cNvPr id="91" name="Shape 89"/>
          <p:cNvSpPr/>
          <p:nvPr/>
        </p:nvSpPr>
        <p:spPr>
          <a:xfrm>
            <a:off x="5479926" y="4249904"/>
            <a:ext cx="149230" cy="149230"/>
          </a:xfrm>
          <a:prstGeom prst="ellipse">
            <a:avLst/>
          </a:prstGeom>
          <a:solidFill>
            <a:srgbClr val="3FA3C9"/>
          </a:solidFill>
          <a:ln w="9525">
            <a:solidFill>
              <a:srgbClr val="1F6E8C"/>
            </a:solidFill>
            <a:prstDash val="solid"/>
          </a:ln>
        </p:spPr>
      </p:sp>
      <p:sp>
        <p:nvSpPr>
          <p:cNvPr id="92" name="Shape 90"/>
          <p:cNvSpPr/>
          <p:nvPr/>
        </p:nvSpPr>
        <p:spPr>
          <a:xfrm>
            <a:off x="4407096" y="4083085"/>
            <a:ext cx="149230" cy="149230"/>
          </a:xfrm>
          <a:prstGeom prst="ellipse">
            <a:avLst/>
          </a:prstGeom>
          <a:solidFill>
            <a:srgbClr val="3FA3C9"/>
          </a:solidFill>
          <a:ln w="9525">
            <a:solidFill>
              <a:srgbClr val="1F6E8C"/>
            </a:solidFill>
            <a:prstDash val="solid"/>
          </a:ln>
        </p:spPr>
      </p:sp>
      <p:sp>
        <p:nvSpPr>
          <p:cNvPr id="93" name="Shape 91"/>
          <p:cNvSpPr/>
          <p:nvPr/>
        </p:nvSpPr>
        <p:spPr>
          <a:xfrm>
            <a:off x="4580105" y="4095401"/>
            <a:ext cx="149230" cy="149230"/>
          </a:xfrm>
          <a:prstGeom prst="ellipse">
            <a:avLst/>
          </a:prstGeom>
          <a:solidFill>
            <a:srgbClr val="3FA3C9"/>
          </a:solidFill>
          <a:ln w="9525">
            <a:solidFill>
              <a:srgbClr val="1F6E8C"/>
            </a:solidFill>
            <a:prstDash val="solid"/>
          </a:ln>
        </p:spPr>
      </p:sp>
      <p:sp>
        <p:nvSpPr>
          <p:cNvPr id="94" name="Shape 92"/>
          <p:cNvSpPr/>
          <p:nvPr/>
        </p:nvSpPr>
        <p:spPr>
          <a:xfrm>
            <a:off x="4858464" y="4092771"/>
            <a:ext cx="149230" cy="149230"/>
          </a:xfrm>
          <a:prstGeom prst="ellipse">
            <a:avLst/>
          </a:prstGeom>
          <a:solidFill>
            <a:srgbClr val="3FA3C9"/>
          </a:solidFill>
          <a:ln w="9525">
            <a:solidFill>
              <a:srgbClr val="1F6E8C"/>
            </a:solidFill>
            <a:prstDash val="solid"/>
          </a:ln>
        </p:spPr>
      </p:sp>
      <p:sp>
        <p:nvSpPr>
          <p:cNvPr id="95" name="Shape 93"/>
          <p:cNvSpPr/>
          <p:nvPr/>
        </p:nvSpPr>
        <p:spPr>
          <a:xfrm>
            <a:off x="5051950" y="4084150"/>
            <a:ext cx="149230" cy="149230"/>
          </a:xfrm>
          <a:prstGeom prst="ellipse">
            <a:avLst/>
          </a:prstGeom>
          <a:solidFill>
            <a:srgbClr val="3FA3C9"/>
          </a:solidFill>
          <a:ln w="9525">
            <a:solidFill>
              <a:srgbClr val="1F6E8C"/>
            </a:solidFill>
            <a:prstDash val="solid"/>
          </a:ln>
        </p:spPr>
      </p:sp>
      <p:sp>
        <p:nvSpPr>
          <p:cNvPr id="96" name="Shape 94"/>
          <p:cNvSpPr/>
          <p:nvPr/>
        </p:nvSpPr>
        <p:spPr>
          <a:xfrm>
            <a:off x="5226112" y="4095525"/>
            <a:ext cx="149230" cy="149230"/>
          </a:xfrm>
          <a:prstGeom prst="ellipse">
            <a:avLst/>
          </a:prstGeom>
          <a:solidFill>
            <a:srgbClr val="3FA3C9"/>
          </a:solidFill>
          <a:ln w="9525">
            <a:solidFill>
              <a:srgbClr val="1F6E8C"/>
            </a:solidFill>
            <a:prstDash val="solid"/>
          </a:ln>
        </p:spPr>
      </p:sp>
      <p:sp>
        <p:nvSpPr>
          <p:cNvPr id="97" name="Shape 95"/>
          <p:cNvSpPr/>
          <p:nvPr/>
        </p:nvSpPr>
        <p:spPr>
          <a:xfrm>
            <a:off x="5406189" y="4094967"/>
            <a:ext cx="149230" cy="149230"/>
          </a:xfrm>
          <a:prstGeom prst="ellipse">
            <a:avLst/>
          </a:prstGeom>
          <a:solidFill>
            <a:srgbClr val="3FA3C9"/>
          </a:solidFill>
          <a:ln w="9525">
            <a:solidFill>
              <a:srgbClr val="1F6E8C"/>
            </a:solidFill>
            <a:prstDash val="solid"/>
          </a:ln>
        </p:spPr>
      </p:sp>
      <p:sp>
        <p:nvSpPr>
          <p:cNvPr id="98" name="Shape 96"/>
          <p:cNvSpPr/>
          <p:nvPr/>
        </p:nvSpPr>
        <p:spPr>
          <a:xfrm>
            <a:off x="4325092" y="3942382"/>
            <a:ext cx="149230" cy="149230"/>
          </a:xfrm>
          <a:prstGeom prst="ellipse">
            <a:avLst/>
          </a:prstGeom>
          <a:solidFill>
            <a:srgbClr val="3FA3C9"/>
          </a:solidFill>
          <a:ln w="9525">
            <a:solidFill>
              <a:srgbClr val="1F6E8C"/>
            </a:solidFill>
            <a:prstDash val="solid"/>
          </a:ln>
        </p:spPr>
      </p:sp>
      <p:sp>
        <p:nvSpPr>
          <p:cNvPr id="99" name="Shape 97"/>
          <p:cNvSpPr/>
          <p:nvPr/>
        </p:nvSpPr>
        <p:spPr>
          <a:xfrm>
            <a:off x="4498881" y="3928793"/>
            <a:ext cx="149230" cy="149230"/>
          </a:xfrm>
          <a:prstGeom prst="ellipse">
            <a:avLst/>
          </a:prstGeom>
          <a:solidFill>
            <a:srgbClr val="3FA3C9"/>
          </a:solidFill>
          <a:ln w="9525">
            <a:solidFill>
              <a:srgbClr val="1F6E8C"/>
            </a:solidFill>
            <a:prstDash val="solid"/>
          </a:ln>
        </p:spPr>
      </p:sp>
      <p:sp>
        <p:nvSpPr>
          <p:cNvPr id="100" name="Shape 98"/>
          <p:cNvSpPr/>
          <p:nvPr/>
        </p:nvSpPr>
        <p:spPr>
          <a:xfrm>
            <a:off x="4656635" y="3931701"/>
            <a:ext cx="149230" cy="149230"/>
          </a:xfrm>
          <a:prstGeom prst="ellipse">
            <a:avLst/>
          </a:prstGeom>
          <a:solidFill>
            <a:srgbClr val="3FA3C9"/>
          </a:solidFill>
          <a:ln w="9525">
            <a:solidFill>
              <a:srgbClr val="1F6E8C"/>
            </a:solidFill>
            <a:prstDash val="solid"/>
          </a:ln>
        </p:spPr>
      </p:sp>
      <p:sp>
        <p:nvSpPr>
          <p:cNvPr id="101" name="Shape 99"/>
          <p:cNvSpPr/>
          <p:nvPr/>
        </p:nvSpPr>
        <p:spPr>
          <a:xfrm>
            <a:off x="4842580" y="3929413"/>
            <a:ext cx="149230" cy="149230"/>
          </a:xfrm>
          <a:prstGeom prst="ellipse">
            <a:avLst/>
          </a:prstGeom>
          <a:solidFill>
            <a:srgbClr val="3FA3C9"/>
          </a:solidFill>
          <a:ln w="9525">
            <a:solidFill>
              <a:srgbClr val="1F6E8C"/>
            </a:solidFill>
            <a:prstDash val="solid"/>
          </a:ln>
        </p:spPr>
      </p:sp>
      <p:sp>
        <p:nvSpPr>
          <p:cNvPr id="102" name="Shape 100"/>
          <p:cNvSpPr/>
          <p:nvPr/>
        </p:nvSpPr>
        <p:spPr>
          <a:xfrm>
            <a:off x="5169522" y="3935123"/>
            <a:ext cx="149230" cy="149230"/>
          </a:xfrm>
          <a:prstGeom prst="ellipse">
            <a:avLst/>
          </a:prstGeom>
          <a:solidFill>
            <a:srgbClr val="3FA3C9"/>
          </a:solidFill>
          <a:ln w="9525">
            <a:solidFill>
              <a:srgbClr val="1F6E8C"/>
            </a:solidFill>
            <a:prstDash val="solid"/>
          </a:ln>
        </p:spPr>
      </p:sp>
      <p:sp>
        <p:nvSpPr>
          <p:cNvPr id="103" name="Shape 101"/>
          <p:cNvSpPr/>
          <p:nvPr/>
        </p:nvSpPr>
        <p:spPr>
          <a:xfrm>
            <a:off x="5331928" y="3925711"/>
            <a:ext cx="149230" cy="149230"/>
          </a:xfrm>
          <a:prstGeom prst="ellipse">
            <a:avLst/>
          </a:prstGeom>
          <a:solidFill>
            <a:srgbClr val="3FA3C9"/>
          </a:solidFill>
          <a:ln w="9525">
            <a:solidFill>
              <a:srgbClr val="1F6E8C"/>
            </a:solidFill>
            <a:prstDash val="solid"/>
          </a:ln>
        </p:spPr>
      </p:sp>
      <p:sp>
        <p:nvSpPr>
          <p:cNvPr id="104" name="Shape 102"/>
          <p:cNvSpPr/>
          <p:nvPr/>
        </p:nvSpPr>
        <p:spPr>
          <a:xfrm>
            <a:off x="5489257" y="3948786"/>
            <a:ext cx="149230" cy="149230"/>
          </a:xfrm>
          <a:prstGeom prst="ellipse">
            <a:avLst/>
          </a:prstGeom>
          <a:solidFill>
            <a:srgbClr val="3FA3C9"/>
          </a:solidFill>
          <a:ln w="9525">
            <a:solidFill>
              <a:srgbClr val="1F6E8C"/>
            </a:solidFill>
            <a:prstDash val="solid"/>
          </a:ln>
        </p:spPr>
      </p:sp>
      <p:sp>
        <p:nvSpPr>
          <p:cNvPr id="105" name="Shape 103"/>
          <p:cNvSpPr/>
          <p:nvPr/>
        </p:nvSpPr>
        <p:spPr>
          <a:xfrm flipV="1">
            <a:off x="5244304" y="4503318"/>
            <a:ext cx="44544" cy="58888"/>
          </a:xfrm>
          <a:prstGeom prst="line">
            <a:avLst/>
          </a:prstGeom>
          <a:noFill/>
          <a:ln w="9525">
            <a:solidFill>
              <a:srgbClr val="6B7385"/>
            </a:solidFill>
            <a:prstDash val="solid"/>
            <a:tailEnd type="triangle"/>
          </a:ln>
        </p:spPr>
      </p:sp>
      <p:sp>
        <p:nvSpPr>
          <p:cNvPr id="106" name="Shape 104"/>
          <p:cNvSpPr/>
          <p:nvPr/>
        </p:nvSpPr>
        <p:spPr>
          <a:xfrm flipV="1">
            <a:off x="4652699" y="4298253"/>
            <a:ext cx="73125" cy="10233"/>
          </a:xfrm>
          <a:prstGeom prst="line">
            <a:avLst/>
          </a:prstGeom>
          <a:noFill/>
          <a:ln w="9525">
            <a:solidFill>
              <a:srgbClr val="6B7385"/>
            </a:solidFill>
            <a:prstDash val="solid"/>
            <a:tailEnd type="triangle"/>
          </a:ln>
        </p:spPr>
      </p:sp>
      <p:sp>
        <p:nvSpPr>
          <p:cNvPr id="107" name="Shape 105"/>
          <p:cNvSpPr/>
          <p:nvPr/>
        </p:nvSpPr>
        <p:spPr>
          <a:xfrm flipH="1" flipV="1">
            <a:off x="4971179" y="4154379"/>
            <a:ext cx="73808" cy="2083"/>
          </a:xfrm>
          <a:prstGeom prst="line">
            <a:avLst/>
          </a:prstGeom>
          <a:noFill/>
          <a:ln w="9525">
            <a:solidFill>
              <a:srgbClr val="6B7385"/>
            </a:solidFill>
            <a:prstDash val="solid"/>
            <a:tailEnd type="triangle"/>
          </a:ln>
        </p:spPr>
      </p:sp>
      <p:sp>
        <p:nvSpPr>
          <p:cNvPr id="108" name="Shape 106"/>
          <p:cNvSpPr/>
          <p:nvPr/>
        </p:nvSpPr>
        <p:spPr>
          <a:xfrm flipH="1" flipV="1">
            <a:off x="5470309" y="3899264"/>
            <a:ext cx="44442" cy="58965"/>
          </a:xfrm>
          <a:prstGeom prst="line">
            <a:avLst/>
          </a:prstGeom>
          <a:noFill/>
          <a:ln w="9525">
            <a:solidFill>
              <a:srgbClr val="6B7385"/>
            </a:solidFill>
            <a:prstDash val="solid"/>
            <a:tailEnd type="triangle"/>
          </a:ln>
        </p:spPr>
      </p:sp>
      <p:sp>
        <p:nvSpPr>
          <p:cNvPr id="109" name="Text 107"/>
          <p:cNvSpPr/>
          <p:nvPr/>
        </p:nvSpPr>
        <p:spPr>
          <a:xfrm>
            <a:off x="2487168" y="2487168"/>
            <a:ext cx="1417320" cy="256032"/>
          </a:xfrm>
          <a:prstGeom prst="rect">
            <a:avLst/>
          </a:prstGeom>
          <a:noFill/>
          <a:ln/>
        </p:spPr>
        <p:txBody>
          <a:bodyPr wrap="square" lIns="0" tIns="0" rIns="0" bIns="0" rtlCol="0" anchor="ctr"/>
          <a:lstStyle/>
          <a:p>
            <a:pPr algn="ctr" indent="0" marL="0">
              <a:buNone/>
            </a:pPr>
            <a:r>
              <a:rPr lang="en-US" sz="1100" b="1" dirty="0">
                <a:solidFill>
                  <a:srgbClr val="9A5320"/>
                </a:solidFill>
                <a:latin typeface="Calibri" pitchFamily="34" charset="0"/>
                <a:ea typeface="Calibri" pitchFamily="34" charset="-122"/>
                <a:cs typeface="Calibri" pitchFamily="34" charset="-120"/>
              </a:rPr>
              <a:t>GAS</a:t>
            </a:r>
            <a:endParaRPr lang="en-US" sz="1100" dirty="0"/>
          </a:p>
        </p:txBody>
      </p:sp>
      <p:sp>
        <p:nvSpPr>
          <p:cNvPr id="110" name="Text 108"/>
          <p:cNvSpPr/>
          <p:nvPr/>
        </p:nvSpPr>
        <p:spPr>
          <a:xfrm>
            <a:off x="685800" y="4773168"/>
            <a:ext cx="1417320" cy="256032"/>
          </a:xfrm>
          <a:prstGeom prst="rect">
            <a:avLst/>
          </a:prstGeom>
          <a:noFill/>
          <a:ln/>
        </p:spPr>
        <p:txBody>
          <a:bodyPr wrap="square" lIns="0" tIns="0" rIns="0" bIns="0" rtlCol="0" anchor="ctr"/>
          <a:lstStyle/>
          <a:p>
            <a:pPr algn="ctr" indent="0" marL="0">
              <a:buNone/>
            </a:pPr>
            <a:r>
              <a:rPr lang="en-US" sz="1100" b="1" dirty="0">
                <a:solidFill>
                  <a:srgbClr val="2E4A9A"/>
                </a:solidFill>
                <a:latin typeface="Calibri" pitchFamily="34" charset="0"/>
                <a:ea typeface="Calibri" pitchFamily="34" charset="-122"/>
                <a:cs typeface="Calibri" pitchFamily="34" charset="-120"/>
              </a:rPr>
              <a:t>SOLID</a:t>
            </a:r>
            <a:endParaRPr lang="en-US" sz="1100" dirty="0"/>
          </a:p>
        </p:txBody>
      </p:sp>
      <p:sp>
        <p:nvSpPr>
          <p:cNvPr id="111" name="Text 109"/>
          <p:cNvSpPr/>
          <p:nvPr/>
        </p:nvSpPr>
        <p:spPr>
          <a:xfrm>
            <a:off x="4297680" y="4773168"/>
            <a:ext cx="1417320" cy="256032"/>
          </a:xfrm>
          <a:prstGeom prst="rect">
            <a:avLst/>
          </a:prstGeom>
          <a:noFill/>
          <a:ln/>
        </p:spPr>
        <p:txBody>
          <a:bodyPr wrap="square" lIns="0" tIns="0" rIns="0" bIns="0" rtlCol="0" anchor="ctr"/>
          <a:lstStyle/>
          <a:p>
            <a:pPr algn="ctr" indent="0" marL="0">
              <a:buNone/>
            </a:pPr>
            <a:r>
              <a:rPr lang="en-US" sz="1100" b="1" dirty="0">
                <a:solidFill>
                  <a:srgbClr val="1F6E8C"/>
                </a:solidFill>
                <a:latin typeface="Calibri" pitchFamily="34" charset="0"/>
                <a:ea typeface="Calibri" pitchFamily="34" charset="-122"/>
                <a:cs typeface="Calibri" pitchFamily="34" charset="-120"/>
              </a:rPr>
              <a:t>LIQUID</a:t>
            </a:r>
            <a:endParaRPr lang="en-US" sz="1100" dirty="0"/>
          </a:p>
        </p:txBody>
      </p:sp>
      <p:sp>
        <p:nvSpPr>
          <p:cNvPr id="112" name="Shape 110"/>
          <p:cNvSpPr/>
          <p:nvPr/>
        </p:nvSpPr>
        <p:spPr>
          <a:xfrm>
            <a:off x="2194560" y="4023360"/>
            <a:ext cx="2011680" cy="91"/>
          </a:xfrm>
          <a:prstGeom prst="line">
            <a:avLst/>
          </a:prstGeom>
          <a:noFill/>
          <a:ln w="25400">
            <a:solidFill>
              <a:srgbClr val="C8414C"/>
            </a:solidFill>
            <a:prstDash val="solid"/>
            <a:tailEnd type="triangle"/>
          </a:ln>
        </p:spPr>
      </p:sp>
      <p:sp>
        <p:nvSpPr>
          <p:cNvPr id="113" name="Shape 111"/>
          <p:cNvSpPr/>
          <p:nvPr/>
        </p:nvSpPr>
        <p:spPr>
          <a:xfrm flipH="1">
            <a:off x="2194560" y="4434840"/>
            <a:ext cx="2011680" cy="91"/>
          </a:xfrm>
          <a:prstGeom prst="line">
            <a:avLst/>
          </a:prstGeom>
          <a:noFill/>
          <a:ln w="25400">
            <a:solidFill>
              <a:srgbClr val="2E5BD8"/>
            </a:solidFill>
            <a:prstDash val="solid"/>
            <a:tailEnd type="triangle"/>
          </a:ln>
        </p:spPr>
      </p:sp>
      <p:sp>
        <p:nvSpPr>
          <p:cNvPr id="114" name="Text 112"/>
          <p:cNvSpPr/>
          <p:nvPr/>
        </p:nvSpPr>
        <p:spPr>
          <a:xfrm>
            <a:off x="2103120" y="3749040"/>
            <a:ext cx="2194560" cy="256032"/>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melting</a:t>
            </a:r>
            <a:endParaRPr lang="en-US" sz="1050" dirty="0"/>
          </a:p>
        </p:txBody>
      </p:sp>
      <p:sp>
        <p:nvSpPr>
          <p:cNvPr id="115" name="Text 113"/>
          <p:cNvSpPr/>
          <p:nvPr/>
        </p:nvSpPr>
        <p:spPr>
          <a:xfrm>
            <a:off x="2103120" y="4471416"/>
            <a:ext cx="2194560" cy="256032"/>
          </a:xfrm>
          <a:prstGeom prst="rect">
            <a:avLst/>
          </a:prstGeom>
          <a:noFill/>
          <a:ln/>
        </p:spPr>
        <p:txBody>
          <a:bodyPr wrap="square" lIns="0" tIns="0" rIns="0" bIns="0" rtlCol="0" anchor="ctr"/>
          <a:lstStyle/>
          <a:p>
            <a:pPr algn="ctr" indent="0" marL="0">
              <a:buNone/>
            </a:pPr>
            <a:r>
              <a:rPr lang="en-US" sz="1050" b="1" dirty="0">
                <a:solidFill>
                  <a:srgbClr val="2E5BD8"/>
                </a:solidFill>
                <a:latin typeface="Calibri" pitchFamily="34" charset="0"/>
                <a:ea typeface="Calibri" pitchFamily="34" charset="-122"/>
                <a:cs typeface="Calibri" pitchFamily="34" charset="-120"/>
              </a:rPr>
              <a:t>freezing</a:t>
            </a:r>
            <a:endParaRPr lang="en-US" sz="1050" dirty="0"/>
          </a:p>
        </p:txBody>
      </p:sp>
      <p:sp>
        <p:nvSpPr>
          <p:cNvPr id="116" name="Shape 114"/>
          <p:cNvSpPr/>
          <p:nvPr/>
        </p:nvSpPr>
        <p:spPr>
          <a:xfrm flipH="1" flipV="1">
            <a:off x="4041648" y="1920240"/>
            <a:ext cx="1216152" cy="1691640"/>
          </a:xfrm>
          <a:prstGeom prst="line">
            <a:avLst/>
          </a:prstGeom>
          <a:noFill/>
          <a:ln w="25400">
            <a:solidFill>
              <a:srgbClr val="C8414C"/>
            </a:solidFill>
            <a:prstDash val="solid"/>
            <a:tailEnd type="triangle"/>
          </a:ln>
        </p:spPr>
      </p:sp>
      <p:sp>
        <p:nvSpPr>
          <p:cNvPr id="117" name="Shape 115"/>
          <p:cNvSpPr/>
          <p:nvPr/>
        </p:nvSpPr>
        <p:spPr>
          <a:xfrm>
            <a:off x="3995928" y="2286000"/>
            <a:ext cx="804672" cy="1325880"/>
          </a:xfrm>
          <a:prstGeom prst="line">
            <a:avLst/>
          </a:prstGeom>
          <a:noFill/>
          <a:ln w="25400">
            <a:solidFill>
              <a:srgbClr val="2E5BD8"/>
            </a:solidFill>
            <a:prstDash val="solid"/>
            <a:tailEnd type="triangle"/>
          </a:ln>
        </p:spPr>
      </p:sp>
      <p:sp>
        <p:nvSpPr>
          <p:cNvPr id="118" name="Text 116"/>
          <p:cNvSpPr/>
          <p:nvPr/>
        </p:nvSpPr>
        <p:spPr>
          <a:xfrm>
            <a:off x="4572000" y="2240280"/>
            <a:ext cx="1371600" cy="411480"/>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evaporating / boiling</a:t>
            </a:r>
            <a:endParaRPr lang="en-US" sz="1050" dirty="0"/>
          </a:p>
        </p:txBody>
      </p:sp>
      <p:sp>
        <p:nvSpPr>
          <p:cNvPr id="119" name="Text 117"/>
          <p:cNvSpPr/>
          <p:nvPr/>
        </p:nvSpPr>
        <p:spPr>
          <a:xfrm>
            <a:off x="3154680" y="2852928"/>
            <a:ext cx="960120" cy="256032"/>
          </a:xfrm>
          <a:prstGeom prst="rect">
            <a:avLst/>
          </a:prstGeom>
          <a:noFill/>
          <a:ln/>
        </p:spPr>
        <p:txBody>
          <a:bodyPr wrap="square" lIns="0" tIns="0" rIns="0" bIns="0" rtlCol="0" anchor="ctr"/>
          <a:lstStyle/>
          <a:p>
            <a:pPr algn="r" indent="0" marL="0">
              <a:buNone/>
            </a:pPr>
            <a:r>
              <a:rPr lang="en-US" sz="1050" b="1" dirty="0">
                <a:solidFill>
                  <a:srgbClr val="2E5BD8"/>
                </a:solidFill>
                <a:latin typeface="Calibri" pitchFamily="34" charset="0"/>
                <a:ea typeface="Calibri" pitchFamily="34" charset="-122"/>
                <a:cs typeface="Calibri" pitchFamily="34" charset="-120"/>
              </a:rPr>
              <a:t>condensing</a:t>
            </a:r>
            <a:endParaRPr lang="en-US" sz="1050" dirty="0"/>
          </a:p>
        </p:txBody>
      </p:sp>
      <p:sp>
        <p:nvSpPr>
          <p:cNvPr id="120" name="Shape 118"/>
          <p:cNvSpPr/>
          <p:nvPr/>
        </p:nvSpPr>
        <p:spPr>
          <a:xfrm flipV="1">
            <a:off x="1371600" y="2103120"/>
            <a:ext cx="1024128" cy="1508760"/>
          </a:xfrm>
          <a:prstGeom prst="line">
            <a:avLst/>
          </a:prstGeom>
          <a:noFill/>
          <a:ln w="25400">
            <a:solidFill>
              <a:srgbClr val="C8414C"/>
            </a:solidFill>
            <a:prstDash val="solid"/>
            <a:tailEnd type="triangle"/>
          </a:ln>
        </p:spPr>
      </p:sp>
      <p:sp>
        <p:nvSpPr>
          <p:cNvPr id="121" name="Text 119"/>
          <p:cNvSpPr/>
          <p:nvPr/>
        </p:nvSpPr>
        <p:spPr>
          <a:xfrm>
            <a:off x="548640" y="2514600"/>
            <a:ext cx="114300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sublimating</a:t>
            </a:r>
            <a:endParaRPr lang="en-US" sz="1050" dirty="0"/>
          </a:p>
        </p:txBody>
      </p:sp>
      <p:sp>
        <p:nvSpPr>
          <p:cNvPr id="122" name="Text 120"/>
          <p:cNvSpPr/>
          <p:nvPr/>
        </p:nvSpPr>
        <p:spPr>
          <a:xfrm>
            <a:off x="548640" y="5138928"/>
            <a:ext cx="539496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red: energy in (heating) • blue: energy out (cooling)</a:t>
            </a:r>
            <a:endParaRPr lang="en-US" sz="1050" dirty="0"/>
          </a:p>
        </p:txBody>
      </p:sp>
      <p:sp>
        <p:nvSpPr>
          <p:cNvPr id="123" name="Shape 121"/>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124" name="Text 122"/>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Changing state</a:t>
            </a:r>
            <a:endParaRPr lang="en-US" sz="1300" dirty="0"/>
          </a:p>
        </p:txBody>
      </p:sp>
      <p:sp>
        <p:nvSpPr>
          <p:cNvPr id="125" name="Text 123"/>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Heating or cooling can make a substance </a:t>
            </a:r>
            <a:r>
              <a:rPr lang="en-US" sz="1150" b="1" dirty="0">
                <a:solidFill>
                  <a:srgbClr val="262B3A"/>
                </a:solidFill>
                <a:latin typeface="Calibri" pitchFamily="34" charset="0"/>
                <a:ea typeface="Calibri" pitchFamily="34" charset="-122"/>
                <a:cs typeface="Calibri" pitchFamily="34" charset="-120"/>
              </a:rPr>
              <a:t>melt, freeze, evaporate (boil), condense</a:t>
            </a:r>
            <a:r>
              <a:rPr lang="en-US" sz="1150" dirty="0">
                <a:solidFill>
                  <a:srgbClr val="262B3A"/>
                </a:solidFill>
                <a:latin typeface="Calibri" pitchFamily="34" charset="0"/>
                <a:ea typeface="Calibri" pitchFamily="34" charset="-122"/>
                <a:cs typeface="Calibri" pitchFamily="34" charset="-120"/>
              </a:rPr>
              <a:t> or </a:t>
            </a:r>
            <a:r>
              <a:rPr lang="en-US" sz="1150" b="1" dirty="0">
                <a:solidFill>
                  <a:srgbClr val="262B3A"/>
                </a:solidFill>
                <a:latin typeface="Calibri" pitchFamily="34" charset="0"/>
                <a:ea typeface="Calibri" pitchFamily="34" charset="-122"/>
                <a:cs typeface="Calibri" pitchFamily="34" charset="-120"/>
              </a:rPr>
              <a:t>sublimate</a:t>
            </a:r>
            <a:r>
              <a:rPr lang="en-US" sz="1150" dirty="0">
                <a:solidFill>
                  <a:srgbClr val="262B3A"/>
                </a:solidFill>
                <a:latin typeface="Calibri" pitchFamily="34" charset="0"/>
                <a:ea typeface="Calibri" pitchFamily="34" charset="-122"/>
                <a:cs typeface="Calibri" pitchFamily="34" charset="-120"/>
              </a:rPr>
              <a:t> (solid straight to gas).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In a change of state the </a:t>
            </a:r>
            <a:r>
              <a:rPr lang="en-US" sz="1150" b="1" dirty="0">
                <a:solidFill>
                  <a:srgbClr val="262B3A"/>
                </a:solidFill>
                <a:latin typeface="Calibri" pitchFamily="34" charset="0"/>
                <a:ea typeface="Calibri" pitchFamily="34" charset="-122"/>
                <a:cs typeface="Calibri" pitchFamily="34" charset="-120"/>
              </a:rPr>
              <a:t>same particles</a:t>
            </a:r>
            <a:r>
              <a:rPr lang="en-US" sz="1150" dirty="0">
                <a:solidFill>
                  <a:srgbClr val="262B3A"/>
                </a:solidFill>
                <a:latin typeface="Calibri" pitchFamily="34" charset="0"/>
                <a:ea typeface="Calibri" pitchFamily="34" charset="-122"/>
                <a:cs typeface="Calibri" pitchFamily="34" charset="-120"/>
              </a:rPr>
              <a:t> are rearranged: their spacing, arrangement and motion change.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No particles are made or lost, so </a:t>
            </a:r>
            <a:r>
              <a:rPr lang="en-US" sz="1150" b="1" dirty="0">
                <a:solidFill>
                  <a:srgbClr val="262B3A"/>
                </a:solidFill>
                <a:latin typeface="Calibri" pitchFamily="34" charset="0"/>
                <a:ea typeface="Calibri" pitchFamily="34" charset="-122"/>
                <a:cs typeface="Calibri" pitchFamily="34" charset="-120"/>
              </a:rPr>
              <a:t>mass is conserved</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In an open container, mass can seem to fall when a liquid evaporates, because gas particles escape into the air.</a:t>
            </a:r>
            <a:endParaRPr lang="en-US" sz="1150" dirty="0"/>
          </a:p>
        </p:txBody>
      </p:sp>
      <p:sp>
        <p:nvSpPr>
          <p:cNvPr id="126" name="Shape 124"/>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127" name="Text 125"/>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128" name="Text 126"/>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A sealed bag holds 250 g of ice. The ice melts. What is the mass of the water?</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Particles   </a:t>
            </a:r>
            <a:r>
              <a:rPr lang="en-US" sz="1100" dirty="0">
                <a:solidFill>
                  <a:srgbClr val="262B3A"/>
                </a:solidFill>
                <a:latin typeface="Calibri" pitchFamily="34" charset="0"/>
                <a:ea typeface="Calibri" pitchFamily="34" charset="-122"/>
                <a:cs typeface="Calibri" pitchFamily="34" charset="-120"/>
              </a:rPr>
              <a:t>the same water particles, just rearranged</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Sealed bag   </a:t>
            </a:r>
            <a:r>
              <a:rPr lang="en-US" sz="1100" dirty="0">
                <a:solidFill>
                  <a:srgbClr val="262B3A"/>
                </a:solidFill>
                <a:latin typeface="Calibri" pitchFamily="34" charset="0"/>
                <a:ea typeface="Calibri" pitchFamily="34" charset="-122"/>
                <a:cs typeface="Calibri" pitchFamily="34" charset="-120"/>
              </a:rPr>
              <a:t>nothing gets in or out</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So   </a:t>
            </a:r>
            <a:r>
              <a:rPr lang="en-US" sz="1100" dirty="0">
                <a:solidFill>
                  <a:srgbClr val="262B3A"/>
                </a:solidFill>
                <a:latin typeface="Calibri" pitchFamily="34" charset="0"/>
                <a:ea typeface="Calibri" pitchFamily="34" charset="-122"/>
                <a:cs typeface="Calibri" pitchFamily="34" charset="-120"/>
              </a:rPr>
              <a:t>the mass does not change</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mass of water = 250 g</a:t>
            </a:r>
            <a:endParaRPr lang="en-US" sz="1100" dirty="0"/>
          </a:p>
        </p:txBody>
      </p:sp>
      <p:sp>
        <p:nvSpPr>
          <p:cNvPr id="129" name="Shape 127"/>
          <p:cNvSpPr/>
          <p:nvPr/>
        </p:nvSpPr>
        <p:spPr>
          <a:xfrm>
            <a:off x="411480" y="5833872"/>
            <a:ext cx="11368735" cy="530352"/>
          </a:xfrm>
          <a:prstGeom prst="rect">
            <a:avLst/>
          </a:prstGeom>
          <a:solidFill>
            <a:srgbClr val="FFF4E0"/>
          </a:solidFill>
          <a:ln w="6350">
            <a:solidFill>
              <a:srgbClr val="F1D9A8"/>
            </a:solidFill>
            <a:prstDash val="solid"/>
          </a:ln>
        </p:spPr>
      </p:sp>
      <p:sp>
        <p:nvSpPr>
          <p:cNvPr id="130" name="Shape 128"/>
          <p:cNvSpPr/>
          <p:nvPr/>
        </p:nvSpPr>
        <p:spPr>
          <a:xfrm>
            <a:off x="411480" y="5833872"/>
            <a:ext cx="82296" cy="530352"/>
          </a:xfrm>
          <a:prstGeom prst="rect">
            <a:avLst/>
          </a:prstGeom>
          <a:solidFill>
            <a:srgbClr val="E39A2F"/>
          </a:solidFill>
          <a:ln w="12700">
            <a:solidFill>
              <a:srgbClr val="E39A2F"/>
            </a:solidFill>
            <a:prstDash val="solid"/>
          </a:ln>
        </p:spPr>
      </p:sp>
      <p:sp>
        <p:nvSpPr>
          <p:cNvPr id="131" name="Text 129"/>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Solid carbon dioxide ("dry ice") turns straight into a gas. Name this change of state. What happens to the mass if it is in a sealed balloon?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Physical changes and chemical changes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P6.1.1, P6.1.2 • a change of state can be reversed to get the original material back</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P6.1 How does energy transform matter?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P6.1.2  |  6</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ice melting in a sealed flask on a balance: the reading does not change</a:t>
            </a:r>
            <a:endParaRPr lang="en-US" sz="1000" dirty="0"/>
          </a:p>
        </p:txBody>
      </p:sp>
      <p:sp>
        <p:nvSpPr>
          <p:cNvPr id="10" name="Text 8"/>
          <p:cNvSpPr/>
          <p:nvPr/>
        </p:nvSpPr>
        <p:spPr>
          <a:xfrm>
            <a:off x="731520" y="1325880"/>
            <a:ext cx="2011680" cy="25603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before: ice</a:t>
            </a:r>
            <a:endParaRPr lang="en-US" sz="1100" dirty="0"/>
          </a:p>
        </p:txBody>
      </p:sp>
      <p:sp>
        <p:nvSpPr>
          <p:cNvPr id="11" name="Shape 9"/>
          <p:cNvSpPr/>
          <p:nvPr/>
        </p:nvSpPr>
        <p:spPr>
          <a:xfrm>
            <a:off x="960120" y="1645920"/>
            <a:ext cx="1554480" cy="1143000"/>
          </a:xfrm>
          <a:custGeom>
            <a:avLst/>
            <a:gdLst/>
            <a:ahLst/>
            <a:cxnLst/>
            <a:rect l="l" t="t" r="r" b="b"/>
            <a:pathLst>
              <a:path w="1554480" h="1143000">
                <a:moveTo>
                  <a:pt x="548640" y="0"/>
                </a:moveTo>
                <a:lnTo>
                  <a:pt x="1005840" y="0"/>
                </a:lnTo>
                <a:lnTo>
                  <a:pt x="1005840" y="365760"/>
                </a:lnTo>
                <a:lnTo>
                  <a:pt x="1554480" y="1143000"/>
                </a:lnTo>
                <a:lnTo>
                  <a:pt x="0" y="1143000"/>
                </a:lnTo>
                <a:lnTo>
                  <a:pt x="548640" y="365760"/>
                </a:lnTo>
                <a:close/>
              </a:path>
            </a:pathLst>
          </a:custGeom>
          <a:solidFill>
            <a:srgbClr val="F4F8FC"/>
          </a:solidFill>
          <a:ln w="19050">
            <a:solidFill>
              <a:srgbClr val="1A2340"/>
            </a:solidFill>
            <a:prstDash val="solid"/>
          </a:ln>
        </p:spPr>
      </p:sp>
      <p:sp>
        <p:nvSpPr>
          <p:cNvPr id="12" name="Shape 10"/>
          <p:cNvSpPr/>
          <p:nvPr/>
        </p:nvSpPr>
        <p:spPr>
          <a:xfrm>
            <a:off x="1463040" y="1572768"/>
            <a:ext cx="548640" cy="109728"/>
          </a:xfrm>
          <a:prstGeom prst="rect">
            <a:avLst/>
          </a:prstGeom>
          <a:solidFill>
            <a:srgbClr val="8C6A3A"/>
          </a:solidFill>
          <a:ln w="12700">
            <a:solidFill>
              <a:srgbClr val="5A4020"/>
            </a:solidFill>
            <a:prstDash val="solid"/>
          </a:ln>
        </p:spPr>
      </p:sp>
      <p:sp>
        <p:nvSpPr>
          <p:cNvPr id="13" name="Shape 11"/>
          <p:cNvSpPr/>
          <p:nvPr/>
        </p:nvSpPr>
        <p:spPr>
          <a:xfrm>
            <a:off x="1298448" y="2505456"/>
            <a:ext cx="256032" cy="256032"/>
          </a:xfrm>
          <a:prstGeom prst="rect">
            <a:avLst/>
          </a:prstGeom>
          <a:solidFill>
            <a:srgbClr val="DDEFFB"/>
          </a:solidFill>
          <a:ln w="9525">
            <a:solidFill>
              <a:srgbClr val="7FB2D9"/>
            </a:solidFill>
            <a:prstDash val="solid"/>
          </a:ln>
        </p:spPr>
      </p:sp>
      <p:sp>
        <p:nvSpPr>
          <p:cNvPr id="14" name="Shape 12"/>
          <p:cNvSpPr/>
          <p:nvPr/>
        </p:nvSpPr>
        <p:spPr>
          <a:xfrm>
            <a:off x="1609344" y="2505456"/>
            <a:ext cx="256032" cy="256032"/>
          </a:xfrm>
          <a:prstGeom prst="rect">
            <a:avLst/>
          </a:prstGeom>
          <a:solidFill>
            <a:srgbClr val="DDEFFB"/>
          </a:solidFill>
          <a:ln w="9525">
            <a:solidFill>
              <a:srgbClr val="7FB2D9"/>
            </a:solidFill>
            <a:prstDash val="solid"/>
          </a:ln>
        </p:spPr>
      </p:sp>
      <p:sp>
        <p:nvSpPr>
          <p:cNvPr id="15" name="Shape 13"/>
          <p:cNvSpPr/>
          <p:nvPr/>
        </p:nvSpPr>
        <p:spPr>
          <a:xfrm>
            <a:off x="1920240" y="2505456"/>
            <a:ext cx="256032" cy="256032"/>
          </a:xfrm>
          <a:prstGeom prst="rect">
            <a:avLst/>
          </a:prstGeom>
          <a:solidFill>
            <a:srgbClr val="DDEFFB"/>
          </a:solidFill>
          <a:ln w="9525">
            <a:solidFill>
              <a:srgbClr val="7FB2D9"/>
            </a:solidFill>
            <a:prstDash val="solid"/>
          </a:ln>
        </p:spPr>
      </p:sp>
      <p:sp>
        <p:nvSpPr>
          <p:cNvPr id="16" name="Shape 14"/>
          <p:cNvSpPr/>
          <p:nvPr/>
        </p:nvSpPr>
        <p:spPr>
          <a:xfrm>
            <a:off x="1453896" y="2231136"/>
            <a:ext cx="256032" cy="256032"/>
          </a:xfrm>
          <a:prstGeom prst="rect">
            <a:avLst/>
          </a:prstGeom>
          <a:solidFill>
            <a:srgbClr val="DDEFFB"/>
          </a:solidFill>
          <a:ln w="9525">
            <a:solidFill>
              <a:srgbClr val="7FB2D9"/>
            </a:solidFill>
            <a:prstDash val="solid"/>
          </a:ln>
        </p:spPr>
      </p:sp>
      <p:sp>
        <p:nvSpPr>
          <p:cNvPr id="17" name="Shape 15"/>
          <p:cNvSpPr/>
          <p:nvPr/>
        </p:nvSpPr>
        <p:spPr>
          <a:xfrm>
            <a:off x="1764792" y="2231136"/>
            <a:ext cx="256032" cy="256032"/>
          </a:xfrm>
          <a:prstGeom prst="rect">
            <a:avLst/>
          </a:prstGeom>
          <a:solidFill>
            <a:srgbClr val="DDEFFB"/>
          </a:solidFill>
          <a:ln w="9525">
            <a:solidFill>
              <a:srgbClr val="7FB2D9"/>
            </a:solidFill>
            <a:prstDash val="solid"/>
          </a:ln>
        </p:spPr>
      </p:sp>
      <p:sp>
        <p:nvSpPr>
          <p:cNvPr id="18" name="Shape 16"/>
          <p:cNvSpPr/>
          <p:nvPr/>
        </p:nvSpPr>
        <p:spPr>
          <a:xfrm>
            <a:off x="1005840" y="2788920"/>
            <a:ext cx="1463040" cy="64008"/>
          </a:xfrm>
          <a:prstGeom prst="rect">
            <a:avLst/>
          </a:prstGeom>
          <a:solidFill>
            <a:srgbClr val="B7BECC"/>
          </a:solidFill>
          <a:ln w="9525">
            <a:solidFill>
              <a:srgbClr val="6B7385"/>
            </a:solidFill>
            <a:prstDash val="solid"/>
          </a:ln>
        </p:spPr>
      </p:sp>
      <p:sp>
        <p:nvSpPr>
          <p:cNvPr id="19" name="Shape 17"/>
          <p:cNvSpPr/>
          <p:nvPr/>
        </p:nvSpPr>
        <p:spPr>
          <a:xfrm>
            <a:off x="1645920" y="2852928"/>
            <a:ext cx="182880" cy="54864"/>
          </a:xfrm>
          <a:prstGeom prst="rect">
            <a:avLst/>
          </a:prstGeom>
          <a:solidFill>
            <a:srgbClr val="6B7385"/>
          </a:solidFill>
          <a:ln/>
        </p:spPr>
      </p:sp>
      <p:sp>
        <p:nvSpPr>
          <p:cNvPr id="20" name="Shape 18"/>
          <p:cNvSpPr/>
          <p:nvPr/>
        </p:nvSpPr>
        <p:spPr>
          <a:xfrm>
            <a:off x="822960" y="2907792"/>
            <a:ext cx="1828800" cy="411480"/>
          </a:xfrm>
          <a:prstGeom prst="roundRect">
            <a:avLst>
              <a:gd name="adj" fmla="val 11111"/>
            </a:avLst>
          </a:prstGeom>
          <a:solidFill>
            <a:srgbClr val="4A5262"/>
          </a:solidFill>
          <a:ln w="12700">
            <a:solidFill>
              <a:srgbClr val="2E3442"/>
            </a:solidFill>
            <a:prstDash val="solid"/>
          </a:ln>
        </p:spPr>
      </p:sp>
      <p:sp>
        <p:nvSpPr>
          <p:cNvPr id="21" name="Shape 19"/>
          <p:cNvSpPr/>
          <p:nvPr/>
        </p:nvSpPr>
        <p:spPr>
          <a:xfrm>
            <a:off x="1188720" y="2971800"/>
            <a:ext cx="1097280" cy="274320"/>
          </a:xfrm>
          <a:prstGeom prst="rect">
            <a:avLst/>
          </a:prstGeom>
          <a:solidFill>
            <a:srgbClr val="1E2A1E"/>
          </a:solidFill>
          <a:ln w="12700">
            <a:solidFill>
              <a:srgbClr val="0F150F"/>
            </a:solidFill>
            <a:prstDash val="solid"/>
          </a:ln>
        </p:spPr>
      </p:sp>
      <p:sp>
        <p:nvSpPr>
          <p:cNvPr id="22" name="Text 20"/>
          <p:cNvSpPr/>
          <p:nvPr/>
        </p:nvSpPr>
        <p:spPr>
          <a:xfrm>
            <a:off x="1188720" y="2971800"/>
            <a:ext cx="1097280" cy="274320"/>
          </a:xfrm>
          <a:prstGeom prst="rect">
            <a:avLst/>
          </a:prstGeom>
          <a:noFill/>
          <a:ln/>
        </p:spPr>
        <p:txBody>
          <a:bodyPr wrap="square" lIns="0" tIns="0" rIns="0" bIns="0" rtlCol="0" anchor="ctr"/>
          <a:lstStyle/>
          <a:p>
            <a:pPr algn="ctr" indent="0" marL="0">
              <a:buNone/>
            </a:pPr>
            <a:r>
              <a:rPr lang="en-US" sz="1100" b="1" dirty="0">
                <a:solidFill>
                  <a:srgbClr val="7CFC8A"/>
                </a:solidFill>
                <a:latin typeface="Calibri" pitchFamily="34" charset="0"/>
                <a:ea typeface="Calibri" pitchFamily="34" charset="-122"/>
                <a:cs typeface="Calibri" pitchFamily="34" charset="-120"/>
              </a:rPr>
              <a:t>152.4 g</a:t>
            </a:r>
            <a:endParaRPr lang="en-US" sz="1100" dirty="0"/>
          </a:p>
        </p:txBody>
      </p:sp>
      <p:sp>
        <p:nvSpPr>
          <p:cNvPr id="23" name="Text 21"/>
          <p:cNvSpPr/>
          <p:nvPr/>
        </p:nvSpPr>
        <p:spPr>
          <a:xfrm>
            <a:off x="3246120" y="1325880"/>
            <a:ext cx="2011680" cy="25603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after: water</a:t>
            </a:r>
            <a:endParaRPr lang="en-US" sz="1100" dirty="0"/>
          </a:p>
        </p:txBody>
      </p:sp>
      <p:sp>
        <p:nvSpPr>
          <p:cNvPr id="24" name="Shape 22"/>
          <p:cNvSpPr/>
          <p:nvPr/>
        </p:nvSpPr>
        <p:spPr>
          <a:xfrm>
            <a:off x="3474720" y="1645920"/>
            <a:ext cx="1554480" cy="1143000"/>
          </a:xfrm>
          <a:custGeom>
            <a:avLst/>
            <a:gdLst/>
            <a:ahLst/>
            <a:cxnLst/>
            <a:rect l="l" t="t" r="r" b="b"/>
            <a:pathLst>
              <a:path w="1554480" h="1143000">
                <a:moveTo>
                  <a:pt x="548640" y="0"/>
                </a:moveTo>
                <a:lnTo>
                  <a:pt x="1005840" y="0"/>
                </a:lnTo>
                <a:lnTo>
                  <a:pt x="1005840" y="365760"/>
                </a:lnTo>
                <a:lnTo>
                  <a:pt x="1554480" y="1143000"/>
                </a:lnTo>
                <a:lnTo>
                  <a:pt x="0" y="1143000"/>
                </a:lnTo>
                <a:lnTo>
                  <a:pt x="548640" y="365760"/>
                </a:lnTo>
                <a:close/>
              </a:path>
            </a:pathLst>
          </a:custGeom>
          <a:solidFill>
            <a:srgbClr val="F4F8FC"/>
          </a:solidFill>
          <a:ln w="19050">
            <a:solidFill>
              <a:srgbClr val="1A2340"/>
            </a:solidFill>
            <a:prstDash val="solid"/>
          </a:ln>
        </p:spPr>
      </p:sp>
      <p:sp>
        <p:nvSpPr>
          <p:cNvPr id="25" name="Shape 23"/>
          <p:cNvSpPr/>
          <p:nvPr/>
        </p:nvSpPr>
        <p:spPr>
          <a:xfrm>
            <a:off x="3977640" y="1572768"/>
            <a:ext cx="548640" cy="109728"/>
          </a:xfrm>
          <a:prstGeom prst="rect">
            <a:avLst/>
          </a:prstGeom>
          <a:solidFill>
            <a:srgbClr val="8C6A3A"/>
          </a:solidFill>
          <a:ln w="12700">
            <a:solidFill>
              <a:srgbClr val="5A4020"/>
            </a:solidFill>
            <a:prstDash val="solid"/>
          </a:ln>
        </p:spPr>
      </p:sp>
      <p:sp>
        <p:nvSpPr>
          <p:cNvPr id="26" name="Shape 24"/>
          <p:cNvSpPr/>
          <p:nvPr/>
        </p:nvSpPr>
        <p:spPr>
          <a:xfrm>
            <a:off x="3474720" y="2395728"/>
            <a:ext cx="1554480" cy="393192"/>
          </a:xfrm>
          <a:custGeom>
            <a:avLst/>
            <a:gdLst/>
            <a:ahLst/>
            <a:cxnLst/>
            <a:rect l="l" t="t" r="r" b="b"/>
            <a:pathLst>
              <a:path w="1554480" h="393192">
                <a:moveTo>
                  <a:pt x="274320" y="0"/>
                </a:moveTo>
                <a:lnTo>
                  <a:pt x="1280160" y="0"/>
                </a:lnTo>
                <a:lnTo>
                  <a:pt x="1554480" y="393192"/>
                </a:lnTo>
                <a:lnTo>
                  <a:pt x="0" y="393192"/>
                </a:lnTo>
                <a:close/>
              </a:path>
            </a:pathLst>
          </a:custGeom>
          <a:solidFill>
            <a:srgbClr val="BFD9F2"/>
          </a:solidFill>
          <a:ln w="9525">
            <a:solidFill>
              <a:srgbClr val="5B9BD5"/>
            </a:solidFill>
            <a:prstDash val="solid"/>
          </a:ln>
        </p:spPr>
      </p:sp>
      <p:sp>
        <p:nvSpPr>
          <p:cNvPr id="27" name="Shape 25"/>
          <p:cNvSpPr/>
          <p:nvPr/>
        </p:nvSpPr>
        <p:spPr>
          <a:xfrm>
            <a:off x="3520440" y="2788920"/>
            <a:ext cx="1463040" cy="64008"/>
          </a:xfrm>
          <a:prstGeom prst="rect">
            <a:avLst/>
          </a:prstGeom>
          <a:solidFill>
            <a:srgbClr val="B7BECC"/>
          </a:solidFill>
          <a:ln w="9525">
            <a:solidFill>
              <a:srgbClr val="6B7385"/>
            </a:solidFill>
            <a:prstDash val="solid"/>
          </a:ln>
        </p:spPr>
      </p:sp>
      <p:sp>
        <p:nvSpPr>
          <p:cNvPr id="28" name="Shape 26"/>
          <p:cNvSpPr/>
          <p:nvPr/>
        </p:nvSpPr>
        <p:spPr>
          <a:xfrm>
            <a:off x="4160520" y="2852928"/>
            <a:ext cx="182880" cy="54864"/>
          </a:xfrm>
          <a:prstGeom prst="rect">
            <a:avLst/>
          </a:prstGeom>
          <a:solidFill>
            <a:srgbClr val="6B7385"/>
          </a:solidFill>
          <a:ln/>
        </p:spPr>
      </p:sp>
      <p:sp>
        <p:nvSpPr>
          <p:cNvPr id="29" name="Shape 27"/>
          <p:cNvSpPr/>
          <p:nvPr/>
        </p:nvSpPr>
        <p:spPr>
          <a:xfrm>
            <a:off x="3337560" y="2907792"/>
            <a:ext cx="1828800" cy="411480"/>
          </a:xfrm>
          <a:prstGeom prst="roundRect">
            <a:avLst>
              <a:gd name="adj" fmla="val 11111"/>
            </a:avLst>
          </a:prstGeom>
          <a:solidFill>
            <a:srgbClr val="4A5262"/>
          </a:solidFill>
          <a:ln w="12700">
            <a:solidFill>
              <a:srgbClr val="2E3442"/>
            </a:solidFill>
            <a:prstDash val="solid"/>
          </a:ln>
        </p:spPr>
      </p:sp>
      <p:sp>
        <p:nvSpPr>
          <p:cNvPr id="30" name="Shape 28"/>
          <p:cNvSpPr/>
          <p:nvPr/>
        </p:nvSpPr>
        <p:spPr>
          <a:xfrm>
            <a:off x="3703320" y="2971800"/>
            <a:ext cx="1097280" cy="274320"/>
          </a:xfrm>
          <a:prstGeom prst="rect">
            <a:avLst/>
          </a:prstGeom>
          <a:solidFill>
            <a:srgbClr val="1E2A1E"/>
          </a:solidFill>
          <a:ln w="12700">
            <a:solidFill>
              <a:srgbClr val="0F150F"/>
            </a:solidFill>
            <a:prstDash val="solid"/>
          </a:ln>
        </p:spPr>
      </p:sp>
      <p:sp>
        <p:nvSpPr>
          <p:cNvPr id="31" name="Text 29"/>
          <p:cNvSpPr/>
          <p:nvPr/>
        </p:nvSpPr>
        <p:spPr>
          <a:xfrm>
            <a:off x="3703320" y="2971800"/>
            <a:ext cx="1097280" cy="274320"/>
          </a:xfrm>
          <a:prstGeom prst="rect">
            <a:avLst/>
          </a:prstGeom>
          <a:noFill/>
          <a:ln/>
        </p:spPr>
        <p:txBody>
          <a:bodyPr wrap="square" lIns="0" tIns="0" rIns="0" bIns="0" rtlCol="0" anchor="ctr"/>
          <a:lstStyle/>
          <a:p>
            <a:pPr algn="ctr" indent="0" marL="0">
              <a:buNone/>
            </a:pPr>
            <a:r>
              <a:rPr lang="en-US" sz="1100" b="1" dirty="0">
                <a:solidFill>
                  <a:srgbClr val="7CFC8A"/>
                </a:solidFill>
                <a:latin typeface="Calibri" pitchFamily="34" charset="0"/>
                <a:ea typeface="Calibri" pitchFamily="34" charset="-122"/>
                <a:cs typeface="Calibri" pitchFamily="34" charset="-120"/>
              </a:rPr>
              <a:t>152.4 g</a:t>
            </a:r>
            <a:endParaRPr lang="en-US" sz="1100" dirty="0"/>
          </a:p>
        </p:txBody>
      </p:sp>
      <p:sp>
        <p:nvSpPr>
          <p:cNvPr id="32" name="Shape 30"/>
          <p:cNvSpPr/>
          <p:nvPr/>
        </p:nvSpPr>
        <p:spPr>
          <a:xfrm>
            <a:off x="2743200" y="2286000"/>
            <a:ext cx="548640" cy="91"/>
          </a:xfrm>
          <a:prstGeom prst="line">
            <a:avLst/>
          </a:prstGeom>
          <a:noFill/>
          <a:ln w="31750">
            <a:solidFill>
              <a:srgbClr val="C8414C"/>
            </a:solidFill>
            <a:prstDash val="solid"/>
            <a:tailEnd type="triangle"/>
          </a:ln>
        </p:spPr>
      </p:sp>
      <p:sp>
        <p:nvSpPr>
          <p:cNvPr id="33" name="Text 31"/>
          <p:cNvSpPr/>
          <p:nvPr/>
        </p:nvSpPr>
        <p:spPr>
          <a:xfrm>
            <a:off x="2606040" y="1920240"/>
            <a:ext cx="822960" cy="256032"/>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warm</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3611880"/>
          <a:ext cx="5120640" cy="914400"/>
        </p:xfrm>
        <a:graphic>
          <a:graphicData uri="http://schemas.openxmlformats.org/drawingml/2006/table">
            <a:tbl>
              <a:tblPr/>
              <a:tblGrid>
                <a:gridCol w="1463040"/>
                <a:gridCol w="1828800"/>
                <a:gridCol w="1828800"/>
              </a:tblGrid>
              <a:tr h="274320">
                <a:tc>
                  <a:txBody>
                    <a:bodyPr/>
                    <a:lstStyle/>
                    <a:p>
                      <a:pPr indent="0" marL="0">
                        <a:buNone/>
                      </a:pP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Physical change (e.g. melting)</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Chemical change (e.g. burning)</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r>
              <a:tr h="274320">
                <a:tc>
                  <a:txBody>
                    <a:bodyPr/>
                    <a:lstStyle/>
                    <a:p>
                      <a:pPr indent="0" marL="0">
                        <a:buNone/>
                      </a:pPr>
                      <a:r>
                        <a:rPr lang="en-US" sz="1000" b="1" dirty="0">
                          <a:solidFill>
                            <a:srgbClr val="262B3A"/>
                          </a:solidFill>
                          <a:latin typeface="Calibri" pitchFamily="34" charset="0"/>
                          <a:ea typeface="Calibri" pitchFamily="34" charset="-122"/>
                          <a:cs typeface="Calibri" pitchFamily="34" charset="-120"/>
                        </a:rPr>
                        <a:t>New substance?</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000" dirty="0">
                          <a:solidFill>
                            <a:srgbClr val="262B3A"/>
                          </a:solidFill>
                          <a:latin typeface="Calibri" pitchFamily="34" charset="0"/>
                          <a:ea typeface="Calibri" pitchFamily="34" charset="-122"/>
                          <a:cs typeface="Calibri" pitchFamily="34" charset="-120"/>
                        </a:rPr>
                        <a:t>no: same particles</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000" dirty="0">
                          <a:solidFill>
                            <a:srgbClr val="262B3A"/>
                          </a:solidFill>
                          <a:latin typeface="Calibri" pitchFamily="34" charset="0"/>
                          <a:ea typeface="Calibri" pitchFamily="34" charset="-122"/>
                          <a:cs typeface="Calibri" pitchFamily="34" charset="-120"/>
                        </a:rPr>
                        <a:t>yes: atoms rearranged</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274320">
                <a:tc>
                  <a:txBody>
                    <a:bodyPr/>
                    <a:lstStyle/>
                    <a:p>
                      <a:pPr indent="0" marL="0">
                        <a:buNone/>
                      </a:pPr>
                      <a:r>
                        <a:rPr lang="en-US" sz="1000" b="1" dirty="0">
                          <a:solidFill>
                            <a:srgbClr val="262B3A"/>
                          </a:solidFill>
                          <a:latin typeface="Calibri" pitchFamily="34" charset="0"/>
                          <a:ea typeface="Calibri" pitchFamily="34" charset="-122"/>
                          <a:cs typeface="Calibri" pitchFamily="34" charset="-120"/>
                        </a:rPr>
                        <a:t>Reversible?</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000" dirty="0">
                          <a:solidFill>
                            <a:srgbClr val="262B3A"/>
                          </a:solidFill>
                          <a:latin typeface="Calibri" pitchFamily="34" charset="0"/>
                          <a:ea typeface="Calibri" pitchFamily="34" charset="-122"/>
                          <a:cs typeface="Calibri" pitchFamily="34" charset="-120"/>
                        </a:rPr>
                        <a:t>yes: cool it, the ice comes back</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000" dirty="0">
                          <a:solidFill>
                            <a:srgbClr val="262B3A"/>
                          </a:solidFill>
                          <a:latin typeface="Calibri" pitchFamily="34" charset="0"/>
                          <a:ea typeface="Calibri" pitchFamily="34" charset="-122"/>
                          <a:cs typeface="Calibri" pitchFamily="34" charset="-120"/>
                        </a:rPr>
                        <a:t>not easily</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274320">
                <a:tc>
                  <a:txBody>
                    <a:bodyPr/>
                    <a:lstStyle/>
                    <a:p>
                      <a:pPr indent="0" marL="0">
                        <a:buNone/>
                      </a:pPr>
                      <a:r>
                        <a:rPr lang="en-US" sz="1000" b="1" dirty="0">
                          <a:solidFill>
                            <a:srgbClr val="262B3A"/>
                          </a:solidFill>
                          <a:latin typeface="Calibri" pitchFamily="34" charset="0"/>
                          <a:ea typeface="Calibri" pitchFamily="34" charset="-122"/>
                          <a:cs typeface="Calibri" pitchFamily="34" charset="-120"/>
                        </a:rPr>
                        <a:t>Properties after reversing</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000" dirty="0">
                          <a:solidFill>
                            <a:srgbClr val="262B3A"/>
                          </a:solidFill>
                          <a:latin typeface="Calibri" pitchFamily="34" charset="0"/>
                          <a:ea typeface="Calibri" pitchFamily="34" charset="-122"/>
                          <a:cs typeface="Calibri" pitchFamily="34" charset="-120"/>
                        </a:rPr>
                        <a:t>the same as before</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000" dirty="0">
                          <a:solidFill>
                            <a:srgbClr val="262B3A"/>
                          </a:solidFill>
                          <a:latin typeface="Calibri" pitchFamily="34" charset="0"/>
                          <a:ea typeface="Calibri" pitchFamily="34" charset="-122"/>
                          <a:cs typeface="Calibri" pitchFamily="34" charset="-120"/>
                        </a:rPr>
                        <a:t>new properties</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274320">
                <a:tc>
                  <a:txBody>
                    <a:bodyPr/>
                    <a:lstStyle/>
                    <a:p>
                      <a:pPr indent="0" marL="0">
                        <a:buNone/>
                      </a:pPr>
                      <a:r>
                        <a:rPr lang="en-US" sz="1000" b="1" dirty="0">
                          <a:solidFill>
                            <a:srgbClr val="262B3A"/>
                          </a:solidFill>
                          <a:latin typeface="Calibri" pitchFamily="34" charset="0"/>
                          <a:ea typeface="Calibri" pitchFamily="34" charset="-122"/>
                          <a:cs typeface="Calibri" pitchFamily="34" charset="-120"/>
                        </a:rPr>
                        <a:t>Mass (closed system)</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000" dirty="0">
                          <a:solidFill>
                            <a:srgbClr val="262B3A"/>
                          </a:solidFill>
                          <a:latin typeface="Calibri" pitchFamily="34" charset="0"/>
                          <a:ea typeface="Calibri" pitchFamily="34" charset="-122"/>
                          <a:cs typeface="Calibri" pitchFamily="34" charset="-120"/>
                        </a:rPr>
                        <a:t>conserved</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000" dirty="0">
                          <a:solidFill>
                            <a:srgbClr val="262B3A"/>
                          </a:solidFill>
                          <a:latin typeface="Calibri" pitchFamily="34" charset="0"/>
                          <a:ea typeface="Calibri" pitchFamily="34" charset="-122"/>
                          <a:cs typeface="Calibri" pitchFamily="34" charset="-120"/>
                        </a:rPr>
                        <a:t>conserved</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bl>
          </a:graphicData>
        </a:graphic>
      </p:graphicFrame>
      <p:sp>
        <p:nvSpPr>
          <p:cNvPr id="35" name="Shape 32"/>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36" name="Text 3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Physical or chemical?</a:t>
            </a:r>
            <a:endParaRPr lang="en-US" sz="1300" dirty="0"/>
          </a:p>
        </p:txBody>
      </p:sp>
      <p:sp>
        <p:nvSpPr>
          <p:cNvPr id="37" name="Text 34"/>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Changes of state are </a:t>
            </a:r>
            <a:r>
              <a:rPr lang="en-US" sz="1150" b="1" dirty="0">
                <a:solidFill>
                  <a:srgbClr val="262B3A"/>
                </a:solidFill>
                <a:latin typeface="Calibri" pitchFamily="34" charset="0"/>
                <a:ea typeface="Calibri" pitchFamily="34" charset="-122"/>
                <a:cs typeface="Calibri" pitchFamily="34" charset="-120"/>
              </a:rPr>
              <a:t>physical changes</a:t>
            </a:r>
            <a:r>
              <a:rPr lang="en-US" sz="1150" dirty="0">
                <a:solidFill>
                  <a:srgbClr val="262B3A"/>
                </a:solidFill>
                <a:latin typeface="Calibri" pitchFamily="34" charset="0"/>
                <a:ea typeface="Calibri" pitchFamily="34" charset="-122"/>
                <a:cs typeface="Calibri" pitchFamily="34" charset="-120"/>
              </a:rPr>
              <a:t>: no new substance is made.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If the change is </a:t>
            </a:r>
            <a:r>
              <a:rPr lang="en-US" sz="1150" b="1" dirty="0">
                <a:solidFill>
                  <a:srgbClr val="262B3A"/>
                </a:solidFill>
                <a:latin typeface="Calibri" pitchFamily="34" charset="0"/>
                <a:ea typeface="Calibri" pitchFamily="34" charset="-122"/>
                <a:cs typeface="Calibri" pitchFamily="34" charset="-120"/>
              </a:rPr>
              <a:t>reversed</a:t>
            </a:r>
            <a:r>
              <a:rPr lang="en-US" sz="1150" dirty="0">
                <a:solidFill>
                  <a:srgbClr val="262B3A"/>
                </a:solidFill>
                <a:latin typeface="Calibri" pitchFamily="34" charset="0"/>
                <a:ea typeface="Calibri" pitchFamily="34" charset="-122"/>
                <a:cs typeface="Calibri" pitchFamily="34" charset="-120"/>
              </a:rPr>
              <a:t>, the material </a:t>
            </a:r>
            <a:r>
              <a:rPr lang="en-US" sz="1150" b="1" dirty="0">
                <a:solidFill>
                  <a:srgbClr val="262B3A"/>
                </a:solidFill>
                <a:latin typeface="Calibri" pitchFamily="34" charset="0"/>
                <a:ea typeface="Calibri" pitchFamily="34" charset="-122"/>
                <a:cs typeface="Calibri" pitchFamily="34" charset="-120"/>
              </a:rPr>
              <a:t>recovers its original properties</a:t>
            </a:r>
            <a:r>
              <a:rPr lang="en-US" sz="1150" dirty="0">
                <a:solidFill>
                  <a:srgbClr val="262B3A"/>
                </a:solidFill>
                <a:latin typeface="Calibri" pitchFamily="34" charset="0"/>
                <a:ea typeface="Calibri" pitchFamily="34" charset="-122"/>
                <a:cs typeface="Calibri" pitchFamily="34" charset="-120"/>
              </a:rPr>
              <a:t> (melt ice, refreeze it: it is ice again).</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In a </a:t>
            </a:r>
            <a:r>
              <a:rPr lang="en-US" sz="1150" b="1" dirty="0">
                <a:solidFill>
                  <a:srgbClr val="262B3A"/>
                </a:solidFill>
                <a:latin typeface="Calibri" pitchFamily="34" charset="0"/>
                <a:ea typeface="Calibri" pitchFamily="34" charset="-122"/>
                <a:cs typeface="Calibri" pitchFamily="34" charset="-120"/>
              </a:rPr>
              <a:t>chemical change</a:t>
            </a:r>
            <a:r>
              <a:rPr lang="en-US" sz="1150" dirty="0">
                <a:solidFill>
                  <a:srgbClr val="262B3A"/>
                </a:solidFill>
                <a:latin typeface="Calibri" pitchFamily="34" charset="0"/>
                <a:ea typeface="Calibri" pitchFamily="34" charset="-122"/>
                <a:cs typeface="Calibri" pitchFamily="34" charset="-120"/>
              </a:rPr>
              <a:t> (e.g. burning) atoms are rearranged into </a:t>
            </a:r>
            <a:r>
              <a:rPr lang="en-US" sz="1150" b="1" dirty="0">
                <a:solidFill>
                  <a:srgbClr val="262B3A"/>
                </a:solidFill>
                <a:latin typeface="Calibri" pitchFamily="34" charset="0"/>
                <a:ea typeface="Calibri" pitchFamily="34" charset="-122"/>
                <a:cs typeface="Calibri" pitchFamily="34" charset="-120"/>
              </a:rPr>
              <a:t>new substances</a:t>
            </a:r>
            <a:r>
              <a:rPr lang="en-US" sz="1150" dirty="0">
                <a:solidFill>
                  <a:srgbClr val="262B3A"/>
                </a:solidFill>
                <a:latin typeface="Calibri" pitchFamily="34" charset="0"/>
                <a:ea typeface="Calibri" pitchFamily="34" charset="-122"/>
                <a:cs typeface="Calibri" pitchFamily="34" charset="-120"/>
              </a:rPr>
              <a:t> with different properties.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Mass is conserved in both, if nothing can escape.</a:t>
            </a:r>
            <a:endParaRPr lang="en-US" sz="1150" dirty="0"/>
          </a:p>
        </p:txBody>
      </p:sp>
      <p:sp>
        <p:nvSpPr>
          <p:cNvPr id="38" name="Shape 35"/>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39" name="Text 36"/>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Classify each change</a:t>
            </a:r>
            <a:endParaRPr lang="en-US" sz="1300" dirty="0"/>
          </a:p>
        </p:txBody>
      </p:sp>
      <p:sp>
        <p:nvSpPr>
          <p:cNvPr id="40" name="Text 37"/>
          <p:cNvSpPr/>
          <p:nvPr/>
        </p:nvSpPr>
        <p:spPr>
          <a:xfrm>
            <a:off x="6382512" y="4133088"/>
            <a:ext cx="5233111" cy="1508760"/>
          </a:xfrm>
          <a:prstGeom prst="rect">
            <a:avLst/>
          </a:prstGeom>
          <a:noFill/>
          <a:ln/>
        </p:spPr>
        <p:txBody>
          <a:bodyPr wrap="square" lIns="0" tIns="0" rIns="0" bIns="0" rtlCol="0" anchor="t"/>
          <a:lstStyle/>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Chocolate melting   </a:t>
            </a:r>
            <a:r>
              <a:rPr lang="en-US" sz="1100" b="1" dirty="0">
                <a:solidFill>
                  <a:srgbClr val="262B3A"/>
                </a:solidFill>
                <a:latin typeface="Calibri" pitchFamily="34" charset="0"/>
                <a:ea typeface="Calibri" pitchFamily="34" charset="-122"/>
                <a:cs typeface="Calibri" pitchFamily="34" charset="-120"/>
              </a:rPr>
              <a:t>physical</a:t>
            </a:r>
            <a:r>
              <a:rPr lang="en-US" sz="1100" dirty="0">
                <a:solidFill>
                  <a:srgbClr val="262B3A"/>
                </a:solidFill>
                <a:latin typeface="Calibri" pitchFamily="34" charset="0"/>
                <a:ea typeface="Calibri" pitchFamily="34" charset="-122"/>
                <a:cs typeface="Calibri" pitchFamily="34" charset="-120"/>
              </a:rPr>
              <a:t>: it sets again as chocolate</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Steam condensing   </a:t>
            </a:r>
            <a:r>
              <a:rPr lang="en-US" sz="1100" b="1" dirty="0">
                <a:solidFill>
                  <a:srgbClr val="262B3A"/>
                </a:solidFill>
                <a:latin typeface="Calibri" pitchFamily="34" charset="0"/>
                <a:ea typeface="Calibri" pitchFamily="34" charset="-122"/>
                <a:cs typeface="Calibri" pitchFamily="34" charset="-120"/>
              </a:rPr>
              <a:t>physical</a:t>
            </a:r>
            <a:r>
              <a:rPr lang="en-US" sz="1100" dirty="0">
                <a:solidFill>
                  <a:srgbClr val="262B3A"/>
                </a:solidFill>
                <a:latin typeface="Calibri" pitchFamily="34" charset="0"/>
                <a:ea typeface="Calibri" pitchFamily="34" charset="-122"/>
                <a:cs typeface="Calibri" pitchFamily="34" charset="-120"/>
              </a:rPr>
              <a:t>: water forms again</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Wood burning   </a:t>
            </a:r>
            <a:r>
              <a:rPr lang="en-US" sz="1100" b="1" dirty="0">
                <a:solidFill>
                  <a:srgbClr val="262B3A"/>
                </a:solidFill>
                <a:latin typeface="Calibri" pitchFamily="34" charset="0"/>
                <a:ea typeface="Calibri" pitchFamily="34" charset="-122"/>
                <a:cs typeface="Calibri" pitchFamily="34" charset="-120"/>
              </a:rPr>
              <a:t>chemical</a:t>
            </a:r>
            <a:r>
              <a:rPr lang="en-US" sz="1100" dirty="0">
                <a:solidFill>
                  <a:srgbClr val="262B3A"/>
                </a:solidFill>
                <a:latin typeface="Calibri" pitchFamily="34" charset="0"/>
                <a:ea typeface="Calibri" pitchFamily="34" charset="-122"/>
                <a:cs typeface="Calibri" pitchFamily="34" charset="-120"/>
              </a:rPr>
              <a:t>: ash and gases cannot become wood</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changes of state are always physical</a:t>
            </a:r>
            <a:endParaRPr lang="en-US" sz="1100" dirty="0"/>
          </a:p>
        </p:txBody>
      </p:sp>
      <p:sp>
        <p:nvSpPr>
          <p:cNvPr id="41" name="Shape 38"/>
          <p:cNvSpPr/>
          <p:nvPr/>
        </p:nvSpPr>
        <p:spPr>
          <a:xfrm>
            <a:off x="411480" y="5833872"/>
            <a:ext cx="11368735" cy="530352"/>
          </a:xfrm>
          <a:prstGeom prst="rect">
            <a:avLst/>
          </a:prstGeom>
          <a:solidFill>
            <a:srgbClr val="FFF4E0"/>
          </a:solidFill>
          <a:ln w="6350">
            <a:solidFill>
              <a:srgbClr val="F1D9A8"/>
            </a:solidFill>
            <a:prstDash val="solid"/>
          </a:ln>
        </p:spPr>
      </p:sp>
      <p:sp>
        <p:nvSpPr>
          <p:cNvPr id="42" name="Shape 39"/>
          <p:cNvSpPr/>
          <p:nvPr/>
        </p:nvSpPr>
        <p:spPr>
          <a:xfrm>
            <a:off x="411480" y="5833872"/>
            <a:ext cx="82296" cy="530352"/>
          </a:xfrm>
          <a:prstGeom prst="rect">
            <a:avLst/>
          </a:prstGeom>
          <a:solidFill>
            <a:srgbClr val="E39A2F"/>
          </a:solidFill>
          <a:ln w="12700">
            <a:solidFill>
              <a:srgbClr val="E39A2F"/>
            </a:solidFill>
            <a:prstDash val="solid"/>
          </a:ln>
        </p:spPr>
      </p:sp>
      <p:sp>
        <p:nvSpPr>
          <p:cNvPr id="43" name="Text 4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Wax is melted and then left to cool. Explain why this is a physical change and not a chemical change.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1</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P6.1.1–P6.1.2 • changes of state and conservation of mass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P6.1 How does energy transform matter?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1  |  7</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change of state when: </a:t>
            </a:r>
            <a:r>
              <a:rPr lang="en-US" sz="1250" b="1" dirty="0">
                <a:solidFill>
                  <a:srgbClr val="262B3A"/>
                </a:solidFill>
                <a:latin typeface="Calibri" pitchFamily="34" charset="0"/>
                <a:ea typeface="Calibri" pitchFamily="34" charset="-122"/>
                <a:cs typeface="Calibri" pitchFamily="34" charset="-120"/>
              </a:rPr>
              <a:t>(i)</a:t>
            </a:r>
            <a:r>
              <a:rPr lang="en-US" sz="1250" dirty="0">
                <a:solidFill>
                  <a:srgbClr val="262B3A"/>
                </a:solidFill>
                <a:latin typeface="Calibri" pitchFamily="34" charset="0"/>
                <a:ea typeface="Calibri" pitchFamily="34" charset="-122"/>
                <a:cs typeface="Calibri" pitchFamily="34" charset="-120"/>
              </a:rPr>
              <a:t> a liquid becomes a gas; </a:t>
            </a:r>
            <a:r>
              <a:rPr lang="en-US" sz="1250" b="1" dirty="0">
                <a:solidFill>
                  <a:srgbClr val="262B3A"/>
                </a:solidFill>
                <a:latin typeface="Calibri" pitchFamily="34" charset="0"/>
                <a:ea typeface="Calibri" pitchFamily="34" charset="-122"/>
                <a:cs typeface="Calibri" pitchFamily="34" charset="-120"/>
              </a:rPr>
              <a:t>(ii)</a:t>
            </a:r>
            <a:r>
              <a:rPr lang="en-US" sz="1250" dirty="0">
                <a:solidFill>
                  <a:srgbClr val="262B3A"/>
                </a:solidFill>
                <a:latin typeface="Calibri" pitchFamily="34" charset="0"/>
                <a:ea typeface="Calibri" pitchFamily="34" charset="-122"/>
                <a:cs typeface="Calibri" pitchFamily="34" charset="-120"/>
              </a:rPr>
              <a:t> a gas becomes a liquid; </a:t>
            </a:r>
            <a:r>
              <a:rPr lang="en-US" sz="1250" b="1" dirty="0">
                <a:solidFill>
                  <a:srgbClr val="262B3A"/>
                </a:solidFill>
                <a:latin typeface="Calibri" pitchFamily="34" charset="0"/>
                <a:ea typeface="Calibri" pitchFamily="34" charset="-122"/>
                <a:cs typeface="Calibri" pitchFamily="34" charset="-120"/>
              </a:rPr>
              <a:t>(iii)</a:t>
            </a:r>
            <a:r>
              <a:rPr lang="en-US" sz="1250" dirty="0">
                <a:solidFill>
                  <a:srgbClr val="262B3A"/>
                </a:solidFill>
                <a:latin typeface="Calibri" pitchFamily="34" charset="0"/>
                <a:ea typeface="Calibri" pitchFamily="34" charset="-122"/>
                <a:cs typeface="Calibri" pitchFamily="34" charset="-120"/>
              </a:rPr>
              <a:t> a solid becomes a gas without melting.</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student melts </a:t>
            </a:r>
            <a:r>
              <a:rPr lang="en-US" sz="1250" b="1" dirty="0">
                <a:solidFill>
                  <a:srgbClr val="262B3A"/>
                </a:solidFill>
                <a:latin typeface="Calibri" pitchFamily="34" charset="0"/>
                <a:ea typeface="Calibri" pitchFamily="34" charset="-122"/>
                <a:cs typeface="Calibri" pitchFamily="34" charset="-120"/>
              </a:rPr>
              <a:t>50 g</a:t>
            </a:r>
            <a:r>
              <a:rPr lang="en-US" sz="1250" dirty="0">
                <a:solidFill>
                  <a:srgbClr val="262B3A"/>
                </a:solidFill>
                <a:latin typeface="Calibri" pitchFamily="34" charset="0"/>
                <a:ea typeface="Calibri" pitchFamily="34" charset="-122"/>
                <a:cs typeface="Calibri" pitchFamily="34" charset="-120"/>
              </a:rPr>
              <a:t> of solid wax in a closed container. State the mass of the liquid wax and explain your answer.</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difference between melting ice and burning paper.</a:t>
            </a:r>
            <a:endParaRPr lang="en-US" sz="1250" dirty="0"/>
          </a:p>
        </p:txBody>
      </p:sp>
      <p:sp>
        <p:nvSpPr>
          <p:cNvPr id="22" name="Text 20"/>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Density</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P6.1.4 • how much mass is packed into each unit of volume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P6.1 How does energy transform matter?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P6.1.4  |  8</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regular block: measure its sides with a ruler and its mass with a balance</a:t>
            </a:r>
            <a:endParaRPr lang="en-US" sz="1000" dirty="0"/>
          </a:p>
        </p:txBody>
      </p:sp>
      <p:sp>
        <p:nvSpPr>
          <p:cNvPr id="10" name="Shape 8"/>
          <p:cNvSpPr/>
          <p:nvPr/>
        </p:nvSpPr>
        <p:spPr>
          <a:xfrm>
            <a:off x="731520" y="1371600"/>
            <a:ext cx="4937760" cy="457200"/>
          </a:xfrm>
          <a:prstGeom prst="roundRect">
            <a:avLst>
              <a:gd name="adj" fmla="val 12000"/>
            </a:avLst>
          </a:prstGeom>
          <a:solidFill>
            <a:srgbClr val="FFFFFF"/>
          </a:solidFill>
          <a:ln w="19050">
            <a:solidFill>
              <a:srgbClr val="C8414C"/>
            </a:solidFill>
            <a:prstDash val="solid"/>
          </a:ln>
        </p:spPr>
      </p:sp>
      <p:sp>
        <p:nvSpPr>
          <p:cNvPr id="11" name="Text 9"/>
          <p:cNvSpPr/>
          <p:nvPr/>
        </p:nvSpPr>
        <p:spPr>
          <a:xfrm>
            <a:off x="822960" y="1371600"/>
            <a:ext cx="3657600" cy="457200"/>
          </a:xfrm>
          <a:prstGeom prst="rect">
            <a:avLst/>
          </a:prstGeom>
          <a:noFill/>
          <a:ln/>
        </p:spPr>
        <p:txBody>
          <a:bodyPr wrap="square" lIns="0" tIns="0" rIns="0" bIns="0" rtlCol="0" anchor="ctr"/>
          <a:lstStyle/>
          <a:p>
            <a:pPr algn="l" indent="0" marL="0">
              <a:buNone/>
            </a:pPr>
            <a:r>
              <a:rPr lang="en-US" sz="1600" b="1" dirty="0">
                <a:solidFill>
                  <a:srgbClr val="1A2340"/>
                </a:solidFill>
                <a:latin typeface="Calibri" pitchFamily="34" charset="0"/>
                <a:ea typeface="Calibri" pitchFamily="34" charset="-122"/>
                <a:cs typeface="Calibri" pitchFamily="34" charset="-120"/>
              </a:rPr>
              <a:t>ρ = m ÷ V</a:t>
            </a:r>
            <a:endParaRPr lang="en-US" sz="1600" dirty="0"/>
          </a:p>
        </p:txBody>
      </p:sp>
      <p:sp>
        <p:nvSpPr>
          <p:cNvPr id="12" name="Shape 10"/>
          <p:cNvSpPr/>
          <p:nvPr/>
        </p:nvSpPr>
        <p:spPr>
          <a:xfrm>
            <a:off x="4526280" y="1463040"/>
            <a:ext cx="1005840" cy="274320"/>
          </a:xfrm>
          <a:prstGeom prst="roundRect">
            <a:avLst>
              <a:gd name="adj" fmla="val 50000"/>
            </a:avLst>
          </a:prstGeom>
          <a:solidFill>
            <a:srgbClr val="C8414C"/>
          </a:solidFill>
          <a:ln w="12700">
            <a:solidFill>
              <a:srgbClr val="C8414C"/>
            </a:solidFill>
            <a:prstDash val="solid"/>
          </a:ln>
        </p:spPr>
      </p:sp>
      <p:sp>
        <p:nvSpPr>
          <p:cNvPr id="13" name="Text 11"/>
          <p:cNvSpPr/>
          <p:nvPr/>
        </p:nvSpPr>
        <p:spPr>
          <a:xfrm>
            <a:off x="4526280" y="1463040"/>
            <a:ext cx="10058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RECALL</a:t>
            </a:r>
            <a:endParaRPr lang="en-US" sz="1000" dirty="0"/>
          </a:p>
        </p:txBody>
      </p:sp>
      <p:sp>
        <p:nvSpPr>
          <p:cNvPr id="14" name="Shape 12"/>
          <p:cNvSpPr/>
          <p:nvPr/>
        </p:nvSpPr>
        <p:spPr>
          <a:xfrm>
            <a:off x="1097280" y="2496312"/>
            <a:ext cx="2148840" cy="246888"/>
          </a:xfrm>
          <a:custGeom>
            <a:avLst/>
            <a:gdLst/>
            <a:ahLst/>
            <a:cxnLst/>
            <a:rect l="l" t="t" r="r" b="b"/>
            <a:pathLst>
              <a:path w="2148840" h="246888">
                <a:moveTo>
                  <a:pt x="0" y="246888"/>
                </a:moveTo>
                <a:lnTo>
                  <a:pt x="411480" y="0"/>
                </a:lnTo>
                <a:lnTo>
                  <a:pt x="2148840" y="0"/>
                </a:lnTo>
                <a:lnTo>
                  <a:pt x="1737360" y="246888"/>
                </a:lnTo>
                <a:close/>
              </a:path>
            </a:pathLst>
          </a:custGeom>
          <a:solidFill>
            <a:srgbClr val="D3D8E0"/>
          </a:solidFill>
          <a:ln w="12700">
            <a:solidFill>
              <a:srgbClr val="6B7385"/>
            </a:solidFill>
            <a:prstDash val="solid"/>
          </a:ln>
        </p:spPr>
      </p:sp>
      <p:sp>
        <p:nvSpPr>
          <p:cNvPr id="15" name="Shape 13"/>
          <p:cNvSpPr/>
          <p:nvPr/>
        </p:nvSpPr>
        <p:spPr>
          <a:xfrm>
            <a:off x="2834640" y="2496312"/>
            <a:ext cx="411480" cy="1069848"/>
          </a:xfrm>
          <a:custGeom>
            <a:avLst/>
            <a:gdLst/>
            <a:ahLst/>
            <a:cxnLst/>
            <a:rect l="l" t="t" r="r" b="b"/>
            <a:pathLst>
              <a:path w="411480" h="1069848">
                <a:moveTo>
                  <a:pt x="0" y="246888"/>
                </a:moveTo>
                <a:lnTo>
                  <a:pt x="411480" y="0"/>
                </a:lnTo>
                <a:lnTo>
                  <a:pt x="411480" y="822960"/>
                </a:lnTo>
                <a:lnTo>
                  <a:pt x="0" y="1069848"/>
                </a:lnTo>
                <a:close/>
              </a:path>
            </a:pathLst>
          </a:custGeom>
          <a:solidFill>
            <a:srgbClr val="A9B1BF"/>
          </a:solidFill>
          <a:ln w="12700">
            <a:solidFill>
              <a:srgbClr val="6B7385"/>
            </a:solidFill>
            <a:prstDash val="solid"/>
          </a:ln>
        </p:spPr>
      </p:sp>
      <p:sp>
        <p:nvSpPr>
          <p:cNvPr id="16" name="Shape 14"/>
          <p:cNvSpPr/>
          <p:nvPr/>
        </p:nvSpPr>
        <p:spPr>
          <a:xfrm>
            <a:off x="1097280" y="2743200"/>
            <a:ext cx="1737360" cy="822960"/>
          </a:xfrm>
          <a:prstGeom prst="rect">
            <a:avLst/>
          </a:prstGeom>
          <a:solidFill>
            <a:srgbClr val="C2C8D2"/>
          </a:solidFill>
          <a:ln w="12700">
            <a:solidFill>
              <a:srgbClr val="6B7385"/>
            </a:solidFill>
            <a:prstDash val="solid"/>
          </a:ln>
        </p:spPr>
      </p:sp>
      <p:sp>
        <p:nvSpPr>
          <p:cNvPr id="17" name="Text 15"/>
          <p:cNvSpPr/>
          <p:nvPr/>
        </p:nvSpPr>
        <p:spPr>
          <a:xfrm>
            <a:off x="1097280" y="2743200"/>
            <a:ext cx="1737360" cy="822960"/>
          </a:xfrm>
          <a:prstGeom prst="rect">
            <a:avLst/>
          </a:prstGeom>
          <a:noFill/>
          <a:ln/>
        </p:spPr>
        <p:txBody>
          <a:bodyPr wrap="square" lIns="0" tIns="0" rIns="0" bIns="0" rtlCol="0" anchor="ctr"/>
          <a:lstStyle/>
          <a:p>
            <a:pPr algn="ctr" indent="0" marL="0">
              <a:buNone/>
            </a:pPr>
            <a:r>
              <a:rPr lang="en-US" sz="1100" b="1" dirty="0">
                <a:solidFill>
                  <a:srgbClr val="1A2340"/>
                </a:solidFill>
                <a:latin typeface="Calibri" pitchFamily="34" charset="0"/>
                <a:ea typeface="Calibri" pitchFamily="34" charset="-122"/>
                <a:cs typeface="Calibri" pitchFamily="34" charset="-120"/>
              </a:rPr>
              <a:t>aluminium</a:t>
            </a:r>
            <a:endParaRPr lang="en-US" sz="1100" dirty="0"/>
          </a:p>
        </p:txBody>
      </p:sp>
      <p:sp>
        <p:nvSpPr>
          <p:cNvPr id="18" name="Shape 16"/>
          <p:cNvSpPr/>
          <p:nvPr/>
        </p:nvSpPr>
        <p:spPr>
          <a:xfrm>
            <a:off x="1129284" y="3566160"/>
            <a:ext cx="2084832" cy="64008"/>
          </a:xfrm>
          <a:prstGeom prst="rect">
            <a:avLst/>
          </a:prstGeom>
          <a:solidFill>
            <a:srgbClr val="B7BECC"/>
          </a:solidFill>
          <a:ln w="9525">
            <a:solidFill>
              <a:srgbClr val="6B7385"/>
            </a:solidFill>
            <a:prstDash val="solid"/>
          </a:ln>
        </p:spPr>
      </p:sp>
      <p:sp>
        <p:nvSpPr>
          <p:cNvPr id="19" name="Shape 17"/>
          <p:cNvSpPr/>
          <p:nvPr/>
        </p:nvSpPr>
        <p:spPr>
          <a:xfrm>
            <a:off x="2041398" y="3630168"/>
            <a:ext cx="260604" cy="54864"/>
          </a:xfrm>
          <a:prstGeom prst="rect">
            <a:avLst/>
          </a:prstGeom>
          <a:solidFill>
            <a:srgbClr val="6B7385"/>
          </a:solidFill>
          <a:ln/>
        </p:spPr>
      </p:sp>
      <p:sp>
        <p:nvSpPr>
          <p:cNvPr id="20" name="Shape 18"/>
          <p:cNvSpPr/>
          <p:nvPr/>
        </p:nvSpPr>
        <p:spPr>
          <a:xfrm>
            <a:off x="868680" y="3685032"/>
            <a:ext cx="2606040" cy="411480"/>
          </a:xfrm>
          <a:prstGeom prst="roundRect">
            <a:avLst>
              <a:gd name="adj" fmla="val 11111"/>
            </a:avLst>
          </a:prstGeom>
          <a:solidFill>
            <a:srgbClr val="4A5262"/>
          </a:solidFill>
          <a:ln w="12700">
            <a:solidFill>
              <a:srgbClr val="2E3442"/>
            </a:solidFill>
            <a:prstDash val="solid"/>
          </a:ln>
        </p:spPr>
      </p:sp>
      <p:sp>
        <p:nvSpPr>
          <p:cNvPr id="21" name="Shape 19"/>
          <p:cNvSpPr/>
          <p:nvPr/>
        </p:nvSpPr>
        <p:spPr>
          <a:xfrm>
            <a:off x="1389888" y="3749040"/>
            <a:ext cx="1563624" cy="274320"/>
          </a:xfrm>
          <a:prstGeom prst="rect">
            <a:avLst/>
          </a:prstGeom>
          <a:solidFill>
            <a:srgbClr val="1E2A1E"/>
          </a:solidFill>
          <a:ln w="12700">
            <a:solidFill>
              <a:srgbClr val="0F150F"/>
            </a:solidFill>
            <a:prstDash val="solid"/>
          </a:ln>
        </p:spPr>
      </p:sp>
      <p:sp>
        <p:nvSpPr>
          <p:cNvPr id="22" name="Text 20"/>
          <p:cNvSpPr/>
          <p:nvPr/>
        </p:nvSpPr>
        <p:spPr>
          <a:xfrm>
            <a:off x="1389888" y="3749040"/>
            <a:ext cx="1563624" cy="274320"/>
          </a:xfrm>
          <a:prstGeom prst="rect">
            <a:avLst/>
          </a:prstGeom>
          <a:noFill/>
          <a:ln/>
        </p:spPr>
        <p:txBody>
          <a:bodyPr wrap="square" lIns="0" tIns="0" rIns="0" bIns="0" rtlCol="0" anchor="ctr"/>
          <a:lstStyle/>
          <a:p>
            <a:pPr algn="ctr" indent="0" marL="0">
              <a:buNone/>
            </a:pPr>
            <a:r>
              <a:rPr lang="en-US" sz="1100" b="1" dirty="0">
                <a:solidFill>
                  <a:srgbClr val="7CFC8A"/>
                </a:solidFill>
                <a:latin typeface="Calibri" pitchFamily="34" charset="0"/>
                <a:ea typeface="Calibri" pitchFamily="34" charset="-122"/>
                <a:cs typeface="Calibri" pitchFamily="34" charset="-120"/>
              </a:rPr>
              <a:t>108 g</a:t>
            </a:r>
            <a:endParaRPr lang="en-US" sz="1100" dirty="0"/>
          </a:p>
        </p:txBody>
      </p:sp>
      <p:sp>
        <p:nvSpPr>
          <p:cNvPr id="23" name="Shape 21"/>
          <p:cNvSpPr/>
          <p:nvPr/>
        </p:nvSpPr>
        <p:spPr>
          <a:xfrm>
            <a:off x="1097280" y="2057400"/>
            <a:ext cx="1737360" cy="91"/>
          </a:xfrm>
          <a:prstGeom prst="line">
            <a:avLst/>
          </a:prstGeom>
          <a:noFill/>
          <a:ln w="15875">
            <a:solidFill>
              <a:srgbClr val="2E5BD8"/>
            </a:solidFill>
            <a:prstDash val="solid"/>
            <a:headEnd type="triangle"/>
            <a:tailEnd type="triangle"/>
          </a:ln>
        </p:spPr>
      </p:sp>
      <p:sp>
        <p:nvSpPr>
          <p:cNvPr id="24" name="Text 22"/>
          <p:cNvSpPr/>
          <p:nvPr/>
        </p:nvSpPr>
        <p:spPr>
          <a:xfrm>
            <a:off x="1097280" y="1828800"/>
            <a:ext cx="1737360" cy="201168"/>
          </a:xfrm>
          <a:prstGeom prst="rect">
            <a:avLst/>
          </a:prstGeom>
          <a:noFill/>
          <a:ln/>
        </p:spPr>
        <p:txBody>
          <a:bodyPr wrap="square" lIns="0" tIns="0" rIns="0" bIns="0" rtlCol="0" anchor="ctr"/>
          <a:lstStyle/>
          <a:p>
            <a:pPr algn="ctr" indent="0" marL="0">
              <a:buNone/>
            </a:pPr>
            <a:r>
              <a:rPr lang="en-US" sz="1050" b="1" dirty="0">
                <a:solidFill>
                  <a:srgbClr val="2E5BD8"/>
                </a:solidFill>
                <a:latin typeface="Calibri" pitchFamily="34" charset="0"/>
                <a:ea typeface="Calibri" pitchFamily="34" charset="-122"/>
                <a:cs typeface="Calibri" pitchFamily="34" charset="-120"/>
              </a:rPr>
              <a:t>5.0 cm</a:t>
            </a:r>
            <a:endParaRPr lang="en-US" sz="1050" dirty="0"/>
          </a:p>
        </p:txBody>
      </p:sp>
      <p:sp>
        <p:nvSpPr>
          <p:cNvPr id="25" name="Shape 23"/>
          <p:cNvSpPr/>
          <p:nvPr/>
        </p:nvSpPr>
        <p:spPr>
          <a:xfrm>
            <a:off x="960120" y="2743200"/>
            <a:ext cx="91" cy="822960"/>
          </a:xfrm>
          <a:prstGeom prst="line">
            <a:avLst/>
          </a:prstGeom>
          <a:noFill/>
          <a:ln w="15875">
            <a:solidFill>
              <a:srgbClr val="2E5BD8"/>
            </a:solidFill>
            <a:prstDash val="solid"/>
            <a:headEnd type="triangle"/>
            <a:tailEnd type="triangle"/>
          </a:ln>
        </p:spPr>
      </p:sp>
      <p:sp>
        <p:nvSpPr>
          <p:cNvPr id="26" name="Text 24"/>
          <p:cNvSpPr/>
          <p:nvPr/>
        </p:nvSpPr>
        <p:spPr>
          <a:xfrm>
            <a:off x="228600" y="3044952"/>
            <a:ext cx="685800" cy="256032"/>
          </a:xfrm>
          <a:prstGeom prst="rect">
            <a:avLst/>
          </a:prstGeom>
          <a:noFill/>
          <a:ln/>
        </p:spPr>
        <p:txBody>
          <a:bodyPr wrap="square" lIns="0" tIns="0" rIns="0" bIns="0" rtlCol="0" anchor="ctr"/>
          <a:lstStyle/>
          <a:p>
            <a:pPr algn="r" indent="0" marL="0">
              <a:buNone/>
            </a:pPr>
            <a:r>
              <a:rPr lang="en-US" sz="1050" b="1" dirty="0">
                <a:solidFill>
                  <a:srgbClr val="2E5BD8"/>
                </a:solidFill>
                <a:latin typeface="Calibri" pitchFamily="34" charset="0"/>
                <a:ea typeface="Calibri" pitchFamily="34" charset="-122"/>
                <a:cs typeface="Calibri" pitchFamily="34" charset="-120"/>
              </a:rPr>
              <a:t>2.0 cm</a:t>
            </a:r>
            <a:endParaRPr lang="en-US" sz="1050" dirty="0"/>
          </a:p>
        </p:txBody>
      </p:sp>
      <p:sp>
        <p:nvSpPr>
          <p:cNvPr id="27" name="Shape 25"/>
          <p:cNvSpPr/>
          <p:nvPr/>
        </p:nvSpPr>
        <p:spPr>
          <a:xfrm flipV="1">
            <a:off x="2944368" y="2542032"/>
            <a:ext cx="411480" cy="246888"/>
          </a:xfrm>
          <a:prstGeom prst="line">
            <a:avLst/>
          </a:prstGeom>
          <a:noFill/>
          <a:ln w="15875">
            <a:solidFill>
              <a:srgbClr val="2E5BD8"/>
            </a:solidFill>
            <a:prstDash val="solid"/>
            <a:headEnd type="triangle"/>
            <a:tailEnd type="triangle"/>
          </a:ln>
        </p:spPr>
      </p:sp>
      <p:sp>
        <p:nvSpPr>
          <p:cNvPr id="28" name="Text 26"/>
          <p:cNvSpPr/>
          <p:nvPr/>
        </p:nvSpPr>
        <p:spPr>
          <a:xfrm>
            <a:off x="3383280" y="2331720"/>
            <a:ext cx="731520" cy="256032"/>
          </a:xfrm>
          <a:prstGeom prst="rect">
            <a:avLst/>
          </a:prstGeom>
          <a:noFill/>
          <a:ln/>
        </p:spPr>
        <p:txBody>
          <a:bodyPr wrap="square" lIns="0" tIns="0" rIns="0" bIns="0" rtlCol="0" anchor="ctr"/>
          <a:lstStyle/>
          <a:p>
            <a:pPr algn="l" indent="0" marL="0">
              <a:buNone/>
            </a:pPr>
            <a:r>
              <a:rPr lang="en-US" sz="1050" b="1" dirty="0">
                <a:solidFill>
                  <a:srgbClr val="2E5BD8"/>
                </a:solidFill>
                <a:latin typeface="Calibri" pitchFamily="34" charset="0"/>
                <a:ea typeface="Calibri" pitchFamily="34" charset="-122"/>
                <a:cs typeface="Calibri" pitchFamily="34" charset="-120"/>
              </a:rPr>
              <a:t>4.0 cm</a:t>
            </a:r>
            <a:endParaRPr lang="en-US" sz="1050" dirty="0"/>
          </a:p>
        </p:txBody>
      </p:sp>
      <p:sp>
        <p:nvSpPr>
          <p:cNvPr id="29" name="Shape 27"/>
          <p:cNvSpPr/>
          <p:nvPr/>
        </p:nvSpPr>
        <p:spPr>
          <a:xfrm>
            <a:off x="731520" y="4343400"/>
            <a:ext cx="4937760" cy="914400"/>
          </a:xfrm>
          <a:prstGeom prst="roundRect">
            <a:avLst>
              <a:gd name="adj" fmla="val 5000"/>
            </a:avLst>
          </a:prstGeom>
          <a:solidFill>
            <a:srgbClr val="FFFFFF"/>
          </a:solidFill>
          <a:ln w="12700">
            <a:solidFill>
              <a:srgbClr val="D5DCEB"/>
            </a:solidFill>
            <a:prstDash val="solid"/>
          </a:ln>
        </p:spPr>
      </p:sp>
      <p:sp>
        <p:nvSpPr>
          <p:cNvPr id="30" name="Text 28"/>
          <p:cNvSpPr/>
          <p:nvPr/>
        </p:nvSpPr>
        <p:spPr>
          <a:xfrm>
            <a:off x="868680" y="4389120"/>
            <a:ext cx="4663440" cy="822960"/>
          </a:xfrm>
          <a:prstGeom prst="rect">
            <a:avLst/>
          </a:prstGeom>
          <a:noFill/>
          <a:ln/>
        </p:spPr>
        <p:txBody>
          <a:bodyPr wrap="square" lIns="0" tIns="0" rIns="0" bIns="0" rtlCol="0" anchor="ctr"/>
          <a:lstStyle/>
          <a:p>
            <a:pPr indent="0" marL="0">
              <a:buNone/>
            </a:pPr>
            <a:r>
              <a:rPr lang="en-US" sz="1100" b="1" dirty="0">
                <a:solidFill>
                  <a:srgbClr val="1A2340"/>
                </a:solidFill>
                <a:latin typeface="Calibri" pitchFamily="34" charset="0"/>
                <a:ea typeface="Calibri" pitchFamily="34" charset="-122"/>
                <a:cs typeface="Calibri" pitchFamily="34" charset="-120"/>
              </a:rPr>
              <a:t>Units</a:t>
            </a:r>
            <a:endParaRPr lang="en-US" sz="1100" dirty="0"/>
          </a:p>
          <a:p>
            <a:pPr indent="0" marL="0">
              <a:buNone/>
            </a:pPr>
            <a:r>
              <a:rPr lang="en-US" sz="1100" dirty="0">
                <a:solidFill>
                  <a:srgbClr val="262B3A"/>
                </a:solidFill>
                <a:latin typeface="Calibri" pitchFamily="34" charset="0"/>
                <a:ea typeface="Calibri" pitchFamily="34" charset="-122"/>
                <a:cs typeface="Calibri" pitchFamily="34" charset="-120"/>
              </a:rPr>
              <a:t>kg/m³ (SI unit) or g/cm³.   </a:t>
            </a:r>
            <a:r>
              <a:rPr lang="en-US" sz="1100" b="1" dirty="0">
                <a:solidFill>
                  <a:srgbClr val="262B3A"/>
                </a:solidFill>
                <a:latin typeface="Calibri" pitchFamily="34" charset="0"/>
                <a:ea typeface="Calibri" pitchFamily="34" charset="-122"/>
                <a:cs typeface="Calibri" pitchFamily="34" charset="-120"/>
              </a:rPr>
              <a:t>1 g/cm³ = 1000 kg/m³</a:t>
            </a:r>
            <a:endParaRPr lang="en-US" sz="1100" dirty="0"/>
          </a:p>
          <a:p>
            <a:pPr indent="0" marL="0">
              <a:buNone/>
            </a:pPr>
            <a:r>
              <a:rPr lang="en-US" sz="1100" dirty="0">
                <a:solidFill>
                  <a:srgbClr val="262B3A"/>
                </a:solidFill>
                <a:latin typeface="Calibri" pitchFamily="34" charset="0"/>
                <a:ea typeface="Calibri" pitchFamily="34" charset="-122"/>
                <a:cs typeface="Calibri" pitchFamily="34" charset="-120"/>
              </a:rPr>
              <a:t>1 m³ = 1 000 000 cm³ (100 × 100 × 100)</a:t>
            </a:r>
            <a:endParaRPr lang="en-US" sz="1100" dirty="0"/>
          </a:p>
        </p:txBody>
      </p:sp>
      <p:sp>
        <p:nvSpPr>
          <p:cNvPr id="31" name="Shape 29"/>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32" name="Text 30"/>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Density = mass ÷ volume</a:t>
            </a:r>
            <a:endParaRPr lang="en-US" sz="1300" dirty="0"/>
          </a:p>
        </p:txBody>
      </p:sp>
      <p:sp>
        <p:nvSpPr>
          <p:cNvPr id="33" name="Text 31"/>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ρ = m ÷ V</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C8414C"/>
                </a:solidFill>
                <a:latin typeface="Calibri" pitchFamily="34" charset="0"/>
                <a:ea typeface="Calibri" pitchFamily="34" charset="-122"/>
                <a:cs typeface="Calibri" pitchFamily="34" charset="-120"/>
              </a:rPr>
              <a:t>RECALL</a:t>
            </a:r>
            <a:r>
              <a:rPr lang="en-US" sz="1150" dirty="0">
                <a:solidFill>
                  <a:srgbClr val="262B3A"/>
                </a:solidFill>
                <a:latin typeface="Calibri" pitchFamily="34" charset="0"/>
                <a:ea typeface="Calibri" pitchFamily="34" charset="-122"/>
                <a:cs typeface="Calibri" pitchFamily="34" charset="-120"/>
              </a:rPr>
              <a:t>). ρ (rho) is density.</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Density in kg/m³ needs mass in </a:t>
            </a:r>
            <a:r>
              <a:rPr lang="en-US" sz="1150" b="1" dirty="0">
                <a:solidFill>
                  <a:srgbClr val="262B3A"/>
                </a:solidFill>
                <a:latin typeface="Calibri" pitchFamily="34" charset="0"/>
                <a:ea typeface="Calibri" pitchFamily="34" charset="-122"/>
                <a:cs typeface="Calibri" pitchFamily="34" charset="-120"/>
              </a:rPr>
              <a:t>kg</a:t>
            </a:r>
            <a:r>
              <a:rPr lang="en-US" sz="1150" dirty="0">
                <a:solidFill>
                  <a:srgbClr val="262B3A"/>
                </a:solidFill>
                <a:latin typeface="Calibri" pitchFamily="34" charset="0"/>
                <a:ea typeface="Calibri" pitchFamily="34" charset="-122"/>
                <a:cs typeface="Calibri" pitchFamily="34" charset="-120"/>
              </a:rPr>
              <a:t> and volume in </a:t>
            </a:r>
            <a:r>
              <a:rPr lang="en-US" sz="1150" b="1" dirty="0">
                <a:solidFill>
                  <a:srgbClr val="262B3A"/>
                </a:solidFill>
                <a:latin typeface="Calibri" pitchFamily="34" charset="0"/>
                <a:ea typeface="Calibri" pitchFamily="34" charset="-122"/>
                <a:cs typeface="Calibri" pitchFamily="34" charset="-120"/>
              </a:rPr>
              <a:t>m³</a:t>
            </a:r>
            <a:r>
              <a:rPr lang="en-US" sz="1150" dirty="0">
                <a:solidFill>
                  <a:srgbClr val="262B3A"/>
                </a:solidFill>
                <a:latin typeface="Calibri" pitchFamily="34" charset="0"/>
                <a:ea typeface="Calibri" pitchFamily="34" charset="-122"/>
                <a:cs typeface="Calibri" pitchFamily="34" charset="-120"/>
              </a:rPr>
              <a:t>. Using g and cm³ gives g/cm³.</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Rearranged: </a:t>
            </a:r>
            <a:r>
              <a:rPr lang="en-US" sz="1150" b="1" dirty="0">
                <a:solidFill>
                  <a:srgbClr val="262B3A"/>
                </a:solidFill>
                <a:latin typeface="Calibri" pitchFamily="34" charset="0"/>
                <a:ea typeface="Calibri" pitchFamily="34" charset="-122"/>
                <a:cs typeface="Calibri" pitchFamily="34" charset="-120"/>
              </a:rPr>
              <a:t>m = ρ × V</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V = m ÷ ρ</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Objects less dense than water (1000 kg/m³) </a:t>
            </a:r>
            <a:r>
              <a:rPr lang="en-US" sz="1150" b="1" dirty="0">
                <a:solidFill>
                  <a:srgbClr val="262B3A"/>
                </a:solidFill>
                <a:latin typeface="Calibri" pitchFamily="34" charset="0"/>
                <a:ea typeface="Calibri" pitchFamily="34" charset="-122"/>
                <a:cs typeface="Calibri" pitchFamily="34" charset="-120"/>
              </a:rPr>
              <a:t>float</a:t>
            </a:r>
            <a:r>
              <a:rPr lang="en-US" sz="1150" dirty="0">
                <a:solidFill>
                  <a:srgbClr val="262B3A"/>
                </a:solidFill>
                <a:latin typeface="Calibri" pitchFamily="34" charset="0"/>
                <a:ea typeface="Calibri" pitchFamily="34" charset="-122"/>
                <a:cs typeface="Calibri" pitchFamily="34" charset="-120"/>
              </a:rPr>
              <a:t> in it.</a:t>
            </a:r>
            <a:endParaRPr lang="en-US" sz="1150" dirty="0"/>
          </a:p>
        </p:txBody>
      </p:sp>
      <p:sp>
        <p:nvSpPr>
          <p:cNvPr id="34" name="Shape 32"/>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35" name="Text 33"/>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36" name="Text 34"/>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The aluminium block is 5.0 cm × 4.0 cm × 2.0 cm and has a mass of 108 g. Calculate its density.</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Volume   </a:t>
            </a:r>
            <a:r>
              <a:rPr lang="en-US" sz="1100" dirty="0">
                <a:solidFill>
                  <a:srgbClr val="262B3A"/>
                </a:solidFill>
                <a:latin typeface="Calibri" pitchFamily="34" charset="0"/>
                <a:ea typeface="Calibri" pitchFamily="34" charset="-122"/>
                <a:cs typeface="Calibri" pitchFamily="34" charset="-120"/>
              </a:rPr>
              <a:t>V = 5.0 × 4.0 × 2.0 = 40 cm³</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Equation   </a:t>
            </a:r>
            <a:r>
              <a:rPr lang="en-US" sz="1100" dirty="0">
                <a:solidFill>
                  <a:srgbClr val="262B3A"/>
                </a:solidFill>
                <a:latin typeface="Calibri" pitchFamily="34" charset="0"/>
                <a:ea typeface="Calibri" pitchFamily="34" charset="-122"/>
                <a:cs typeface="Calibri" pitchFamily="34" charset="-120"/>
              </a:rPr>
              <a:t>ρ = m ÷ V</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Substitute   </a:t>
            </a:r>
            <a:r>
              <a:rPr lang="en-US" sz="1100" dirty="0">
                <a:solidFill>
                  <a:srgbClr val="262B3A"/>
                </a:solidFill>
                <a:latin typeface="Calibri" pitchFamily="34" charset="0"/>
                <a:ea typeface="Calibri" pitchFamily="34" charset="-122"/>
                <a:cs typeface="Calibri" pitchFamily="34" charset="-120"/>
              </a:rPr>
              <a:t>ρ = 108 ÷ 40</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ρ = 2.7 g/cm³ = 2700 kg/m³</a:t>
            </a:r>
            <a:endParaRPr lang="en-US" sz="1100" dirty="0"/>
          </a:p>
        </p:txBody>
      </p:sp>
      <p:sp>
        <p:nvSpPr>
          <p:cNvPr id="37" name="Shape 35"/>
          <p:cNvSpPr/>
          <p:nvPr/>
        </p:nvSpPr>
        <p:spPr>
          <a:xfrm>
            <a:off x="411480" y="5833872"/>
            <a:ext cx="11368735" cy="530352"/>
          </a:xfrm>
          <a:prstGeom prst="rect">
            <a:avLst/>
          </a:prstGeom>
          <a:solidFill>
            <a:srgbClr val="FFF4E0"/>
          </a:solidFill>
          <a:ln w="6350">
            <a:solidFill>
              <a:srgbClr val="F1D9A8"/>
            </a:solidFill>
            <a:prstDash val="solid"/>
          </a:ln>
        </p:spPr>
      </p:sp>
      <p:sp>
        <p:nvSpPr>
          <p:cNvPr id="38" name="Shape 36"/>
          <p:cNvSpPr/>
          <p:nvPr/>
        </p:nvSpPr>
        <p:spPr>
          <a:xfrm>
            <a:off x="411480" y="5833872"/>
            <a:ext cx="82296" cy="530352"/>
          </a:xfrm>
          <a:prstGeom prst="rect">
            <a:avLst/>
          </a:prstGeom>
          <a:solidFill>
            <a:srgbClr val="E39A2F"/>
          </a:solidFill>
          <a:ln w="12700">
            <a:solidFill>
              <a:srgbClr val="E39A2F"/>
            </a:solidFill>
            <a:prstDash val="solid"/>
          </a:ln>
        </p:spPr>
      </p:sp>
      <p:sp>
        <p:nvSpPr>
          <p:cNvPr id="39" name="Text 37"/>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500 cm³ of cooking oil has a mass of 460 g. Calculate its density in g/cm³ and in kg/m³. Will the oil float on water?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Density and the particle model</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P6.1.3, P6.1.4 • the closer the particles, the greater the density</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P6.1 How does energy transform matter?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P6.1.3  |  9</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equal volumes of ice, water and steam (gas spacing NOT to scale: far more spread out)</a:t>
            </a:r>
            <a:endParaRPr lang="en-US" sz="1000" dirty="0"/>
          </a:p>
        </p:txBody>
      </p:sp>
      <p:sp>
        <p:nvSpPr>
          <p:cNvPr id="10" name="Text 8"/>
          <p:cNvSpPr/>
          <p:nvPr/>
        </p:nvSpPr>
        <p:spPr>
          <a:xfrm>
            <a:off x="685800" y="1307592"/>
            <a:ext cx="1554480" cy="256032"/>
          </a:xfrm>
          <a:prstGeom prst="rect">
            <a:avLst/>
          </a:prstGeom>
          <a:noFill/>
          <a:ln/>
        </p:spPr>
        <p:txBody>
          <a:bodyPr wrap="square" lIns="0" tIns="0" rIns="0" bIns="0" rtlCol="0" anchor="ctr"/>
          <a:lstStyle/>
          <a:p>
            <a:pPr algn="ctr" indent="0" marL="0">
              <a:buNone/>
            </a:pPr>
            <a:r>
              <a:rPr lang="en-US" sz="1100" b="1" dirty="0">
                <a:solidFill>
                  <a:srgbClr val="2E4A9A"/>
                </a:solidFill>
                <a:latin typeface="Calibri" pitchFamily="34" charset="0"/>
                <a:ea typeface="Calibri" pitchFamily="34" charset="-122"/>
                <a:cs typeface="Calibri" pitchFamily="34" charset="-120"/>
              </a:rPr>
              <a:t>ice (solid)</a:t>
            </a:r>
            <a:endParaRPr lang="en-US" sz="1100" dirty="0"/>
          </a:p>
        </p:txBody>
      </p:sp>
      <p:sp>
        <p:nvSpPr>
          <p:cNvPr id="11" name="Shape 9"/>
          <p:cNvSpPr/>
          <p:nvPr/>
        </p:nvSpPr>
        <p:spPr>
          <a:xfrm>
            <a:off x="685800" y="1600200"/>
            <a:ext cx="1554480" cy="1463040"/>
          </a:xfrm>
          <a:prstGeom prst="rect">
            <a:avLst/>
          </a:prstGeom>
          <a:solidFill>
            <a:srgbClr val="FFFFFF"/>
          </a:solidFill>
          <a:ln w="15875">
            <a:solidFill>
              <a:srgbClr val="1A2340"/>
            </a:solidFill>
            <a:prstDash val="solid"/>
          </a:ln>
        </p:spPr>
      </p:sp>
      <p:sp>
        <p:nvSpPr>
          <p:cNvPr id="12" name="Shape 10"/>
          <p:cNvSpPr/>
          <p:nvPr/>
        </p:nvSpPr>
        <p:spPr>
          <a:xfrm>
            <a:off x="766633" y="2883469"/>
            <a:ext cx="149230" cy="149230"/>
          </a:xfrm>
          <a:prstGeom prst="ellipse">
            <a:avLst/>
          </a:prstGeom>
          <a:solidFill>
            <a:srgbClr val="5B7FD6"/>
          </a:solidFill>
          <a:ln w="9525">
            <a:solidFill>
              <a:srgbClr val="2E4A9A"/>
            </a:solidFill>
            <a:prstDash val="solid"/>
          </a:ln>
        </p:spPr>
      </p:sp>
      <p:sp>
        <p:nvSpPr>
          <p:cNvPr id="13" name="Shape 11"/>
          <p:cNvSpPr/>
          <p:nvPr/>
        </p:nvSpPr>
        <p:spPr>
          <a:xfrm>
            <a:off x="922081" y="2883469"/>
            <a:ext cx="149230" cy="149230"/>
          </a:xfrm>
          <a:prstGeom prst="ellipse">
            <a:avLst/>
          </a:prstGeom>
          <a:solidFill>
            <a:srgbClr val="5B7FD6"/>
          </a:solidFill>
          <a:ln w="9525">
            <a:solidFill>
              <a:srgbClr val="2E4A9A"/>
            </a:solidFill>
            <a:prstDash val="solid"/>
          </a:ln>
        </p:spPr>
      </p:sp>
      <p:sp>
        <p:nvSpPr>
          <p:cNvPr id="14" name="Shape 12"/>
          <p:cNvSpPr/>
          <p:nvPr/>
        </p:nvSpPr>
        <p:spPr>
          <a:xfrm>
            <a:off x="1077529" y="2883469"/>
            <a:ext cx="149230" cy="149230"/>
          </a:xfrm>
          <a:prstGeom prst="ellipse">
            <a:avLst/>
          </a:prstGeom>
          <a:solidFill>
            <a:srgbClr val="5B7FD6"/>
          </a:solidFill>
          <a:ln w="9525">
            <a:solidFill>
              <a:srgbClr val="2E4A9A"/>
            </a:solidFill>
            <a:prstDash val="solid"/>
          </a:ln>
        </p:spPr>
      </p:sp>
      <p:sp>
        <p:nvSpPr>
          <p:cNvPr id="15" name="Shape 13"/>
          <p:cNvSpPr/>
          <p:nvPr/>
        </p:nvSpPr>
        <p:spPr>
          <a:xfrm>
            <a:off x="1232977" y="2883469"/>
            <a:ext cx="149230" cy="149230"/>
          </a:xfrm>
          <a:prstGeom prst="ellipse">
            <a:avLst/>
          </a:prstGeom>
          <a:solidFill>
            <a:srgbClr val="5B7FD6"/>
          </a:solidFill>
          <a:ln w="9525">
            <a:solidFill>
              <a:srgbClr val="2E4A9A"/>
            </a:solidFill>
            <a:prstDash val="solid"/>
          </a:ln>
        </p:spPr>
      </p:sp>
      <p:sp>
        <p:nvSpPr>
          <p:cNvPr id="16" name="Shape 14"/>
          <p:cNvSpPr/>
          <p:nvPr/>
        </p:nvSpPr>
        <p:spPr>
          <a:xfrm>
            <a:off x="1388425" y="2883469"/>
            <a:ext cx="149230" cy="149230"/>
          </a:xfrm>
          <a:prstGeom prst="ellipse">
            <a:avLst/>
          </a:prstGeom>
          <a:solidFill>
            <a:srgbClr val="5B7FD6"/>
          </a:solidFill>
          <a:ln w="9525">
            <a:solidFill>
              <a:srgbClr val="2E4A9A"/>
            </a:solidFill>
            <a:prstDash val="solid"/>
          </a:ln>
        </p:spPr>
      </p:sp>
      <p:sp>
        <p:nvSpPr>
          <p:cNvPr id="17" name="Shape 15"/>
          <p:cNvSpPr/>
          <p:nvPr/>
        </p:nvSpPr>
        <p:spPr>
          <a:xfrm>
            <a:off x="1543873" y="2883469"/>
            <a:ext cx="149230" cy="149230"/>
          </a:xfrm>
          <a:prstGeom prst="ellipse">
            <a:avLst/>
          </a:prstGeom>
          <a:solidFill>
            <a:srgbClr val="5B7FD6"/>
          </a:solidFill>
          <a:ln w="9525">
            <a:solidFill>
              <a:srgbClr val="2E4A9A"/>
            </a:solidFill>
            <a:prstDash val="solid"/>
          </a:ln>
        </p:spPr>
      </p:sp>
      <p:sp>
        <p:nvSpPr>
          <p:cNvPr id="18" name="Shape 16"/>
          <p:cNvSpPr/>
          <p:nvPr/>
        </p:nvSpPr>
        <p:spPr>
          <a:xfrm>
            <a:off x="1699321" y="2883469"/>
            <a:ext cx="149230" cy="149230"/>
          </a:xfrm>
          <a:prstGeom prst="ellipse">
            <a:avLst/>
          </a:prstGeom>
          <a:solidFill>
            <a:srgbClr val="5B7FD6"/>
          </a:solidFill>
          <a:ln w="9525">
            <a:solidFill>
              <a:srgbClr val="2E4A9A"/>
            </a:solidFill>
            <a:prstDash val="solid"/>
          </a:ln>
        </p:spPr>
      </p:sp>
      <p:sp>
        <p:nvSpPr>
          <p:cNvPr id="19" name="Shape 17"/>
          <p:cNvSpPr/>
          <p:nvPr/>
        </p:nvSpPr>
        <p:spPr>
          <a:xfrm>
            <a:off x="1854769" y="2883469"/>
            <a:ext cx="149230" cy="149230"/>
          </a:xfrm>
          <a:prstGeom prst="ellipse">
            <a:avLst/>
          </a:prstGeom>
          <a:solidFill>
            <a:srgbClr val="5B7FD6"/>
          </a:solidFill>
          <a:ln w="9525">
            <a:solidFill>
              <a:srgbClr val="2E4A9A"/>
            </a:solidFill>
            <a:prstDash val="solid"/>
          </a:ln>
        </p:spPr>
      </p:sp>
      <p:sp>
        <p:nvSpPr>
          <p:cNvPr id="20" name="Shape 18"/>
          <p:cNvSpPr/>
          <p:nvPr/>
        </p:nvSpPr>
        <p:spPr>
          <a:xfrm>
            <a:off x="2010217" y="2883469"/>
            <a:ext cx="149230" cy="149230"/>
          </a:xfrm>
          <a:prstGeom prst="ellipse">
            <a:avLst/>
          </a:prstGeom>
          <a:solidFill>
            <a:srgbClr val="5B7FD6"/>
          </a:solidFill>
          <a:ln w="9525">
            <a:solidFill>
              <a:srgbClr val="2E4A9A"/>
            </a:solidFill>
            <a:prstDash val="solid"/>
          </a:ln>
        </p:spPr>
      </p:sp>
      <p:sp>
        <p:nvSpPr>
          <p:cNvPr id="21" name="Shape 19"/>
          <p:cNvSpPr/>
          <p:nvPr/>
        </p:nvSpPr>
        <p:spPr>
          <a:xfrm>
            <a:off x="766633" y="2728021"/>
            <a:ext cx="149230" cy="149230"/>
          </a:xfrm>
          <a:prstGeom prst="ellipse">
            <a:avLst/>
          </a:prstGeom>
          <a:solidFill>
            <a:srgbClr val="5B7FD6"/>
          </a:solidFill>
          <a:ln w="9525">
            <a:solidFill>
              <a:srgbClr val="2E4A9A"/>
            </a:solidFill>
            <a:prstDash val="solid"/>
          </a:ln>
        </p:spPr>
      </p:sp>
      <p:sp>
        <p:nvSpPr>
          <p:cNvPr id="22" name="Shape 20"/>
          <p:cNvSpPr/>
          <p:nvPr/>
        </p:nvSpPr>
        <p:spPr>
          <a:xfrm>
            <a:off x="922081" y="2728021"/>
            <a:ext cx="149230" cy="149230"/>
          </a:xfrm>
          <a:prstGeom prst="ellipse">
            <a:avLst/>
          </a:prstGeom>
          <a:solidFill>
            <a:srgbClr val="5B7FD6"/>
          </a:solidFill>
          <a:ln w="9525">
            <a:solidFill>
              <a:srgbClr val="2E4A9A"/>
            </a:solidFill>
            <a:prstDash val="solid"/>
          </a:ln>
        </p:spPr>
      </p:sp>
      <p:sp>
        <p:nvSpPr>
          <p:cNvPr id="23" name="Shape 21"/>
          <p:cNvSpPr/>
          <p:nvPr/>
        </p:nvSpPr>
        <p:spPr>
          <a:xfrm>
            <a:off x="1077529" y="2728021"/>
            <a:ext cx="149230" cy="149230"/>
          </a:xfrm>
          <a:prstGeom prst="ellipse">
            <a:avLst/>
          </a:prstGeom>
          <a:solidFill>
            <a:srgbClr val="5B7FD6"/>
          </a:solidFill>
          <a:ln w="9525">
            <a:solidFill>
              <a:srgbClr val="2E4A9A"/>
            </a:solidFill>
            <a:prstDash val="solid"/>
          </a:ln>
        </p:spPr>
      </p:sp>
      <p:sp>
        <p:nvSpPr>
          <p:cNvPr id="24" name="Shape 22"/>
          <p:cNvSpPr/>
          <p:nvPr/>
        </p:nvSpPr>
        <p:spPr>
          <a:xfrm>
            <a:off x="1232977" y="2728021"/>
            <a:ext cx="149230" cy="149230"/>
          </a:xfrm>
          <a:prstGeom prst="ellipse">
            <a:avLst/>
          </a:prstGeom>
          <a:solidFill>
            <a:srgbClr val="5B7FD6"/>
          </a:solidFill>
          <a:ln w="9525">
            <a:solidFill>
              <a:srgbClr val="2E4A9A"/>
            </a:solidFill>
            <a:prstDash val="solid"/>
          </a:ln>
        </p:spPr>
      </p:sp>
      <p:sp>
        <p:nvSpPr>
          <p:cNvPr id="25" name="Shape 23"/>
          <p:cNvSpPr/>
          <p:nvPr/>
        </p:nvSpPr>
        <p:spPr>
          <a:xfrm>
            <a:off x="1388425" y="2728021"/>
            <a:ext cx="149230" cy="149230"/>
          </a:xfrm>
          <a:prstGeom prst="ellipse">
            <a:avLst/>
          </a:prstGeom>
          <a:solidFill>
            <a:srgbClr val="5B7FD6"/>
          </a:solidFill>
          <a:ln w="9525">
            <a:solidFill>
              <a:srgbClr val="2E4A9A"/>
            </a:solidFill>
            <a:prstDash val="solid"/>
          </a:ln>
        </p:spPr>
      </p:sp>
      <p:sp>
        <p:nvSpPr>
          <p:cNvPr id="26" name="Shape 24"/>
          <p:cNvSpPr/>
          <p:nvPr/>
        </p:nvSpPr>
        <p:spPr>
          <a:xfrm>
            <a:off x="1543873" y="2728021"/>
            <a:ext cx="149230" cy="149230"/>
          </a:xfrm>
          <a:prstGeom prst="ellipse">
            <a:avLst/>
          </a:prstGeom>
          <a:solidFill>
            <a:srgbClr val="5B7FD6"/>
          </a:solidFill>
          <a:ln w="9525">
            <a:solidFill>
              <a:srgbClr val="2E4A9A"/>
            </a:solidFill>
            <a:prstDash val="solid"/>
          </a:ln>
        </p:spPr>
      </p:sp>
      <p:sp>
        <p:nvSpPr>
          <p:cNvPr id="27" name="Shape 25"/>
          <p:cNvSpPr/>
          <p:nvPr/>
        </p:nvSpPr>
        <p:spPr>
          <a:xfrm>
            <a:off x="1699321" y="2728021"/>
            <a:ext cx="149230" cy="149230"/>
          </a:xfrm>
          <a:prstGeom prst="ellipse">
            <a:avLst/>
          </a:prstGeom>
          <a:solidFill>
            <a:srgbClr val="5B7FD6"/>
          </a:solidFill>
          <a:ln w="9525">
            <a:solidFill>
              <a:srgbClr val="2E4A9A"/>
            </a:solidFill>
            <a:prstDash val="solid"/>
          </a:ln>
        </p:spPr>
      </p:sp>
      <p:sp>
        <p:nvSpPr>
          <p:cNvPr id="28" name="Shape 26"/>
          <p:cNvSpPr/>
          <p:nvPr/>
        </p:nvSpPr>
        <p:spPr>
          <a:xfrm>
            <a:off x="1854769" y="2728021"/>
            <a:ext cx="149230" cy="149230"/>
          </a:xfrm>
          <a:prstGeom prst="ellipse">
            <a:avLst/>
          </a:prstGeom>
          <a:solidFill>
            <a:srgbClr val="5B7FD6"/>
          </a:solidFill>
          <a:ln w="9525">
            <a:solidFill>
              <a:srgbClr val="2E4A9A"/>
            </a:solidFill>
            <a:prstDash val="solid"/>
          </a:ln>
        </p:spPr>
      </p:sp>
      <p:sp>
        <p:nvSpPr>
          <p:cNvPr id="29" name="Shape 27"/>
          <p:cNvSpPr/>
          <p:nvPr/>
        </p:nvSpPr>
        <p:spPr>
          <a:xfrm>
            <a:off x="2010217" y="2728021"/>
            <a:ext cx="149230" cy="149230"/>
          </a:xfrm>
          <a:prstGeom prst="ellipse">
            <a:avLst/>
          </a:prstGeom>
          <a:solidFill>
            <a:srgbClr val="5B7FD6"/>
          </a:solidFill>
          <a:ln w="9525">
            <a:solidFill>
              <a:srgbClr val="2E4A9A"/>
            </a:solidFill>
            <a:prstDash val="solid"/>
          </a:ln>
        </p:spPr>
      </p:sp>
      <p:sp>
        <p:nvSpPr>
          <p:cNvPr id="30" name="Shape 28"/>
          <p:cNvSpPr/>
          <p:nvPr/>
        </p:nvSpPr>
        <p:spPr>
          <a:xfrm>
            <a:off x="766633" y="2572573"/>
            <a:ext cx="149230" cy="149230"/>
          </a:xfrm>
          <a:prstGeom prst="ellipse">
            <a:avLst/>
          </a:prstGeom>
          <a:solidFill>
            <a:srgbClr val="5B7FD6"/>
          </a:solidFill>
          <a:ln w="9525">
            <a:solidFill>
              <a:srgbClr val="2E4A9A"/>
            </a:solidFill>
            <a:prstDash val="solid"/>
          </a:ln>
        </p:spPr>
      </p:sp>
      <p:sp>
        <p:nvSpPr>
          <p:cNvPr id="31" name="Shape 29"/>
          <p:cNvSpPr/>
          <p:nvPr/>
        </p:nvSpPr>
        <p:spPr>
          <a:xfrm>
            <a:off x="922081" y="2572573"/>
            <a:ext cx="149230" cy="149230"/>
          </a:xfrm>
          <a:prstGeom prst="ellipse">
            <a:avLst/>
          </a:prstGeom>
          <a:solidFill>
            <a:srgbClr val="5B7FD6"/>
          </a:solidFill>
          <a:ln w="9525">
            <a:solidFill>
              <a:srgbClr val="2E4A9A"/>
            </a:solidFill>
            <a:prstDash val="solid"/>
          </a:ln>
        </p:spPr>
      </p:sp>
      <p:sp>
        <p:nvSpPr>
          <p:cNvPr id="32" name="Shape 30"/>
          <p:cNvSpPr/>
          <p:nvPr/>
        </p:nvSpPr>
        <p:spPr>
          <a:xfrm>
            <a:off x="1077529" y="2572573"/>
            <a:ext cx="149230" cy="149230"/>
          </a:xfrm>
          <a:prstGeom prst="ellipse">
            <a:avLst/>
          </a:prstGeom>
          <a:solidFill>
            <a:srgbClr val="5B7FD6"/>
          </a:solidFill>
          <a:ln w="9525">
            <a:solidFill>
              <a:srgbClr val="2E4A9A"/>
            </a:solidFill>
            <a:prstDash val="solid"/>
          </a:ln>
        </p:spPr>
      </p:sp>
      <p:sp>
        <p:nvSpPr>
          <p:cNvPr id="33" name="Shape 31"/>
          <p:cNvSpPr/>
          <p:nvPr/>
        </p:nvSpPr>
        <p:spPr>
          <a:xfrm>
            <a:off x="1232977" y="2572573"/>
            <a:ext cx="149230" cy="149230"/>
          </a:xfrm>
          <a:prstGeom prst="ellipse">
            <a:avLst/>
          </a:prstGeom>
          <a:solidFill>
            <a:srgbClr val="5B7FD6"/>
          </a:solidFill>
          <a:ln w="9525">
            <a:solidFill>
              <a:srgbClr val="2E4A9A"/>
            </a:solidFill>
            <a:prstDash val="solid"/>
          </a:ln>
        </p:spPr>
      </p:sp>
      <p:sp>
        <p:nvSpPr>
          <p:cNvPr id="34" name="Shape 32"/>
          <p:cNvSpPr/>
          <p:nvPr/>
        </p:nvSpPr>
        <p:spPr>
          <a:xfrm>
            <a:off x="1388425" y="2572573"/>
            <a:ext cx="149230" cy="149230"/>
          </a:xfrm>
          <a:prstGeom prst="ellipse">
            <a:avLst/>
          </a:prstGeom>
          <a:solidFill>
            <a:srgbClr val="5B7FD6"/>
          </a:solidFill>
          <a:ln w="9525">
            <a:solidFill>
              <a:srgbClr val="2E4A9A"/>
            </a:solidFill>
            <a:prstDash val="solid"/>
          </a:ln>
        </p:spPr>
      </p:sp>
      <p:sp>
        <p:nvSpPr>
          <p:cNvPr id="35" name="Shape 33"/>
          <p:cNvSpPr/>
          <p:nvPr/>
        </p:nvSpPr>
        <p:spPr>
          <a:xfrm>
            <a:off x="1543873" y="2572573"/>
            <a:ext cx="149230" cy="149230"/>
          </a:xfrm>
          <a:prstGeom prst="ellipse">
            <a:avLst/>
          </a:prstGeom>
          <a:solidFill>
            <a:srgbClr val="5B7FD6"/>
          </a:solidFill>
          <a:ln w="9525">
            <a:solidFill>
              <a:srgbClr val="2E4A9A"/>
            </a:solidFill>
            <a:prstDash val="solid"/>
          </a:ln>
        </p:spPr>
      </p:sp>
      <p:sp>
        <p:nvSpPr>
          <p:cNvPr id="36" name="Shape 34"/>
          <p:cNvSpPr/>
          <p:nvPr/>
        </p:nvSpPr>
        <p:spPr>
          <a:xfrm>
            <a:off x="1699321" y="2572573"/>
            <a:ext cx="149230" cy="149230"/>
          </a:xfrm>
          <a:prstGeom prst="ellipse">
            <a:avLst/>
          </a:prstGeom>
          <a:solidFill>
            <a:srgbClr val="5B7FD6"/>
          </a:solidFill>
          <a:ln w="9525">
            <a:solidFill>
              <a:srgbClr val="2E4A9A"/>
            </a:solidFill>
            <a:prstDash val="solid"/>
          </a:ln>
        </p:spPr>
      </p:sp>
      <p:sp>
        <p:nvSpPr>
          <p:cNvPr id="37" name="Shape 35"/>
          <p:cNvSpPr/>
          <p:nvPr/>
        </p:nvSpPr>
        <p:spPr>
          <a:xfrm>
            <a:off x="1854769" y="2572573"/>
            <a:ext cx="149230" cy="149230"/>
          </a:xfrm>
          <a:prstGeom prst="ellipse">
            <a:avLst/>
          </a:prstGeom>
          <a:solidFill>
            <a:srgbClr val="5B7FD6"/>
          </a:solidFill>
          <a:ln w="9525">
            <a:solidFill>
              <a:srgbClr val="2E4A9A"/>
            </a:solidFill>
            <a:prstDash val="solid"/>
          </a:ln>
        </p:spPr>
      </p:sp>
      <p:sp>
        <p:nvSpPr>
          <p:cNvPr id="38" name="Shape 36"/>
          <p:cNvSpPr/>
          <p:nvPr/>
        </p:nvSpPr>
        <p:spPr>
          <a:xfrm>
            <a:off x="2010217" y="2572573"/>
            <a:ext cx="149230" cy="149230"/>
          </a:xfrm>
          <a:prstGeom prst="ellipse">
            <a:avLst/>
          </a:prstGeom>
          <a:solidFill>
            <a:srgbClr val="5B7FD6"/>
          </a:solidFill>
          <a:ln w="9525">
            <a:solidFill>
              <a:srgbClr val="2E4A9A"/>
            </a:solidFill>
            <a:prstDash val="solid"/>
          </a:ln>
        </p:spPr>
      </p:sp>
      <p:sp>
        <p:nvSpPr>
          <p:cNvPr id="39" name="Shape 37"/>
          <p:cNvSpPr/>
          <p:nvPr/>
        </p:nvSpPr>
        <p:spPr>
          <a:xfrm>
            <a:off x="766633" y="2417125"/>
            <a:ext cx="149230" cy="149230"/>
          </a:xfrm>
          <a:prstGeom prst="ellipse">
            <a:avLst/>
          </a:prstGeom>
          <a:solidFill>
            <a:srgbClr val="5B7FD6"/>
          </a:solidFill>
          <a:ln w="9525">
            <a:solidFill>
              <a:srgbClr val="2E4A9A"/>
            </a:solidFill>
            <a:prstDash val="solid"/>
          </a:ln>
        </p:spPr>
      </p:sp>
      <p:sp>
        <p:nvSpPr>
          <p:cNvPr id="40" name="Shape 38"/>
          <p:cNvSpPr/>
          <p:nvPr/>
        </p:nvSpPr>
        <p:spPr>
          <a:xfrm>
            <a:off x="922081" y="2417125"/>
            <a:ext cx="149230" cy="149230"/>
          </a:xfrm>
          <a:prstGeom prst="ellipse">
            <a:avLst/>
          </a:prstGeom>
          <a:solidFill>
            <a:srgbClr val="5B7FD6"/>
          </a:solidFill>
          <a:ln w="9525">
            <a:solidFill>
              <a:srgbClr val="2E4A9A"/>
            </a:solidFill>
            <a:prstDash val="solid"/>
          </a:ln>
        </p:spPr>
      </p:sp>
      <p:sp>
        <p:nvSpPr>
          <p:cNvPr id="41" name="Shape 39"/>
          <p:cNvSpPr/>
          <p:nvPr/>
        </p:nvSpPr>
        <p:spPr>
          <a:xfrm>
            <a:off x="1077529" y="2417125"/>
            <a:ext cx="149230" cy="149230"/>
          </a:xfrm>
          <a:prstGeom prst="ellipse">
            <a:avLst/>
          </a:prstGeom>
          <a:solidFill>
            <a:srgbClr val="5B7FD6"/>
          </a:solidFill>
          <a:ln w="9525">
            <a:solidFill>
              <a:srgbClr val="2E4A9A"/>
            </a:solidFill>
            <a:prstDash val="solid"/>
          </a:ln>
        </p:spPr>
      </p:sp>
      <p:sp>
        <p:nvSpPr>
          <p:cNvPr id="42" name="Shape 40"/>
          <p:cNvSpPr/>
          <p:nvPr/>
        </p:nvSpPr>
        <p:spPr>
          <a:xfrm>
            <a:off x="1232977" y="2417125"/>
            <a:ext cx="149230" cy="149230"/>
          </a:xfrm>
          <a:prstGeom prst="ellipse">
            <a:avLst/>
          </a:prstGeom>
          <a:solidFill>
            <a:srgbClr val="5B7FD6"/>
          </a:solidFill>
          <a:ln w="9525">
            <a:solidFill>
              <a:srgbClr val="2E4A9A"/>
            </a:solidFill>
            <a:prstDash val="solid"/>
          </a:ln>
        </p:spPr>
      </p:sp>
      <p:sp>
        <p:nvSpPr>
          <p:cNvPr id="43" name="Shape 41"/>
          <p:cNvSpPr/>
          <p:nvPr/>
        </p:nvSpPr>
        <p:spPr>
          <a:xfrm>
            <a:off x="1388425" y="2417125"/>
            <a:ext cx="149230" cy="149230"/>
          </a:xfrm>
          <a:prstGeom prst="ellipse">
            <a:avLst/>
          </a:prstGeom>
          <a:solidFill>
            <a:srgbClr val="5B7FD6"/>
          </a:solidFill>
          <a:ln w="9525">
            <a:solidFill>
              <a:srgbClr val="2E4A9A"/>
            </a:solidFill>
            <a:prstDash val="solid"/>
          </a:ln>
        </p:spPr>
      </p:sp>
      <p:sp>
        <p:nvSpPr>
          <p:cNvPr id="44" name="Shape 42"/>
          <p:cNvSpPr/>
          <p:nvPr/>
        </p:nvSpPr>
        <p:spPr>
          <a:xfrm>
            <a:off x="1543873" y="2417125"/>
            <a:ext cx="149230" cy="149230"/>
          </a:xfrm>
          <a:prstGeom prst="ellipse">
            <a:avLst/>
          </a:prstGeom>
          <a:solidFill>
            <a:srgbClr val="5B7FD6"/>
          </a:solidFill>
          <a:ln w="9525">
            <a:solidFill>
              <a:srgbClr val="2E4A9A"/>
            </a:solidFill>
            <a:prstDash val="solid"/>
          </a:ln>
        </p:spPr>
      </p:sp>
      <p:sp>
        <p:nvSpPr>
          <p:cNvPr id="45" name="Shape 43"/>
          <p:cNvSpPr/>
          <p:nvPr/>
        </p:nvSpPr>
        <p:spPr>
          <a:xfrm>
            <a:off x="1699321" y="2417125"/>
            <a:ext cx="149230" cy="149230"/>
          </a:xfrm>
          <a:prstGeom prst="ellipse">
            <a:avLst/>
          </a:prstGeom>
          <a:solidFill>
            <a:srgbClr val="5B7FD6"/>
          </a:solidFill>
          <a:ln w="9525">
            <a:solidFill>
              <a:srgbClr val="2E4A9A"/>
            </a:solidFill>
            <a:prstDash val="solid"/>
          </a:ln>
        </p:spPr>
      </p:sp>
      <p:sp>
        <p:nvSpPr>
          <p:cNvPr id="46" name="Shape 44"/>
          <p:cNvSpPr/>
          <p:nvPr/>
        </p:nvSpPr>
        <p:spPr>
          <a:xfrm>
            <a:off x="1854769" y="2417125"/>
            <a:ext cx="149230" cy="149230"/>
          </a:xfrm>
          <a:prstGeom prst="ellipse">
            <a:avLst/>
          </a:prstGeom>
          <a:solidFill>
            <a:srgbClr val="5B7FD6"/>
          </a:solidFill>
          <a:ln w="9525">
            <a:solidFill>
              <a:srgbClr val="2E4A9A"/>
            </a:solidFill>
            <a:prstDash val="solid"/>
          </a:ln>
        </p:spPr>
      </p:sp>
      <p:sp>
        <p:nvSpPr>
          <p:cNvPr id="47" name="Shape 45"/>
          <p:cNvSpPr/>
          <p:nvPr/>
        </p:nvSpPr>
        <p:spPr>
          <a:xfrm>
            <a:off x="2010217" y="2417125"/>
            <a:ext cx="149230" cy="149230"/>
          </a:xfrm>
          <a:prstGeom prst="ellipse">
            <a:avLst/>
          </a:prstGeom>
          <a:solidFill>
            <a:srgbClr val="5B7FD6"/>
          </a:solidFill>
          <a:ln w="9525">
            <a:solidFill>
              <a:srgbClr val="2E4A9A"/>
            </a:solidFill>
            <a:prstDash val="solid"/>
          </a:ln>
        </p:spPr>
      </p:sp>
      <p:sp>
        <p:nvSpPr>
          <p:cNvPr id="48" name="Shape 46"/>
          <p:cNvSpPr/>
          <p:nvPr/>
        </p:nvSpPr>
        <p:spPr>
          <a:xfrm>
            <a:off x="766633" y="2261677"/>
            <a:ext cx="149230" cy="149230"/>
          </a:xfrm>
          <a:prstGeom prst="ellipse">
            <a:avLst/>
          </a:prstGeom>
          <a:solidFill>
            <a:srgbClr val="5B7FD6"/>
          </a:solidFill>
          <a:ln w="9525">
            <a:solidFill>
              <a:srgbClr val="2E4A9A"/>
            </a:solidFill>
            <a:prstDash val="solid"/>
          </a:ln>
        </p:spPr>
      </p:sp>
      <p:sp>
        <p:nvSpPr>
          <p:cNvPr id="49" name="Shape 47"/>
          <p:cNvSpPr/>
          <p:nvPr/>
        </p:nvSpPr>
        <p:spPr>
          <a:xfrm>
            <a:off x="922081" y="2261677"/>
            <a:ext cx="149230" cy="149230"/>
          </a:xfrm>
          <a:prstGeom prst="ellipse">
            <a:avLst/>
          </a:prstGeom>
          <a:solidFill>
            <a:srgbClr val="5B7FD6"/>
          </a:solidFill>
          <a:ln w="9525">
            <a:solidFill>
              <a:srgbClr val="2E4A9A"/>
            </a:solidFill>
            <a:prstDash val="solid"/>
          </a:ln>
        </p:spPr>
      </p:sp>
      <p:sp>
        <p:nvSpPr>
          <p:cNvPr id="50" name="Shape 48"/>
          <p:cNvSpPr/>
          <p:nvPr/>
        </p:nvSpPr>
        <p:spPr>
          <a:xfrm>
            <a:off x="1077529" y="2261677"/>
            <a:ext cx="149230" cy="149230"/>
          </a:xfrm>
          <a:prstGeom prst="ellipse">
            <a:avLst/>
          </a:prstGeom>
          <a:solidFill>
            <a:srgbClr val="5B7FD6"/>
          </a:solidFill>
          <a:ln w="9525">
            <a:solidFill>
              <a:srgbClr val="2E4A9A"/>
            </a:solidFill>
            <a:prstDash val="solid"/>
          </a:ln>
        </p:spPr>
      </p:sp>
      <p:sp>
        <p:nvSpPr>
          <p:cNvPr id="51" name="Shape 49"/>
          <p:cNvSpPr/>
          <p:nvPr/>
        </p:nvSpPr>
        <p:spPr>
          <a:xfrm>
            <a:off x="1232977" y="2261677"/>
            <a:ext cx="149230" cy="149230"/>
          </a:xfrm>
          <a:prstGeom prst="ellipse">
            <a:avLst/>
          </a:prstGeom>
          <a:solidFill>
            <a:srgbClr val="5B7FD6"/>
          </a:solidFill>
          <a:ln w="9525">
            <a:solidFill>
              <a:srgbClr val="2E4A9A"/>
            </a:solidFill>
            <a:prstDash val="solid"/>
          </a:ln>
        </p:spPr>
      </p:sp>
      <p:sp>
        <p:nvSpPr>
          <p:cNvPr id="52" name="Shape 50"/>
          <p:cNvSpPr/>
          <p:nvPr/>
        </p:nvSpPr>
        <p:spPr>
          <a:xfrm>
            <a:off x="1388425" y="2261677"/>
            <a:ext cx="149230" cy="149230"/>
          </a:xfrm>
          <a:prstGeom prst="ellipse">
            <a:avLst/>
          </a:prstGeom>
          <a:solidFill>
            <a:srgbClr val="5B7FD6"/>
          </a:solidFill>
          <a:ln w="9525">
            <a:solidFill>
              <a:srgbClr val="2E4A9A"/>
            </a:solidFill>
            <a:prstDash val="solid"/>
          </a:ln>
        </p:spPr>
      </p:sp>
      <p:sp>
        <p:nvSpPr>
          <p:cNvPr id="53" name="Shape 51"/>
          <p:cNvSpPr/>
          <p:nvPr/>
        </p:nvSpPr>
        <p:spPr>
          <a:xfrm>
            <a:off x="1543873" y="2261677"/>
            <a:ext cx="149230" cy="149230"/>
          </a:xfrm>
          <a:prstGeom prst="ellipse">
            <a:avLst/>
          </a:prstGeom>
          <a:solidFill>
            <a:srgbClr val="5B7FD6"/>
          </a:solidFill>
          <a:ln w="9525">
            <a:solidFill>
              <a:srgbClr val="2E4A9A"/>
            </a:solidFill>
            <a:prstDash val="solid"/>
          </a:ln>
        </p:spPr>
      </p:sp>
      <p:sp>
        <p:nvSpPr>
          <p:cNvPr id="54" name="Shape 52"/>
          <p:cNvSpPr/>
          <p:nvPr/>
        </p:nvSpPr>
        <p:spPr>
          <a:xfrm>
            <a:off x="1699321" y="2261677"/>
            <a:ext cx="149230" cy="149230"/>
          </a:xfrm>
          <a:prstGeom prst="ellipse">
            <a:avLst/>
          </a:prstGeom>
          <a:solidFill>
            <a:srgbClr val="5B7FD6"/>
          </a:solidFill>
          <a:ln w="9525">
            <a:solidFill>
              <a:srgbClr val="2E4A9A"/>
            </a:solidFill>
            <a:prstDash val="solid"/>
          </a:ln>
        </p:spPr>
      </p:sp>
      <p:sp>
        <p:nvSpPr>
          <p:cNvPr id="55" name="Shape 53"/>
          <p:cNvSpPr/>
          <p:nvPr/>
        </p:nvSpPr>
        <p:spPr>
          <a:xfrm>
            <a:off x="1854769" y="2261677"/>
            <a:ext cx="149230" cy="149230"/>
          </a:xfrm>
          <a:prstGeom prst="ellipse">
            <a:avLst/>
          </a:prstGeom>
          <a:solidFill>
            <a:srgbClr val="5B7FD6"/>
          </a:solidFill>
          <a:ln w="9525">
            <a:solidFill>
              <a:srgbClr val="2E4A9A"/>
            </a:solidFill>
            <a:prstDash val="solid"/>
          </a:ln>
        </p:spPr>
      </p:sp>
      <p:sp>
        <p:nvSpPr>
          <p:cNvPr id="56" name="Shape 54"/>
          <p:cNvSpPr/>
          <p:nvPr/>
        </p:nvSpPr>
        <p:spPr>
          <a:xfrm>
            <a:off x="2010217" y="2261677"/>
            <a:ext cx="149230" cy="149230"/>
          </a:xfrm>
          <a:prstGeom prst="ellipse">
            <a:avLst/>
          </a:prstGeom>
          <a:solidFill>
            <a:srgbClr val="5B7FD6"/>
          </a:solidFill>
          <a:ln w="9525">
            <a:solidFill>
              <a:srgbClr val="2E4A9A"/>
            </a:solidFill>
            <a:prstDash val="solid"/>
          </a:ln>
        </p:spPr>
      </p:sp>
      <p:sp>
        <p:nvSpPr>
          <p:cNvPr id="57" name="Shape 55"/>
          <p:cNvSpPr/>
          <p:nvPr/>
        </p:nvSpPr>
        <p:spPr>
          <a:xfrm>
            <a:off x="766633" y="2106229"/>
            <a:ext cx="149230" cy="149230"/>
          </a:xfrm>
          <a:prstGeom prst="ellipse">
            <a:avLst/>
          </a:prstGeom>
          <a:solidFill>
            <a:srgbClr val="5B7FD6"/>
          </a:solidFill>
          <a:ln w="9525">
            <a:solidFill>
              <a:srgbClr val="2E4A9A"/>
            </a:solidFill>
            <a:prstDash val="solid"/>
          </a:ln>
        </p:spPr>
      </p:sp>
      <p:sp>
        <p:nvSpPr>
          <p:cNvPr id="58" name="Shape 56"/>
          <p:cNvSpPr/>
          <p:nvPr/>
        </p:nvSpPr>
        <p:spPr>
          <a:xfrm>
            <a:off x="922081" y="2106229"/>
            <a:ext cx="149230" cy="149230"/>
          </a:xfrm>
          <a:prstGeom prst="ellipse">
            <a:avLst/>
          </a:prstGeom>
          <a:solidFill>
            <a:srgbClr val="5B7FD6"/>
          </a:solidFill>
          <a:ln w="9525">
            <a:solidFill>
              <a:srgbClr val="2E4A9A"/>
            </a:solidFill>
            <a:prstDash val="solid"/>
          </a:ln>
        </p:spPr>
      </p:sp>
      <p:sp>
        <p:nvSpPr>
          <p:cNvPr id="59" name="Shape 57"/>
          <p:cNvSpPr/>
          <p:nvPr/>
        </p:nvSpPr>
        <p:spPr>
          <a:xfrm>
            <a:off x="1077529" y="2106229"/>
            <a:ext cx="149230" cy="149230"/>
          </a:xfrm>
          <a:prstGeom prst="ellipse">
            <a:avLst/>
          </a:prstGeom>
          <a:solidFill>
            <a:srgbClr val="5B7FD6"/>
          </a:solidFill>
          <a:ln w="9525">
            <a:solidFill>
              <a:srgbClr val="2E4A9A"/>
            </a:solidFill>
            <a:prstDash val="solid"/>
          </a:ln>
        </p:spPr>
      </p:sp>
      <p:sp>
        <p:nvSpPr>
          <p:cNvPr id="60" name="Shape 58"/>
          <p:cNvSpPr/>
          <p:nvPr/>
        </p:nvSpPr>
        <p:spPr>
          <a:xfrm>
            <a:off x="1232977" y="2106229"/>
            <a:ext cx="149230" cy="149230"/>
          </a:xfrm>
          <a:prstGeom prst="ellipse">
            <a:avLst/>
          </a:prstGeom>
          <a:solidFill>
            <a:srgbClr val="5B7FD6"/>
          </a:solidFill>
          <a:ln w="9525">
            <a:solidFill>
              <a:srgbClr val="2E4A9A"/>
            </a:solidFill>
            <a:prstDash val="solid"/>
          </a:ln>
        </p:spPr>
      </p:sp>
      <p:sp>
        <p:nvSpPr>
          <p:cNvPr id="61" name="Shape 59"/>
          <p:cNvSpPr/>
          <p:nvPr/>
        </p:nvSpPr>
        <p:spPr>
          <a:xfrm>
            <a:off x="1388425" y="2106229"/>
            <a:ext cx="149230" cy="149230"/>
          </a:xfrm>
          <a:prstGeom prst="ellipse">
            <a:avLst/>
          </a:prstGeom>
          <a:solidFill>
            <a:srgbClr val="5B7FD6"/>
          </a:solidFill>
          <a:ln w="9525">
            <a:solidFill>
              <a:srgbClr val="2E4A9A"/>
            </a:solidFill>
            <a:prstDash val="solid"/>
          </a:ln>
        </p:spPr>
      </p:sp>
      <p:sp>
        <p:nvSpPr>
          <p:cNvPr id="62" name="Shape 60"/>
          <p:cNvSpPr/>
          <p:nvPr/>
        </p:nvSpPr>
        <p:spPr>
          <a:xfrm>
            <a:off x="1543873" y="2106229"/>
            <a:ext cx="149230" cy="149230"/>
          </a:xfrm>
          <a:prstGeom prst="ellipse">
            <a:avLst/>
          </a:prstGeom>
          <a:solidFill>
            <a:srgbClr val="5B7FD6"/>
          </a:solidFill>
          <a:ln w="9525">
            <a:solidFill>
              <a:srgbClr val="2E4A9A"/>
            </a:solidFill>
            <a:prstDash val="solid"/>
          </a:ln>
        </p:spPr>
      </p:sp>
      <p:sp>
        <p:nvSpPr>
          <p:cNvPr id="63" name="Shape 61"/>
          <p:cNvSpPr/>
          <p:nvPr/>
        </p:nvSpPr>
        <p:spPr>
          <a:xfrm>
            <a:off x="1699321" y="2106229"/>
            <a:ext cx="149230" cy="149230"/>
          </a:xfrm>
          <a:prstGeom prst="ellipse">
            <a:avLst/>
          </a:prstGeom>
          <a:solidFill>
            <a:srgbClr val="5B7FD6"/>
          </a:solidFill>
          <a:ln w="9525">
            <a:solidFill>
              <a:srgbClr val="2E4A9A"/>
            </a:solidFill>
            <a:prstDash val="solid"/>
          </a:ln>
        </p:spPr>
      </p:sp>
      <p:sp>
        <p:nvSpPr>
          <p:cNvPr id="64" name="Shape 62"/>
          <p:cNvSpPr/>
          <p:nvPr/>
        </p:nvSpPr>
        <p:spPr>
          <a:xfrm>
            <a:off x="1854769" y="2106229"/>
            <a:ext cx="149230" cy="149230"/>
          </a:xfrm>
          <a:prstGeom prst="ellipse">
            <a:avLst/>
          </a:prstGeom>
          <a:solidFill>
            <a:srgbClr val="5B7FD6"/>
          </a:solidFill>
          <a:ln w="9525">
            <a:solidFill>
              <a:srgbClr val="2E4A9A"/>
            </a:solidFill>
            <a:prstDash val="solid"/>
          </a:ln>
        </p:spPr>
      </p:sp>
      <p:sp>
        <p:nvSpPr>
          <p:cNvPr id="65" name="Shape 63"/>
          <p:cNvSpPr/>
          <p:nvPr/>
        </p:nvSpPr>
        <p:spPr>
          <a:xfrm>
            <a:off x="2010217" y="2106229"/>
            <a:ext cx="149230" cy="149230"/>
          </a:xfrm>
          <a:prstGeom prst="ellipse">
            <a:avLst/>
          </a:prstGeom>
          <a:solidFill>
            <a:srgbClr val="5B7FD6"/>
          </a:solidFill>
          <a:ln w="9525">
            <a:solidFill>
              <a:srgbClr val="2E4A9A"/>
            </a:solidFill>
            <a:prstDash val="solid"/>
          </a:ln>
        </p:spPr>
      </p:sp>
      <p:sp>
        <p:nvSpPr>
          <p:cNvPr id="66" name="Shape 64"/>
          <p:cNvSpPr/>
          <p:nvPr/>
        </p:nvSpPr>
        <p:spPr>
          <a:xfrm>
            <a:off x="766633" y="1950781"/>
            <a:ext cx="149230" cy="149230"/>
          </a:xfrm>
          <a:prstGeom prst="ellipse">
            <a:avLst/>
          </a:prstGeom>
          <a:solidFill>
            <a:srgbClr val="5B7FD6"/>
          </a:solidFill>
          <a:ln w="9525">
            <a:solidFill>
              <a:srgbClr val="2E4A9A"/>
            </a:solidFill>
            <a:prstDash val="solid"/>
          </a:ln>
        </p:spPr>
      </p:sp>
      <p:sp>
        <p:nvSpPr>
          <p:cNvPr id="67" name="Shape 65"/>
          <p:cNvSpPr/>
          <p:nvPr/>
        </p:nvSpPr>
        <p:spPr>
          <a:xfrm>
            <a:off x="922081" y="1950781"/>
            <a:ext cx="149230" cy="149230"/>
          </a:xfrm>
          <a:prstGeom prst="ellipse">
            <a:avLst/>
          </a:prstGeom>
          <a:solidFill>
            <a:srgbClr val="5B7FD6"/>
          </a:solidFill>
          <a:ln w="9525">
            <a:solidFill>
              <a:srgbClr val="2E4A9A"/>
            </a:solidFill>
            <a:prstDash val="solid"/>
          </a:ln>
        </p:spPr>
      </p:sp>
      <p:sp>
        <p:nvSpPr>
          <p:cNvPr id="68" name="Shape 66"/>
          <p:cNvSpPr/>
          <p:nvPr/>
        </p:nvSpPr>
        <p:spPr>
          <a:xfrm>
            <a:off x="1077529" y="1950781"/>
            <a:ext cx="149230" cy="149230"/>
          </a:xfrm>
          <a:prstGeom prst="ellipse">
            <a:avLst/>
          </a:prstGeom>
          <a:solidFill>
            <a:srgbClr val="5B7FD6"/>
          </a:solidFill>
          <a:ln w="9525">
            <a:solidFill>
              <a:srgbClr val="2E4A9A"/>
            </a:solidFill>
            <a:prstDash val="solid"/>
          </a:ln>
        </p:spPr>
      </p:sp>
      <p:sp>
        <p:nvSpPr>
          <p:cNvPr id="69" name="Shape 67"/>
          <p:cNvSpPr/>
          <p:nvPr/>
        </p:nvSpPr>
        <p:spPr>
          <a:xfrm>
            <a:off x="1232977" y="1950781"/>
            <a:ext cx="149230" cy="149230"/>
          </a:xfrm>
          <a:prstGeom prst="ellipse">
            <a:avLst/>
          </a:prstGeom>
          <a:solidFill>
            <a:srgbClr val="5B7FD6"/>
          </a:solidFill>
          <a:ln w="9525">
            <a:solidFill>
              <a:srgbClr val="2E4A9A"/>
            </a:solidFill>
            <a:prstDash val="solid"/>
          </a:ln>
        </p:spPr>
      </p:sp>
      <p:sp>
        <p:nvSpPr>
          <p:cNvPr id="70" name="Shape 68"/>
          <p:cNvSpPr/>
          <p:nvPr/>
        </p:nvSpPr>
        <p:spPr>
          <a:xfrm>
            <a:off x="1388425" y="1950781"/>
            <a:ext cx="149230" cy="149230"/>
          </a:xfrm>
          <a:prstGeom prst="ellipse">
            <a:avLst/>
          </a:prstGeom>
          <a:solidFill>
            <a:srgbClr val="5B7FD6"/>
          </a:solidFill>
          <a:ln w="9525">
            <a:solidFill>
              <a:srgbClr val="2E4A9A"/>
            </a:solidFill>
            <a:prstDash val="solid"/>
          </a:ln>
        </p:spPr>
      </p:sp>
      <p:sp>
        <p:nvSpPr>
          <p:cNvPr id="71" name="Shape 69"/>
          <p:cNvSpPr/>
          <p:nvPr/>
        </p:nvSpPr>
        <p:spPr>
          <a:xfrm>
            <a:off x="1543873" y="1950781"/>
            <a:ext cx="149230" cy="149230"/>
          </a:xfrm>
          <a:prstGeom prst="ellipse">
            <a:avLst/>
          </a:prstGeom>
          <a:solidFill>
            <a:srgbClr val="5B7FD6"/>
          </a:solidFill>
          <a:ln w="9525">
            <a:solidFill>
              <a:srgbClr val="2E4A9A"/>
            </a:solidFill>
            <a:prstDash val="solid"/>
          </a:ln>
        </p:spPr>
      </p:sp>
      <p:sp>
        <p:nvSpPr>
          <p:cNvPr id="72" name="Shape 70"/>
          <p:cNvSpPr/>
          <p:nvPr/>
        </p:nvSpPr>
        <p:spPr>
          <a:xfrm>
            <a:off x="1699321" y="1950781"/>
            <a:ext cx="149230" cy="149230"/>
          </a:xfrm>
          <a:prstGeom prst="ellipse">
            <a:avLst/>
          </a:prstGeom>
          <a:solidFill>
            <a:srgbClr val="5B7FD6"/>
          </a:solidFill>
          <a:ln w="9525">
            <a:solidFill>
              <a:srgbClr val="2E4A9A"/>
            </a:solidFill>
            <a:prstDash val="solid"/>
          </a:ln>
        </p:spPr>
      </p:sp>
      <p:sp>
        <p:nvSpPr>
          <p:cNvPr id="73" name="Shape 71"/>
          <p:cNvSpPr/>
          <p:nvPr/>
        </p:nvSpPr>
        <p:spPr>
          <a:xfrm>
            <a:off x="1854769" y="1950781"/>
            <a:ext cx="149230" cy="149230"/>
          </a:xfrm>
          <a:prstGeom prst="ellipse">
            <a:avLst/>
          </a:prstGeom>
          <a:solidFill>
            <a:srgbClr val="5B7FD6"/>
          </a:solidFill>
          <a:ln w="9525">
            <a:solidFill>
              <a:srgbClr val="2E4A9A"/>
            </a:solidFill>
            <a:prstDash val="solid"/>
          </a:ln>
        </p:spPr>
      </p:sp>
      <p:sp>
        <p:nvSpPr>
          <p:cNvPr id="74" name="Shape 72"/>
          <p:cNvSpPr/>
          <p:nvPr/>
        </p:nvSpPr>
        <p:spPr>
          <a:xfrm>
            <a:off x="2010217" y="1950781"/>
            <a:ext cx="149230" cy="149230"/>
          </a:xfrm>
          <a:prstGeom prst="ellipse">
            <a:avLst/>
          </a:prstGeom>
          <a:solidFill>
            <a:srgbClr val="5B7FD6"/>
          </a:solidFill>
          <a:ln w="9525">
            <a:solidFill>
              <a:srgbClr val="2E4A9A"/>
            </a:solidFill>
            <a:prstDash val="solid"/>
          </a:ln>
        </p:spPr>
      </p:sp>
      <p:sp>
        <p:nvSpPr>
          <p:cNvPr id="75" name="Shape 73"/>
          <p:cNvSpPr/>
          <p:nvPr/>
        </p:nvSpPr>
        <p:spPr>
          <a:xfrm>
            <a:off x="766633" y="1795333"/>
            <a:ext cx="149230" cy="149230"/>
          </a:xfrm>
          <a:prstGeom prst="ellipse">
            <a:avLst/>
          </a:prstGeom>
          <a:solidFill>
            <a:srgbClr val="5B7FD6"/>
          </a:solidFill>
          <a:ln w="9525">
            <a:solidFill>
              <a:srgbClr val="2E4A9A"/>
            </a:solidFill>
            <a:prstDash val="solid"/>
          </a:ln>
        </p:spPr>
      </p:sp>
      <p:sp>
        <p:nvSpPr>
          <p:cNvPr id="76" name="Shape 74"/>
          <p:cNvSpPr/>
          <p:nvPr/>
        </p:nvSpPr>
        <p:spPr>
          <a:xfrm>
            <a:off x="922081" y="1795333"/>
            <a:ext cx="149230" cy="149230"/>
          </a:xfrm>
          <a:prstGeom prst="ellipse">
            <a:avLst/>
          </a:prstGeom>
          <a:solidFill>
            <a:srgbClr val="5B7FD6"/>
          </a:solidFill>
          <a:ln w="9525">
            <a:solidFill>
              <a:srgbClr val="2E4A9A"/>
            </a:solidFill>
            <a:prstDash val="solid"/>
          </a:ln>
        </p:spPr>
      </p:sp>
      <p:sp>
        <p:nvSpPr>
          <p:cNvPr id="77" name="Shape 75"/>
          <p:cNvSpPr/>
          <p:nvPr/>
        </p:nvSpPr>
        <p:spPr>
          <a:xfrm>
            <a:off x="1077529" y="1795333"/>
            <a:ext cx="149230" cy="149230"/>
          </a:xfrm>
          <a:prstGeom prst="ellipse">
            <a:avLst/>
          </a:prstGeom>
          <a:solidFill>
            <a:srgbClr val="5B7FD6"/>
          </a:solidFill>
          <a:ln w="9525">
            <a:solidFill>
              <a:srgbClr val="2E4A9A"/>
            </a:solidFill>
            <a:prstDash val="solid"/>
          </a:ln>
        </p:spPr>
      </p:sp>
      <p:sp>
        <p:nvSpPr>
          <p:cNvPr id="78" name="Shape 76"/>
          <p:cNvSpPr/>
          <p:nvPr/>
        </p:nvSpPr>
        <p:spPr>
          <a:xfrm>
            <a:off x="1232977" y="1795333"/>
            <a:ext cx="149230" cy="149230"/>
          </a:xfrm>
          <a:prstGeom prst="ellipse">
            <a:avLst/>
          </a:prstGeom>
          <a:solidFill>
            <a:srgbClr val="5B7FD6"/>
          </a:solidFill>
          <a:ln w="9525">
            <a:solidFill>
              <a:srgbClr val="2E4A9A"/>
            </a:solidFill>
            <a:prstDash val="solid"/>
          </a:ln>
        </p:spPr>
      </p:sp>
      <p:sp>
        <p:nvSpPr>
          <p:cNvPr id="79" name="Shape 77"/>
          <p:cNvSpPr/>
          <p:nvPr/>
        </p:nvSpPr>
        <p:spPr>
          <a:xfrm>
            <a:off x="1388425" y="1795333"/>
            <a:ext cx="149230" cy="149230"/>
          </a:xfrm>
          <a:prstGeom prst="ellipse">
            <a:avLst/>
          </a:prstGeom>
          <a:solidFill>
            <a:srgbClr val="5B7FD6"/>
          </a:solidFill>
          <a:ln w="9525">
            <a:solidFill>
              <a:srgbClr val="2E4A9A"/>
            </a:solidFill>
            <a:prstDash val="solid"/>
          </a:ln>
        </p:spPr>
      </p:sp>
      <p:sp>
        <p:nvSpPr>
          <p:cNvPr id="80" name="Shape 78"/>
          <p:cNvSpPr/>
          <p:nvPr/>
        </p:nvSpPr>
        <p:spPr>
          <a:xfrm>
            <a:off x="1543873" y="1795333"/>
            <a:ext cx="149230" cy="149230"/>
          </a:xfrm>
          <a:prstGeom prst="ellipse">
            <a:avLst/>
          </a:prstGeom>
          <a:solidFill>
            <a:srgbClr val="5B7FD6"/>
          </a:solidFill>
          <a:ln w="9525">
            <a:solidFill>
              <a:srgbClr val="2E4A9A"/>
            </a:solidFill>
            <a:prstDash val="solid"/>
          </a:ln>
        </p:spPr>
      </p:sp>
      <p:sp>
        <p:nvSpPr>
          <p:cNvPr id="81" name="Shape 79"/>
          <p:cNvSpPr/>
          <p:nvPr/>
        </p:nvSpPr>
        <p:spPr>
          <a:xfrm>
            <a:off x="1699321" y="1795333"/>
            <a:ext cx="149230" cy="149230"/>
          </a:xfrm>
          <a:prstGeom prst="ellipse">
            <a:avLst/>
          </a:prstGeom>
          <a:solidFill>
            <a:srgbClr val="5B7FD6"/>
          </a:solidFill>
          <a:ln w="9525">
            <a:solidFill>
              <a:srgbClr val="2E4A9A"/>
            </a:solidFill>
            <a:prstDash val="solid"/>
          </a:ln>
        </p:spPr>
      </p:sp>
      <p:sp>
        <p:nvSpPr>
          <p:cNvPr id="82" name="Shape 80"/>
          <p:cNvSpPr/>
          <p:nvPr/>
        </p:nvSpPr>
        <p:spPr>
          <a:xfrm>
            <a:off x="1854769" y="1795333"/>
            <a:ext cx="149230" cy="149230"/>
          </a:xfrm>
          <a:prstGeom prst="ellipse">
            <a:avLst/>
          </a:prstGeom>
          <a:solidFill>
            <a:srgbClr val="5B7FD6"/>
          </a:solidFill>
          <a:ln w="9525">
            <a:solidFill>
              <a:srgbClr val="2E4A9A"/>
            </a:solidFill>
            <a:prstDash val="solid"/>
          </a:ln>
        </p:spPr>
      </p:sp>
      <p:sp>
        <p:nvSpPr>
          <p:cNvPr id="83" name="Shape 81"/>
          <p:cNvSpPr/>
          <p:nvPr/>
        </p:nvSpPr>
        <p:spPr>
          <a:xfrm>
            <a:off x="2010217" y="1795333"/>
            <a:ext cx="149230" cy="149230"/>
          </a:xfrm>
          <a:prstGeom prst="ellipse">
            <a:avLst/>
          </a:prstGeom>
          <a:solidFill>
            <a:srgbClr val="5B7FD6"/>
          </a:solidFill>
          <a:ln w="9525">
            <a:solidFill>
              <a:srgbClr val="2E4A9A"/>
            </a:solidFill>
            <a:prstDash val="solid"/>
          </a:ln>
        </p:spPr>
      </p:sp>
      <p:sp>
        <p:nvSpPr>
          <p:cNvPr id="84" name="Shape 82"/>
          <p:cNvSpPr/>
          <p:nvPr/>
        </p:nvSpPr>
        <p:spPr>
          <a:xfrm>
            <a:off x="766633" y="1639885"/>
            <a:ext cx="149230" cy="149230"/>
          </a:xfrm>
          <a:prstGeom prst="ellipse">
            <a:avLst/>
          </a:prstGeom>
          <a:solidFill>
            <a:srgbClr val="5B7FD6"/>
          </a:solidFill>
          <a:ln w="9525">
            <a:solidFill>
              <a:srgbClr val="2E4A9A"/>
            </a:solidFill>
            <a:prstDash val="solid"/>
          </a:ln>
        </p:spPr>
      </p:sp>
      <p:sp>
        <p:nvSpPr>
          <p:cNvPr id="85" name="Shape 83"/>
          <p:cNvSpPr/>
          <p:nvPr/>
        </p:nvSpPr>
        <p:spPr>
          <a:xfrm>
            <a:off x="922081" y="1639885"/>
            <a:ext cx="149230" cy="149230"/>
          </a:xfrm>
          <a:prstGeom prst="ellipse">
            <a:avLst/>
          </a:prstGeom>
          <a:solidFill>
            <a:srgbClr val="5B7FD6"/>
          </a:solidFill>
          <a:ln w="9525">
            <a:solidFill>
              <a:srgbClr val="2E4A9A"/>
            </a:solidFill>
            <a:prstDash val="solid"/>
          </a:ln>
        </p:spPr>
      </p:sp>
      <p:sp>
        <p:nvSpPr>
          <p:cNvPr id="86" name="Shape 84"/>
          <p:cNvSpPr/>
          <p:nvPr/>
        </p:nvSpPr>
        <p:spPr>
          <a:xfrm>
            <a:off x="1077529" y="1639885"/>
            <a:ext cx="149230" cy="149230"/>
          </a:xfrm>
          <a:prstGeom prst="ellipse">
            <a:avLst/>
          </a:prstGeom>
          <a:solidFill>
            <a:srgbClr val="5B7FD6"/>
          </a:solidFill>
          <a:ln w="9525">
            <a:solidFill>
              <a:srgbClr val="2E4A9A"/>
            </a:solidFill>
            <a:prstDash val="solid"/>
          </a:ln>
        </p:spPr>
      </p:sp>
      <p:sp>
        <p:nvSpPr>
          <p:cNvPr id="87" name="Shape 85"/>
          <p:cNvSpPr/>
          <p:nvPr/>
        </p:nvSpPr>
        <p:spPr>
          <a:xfrm>
            <a:off x="1232977" y="1639885"/>
            <a:ext cx="149230" cy="149230"/>
          </a:xfrm>
          <a:prstGeom prst="ellipse">
            <a:avLst/>
          </a:prstGeom>
          <a:solidFill>
            <a:srgbClr val="5B7FD6"/>
          </a:solidFill>
          <a:ln w="9525">
            <a:solidFill>
              <a:srgbClr val="2E4A9A"/>
            </a:solidFill>
            <a:prstDash val="solid"/>
          </a:ln>
        </p:spPr>
      </p:sp>
      <p:sp>
        <p:nvSpPr>
          <p:cNvPr id="88" name="Shape 86"/>
          <p:cNvSpPr/>
          <p:nvPr/>
        </p:nvSpPr>
        <p:spPr>
          <a:xfrm>
            <a:off x="1388425" y="1639885"/>
            <a:ext cx="149230" cy="149230"/>
          </a:xfrm>
          <a:prstGeom prst="ellipse">
            <a:avLst/>
          </a:prstGeom>
          <a:solidFill>
            <a:srgbClr val="5B7FD6"/>
          </a:solidFill>
          <a:ln w="9525">
            <a:solidFill>
              <a:srgbClr val="2E4A9A"/>
            </a:solidFill>
            <a:prstDash val="solid"/>
          </a:ln>
        </p:spPr>
      </p:sp>
      <p:sp>
        <p:nvSpPr>
          <p:cNvPr id="89" name="Shape 87"/>
          <p:cNvSpPr/>
          <p:nvPr/>
        </p:nvSpPr>
        <p:spPr>
          <a:xfrm>
            <a:off x="1543873" y="1639885"/>
            <a:ext cx="149230" cy="149230"/>
          </a:xfrm>
          <a:prstGeom prst="ellipse">
            <a:avLst/>
          </a:prstGeom>
          <a:solidFill>
            <a:srgbClr val="5B7FD6"/>
          </a:solidFill>
          <a:ln w="9525">
            <a:solidFill>
              <a:srgbClr val="2E4A9A"/>
            </a:solidFill>
            <a:prstDash val="solid"/>
          </a:ln>
        </p:spPr>
      </p:sp>
      <p:sp>
        <p:nvSpPr>
          <p:cNvPr id="90" name="Shape 88"/>
          <p:cNvSpPr/>
          <p:nvPr/>
        </p:nvSpPr>
        <p:spPr>
          <a:xfrm>
            <a:off x="1699321" y="1639885"/>
            <a:ext cx="149230" cy="149230"/>
          </a:xfrm>
          <a:prstGeom prst="ellipse">
            <a:avLst/>
          </a:prstGeom>
          <a:solidFill>
            <a:srgbClr val="5B7FD6"/>
          </a:solidFill>
          <a:ln w="9525">
            <a:solidFill>
              <a:srgbClr val="2E4A9A"/>
            </a:solidFill>
            <a:prstDash val="solid"/>
          </a:ln>
        </p:spPr>
      </p:sp>
      <p:sp>
        <p:nvSpPr>
          <p:cNvPr id="91" name="Shape 89"/>
          <p:cNvSpPr/>
          <p:nvPr/>
        </p:nvSpPr>
        <p:spPr>
          <a:xfrm>
            <a:off x="1854769" y="1639885"/>
            <a:ext cx="149230" cy="149230"/>
          </a:xfrm>
          <a:prstGeom prst="ellipse">
            <a:avLst/>
          </a:prstGeom>
          <a:solidFill>
            <a:srgbClr val="5B7FD6"/>
          </a:solidFill>
          <a:ln w="9525">
            <a:solidFill>
              <a:srgbClr val="2E4A9A"/>
            </a:solidFill>
            <a:prstDash val="solid"/>
          </a:ln>
        </p:spPr>
      </p:sp>
      <p:sp>
        <p:nvSpPr>
          <p:cNvPr id="92" name="Shape 90"/>
          <p:cNvSpPr/>
          <p:nvPr/>
        </p:nvSpPr>
        <p:spPr>
          <a:xfrm>
            <a:off x="2010217" y="1639885"/>
            <a:ext cx="149230" cy="149230"/>
          </a:xfrm>
          <a:prstGeom prst="ellipse">
            <a:avLst/>
          </a:prstGeom>
          <a:solidFill>
            <a:srgbClr val="5B7FD6"/>
          </a:solidFill>
          <a:ln w="9525">
            <a:solidFill>
              <a:srgbClr val="2E4A9A"/>
            </a:solidFill>
            <a:prstDash val="solid"/>
          </a:ln>
        </p:spPr>
      </p:sp>
      <p:sp>
        <p:nvSpPr>
          <p:cNvPr id="93" name="Text 91"/>
          <p:cNvSpPr/>
          <p:nvPr/>
        </p:nvSpPr>
        <p:spPr>
          <a:xfrm>
            <a:off x="685800" y="3108960"/>
            <a:ext cx="1554480" cy="256032"/>
          </a:xfrm>
          <a:prstGeom prst="rect">
            <a:avLst/>
          </a:prstGeom>
          <a:noFill/>
          <a:ln/>
        </p:spPr>
        <p:txBody>
          <a:bodyPr wrap="square" lIns="0" tIns="0" rIns="0" bIns="0" rtlCol="0" anchor="ctr"/>
          <a:lstStyle/>
          <a:p>
            <a:pPr algn="ctr" indent="0" marL="0">
              <a:buNone/>
            </a:pPr>
            <a:r>
              <a:rPr lang="en-US" sz="1200" b="1" dirty="0">
                <a:solidFill>
                  <a:srgbClr val="262B3A"/>
                </a:solidFill>
                <a:latin typeface="Calibri" pitchFamily="34" charset="0"/>
                <a:ea typeface="Calibri" pitchFamily="34" charset="-122"/>
                <a:cs typeface="Calibri" pitchFamily="34" charset="-120"/>
              </a:rPr>
              <a:t>920 kg/m³</a:t>
            </a:r>
            <a:endParaRPr lang="en-US" sz="1200" dirty="0"/>
          </a:p>
        </p:txBody>
      </p:sp>
      <p:sp>
        <p:nvSpPr>
          <p:cNvPr id="94" name="Text 92"/>
          <p:cNvSpPr/>
          <p:nvPr/>
        </p:nvSpPr>
        <p:spPr>
          <a:xfrm>
            <a:off x="2423160" y="1307592"/>
            <a:ext cx="1554480" cy="256032"/>
          </a:xfrm>
          <a:prstGeom prst="rect">
            <a:avLst/>
          </a:prstGeom>
          <a:noFill/>
          <a:ln/>
        </p:spPr>
        <p:txBody>
          <a:bodyPr wrap="square" lIns="0" tIns="0" rIns="0" bIns="0" rtlCol="0" anchor="ctr"/>
          <a:lstStyle/>
          <a:p>
            <a:pPr algn="ctr" indent="0" marL="0">
              <a:buNone/>
            </a:pPr>
            <a:r>
              <a:rPr lang="en-US" sz="1100" b="1" dirty="0">
                <a:solidFill>
                  <a:srgbClr val="1F6E8C"/>
                </a:solidFill>
                <a:latin typeface="Calibri" pitchFamily="34" charset="0"/>
                <a:ea typeface="Calibri" pitchFamily="34" charset="-122"/>
                <a:cs typeface="Calibri" pitchFamily="34" charset="-120"/>
              </a:rPr>
              <a:t>water (liquid)</a:t>
            </a:r>
            <a:endParaRPr lang="en-US" sz="1100" dirty="0"/>
          </a:p>
        </p:txBody>
      </p:sp>
      <p:sp>
        <p:nvSpPr>
          <p:cNvPr id="95" name="Shape 93"/>
          <p:cNvSpPr/>
          <p:nvPr/>
        </p:nvSpPr>
        <p:spPr>
          <a:xfrm>
            <a:off x="2423160" y="1600200"/>
            <a:ext cx="1554480" cy="1463040"/>
          </a:xfrm>
          <a:prstGeom prst="rect">
            <a:avLst/>
          </a:prstGeom>
          <a:solidFill>
            <a:srgbClr val="FFFFFF"/>
          </a:solidFill>
          <a:ln w="15875">
            <a:solidFill>
              <a:srgbClr val="1A2340"/>
            </a:solidFill>
            <a:prstDash val="solid"/>
          </a:ln>
        </p:spPr>
      </p:sp>
      <p:sp>
        <p:nvSpPr>
          <p:cNvPr id="96" name="Shape 94"/>
          <p:cNvSpPr/>
          <p:nvPr/>
        </p:nvSpPr>
        <p:spPr>
          <a:xfrm>
            <a:off x="2496200" y="2870489"/>
            <a:ext cx="149230" cy="149230"/>
          </a:xfrm>
          <a:prstGeom prst="ellipse">
            <a:avLst/>
          </a:prstGeom>
          <a:solidFill>
            <a:srgbClr val="3FA3C9"/>
          </a:solidFill>
          <a:ln w="9525">
            <a:solidFill>
              <a:srgbClr val="1F6E8C"/>
            </a:solidFill>
            <a:prstDash val="solid"/>
          </a:ln>
        </p:spPr>
      </p:sp>
      <p:sp>
        <p:nvSpPr>
          <p:cNvPr id="97" name="Shape 95"/>
          <p:cNvSpPr/>
          <p:nvPr/>
        </p:nvSpPr>
        <p:spPr>
          <a:xfrm>
            <a:off x="2838023" y="2863761"/>
            <a:ext cx="149230" cy="149230"/>
          </a:xfrm>
          <a:prstGeom prst="ellipse">
            <a:avLst/>
          </a:prstGeom>
          <a:solidFill>
            <a:srgbClr val="3FA3C9"/>
          </a:solidFill>
          <a:ln w="9525">
            <a:solidFill>
              <a:srgbClr val="1F6E8C"/>
            </a:solidFill>
            <a:prstDash val="solid"/>
          </a:ln>
        </p:spPr>
      </p:sp>
      <p:sp>
        <p:nvSpPr>
          <p:cNvPr id="98" name="Shape 96"/>
          <p:cNvSpPr/>
          <p:nvPr/>
        </p:nvSpPr>
        <p:spPr>
          <a:xfrm>
            <a:off x="3010741" y="2892368"/>
            <a:ext cx="149230" cy="149230"/>
          </a:xfrm>
          <a:prstGeom prst="ellipse">
            <a:avLst/>
          </a:prstGeom>
          <a:solidFill>
            <a:srgbClr val="3FA3C9"/>
          </a:solidFill>
          <a:ln w="9525">
            <a:solidFill>
              <a:srgbClr val="1F6E8C"/>
            </a:solidFill>
            <a:prstDash val="solid"/>
          </a:ln>
        </p:spPr>
      </p:sp>
      <p:sp>
        <p:nvSpPr>
          <p:cNvPr id="99" name="Shape 97"/>
          <p:cNvSpPr/>
          <p:nvPr/>
        </p:nvSpPr>
        <p:spPr>
          <a:xfrm>
            <a:off x="3193272" y="2884811"/>
            <a:ext cx="149230" cy="149230"/>
          </a:xfrm>
          <a:prstGeom prst="ellipse">
            <a:avLst/>
          </a:prstGeom>
          <a:solidFill>
            <a:srgbClr val="3FA3C9"/>
          </a:solidFill>
          <a:ln w="9525">
            <a:solidFill>
              <a:srgbClr val="1F6E8C"/>
            </a:solidFill>
            <a:prstDash val="solid"/>
          </a:ln>
        </p:spPr>
      </p:sp>
      <p:sp>
        <p:nvSpPr>
          <p:cNvPr id="100" name="Shape 98"/>
          <p:cNvSpPr/>
          <p:nvPr/>
        </p:nvSpPr>
        <p:spPr>
          <a:xfrm>
            <a:off x="3365298" y="2882133"/>
            <a:ext cx="149230" cy="149230"/>
          </a:xfrm>
          <a:prstGeom prst="ellipse">
            <a:avLst/>
          </a:prstGeom>
          <a:solidFill>
            <a:srgbClr val="3FA3C9"/>
          </a:solidFill>
          <a:ln w="9525">
            <a:solidFill>
              <a:srgbClr val="1F6E8C"/>
            </a:solidFill>
            <a:prstDash val="solid"/>
          </a:ln>
        </p:spPr>
      </p:sp>
      <p:sp>
        <p:nvSpPr>
          <p:cNvPr id="101" name="Shape 99"/>
          <p:cNvSpPr/>
          <p:nvPr/>
        </p:nvSpPr>
        <p:spPr>
          <a:xfrm>
            <a:off x="3528258" y="2899911"/>
            <a:ext cx="149230" cy="149230"/>
          </a:xfrm>
          <a:prstGeom prst="ellipse">
            <a:avLst/>
          </a:prstGeom>
          <a:solidFill>
            <a:srgbClr val="3FA3C9"/>
          </a:solidFill>
          <a:ln w="9525">
            <a:solidFill>
              <a:srgbClr val="1F6E8C"/>
            </a:solidFill>
            <a:prstDash val="solid"/>
          </a:ln>
        </p:spPr>
      </p:sp>
      <p:sp>
        <p:nvSpPr>
          <p:cNvPr id="102" name="Shape 100"/>
          <p:cNvSpPr/>
          <p:nvPr/>
        </p:nvSpPr>
        <p:spPr>
          <a:xfrm>
            <a:off x="3693239" y="2860344"/>
            <a:ext cx="149230" cy="149230"/>
          </a:xfrm>
          <a:prstGeom prst="ellipse">
            <a:avLst/>
          </a:prstGeom>
          <a:solidFill>
            <a:srgbClr val="3FA3C9"/>
          </a:solidFill>
          <a:ln w="9525">
            <a:solidFill>
              <a:srgbClr val="1F6E8C"/>
            </a:solidFill>
            <a:prstDash val="solid"/>
          </a:ln>
        </p:spPr>
      </p:sp>
      <p:sp>
        <p:nvSpPr>
          <p:cNvPr id="103" name="Shape 101"/>
          <p:cNvSpPr/>
          <p:nvPr/>
        </p:nvSpPr>
        <p:spPr>
          <a:xfrm>
            <a:off x="2618601" y="2735707"/>
            <a:ext cx="149230" cy="149230"/>
          </a:xfrm>
          <a:prstGeom prst="ellipse">
            <a:avLst/>
          </a:prstGeom>
          <a:solidFill>
            <a:srgbClr val="3FA3C9"/>
          </a:solidFill>
          <a:ln w="9525">
            <a:solidFill>
              <a:srgbClr val="1F6E8C"/>
            </a:solidFill>
            <a:prstDash val="solid"/>
          </a:ln>
        </p:spPr>
      </p:sp>
      <p:sp>
        <p:nvSpPr>
          <p:cNvPr id="104" name="Shape 102"/>
          <p:cNvSpPr/>
          <p:nvPr/>
        </p:nvSpPr>
        <p:spPr>
          <a:xfrm>
            <a:off x="2788823" y="2717099"/>
            <a:ext cx="149230" cy="149230"/>
          </a:xfrm>
          <a:prstGeom prst="ellipse">
            <a:avLst/>
          </a:prstGeom>
          <a:solidFill>
            <a:srgbClr val="3FA3C9"/>
          </a:solidFill>
          <a:ln w="9525">
            <a:solidFill>
              <a:srgbClr val="1F6E8C"/>
            </a:solidFill>
            <a:prstDash val="solid"/>
          </a:ln>
        </p:spPr>
      </p:sp>
      <p:sp>
        <p:nvSpPr>
          <p:cNvPr id="105" name="Shape 103"/>
          <p:cNvSpPr/>
          <p:nvPr/>
        </p:nvSpPr>
        <p:spPr>
          <a:xfrm>
            <a:off x="2953738" y="2721518"/>
            <a:ext cx="149230" cy="149230"/>
          </a:xfrm>
          <a:prstGeom prst="ellipse">
            <a:avLst/>
          </a:prstGeom>
          <a:solidFill>
            <a:srgbClr val="3FA3C9"/>
          </a:solidFill>
          <a:ln w="9525">
            <a:solidFill>
              <a:srgbClr val="1F6E8C"/>
            </a:solidFill>
            <a:prstDash val="solid"/>
          </a:ln>
        </p:spPr>
      </p:sp>
      <p:sp>
        <p:nvSpPr>
          <p:cNvPr id="106" name="Shape 104"/>
          <p:cNvSpPr/>
          <p:nvPr/>
        </p:nvSpPr>
        <p:spPr>
          <a:xfrm>
            <a:off x="3114872" y="2724971"/>
            <a:ext cx="149230" cy="149230"/>
          </a:xfrm>
          <a:prstGeom prst="ellipse">
            <a:avLst/>
          </a:prstGeom>
          <a:solidFill>
            <a:srgbClr val="3FA3C9"/>
          </a:solidFill>
          <a:ln w="9525">
            <a:solidFill>
              <a:srgbClr val="1F6E8C"/>
            </a:solidFill>
            <a:prstDash val="solid"/>
          </a:ln>
        </p:spPr>
      </p:sp>
      <p:sp>
        <p:nvSpPr>
          <p:cNvPr id="107" name="Shape 105"/>
          <p:cNvSpPr/>
          <p:nvPr/>
        </p:nvSpPr>
        <p:spPr>
          <a:xfrm>
            <a:off x="2481089" y="2589112"/>
            <a:ext cx="149230" cy="149230"/>
          </a:xfrm>
          <a:prstGeom prst="ellipse">
            <a:avLst/>
          </a:prstGeom>
          <a:solidFill>
            <a:srgbClr val="3FA3C9"/>
          </a:solidFill>
          <a:ln w="9525">
            <a:solidFill>
              <a:srgbClr val="1F6E8C"/>
            </a:solidFill>
            <a:prstDash val="solid"/>
          </a:ln>
        </p:spPr>
      </p:sp>
      <p:sp>
        <p:nvSpPr>
          <p:cNvPr id="108" name="Shape 106"/>
          <p:cNvSpPr/>
          <p:nvPr/>
        </p:nvSpPr>
        <p:spPr>
          <a:xfrm>
            <a:off x="2685416" y="2563430"/>
            <a:ext cx="149230" cy="149230"/>
          </a:xfrm>
          <a:prstGeom prst="ellipse">
            <a:avLst/>
          </a:prstGeom>
          <a:solidFill>
            <a:srgbClr val="3FA3C9"/>
          </a:solidFill>
          <a:ln w="9525">
            <a:solidFill>
              <a:srgbClr val="1F6E8C"/>
            </a:solidFill>
            <a:prstDash val="solid"/>
          </a:ln>
        </p:spPr>
      </p:sp>
      <p:sp>
        <p:nvSpPr>
          <p:cNvPr id="109" name="Shape 107"/>
          <p:cNvSpPr/>
          <p:nvPr/>
        </p:nvSpPr>
        <p:spPr>
          <a:xfrm>
            <a:off x="2853517" y="2575353"/>
            <a:ext cx="149230" cy="149230"/>
          </a:xfrm>
          <a:prstGeom prst="ellipse">
            <a:avLst/>
          </a:prstGeom>
          <a:solidFill>
            <a:srgbClr val="3FA3C9"/>
          </a:solidFill>
          <a:ln w="9525">
            <a:solidFill>
              <a:srgbClr val="1F6E8C"/>
            </a:solidFill>
            <a:prstDash val="solid"/>
          </a:ln>
        </p:spPr>
      </p:sp>
      <p:sp>
        <p:nvSpPr>
          <p:cNvPr id="110" name="Shape 108"/>
          <p:cNvSpPr/>
          <p:nvPr/>
        </p:nvSpPr>
        <p:spPr>
          <a:xfrm>
            <a:off x="3032746" y="2580269"/>
            <a:ext cx="149230" cy="149230"/>
          </a:xfrm>
          <a:prstGeom prst="ellipse">
            <a:avLst/>
          </a:prstGeom>
          <a:solidFill>
            <a:srgbClr val="3FA3C9"/>
          </a:solidFill>
          <a:ln w="9525">
            <a:solidFill>
              <a:srgbClr val="1F6E8C"/>
            </a:solidFill>
            <a:prstDash val="solid"/>
          </a:ln>
        </p:spPr>
      </p:sp>
      <p:sp>
        <p:nvSpPr>
          <p:cNvPr id="111" name="Shape 109"/>
          <p:cNvSpPr/>
          <p:nvPr/>
        </p:nvSpPr>
        <p:spPr>
          <a:xfrm>
            <a:off x="3356050" y="2554106"/>
            <a:ext cx="149230" cy="149230"/>
          </a:xfrm>
          <a:prstGeom prst="ellipse">
            <a:avLst/>
          </a:prstGeom>
          <a:solidFill>
            <a:srgbClr val="3FA3C9"/>
          </a:solidFill>
          <a:ln w="9525">
            <a:solidFill>
              <a:srgbClr val="1F6E8C"/>
            </a:solidFill>
            <a:prstDash val="solid"/>
          </a:ln>
        </p:spPr>
      </p:sp>
      <p:sp>
        <p:nvSpPr>
          <p:cNvPr id="112" name="Shape 110"/>
          <p:cNvSpPr/>
          <p:nvPr/>
        </p:nvSpPr>
        <p:spPr>
          <a:xfrm>
            <a:off x="3513098" y="2564606"/>
            <a:ext cx="149230" cy="149230"/>
          </a:xfrm>
          <a:prstGeom prst="ellipse">
            <a:avLst/>
          </a:prstGeom>
          <a:solidFill>
            <a:srgbClr val="3FA3C9"/>
          </a:solidFill>
          <a:ln w="9525">
            <a:solidFill>
              <a:srgbClr val="1F6E8C"/>
            </a:solidFill>
            <a:prstDash val="solid"/>
          </a:ln>
        </p:spPr>
      </p:sp>
      <p:sp>
        <p:nvSpPr>
          <p:cNvPr id="113" name="Shape 111"/>
          <p:cNvSpPr/>
          <p:nvPr/>
        </p:nvSpPr>
        <p:spPr>
          <a:xfrm>
            <a:off x="3690492" y="2548497"/>
            <a:ext cx="149230" cy="149230"/>
          </a:xfrm>
          <a:prstGeom prst="ellipse">
            <a:avLst/>
          </a:prstGeom>
          <a:solidFill>
            <a:srgbClr val="3FA3C9"/>
          </a:solidFill>
          <a:ln w="9525">
            <a:solidFill>
              <a:srgbClr val="1F6E8C"/>
            </a:solidFill>
            <a:prstDash val="solid"/>
          </a:ln>
        </p:spPr>
      </p:sp>
      <p:sp>
        <p:nvSpPr>
          <p:cNvPr id="114" name="Shape 112"/>
          <p:cNvSpPr/>
          <p:nvPr/>
        </p:nvSpPr>
        <p:spPr>
          <a:xfrm>
            <a:off x="2583652" y="2432552"/>
            <a:ext cx="149230" cy="149230"/>
          </a:xfrm>
          <a:prstGeom prst="ellipse">
            <a:avLst/>
          </a:prstGeom>
          <a:solidFill>
            <a:srgbClr val="3FA3C9"/>
          </a:solidFill>
          <a:ln w="9525">
            <a:solidFill>
              <a:srgbClr val="1F6E8C"/>
            </a:solidFill>
            <a:prstDash val="solid"/>
          </a:ln>
        </p:spPr>
      </p:sp>
      <p:sp>
        <p:nvSpPr>
          <p:cNvPr id="115" name="Shape 113"/>
          <p:cNvSpPr/>
          <p:nvPr/>
        </p:nvSpPr>
        <p:spPr>
          <a:xfrm>
            <a:off x="2762902" y="2416836"/>
            <a:ext cx="149230" cy="149230"/>
          </a:xfrm>
          <a:prstGeom prst="ellipse">
            <a:avLst/>
          </a:prstGeom>
          <a:solidFill>
            <a:srgbClr val="3FA3C9"/>
          </a:solidFill>
          <a:ln w="9525">
            <a:solidFill>
              <a:srgbClr val="1F6E8C"/>
            </a:solidFill>
            <a:prstDash val="solid"/>
          </a:ln>
        </p:spPr>
      </p:sp>
      <p:sp>
        <p:nvSpPr>
          <p:cNvPr id="116" name="Shape 114"/>
          <p:cNvSpPr/>
          <p:nvPr/>
        </p:nvSpPr>
        <p:spPr>
          <a:xfrm>
            <a:off x="2939448" y="2408509"/>
            <a:ext cx="149230" cy="149230"/>
          </a:xfrm>
          <a:prstGeom prst="ellipse">
            <a:avLst/>
          </a:prstGeom>
          <a:solidFill>
            <a:srgbClr val="3FA3C9"/>
          </a:solidFill>
          <a:ln w="9525">
            <a:solidFill>
              <a:srgbClr val="1F6E8C"/>
            </a:solidFill>
            <a:prstDash val="solid"/>
          </a:ln>
        </p:spPr>
      </p:sp>
      <p:sp>
        <p:nvSpPr>
          <p:cNvPr id="117" name="Shape 115"/>
          <p:cNvSpPr/>
          <p:nvPr/>
        </p:nvSpPr>
        <p:spPr>
          <a:xfrm>
            <a:off x="3115797" y="2437062"/>
            <a:ext cx="149230" cy="149230"/>
          </a:xfrm>
          <a:prstGeom prst="ellipse">
            <a:avLst/>
          </a:prstGeom>
          <a:solidFill>
            <a:srgbClr val="3FA3C9"/>
          </a:solidFill>
          <a:ln w="9525">
            <a:solidFill>
              <a:srgbClr val="1F6E8C"/>
            </a:solidFill>
            <a:prstDash val="solid"/>
          </a:ln>
        </p:spPr>
      </p:sp>
      <p:sp>
        <p:nvSpPr>
          <p:cNvPr id="118" name="Shape 116"/>
          <p:cNvSpPr/>
          <p:nvPr/>
        </p:nvSpPr>
        <p:spPr>
          <a:xfrm>
            <a:off x="3274911" y="2410584"/>
            <a:ext cx="149230" cy="149230"/>
          </a:xfrm>
          <a:prstGeom prst="ellipse">
            <a:avLst/>
          </a:prstGeom>
          <a:solidFill>
            <a:srgbClr val="3FA3C9"/>
          </a:solidFill>
          <a:ln w="9525">
            <a:solidFill>
              <a:srgbClr val="1F6E8C"/>
            </a:solidFill>
            <a:prstDash val="solid"/>
          </a:ln>
        </p:spPr>
      </p:sp>
      <p:sp>
        <p:nvSpPr>
          <p:cNvPr id="119" name="Shape 117"/>
          <p:cNvSpPr/>
          <p:nvPr/>
        </p:nvSpPr>
        <p:spPr>
          <a:xfrm>
            <a:off x="3442270" y="2406673"/>
            <a:ext cx="149230" cy="149230"/>
          </a:xfrm>
          <a:prstGeom prst="ellipse">
            <a:avLst/>
          </a:prstGeom>
          <a:solidFill>
            <a:srgbClr val="3FA3C9"/>
          </a:solidFill>
          <a:ln w="9525">
            <a:solidFill>
              <a:srgbClr val="1F6E8C"/>
            </a:solidFill>
            <a:prstDash val="solid"/>
          </a:ln>
        </p:spPr>
      </p:sp>
      <p:sp>
        <p:nvSpPr>
          <p:cNvPr id="120" name="Shape 118"/>
          <p:cNvSpPr/>
          <p:nvPr/>
        </p:nvSpPr>
        <p:spPr>
          <a:xfrm>
            <a:off x="3605859" y="2412636"/>
            <a:ext cx="149230" cy="149230"/>
          </a:xfrm>
          <a:prstGeom prst="ellipse">
            <a:avLst/>
          </a:prstGeom>
          <a:solidFill>
            <a:srgbClr val="3FA3C9"/>
          </a:solidFill>
          <a:ln w="9525">
            <a:solidFill>
              <a:srgbClr val="1F6E8C"/>
            </a:solidFill>
            <a:prstDash val="solid"/>
          </a:ln>
        </p:spPr>
      </p:sp>
      <p:sp>
        <p:nvSpPr>
          <p:cNvPr id="121" name="Shape 119"/>
          <p:cNvSpPr/>
          <p:nvPr/>
        </p:nvSpPr>
        <p:spPr>
          <a:xfrm>
            <a:off x="3770171" y="2393410"/>
            <a:ext cx="149230" cy="149230"/>
          </a:xfrm>
          <a:prstGeom prst="ellipse">
            <a:avLst/>
          </a:prstGeom>
          <a:solidFill>
            <a:srgbClr val="3FA3C9"/>
          </a:solidFill>
          <a:ln w="9525">
            <a:solidFill>
              <a:srgbClr val="1F6E8C"/>
            </a:solidFill>
            <a:prstDash val="solid"/>
          </a:ln>
        </p:spPr>
      </p:sp>
      <p:sp>
        <p:nvSpPr>
          <p:cNvPr id="122" name="Shape 120"/>
          <p:cNvSpPr/>
          <p:nvPr/>
        </p:nvSpPr>
        <p:spPr>
          <a:xfrm>
            <a:off x="2649033" y="2258459"/>
            <a:ext cx="149230" cy="149230"/>
          </a:xfrm>
          <a:prstGeom prst="ellipse">
            <a:avLst/>
          </a:prstGeom>
          <a:solidFill>
            <a:srgbClr val="3FA3C9"/>
          </a:solidFill>
          <a:ln w="9525">
            <a:solidFill>
              <a:srgbClr val="1F6E8C"/>
            </a:solidFill>
            <a:prstDash val="solid"/>
          </a:ln>
        </p:spPr>
      </p:sp>
      <p:sp>
        <p:nvSpPr>
          <p:cNvPr id="123" name="Shape 121"/>
          <p:cNvSpPr/>
          <p:nvPr/>
        </p:nvSpPr>
        <p:spPr>
          <a:xfrm>
            <a:off x="2830193" y="2267467"/>
            <a:ext cx="149230" cy="149230"/>
          </a:xfrm>
          <a:prstGeom prst="ellipse">
            <a:avLst/>
          </a:prstGeom>
          <a:solidFill>
            <a:srgbClr val="3FA3C9"/>
          </a:solidFill>
          <a:ln w="9525">
            <a:solidFill>
              <a:srgbClr val="1F6E8C"/>
            </a:solidFill>
            <a:prstDash val="solid"/>
          </a:ln>
        </p:spPr>
      </p:sp>
      <p:sp>
        <p:nvSpPr>
          <p:cNvPr id="124" name="Shape 122"/>
          <p:cNvSpPr/>
          <p:nvPr/>
        </p:nvSpPr>
        <p:spPr>
          <a:xfrm>
            <a:off x="3019841" y="2263449"/>
            <a:ext cx="149230" cy="149230"/>
          </a:xfrm>
          <a:prstGeom prst="ellipse">
            <a:avLst/>
          </a:prstGeom>
          <a:solidFill>
            <a:srgbClr val="3FA3C9"/>
          </a:solidFill>
          <a:ln w="9525">
            <a:solidFill>
              <a:srgbClr val="1F6E8C"/>
            </a:solidFill>
            <a:prstDash val="solid"/>
          </a:ln>
        </p:spPr>
      </p:sp>
      <p:sp>
        <p:nvSpPr>
          <p:cNvPr id="125" name="Shape 123"/>
          <p:cNvSpPr/>
          <p:nvPr/>
        </p:nvSpPr>
        <p:spPr>
          <a:xfrm>
            <a:off x="3527294" y="2261371"/>
            <a:ext cx="149230" cy="149230"/>
          </a:xfrm>
          <a:prstGeom prst="ellipse">
            <a:avLst/>
          </a:prstGeom>
          <a:solidFill>
            <a:srgbClr val="3FA3C9"/>
          </a:solidFill>
          <a:ln w="9525">
            <a:solidFill>
              <a:srgbClr val="1F6E8C"/>
            </a:solidFill>
            <a:prstDash val="solid"/>
          </a:ln>
        </p:spPr>
      </p:sp>
      <p:sp>
        <p:nvSpPr>
          <p:cNvPr id="126" name="Shape 124"/>
          <p:cNvSpPr/>
          <p:nvPr/>
        </p:nvSpPr>
        <p:spPr>
          <a:xfrm>
            <a:off x="2617401" y="2106531"/>
            <a:ext cx="149230" cy="149230"/>
          </a:xfrm>
          <a:prstGeom prst="ellipse">
            <a:avLst/>
          </a:prstGeom>
          <a:solidFill>
            <a:srgbClr val="3FA3C9"/>
          </a:solidFill>
          <a:ln w="9525">
            <a:solidFill>
              <a:srgbClr val="1F6E8C"/>
            </a:solidFill>
            <a:prstDash val="solid"/>
          </a:ln>
        </p:spPr>
      </p:sp>
      <p:sp>
        <p:nvSpPr>
          <p:cNvPr id="127" name="Shape 125"/>
          <p:cNvSpPr/>
          <p:nvPr/>
        </p:nvSpPr>
        <p:spPr>
          <a:xfrm>
            <a:off x="2771712" y="2113856"/>
            <a:ext cx="149230" cy="149230"/>
          </a:xfrm>
          <a:prstGeom prst="ellipse">
            <a:avLst/>
          </a:prstGeom>
          <a:solidFill>
            <a:srgbClr val="3FA3C9"/>
          </a:solidFill>
          <a:ln w="9525">
            <a:solidFill>
              <a:srgbClr val="1F6E8C"/>
            </a:solidFill>
            <a:prstDash val="solid"/>
          </a:ln>
        </p:spPr>
      </p:sp>
      <p:sp>
        <p:nvSpPr>
          <p:cNvPr id="128" name="Shape 126"/>
          <p:cNvSpPr/>
          <p:nvPr/>
        </p:nvSpPr>
        <p:spPr>
          <a:xfrm>
            <a:off x="2953929" y="2101533"/>
            <a:ext cx="149230" cy="149230"/>
          </a:xfrm>
          <a:prstGeom prst="ellipse">
            <a:avLst/>
          </a:prstGeom>
          <a:solidFill>
            <a:srgbClr val="3FA3C9"/>
          </a:solidFill>
          <a:ln w="9525">
            <a:solidFill>
              <a:srgbClr val="1F6E8C"/>
            </a:solidFill>
            <a:prstDash val="solid"/>
          </a:ln>
        </p:spPr>
      </p:sp>
      <p:sp>
        <p:nvSpPr>
          <p:cNvPr id="129" name="Shape 127"/>
          <p:cNvSpPr/>
          <p:nvPr/>
        </p:nvSpPr>
        <p:spPr>
          <a:xfrm>
            <a:off x="3108566" y="2116768"/>
            <a:ext cx="149230" cy="149230"/>
          </a:xfrm>
          <a:prstGeom prst="ellipse">
            <a:avLst/>
          </a:prstGeom>
          <a:solidFill>
            <a:srgbClr val="3FA3C9"/>
          </a:solidFill>
          <a:ln w="9525">
            <a:solidFill>
              <a:srgbClr val="1F6E8C"/>
            </a:solidFill>
            <a:prstDash val="solid"/>
          </a:ln>
        </p:spPr>
      </p:sp>
      <p:sp>
        <p:nvSpPr>
          <p:cNvPr id="130" name="Shape 128"/>
          <p:cNvSpPr/>
          <p:nvPr/>
        </p:nvSpPr>
        <p:spPr>
          <a:xfrm>
            <a:off x="3275353" y="2115335"/>
            <a:ext cx="149230" cy="149230"/>
          </a:xfrm>
          <a:prstGeom prst="ellipse">
            <a:avLst/>
          </a:prstGeom>
          <a:solidFill>
            <a:srgbClr val="3FA3C9"/>
          </a:solidFill>
          <a:ln w="9525">
            <a:solidFill>
              <a:srgbClr val="1F6E8C"/>
            </a:solidFill>
            <a:prstDash val="solid"/>
          </a:ln>
        </p:spPr>
      </p:sp>
      <p:sp>
        <p:nvSpPr>
          <p:cNvPr id="131" name="Shape 129"/>
          <p:cNvSpPr/>
          <p:nvPr/>
        </p:nvSpPr>
        <p:spPr>
          <a:xfrm>
            <a:off x="3431271" y="2078730"/>
            <a:ext cx="149230" cy="149230"/>
          </a:xfrm>
          <a:prstGeom prst="ellipse">
            <a:avLst/>
          </a:prstGeom>
          <a:solidFill>
            <a:srgbClr val="3FA3C9"/>
          </a:solidFill>
          <a:ln w="9525">
            <a:solidFill>
              <a:srgbClr val="1F6E8C"/>
            </a:solidFill>
            <a:prstDash val="solid"/>
          </a:ln>
        </p:spPr>
      </p:sp>
      <p:sp>
        <p:nvSpPr>
          <p:cNvPr id="132" name="Shape 130"/>
          <p:cNvSpPr/>
          <p:nvPr/>
        </p:nvSpPr>
        <p:spPr>
          <a:xfrm>
            <a:off x="3593753" y="2092135"/>
            <a:ext cx="149230" cy="149230"/>
          </a:xfrm>
          <a:prstGeom prst="ellipse">
            <a:avLst/>
          </a:prstGeom>
          <a:solidFill>
            <a:srgbClr val="3FA3C9"/>
          </a:solidFill>
          <a:ln w="9525">
            <a:solidFill>
              <a:srgbClr val="1F6E8C"/>
            </a:solidFill>
            <a:prstDash val="solid"/>
          </a:ln>
        </p:spPr>
      </p:sp>
      <p:sp>
        <p:nvSpPr>
          <p:cNvPr id="133" name="Shape 131"/>
          <p:cNvSpPr/>
          <p:nvPr/>
        </p:nvSpPr>
        <p:spPr>
          <a:xfrm>
            <a:off x="3774176" y="2088908"/>
            <a:ext cx="149230" cy="149230"/>
          </a:xfrm>
          <a:prstGeom prst="ellipse">
            <a:avLst/>
          </a:prstGeom>
          <a:solidFill>
            <a:srgbClr val="3FA3C9"/>
          </a:solidFill>
          <a:ln w="9525">
            <a:solidFill>
              <a:srgbClr val="1F6E8C"/>
            </a:solidFill>
            <a:prstDash val="solid"/>
          </a:ln>
        </p:spPr>
      </p:sp>
      <p:sp>
        <p:nvSpPr>
          <p:cNvPr id="134" name="Shape 132"/>
          <p:cNvSpPr/>
          <p:nvPr/>
        </p:nvSpPr>
        <p:spPr>
          <a:xfrm>
            <a:off x="2505920" y="1966827"/>
            <a:ext cx="149230" cy="149230"/>
          </a:xfrm>
          <a:prstGeom prst="ellipse">
            <a:avLst/>
          </a:prstGeom>
          <a:solidFill>
            <a:srgbClr val="3FA3C9"/>
          </a:solidFill>
          <a:ln w="9525">
            <a:solidFill>
              <a:srgbClr val="1F6E8C"/>
            </a:solidFill>
            <a:prstDash val="solid"/>
          </a:ln>
        </p:spPr>
      </p:sp>
      <p:sp>
        <p:nvSpPr>
          <p:cNvPr id="135" name="Shape 133"/>
          <p:cNvSpPr/>
          <p:nvPr/>
        </p:nvSpPr>
        <p:spPr>
          <a:xfrm>
            <a:off x="3035443" y="1925908"/>
            <a:ext cx="149230" cy="149230"/>
          </a:xfrm>
          <a:prstGeom prst="ellipse">
            <a:avLst/>
          </a:prstGeom>
          <a:solidFill>
            <a:srgbClr val="3FA3C9"/>
          </a:solidFill>
          <a:ln w="9525">
            <a:solidFill>
              <a:srgbClr val="1F6E8C"/>
            </a:solidFill>
            <a:prstDash val="solid"/>
          </a:ln>
        </p:spPr>
      </p:sp>
      <p:sp>
        <p:nvSpPr>
          <p:cNvPr id="136" name="Shape 134"/>
          <p:cNvSpPr/>
          <p:nvPr/>
        </p:nvSpPr>
        <p:spPr>
          <a:xfrm>
            <a:off x="3196743" y="1965345"/>
            <a:ext cx="149230" cy="149230"/>
          </a:xfrm>
          <a:prstGeom prst="ellipse">
            <a:avLst/>
          </a:prstGeom>
          <a:solidFill>
            <a:srgbClr val="3FA3C9"/>
          </a:solidFill>
          <a:ln w="9525">
            <a:solidFill>
              <a:srgbClr val="1F6E8C"/>
            </a:solidFill>
            <a:prstDash val="solid"/>
          </a:ln>
        </p:spPr>
      </p:sp>
      <p:sp>
        <p:nvSpPr>
          <p:cNvPr id="137" name="Shape 135"/>
          <p:cNvSpPr/>
          <p:nvPr/>
        </p:nvSpPr>
        <p:spPr>
          <a:xfrm>
            <a:off x="3363895" y="1927634"/>
            <a:ext cx="149230" cy="149230"/>
          </a:xfrm>
          <a:prstGeom prst="ellipse">
            <a:avLst/>
          </a:prstGeom>
          <a:solidFill>
            <a:srgbClr val="3FA3C9"/>
          </a:solidFill>
          <a:ln w="9525">
            <a:solidFill>
              <a:srgbClr val="1F6E8C"/>
            </a:solidFill>
            <a:prstDash val="solid"/>
          </a:ln>
        </p:spPr>
      </p:sp>
      <p:sp>
        <p:nvSpPr>
          <p:cNvPr id="138" name="Shape 136"/>
          <p:cNvSpPr/>
          <p:nvPr/>
        </p:nvSpPr>
        <p:spPr>
          <a:xfrm>
            <a:off x="3526872" y="1929347"/>
            <a:ext cx="149230" cy="149230"/>
          </a:xfrm>
          <a:prstGeom prst="ellipse">
            <a:avLst/>
          </a:prstGeom>
          <a:solidFill>
            <a:srgbClr val="3FA3C9"/>
          </a:solidFill>
          <a:ln w="9525">
            <a:solidFill>
              <a:srgbClr val="1F6E8C"/>
            </a:solidFill>
            <a:prstDash val="solid"/>
          </a:ln>
        </p:spPr>
      </p:sp>
      <p:sp>
        <p:nvSpPr>
          <p:cNvPr id="139" name="Shape 137"/>
          <p:cNvSpPr/>
          <p:nvPr/>
        </p:nvSpPr>
        <p:spPr>
          <a:xfrm>
            <a:off x="3695832" y="1944924"/>
            <a:ext cx="149230" cy="149230"/>
          </a:xfrm>
          <a:prstGeom prst="ellipse">
            <a:avLst/>
          </a:prstGeom>
          <a:solidFill>
            <a:srgbClr val="3FA3C9"/>
          </a:solidFill>
          <a:ln w="9525">
            <a:solidFill>
              <a:srgbClr val="1F6E8C"/>
            </a:solidFill>
            <a:prstDash val="solid"/>
          </a:ln>
        </p:spPr>
      </p:sp>
      <p:sp>
        <p:nvSpPr>
          <p:cNvPr id="140" name="Shape 138"/>
          <p:cNvSpPr/>
          <p:nvPr/>
        </p:nvSpPr>
        <p:spPr>
          <a:xfrm>
            <a:off x="2578050" y="1807171"/>
            <a:ext cx="149230" cy="149230"/>
          </a:xfrm>
          <a:prstGeom prst="ellipse">
            <a:avLst/>
          </a:prstGeom>
          <a:solidFill>
            <a:srgbClr val="3FA3C9"/>
          </a:solidFill>
          <a:ln w="9525">
            <a:solidFill>
              <a:srgbClr val="1F6E8C"/>
            </a:solidFill>
            <a:prstDash val="solid"/>
          </a:ln>
        </p:spPr>
      </p:sp>
      <p:sp>
        <p:nvSpPr>
          <p:cNvPr id="141" name="Shape 139"/>
          <p:cNvSpPr/>
          <p:nvPr/>
        </p:nvSpPr>
        <p:spPr>
          <a:xfrm>
            <a:off x="2761012" y="1809377"/>
            <a:ext cx="149230" cy="149230"/>
          </a:xfrm>
          <a:prstGeom prst="ellipse">
            <a:avLst/>
          </a:prstGeom>
          <a:solidFill>
            <a:srgbClr val="3FA3C9"/>
          </a:solidFill>
          <a:ln w="9525">
            <a:solidFill>
              <a:srgbClr val="1F6E8C"/>
            </a:solidFill>
            <a:prstDash val="solid"/>
          </a:ln>
        </p:spPr>
      </p:sp>
      <p:sp>
        <p:nvSpPr>
          <p:cNvPr id="142" name="Shape 140"/>
          <p:cNvSpPr/>
          <p:nvPr/>
        </p:nvSpPr>
        <p:spPr>
          <a:xfrm>
            <a:off x="2923010" y="1780682"/>
            <a:ext cx="149230" cy="149230"/>
          </a:xfrm>
          <a:prstGeom prst="ellipse">
            <a:avLst/>
          </a:prstGeom>
          <a:solidFill>
            <a:srgbClr val="3FA3C9"/>
          </a:solidFill>
          <a:ln w="9525">
            <a:solidFill>
              <a:srgbClr val="1F6E8C"/>
            </a:solidFill>
            <a:prstDash val="solid"/>
          </a:ln>
        </p:spPr>
      </p:sp>
      <p:sp>
        <p:nvSpPr>
          <p:cNvPr id="143" name="Shape 141"/>
          <p:cNvSpPr/>
          <p:nvPr/>
        </p:nvSpPr>
        <p:spPr>
          <a:xfrm>
            <a:off x="3095585" y="1776618"/>
            <a:ext cx="149230" cy="149230"/>
          </a:xfrm>
          <a:prstGeom prst="ellipse">
            <a:avLst/>
          </a:prstGeom>
          <a:solidFill>
            <a:srgbClr val="3FA3C9"/>
          </a:solidFill>
          <a:ln w="9525">
            <a:solidFill>
              <a:srgbClr val="1F6E8C"/>
            </a:solidFill>
            <a:prstDash val="solid"/>
          </a:ln>
        </p:spPr>
      </p:sp>
      <p:sp>
        <p:nvSpPr>
          <p:cNvPr id="144" name="Shape 142"/>
          <p:cNvSpPr/>
          <p:nvPr/>
        </p:nvSpPr>
        <p:spPr>
          <a:xfrm>
            <a:off x="3283889" y="1765602"/>
            <a:ext cx="149230" cy="149230"/>
          </a:xfrm>
          <a:prstGeom prst="ellipse">
            <a:avLst/>
          </a:prstGeom>
          <a:solidFill>
            <a:srgbClr val="3FA3C9"/>
          </a:solidFill>
          <a:ln w="9525">
            <a:solidFill>
              <a:srgbClr val="1F6E8C"/>
            </a:solidFill>
            <a:prstDash val="solid"/>
          </a:ln>
        </p:spPr>
      </p:sp>
      <p:sp>
        <p:nvSpPr>
          <p:cNvPr id="145" name="Shape 143"/>
          <p:cNvSpPr/>
          <p:nvPr/>
        </p:nvSpPr>
        <p:spPr>
          <a:xfrm>
            <a:off x="3578615" y="1766150"/>
            <a:ext cx="149230" cy="149230"/>
          </a:xfrm>
          <a:prstGeom prst="ellipse">
            <a:avLst/>
          </a:prstGeom>
          <a:solidFill>
            <a:srgbClr val="3FA3C9"/>
          </a:solidFill>
          <a:ln w="9525">
            <a:solidFill>
              <a:srgbClr val="1F6E8C"/>
            </a:solidFill>
            <a:prstDash val="solid"/>
          </a:ln>
        </p:spPr>
      </p:sp>
      <p:sp>
        <p:nvSpPr>
          <p:cNvPr id="146" name="Shape 144"/>
          <p:cNvSpPr/>
          <p:nvPr/>
        </p:nvSpPr>
        <p:spPr>
          <a:xfrm>
            <a:off x="3767504" y="1801183"/>
            <a:ext cx="149230" cy="149230"/>
          </a:xfrm>
          <a:prstGeom prst="ellipse">
            <a:avLst/>
          </a:prstGeom>
          <a:solidFill>
            <a:srgbClr val="3FA3C9"/>
          </a:solidFill>
          <a:ln w="9525">
            <a:solidFill>
              <a:srgbClr val="1F6E8C"/>
            </a:solidFill>
            <a:prstDash val="solid"/>
          </a:ln>
        </p:spPr>
      </p:sp>
      <p:sp>
        <p:nvSpPr>
          <p:cNvPr id="147" name="Shape 145"/>
          <p:cNvSpPr/>
          <p:nvPr/>
        </p:nvSpPr>
        <p:spPr>
          <a:xfrm flipV="1">
            <a:off x="3479313" y="2820615"/>
            <a:ext cx="35647" cy="64663"/>
          </a:xfrm>
          <a:prstGeom prst="line">
            <a:avLst/>
          </a:prstGeom>
          <a:noFill/>
          <a:ln w="9525">
            <a:solidFill>
              <a:srgbClr val="6B7385"/>
            </a:solidFill>
            <a:prstDash val="solid"/>
            <a:tailEnd type="triangle"/>
          </a:ln>
        </p:spPr>
      </p:sp>
      <p:sp>
        <p:nvSpPr>
          <p:cNvPr id="148" name="Shape 146"/>
          <p:cNvSpPr/>
          <p:nvPr/>
        </p:nvSpPr>
        <p:spPr>
          <a:xfrm flipV="1">
            <a:off x="2964763" y="2511059"/>
            <a:ext cx="33142" cy="65982"/>
          </a:xfrm>
          <a:prstGeom prst="line">
            <a:avLst/>
          </a:prstGeom>
          <a:noFill/>
          <a:ln w="9525">
            <a:solidFill>
              <a:srgbClr val="6B7385"/>
            </a:solidFill>
            <a:prstDash val="solid"/>
            <a:tailEnd type="triangle"/>
          </a:ln>
        </p:spPr>
      </p:sp>
      <p:sp>
        <p:nvSpPr>
          <p:cNvPr id="149" name="Shape 147"/>
          <p:cNvSpPr/>
          <p:nvPr/>
        </p:nvSpPr>
        <p:spPr>
          <a:xfrm>
            <a:off x="3424554" y="2517308"/>
            <a:ext cx="67883" cy="29051"/>
          </a:xfrm>
          <a:prstGeom prst="line">
            <a:avLst/>
          </a:prstGeom>
          <a:noFill/>
          <a:ln w="9525">
            <a:solidFill>
              <a:srgbClr val="6B7385"/>
            </a:solidFill>
            <a:prstDash val="solid"/>
            <a:tailEnd type="triangle"/>
          </a:ln>
        </p:spPr>
      </p:sp>
      <p:sp>
        <p:nvSpPr>
          <p:cNvPr id="150" name="Shape 148"/>
          <p:cNvSpPr/>
          <p:nvPr/>
        </p:nvSpPr>
        <p:spPr>
          <a:xfrm flipV="1">
            <a:off x="2908744" y="2088325"/>
            <a:ext cx="56473" cy="47569"/>
          </a:xfrm>
          <a:prstGeom prst="line">
            <a:avLst/>
          </a:prstGeom>
          <a:noFill/>
          <a:ln w="9525">
            <a:solidFill>
              <a:srgbClr val="6B7385"/>
            </a:solidFill>
            <a:prstDash val="solid"/>
            <a:tailEnd type="triangle"/>
          </a:ln>
        </p:spPr>
      </p:sp>
      <p:sp>
        <p:nvSpPr>
          <p:cNvPr id="151" name="Shape 149"/>
          <p:cNvSpPr/>
          <p:nvPr/>
        </p:nvSpPr>
        <p:spPr>
          <a:xfrm flipH="1" flipV="1">
            <a:off x="3254760" y="1885401"/>
            <a:ext cx="7884" cy="73416"/>
          </a:xfrm>
          <a:prstGeom prst="line">
            <a:avLst/>
          </a:prstGeom>
          <a:noFill/>
          <a:ln w="9525">
            <a:solidFill>
              <a:srgbClr val="6B7385"/>
            </a:solidFill>
            <a:prstDash val="solid"/>
            <a:tailEnd type="triangle"/>
          </a:ln>
        </p:spPr>
      </p:sp>
      <p:sp>
        <p:nvSpPr>
          <p:cNvPr id="152" name="Shape 150"/>
          <p:cNvSpPr/>
          <p:nvPr/>
        </p:nvSpPr>
        <p:spPr>
          <a:xfrm flipH="1" flipV="1">
            <a:off x="3533485" y="1741643"/>
            <a:ext cx="56879" cy="47083"/>
          </a:xfrm>
          <a:prstGeom prst="line">
            <a:avLst/>
          </a:prstGeom>
          <a:noFill/>
          <a:ln w="9525">
            <a:solidFill>
              <a:srgbClr val="6B7385"/>
            </a:solidFill>
            <a:prstDash val="solid"/>
            <a:tailEnd type="triangle"/>
          </a:ln>
        </p:spPr>
      </p:sp>
      <p:sp>
        <p:nvSpPr>
          <p:cNvPr id="153" name="Text 151"/>
          <p:cNvSpPr/>
          <p:nvPr/>
        </p:nvSpPr>
        <p:spPr>
          <a:xfrm>
            <a:off x="2423160" y="3108960"/>
            <a:ext cx="1554480" cy="256032"/>
          </a:xfrm>
          <a:prstGeom prst="rect">
            <a:avLst/>
          </a:prstGeom>
          <a:noFill/>
          <a:ln/>
        </p:spPr>
        <p:txBody>
          <a:bodyPr wrap="square" lIns="0" tIns="0" rIns="0" bIns="0" rtlCol="0" anchor="ctr"/>
          <a:lstStyle/>
          <a:p>
            <a:pPr algn="ctr" indent="0" marL="0">
              <a:buNone/>
            </a:pPr>
            <a:r>
              <a:rPr lang="en-US" sz="1200" b="1" dirty="0">
                <a:solidFill>
                  <a:srgbClr val="262B3A"/>
                </a:solidFill>
                <a:latin typeface="Calibri" pitchFamily="34" charset="0"/>
                <a:ea typeface="Calibri" pitchFamily="34" charset="-122"/>
                <a:cs typeface="Calibri" pitchFamily="34" charset="-120"/>
              </a:rPr>
              <a:t>1000 kg/m³</a:t>
            </a:r>
            <a:endParaRPr lang="en-US" sz="1200" dirty="0"/>
          </a:p>
        </p:txBody>
      </p:sp>
      <p:sp>
        <p:nvSpPr>
          <p:cNvPr id="154" name="Text 152"/>
          <p:cNvSpPr/>
          <p:nvPr/>
        </p:nvSpPr>
        <p:spPr>
          <a:xfrm>
            <a:off x="4160520" y="1307592"/>
            <a:ext cx="1554480" cy="256032"/>
          </a:xfrm>
          <a:prstGeom prst="rect">
            <a:avLst/>
          </a:prstGeom>
          <a:noFill/>
          <a:ln/>
        </p:spPr>
        <p:txBody>
          <a:bodyPr wrap="square" lIns="0" tIns="0" rIns="0" bIns="0" rtlCol="0" anchor="ctr"/>
          <a:lstStyle/>
          <a:p>
            <a:pPr algn="ctr" indent="0" marL="0">
              <a:buNone/>
            </a:pPr>
            <a:r>
              <a:rPr lang="en-US" sz="1100" b="1" dirty="0">
                <a:solidFill>
                  <a:srgbClr val="9A5320"/>
                </a:solidFill>
                <a:latin typeface="Calibri" pitchFamily="34" charset="0"/>
                <a:ea typeface="Calibri" pitchFamily="34" charset="-122"/>
                <a:cs typeface="Calibri" pitchFamily="34" charset="-120"/>
              </a:rPr>
              <a:t>steam (gas)</a:t>
            </a:r>
            <a:endParaRPr lang="en-US" sz="1100" dirty="0"/>
          </a:p>
        </p:txBody>
      </p:sp>
      <p:sp>
        <p:nvSpPr>
          <p:cNvPr id="155" name="Shape 153"/>
          <p:cNvSpPr/>
          <p:nvPr/>
        </p:nvSpPr>
        <p:spPr>
          <a:xfrm>
            <a:off x="4160520" y="1600200"/>
            <a:ext cx="1554480" cy="1463040"/>
          </a:xfrm>
          <a:prstGeom prst="rect">
            <a:avLst/>
          </a:prstGeom>
          <a:solidFill>
            <a:srgbClr val="FFFFFF"/>
          </a:solidFill>
          <a:ln w="15875">
            <a:solidFill>
              <a:srgbClr val="1A2340"/>
            </a:solidFill>
            <a:prstDash val="solid"/>
          </a:ln>
        </p:spPr>
      </p:sp>
      <p:sp>
        <p:nvSpPr>
          <p:cNvPr id="156" name="Shape 154"/>
          <p:cNvSpPr/>
          <p:nvPr/>
        </p:nvSpPr>
        <p:spPr>
          <a:xfrm>
            <a:off x="5095675" y="2566357"/>
            <a:ext cx="149230" cy="149230"/>
          </a:xfrm>
          <a:prstGeom prst="ellipse">
            <a:avLst/>
          </a:prstGeom>
          <a:solidFill>
            <a:srgbClr val="E0884A"/>
          </a:solidFill>
          <a:ln w="9525">
            <a:solidFill>
              <a:srgbClr val="9A5320"/>
            </a:solidFill>
            <a:prstDash val="solid"/>
          </a:ln>
        </p:spPr>
      </p:sp>
      <p:sp>
        <p:nvSpPr>
          <p:cNvPr id="157" name="Shape 155"/>
          <p:cNvSpPr/>
          <p:nvPr/>
        </p:nvSpPr>
        <p:spPr>
          <a:xfrm flipV="1">
            <a:off x="5193373" y="2401491"/>
            <a:ext cx="44066" cy="157159"/>
          </a:xfrm>
          <a:prstGeom prst="line">
            <a:avLst/>
          </a:prstGeom>
          <a:noFill/>
          <a:ln w="12700">
            <a:solidFill>
              <a:srgbClr val="6B7385"/>
            </a:solidFill>
            <a:prstDash val="solid"/>
            <a:tailEnd type="triangle"/>
          </a:ln>
        </p:spPr>
      </p:sp>
      <p:sp>
        <p:nvSpPr>
          <p:cNvPr id="158" name="Shape 156"/>
          <p:cNvSpPr/>
          <p:nvPr/>
        </p:nvSpPr>
        <p:spPr>
          <a:xfrm>
            <a:off x="4519772" y="2396772"/>
            <a:ext cx="149230" cy="149230"/>
          </a:xfrm>
          <a:prstGeom prst="ellipse">
            <a:avLst/>
          </a:prstGeom>
          <a:solidFill>
            <a:srgbClr val="E0884A"/>
          </a:solidFill>
          <a:ln w="9525">
            <a:solidFill>
              <a:srgbClr val="9A5320"/>
            </a:solidFill>
            <a:prstDash val="solid"/>
          </a:ln>
        </p:spPr>
      </p:sp>
      <p:sp>
        <p:nvSpPr>
          <p:cNvPr id="159" name="Shape 157"/>
          <p:cNvSpPr/>
          <p:nvPr/>
        </p:nvSpPr>
        <p:spPr>
          <a:xfrm>
            <a:off x="4616539" y="2553964"/>
            <a:ext cx="42290" cy="157647"/>
          </a:xfrm>
          <a:prstGeom prst="line">
            <a:avLst/>
          </a:prstGeom>
          <a:noFill/>
          <a:ln w="12700">
            <a:solidFill>
              <a:srgbClr val="6B7385"/>
            </a:solidFill>
            <a:prstDash val="solid"/>
            <a:tailEnd type="triangle"/>
          </a:ln>
        </p:spPr>
      </p:sp>
      <p:sp>
        <p:nvSpPr>
          <p:cNvPr id="160" name="Shape 158"/>
          <p:cNvSpPr/>
          <p:nvPr/>
        </p:nvSpPr>
        <p:spPr>
          <a:xfrm>
            <a:off x="5360151" y="1950316"/>
            <a:ext cx="149230" cy="149230"/>
          </a:xfrm>
          <a:prstGeom prst="ellipse">
            <a:avLst/>
          </a:prstGeom>
          <a:solidFill>
            <a:srgbClr val="E0884A"/>
          </a:solidFill>
          <a:ln w="9525">
            <a:solidFill>
              <a:srgbClr val="9A5320"/>
            </a:solidFill>
            <a:prstDash val="solid"/>
          </a:ln>
        </p:spPr>
      </p:sp>
      <p:sp>
        <p:nvSpPr>
          <p:cNvPr id="161" name="Shape 159"/>
          <p:cNvSpPr/>
          <p:nvPr/>
        </p:nvSpPr>
        <p:spPr>
          <a:xfrm flipH="1">
            <a:off x="5399537" y="2109566"/>
            <a:ext cx="23119" cy="161575"/>
          </a:xfrm>
          <a:prstGeom prst="line">
            <a:avLst/>
          </a:prstGeom>
          <a:noFill/>
          <a:ln w="12700">
            <a:solidFill>
              <a:srgbClr val="6B7385"/>
            </a:solidFill>
            <a:prstDash val="solid"/>
            <a:tailEnd type="triangle"/>
          </a:ln>
        </p:spPr>
      </p:sp>
      <p:sp>
        <p:nvSpPr>
          <p:cNvPr id="162" name="Shape 160"/>
          <p:cNvSpPr/>
          <p:nvPr/>
        </p:nvSpPr>
        <p:spPr>
          <a:xfrm>
            <a:off x="4561205" y="1711741"/>
            <a:ext cx="149230" cy="149230"/>
          </a:xfrm>
          <a:prstGeom prst="ellipse">
            <a:avLst/>
          </a:prstGeom>
          <a:solidFill>
            <a:srgbClr val="E0884A"/>
          </a:solidFill>
          <a:ln w="9525">
            <a:solidFill>
              <a:srgbClr val="9A5320"/>
            </a:solidFill>
            <a:prstDash val="solid"/>
          </a:ln>
        </p:spPr>
      </p:sp>
      <p:sp>
        <p:nvSpPr>
          <p:cNvPr id="163" name="Shape 161"/>
          <p:cNvSpPr/>
          <p:nvPr/>
        </p:nvSpPr>
        <p:spPr>
          <a:xfrm>
            <a:off x="4696932" y="1846147"/>
            <a:ext cx="116668" cy="114147"/>
          </a:xfrm>
          <a:prstGeom prst="line">
            <a:avLst/>
          </a:prstGeom>
          <a:noFill/>
          <a:ln w="12700">
            <a:solidFill>
              <a:srgbClr val="6B7385"/>
            </a:solidFill>
            <a:prstDash val="solid"/>
            <a:tailEnd type="triangle"/>
          </a:ln>
        </p:spPr>
      </p:sp>
      <p:sp>
        <p:nvSpPr>
          <p:cNvPr id="164" name="Text 162"/>
          <p:cNvSpPr/>
          <p:nvPr/>
        </p:nvSpPr>
        <p:spPr>
          <a:xfrm>
            <a:off x="4160520" y="3108960"/>
            <a:ext cx="1554480" cy="256032"/>
          </a:xfrm>
          <a:prstGeom prst="rect">
            <a:avLst/>
          </a:prstGeom>
          <a:noFill/>
          <a:ln/>
        </p:spPr>
        <p:txBody>
          <a:bodyPr wrap="square" lIns="0" tIns="0" rIns="0" bIns="0" rtlCol="0" anchor="ctr"/>
          <a:lstStyle/>
          <a:p>
            <a:pPr algn="ctr" indent="0" marL="0">
              <a:buNone/>
            </a:pPr>
            <a:r>
              <a:rPr lang="en-US" sz="1200" b="1" dirty="0">
                <a:solidFill>
                  <a:srgbClr val="262B3A"/>
                </a:solidFill>
                <a:latin typeface="Calibri" pitchFamily="34" charset="0"/>
                <a:ea typeface="Calibri" pitchFamily="34" charset="-122"/>
                <a:cs typeface="Calibri" pitchFamily="34" charset="-120"/>
              </a:rPr>
              <a:t>0.60 kg/m³</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3657600"/>
          <a:ext cx="5120640" cy="914400"/>
        </p:xfrm>
        <a:graphic>
          <a:graphicData uri="http://schemas.openxmlformats.org/drawingml/2006/table">
            <a:tbl>
              <a:tblPr/>
              <a:tblGrid>
                <a:gridCol w="731520"/>
                <a:gridCol w="2377440"/>
                <a:gridCol w="1005840"/>
                <a:gridCol w="1005840"/>
              </a:tblGrid>
              <a:tr h="27432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State</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Arrangement</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Spacing</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Density</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r>
              <a:tr h="274320">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solid</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regular, fixed positions, vibrate</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touching</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high</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274320">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liquid</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random, move past each other</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touching</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high</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274320">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gas</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random, fast, all directions</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far apart</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very low</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bl>
          </a:graphicData>
        </a:graphic>
      </p:graphicFrame>
      <p:sp>
        <p:nvSpPr>
          <p:cNvPr id="166" name="Shape 163"/>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167" name="Text 164"/>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Why the states have different densities</a:t>
            </a:r>
            <a:endParaRPr lang="en-US" sz="1300" dirty="0"/>
          </a:p>
        </p:txBody>
      </p:sp>
      <p:sp>
        <p:nvSpPr>
          <p:cNvPr id="168" name="Text 165"/>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In </a:t>
            </a:r>
            <a:r>
              <a:rPr lang="en-US" sz="1150" b="1" dirty="0">
                <a:solidFill>
                  <a:srgbClr val="262B3A"/>
                </a:solidFill>
                <a:latin typeface="Calibri" pitchFamily="34" charset="0"/>
                <a:ea typeface="Calibri" pitchFamily="34" charset="-122"/>
                <a:cs typeface="Calibri" pitchFamily="34" charset="-120"/>
              </a:rPr>
              <a:t>solids and liquids</a:t>
            </a:r>
            <a:r>
              <a:rPr lang="en-US" sz="1150" dirty="0">
                <a:solidFill>
                  <a:srgbClr val="262B3A"/>
                </a:solidFill>
                <a:latin typeface="Calibri" pitchFamily="34" charset="0"/>
                <a:ea typeface="Calibri" pitchFamily="34" charset="-122"/>
                <a:cs typeface="Calibri" pitchFamily="34" charset="-120"/>
              </a:rPr>
              <a:t> the particles are </a:t>
            </a:r>
            <a:r>
              <a:rPr lang="en-US" sz="1150" b="1" dirty="0">
                <a:solidFill>
                  <a:srgbClr val="262B3A"/>
                </a:solidFill>
                <a:latin typeface="Calibri" pitchFamily="34" charset="0"/>
                <a:ea typeface="Calibri" pitchFamily="34" charset="-122"/>
                <a:cs typeface="Calibri" pitchFamily="34" charset="-120"/>
              </a:rPr>
              <a:t>touching</a:t>
            </a:r>
            <a:r>
              <a:rPr lang="en-US" sz="1150" dirty="0">
                <a:solidFill>
                  <a:srgbClr val="262B3A"/>
                </a:solidFill>
                <a:latin typeface="Calibri" pitchFamily="34" charset="0"/>
                <a:ea typeface="Calibri" pitchFamily="34" charset="-122"/>
                <a:cs typeface="Calibri" pitchFamily="34" charset="-120"/>
              </a:rPr>
              <a:t>, so their densities are high and similar.</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In a </a:t>
            </a:r>
            <a:r>
              <a:rPr lang="en-US" sz="1150" b="1" dirty="0">
                <a:solidFill>
                  <a:srgbClr val="262B3A"/>
                </a:solidFill>
                <a:latin typeface="Calibri" pitchFamily="34" charset="0"/>
                <a:ea typeface="Calibri" pitchFamily="34" charset="-122"/>
                <a:cs typeface="Calibri" pitchFamily="34" charset="-120"/>
              </a:rPr>
              <a:t>gas</a:t>
            </a:r>
            <a:r>
              <a:rPr lang="en-US" sz="1150" dirty="0">
                <a:solidFill>
                  <a:srgbClr val="262B3A"/>
                </a:solidFill>
                <a:latin typeface="Calibri" pitchFamily="34" charset="0"/>
                <a:ea typeface="Calibri" pitchFamily="34" charset="-122"/>
                <a:cs typeface="Calibri" pitchFamily="34" charset="-120"/>
              </a:rPr>
              <a:t> the particles are </a:t>
            </a:r>
            <a:r>
              <a:rPr lang="en-US" sz="1150" b="1" dirty="0">
                <a:solidFill>
                  <a:srgbClr val="262B3A"/>
                </a:solidFill>
                <a:latin typeface="Calibri" pitchFamily="34" charset="0"/>
                <a:ea typeface="Calibri" pitchFamily="34" charset="-122"/>
                <a:cs typeface="Calibri" pitchFamily="34" charset="-120"/>
              </a:rPr>
              <a:t>far apart</a:t>
            </a:r>
            <a:r>
              <a:rPr lang="en-US" sz="1150" dirty="0">
                <a:solidFill>
                  <a:srgbClr val="262B3A"/>
                </a:solidFill>
                <a:latin typeface="Calibri" pitchFamily="34" charset="0"/>
                <a:ea typeface="Calibri" pitchFamily="34" charset="-122"/>
                <a:cs typeface="Calibri" pitchFamily="34" charset="-120"/>
              </a:rPr>
              <a:t>: about 1000 times less dense than the liquid.</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Most solids are a little denser than their liquid. </a:t>
            </a:r>
            <a:r>
              <a:rPr lang="en-US" sz="1150" b="1" dirty="0">
                <a:solidFill>
                  <a:srgbClr val="262B3A"/>
                </a:solidFill>
                <a:latin typeface="Calibri" pitchFamily="34" charset="0"/>
                <a:ea typeface="Calibri" pitchFamily="34" charset="-122"/>
                <a:cs typeface="Calibri" pitchFamily="34" charset="-120"/>
              </a:rPr>
              <a:t>Water is unusual</a:t>
            </a:r>
            <a:r>
              <a:rPr lang="en-US" sz="1150" dirty="0">
                <a:solidFill>
                  <a:srgbClr val="262B3A"/>
                </a:solidFill>
                <a:latin typeface="Calibri" pitchFamily="34" charset="0"/>
                <a:ea typeface="Calibri" pitchFamily="34" charset="-122"/>
                <a:cs typeface="Calibri" pitchFamily="34" charset="-120"/>
              </a:rPr>
              <a:t>: ice is less dense, so ice floats.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In a change of state the </a:t>
            </a:r>
            <a:r>
              <a:rPr lang="en-US" sz="1150" b="1" dirty="0">
                <a:solidFill>
                  <a:srgbClr val="262B3A"/>
                </a:solidFill>
                <a:latin typeface="Calibri" pitchFamily="34" charset="0"/>
                <a:ea typeface="Calibri" pitchFamily="34" charset="-122"/>
                <a:cs typeface="Calibri" pitchFamily="34" charset="-120"/>
              </a:rPr>
              <a:t>mass stays the same</a:t>
            </a:r>
            <a:r>
              <a:rPr lang="en-US" sz="1150" dirty="0">
                <a:solidFill>
                  <a:srgbClr val="262B3A"/>
                </a:solidFill>
                <a:latin typeface="Calibri" pitchFamily="34" charset="0"/>
                <a:ea typeface="Calibri" pitchFamily="34" charset="-122"/>
                <a:cs typeface="Calibri" pitchFamily="34" charset="-120"/>
              </a:rPr>
              <a:t> but the </a:t>
            </a:r>
            <a:r>
              <a:rPr lang="en-US" sz="1150" b="1" dirty="0">
                <a:solidFill>
                  <a:srgbClr val="262B3A"/>
                </a:solidFill>
                <a:latin typeface="Calibri" pitchFamily="34" charset="0"/>
                <a:ea typeface="Calibri" pitchFamily="34" charset="-122"/>
                <a:cs typeface="Calibri" pitchFamily="34" charset="-120"/>
              </a:rPr>
              <a:t>volume changes</a:t>
            </a:r>
            <a:r>
              <a:rPr lang="en-US" sz="1150" dirty="0">
                <a:solidFill>
                  <a:srgbClr val="262B3A"/>
                </a:solidFill>
                <a:latin typeface="Calibri" pitchFamily="34" charset="0"/>
                <a:ea typeface="Calibri" pitchFamily="34" charset="-122"/>
                <a:cs typeface="Calibri" pitchFamily="34" charset="-120"/>
              </a:rPr>
              <a:t>, so the density changes.</a:t>
            </a:r>
            <a:endParaRPr lang="en-US" sz="1150" dirty="0"/>
          </a:p>
        </p:txBody>
      </p:sp>
      <p:sp>
        <p:nvSpPr>
          <p:cNvPr id="169" name="Shape 166"/>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170" name="Text 167"/>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mass is conserved</a:t>
            </a:r>
            <a:endParaRPr lang="en-US" sz="1300" dirty="0"/>
          </a:p>
        </p:txBody>
      </p:sp>
      <p:sp>
        <p:nvSpPr>
          <p:cNvPr id="171" name="Text 168"/>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1.0 kg of ice (920 kg/m³) melts to water (1000 kg/m³). Find the volume before and after.</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Equation   </a:t>
            </a:r>
            <a:r>
              <a:rPr lang="en-US" sz="1100" dirty="0">
                <a:solidFill>
                  <a:srgbClr val="262B3A"/>
                </a:solidFill>
                <a:latin typeface="Calibri" pitchFamily="34" charset="0"/>
                <a:ea typeface="Calibri" pitchFamily="34" charset="-122"/>
                <a:cs typeface="Calibri" pitchFamily="34" charset="-120"/>
              </a:rPr>
              <a:t>V = m ÷ ρ</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Ice   </a:t>
            </a:r>
            <a:r>
              <a:rPr lang="en-US" sz="1100" dirty="0">
                <a:solidFill>
                  <a:srgbClr val="262B3A"/>
                </a:solidFill>
                <a:latin typeface="Calibri" pitchFamily="34" charset="0"/>
                <a:ea typeface="Calibri" pitchFamily="34" charset="-122"/>
                <a:cs typeface="Calibri" pitchFamily="34" charset="-120"/>
              </a:rPr>
              <a:t>V = 1.0 ÷ 920 = 0.00109 m³</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Water   </a:t>
            </a:r>
            <a:r>
              <a:rPr lang="en-US" sz="1100" dirty="0">
                <a:solidFill>
                  <a:srgbClr val="262B3A"/>
                </a:solidFill>
                <a:latin typeface="Calibri" pitchFamily="34" charset="0"/>
                <a:ea typeface="Calibri" pitchFamily="34" charset="-122"/>
                <a:cs typeface="Calibri" pitchFamily="34" charset="-120"/>
              </a:rPr>
              <a:t>V = 1.0 ÷ 1000 = 0.00100 m³</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same 1.0 kg; the volume gets smaller</a:t>
            </a:r>
            <a:endParaRPr lang="en-US" sz="1100" dirty="0"/>
          </a:p>
        </p:txBody>
      </p:sp>
      <p:sp>
        <p:nvSpPr>
          <p:cNvPr id="172" name="Shape 169"/>
          <p:cNvSpPr/>
          <p:nvPr/>
        </p:nvSpPr>
        <p:spPr>
          <a:xfrm>
            <a:off x="411480" y="5833872"/>
            <a:ext cx="11368735" cy="530352"/>
          </a:xfrm>
          <a:prstGeom prst="rect">
            <a:avLst/>
          </a:prstGeom>
          <a:solidFill>
            <a:srgbClr val="FFF4E0"/>
          </a:solidFill>
          <a:ln w="6350">
            <a:solidFill>
              <a:srgbClr val="F1D9A8"/>
            </a:solidFill>
            <a:prstDash val="solid"/>
          </a:ln>
        </p:spPr>
      </p:sp>
      <p:sp>
        <p:nvSpPr>
          <p:cNvPr id="173" name="Shape 170"/>
          <p:cNvSpPr/>
          <p:nvPr/>
        </p:nvSpPr>
        <p:spPr>
          <a:xfrm>
            <a:off x="411480" y="5833872"/>
            <a:ext cx="82296" cy="530352"/>
          </a:xfrm>
          <a:prstGeom prst="rect">
            <a:avLst/>
          </a:prstGeom>
          <a:solidFill>
            <a:srgbClr val="E39A2F"/>
          </a:solidFill>
          <a:ln w="12700">
            <a:solidFill>
              <a:srgbClr val="E39A2F"/>
            </a:solidFill>
            <a:prstDash val="solid"/>
          </a:ln>
        </p:spPr>
      </p:sp>
      <p:sp>
        <p:nvSpPr>
          <p:cNvPr id="174" name="Text 171"/>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1.0 kg of water boils to make steam of density 0.60 kg/m³. Calculate the volume of the steam. Compare it with the water.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2</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P6.1.3–P6.1.4 • density</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P6.1 How does energy transform matter?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2  |  10</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Use the particle model to explain why a gas has a much lower density than a solid.</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metal block has a volume of </a:t>
            </a:r>
            <a:r>
              <a:rPr lang="en-US" sz="1250" b="1" dirty="0">
                <a:solidFill>
                  <a:srgbClr val="262B3A"/>
                </a:solidFill>
                <a:latin typeface="Calibri" pitchFamily="34" charset="0"/>
                <a:ea typeface="Calibri" pitchFamily="34" charset="-122"/>
                <a:cs typeface="Calibri" pitchFamily="34" charset="-120"/>
              </a:rPr>
              <a:t>30 cm³</a:t>
            </a:r>
            <a:r>
              <a:rPr lang="en-US" sz="1250" dirty="0">
                <a:solidFill>
                  <a:srgbClr val="262B3A"/>
                </a:solidFill>
                <a:latin typeface="Calibri" pitchFamily="34" charset="0"/>
                <a:ea typeface="Calibri" pitchFamily="34" charset="-122"/>
                <a:cs typeface="Calibri" pitchFamily="34" charset="-120"/>
              </a:rPr>
              <a:t> and a mass of </a:t>
            </a:r>
            <a:r>
              <a:rPr lang="en-US" sz="1250" b="1" dirty="0">
                <a:solidFill>
                  <a:srgbClr val="262B3A"/>
                </a:solidFill>
                <a:latin typeface="Calibri" pitchFamily="34" charset="0"/>
                <a:ea typeface="Calibri" pitchFamily="34" charset="-122"/>
                <a:cs typeface="Calibri" pitchFamily="34" charset="-120"/>
              </a:rPr>
              <a:t>81 g</a:t>
            </a:r>
            <a:r>
              <a:rPr lang="en-US" sz="1250" dirty="0">
                <a:solidFill>
                  <a:srgbClr val="262B3A"/>
                </a:solidFill>
                <a:latin typeface="Calibri" pitchFamily="34" charset="0"/>
                <a:ea typeface="Calibri" pitchFamily="34" charset="-122"/>
                <a:cs typeface="Calibri" pitchFamily="34" charset="-120"/>
              </a:rPr>
              <a:t>. Calculate its density in g/cm³.</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a:t>
            </a:r>
            <a:r>
              <a:rPr lang="en-US" sz="1250" b="1" dirty="0">
                <a:solidFill>
                  <a:srgbClr val="262B3A"/>
                </a:solidFill>
                <a:latin typeface="Calibri" pitchFamily="34" charset="0"/>
                <a:ea typeface="Calibri" pitchFamily="34" charset="-122"/>
                <a:cs typeface="Calibri" pitchFamily="34" charset="-120"/>
              </a:rPr>
              <a:t>1.0 kg</a:t>
            </a:r>
            <a:r>
              <a:rPr lang="en-US" sz="1250" dirty="0">
                <a:solidFill>
                  <a:srgbClr val="262B3A"/>
                </a:solidFill>
                <a:latin typeface="Calibri" pitchFamily="34" charset="0"/>
                <a:ea typeface="Calibri" pitchFamily="34" charset="-122"/>
                <a:cs typeface="Calibri" pitchFamily="34" charset="-120"/>
              </a:rPr>
              <a:t> block of ice (density 920 kg/m³) melts. Water has a density of 1000 kg/m³. Calculate the </a:t>
            </a:r>
            <a:r>
              <a:rPr lang="en-US" sz="1250" b="1" dirty="0">
                <a:solidFill>
                  <a:srgbClr val="262B3A"/>
                </a:solidFill>
                <a:latin typeface="Calibri" pitchFamily="34" charset="0"/>
                <a:ea typeface="Calibri" pitchFamily="34" charset="-122"/>
                <a:cs typeface="Calibri" pitchFamily="34" charset="-120"/>
              </a:rPr>
              <a:t>change in volume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2" name="Text 20"/>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PAG P1: measuring density</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P6.1.4 • regular objects with a ruler; irregular objects by displacement</a:t>
            </a:r>
            <a:endParaRPr lang="en-US" sz="1100" dirty="0"/>
          </a:p>
        </p:txBody>
      </p:sp>
      <p:sp>
        <p:nvSpPr>
          <p:cNvPr id="6" name="Shape 4"/>
          <p:cNvSpPr/>
          <p:nvPr/>
        </p:nvSpPr>
        <p:spPr>
          <a:xfrm>
            <a:off x="11012119" y="292608"/>
            <a:ext cx="768096"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1012119" y="292608"/>
            <a:ext cx="76809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PAG P1</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P6.1 How does energy transform matter?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PAG P1  |  11</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ruler and balance • B: displacement can and measuring cylinder</a:t>
            </a:r>
            <a:endParaRPr lang="en-US" sz="1000" dirty="0"/>
          </a:p>
        </p:txBody>
      </p:sp>
      <p:sp>
        <p:nvSpPr>
          <p:cNvPr id="12" name="Text 10"/>
          <p:cNvSpPr/>
          <p:nvPr/>
        </p:nvSpPr>
        <p:spPr>
          <a:xfrm>
            <a:off x="640080" y="1298448"/>
            <a:ext cx="2377440" cy="256032"/>
          </a:xfrm>
          <a:prstGeom prst="rect">
            <a:avLst/>
          </a:prstGeom>
          <a:noFill/>
          <a:ln/>
        </p:spPr>
        <p:txBody>
          <a:bodyPr wrap="square" lIns="0" tIns="0" rIns="0" bIns="0" rtlCol="0" anchor="ctr"/>
          <a:lstStyle/>
          <a:p>
            <a:pPr algn="l" indent="0" marL="0">
              <a:buNone/>
            </a:pPr>
            <a:r>
              <a:rPr lang="en-US" sz="1150" b="1" dirty="0">
                <a:solidFill>
                  <a:srgbClr val="2E5BD8"/>
                </a:solidFill>
                <a:latin typeface="Calibri" pitchFamily="34" charset="0"/>
                <a:ea typeface="Calibri" pitchFamily="34" charset="-122"/>
                <a:cs typeface="Calibri" pitchFamily="34" charset="-120"/>
              </a:rPr>
              <a:t>A  Regular block</a:t>
            </a:r>
            <a:endParaRPr lang="en-US" sz="1150" dirty="0"/>
          </a:p>
        </p:txBody>
      </p:sp>
      <p:sp>
        <p:nvSpPr>
          <p:cNvPr id="13" name="Shape 11"/>
          <p:cNvSpPr/>
          <p:nvPr/>
        </p:nvSpPr>
        <p:spPr>
          <a:xfrm>
            <a:off x="868680" y="1874520"/>
            <a:ext cx="1463040" cy="731520"/>
          </a:xfrm>
          <a:prstGeom prst="rect">
            <a:avLst/>
          </a:prstGeom>
          <a:solidFill>
            <a:srgbClr val="C2C8D2"/>
          </a:solidFill>
          <a:ln w="12700">
            <a:solidFill>
              <a:srgbClr val="6B7385"/>
            </a:solidFill>
            <a:prstDash val="solid"/>
          </a:ln>
        </p:spPr>
      </p:sp>
      <p:sp>
        <p:nvSpPr>
          <p:cNvPr id="14" name="Shape 12"/>
          <p:cNvSpPr/>
          <p:nvPr/>
        </p:nvSpPr>
        <p:spPr>
          <a:xfrm>
            <a:off x="868680" y="1645920"/>
            <a:ext cx="1463040" cy="164592"/>
          </a:xfrm>
          <a:prstGeom prst="rect">
            <a:avLst/>
          </a:prstGeom>
          <a:solidFill>
            <a:srgbClr val="F6E7B8"/>
          </a:solidFill>
          <a:ln w="9525">
            <a:solidFill>
              <a:srgbClr val="B79B4A"/>
            </a:solidFill>
            <a:prstDash val="solid"/>
          </a:ln>
        </p:spPr>
      </p:sp>
      <p:sp>
        <p:nvSpPr>
          <p:cNvPr id="15" name="Shape 13"/>
          <p:cNvSpPr/>
          <p:nvPr/>
        </p:nvSpPr>
        <p:spPr>
          <a:xfrm flipV="1">
            <a:off x="868680" y="1709928"/>
            <a:ext cx="91" cy="100584"/>
          </a:xfrm>
          <a:prstGeom prst="line">
            <a:avLst/>
          </a:prstGeom>
          <a:noFill/>
          <a:ln w="7620">
            <a:solidFill>
              <a:srgbClr val="6B5A2A"/>
            </a:solidFill>
            <a:prstDash val="solid"/>
          </a:ln>
        </p:spPr>
      </p:sp>
      <p:sp>
        <p:nvSpPr>
          <p:cNvPr id="16" name="Shape 14"/>
          <p:cNvSpPr/>
          <p:nvPr/>
        </p:nvSpPr>
        <p:spPr>
          <a:xfrm flipV="1">
            <a:off x="960120" y="1755648"/>
            <a:ext cx="91" cy="54864"/>
          </a:xfrm>
          <a:prstGeom prst="line">
            <a:avLst/>
          </a:prstGeom>
          <a:noFill/>
          <a:ln w="7620">
            <a:solidFill>
              <a:srgbClr val="6B5A2A"/>
            </a:solidFill>
            <a:prstDash val="solid"/>
          </a:ln>
        </p:spPr>
      </p:sp>
      <p:sp>
        <p:nvSpPr>
          <p:cNvPr id="17" name="Shape 15"/>
          <p:cNvSpPr/>
          <p:nvPr/>
        </p:nvSpPr>
        <p:spPr>
          <a:xfrm flipV="1">
            <a:off x="1051560" y="1755648"/>
            <a:ext cx="91" cy="54864"/>
          </a:xfrm>
          <a:prstGeom prst="line">
            <a:avLst/>
          </a:prstGeom>
          <a:noFill/>
          <a:ln w="7620">
            <a:solidFill>
              <a:srgbClr val="6B5A2A"/>
            </a:solidFill>
            <a:prstDash val="solid"/>
          </a:ln>
        </p:spPr>
      </p:sp>
      <p:sp>
        <p:nvSpPr>
          <p:cNvPr id="18" name="Shape 16"/>
          <p:cNvSpPr/>
          <p:nvPr/>
        </p:nvSpPr>
        <p:spPr>
          <a:xfrm flipV="1">
            <a:off x="1143000" y="1755648"/>
            <a:ext cx="91" cy="54864"/>
          </a:xfrm>
          <a:prstGeom prst="line">
            <a:avLst/>
          </a:prstGeom>
          <a:noFill/>
          <a:ln w="7620">
            <a:solidFill>
              <a:srgbClr val="6B5A2A"/>
            </a:solidFill>
            <a:prstDash val="solid"/>
          </a:ln>
        </p:spPr>
      </p:sp>
      <p:sp>
        <p:nvSpPr>
          <p:cNvPr id="19" name="Shape 17"/>
          <p:cNvSpPr/>
          <p:nvPr/>
        </p:nvSpPr>
        <p:spPr>
          <a:xfrm flipV="1">
            <a:off x="1234440" y="1755648"/>
            <a:ext cx="91" cy="54864"/>
          </a:xfrm>
          <a:prstGeom prst="line">
            <a:avLst/>
          </a:prstGeom>
          <a:noFill/>
          <a:ln w="7620">
            <a:solidFill>
              <a:srgbClr val="6B5A2A"/>
            </a:solidFill>
            <a:prstDash val="solid"/>
          </a:ln>
        </p:spPr>
      </p:sp>
      <p:sp>
        <p:nvSpPr>
          <p:cNvPr id="20" name="Shape 18"/>
          <p:cNvSpPr/>
          <p:nvPr/>
        </p:nvSpPr>
        <p:spPr>
          <a:xfrm flipV="1">
            <a:off x="1325880" y="1709928"/>
            <a:ext cx="91" cy="100584"/>
          </a:xfrm>
          <a:prstGeom prst="line">
            <a:avLst/>
          </a:prstGeom>
          <a:noFill/>
          <a:ln w="7620">
            <a:solidFill>
              <a:srgbClr val="6B5A2A"/>
            </a:solidFill>
            <a:prstDash val="solid"/>
          </a:ln>
        </p:spPr>
      </p:sp>
      <p:sp>
        <p:nvSpPr>
          <p:cNvPr id="21" name="Shape 19"/>
          <p:cNvSpPr/>
          <p:nvPr/>
        </p:nvSpPr>
        <p:spPr>
          <a:xfrm flipV="1">
            <a:off x="1417320" y="1755648"/>
            <a:ext cx="91" cy="54864"/>
          </a:xfrm>
          <a:prstGeom prst="line">
            <a:avLst/>
          </a:prstGeom>
          <a:noFill/>
          <a:ln w="7620">
            <a:solidFill>
              <a:srgbClr val="6B5A2A"/>
            </a:solidFill>
            <a:prstDash val="solid"/>
          </a:ln>
        </p:spPr>
      </p:sp>
      <p:sp>
        <p:nvSpPr>
          <p:cNvPr id="22" name="Shape 20"/>
          <p:cNvSpPr/>
          <p:nvPr/>
        </p:nvSpPr>
        <p:spPr>
          <a:xfrm flipV="1">
            <a:off x="1508760" y="1755648"/>
            <a:ext cx="91" cy="54864"/>
          </a:xfrm>
          <a:prstGeom prst="line">
            <a:avLst/>
          </a:prstGeom>
          <a:noFill/>
          <a:ln w="7620">
            <a:solidFill>
              <a:srgbClr val="6B5A2A"/>
            </a:solidFill>
            <a:prstDash val="solid"/>
          </a:ln>
        </p:spPr>
      </p:sp>
      <p:sp>
        <p:nvSpPr>
          <p:cNvPr id="23" name="Shape 21"/>
          <p:cNvSpPr/>
          <p:nvPr/>
        </p:nvSpPr>
        <p:spPr>
          <a:xfrm flipV="1">
            <a:off x="1600200" y="1755648"/>
            <a:ext cx="91" cy="54864"/>
          </a:xfrm>
          <a:prstGeom prst="line">
            <a:avLst/>
          </a:prstGeom>
          <a:noFill/>
          <a:ln w="7620">
            <a:solidFill>
              <a:srgbClr val="6B5A2A"/>
            </a:solidFill>
            <a:prstDash val="solid"/>
          </a:ln>
        </p:spPr>
      </p:sp>
      <p:sp>
        <p:nvSpPr>
          <p:cNvPr id="24" name="Shape 22"/>
          <p:cNvSpPr/>
          <p:nvPr/>
        </p:nvSpPr>
        <p:spPr>
          <a:xfrm flipV="1">
            <a:off x="1691640" y="1755648"/>
            <a:ext cx="91" cy="54864"/>
          </a:xfrm>
          <a:prstGeom prst="line">
            <a:avLst/>
          </a:prstGeom>
          <a:noFill/>
          <a:ln w="7620">
            <a:solidFill>
              <a:srgbClr val="6B5A2A"/>
            </a:solidFill>
            <a:prstDash val="solid"/>
          </a:ln>
        </p:spPr>
      </p:sp>
      <p:sp>
        <p:nvSpPr>
          <p:cNvPr id="25" name="Shape 23"/>
          <p:cNvSpPr/>
          <p:nvPr/>
        </p:nvSpPr>
        <p:spPr>
          <a:xfrm flipV="1">
            <a:off x="1783080" y="1709928"/>
            <a:ext cx="91" cy="100584"/>
          </a:xfrm>
          <a:prstGeom prst="line">
            <a:avLst/>
          </a:prstGeom>
          <a:noFill/>
          <a:ln w="7620">
            <a:solidFill>
              <a:srgbClr val="6B5A2A"/>
            </a:solidFill>
            <a:prstDash val="solid"/>
          </a:ln>
        </p:spPr>
      </p:sp>
      <p:sp>
        <p:nvSpPr>
          <p:cNvPr id="26" name="Shape 24"/>
          <p:cNvSpPr/>
          <p:nvPr/>
        </p:nvSpPr>
        <p:spPr>
          <a:xfrm flipV="1">
            <a:off x="1874520" y="1755648"/>
            <a:ext cx="91" cy="54864"/>
          </a:xfrm>
          <a:prstGeom prst="line">
            <a:avLst/>
          </a:prstGeom>
          <a:noFill/>
          <a:ln w="7620">
            <a:solidFill>
              <a:srgbClr val="6B5A2A"/>
            </a:solidFill>
            <a:prstDash val="solid"/>
          </a:ln>
        </p:spPr>
      </p:sp>
      <p:sp>
        <p:nvSpPr>
          <p:cNvPr id="27" name="Shape 25"/>
          <p:cNvSpPr/>
          <p:nvPr/>
        </p:nvSpPr>
        <p:spPr>
          <a:xfrm flipV="1">
            <a:off x="1965960" y="1755648"/>
            <a:ext cx="91" cy="54864"/>
          </a:xfrm>
          <a:prstGeom prst="line">
            <a:avLst/>
          </a:prstGeom>
          <a:noFill/>
          <a:ln w="7620">
            <a:solidFill>
              <a:srgbClr val="6B5A2A"/>
            </a:solidFill>
            <a:prstDash val="solid"/>
          </a:ln>
        </p:spPr>
      </p:sp>
      <p:sp>
        <p:nvSpPr>
          <p:cNvPr id="28" name="Shape 26"/>
          <p:cNvSpPr/>
          <p:nvPr/>
        </p:nvSpPr>
        <p:spPr>
          <a:xfrm flipV="1">
            <a:off x="2057400" y="1755648"/>
            <a:ext cx="91" cy="54864"/>
          </a:xfrm>
          <a:prstGeom prst="line">
            <a:avLst/>
          </a:prstGeom>
          <a:noFill/>
          <a:ln w="7620">
            <a:solidFill>
              <a:srgbClr val="6B5A2A"/>
            </a:solidFill>
            <a:prstDash val="solid"/>
          </a:ln>
        </p:spPr>
      </p:sp>
      <p:sp>
        <p:nvSpPr>
          <p:cNvPr id="29" name="Shape 27"/>
          <p:cNvSpPr/>
          <p:nvPr/>
        </p:nvSpPr>
        <p:spPr>
          <a:xfrm flipV="1">
            <a:off x="2148840" y="1755648"/>
            <a:ext cx="91" cy="54864"/>
          </a:xfrm>
          <a:prstGeom prst="line">
            <a:avLst/>
          </a:prstGeom>
          <a:noFill/>
          <a:ln w="7620">
            <a:solidFill>
              <a:srgbClr val="6B5A2A"/>
            </a:solidFill>
            <a:prstDash val="solid"/>
          </a:ln>
        </p:spPr>
      </p:sp>
      <p:sp>
        <p:nvSpPr>
          <p:cNvPr id="30" name="Shape 28"/>
          <p:cNvSpPr/>
          <p:nvPr/>
        </p:nvSpPr>
        <p:spPr>
          <a:xfrm flipV="1">
            <a:off x="2240280" y="1709928"/>
            <a:ext cx="91" cy="100584"/>
          </a:xfrm>
          <a:prstGeom prst="line">
            <a:avLst/>
          </a:prstGeom>
          <a:noFill/>
          <a:ln w="7620">
            <a:solidFill>
              <a:srgbClr val="6B5A2A"/>
            </a:solidFill>
            <a:prstDash val="solid"/>
          </a:ln>
        </p:spPr>
      </p:sp>
      <p:sp>
        <p:nvSpPr>
          <p:cNvPr id="31" name="Shape 29"/>
          <p:cNvSpPr/>
          <p:nvPr/>
        </p:nvSpPr>
        <p:spPr>
          <a:xfrm flipV="1">
            <a:off x="2331720" y="1755648"/>
            <a:ext cx="91" cy="54864"/>
          </a:xfrm>
          <a:prstGeom prst="line">
            <a:avLst/>
          </a:prstGeom>
          <a:noFill/>
          <a:ln w="7620">
            <a:solidFill>
              <a:srgbClr val="6B5A2A"/>
            </a:solidFill>
            <a:prstDash val="solid"/>
          </a:ln>
        </p:spPr>
      </p:sp>
      <p:sp>
        <p:nvSpPr>
          <p:cNvPr id="32" name="Text 30"/>
          <p:cNvSpPr/>
          <p:nvPr/>
        </p:nvSpPr>
        <p:spPr>
          <a:xfrm>
            <a:off x="868680" y="1874520"/>
            <a:ext cx="1463040" cy="73152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measure l, w, h</a:t>
            </a:r>
            <a:endParaRPr lang="en-US" sz="1050" dirty="0"/>
          </a:p>
        </p:txBody>
      </p:sp>
      <p:sp>
        <p:nvSpPr>
          <p:cNvPr id="33" name="Shape 31"/>
          <p:cNvSpPr/>
          <p:nvPr/>
        </p:nvSpPr>
        <p:spPr>
          <a:xfrm>
            <a:off x="3474720" y="2075688"/>
            <a:ext cx="1463040" cy="64008"/>
          </a:xfrm>
          <a:prstGeom prst="rect">
            <a:avLst/>
          </a:prstGeom>
          <a:solidFill>
            <a:srgbClr val="B7BECC"/>
          </a:solidFill>
          <a:ln w="9525">
            <a:solidFill>
              <a:srgbClr val="6B7385"/>
            </a:solidFill>
            <a:prstDash val="solid"/>
          </a:ln>
        </p:spPr>
      </p:sp>
      <p:sp>
        <p:nvSpPr>
          <p:cNvPr id="34" name="Shape 32"/>
          <p:cNvSpPr/>
          <p:nvPr/>
        </p:nvSpPr>
        <p:spPr>
          <a:xfrm>
            <a:off x="4114800" y="2139696"/>
            <a:ext cx="182880" cy="54864"/>
          </a:xfrm>
          <a:prstGeom prst="rect">
            <a:avLst/>
          </a:prstGeom>
          <a:solidFill>
            <a:srgbClr val="6B7385"/>
          </a:solidFill>
          <a:ln/>
        </p:spPr>
      </p:sp>
      <p:sp>
        <p:nvSpPr>
          <p:cNvPr id="35" name="Shape 33"/>
          <p:cNvSpPr/>
          <p:nvPr/>
        </p:nvSpPr>
        <p:spPr>
          <a:xfrm>
            <a:off x="3291840" y="2194560"/>
            <a:ext cx="1828800" cy="411480"/>
          </a:xfrm>
          <a:prstGeom prst="roundRect">
            <a:avLst>
              <a:gd name="adj" fmla="val 11111"/>
            </a:avLst>
          </a:prstGeom>
          <a:solidFill>
            <a:srgbClr val="4A5262"/>
          </a:solidFill>
          <a:ln w="12700">
            <a:solidFill>
              <a:srgbClr val="2E3442"/>
            </a:solidFill>
            <a:prstDash val="solid"/>
          </a:ln>
        </p:spPr>
      </p:sp>
      <p:sp>
        <p:nvSpPr>
          <p:cNvPr id="36" name="Shape 34"/>
          <p:cNvSpPr/>
          <p:nvPr/>
        </p:nvSpPr>
        <p:spPr>
          <a:xfrm>
            <a:off x="3657600" y="2258568"/>
            <a:ext cx="1097280" cy="274320"/>
          </a:xfrm>
          <a:prstGeom prst="rect">
            <a:avLst/>
          </a:prstGeom>
          <a:solidFill>
            <a:srgbClr val="1E2A1E"/>
          </a:solidFill>
          <a:ln w="12700">
            <a:solidFill>
              <a:srgbClr val="0F150F"/>
            </a:solidFill>
            <a:prstDash val="solid"/>
          </a:ln>
        </p:spPr>
      </p:sp>
      <p:sp>
        <p:nvSpPr>
          <p:cNvPr id="37" name="Text 35"/>
          <p:cNvSpPr/>
          <p:nvPr/>
        </p:nvSpPr>
        <p:spPr>
          <a:xfrm>
            <a:off x="3657600" y="2258568"/>
            <a:ext cx="1097280" cy="274320"/>
          </a:xfrm>
          <a:prstGeom prst="rect">
            <a:avLst/>
          </a:prstGeom>
          <a:noFill/>
          <a:ln/>
        </p:spPr>
        <p:txBody>
          <a:bodyPr wrap="square" lIns="0" tIns="0" rIns="0" bIns="0" rtlCol="0" anchor="ctr"/>
          <a:lstStyle/>
          <a:p>
            <a:pPr algn="ctr" indent="0" marL="0">
              <a:buNone/>
            </a:pPr>
            <a:r>
              <a:rPr lang="en-US" sz="1100" b="1" dirty="0">
                <a:solidFill>
                  <a:srgbClr val="7CFC8A"/>
                </a:solidFill>
                <a:latin typeface="Calibri" pitchFamily="34" charset="0"/>
                <a:ea typeface="Calibri" pitchFamily="34" charset="-122"/>
                <a:cs typeface="Calibri" pitchFamily="34" charset="-120"/>
              </a:rPr>
              <a:t>54.0 g</a:t>
            </a:r>
            <a:endParaRPr lang="en-US" sz="1100" dirty="0"/>
          </a:p>
        </p:txBody>
      </p:sp>
      <p:sp>
        <p:nvSpPr>
          <p:cNvPr id="38" name="Shape 36"/>
          <p:cNvSpPr/>
          <p:nvPr/>
        </p:nvSpPr>
        <p:spPr>
          <a:xfrm>
            <a:off x="3794760" y="1709928"/>
            <a:ext cx="822960" cy="365760"/>
          </a:xfrm>
          <a:prstGeom prst="rect">
            <a:avLst/>
          </a:prstGeom>
          <a:solidFill>
            <a:srgbClr val="C2C8D2"/>
          </a:solidFill>
          <a:ln w="12700">
            <a:solidFill>
              <a:srgbClr val="6B7385"/>
            </a:solidFill>
            <a:prstDash val="solid"/>
          </a:ln>
        </p:spPr>
      </p:sp>
      <p:sp>
        <p:nvSpPr>
          <p:cNvPr id="39" name="Text 37"/>
          <p:cNvSpPr/>
          <p:nvPr/>
        </p:nvSpPr>
        <p:spPr>
          <a:xfrm>
            <a:off x="3017520" y="1298448"/>
            <a:ext cx="25603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mass on a balance (zeroed)</a:t>
            </a:r>
            <a:endParaRPr lang="en-US" sz="1050" dirty="0"/>
          </a:p>
        </p:txBody>
      </p:sp>
      <p:sp>
        <p:nvSpPr>
          <p:cNvPr id="40" name="Text 38"/>
          <p:cNvSpPr/>
          <p:nvPr/>
        </p:nvSpPr>
        <p:spPr>
          <a:xfrm>
            <a:off x="640080" y="2852928"/>
            <a:ext cx="3200400" cy="256032"/>
          </a:xfrm>
          <a:prstGeom prst="rect">
            <a:avLst/>
          </a:prstGeom>
          <a:noFill/>
          <a:ln/>
        </p:spPr>
        <p:txBody>
          <a:bodyPr wrap="square" lIns="0" tIns="0" rIns="0" bIns="0" rtlCol="0" anchor="ctr"/>
          <a:lstStyle/>
          <a:p>
            <a:pPr algn="l" indent="0" marL="0">
              <a:buNone/>
            </a:pPr>
            <a:r>
              <a:rPr lang="en-US" sz="1150" b="1" dirty="0">
                <a:solidFill>
                  <a:srgbClr val="2E5BD8"/>
                </a:solidFill>
                <a:latin typeface="Calibri" pitchFamily="34" charset="0"/>
                <a:ea typeface="Calibri" pitchFamily="34" charset="-122"/>
                <a:cs typeface="Calibri" pitchFamily="34" charset="-120"/>
              </a:rPr>
              <a:t>B  Irregular stone (displacement)</a:t>
            </a:r>
            <a:endParaRPr lang="en-US" sz="1150" dirty="0"/>
          </a:p>
        </p:txBody>
      </p:sp>
      <p:sp>
        <p:nvSpPr>
          <p:cNvPr id="41" name="Shape 39"/>
          <p:cNvSpPr/>
          <p:nvPr/>
        </p:nvSpPr>
        <p:spPr>
          <a:xfrm>
            <a:off x="914400" y="3557016"/>
            <a:ext cx="1371600" cy="1563624"/>
          </a:xfrm>
          <a:prstGeom prst="rect">
            <a:avLst/>
          </a:prstGeom>
          <a:solidFill>
            <a:srgbClr val="BFD9F2"/>
          </a:solidFill>
          <a:ln/>
        </p:spPr>
      </p:sp>
      <p:sp>
        <p:nvSpPr>
          <p:cNvPr id="42" name="Shape 40"/>
          <p:cNvSpPr/>
          <p:nvPr/>
        </p:nvSpPr>
        <p:spPr>
          <a:xfrm>
            <a:off x="914400" y="3246120"/>
            <a:ext cx="91" cy="1874520"/>
          </a:xfrm>
          <a:prstGeom prst="line">
            <a:avLst/>
          </a:prstGeom>
          <a:noFill/>
          <a:ln w="25400">
            <a:solidFill>
              <a:srgbClr val="1A2340"/>
            </a:solidFill>
            <a:prstDash val="solid"/>
          </a:ln>
        </p:spPr>
      </p:sp>
      <p:sp>
        <p:nvSpPr>
          <p:cNvPr id="43" name="Shape 41"/>
          <p:cNvSpPr/>
          <p:nvPr/>
        </p:nvSpPr>
        <p:spPr>
          <a:xfrm>
            <a:off x="2286000" y="3246120"/>
            <a:ext cx="91" cy="274320"/>
          </a:xfrm>
          <a:prstGeom prst="line">
            <a:avLst/>
          </a:prstGeom>
          <a:noFill/>
          <a:ln w="25400">
            <a:solidFill>
              <a:srgbClr val="1A2340"/>
            </a:solidFill>
            <a:prstDash val="solid"/>
          </a:ln>
        </p:spPr>
      </p:sp>
      <p:sp>
        <p:nvSpPr>
          <p:cNvPr id="44" name="Shape 42"/>
          <p:cNvSpPr/>
          <p:nvPr/>
        </p:nvSpPr>
        <p:spPr>
          <a:xfrm>
            <a:off x="2286000" y="3630168"/>
            <a:ext cx="91" cy="1490472"/>
          </a:xfrm>
          <a:prstGeom prst="line">
            <a:avLst/>
          </a:prstGeom>
          <a:noFill/>
          <a:ln w="25400">
            <a:solidFill>
              <a:srgbClr val="1A2340"/>
            </a:solidFill>
            <a:prstDash val="solid"/>
          </a:ln>
        </p:spPr>
      </p:sp>
      <p:sp>
        <p:nvSpPr>
          <p:cNvPr id="45" name="Shape 43"/>
          <p:cNvSpPr/>
          <p:nvPr/>
        </p:nvSpPr>
        <p:spPr>
          <a:xfrm>
            <a:off x="914400" y="5120640"/>
            <a:ext cx="1371600" cy="91"/>
          </a:xfrm>
          <a:prstGeom prst="line">
            <a:avLst/>
          </a:prstGeom>
          <a:noFill/>
          <a:ln w="25400">
            <a:solidFill>
              <a:srgbClr val="1A2340"/>
            </a:solidFill>
            <a:prstDash val="solid"/>
          </a:ln>
        </p:spPr>
      </p:sp>
      <p:sp>
        <p:nvSpPr>
          <p:cNvPr id="46" name="Shape 44"/>
          <p:cNvSpPr/>
          <p:nvPr/>
        </p:nvSpPr>
        <p:spPr>
          <a:xfrm>
            <a:off x="2286000" y="3520440"/>
            <a:ext cx="457200" cy="274320"/>
          </a:xfrm>
          <a:prstGeom prst="line">
            <a:avLst/>
          </a:prstGeom>
          <a:noFill/>
          <a:ln w="25400">
            <a:solidFill>
              <a:srgbClr val="1A2340"/>
            </a:solidFill>
            <a:prstDash val="solid"/>
          </a:ln>
        </p:spPr>
      </p:sp>
      <p:sp>
        <p:nvSpPr>
          <p:cNvPr id="47" name="Shape 45"/>
          <p:cNvSpPr/>
          <p:nvPr/>
        </p:nvSpPr>
        <p:spPr>
          <a:xfrm>
            <a:off x="2286000" y="3630168"/>
            <a:ext cx="420624" cy="237744"/>
          </a:xfrm>
          <a:prstGeom prst="line">
            <a:avLst/>
          </a:prstGeom>
          <a:noFill/>
          <a:ln w="25400">
            <a:solidFill>
              <a:srgbClr val="1A2340"/>
            </a:solidFill>
            <a:prstDash val="solid"/>
          </a:ln>
        </p:spPr>
      </p:sp>
      <p:sp>
        <p:nvSpPr>
          <p:cNvPr id="48" name="Shape 46"/>
          <p:cNvSpPr/>
          <p:nvPr/>
        </p:nvSpPr>
        <p:spPr>
          <a:xfrm>
            <a:off x="914400" y="3557016"/>
            <a:ext cx="1371600" cy="91"/>
          </a:xfrm>
          <a:prstGeom prst="line">
            <a:avLst/>
          </a:prstGeom>
          <a:noFill/>
          <a:ln w="15875">
            <a:solidFill>
              <a:srgbClr val="5B9BD5"/>
            </a:solidFill>
            <a:prstDash val="solid"/>
          </a:ln>
        </p:spPr>
      </p:sp>
      <p:sp>
        <p:nvSpPr>
          <p:cNvPr id="49" name="Shape 47"/>
          <p:cNvSpPr/>
          <p:nvPr/>
        </p:nvSpPr>
        <p:spPr>
          <a:xfrm>
            <a:off x="1600200" y="3063240"/>
            <a:ext cx="91" cy="1097280"/>
          </a:xfrm>
          <a:prstGeom prst="line">
            <a:avLst/>
          </a:prstGeom>
          <a:noFill/>
          <a:ln w="12700">
            <a:solidFill>
              <a:srgbClr val="1A2340"/>
            </a:solidFill>
            <a:prstDash val="solid"/>
          </a:ln>
        </p:spPr>
      </p:sp>
      <p:sp>
        <p:nvSpPr>
          <p:cNvPr id="50" name="Shape 48"/>
          <p:cNvSpPr/>
          <p:nvPr/>
        </p:nvSpPr>
        <p:spPr>
          <a:xfrm rot="-720000">
            <a:off x="1325880" y="4160520"/>
            <a:ext cx="548640" cy="384048"/>
          </a:xfrm>
          <a:prstGeom prst="ellipse">
            <a:avLst/>
          </a:prstGeom>
          <a:solidFill>
            <a:srgbClr val="8C8A85"/>
          </a:solidFill>
          <a:ln w="12700">
            <a:solidFill>
              <a:srgbClr val="5A5650"/>
            </a:solidFill>
            <a:prstDash val="solid"/>
          </a:ln>
        </p:spPr>
      </p:sp>
      <p:sp>
        <p:nvSpPr>
          <p:cNvPr id="51" name="Text 49"/>
          <p:cNvSpPr/>
          <p:nvPr/>
        </p:nvSpPr>
        <p:spPr>
          <a:xfrm>
            <a:off x="548640" y="3054096"/>
            <a:ext cx="1005840" cy="201168"/>
          </a:xfrm>
          <a:prstGeom prst="rect">
            <a:avLst/>
          </a:prstGeom>
          <a:noFill/>
          <a:ln/>
        </p:spPr>
        <p:txBody>
          <a:bodyPr wrap="square" lIns="0" tIns="0" rIns="0" bIns="0" rtlCol="0" anchor="ctr"/>
          <a:lstStyle/>
          <a:p>
            <a:pPr algn="r" indent="0" marL="0">
              <a:buNone/>
            </a:pPr>
            <a:r>
              <a:rPr lang="en-US" sz="1000" i="1" dirty="0">
                <a:solidFill>
                  <a:srgbClr val="262B3A"/>
                </a:solidFill>
                <a:latin typeface="Calibri" pitchFamily="34" charset="0"/>
                <a:ea typeface="Calibri" pitchFamily="34" charset="-122"/>
                <a:cs typeface="Calibri" pitchFamily="34" charset="-120"/>
              </a:rPr>
              <a:t>thread</a:t>
            </a:r>
            <a:endParaRPr lang="en-US" sz="1000" dirty="0"/>
          </a:p>
        </p:txBody>
      </p:sp>
      <p:sp>
        <p:nvSpPr>
          <p:cNvPr id="52" name="Shape 50"/>
          <p:cNvSpPr/>
          <p:nvPr/>
        </p:nvSpPr>
        <p:spPr>
          <a:xfrm>
            <a:off x="2697480" y="3959352"/>
            <a:ext cx="54864" cy="54864"/>
          </a:xfrm>
          <a:prstGeom prst="ellipse">
            <a:avLst/>
          </a:prstGeom>
          <a:solidFill>
            <a:srgbClr val="5B9BD5"/>
          </a:solidFill>
          <a:ln w="9525">
            <a:solidFill>
              <a:srgbClr val="5B9BD5"/>
            </a:solidFill>
            <a:prstDash val="solid"/>
          </a:ln>
        </p:spPr>
      </p:sp>
      <p:sp>
        <p:nvSpPr>
          <p:cNvPr id="53" name="Shape 51"/>
          <p:cNvSpPr/>
          <p:nvPr/>
        </p:nvSpPr>
        <p:spPr>
          <a:xfrm>
            <a:off x="2697480" y="4114800"/>
            <a:ext cx="54864" cy="54864"/>
          </a:xfrm>
          <a:prstGeom prst="ellipse">
            <a:avLst/>
          </a:prstGeom>
          <a:solidFill>
            <a:srgbClr val="5B9BD5"/>
          </a:solidFill>
          <a:ln w="9525">
            <a:solidFill>
              <a:srgbClr val="5B9BD5"/>
            </a:solidFill>
            <a:prstDash val="solid"/>
          </a:ln>
        </p:spPr>
      </p:sp>
      <p:sp>
        <p:nvSpPr>
          <p:cNvPr id="54" name="Shape 52"/>
          <p:cNvSpPr/>
          <p:nvPr/>
        </p:nvSpPr>
        <p:spPr>
          <a:xfrm>
            <a:off x="2523744" y="4769510"/>
            <a:ext cx="402336" cy="378562"/>
          </a:xfrm>
          <a:prstGeom prst="rect">
            <a:avLst/>
          </a:prstGeom>
          <a:solidFill>
            <a:srgbClr val="BFD9F2"/>
          </a:solidFill>
          <a:ln/>
        </p:spPr>
      </p:sp>
      <p:sp>
        <p:nvSpPr>
          <p:cNvPr id="55" name="Shape 53"/>
          <p:cNvSpPr/>
          <p:nvPr/>
        </p:nvSpPr>
        <p:spPr>
          <a:xfrm>
            <a:off x="2523744" y="3886200"/>
            <a:ext cx="91" cy="1261872"/>
          </a:xfrm>
          <a:prstGeom prst="line">
            <a:avLst/>
          </a:prstGeom>
          <a:noFill/>
          <a:ln w="19050">
            <a:solidFill>
              <a:srgbClr val="1A2340"/>
            </a:solidFill>
            <a:prstDash val="solid"/>
          </a:ln>
        </p:spPr>
      </p:sp>
      <p:sp>
        <p:nvSpPr>
          <p:cNvPr id="56" name="Shape 54"/>
          <p:cNvSpPr/>
          <p:nvPr/>
        </p:nvSpPr>
        <p:spPr>
          <a:xfrm>
            <a:off x="2926080" y="3886200"/>
            <a:ext cx="91" cy="1261872"/>
          </a:xfrm>
          <a:prstGeom prst="line">
            <a:avLst/>
          </a:prstGeom>
          <a:noFill/>
          <a:ln w="19050">
            <a:solidFill>
              <a:srgbClr val="1A2340"/>
            </a:solidFill>
            <a:prstDash val="solid"/>
          </a:ln>
        </p:spPr>
      </p:sp>
      <p:sp>
        <p:nvSpPr>
          <p:cNvPr id="57" name="Shape 55"/>
          <p:cNvSpPr/>
          <p:nvPr/>
        </p:nvSpPr>
        <p:spPr>
          <a:xfrm>
            <a:off x="2487168" y="3886200"/>
            <a:ext cx="36576" cy="45720"/>
          </a:xfrm>
          <a:prstGeom prst="line">
            <a:avLst/>
          </a:prstGeom>
          <a:noFill/>
          <a:ln w="19050">
            <a:solidFill>
              <a:srgbClr val="1A2340"/>
            </a:solidFill>
            <a:prstDash val="solid"/>
          </a:ln>
        </p:spPr>
      </p:sp>
      <p:sp>
        <p:nvSpPr>
          <p:cNvPr id="58" name="Shape 56"/>
          <p:cNvSpPr/>
          <p:nvPr/>
        </p:nvSpPr>
        <p:spPr>
          <a:xfrm>
            <a:off x="2386584" y="5148072"/>
            <a:ext cx="676656" cy="64008"/>
          </a:xfrm>
          <a:prstGeom prst="rect">
            <a:avLst/>
          </a:prstGeom>
          <a:solidFill>
            <a:srgbClr val="6B7385"/>
          </a:solidFill>
          <a:ln w="12700">
            <a:solidFill>
              <a:srgbClr val="4A5262"/>
            </a:solidFill>
            <a:prstDash val="solid"/>
          </a:ln>
        </p:spPr>
      </p:sp>
      <p:sp>
        <p:nvSpPr>
          <p:cNvPr id="59" name="Shape 57"/>
          <p:cNvSpPr/>
          <p:nvPr/>
        </p:nvSpPr>
        <p:spPr>
          <a:xfrm>
            <a:off x="2862072" y="5021885"/>
            <a:ext cx="64008" cy="91"/>
          </a:xfrm>
          <a:prstGeom prst="line">
            <a:avLst/>
          </a:prstGeom>
          <a:noFill/>
          <a:ln w="9525">
            <a:solidFill>
              <a:srgbClr val="1A2340"/>
            </a:solidFill>
            <a:prstDash val="solid"/>
          </a:ln>
        </p:spPr>
      </p:sp>
      <p:sp>
        <p:nvSpPr>
          <p:cNvPr id="60" name="Shape 58"/>
          <p:cNvSpPr/>
          <p:nvPr/>
        </p:nvSpPr>
        <p:spPr>
          <a:xfrm>
            <a:off x="2862072" y="4895698"/>
            <a:ext cx="64008" cy="91"/>
          </a:xfrm>
          <a:prstGeom prst="line">
            <a:avLst/>
          </a:prstGeom>
          <a:noFill/>
          <a:ln w="9525">
            <a:solidFill>
              <a:srgbClr val="1A2340"/>
            </a:solidFill>
            <a:prstDash val="solid"/>
          </a:ln>
        </p:spPr>
      </p:sp>
      <p:sp>
        <p:nvSpPr>
          <p:cNvPr id="61" name="Shape 59"/>
          <p:cNvSpPr/>
          <p:nvPr/>
        </p:nvSpPr>
        <p:spPr>
          <a:xfrm>
            <a:off x="2862072" y="4769510"/>
            <a:ext cx="64008" cy="91"/>
          </a:xfrm>
          <a:prstGeom prst="line">
            <a:avLst/>
          </a:prstGeom>
          <a:noFill/>
          <a:ln w="9525">
            <a:solidFill>
              <a:srgbClr val="1A2340"/>
            </a:solidFill>
            <a:prstDash val="solid"/>
          </a:ln>
        </p:spPr>
      </p:sp>
      <p:sp>
        <p:nvSpPr>
          <p:cNvPr id="62" name="Shape 60"/>
          <p:cNvSpPr/>
          <p:nvPr/>
        </p:nvSpPr>
        <p:spPr>
          <a:xfrm>
            <a:off x="2862072" y="4643323"/>
            <a:ext cx="64008" cy="91"/>
          </a:xfrm>
          <a:prstGeom prst="line">
            <a:avLst/>
          </a:prstGeom>
          <a:noFill/>
          <a:ln w="9525">
            <a:solidFill>
              <a:srgbClr val="1A2340"/>
            </a:solidFill>
            <a:prstDash val="solid"/>
          </a:ln>
        </p:spPr>
      </p:sp>
      <p:sp>
        <p:nvSpPr>
          <p:cNvPr id="63" name="Shape 61"/>
          <p:cNvSpPr/>
          <p:nvPr/>
        </p:nvSpPr>
        <p:spPr>
          <a:xfrm>
            <a:off x="2798064" y="4517136"/>
            <a:ext cx="128016" cy="91"/>
          </a:xfrm>
          <a:prstGeom prst="line">
            <a:avLst/>
          </a:prstGeom>
          <a:noFill/>
          <a:ln w="9525">
            <a:solidFill>
              <a:srgbClr val="1A2340"/>
            </a:solidFill>
            <a:prstDash val="solid"/>
          </a:ln>
        </p:spPr>
      </p:sp>
      <p:sp>
        <p:nvSpPr>
          <p:cNvPr id="64" name="Shape 62"/>
          <p:cNvSpPr/>
          <p:nvPr/>
        </p:nvSpPr>
        <p:spPr>
          <a:xfrm>
            <a:off x="2862072" y="4390949"/>
            <a:ext cx="64008" cy="91"/>
          </a:xfrm>
          <a:prstGeom prst="line">
            <a:avLst/>
          </a:prstGeom>
          <a:noFill/>
          <a:ln w="9525">
            <a:solidFill>
              <a:srgbClr val="1A2340"/>
            </a:solidFill>
            <a:prstDash val="solid"/>
          </a:ln>
        </p:spPr>
      </p:sp>
      <p:sp>
        <p:nvSpPr>
          <p:cNvPr id="65" name="Shape 63"/>
          <p:cNvSpPr/>
          <p:nvPr/>
        </p:nvSpPr>
        <p:spPr>
          <a:xfrm>
            <a:off x="2862072" y="4264762"/>
            <a:ext cx="64008" cy="91"/>
          </a:xfrm>
          <a:prstGeom prst="line">
            <a:avLst/>
          </a:prstGeom>
          <a:noFill/>
          <a:ln w="9525">
            <a:solidFill>
              <a:srgbClr val="1A2340"/>
            </a:solidFill>
            <a:prstDash val="solid"/>
          </a:ln>
        </p:spPr>
      </p:sp>
      <p:sp>
        <p:nvSpPr>
          <p:cNvPr id="66" name="Shape 64"/>
          <p:cNvSpPr/>
          <p:nvPr/>
        </p:nvSpPr>
        <p:spPr>
          <a:xfrm>
            <a:off x="2862072" y="4138574"/>
            <a:ext cx="64008" cy="91"/>
          </a:xfrm>
          <a:prstGeom prst="line">
            <a:avLst/>
          </a:prstGeom>
          <a:noFill/>
          <a:ln w="9525">
            <a:solidFill>
              <a:srgbClr val="1A2340"/>
            </a:solidFill>
            <a:prstDash val="solid"/>
          </a:ln>
        </p:spPr>
      </p:sp>
      <p:sp>
        <p:nvSpPr>
          <p:cNvPr id="67" name="Shape 65"/>
          <p:cNvSpPr/>
          <p:nvPr/>
        </p:nvSpPr>
        <p:spPr>
          <a:xfrm>
            <a:off x="2862072" y="4012387"/>
            <a:ext cx="64008" cy="91"/>
          </a:xfrm>
          <a:prstGeom prst="line">
            <a:avLst/>
          </a:prstGeom>
          <a:noFill/>
          <a:ln w="9525">
            <a:solidFill>
              <a:srgbClr val="1A2340"/>
            </a:solidFill>
            <a:prstDash val="solid"/>
          </a:ln>
        </p:spPr>
      </p:sp>
      <p:sp>
        <p:nvSpPr>
          <p:cNvPr id="68" name="Shape 66"/>
          <p:cNvSpPr/>
          <p:nvPr/>
        </p:nvSpPr>
        <p:spPr>
          <a:xfrm>
            <a:off x="2532888" y="4723790"/>
            <a:ext cx="384048" cy="91440"/>
          </a:xfrm>
          <a:prstGeom prst="arc">
            <a:avLst>
              <a:gd name="adj1" fmla="val 0"/>
              <a:gd name="adj2" fmla="val 10800000"/>
            </a:avLst>
          </a:prstGeom>
          <a:noFill/>
          <a:ln w="15875">
            <a:solidFill>
              <a:srgbClr val="5B9BD5"/>
            </a:solidFill>
            <a:prstDash val="solid"/>
          </a:ln>
        </p:spPr>
      </p:sp>
      <p:sp>
        <p:nvSpPr>
          <p:cNvPr id="69" name="Text 67"/>
          <p:cNvSpPr/>
          <p:nvPr/>
        </p:nvSpPr>
        <p:spPr>
          <a:xfrm>
            <a:off x="868680" y="5138928"/>
            <a:ext cx="1463040" cy="2011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displacement can</a:t>
            </a:r>
            <a:endParaRPr lang="en-US" sz="1000" dirty="0"/>
          </a:p>
        </p:txBody>
      </p:sp>
      <p:sp>
        <p:nvSpPr>
          <p:cNvPr id="70" name="Text 68"/>
          <p:cNvSpPr/>
          <p:nvPr/>
        </p:nvSpPr>
        <p:spPr>
          <a:xfrm>
            <a:off x="2999232" y="4206240"/>
            <a:ext cx="1828800" cy="777240"/>
          </a:xfrm>
          <a:prstGeom prst="rect">
            <a:avLst/>
          </a:prstGeom>
          <a:noFill/>
          <a:ln/>
        </p:spPr>
        <p:txBody>
          <a:bodyPr wrap="square" lIns="0" tIns="0" rIns="0" bIns="0" rtlCol="0" anchor="t"/>
          <a:lstStyle/>
          <a:p>
            <a:pPr algn="l" indent="0" marL="0">
              <a:buNone/>
            </a:pPr>
            <a:r>
              <a:rPr lang="en-US" sz="1000" b="1" dirty="0">
                <a:solidFill>
                  <a:srgbClr val="262B3A"/>
                </a:solidFill>
                <a:latin typeface="Calibri" pitchFamily="34" charset="0"/>
                <a:ea typeface="Calibri" pitchFamily="34" charset="-122"/>
                <a:cs typeface="Calibri" pitchFamily="34" charset="-120"/>
              </a:rPr>
              <a:t>measuring cylinder: volume of water pushed out = volume of stone</a:t>
            </a:r>
            <a:endParaRPr lang="en-US" sz="1000" dirty="0"/>
          </a:p>
        </p:txBody>
      </p:sp>
      <p:sp>
        <p:nvSpPr>
          <p:cNvPr id="71" name="Shape 69"/>
          <p:cNvSpPr/>
          <p:nvPr/>
        </p:nvSpPr>
        <p:spPr>
          <a:xfrm>
            <a:off x="6217920" y="1188720"/>
            <a:ext cx="5562295" cy="2514600"/>
          </a:xfrm>
          <a:prstGeom prst="roundRect">
            <a:avLst>
              <a:gd name="adj" fmla="val 2182"/>
            </a:avLst>
          </a:prstGeom>
          <a:solidFill>
            <a:srgbClr val="F5F8FE"/>
          </a:solidFill>
          <a:ln w="9525">
            <a:solidFill>
              <a:srgbClr val="D5DCEB"/>
            </a:solidFill>
            <a:prstDash val="solid"/>
          </a:ln>
        </p:spPr>
      </p:sp>
      <p:sp>
        <p:nvSpPr>
          <p:cNvPr id="72" name="Text 70"/>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Method</a:t>
            </a:r>
            <a:endParaRPr lang="en-US" sz="1300" dirty="0"/>
          </a:p>
        </p:txBody>
      </p:sp>
      <p:sp>
        <p:nvSpPr>
          <p:cNvPr id="73" name="Text 71"/>
          <p:cNvSpPr/>
          <p:nvPr/>
        </p:nvSpPr>
        <p:spPr>
          <a:xfrm>
            <a:off x="6382512" y="1609344"/>
            <a:ext cx="5233111" cy="202082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Mass:</a:t>
            </a:r>
            <a:r>
              <a:rPr lang="en-US" sz="1100" dirty="0">
                <a:solidFill>
                  <a:srgbClr val="262B3A"/>
                </a:solidFill>
                <a:latin typeface="Calibri" pitchFamily="34" charset="0"/>
                <a:ea typeface="Calibri" pitchFamily="34" charset="-122"/>
                <a:cs typeface="Calibri" pitchFamily="34" charset="-120"/>
              </a:rPr>
              <a:t> zero the balance, then measure the mass of the object in g.</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Regular block:</a:t>
            </a:r>
            <a:r>
              <a:rPr lang="en-US" sz="1100" dirty="0">
                <a:solidFill>
                  <a:srgbClr val="262B3A"/>
                </a:solidFill>
                <a:latin typeface="Calibri" pitchFamily="34" charset="0"/>
                <a:ea typeface="Calibri" pitchFamily="34" charset="-122"/>
                <a:cs typeface="Calibri" pitchFamily="34" charset="-120"/>
              </a:rPr>
              <a:t> measure length, width and height with a ruler (mm scale). </a:t>
            </a:r>
            <a:r>
              <a:rPr lang="en-US" sz="1100" b="1" dirty="0">
                <a:solidFill>
                  <a:srgbClr val="262B3A"/>
                </a:solidFill>
                <a:latin typeface="Calibri" pitchFamily="34" charset="0"/>
                <a:ea typeface="Calibri" pitchFamily="34" charset="-122"/>
                <a:cs typeface="Calibri" pitchFamily="34" charset="-120"/>
              </a:rPr>
              <a:t>V = l × w × h</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Irregular object:</a:t>
            </a:r>
            <a:r>
              <a:rPr lang="en-US" sz="1100" dirty="0">
                <a:solidFill>
                  <a:srgbClr val="262B3A"/>
                </a:solidFill>
                <a:latin typeface="Calibri" pitchFamily="34" charset="0"/>
                <a:ea typeface="Calibri" pitchFamily="34" charset="-122"/>
                <a:cs typeface="Calibri" pitchFamily="34" charset="-120"/>
              </a:rPr>
              <a:t> fill a displacement can until water drips from the spout. Wait for the dripping to stop.</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Lower the object in on a thread. Collect the water pushed out in a measuring cylinder: its volume = the object's volume.</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Read at </a:t>
            </a:r>
            <a:r>
              <a:rPr lang="en-US" sz="1100" b="1" dirty="0">
                <a:solidFill>
                  <a:srgbClr val="262B3A"/>
                </a:solidFill>
                <a:latin typeface="Calibri" pitchFamily="34" charset="0"/>
                <a:ea typeface="Calibri" pitchFamily="34" charset="-122"/>
                <a:cs typeface="Calibri" pitchFamily="34" charset="-120"/>
              </a:rPr>
              <a:t>eye level</a:t>
            </a:r>
            <a:r>
              <a:rPr lang="en-US" sz="1100" dirty="0">
                <a:solidFill>
                  <a:srgbClr val="262B3A"/>
                </a:solidFill>
                <a:latin typeface="Calibri" pitchFamily="34" charset="0"/>
                <a:ea typeface="Calibri" pitchFamily="34" charset="-122"/>
                <a:cs typeface="Calibri" pitchFamily="34" charset="-120"/>
              </a:rPr>
              <a:t>, from the </a:t>
            </a:r>
            <a:r>
              <a:rPr lang="en-US" sz="1100" b="1" dirty="0">
                <a:solidFill>
                  <a:srgbClr val="262B3A"/>
                </a:solidFill>
                <a:latin typeface="Calibri" pitchFamily="34" charset="0"/>
                <a:ea typeface="Calibri" pitchFamily="34" charset="-122"/>
                <a:cs typeface="Calibri" pitchFamily="34" charset="-120"/>
              </a:rPr>
              <a:t>bottom of the meniscus</a:t>
            </a:r>
            <a:r>
              <a:rPr lang="en-US" sz="1100" dirty="0">
                <a:solidFill>
                  <a:srgbClr val="262B3A"/>
                </a:solidFill>
                <a:latin typeface="Calibri" pitchFamily="34" charset="0"/>
                <a:ea typeface="Calibri" pitchFamily="34" charset="-122"/>
                <a:cs typeface="Calibri" pitchFamily="34" charset="-120"/>
              </a:rPr>
              <a:t>. Calculate </a:t>
            </a:r>
            <a:r>
              <a:rPr lang="en-US" sz="1100" b="1" dirty="0">
                <a:solidFill>
                  <a:srgbClr val="262B3A"/>
                </a:solidFill>
                <a:latin typeface="Calibri" pitchFamily="34" charset="0"/>
                <a:ea typeface="Calibri" pitchFamily="34" charset="-122"/>
                <a:cs typeface="Calibri" pitchFamily="34" charset="-120"/>
              </a:rPr>
              <a:t>ρ = m ÷ V</a:t>
            </a:r>
            <a:r>
              <a:rPr lang="en-US" sz="1100" dirty="0">
                <a:solidFill>
                  <a:srgbClr val="262B3A"/>
                </a:solidFill>
                <a:latin typeface="Calibri" pitchFamily="34" charset="0"/>
                <a:ea typeface="Calibri" pitchFamily="34" charset="-122"/>
                <a:cs typeface="Calibri" pitchFamily="34" charset="-120"/>
              </a:rPr>
              <a:t>; repeat and average.</a:t>
            </a:r>
            <a:endParaRPr lang="en-US" sz="1100" dirty="0"/>
          </a:p>
        </p:txBody>
      </p:sp>
      <p:sp>
        <p:nvSpPr>
          <p:cNvPr id="74" name="Shape 72"/>
          <p:cNvSpPr/>
          <p:nvPr/>
        </p:nvSpPr>
        <p:spPr>
          <a:xfrm>
            <a:off x="6217920" y="3840480"/>
            <a:ext cx="5562295" cy="1874520"/>
          </a:xfrm>
          <a:prstGeom prst="roundRect">
            <a:avLst>
              <a:gd name="adj" fmla="val 2927"/>
            </a:avLst>
          </a:prstGeom>
          <a:solidFill>
            <a:srgbClr val="FFF4E0"/>
          </a:solidFill>
          <a:ln w="9525">
            <a:solidFill>
              <a:srgbClr val="F1D9A8"/>
            </a:solidFill>
            <a:prstDash val="solid"/>
          </a:ln>
        </p:spPr>
      </p:sp>
      <p:sp>
        <p:nvSpPr>
          <p:cNvPr id="75" name="Text 73"/>
          <p:cNvSpPr/>
          <p:nvPr/>
        </p:nvSpPr>
        <p:spPr>
          <a:xfrm>
            <a:off x="6382512" y="39136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Variables and safety</a:t>
            </a:r>
            <a:endParaRPr lang="en-US" sz="1300" dirty="0"/>
          </a:p>
        </p:txBody>
      </p:sp>
      <p:sp>
        <p:nvSpPr>
          <p:cNvPr id="76" name="Text 74"/>
          <p:cNvSpPr/>
          <p:nvPr/>
        </p:nvSpPr>
        <p:spPr>
          <a:xfrm>
            <a:off x="6382512" y="4224528"/>
            <a:ext cx="5233111" cy="1417320"/>
          </a:xfrm>
          <a:prstGeom prst="rect">
            <a:avLst/>
          </a:prstGeom>
          <a:noFill/>
          <a:ln/>
        </p:spPr>
        <p:txBody>
          <a:bodyPr wrap="square" lIns="0" tIns="0" rIns="0" bIns="0" rtlCol="0" anchor="t"/>
          <a:lstStyle/>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Independent   </a:t>
            </a:r>
            <a:r>
              <a:rPr lang="en-US" sz="1050" dirty="0">
                <a:solidFill>
                  <a:srgbClr val="262B3A"/>
                </a:solidFill>
                <a:latin typeface="Calibri" pitchFamily="34" charset="0"/>
                <a:ea typeface="Calibri" pitchFamily="34" charset="-122"/>
                <a:cs typeface="Calibri" pitchFamily="34" charset="-120"/>
              </a:rPr>
              <a:t>the object / material tested</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Dependent   </a:t>
            </a:r>
            <a:r>
              <a:rPr lang="en-US" sz="1050" dirty="0">
                <a:solidFill>
                  <a:srgbClr val="262B3A"/>
                </a:solidFill>
                <a:latin typeface="Calibri" pitchFamily="34" charset="0"/>
                <a:ea typeface="Calibri" pitchFamily="34" charset="-122"/>
                <a:cs typeface="Calibri" pitchFamily="34" charset="-120"/>
              </a:rPr>
              <a:t>density (calculated from m and V)</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Control   </a:t>
            </a:r>
            <a:r>
              <a:rPr lang="en-US" sz="1050" dirty="0">
                <a:solidFill>
                  <a:srgbClr val="262B3A"/>
                </a:solidFill>
                <a:latin typeface="Calibri" pitchFamily="34" charset="0"/>
                <a:ea typeface="Calibri" pitchFamily="34" charset="-122"/>
                <a:cs typeface="Calibri" pitchFamily="34" charset="-120"/>
              </a:rPr>
              <a:t>zeroed balance; can filled to the spout each time</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Safety   </a:t>
            </a:r>
            <a:r>
              <a:rPr lang="en-US" sz="1050" b="1" dirty="0">
                <a:solidFill>
                  <a:srgbClr val="C8414C"/>
                </a:solidFill>
                <a:latin typeface="Calibri" pitchFamily="34" charset="0"/>
                <a:ea typeface="Calibri" pitchFamily="34" charset="-122"/>
                <a:cs typeface="Calibri" pitchFamily="34" charset="-120"/>
              </a:rPr>
              <a:t>wipe up spills (slip risk); lower objects gently so glass does not break</a:t>
            </a:r>
            <a:endParaRPr lang="en-US" sz="1050" dirty="0"/>
          </a:p>
        </p:txBody>
      </p:sp>
      <p:sp>
        <p:nvSpPr>
          <p:cNvPr id="77" name="Shape 75"/>
          <p:cNvSpPr/>
          <p:nvPr/>
        </p:nvSpPr>
        <p:spPr>
          <a:xfrm>
            <a:off x="411480" y="5833872"/>
            <a:ext cx="11368735" cy="530352"/>
          </a:xfrm>
          <a:prstGeom prst="rect">
            <a:avLst/>
          </a:prstGeom>
          <a:solidFill>
            <a:srgbClr val="FFF4E0"/>
          </a:solidFill>
          <a:ln w="6350">
            <a:solidFill>
              <a:srgbClr val="F1D9A8"/>
            </a:solidFill>
            <a:prstDash val="solid"/>
          </a:ln>
        </p:spPr>
      </p:sp>
      <p:sp>
        <p:nvSpPr>
          <p:cNvPr id="78" name="Shape 76"/>
          <p:cNvSpPr/>
          <p:nvPr/>
        </p:nvSpPr>
        <p:spPr>
          <a:xfrm>
            <a:off x="411480" y="5833872"/>
            <a:ext cx="82296" cy="530352"/>
          </a:xfrm>
          <a:prstGeom prst="rect">
            <a:avLst/>
          </a:prstGeom>
          <a:solidFill>
            <a:srgbClr val="E39A2F"/>
          </a:solidFill>
          <a:ln w="12700">
            <a:solidFill>
              <a:srgbClr val="E39A2F"/>
            </a:solidFill>
            <a:prstDash val="solid"/>
          </a:ln>
        </p:spPr>
      </p:sp>
      <p:sp>
        <p:nvSpPr>
          <p:cNvPr id="79" name="Text 77"/>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must the displacement can be filled until water drips out of the spout before the stone is added?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PAG P1: results and evaluation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P6.1.4 • sample class results</a:t>
            </a:r>
            <a:endParaRPr lang="en-US" sz="1100" dirty="0"/>
          </a:p>
        </p:txBody>
      </p:sp>
      <p:sp>
        <p:nvSpPr>
          <p:cNvPr id="6" name="Shape 4"/>
          <p:cNvSpPr/>
          <p:nvPr/>
        </p:nvSpPr>
        <p:spPr>
          <a:xfrm>
            <a:off x="11012119" y="292608"/>
            <a:ext cx="768096"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1012119" y="292608"/>
            <a:ext cx="76809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PAG P1</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P6.1 How does energy transform matter?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PAG P1  |  12</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five aluminium samples plotted to scale; gradient = density</a:t>
            </a:r>
            <a:endParaRPr lang="en-US" sz="1000" dirty="0"/>
          </a:p>
        </p:txBody>
      </p:sp>
      <p:sp>
        <p:nvSpPr>
          <p:cNvPr id="12" name="Shape 10"/>
          <p:cNvSpPr/>
          <p:nvPr/>
        </p:nvSpPr>
        <p:spPr>
          <a:xfrm>
            <a:off x="1325880" y="1417320"/>
            <a:ext cx="4389120" cy="3291840"/>
          </a:xfrm>
          <a:prstGeom prst="rect">
            <a:avLst/>
          </a:prstGeom>
          <a:solidFill>
            <a:srgbClr val="FFFFFF"/>
          </a:solidFill>
          <a:ln/>
        </p:spPr>
      </p:sp>
      <p:sp>
        <p:nvSpPr>
          <p:cNvPr id="13" name="Shape 11"/>
          <p:cNvSpPr/>
          <p:nvPr/>
        </p:nvSpPr>
        <p:spPr>
          <a:xfrm>
            <a:off x="1325880" y="1417320"/>
            <a:ext cx="91" cy="3291840"/>
          </a:xfrm>
          <a:prstGeom prst="line">
            <a:avLst/>
          </a:prstGeom>
          <a:noFill/>
          <a:ln w="6350">
            <a:solidFill>
              <a:srgbClr val="C9D3E6"/>
            </a:solidFill>
            <a:prstDash val="solid"/>
          </a:ln>
        </p:spPr>
      </p:sp>
      <p:sp>
        <p:nvSpPr>
          <p:cNvPr id="14" name="Shape 12"/>
          <p:cNvSpPr/>
          <p:nvPr/>
        </p:nvSpPr>
        <p:spPr>
          <a:xfrm>
            <a:off x="1691640" y="1417320"/>
            <a:ext cx="91" cy="3291840"/>
          </a:xfrm>
          <a:prstGeom prst="line">
            <a:avLst/>
          </a:prstGeom>
          <a:noFill/>
          <a:ln w="6350">
            <a:solidFill>
              <a:srgbClr val="E6EBF4"/>
            </a:solidFill>
            <a:prstDash val="solid"/>
          </a:ln>
        </p:spPr>
      </p:sp>
      <p:sp>
        <p:nvSpPr>
          <p:cNvPr id="15" name="Shape 13"/>
          <p:cNvSpPr/>
          <p:nvPr/>
        </p:nvSpPr>
        <p:spPr>
          <a:xfrm>
            <a:off x="2057400" y="1417320"/>
            <a:ext cx="91" cy="3291840"/>
          </a:xfrm>
          <a:prstGeom prst="line">
            <a:avLst/>
          </a:prstGeom>
          <a:noFill/>
          <a:ln w="6350">
            <a:solidFill>
              <a:srgbClr val="C9D3E6"/>
            </a:solidFill>
            <a:prstDash val="solid"/>
          </a:ln>
        </p:spPr>
      </p:sp>
      <p:sp>
        <p:nvSpPr>
          <p:cNvPr id="16" name="Shape 14"/>
          <p:cNvSpPr/>
          <p:nvPr/>
        </p:nvSpPr>
        <p:spPr>
          <a:xfrm>
            <a:off x="2423160" y="1417320"/>
            <a:ext cx="91" cy="3291840"/>
          </a:xfrm>
          <a:prstGeom prst="line">
            <a:avLst/>
          </a:prstGeom>
          <a:noFill/>
          <a:ln w="6350">
            <a:solidFill>
              <a:srgbClr val="E6EBF4"/>
            </a:solidFill>
            <a:prstDash val="solid"/>
          </a:ln>
        </p:spPr>
      </p:sp>
      <p:sp>
        <p:nvSpPr>
          <p:cNvPr id="17" name="Shape 15"/>
          <p:cNvSpPr/>
          <p:nvPr/>
        </p:nvSpPr>
        <p:spPr>
          <a:xfrm>
            <a:off x="2788920" y="1417320"/>
            <a:ext cx="91" cy="3291840"/>
          </a:xfrm>
          <a:prstGeom prst="line">
            <a:avLst/>
          </a:prstGeom>
          <a:noFill/>
          <a:ln w="6350">
            <a:solidFill>
              <a:srgbClr val="C9D3E6"/>
            </a:solidFill>
            <a:prstDash val="solid"/>
          </a:ln>
        </p:spPr>
      </p:sp>
      <p:sp>
        <p:nvSpPr>
          <p:cNvPr id="18" name="Shape 16"/>
          <p:cNvSpPr/>
          <p:nvPr/>
        </p:nvSpPr>
        <p:spPr>
          <a:xfrm>
            <a:off x="3154680" y="1417320"/>
            <a:ext cx="91" cy="3291840"/>
          </a:xfrm>
          <a:prstGeom prst="line">
            <a:avLst/>
          </a:prstGeom>
          <a:noFill/>
          <a:ln w="6350">
            <a:solidFill>
              <a:srgbClr val="E6EBF4"/>
            </a:solidFill>
            <a:prstDash val="solid"/>
          </a:ln>
        </p:spPr>
      </p:sp>
      <p:sp>
        <p:nvSpPr>
          <p:cNvPr id="19" name="Shape 17"/>
          <p:cNvSpPr/>
          <p:nvPr/>
        </p:nvSpPr>
        <p:spPr>
          <a:xfrm>
            <a:off x="3520440" y="1417320"/>
            <a:ext cx="91" cy="3291840"/>
          </a:xfrm>
          <a:prstGeom prst="line">
            <a:avLst/>
          </a:prstGeom>
          <a:noFill/>
          <a:ln w="6350">
            <a:solidFill>
              <a:srgbClr val="C9D3E6"/>
            </a:solidFill>
            <a:prstDash val="solid"/>
          </a:ln>
        </p:spPr>
      </p:sp>
      <p:sp>
        <p:nvSpPr>
          <p:cNvPr id="20" name="Shape 18"/>
          <p:cNvSpPr/>
          <p:nvPr/>
        </p:nvSpPr>
        <p:spPr>
          <a:xfrm>
            <a:off x="3886200" y="1417320"/>
            <a:ext cx="91" cy="3291840"/>
          </a:xfrm>
          <a:prstGeom prst="line">
            <a:avLst/>
          </a:prstGeom>
          <a:noFill/>
          <a:ln w="6350">
            <a:solidFill>
              <a:srgbClr val="E6EBF4"/>
            </a:solidFill>
            <a:prstDash val="solid"/>
          </a:ln>
        </p:spPr>
      </p:sp>
      <p:sp>
        <p:nvSpPr>
          <p:cNvPr id="21" name="Shape 19"/>
          <p:cNvSpPr/>
          <p:nvPr/>
        </p:nvSpPr>
        <p:spPr>
          <a:xfrm>
            <a:off x="4251960" y="1417320"/>
            <a:ext cx="91" cy="3291840"/>
          </a:xfrm>
          <a:prstGeom prst="line">
            <a:avLst/>
          </a:prstGeom>
          <a:noFill/>
          <a:ln w="6350">
            <a:solidFill>
              <a:srgbClr val="C9D3E6"/>
            </a:solidFill>
            <a:prstDash val="solid"/>
          </a:ln>
        </p:spPr>
      </p:sp>
      <p:sp>
        <p:nvSpPr>
          <p:cNvPr id="22" name="Shape 20"/>
          <p:cNvSpPr/>
          <p:nvPr/>
        </p:nvSpPr>
        <p:spPr>
          <a:xfrm>
            <a:off x="4617720" y="1417320"/>
            <a:ext cx="91" cy="3291840"/>
          </a:xfrm>
          <a:prstGeom prst="line">
            <a:avLst/>
          </a:prstGeom>
          <a:noFill/>
          <a:ln w="6350">
            <a:solidFill>
              <a:srgbClr val="E6EBF4"/>
            </a:solidFill>
            <a:prstDash val="solid"/>
          </a:ln>
        </p:spPr>
      </p:sp>
      <p:sp>
        <p:nvSpPr>
          <p:cNvPr id="23" name="Shape 21"/>
          <p:cNvSpPr/>
          <p:nvPr/>
        </p:nvSpPr>
        <p:spPr>
          <a:xfrm>
            <a:off x="4983480" y="1417320"/>
            <a:ext cx="91" cy="3291840"/>
          </a:xfrm>
          <a:prstGeom prst="line">
            <a:avLst/>
          </a:prstGeom>
          <a:noFill/>
          <a:ln w="6350">
            <a:solidFill>
              <a:srgbClr val="C9D3E6"/>
            </a:solidFill>
            <a:prstDash val="solid"/>
          </a:ln>
        </p:spPr>
      </p:sp>
      <p:sp>
        <p:nvSpPr>
          <p:cNvPr id="24" name="Shape 22"/>
          <p:cNvSpPr/>
          <p:nvPr/>
        </p:nvSpPr>
        <p:spPr>
          <a:xfrm>
            <a:off x="5349240" y="1417320"/>
            <a:ext cx="91" cy="3291840"/>
          </a:xfrm>
          <a:prstGeom prst="line">
            <a:avLst/>
          </a:prstGeom>
          <a:noFill/>
          <a:ln w="6350">
            <a:solidFill>
              <a:srgbClr val="E6EBF4"/>
            </a:solidFill>
            <a:prstDash val="solid"/>
          </a:ln>
        </p:spPr>
      </p:sp>
      <p:sp>
        <p:nvSpPr>
          <p:cNvPr id="25" name="Shape 23"/>
          <p:cNvSpPr/>
          <p:nvPr/>
        </p:nvSpPr>
        <p:spPr>
          <a:xfrm>
            <a:off x="5715000" y="1417320"/>
            <a:ext cx="91" cy="3291840"/>
          </a:xfrm>
          <a:prstGeom prst="line">
            <a:avLst/>
          </a:prstGeom>
          <a:noFill/>
          <a:ln w="6350">
            <a:solidFill>
              <a:srgbClr val="C9D3E6"/>
            </a:solidFill>
            <a:prstDash val="solid"/>
          </a:ln>
        </p:spPr>
      </p:sp>
      <p:sp>
        <p:nvSpPr>
          <p:cNvPr id="26" name="Shape 24"/>
          <p:cNvSpPr/>
          <p:nvPr/>
        </p:nvSpPr>
        <p:spPr>
          <a:xfrm>
            <a:off x="1325880" y="4709160"/>
            <a:ext cx="4389120" cy="91"/>
          </a:xfrm>
          <a:prstGeom prst="line">
            <a:avLst/>
          </a:prstGeom>
          <a:noFill/>
          <a:ln w="6350">
            <a:solidFill>
              <a:srgbClr val="C9D3E6"/>
            </a:solidFill>
            <a:prstDash val="solid"/>
          </a:ln>
        </p:spPr>
      </p:sp>
      <p:sp>
        <p:nvSpPr>
          <p:cNvPr id="27" name="Shape 25"/>
          <p:cNvSpPr/>
          <p:nvPr/>
        </p:nvSpPr>
        <p:spPr>
          <a:xfrm>
            <a:off x="1325880" y="4503420"/>
            <a:ext cx="4389120" cy="91"/>
          </a:xfrm>
          <a:prstGeom prst="line">
            <a:avLst/>
          </a:prstGeom>
          <a:noFill/>
          <a:ln w="6350">
            <a:solidFill>
              <a:srgbClr val="E6EBF4"/>
            </a:solidFill>
            <a:prstDash val="solid"/>
          </a:ln>
        </p:spPr>
      </p:sp>
      <p:sp>
        <p:nvSpPr>
          <p:cNvPr id="28" name="Shape 26"/>
          <p:cNvSpPr/>
          <p:nvPr/>
        </p:nvSpPr>
        <p:spPr>
          <a:xfrm>
            <a:off x="1325880" y="4297680"/>
            <a:ext cx="4389120" cy="91"/>
          </a:xfrm>
          <a:prstGeom prst="line">
            <a:avLst/>
          </a:prstGeom>
          <a:noFill/>
          <a:ln w="6350">
            <a:solidFill>
              <a:srgbClr val="C9D3E6"/>
            </a:solidFill>
            <a:prstDash val="solid"/>
          </a:ln>
        </p:spPr>
      </p:sp>
      <p:sp>
        <p:nvSpPr>
          <p:cNvPr id="29" name="Shape 27"/>
          <p:cNvSpPr/>
          <p:nvPr/>
        </p:nvSpPr>
        <p:spPr>
          <a:xfrm>
            <a:off x="1325880" y="4091940"/>
            <a:ext cx="4389120" cy="91"/>
          </a:xfrm>
          <a:prstGeom prst="line">
            <a:avLst/>
          </a:prstGeom>
          <a:noFill/>
          <a:ln w="6350">
            <a:solidFill>
              <a:srgbClr val="E6EBF4"/>
            </a:solidFill>
            <a:prstDash val="solid"/>
          </a:ln>
        </p:spPr>
      </p:sp>
      <p:sp>
        <p:nvSpPr>
          <p:cNvPr id="30" name="Shape 28"/>
          <p:cNvSpPr/>
          <p:nvPr/>
        </p:nvSpPr>
        <p:spPr>
          <a:xfrm>
            <a:off x="1325880" y="3886200"/>
            <a:ext cx="4389120" cy="91"/>
          </a:xfrm>
          <a:prstGeom prst="line">
            <a:avLst/>
          </a:prstGeom>
          <a:noFill/>
          <a:ln w="6350">
            <a:solidFill>
              <a:srgbClr val="C9D3E6"/>
            </a:solidFill>
            <a:prstDash val="solid"/>
          </a:ln>
        </p:spPr>
      </p:sp>
      <p:sp>
        <p:nvSpPr>
          <p:cNvPr id="31" name="Shape 29"/>
          <p:cNvSpPr/>
          <p:nvPr/>
        </p:nvSpPr>
        <p:spPr>
          <a:xfrm>
            <a:off x="1325880" y="3680460"/>
            <a:ext cx="4389120" cy="91"/>
          </a:xfrm>
          <a:prstGeom prst="line">
            <a:avLst/>
          </a:prstGeom>
          <a:noFill/>
          <a:ln w="6350">
            <a:solidFill>
              <a:srgbClr val="E6EBF4"/>
            </a:solidFill>
            <a:prstDash val="solid"/>
          </a:ln>
        </p:spPr>
      </p:sp>
      <p:sp>
        <p:nvSpPr>
          <p:cNvPr id="32" name="Shape 30"/>
          <p:cNvSpPr/>
          <p:nvPr/>
        </p:nvSpPr>
        <p:spPr>
          <a:xfrm>
            <a:off x="1325880" y="3474720"/>
            <a:ext cx="4389120" cy="91"/>
          </a:xfrm>
          <a:prstGeom prst="line">
            <a:avLst/>
          </a:prstGeom>
          <a:noFill/>
          <a:ln w="6350">
            <a:solidFill>
              <a:srgbClr val="C9D3E6"/>
            </a:solidFill>
            <a:prstDash val="solid"/>
          </a:ln>
        </p:spPr>
      </p:sp>
      <p:sp>
        <p:nvSpPr>
          <p:cNvPr id="33" name="Shape 31"/>
          <p:cNvSpPr/>
          <p:nvPr/>
        </p:nvSpPr>
        <p:spPr>
          <a:xfrm>
            <a:off x="1325880" y="3268980"/>
            <a:ext cx="4389120" cy="91"/>
          </a:xfrm>
          <a:prstGeom prst="line">
            <a:avLst/>
          </a:prstGeom>
          <a:noFill/>
          <a:ln w="6350">
            <a:solidFill>
              <a:srgbClr val="E6EBF4"/>
            </a:solidFill>
            <a:prstDash val="solid"/>
          </a:ln>
        </p:spPr>
      </p:sp>
      <p:sp>
        <p:nvSpPr>
          <p:cNvPr id="34" name="Shape 32"/>
          <p:cNvSpPr/>
          <p:nvPr/>
        </p:nvSpPr>
        <p:spPr>
          <a:xfrm>
            <a:off x="1325880" y="3063240"/>
            <a:ext cx="4389120" cy="91"/>
          </a:xfrm>
          <a:prstGeom prst="line">
            <a:avLst/>
          </a:prstGeom>
          <a:noFill/>
          <a:ln w="6350">
            <a:solidFill>
              <a:srgbClr val="C9D3E6"/>
            </a:solidFill>
            <a:prstDash val="solid"/>
          </a:ln>
        </p:spPr>
      </p:sp>
      <p:sp>
        <p:nvSpPr>
          <p:cNvPr id="35" name="Shape 33"/>
          <p:cNvSpPr/>
          <p:nvPr/>
        </p:nvSpPr>
        <p:spPr>
          <a:xfrm>
            <a:off x="1325880" y="2857500"/>
            <a:ext cx="4389120" cy="91"/>
          </a:xfrm>
          <a:prstGeom prst="line">
            <a:avLst/>
          </a:prstGeom>
          <a:noFill/>
          <a:ln w="6350">
            <a:solidFill>
              <a:srgbClr val="E6EBF4"/>
            </a:solidFill>
            <a:prstDash val="solid"/>
          </a:ln>
        </p:spPr>
      </p:sp>
      <p:sp>
        <p:nvSpPr>
          <p:cNvPr id="36" name="Shape 34"/>
          <p:cNvSpPr/>
          <p:nvPr/>
        </p:nvSpPr>
        <p:spPr>
          <a:xfrm>
            <a:off x="1325880" y="2651760"/>
            <a:ext cx="4389120" cy="91"/>
          </a:xfrm>
          <a:prstGeom prst="line">
            <a:avLst/>
          </a:prstGeom>
          <a:noFill/>
          <a:ln w="6350">
            <a:solidFill>
              <a:srgbClr val="C9D3E6"/>
            </a:solidFill>
            <a:prstDash val="solid"/>
          </a:ln>
        </p:spPr>
      </p:sp>
      <p:sp>
        <p:nvSpPr>
          <p:cNvPr id="37" name="Shape 35"/>
          <p:cNvSpPr/>
          <p:nvPr/>
        </p:nvSpPr>
        <p:spPr>
          <a:xfrm>
            <a:off x="1325880" y="2446020"/>
            <a:ext cx="4389120" cy="91"/>
          </a:xfrm>
          <a:prstGeom prst="line">
            <a:avLst/>
          </a:prstGeom>
          <a:noFill/>
          <a:ln w="6350">
            <a:solidFill>
              <a:srgbClr val="E6EBF4"/>
            </a:solidFill>
            <a:prstDash val="solid"/>
          </a:ln>
        </p:spPr>
      </p:sp>
      <p:sp>
        <p:nvSpPr>
          <p:cNvPr id="38" name="Shape 36"/>
          <p:cNvSpPr/>
          <p:nvPr/>
        </p:nvSpPr>
        <p:spPr>
          <a:xfrm>
            <a:off x="1325880" y="2240280"/>
            <a:ext cx="4389120" cy="91"/>
          </a:xfrm>
          <a:prstGeom prst="line">
            <a:avLst/>
          </a:prstGeom>
          <a:noFill/>
          <a:ln w="6350">
            <a:solidFill>
              <a:srgbClr val="C9D3E6"/>
            </a:solidFill>
            <a:prstDash val="solid"/>
          </a:ln>
        </p:spPr>
      </p:sp>
      <p:sp>
        <p:nvSpPr>
          <p:cNvPr id="39" name="Shape 37"/>
          <p:cNvSpPr/>
          <p:nvPr/>
        </p:nvSpPr>
        <p:spPr>
          <a:xfrm>
            <a:off x="1325880" y="2034540"/>
            <a:ext cx="4389120" cy="91"/>
          </a:xfrm>
          <a:prstGeom prst="line">
            <a:avLst/>
          </a:prstGeom>
          <a:noFill/>
          <a:ln w="6350">
            <a:solidFill>
              <a:srgbClr val="E6EBF4"/>
            </a:solidFill>
            <a:prstDash val="solid"/>
          </a:ln>
        </p:spPr>
      </p:sp>
      <p:sp>
        <p:nvSpPr>
          <p:cNvPr id="40" name="Shape 38"/>
          <p:cNvSpPr/>
          <p:nvPr/>
        </p:nvSpPr>
        <p:spPr>
          <a:xfrm>
            <a:off x="1325880" y="1828800"/>
            <a:ext cx="4389120" cy="91"/>
          </a:xfrm>
          <a:prstGeom prst="line">
            <a:avLst/>
          </a:prstGeom>
          <a:noFill/>
          <a:ln w="6350">
            <a:solidFill>
              <a:srgbClr val="C9D3E6"/>
            </a:solidFill>
            <a:prstDash val="solid"/>
          </a:ln>
        </p:spPr>
      </p:sp>
      <p:sp>
        <p:nvSpPr>
          <p:cNvPr id="41" name="Shape 39"/>
          <p:cNvSpPr/>
          <p:nvPr/>
        </p:nvSpPr>
        <p:spPr>
          <a:xfrm>
            <a:off x="1325880" y="1623060"/>
            <a:ext cx="4389120" cy="91"/>
          </a:xfrm>
          <a:prstGeom prst="line">
            <a:avLst/>
          </a:prstGeom>
          <a:noFill/>
          <a:ln w="6350">
            <a:solidFill>
              <a:srgbClr val="E6EBF4"/>
            </a:solidFill>
            <a:prstDash val="solid"/>
          </a:ln>
        </p:spPr>
      </p:sp>
      <p:sp>
        <p:nvSpPr>
          <p:cNvPr id="42" name="Shape 40"/>
          <p:cNvSpPr/>
          <p:nvPr/>
        </p:nvSpPr>
        <p:spPr>
          <a:xfrm>
            <a:off x="1325880" y="1417320"/>
            <a:ext cx="4389120" cy="91"/>
          </a:xfrm>
          <a:prstGeom prst="line">
            <a:avLst/>
          </a:prstGeom>
          <a:noFill/>
          <a:ln w="6350">
            <a:solidFill>
              <a:srgbClr val="C9D3E6"/>
            </a:solidFill>
            <a:prstDash val="solid"/>
          </a:ln>
        </p:spPr>
      </p:sp>
      <p:sp>
        <p:nvSpPr>
          <p:cNvPr id="43" name="Shape 41"/>
          <p:cNvSpPr/>
          <p:nvPr/>
        </p:nvSpPr>
        <p:spPr>
          <a:xfrm>
            <a:off x="1325880" y="4709160"/>
            <a:ext cx="4389120" cy="91"/>
          </a:xfrm>
          <a:prstGeom prst="line">
            <a:avLst/>
          </a:prstGeom>
          <a:noFill/>
          <a:ln w="19050">
            <a:solidFill>
              <a:srgbClr val="1A2340"/>
            </a:solidFill>
            <a:prstDash val="solid"/>
          </a:ln>
        </p:spPr>
      </p:sp>
      <p:sp>
        <p:nvSpPr>
          <p:cNvPr id="44" name="Shape 42"/>
          <p:cNvSpPr/>
          <p:nvPr/>
        </p:nvSpPr>
        <p:spPr>
          <a:xfrm flipV="1">
            <a:off x="1325880" y="1417320"/>
            <a:ext cx="91" cy="3291840"/>
          </a:xfrm>
          <a:prstGeom prst="line">
            <a:avLst/>
          </a:prstGeom>
          <a:noFill/>
          <a:ln w="19050">
            <a:solidFill>
              <a:srgbClr val="1A2340"/>
            </a:solidFill>
            <a:prstDash val="solid"/>
          </a:ln>
        </p:spPr>
      </p:sp>
      <p:sp>
        <p:nvSpPr>
          <p:cNvPr id="45" name="Shape 43"/>
          <p:cNvSpPr/>
          <p:nvPr/>
        </p:nvSpPr>
        <p:spPr>
          <a:xfrm>
            <a:off x="1325880" y="4709160"/>
            <a:ext cx="91" cy="54864"/>
          </a:xfrm>
          <a:prstGeom prst="line">
            <a:avLst/>
          </a:prstGeom>
          <a:noFill/>
          <a:ln w="12700">
            <a:solidFill>
              <a:srgbClr val="1A2340"/>
            </a:solidFill>
            <a:prstDash val="solid"/>
          </a:ln>
        </p:spPr>
      </p:sp>
      <p:sp>
        <p:nvSpPr>
          <p:cNvPr id="46" name="Text 44"/>
          <p:cNvSpPr/>
          <p:nvPr/>
        </p:nvSpPr>
        <p:spPr>
          <a:xfrm>
            <a:off x="105156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47" name="Shape 45"/>
          <p:cNvSpPr/>
          <p:nvPr/>
        </p:nvSpPr>
        <p:spPr>
          <a:xfrm>
            <a:off x="2057400" y="4709160"/>
            <a:ext cx="91" cy="54864"/>
          </a:xfrm>
          <a:prstGeom prst="line">
            <a:avLst/>
          </a:prstGeom>
          <a:noFill/>
          <a:ln w="12700">
            <a:solidFill>
              <a:srgbClr val="1A2340"/>
            </a:solidFill>
            <a:prstDash val="solid"/>
          </a:ln>
        </p:spPr>
      </p:sp>
      <p:sp>
        <p:nvSpPr>
          <p:cNvPr id="48" name="Text 46"/>
          <p:cNvSpPr/>
          <p:nvPr/>
        </p:nvSpPr>
        <p:spPr>
          <a:xfrm>
            <a:off x="178308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49" name="Shape 47"/>
          <p:cNvSpPr/>
          <p:nvPr/>
        </p:nvSpPr>
        <p:spPr>
          <a:xfrm>
            <a:off x="2788920" y="4709160"/>
            <a:ext cx="91" cy="54864"/>
          </a:xfrm>
          <a:prstGeom prst="line">
            <a:avLst/>
          </a:prstGeom>
          <a:noFill/>
          <a:ln w="12700">
            <a:solidFill>
              <a:srgbClr val="1A2340"/>
            </a:solidFill>
            <a:prstDash val="solid"/>
          </a:ln>
        </p:spPr>
      </p:sp>
      <p:sp>
        <p:nvSpPr>
          <p:cNvPr id="50" name="Text 48"/>
          <p:cNvSpPr/>
          <p:nvPr/>
        </p:nvSpPr>
        <p:spPr>
          <a:xfrm>
            <a:off x="251460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51" name="Shape 49"/>
          <p:cNvSpPr/>
          <p:nvPr/>
        </p:nvSpPr>
        <p:spPr>
          <a:xfrm>
            <a:off x="3520440" y="4709160"/>
            <a:ext cx="91" cy="54864"/>
          </a:xfrm>
          <a:prstGeom prst="line">
            <a:avLst/>
          </a:prstGeom>
          <a:noFill/>
          <a:ln w="12700">
            <a:solidFill>
              <a:srgbClr val="1A2340"/>
            </a:solidFill>
            <a:prstDash val="solid"/>
          </a:ln>
        </p:spPr>
      </p:sp>
      <p:sp>
        <p:nvSpPr>
          <p:cNvPr id="52" name="Text 50"/>
          <p:cNvSpPr/>
          <p:nvPr/>
        </p:nvSpPr>
        <p:spPr>
          <a:xfrm>
            <a:off x="324612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53" name="Shape 51"/>
          <p:cNvSpPr/>
          <p:nvPr/>
        </p:nvSpPr>
        <p:spPr>
          <a:xfrm>
            <a:off x="4251960" y="4709160"/>
            <a:ext cx="91" cy="54864"/>
          </a:xfrm>
          <a:prstGeom prst="line">
            <a:avLst/>
          </a:prstGeom>
          <a:noFill/>
          <a:ln w="12700">
            <a:solidFill>
              <a:srgbClr val="1A2340"/>
            </a:solidFill>
            <a:prstDash val="solid"/>
          </a:ln>
        </p:spPr>
      </p:sp>
      <p:sp>
        <p:nvSpPr>
          <p:cNvPr id="54" name="Text 52"/>
          <p:cNvSpPr/>
          <p:nvPr/>
        </p:nvSpPr>
        <p:spPr>
          <a:xfrm>
            <a:off x="397764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55" name="Shape 53"/>
          <p:cNvSpPr/>
          <p:nvPr/>
        </p:nvSpPr>
        <p:spPr>
          <a:xfrm>
            <a:off x="4983480" y="4709160"/>
            <a:ext cx="91" cy="54864"/>
          </a:xfrm>
          <a:prstGeom prst="line">
            <a:avLst/>
          </a:prstGeom>
          <a:noFill/>
          <a:ln w="12700">
            <a:solidFill>
              <a:srgbClr val="1A2340"/>
            </a:solidFill>
            <a:prstDash val="solid"/>
          </a:ln>
        </p:spPr>
      </p:sp>
      <p:sp>
        <p:nvSpPr>
          <p:cNvPr id="56" name="Text 54"/>
          <p:cNvSpPr/>
          <p:nvPr/>
        </p:nvSpPr>
        <p:spPr>
          <a:xfrm>
            <a:off x="470916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50</a:t>
            </a:r>
            <a:endParaRPr lang="en-US" sz="1000" dirty="0"/>
          </a:p>
        </p:txBody>
      </p:sp>
      <p:sp>
        <p:nvSpPr>
          <p:cNvPr id="57" name="Shape 55"/>
          <p:cNvSpPr/>
          <p:nvPr/>
        </p:nvSpPr>
        <p:spPr>
          <a:xfrm>
            <a:off x="5715000" y="4709160"/>
            <a:ext cx="91" cy="54864"/>
          </a:xfrm>
          <a:prstGeom prst="line">
            <a:avLst/>
          </a:prstGeom>
          <a:noFill/>
          <a:ln w="12700">
            <a:solidFill>
              <a:srgbClr val="1A2340"/>
            </a:solidFill>
            <a:prstDash val="solid"/>
          </a:ln>
        </p:spPr>
      </p:sp>
      <p:sp>
        <p:nvSpPr>
          <p:cNvPr id="58" name="Text 56"/>
          <p:cNvSpPr/>
          <p:nvPr/>
        </p:nvSpPr>
        <p:spPr>
          <a:xfrm>
            <a:off x="544068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60</a:t>
            </a:r>
            <a:endParaRPr lang="en-US" sz="1000" dirty="0"/>
          </a:p>
        </p:txBody>
      </p:sp>
      <p:sp>
        <p:nvSpPr>
          <p:cNvPr id="59" name="Shape 57"/>
          <p:cNvSpPr/>
          <p:nvPr/>
        </p:nvSpPr>
        <p:spPr>
          <a:xfrm>
            <a:off x="1271016" y="4709160"/>
            <a:ext cx="54864" cy="91"/>
          </a:xfrm>
          <a:prstGeom prst="line">
            <a:avLst/>
          </a:prstGeom>
          <a:noFill/>
          <a:ln w="12700">
            <a:solidFill>
              <a:srgbClr val="1A2340"/>
            </a:solidFill>
            <a:prstDash val="solid"/>
          </a:ln>
        </p:spPr>
      </p:sp>
      <p:sp>
        <p:nvSpPr>
          <p:cNvPr id="60" name="Text 58"/>
          <p:cNvSpPr/>
          <p:nvPr/>
        </p:nvSpPr>
        <p:spPr>
          <a:xfrm>
            <a:off x="886968" y="46177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61" name="Shape 59"/>
          <p:cNvSpPr/>
          <p:nvPr/>
        </p:nvSpPr>
        <p:spPr>
          <a:xfrm>
            <a:off x="1271016" y="4297680"/>
            <a:ext cx="54864" cy="91"/>
          </a:xfrm>
          <a:prstGeom prst="line">
            <a:avLst/>
          </a:prstGeom>
          <a:noFill/>
          <a:ln w="12700">
            <a:solidFill>
              <a:srgbClr val="1A2340"/>
            </a:solidFill>
            <a:prstDash val="solid"/>
          </a:ln>
        </p:spPr>
      </p:sp>
      <p:sp>
        <p:nvSpPr>
          <p:cNvPr id="62" name="Text 60"/>
          <p:cNvSpPr/>
          <p:nvPr/>
        </p:nvSpPr>
        <p:spPr>
          <a:xfrm>
            <a:off x="886968" y="42062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63" name="Shape 61"/>
          <p:cNvSpPr/>
          <p:nvPr/>
        </p:nvSpPr>
        <p:spPr>
          <a:xfrm>
            <a:off x="1271016" y="3886200"/>
            <a:ext cx="54864" cy="91"/>
          </a:xfrm>
          <a:prstGeom prst="line">
            <a:avLst/>
          </a:prstGeom>
          <a:noFill/>
          <a:ln w="12700">
            <a:solidFill>
              <a:srgbClr val="1A2340"/>
            </a:solidFill>
            <a:prstDash val="solid"/>
          </a:ln>
        </p:spPr>
      </p:sp>
      <p:sp>
        <p:nvSpPr>
          <p:cNvPr id="64" name="Text 62"/>
          <p:cNvSpPr/>
          <p:nvPr/>
        </p:nvSpPr>
        <p:spPr>
          <a:xfrm>
            <a:off x="886968" y="37947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65" name="Shape 63"/>
          <p:cNvSpPr/>
          <p:nvPr/>
        </p:nvSpPr>
        <p:spPr>
          <a:xfrm>
            <a:off x="1271016" y="3474720"/>
            <a:ext cx="54864" cy="91"/>
          </a:xfrm>
          <a:prstGeom prst="line">
            <a:avLst/>
          </a:prstGeom>
          <a:noFill/>
          <a:ln w="12700">
            <a:solidFill>
              <a:srgbClr val="1A2340"/>
            </a:solidFill>
            <a:prstDash val="solid"/>
          </a:ln>
        </p:spPr>
      </p:sp>
      <p:sp>
        <p:nvSpPr>
          <p:cNvPr id="66" name="Text 64"/>
          <p:cNvSpPr/>
          <p:nvPr/>
        </p:nvSpPr>
        <p:spPr>
          <a:xfrm>
            <a:off x="886968" y="33832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60</a:t>
            </a:r>
            <a:endParaRPr lang="en-US" sz="1000" dirty="0"/>
          </a:p>
        </p:txBody>
      </p:sp>
      <p:sp>
        <p:nvSpPr>
          <p:cNvPr id="67" name="Shape 65"/>
          <p:cNvSpPr/>
          <p:nvPr/>
        </p:nvSpPr>
        <p:spPr>
          <a:xfrm>
            <a:off x="1271016" y="3063240"/>
            <a:ext cx="54864" cy="91"/>
          </a:xfrm>
          <a:prstGeom prst="line">
            <a:avLst/>
          </a:prstGeom>
          <a:noFill/>
          <a:ln w="12700">
            <a:solidFill>
              <a:srgbClr val="1A2340"/>
            </a:solidFill>
            <a:prstDash val="solid"/>
          </a:ln>
        </p:spPr>
      </p:sp>
      <p:sp>
        <p:nvSpPr>
          <p:cNvPr id="68" name="Text 66"/>
          <p:cNvSpPr/>
          <p:nvPr/>
        </p:nvSpPr>
        <p:spPr>
          <a:xfrm>
            <a:off x="886968" y="29718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80</a:t>
            </a:r>
            <a:endParaRPr lang="en-US" sz="1000" dirty="0"/>
          </a:p>
        </p:txBody>
      </p:sp>
      <p:sp>
        <p:nvSpPr>
          <p:cNvPr id="69" name="Shape 67"/>
          <p:cNvSpPr/>
          <p:nvPr/>
        </p:nvSpPr>
        <p:spPr>
          <a:xfrm>
            <a:off x="1271016" y="2651760"/>
            <a:ext cx="54864" cy="91"/>
          </a:xfrm>
          <a:prstGeom prst="line">
            <a:avLst/>
          </a:prstGeom>
          <a:noFill/>
          <a:ln w="12700">
            <a:solidFill>
              <a:srgbClr val="1A2340"/>
            </a:solidFill>
            <a:prstDash val="solid"/>
          </a:ln>
        </p:spPr>
      </p:sp>
      <p:sp>
        <p:nvSpPr>
          <p:cNvPr id="70" name="Text 68"/>
          <p:cNvSpPr/>
          <p:nvPr/>
        </p:nvSpPr>
        <p:spPr>
          <a:xfrm>
            <a:off x="886968" y="25603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71" name="Shape 69"/>
          <p:cNvSpPr/>
          <p:nvPr/>
        </p:nvSpPr>
        <p:spPr>
          <a:xfrm>
            <a:off x="1271016" y="2240280"/>
            <a:ext cx="54864" cy="91"/>
          </a:xfrm>
          <a:prstGeom prst="line">
            <a:avLst/>
          </a:prstGeom>
          <a:noFill/>
          <a:ln w="12700">
            <a:solidFill>
              <a:srgbClr val="1A2340"/>
            </a:solidFill>
            <a:prstDash val="solid"/>
          </a:ln>
        </p:spPr>
      </p:sp>
      <p:sp>
        <p:nvSpPr>
          <p:cNvPr id="72" name="Text 70"/>
          <p:cNvSpPr/>
          <p:nvPr/>
        </p:nvSpPr>
        <p:spPr>
          <a:xfrm>
            <a:off x="886968" y="21488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120</a:t>
            </a:r>
            <a:endParaRPr lang="en-US" sz="1000" dirty="0"/>
          </a:p>
        </p:txBody>
      </p:sp>
      <p:sp>
        <p:nvSpPr>
          <p:cNvPr id="73" name="Shape 71"/>
          <p:cNvSpPr/>
          <p:nvPr/>
        </p:nvSpPr>
        <p:spPr>
          <a:xfrm>
            <a:off x="1271016" y="1828800"/>
            <a:ext cx="54864" cy="91"/>
          </a:xfrm>
          <a:prstGeom prst="line">
            <a:avLst/>
          </a:prstGeom>
          <a:noFill/>
          <a:ln w="12700">
            <a:solidFill>
              <a:srgbClr val="1A2340"/>
            </a:solidFill>
            <a:prstDash val="solid"/>
          </a:ln>
        </p:spPr>
      </p:sp>
      <p:sp>
        <p:nvSpPr>
          <p:cNvPr id="74" name="Text 72"/>
          <p:cNvSpPr/>
          <p:nvPr/>
        </p:nvSpPr>
        <p:spPr>
          <a:xfrm>
            <a:off x="886968" y="17373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140</a:t>
            </a:r>
            <a:endParaRPr lang="en-US" sz="1000" dirty="0"/>
          </a:p>
        </p:txBody>
      </p:sp>
      <p:sp>
        <p:nvSpPr>
          <p:cNvPr id="75" name="Shape 73"/>
          <p:cNvSpPr/>
          <p:nvPr/>
        </p:nvSpPr>
        <p:spPr>
          <a:xfrm>
            <a:off x="1271016" y="1417320"/>
            <a:ext cx="54864" cy="91"/>
          </a:xfrm>
          <a:prstGeom prst="line">
            <a:avLst/>
          </a:prstGeom>
          <a:noFill/>
          <a:ln w="12700">
            <a:solidFill>
              <a:srgbClr val="1A2340"/>
            </a:solidFill>
            <a:prstDash val="solid"/>
          </a:ln>
        </p:spPr>
      </p:sp>
      <p:sp>
        <p:nvSpPr>
          <p:cNvPr id="76" name="Text 74"/>
          <p:cNvSpPr/>
          <p:nvPr/>
        </p:nvSpPr>
        <p:spPr>
          <a:xfrm>
            <a:off x="88696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160</a:t>
            </a:r>
            <a:endParaRPr lang="en-US" sz="1000" dirty="0"/>
          </a:p>
        </p:txBody>
      </p:sp>
      <p:sp>
        <p:nvSpPr>
          <p:cNvPr id="77" name="Text 75"/>
          <p:cNvSpPr/>
          <p:nvPr/>
        </p:nvSpPr>
        <p:spPr>
          <a:xfrm>
            <a:off x="1325880" y="4956048"/>
            <a:ext cx="43891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volume / cm³</a:t>
            </a:r>
            <a:endParaRPr lang="en-US" sz="1050" dirty="0"/>
          </a:p>
        </p:txBody>
      </p:sp>
      <p:sp>
        <p:nvSpPr>
          <p:cNvPr id="78" name="Text 76"/>
          <p:cNvSpPr/>
          <p:nvPr/>
        </p:nvSpPr>
        <p:spPr>
          <a:xfrm rot="16200000">
            <a:off x="-886968" y="2935224"/>
            <a:ext cx="32918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mass / g</a:t>
            </a:r>
            <a:endParaRPr lang="en-US" sz="1050" dirty="0"/>
          </a:p>
        </p:txBody>
      </p:sp>
      <p:sp>
        <p:nvSpPr>
          <p:cNvPr id="79" name="Shape 77"/>
          <p:cNvSpPr/>
          <p:nvPr/>
        </p:nvSpPr>
        <p:spPr>
          <a:xfrm flipV="1">
            <a:off x="1325880" y="1478593"/>
            <a:ext cx="4242816" cy="3230567"/>
          </a:xfrm>
          <a:prstGeom prst="line">
            <a:avLst/>
          </a:prstGeom>
          <a:noFill/>
          <a:ln w="25400">
            <a:solidFill>
              <a:srgbClr val="2E5BD8"/>
            </a:solidFill>
            <a:prstDash val="solid"/>
          </a:ln>
        </p:spPr>
      </p:sp>
      <p:sp>
        <p:nvSpPr>
          <p:cNvPr id="80" name="Shape 78"/>
          <p:cNvSpPr/>
          <p:nvPr/>
        </p:nvSpPr>
        <p:spPr>
          <a:xfrm>
            <a:off x="2011680" y="4099712"/>
            <a:ext cx="91440" cy="91440"/>
          </a:xfrm>
          <a:prstGeom prst="line">
            <a:avLst/>
          </a:prstGeom>
          <a:noFill/>
          <a:ln w="15875">
            <a:solidFill>
              <a:srgbClr val="1A2340"/>
            </a:solidFill>
            <a:prstDash val="solid"/>
          </a:ln>
        </p:spPr>
      </p:sp>
      <p:sp>
        <p:nvSpPr>
          <p:cNvPr id="81" name="Shape 79"/>
          <p:cNvSpPr/>
          <p:nvPr/>
        </p:nvSpPr>
        <p:spPr>
          <a:xfrm flipV="1">
            <a:off x="2011680" y="4099712"/>
            <a:ext cx="91440" cy="91440"/>
          </a:xfrm>
          <a:prstGeom prst="line">
            <a:avLst/>
          </a:prstGeom>
          <a:noFill/>
          <a:ln w="15875">
            <a:solidFill>
              <a:srgbClr val="1A2340"/>
            </a:solidFill>
            <a:prstDash val="solid"/>
          </a:ln>
        </p:spPr>
      </p:sp>
      <p:sp>
        <p:nvSpPr>
          <p:cNvPr id="82" name="Shape 80"/>
          <p:cNvSpPr/>
          <p:nvPr/>
        </p:nvSpPr>
        <p:spPr>
          <a:xfrm>
            <a:off x="2743200" y="3560674"/>
            <a:ext cx="91440" cy="91440"/>
          </a:xfrm>
          <a:prstGeom prst="line">
            <a:avLst/>
          </a:prstGeom>
          <a:noFill/>
          <a:ln w="15875">
            <a:solidFill>
              <a:srgbClr val="1A2340"/>
            </a:solidFill>
            <a:prstDash val="solid"/>
          </a:ln>
        </p:spPr>
      </p:sp>
      <p:sp>
        <p:nvSpPr>
          <p:cNvPr id="83" name="Shape 81"/>
          <p:cNvSpPr/>
          <p:nvPr/>
        </p:nvSpPr>
        <p:spPr>
          <a:xfrm flipV="1">
            <a:off x="2743200" y="3560674"/>
            <a:ext cx="91440" cy="91440"/>
          </a:xfrm>
          <a:prstGeom prst="line">
            <a:avLst/>
          </a:prstGeom>
          <a:noFill/>
          <a:ln w="15875">
            <a:solidFill>
              <a:srgbClr val="1A2340"/>
            </a:solidFill>
            <a:prstDash val="solid"/>
          </a:ln>
        </p:spPr>
      </p:sp>
      <p:sp>
        <p:nvSpPr>
          <p:cNvPr id="84" name="Shape 82"/>
          <p:cNvSpPr/>
          <p:nvPr/>
        </p:nvSpPr>
        <p:spPr>
          <a:xfrm>
            <a:off x="3474720" y="2986659"/>
            <a:ext cx="91440" cy="91440"/>
          </a:xfrm>
          <a:prstGeom prst="line">
            <a:avLst/>
          </a:prstGeom>
          <a:noFill/>
          <a:ln w="15875">
            <a:solidFill>
              <a:srgbClr val="1A2340"/>
            </a:solidFill>
            <a:prstDash val="solid"/>
          </a:ln>
        </p:spPr>
      </p:sp>
      <p:sp>
        <p:nvSpPr>
          <p:cNvPr id="85" name="Shape 83"/>
          <p:cNvSpPr/>
          <p:nvPr/>
        </p:nvSpPr>
        <p:spPr>
          <a:xfrm flipV="1">
            <a:off x="3474720" y="2986659"/>
            <a:ext cx="91440" cy="91440"/>
          </a:xfrm>
          <a:prstGeom prst="line">
            <a:avLst/>
          </a:prstGeom>
          <a:noFill/>
          <a:ln w="15875">
            <a:solidFill>
              <a:srgbClr val="1A2340"/>
            </a:solidFill>
            <a:prstDash val="solid"/>
          </a:ln>
        </p:spPr>
      </p:sp>
      <p:sp>
        <p:nvSpPr>
          <p:cNvPr id="86" name="Shape 84"/>
          <p:cNvSpPr/>
          <p:nvPr/>
        </p:nvSpPr>
        <p:spPr>
          <a:xfrm>
            <a:off x="4206240" y="2449678"/>
            <a:ext cx="91440" cy="91440"/>
          </a:xfrm>
          <a:prstGeom prst="line">
            <a:avLst/>
          </a:prstGeom>
          <a:noFill/>
          <a:ln w="15875">
            <a:solidFill>
              <a:srgbClr val="1A2340"/>
            </a:solidFill>
            <a:prstDash val="solid"/>
          </a:ln>
        </p:spPr>
      </p:sp>
      <p:sp>
        <p:nvSpPr>
          <p:cNvPr id="87" name="Shape 85"/>
          <p:cNvSpPr/>
          <p:nvPr/>
        </p:nvSpPr>
        <p:spPr>
          <a:xfrm flipV="1">
            <a:off x="4206240" y="2449678"/>
            <a:ext cx="91440" cy="91440"/>
          </a:xfrm>
          <a:prstGeom prst="line">
            <a:avLst/>
          </a:prstGeom>
          <a:noFill/>
          <a:ln w="15875">
            <a:solidFill>
              <a:srgbClr val="1A2340"/>
            </a:solidFill>
            <a:prstDash val="solid"/>
          </a:ln>
        </p:spPr>
      </p:sp>
      <p:sp>
        <p:nvSpPr>
          <p:cNvPr id="88" name="Shape 86"/>
          <p:cNvSpPr/>
          <p:nvPr/>
        </p:nvSpPr>
        <p:spPr>
          <a:xfrm>
            <a:off x="4937760" y="1867433"/>
            <a:ext cx="91440" cy="91440"/>
          </a:xfrm>
          <a:prstGeom prst="line">
            <a:avLst/>
          </a:prstGeom>
          <a:noFill/>
          <a:ln w="15875">
            <a:solidFill>
              <a:srgbClr val="1A2340"/>
            </a:solidFill>
            <a:prstDash val="solid"/>
          </a:ln>
        </p:spPr>
      </p:sp>
      <p:sp>
        <p:nvSpPr>
          <p:cNvPr id="89" name="Shape 87"/>
          <p:cNvSpPr/>
          <p:nvPr/>
        </p:nvSpPr>
        <p:spPr>
          <a:xfrm flipV="1">
            <a:off x="4937760" y="1867433"/>
            <a:ext cx="91440" cy="91440"/>
          </a:xfrm>
          <a:prstGeom prst="line">
            <a:avLst/>
          </a:prstGeom>
          <a:noFill/>
          <a:ln w="15875">
            <a:solidFill>
              <a:srgbClr val="1A2340"/>
            </a:solidFill>
            <a:prstDash val="solid"/>
          </a:ln>
        </p:spPr>
      </p:sp>
      <p:sp>
        <p:nvSpPr>
          <p:cNvPr id="90" name="Shape 88"/>
          <p:cNvSpPr/>
          <p:nvPr/>
        </p:nvSpPr>
        <p:spPr>
          <a:xfrm>
            <a:off x="1325880" y="4709160"/>
            <a:ext cx="3657600" cy="91"/>
          </a:xfrm>
          <a:prstGeom prst="line">
            <a:avLst/>
          </a:prstGeom>
          <a:noFill/>
          <a:ln w="15875">
            <a:solidFill>
              <a:srgbClr val="C8414C"/>
            </a:solidFill>
            <a:prstDash val="dash"/>
          </a:ln>
        </p:spPr>
      </p:sp>
      <p:sp>
        <p:nvSpPr>
          <p:cNvPr id="91" name="Shape 89"/>
          <p:cNvSpPr/>
          <p:nvPr/>
        </p:nvSpPr>
        <p:spPr>
          <a:xfrm flipV="1">
            <a:off x="4983480" y="1931670"/>
            <a:ext cx="91" cy="2777490"/>
          </a:xfrm>
          <a:prstGeom prst="line">
            <a:avLst/>
          </a:prstGeom>
          <a:noFill/>
          <a:ln w="15875">
            <a:solidFill>
              <a:srgbClr val="C8414C"/>
            </a:solidFill>
            <a:prstDash val="dash"/>
          </a:ln>
        </p:spPr>
      </p:sp>
      <p:sp>
        <p:nvSpPr>
          <p:cNvPr id="92" name="Text 90"/>
          <p:cNvSpPr/>
          <p:nvPr/>
        </p:nvSpPr>
        <p:spPr>
          <a:xfrm>
            <a:off x="5029200" y="3268980"/>
            <a:ext cx="91440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Δm = 135 g</a:t>
            </a:r>
            <a:endParaRPr lang="en-US" sz="1050" dirty="0"/>
          </a:p>
        </p:txBody>
      </p:sp>
      <p:sp>
        <p:nvSpPr>
          <p:cNvPr id="93" name="Text 91"/>
          <p:cNvSpPr/>
          <p:nvPr/>
        </p:nvSpPr>
        <p:spPr>
          <a:xfrm>
            <a:off x="2788920" y="4462272"/>
            <a:ext cx="1371600" cy="256032"/>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ΔV = 50 cm³</a:t>
            </a:r>
            <a:endParaRPr lang="en-US" sz="1050" dirty="0"/>
          </a:p>
        </p:txBody>
      </p:sp>
      <p:sp>
        <p:nvSpPr>
          <p:cNvPr id="94" name="Text 92"/>
          <p:cNvSpPr/>
          <p:nvPr/>
        </p:nvSpPr>
        <p:spPr>
          <a:xfrm>
            <a:off x="1911096" y="1828800"/>
            <a:ext cx="2103120" cy="256032"/>
          </a:xfrm>
          <a:prstGeom prst="rect">
            <a:avLst/>
          </a:prstGeom>
          <a:noFill/>
          <a:ln/>
        </p:spPr>
        <p:txBody>
          <a:bodyPr wrap="square" lIns="0" tIns="0" rIns="0" bIns="0" rtlCol="0" anchor="ctr"/>
          <a:lstStyle/>
          <a:p>
            <a:pPr algn="l" indent="0" marL="0">
              <a:buNone/>
            </a:pPr>
            <a:r>
              <a:rPr lang="en-US" sz="1050" b="1" dirty="0">
                <a:solidFill>
                  <a:srgbClr val="2E5BD8"/>
                </a:solidFill>
                <a:latin typeface="Calibri" pitchFamily="34" charset="0"/>
                <a:ea typeface="Calibri" pitchFamily="34" charset="-122"/>
                <a:cs typeface="Calibri" pitchFamily="34" charset="-120"/>
              </a:rPr>
              <a:t>gradient = 135 ÷ 50 = 2.7 g/cm³</a:t>
            </a:r>
            <a:endParaRPr lang="en-US" sz="10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217920" y="1188720"/>
          <a:ext cx="5559552" cy="914400"/>
        </p:xfrm>
        <a:graphic>
          <a:graphicData uri="http://schemas.openxmlformats.org/drawingml/2006/table">
            <a:tbl>
              <a:tblPr/>
              <a:tblGrid>
                <a:gridCol w="1325880"/>
                <a:gridCol w="1856232"/>
                <a:gridCol w="731520"/>
                <a:gridCol w="777240"/>
                <a:gridCol w="868680"/>
              </a:tblGrid>
              <a:tr h="274320">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Object</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How V was found</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m / g</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V / cm³</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ρ / g/cm³</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r>
              <a:tr h="274320">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aluminium block</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ruler: 4.0 × 2.5 × 2.0 cm</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54.0</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20.0</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2.70</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274320">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granite stone</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displacement: 18.0 cm³</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46.8</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18.0</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2.60</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274320">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polythene cube</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ruler: 3.0 cm sides</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25.1</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27.0</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0.93</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bl>
          </a:graphicData>
        </a:graphic>
      </p:graphicFrame>
      <p:sp>
        <p:nvSpPr>
          <p:cNvPr id="96" name="Shape 93"/>
          <p:cNvSpPr/>
          <p:nvPr/>
        </p:nvSpPr>
        <p:spPr>
          <a:xfrm>
            <a:off x="6217920" y="2395728"/>
            <a:ext cx="5559552" cy="1417320"/>
          </a:xfrm>
          <a:prstGeom prst="roundRect">
            <a:avLst>
              <a:gd name="adj" fmla="val 3871"/>
            </a:avLst>
          </a:prstGeom>
          <a:solidFill>
            <a:srgbClr val="F5F8FE"/>
          </a:solidFill>
          <a:ln w="9525">
            <a:solidFill>
              <a:srgbClr val="D5DCEB"/>
            </a:solidFill>
            <a:prstDash val="solid"/>
          </a:ln>
        </p:spPr>
      </p:sp>
      <p:sp>
        <p:nvSpPr>
          <p:cNvPr id="97" name="Text 94"/>
          <p:cNvSpPr/>
          <p:nvPr/>
        </p:nvSpPr>
        <p:spPr>
          <a:xfrm>
            <a:off x="6382512" y="2487168"/>
            <a:ext cx="5230368"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What the results show</a:t>
            </a:r>
            <a:endParaRPr lang="en-US" sz="1300" dirty="0"/>
          </a:p>
        </p:txBody>
      </p:sp>
      <p:sp>
        <p:nvSpPr>
          <p:cNvPr id="98" name="Text 95"/>
          <p:cNvSpPr/>
          <p:nvPr/>
        </p:nvSpPr>
        <p:spPr>
          <a:xfrm>
            <a:off x="6382512" y="2816352"/>
            <a:ext cx="5230368" cy="92354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The block and the stone have similar densities (2.7 and 2.6 g/cm³): rock and metal.</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The polythene cube (0.93 g/cm³) is less dense than water, so it floats.</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Mass ∝ volume for one material: a straight line through the origin; </a:t>
            </a:r>
            <a:r>
              <a:rPr lang="en-US" sz="1050" b="1" dirty="0">
                <a:solidFill>
                  <a:srgbClr val="262B3A"/>
                </a:solidFill>
                <a:latin typeface="Calibri" pitchFamily="34" charset="0"/>
                <a:ea typeface="Calibri" pitchFamily="34" charset="-122"/>
                <a:cs typeface="Calibri" pitchFamily="34" charset="-120"/>
              </a:rPr>
              <a:t>gradient = density</a:t>
            </a:r>
            <a:r>
              <a:rPr lang="en-US" sz="1050" dirty="0">
                <a:solidFill>
                  <a:srgbClr val="262B3A"/>
                </a:solidFill>
                <a:latin typeface="Calibri" pitchFamily="34" charset="0"/>
                <a:ea typeface="Calibri" pitchFamily="34" charset="-122"/>
                <a:cs typeface="Calibri" pitchFamily="34" charset="-120"/>
              </a:rPr>
              <a:t>.</a:t>
            </a:r>
            <a:endParaRPr lang="en-US" sz="1050" dirty="0"/>
          </a:p>
        </p:txBody>
      </p:sp>
      <p:sp>
        <p:nvSpPr>
          <p:cNvPr id="99" name="Shape 96"/>
          <p:cNvSpPr/>
          <p:nvPr/>
        </p:nvSpPr>
        <p:spPr>
          <a:xfrm>
            <a:off x="6217920" y="3931920"/>
            <a:ext cx="5559552" cy="1783080"/>
          </a:xfrm>
          <a:prstGeom prst="roundRect">
            <a:avLst>
              <a:gd name="adj" fmla="val 3077"/>
            </a:avLst>
          </a:prstGeom>
          <a:solidFill>
            <a:srgbClr val="FFF4E0"/>
          </a:solidFill>
          <a:ln w="9525">
            <a:solidFill>
              <a:srgbClr val="F1D9A8"/>
            </a:solidFill>
            <a:prstDash val="solid"/>
          </a:ln>
        </p:spPr>
      </p:sp>
      <p:sp>
        <p:nvSpPr>
          <p:cNvPr id="100" name="Text 97"/>
          <p:cNvSpPr/>
          <p:nvPr/>
        </p:nvSpPr>
        <p:spPr>
          <a:xfrm>
            <a:off x="6382512" y="400507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Sources of error and improvements</a:t>
            </a:r>
            <a:endParaRPr lang="en-US" sz="1300" dirty="0"/>
          </a:p>
        </p:txBody>
      </p:sp>
      <p:sp>
        <p:nvSpPr>
          <p:cNvPr id="101" name="Text 98"/>
          <p:cNvSpPr/>
          <p:nvPr/>
        </p:nvSpPr>
        <p:spPr>
          <a:xfrm>
            <a:off x="6382512" y="4315968"/>
            <a:ext cx="5230368" cy="1325880"/>
          </a:xfrm>
          <a:prstGeom prst="rect">
            <a:avLst/>
          </a:prstGeom>
          <a:noFill/>
          <a:ln/>
        </p:spPr>
        <p:txBody>
          <a:bodyPr wrap="square" lIns="0" tIns="0" rIns="0" bIns="0" rtlCol="0" anchor="t"/>
          <a:lstStyle/>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Ruler   </a:t>
            </a:r>
            <a:r>
              <a:rPr lang="en-US" sz="1050" dirty="0">
                <a:solidFill>
                  <a:srgbClr val="262B3A"/>
                </a:solidFill>
                <a:latin typeface="Calibri" pitchFamily="34" charset="0"/>
                <a:ea typeface="Calibri" pitchFamily="34" charset="-122"/>
                <a:cs typeface="Calibri" pitchFamily="34" charset="-120"/>
              </a:rPr>
              <a:t>±1 mm on a 20 mm side is a 5% error → use vernier callipers</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Displacement   </a:t>
            </a:r>
            <a:r>
              <a:rPr lang="en-US" sz="1050" dirty="0">
                <a:solidFill>
                  <a:srgbClr val="262B3A"/>
                </a:solidFill>
                <a:latin typeface="Calibri" pitchFamily="34" charset="0"/>
                <a:ea typeface="Calibri" pitchFamily="34" charset="-122"/>
                <a:cs typeface="Calibri" pitchFamily="34" charset="-120"/>
              </a:rPr>
              <a:t>drops stay in the spout; air bubbles on the stone → tap to remove, wait for drips</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Cylinder   </a:t>
            </a:r>
            <a:r>
              <a:rPr lang="en-US" sz="1050" dirty="0">
                <a:solidFill>
                  <a:srgbClr val="262B3A"/>
                </a:solidFill>
                <a:latin typeface="Calibri" pitchFamily="34" charset="0"/>
                <a:ea typeface="Calibri" pitchFamily="34" charset="-122"/>
                <a:cs typeface="Calibri" pitchFamily="34" charset="-120"/>
              </a:rPr>
              <a:t>parallax → read the meniscus at eye level; use a narrower cylinder</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repeat each measurement and calculate a mean</a:t>
            </a:r>
            <a:endParaRPr lang="en-US" sz="1050" dirty="0"/>
          </a:p>
        </p:txBody>
      </p:sp>
      <p:sp>
        <p:nvSpPr>
          <p:cNvPr id="102" name="Shape 99"/>
          <p:cNvSpPr/>
          <p:nvPr/>
        </p:nvSpPr>
        <p:spPr>
          <a:xfrm>
            <a:off x="411480" y="5833872"/>
            <a:ext cx="11368735" cy="530352"/>
          </a:xfrm>
          <a:prstGeom prst="rect">
            <a:avLst/>
          </a:prstGeom>
          <a:solidFill>
            <a:srgbClr val="FFF4E0"/>
          </a:solidFill>
          <a:ln w="6350">
            <a:solidFill>
              <a:srgbClr val="F1D9A8"/>
            </a:solidFill>
            <a:prstDash val="solid"/>
          </a:ln>
        </p:spPr>
      </p:sp>
      <p:sp>
        <p:nvSpPr>
          <p:cNvPr id="103" name="Shape 100"/>
          <p:cNvSpPr/>
          <p:nvPr/>
        </p:nvSpPr>
        <p:spPr>
          <a:xfrm>
            <a:off x="411480" y="5833872"/>
            <a:ext cx="82296" cy="530352"/>
          </a:xfrm>
          <a:prstGeom prst="rect">
            <a:avLst/>
          </a:prstGeom>
          <a:solidFill>
            <a:srgbClr val="E39A2F"/>
          </a:solidFill>
          <a:ln w="12700">
            <a:solidFill>
              <a:srgbClr val="E39A2F"/>
            </a:solidFill>
            <a:prstDash val="solid"/>
          </a:ln>
        </p:spPr>
      </p:sp>
      <p:sp>
        <p:nvSpPr>
          <p:cNvPr id="104" name="Text 101"/>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Use the table: calculate the density of the stone in kg/m³. Which object would float on water (1000 kg/m³)?</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3</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P6.1.4 • PAG P1 density</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P6.1 How does energy transform matter?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3  |  13</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how to measure the </a:t>
            </a:r>
            <a:r>
              <a:rPr lang="en-US" sz="1250" b="1" dirty="0">
                <a:solidFill>
                  <a:srgbClr val="262B3A"/>
                </a:solidFill>
                <a:latin typeface="Calibri" pitchFamily="34" charset="0"/>
                <a:ea typeface="Calibri" pitchFamily="34" charset="-122"/>
                <a:cs typeface="Calibri" pitchFamily="34" charset="-120"/>
              </a:rPr>
              <a:t>volume</a:t>
            </a:r>
            <a:r>
              <a:rPr lang="en-US" sz="1250" dirty="0">
                <a:solidFill>
                  <a:srgbClr val="262B3A"/>
                </a:solidFill>
                <a:latin typeface="Calibri" pitchFamily="34" charset="0"/>
                <a:ea typeface="Calibri" pitchFamily="34" charset="-122"/>
                <a:cs typeface="Calibri" pitchFamily="34" charset="-120"/>
              </a:rPr>
              <a:t> of an irregularly shaped stone using a displacement can.</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stone has a mass of </a:t>
            </a:r>
            <a:r>
              <a:rPr lang="en-US" sz="1250" b="1" dirty="0">
                <a:solidFill>
                  <a:srgbClr val="262B3A"/>
                </a:solidFill>
                <a:latin typeface="Calibri" pitchFamily="34" charset="0"/>
                <a:ea typeface="Calibri" pitchFamily="34" charset="-122"/>
                <a:cs typeface="Calibri" pitchFamily="34" charset="-120"/>
              </a:rPr>
              <a:t>39.0 g</a:t>
            </a:r>
            <a:r>
              <a:rPr lang="en-US" sz="1250" dirty="0">
                <a:solidFill>
                  <a:srgbClr val="262B3A"/>
                </a:solidFill>
                <a:latin typeface="Calibri" pitchFamily="34" charset="0"/>
                <a:ea typeface="Calibri" pitchFamily="34" charset="-122"/>
                <a:cs typeface="Calibri" pitchFamily="34" charset="-120"/>
              </a:rPr>
              <a:t>. When it is put into a measuring cylinder of water, the reading rises from </a:t>
            </a:r>
            <a:r>
              <a:rPr lang="en-US" sz="1250" b="1" dirty="0">
                <a:solidFill>
                  <a:srgbClr val="262B3A"/>
                </a:solidFill>
                <a:latin typeface="Calibri" pitchFamily="34" charset="0"/>
                <a:ea typeface="Calibri" pitchFamily="34" charset="-122"/>
                <a:cs typeface="Calibri" pitchFamily="34" charset="-120"/>
              </a:rPr>
              <a:t>50.0 cm³</a:t>
            </a:r>
            <a:r>
              <a:rPr lang="en-US" sz="1250" dirty="0">
                <a:solidFill>
                  <a:srgbClr val="262B3A"/>
                </a:solidFill>
                <a:latin typeface="Calibri" pitchFamily="34" charset="0"/>
                <a:ea typeface="Calibri" pitchFamily="34" charset="-122"/>
                <a:cs typeface="Calibri" pitchFamily="34" charset="-120"/>
              </a:rPr>
              <a:t> to </a:t>
            </a:r>
            <a:r>
              <a:rPr lang="en-US" sz="1250" b="1" dirty="0">
                <a:solidFill>
                  <a:srgbClr val="262B3A"/>
                </a:solidFill>
                <a:latin typeface="Calibri" pitchFamily="34" charset="0"/>
                <a:ea typeface="Calibri" pitchFamily="34" charset="-122"/>
                <a:cs typeface="Calibri" pitchFamily="34" charset="-120"/>
              </a:rPr>
              <a:t>65.0 cm³</a:t>
            </a:r>
            <a:r>
              <a:rPr lang="en-US" sz="1250" dirty="0">
                <a:solidFill>
                  <a:srgbClr val="262B3A"/>
                </a:solidFill>
                <a:latin typeface="Calibri" pitchFamily="34" charset="0"/>
                <a:ea typeface="Calibri" pitchFamily="34" charset="-122"/>
                <a:cs typeface="Calibri" pitchFamily="34" charset="-120"/>
              </a:rPr>
              <a:t>. Calculate the density of the stone.</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source of error when measuring a small block with a ruler, and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improvement.</a:t>
            </a:r>
            <a:endParaRPr lang="en-US" sz="1250" dirty="0"/>
          </a:p>
        </p:txBody>
      </p:sp>
      <p:sp>
        <p:nvSpPr>
          <p:cNvPr id="22" name="Text 20"/>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Heating changes internal energy</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P6.1.5 • heating raises the temperature OR changes the state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P6.1 How does energy transform matter?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P6.1.5  |  14</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energy supplied by heating goes to the kinetic or potential energy of the particles</a:t>
            </a:r>
            <a:endParaRPr lang="en-US" sz="1000" dirty="0"/>
          </a:p>
        </p:txBody>
      </p:sp>
      <p:sp>
        <p:nvSpPr>
          <p:cNvPr id="10" name="Shape 8"/>
          <p:cNvSpPr/>
          <p:nvPr/>
        </p:nvSpPr>
        <p:spPr>
          <a:xfrm>
            <a:off x="1920240" y="1371600"/>
            <a:ext cx="2560320" cy="685800"/>
          </a:xfrm>
          <a:prstGeom prst="roundRect">
            <a:avLst>
              <a:gd name="adj" fmla="val 10667"/>
            </a:avLst>
          </a:prstGeom>
          <a:solidFill>
            <a:srgbClr val="C8414C"/>
          </a:solidFill>
          <a:ln/>
        </p:spPr>
      </p:sp>
      <p:sp>
        <p:nvSpPr>
          <p:cNvPr id="11" name="Text 9"/>
          <p:cNvSpPr/>
          <p:nvPr/>
        </p:nvSpPr>
        <p:spPr>
          <a:xfrm>
            <a:off x="1920240" y="1371600"/>
            <a:ext cx="256032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HEATING</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energy transferred to the particles</a:t>
            </a:r>
            <a:endParaRPr lang="en-US" sz="1100" dirty="0"/>
          </a:p>
        </p:txBody>
      </p:sp>
      <p:sp>
        <p:nvSpPr>
          <p:cNvPr id="12" name="Shape 10"/>
          <p:cNvSpPr/>
          <p:nvPr/>
        </p:nvSpPr>
        <p:spPr>
          <a:xfrm flipH="1">
            <a:off x="1737360" y="2103120"/>
            <a:ext cx="914400" cy="594360"/>
          </a:xfrm>
          <a:prstGeom prst="line">
            <a:avLst/>
          </a:prstGeom>
          <a:noFill/>
          <a:ln w="31750">
            <a:solidFill>
              <a:srgbClr val="C8414C"/>
            </a:solidFill>
            <a:prstDash val="solid"/>
            <a:tailEnd type="triangle"/>
          </a:ln>
        </p:spPr>
      </p:sp>
      <p:sp>
        <p:nvSpPr>
          <p:cNvPr id="13" name="Shape 11"/>
          <p:cNvSpPr/>
          <p:nvPr/>
        </p:nvSpPr>
        <p:spPr>
          <a:xfrm>
            <a:off x="3749040" y="2103120"/>
            <a:ext cx="914400" cy="594360"/>
          </a:xfrm>
          <a:prstGeom prst="line">
            <a:avLst/>
          </a:prstGeom>
          <a:noFill/>
          <a:ln w="31750">
            <a:solidFill>
              <a:srgbClr val="C8414C"/>
            </a:solidFill>
            <a:prstDash val="solid"/>
            <a:tailEnd type="triangle"/>
          </a:ln>
        </p:spPr>
      </p:sp>
      <p:sp>
        <p:nvSpPr>
          <p:cNvPr id="14" name="Shape 12"/>
          <p:cNvSpPr/>
          <p:nvPr/>
        </p:nvSpPr>
        <p:spPr>
          <a:xfrm>
            <a:off x="594360" y="2743200"/>
            <a:ext cx="2423160" cy="2514600"/>
          </a:xfrm>
          <a:prstGeom prst="roundRect">
            <a:avLst>
              <a:gd name="adj" fmla="val 1887"/>
            </a:avLst>
          </a:prstGeom>
          <a:solidFill>
            <a:srgbClr val="FFFFFF"/>
          </a:solidFill>
          <a:ln w="12700">
            <a:solidFill>
              <a:srgbClr val="D5DCEB"/>
            </a:solidFill>
            <a:prstDash val="solid"/>
          </a:ln>
        </p:spPr>
      </p:sp>
      <p:sp>
        <p:nvSpPr>
          <p:cNvPr id="15" name="Text 13"/>
          <p:cNvSpPr/>
          <p:nvPr/>
        </p:nvSpPr>
        <p:spPr>
          <a:xfrm>
            <a:off x="594360" y="2788920"/>
            <a:ext cx="2423160" cy="256032"/>
          </a:xfrm>
          <a:prstGeom prst="rect">
            <a:avLst/>
          </a:prstGeom>
          <a:noFill/>
          <a:ln/>
        </p:spPr>
        <p:txBody>
          <a:bodyPr wrap="square" lIns="0" tIns="0" rIns="0" bIns="0" rtlCol="0" anchor="ctr"/>
          <a:lstStyle/>
          <a:p>
            <a:pPr algn="ctr" indent="0" marL="0">
              <a:buNone/>
            </a:pPr>
            <a:r>
              <a:rPr lang="en-US" sz="1150" b="1" dirty="0">
                <a:solidFill>
                  <a:srgbClr val="C8414C"/>
                </a:solidFill>
                <a:latin typeface="Calibri" pitchFamily="34" charset="0"/>
                <a:ea typeface="Calibri" pitchFamily="34" charset="-122"/>
                <a:cs typeface="Calibri" pitchFamily="34" charset="-120"/>
              </a:rPr>
              <a:t>Temperature rises</a:t>
            </a:r>
            <a:endParaRPr lang="en-US" sz="1150" dirty="0"/>
          </a:p>
        </p:txBody>
      </p:sp>
      <p:sp>
        <p:nvSpPr>
          <p:cNvPr id="16" name="Shape 14"/>
          <p:cNvSpPr/>
          <p:nvPr/>
        </p:nvSpPr>
        <p:spPr>
          <a:xfrm>
            <a:off x="1143000" y="3108960"/>
            <a:ext cx="1325880" cy="960120"/>
          </a:xfrm>
          <a:prstGeom prst="rect">
            <a:avLst/>
          </a:prstGeom>
          <a:solidFill>
            <a:srgbClr val="FFFFFF"/>
          </a:solidFill>
          <a:ln w="15875">
            <a:solidFill>
              <a:srgbClr val="1A2340"/>
            </a:solidFill>
            <a:prstDash val="solid"/>
          </a:ln>
        </p:spPr>
      </p:sp>
      <p:sp>
        <p:nvSpPr>
          <p:cNvPr id="17" name="Shape 15"/>
          <p:cNvSpPr/>
          <p:nvPr/>
        </p:nvSpPr>
        <p:spPr>
          <a:xfrm>
            <a:off x="1220374" y="3872603"/>
            <a:ext cx="149230" cy="149230"/>
          </a:xfrm>
          <a:prstGeom prst="ellipse">
            <a:avLst/>
          </a:prstGeom>
          <a:solidFill>
            <a:srgbClr val="3FA3C9"/>
          </a:solidFill>
          <a:ln w="9525">
            <a:solidFill>
              <a:srgbClr val="1F6E8C"/>
            </a:solidFill>
            <a:prstDash val="solid"/>
          </a:ln>
        </p:spPr>
      </p:sp>
      <p:sp>
        <p:nvSpPr>
          <p:cNvPr id="18" name="Shape 16"/>
          <p:cNvSpPr/>
          <p:nvPr/>
        </p:nvSpPr>
        <p:spPr>
          <a:xfrm>
            <a:off x="1376237" y="3898116"/>
            <a:ext cx="149230" cy="149230"/>
          </a:xfrm>
          <a:prstGeom prst="ellipse">
            <a:avLst/>
          </a:prstGeom>
          <a:solidFill>
            <a:srgbClr val="3FA3C9"/>
          </a:solidFill>
          <a:ln w="9525">
            <a:solidFill>
              <a:srgbClr val="1F6E8C"/>
            </a:solidFill>
            <a:prstDash val="solid"/>
          </a:ln>
        </p:spPr>
      </p:sp>
      <p:sp>
        <p:nvSpPr>
          <p:cNvPr id="19" name="Shape 17"/>
          <p:cNvSpPr/>
          <p:nvPr/>
        </p:nvSpPr>
        <p:spPr>
          <a:xfrm>
            <a:off x="1554698" y="3872094"/>
            <a:ext cx="149230" cy="149230"/>
          </a:xfrm>
          <a:prstGeom prst="ellipse">
            <a:avLst/>
          </a:prstGeom>
          <a:solidFill>
            <a:srgbClr val="3FA3C9"/>
          </a:solidFill>
          <a:ln w="9525">
            <a:solidFill>
              <a:srgbClr val="1F6E8C"/>
            </a:solidFill>
            <a:prstDash val="solid"/>
          </a:ln>
        </p:spPr>
      </p:sp>
      <p:sp>
        <p:nvSpPr>
          <p:cNvPr id="20" name="Shape 18"/>
          <p:cNvSpPr/>
          <p:nvPr/>
        </p:nvSpPr>
        <p:spPr>
          <a:xfrm>
            <a:off x="1715703" y="3887226"/>
            <a:ext cx="149230" cy="149230"/>
          </a:xfrm>
          <a:prstGeom prst="ellipse">
            <a:avLst/>
          </a:prstGeom>
          <a:solidFill>
            <a:srgbClr val="3FA3C9"/>
          </a:solidFill>
          <a:ln w="9525">
            <a:solidFill>
              <a:srgbClr val="1F6E8C"/>
            </a:solidFill>
            <a:prstDash val="solid"/>
          </a:ln>
        </p:spPr>
      </p:sp>
      <p:sp>
        <p:nvSpPr>
          <p:cNvPr id="21" name="Shape 19"/>
          <p:cNvSpPr/>
          <p:nvPr/>
        </p:nvSpPr>
        <p:spPr>
          <a:xfrm>
            <a:off x="1881230" y="3875530"/>
            <a:ext cx="149230" cy="149230"/>
          </a:xfrm>
          <a:prstGeom prst="ellipse">
            <a:avLst/>
          </a:prstGeom>
          <a:solidFill>
            <a:srgbClr val="3FA3C9"/>
          </a:solidFill>
          <a:ln w="9525">
            <a:solidFill>
              <a:srgbClr val="1F6E8C"/>
            </a:solidFill>
            <a:prstDash val="solid"/>
          </a:ln>
        </p:spPr>
      </p:sp>
      <p:sp>
        <p:nvSpPr>
          <p:cNvPr id="22" name="Shape 20"/>
          <p:cNvSpPr/>
          <p:nvPr/>
        </p:nvSpPr>
        <p:spPr>
          <a:xfrm>
            <a:off x="2043061" y="3898810"/>
            <a:ext cx="149230" cy="149230"/>
          </a:xfrm>
          <a:prstGeom prst="ellipse">
            <a:avLst/>
          </a:prstGeom>
          <a:solidFill>
            <a:srgbClr val="3FA3C9"/>
          </a:solidFill>
          <a:ln w="9525">
            <a:solidFill>
              <a:srgbClr val="1F6E8C"/>
            </a:solidFill>
            <a:prstDash val="solid"/>
          </a:ln>
        </p:spPr>
      </p:sp>
      <p:sp>
        <p:nvSpPr>
          <p:cNvPr id="23" name="Shape 21"/>
          <p:cNvSpPr/>
          <p:nvPr/>
        </p:nvSpPr>
        <p:spPr>
          <a:xfrm>
            <a:off x="2216429" y="3892475"/>
            <a:ext cx="149230" cy="149230"/>
          </a:xfrm>
          <a:prstGeom prst="ellipse">
            <a:avLst/>
          </a:prstGeom>
          <a:solidFill>
            <a:srgbClr val="3FA3C9"/>
          </a:solidFill>
          <a:ln w="9525">
            <a:solidFill>
              <a:srgbClr val="1F6E8C"/>
            </a:solidFill>
            <a:prstDash val="solid"/>
          </a:ln>
        </p:spPr>
      </p:sp>
      <p:sp>
        <p:nvSpPr>
          <p:cNvPr id="24" name="Shape 22"/>
          <p:cNvSpPr/>
          <p:nvPr/>
        </p:nvSpPr>
        <p:spPr>
          <a:xfrm>
            <a:off x="1279421" y="3724627"/>
            <a:ext cx="149230" cy="149230"/>
          </a:xfrm>
          <a:prstGeom prst="ellipse">
            <a:avLst/>
          </a:prstGeom>
          <a:solidFill>
            <a:srgbClr val="3FA3C9"/>
          </a:solidFill>
          <a:ln w="9525">
            <a:solidFill>
              <a:srgbClr val="1F6E8C"/>
            </a:solidFill>
            <a:prstDash val="solid"/>
          </a:ln>
        </p:spPr>
      </p:sp>
      <p:sp>
        <p:nvSpPr>
          <p:cNvPr id="25" name="Shape 23"/>
          <p:cNvSpPr/>
          <p:nvPr/>
        </p:nvSpPr>
        <p:spPr>
          <a:xfrm>
            <a:off x="1463937" y="3736367"/>
            <a:ext cx="149230" cy="149230"/>
          </a:xfrm>
          <a:prstGeom prst="ellipse">
            <a:avLst/>
          </a:prstGeom>
          <a:solidFill>
            <a:srgbClr val="3FA3C9"/>
          </a:solidFill>
          <a:ln w="9525">
            <a:solidFill>
              <a:srgbClr val="1F6E8C"/>
            </a:solidFill>
            <a:prstDash val="solid"/>
          </a:ln>
        </p:spPr>
      </p:sp>
      <p:sp>
        <p:nvSpPr>
          <p:cNvPr id="26" name="Shape 24"/>
          <p:cNvSpPr/>
          <p:nvPr/>
        </p:nvSpPr>
        <p:spPr>
          <a:xfrm>
            <a:off x="1637801" y="3737292"/>
            <a:ext cx="149230" cy="149230"/>
          </a:xfrm>
          <a:prstGeom prst="ellipse">
            <a:avLst/>
          </a:prstGeom>
          <a:solidFill>
            <a:srgbClr val="3FA3C9"/>
          </a:solidFill>
          <a:ln w="9525">
            <a:solidFill>
              <a:srgbClr val="1F6E8C"/>
            </a:solidFill>
            <a:prstDash val="solid"/>
          </a:ln>
        </p:spPr>
      </p:sp>
      <p:sp>
        <p:nvSpPr>
          <p:cNvPr id="27" name="Shape 25"/>
          <p:cNvSpPr/>
          <p:nvPr/>
        </p:nvSpPr>
        <p:spPr>
          <a:xfrm>
            <a:off x="1793121" y="3720287"/>
            <a:ext cx="149230" cy="149230"/>
          </a:xfrm>
          <a:prstGeom prst="ellipse">
            <a:avLst/>
          </a:prstGeom>
          <a:solidFill>
            <a:srgbClr val="3FA3C9"/>
          </a:solidFill>
          <a:ln w="9525">
            <a:solidFill>
              <a:srgbClr val="1F6E8C"/>
            </a:solidFill>
            <a:prstDash val="solid"/>
          </a:ln>
        </p:spPr>
      </p:sp>
      <p:sp>
        <p:nvSpPr>
          <p:cNvPr id="28" name="Shape 26"/>
          <p:cNvSpPr/>
          <p:nvPr/>
        </p:nvSpPr>
        <p:spPr>
          <a:xfrm>
            <a:off x="1969273" y="3715178"/>
            <a:ext cx="149230" cy="149230"/>
          </a:xfrm>
          <a:prstGeom prst="ellipse">
            <a:avLst/>
          </a:prstGeom>
          <a:solidFill>
            <a:srgbClr val="3FA3C9"/>
          </a:solidFill>
          <a:ln w="9525">
            <a:solidFill>
              <a:srgbClr val="1F6E8C"/>
            </a:solidFill>
            <a:prstDash val="solid"/>
          </a:ln>
        </p:spPr>
      </p:sp>
      <p:sp>
        <p:nvSpPr>
          <p:cNvPr id="29" name="Shape 27"/>
          <p:cNvSpPr/>
          <p:nvPr/>
        </p:nvSpPr>
        <p:spPr>
          <a:xfrm>
            <a:off x="2127068" y="3712693"/>
            <a:ext cx="149230" cy="149230"/>
          </a:xfrm>
          <a:prstGeom prst="ellipse">
            <a:avLst/>
          </a:prstGeom>
          <a:solidFill>
            <a:srgbClr val="3FA3C9"/>
          </a:solidFill>
          <a:ln w="9525">
            <a:solidFill>
              <a:srgbClr val="1F6E8C"/>
            </a:solidFill>
            <a:prstDash val="solid"/>
          </a:ln>
        </p:spPr>
      </p:sp>
      <p:sp>
        <p:nvSpPr>
          <p:cNvPr id="30" name="Shape 28"/>
          <p:cNvSpPr/>
          <p:nvPr/>
        </p:nvSpPr>
        <p:spPr>
          <a:xfrm>
            <a:off x="2289186" y="3741753"/>
            <a:ext cx="149230" cy="149230"/>
          </a:xfrm>
          <a:prstGeom prst="ellipse">
            <a:avLst/>
          </a:prstGeom>
          <a:solidFill>
            <a:srgbClr val="3FA3C9"/>
          </a:solidFill>
          <a:ln w="9525">
            <a:solidFill>
              <a:srgbClr val="1F6E8C"/>
            </a:solidFill>
            <a:prstDash val="solid"/>
          </a:ln>
        </p:spPr>
      </p:sp>
      <p:sp>
        <p:nvSpPr>
          <p:cNvPr id="31" name="Shape 29"/>
          <p:cNvSpPr/>
          <p:nvPr/>
        </p:nvSpPr>
        <p:spPr>
          <a:xfrm>
            <a:off x="1163263" y="3562947"/>
            <a:ext cx="149230" cy="149230"/>
          </a:xfrm>
          <a:prstGeom prst="ellipse">
            <a:avLst/>
          </a:prstGeom>
          <a:solidFill>
            <a:srgbClr val="3FA3C9"/>
          </a:solidFill>
          <a:ln w="9525">
            <a:solidFill>
              <a:srgbClr val="1F6E8C"/>
            </a:solidFill>
            <a:prstDash val="solid"/>
          </a:ln>
        </p:spPr>
      </p:sp>
      <p:sp>
        <p:nvSpPr>
          <p:cNvPr id="32" name="Shape 30"/>
          <p:cNvSpPr/>
          <p:nvPr/>
        </p:nvSpPr>
        <p:spPr>
          <a:xfrm>
            <a:off x="1373544" y="3562142"/>
            <a:ext cx="149230" cy="149230"/>
          </a:xfrm>
          <a:prstGeom prst="ellipse">
            <a:avLst/>
          </a:prstGeom>
          <a:solidFill>
            <a:srgbClr val="3FA3C9"/>
          </a:solidFill>
          <a:ln w="9525">
            <a:solidFill>
              <a:srgbClr val="1F6E8C"/>
            </a:solidFill>
            <a:prstDash val="solid"/>
          </a:ln>
        </p:spPr>
      </p:sp>
      <p:sp>
        <p:nvSpPr>
          <p:cNvPr id="33" name="Shape 31"/>
          <p:cNvSpPr/>
          <p:nvPr/>
        </p:nvSpPr>
        <p:spPr>
          <a:xfrm>
            <a:off x="1552937" y="3582882"/>
            <a:ext cx="149230" cy="149230"/>
          </a:xfrm>
          <a:prstGeom prst="ellipse">
            <a:avLst/>
          </a:prstGeom>
          <a:solidFill>
            <a:srgbClr val="3FA3C9"/>
          </a:solidFill>
          <a:ln w="9525">
            <a:solidFill>
              <a:srgbClr val="1F6E8C"/>
            </a:solidFill>
            <a:prstDash val="solid"/>
          </a:ln>
        </p:spPr>
      </p:sp>
      <p:sp>
        <p:nvSpPr>
          <p:cNvPr id="34" name="Shape 32"/>
          <p:cNvSpPr/>
          <p:nvPr/>
        </p:nvSpPr>
        <p:spPr>
          <a:xfrm>
            <a:off x="1826293" y="3561863"/>
            <a:ext cx="149230" cy="149230"/>
          </a:xfrm>
          <a:prstGeom prst="ellipse">
            <a:avLst/>
          </a:prstGeom>
          <a:solidFill>
            <a:srgbClr val="3FA3C9"/>
          </a:solidFill>
          <a:ln w="9525">
            <a:solidFill>
              <a:srgbClr val="1F6E8C"/>
            </a:solidFill>
            <a:prstDash val="solid"/>
          </a:ln>
        </p:spPr>
      </p:sp>
      <p:sp>
        <p:nvSpPr>
          <p:cNvPr id="35" name="Shape 33"/>
          <p:cNvSpPr/>
          <p:nvPr/>
        </p:nvSpPr>
        <p:spPr>
          <a:xfrm>
            <a:off x="2207273" y="3559759"/>
            <a:ext cx="149230" cy="149230"/>
          </a:xfrm>
          <a:prstGeom prst="ellipse">
            <a:avLst/>
          </a:prstGeom>
          <a:solidFill>
            <a:srgbClr val="3FA3C9"/>
          </a:solidFill>
          <a:ln w="9525">
            <a:solidFill>
              <a:srgbClr val="1F6E8C"/>
            </a:solidFill>
            <a:prstDash val="solid"/>
          </a:ln>
        </p:spPr>
      </p:sp>
      <p:sp>
        <p:nvSpPr>
          <p:cNvPr id="36" name="Shape 34"/>
          <p:cNvSpPr/>
          <p:nvPr/>
        </p:nvSpPr>
        <p:spPr>
          <a:xfrm>
            <a:off x="1269718" y="3440594"/>
            <a:ext cx="149230" cy="149230"/>
          </a:xfrm>
          <a:prstGeom prst="ellipse">
            <a:avLst/>
          </a:prstGeom>
          <a:solidFill>
            <a:srgbClr val="3FA3C9"/>
          </a:solidFill>
          <a:ln w="9525">
            <a:solidFill>
              <a:srgbClr val="1F6E8C"/>
            </a:solidFill>
            <a:prstDash val="solid"/>
          </a:ln>
        </p:spPr>
      </p:sp>
      <p:sp>
        <p:nvSpPr>
          <p:cNvPr id="37" name="Shape 35"/>
          <p:cNvSpPr/>
          <p:nvPr/>
        </p:nvSpPr>
        <p:spPr>
          <a:xfrm>
            <a:off x="1474664" y="3435002"/>
            <a:ext cx="149230" cy="149230"/>
          </a:xfrm>
          <a:prstGeom prst="ellipse">
            <a:avLst/>
          </a:prstGeom>
          <a:solidFill>
            <a:srgbClr val="3FA3C9"/>
          </a:solidFill>
          <a:ln w="9525">
            <a:solidFill>
              <a:srgbClr val="1F6E8C"/>
            </a:solidFill>
            <a:prstDash val="solid"/>
          </a:ln>
        </p:spPr>
      </p:sp>
      <p:sp>
        <p:nvSpPr>
          <p:cNvPr id="38" name="Shape 36"/>
          <p:cNvSpPr/>
          <p:nvPr/>
        </p:nvSpPr>
        <p:spPr>
          <a:xfrm>
            <a:off x="1638641" y="3400252"/>
            <a:ext cx="149230" cy="149230"/>
          </a:xfrm>
          <a:prstGeom prst="ellipse">
            <a:avLst/>
          </a:prstGeom>
          <a:solidFill>
            <a:srgbClr val="3FA3C9"/>
          </a:solidFill>
          <a:ln w="9525">
            <a:solidFill>
              <a:srgbClr val="1F6E8C"/>
            </a:solidFill>
            <a:prstDash val="solid"/>
          </a:ln>
        </p:spPr>
      </p:sp>
      <p:sp>
        <p:nvSpPr>
          <p:cNvPr id="39" name="Shape 37"/>
          <p:cNvSpPr/>
          <p:nvPr/>
        </p:nvSpPr>
        <p:spPr>
          <a:xfrm>
            <a:off x="1905014" y="3420171"/>
            <a:ext cx="149230" cy="149230"/>
          </a:xfrm>
          <a:prstGeom prst="ellipse">
            <a:avLst/>
          </a:prstGeom>
          <a:solidFill>
            <a:srgbClr val="3FA3C9"/>
          </a:solidFill>
          <a:ln w="9525">
            <a:solidFill>
              <a:srgbClr val="1F6E8C"/>
            </a:solidFill>
            <a:prstDash val="solid"/>
          </a:ln>
        </p:spPr>
      </p:sp>
      <p:sp>
        <p:nvSpPr>
          <p:cNvPr id="40" name="Shape 38"/>
          <p:cNvSpPr/>
          <p:nvPr/>
        </p:nvSpPr>
        <p:spPr>
          <a:xfrm>
            <a:off x="2275889" y="3405201"/>
            <a:ext cx="149230" cy="149230"/>
          </a:xfrm>
          <a:prstGeom prst="ellipse">
            <a:avLst/>
          </a:prstGeom>
          <a:solidFill>
            <a:srgbClr val="3FA3C9"/>
          </a:solidFill>
          <a:ln w="9525">
            <a:solidFill>
              <a:srgbClr val="1F6E8C"/>
            </a:solidFill>
            <a:prstDash val="solid"/>
          </a:ln>
        </p:spPr>
      </p:sp>
      <p:sp>
        <p:nvSpPr>
          <p:cNvPr id="41" name="Shape 39"/>
          <p:cNvSpPr/>
          <p:nvPr/>
        </p:nvSpPr>
        <p:spPr>
          <a:xfrm flipH="1">
            <a:off x="1921343" y="4029720"/>
            <a:ext cx="16388" cy="71996"/>
          </a:xfrm>
          <a:prstGeom prst="line">
            <a:avLst/>
          </a:prstGeom>
          <a:noFill/>
          <a:ln w="9525">
            <a:solidFill>
              <a:srgbClr val="6B7385"/>
            </a:solidFill>
            <a:prstDash val="solid"/>
            <a:tailEnd type="triangle"/>
          </a:ln>
        </p:spPr>
      </p:sp>
      <p:sp>
        <p:nvSpPr>
          <p:cNvPr id="42" name="Shape 40"/>
          <p:cNvSpPr/>
          <p:nvPr/>
        </p:nvSpPr>
        <p:spPr>
          <a:xfrm flipH="1" flipV="1">
            <a:off x="2282558" y="3683840"/>
            <a:ext cx="38590" cy="62951"/>
          </a:xfrm>
          <a:prstGeom prst="line">
            <a:avLst/>
          </a:prstGeom>
          <a:noFill/>
          <a:ln w="9525">
            <a:solidFill>
              <a:srgbClr val="6B7385"/>
            </a:solidFill>
            <a:prstDash val="solid"/>
            <a:tailEnd type="triangle"/>
          </a:ln>
        </p:spPr>
      </p:sp>
      <p:sp>
        <p:nvSpPr>
          <p:cNvPr id="43" name="Shape 41"/>
          <p:cNvSpPr/>
          <p:nvPr/>
        </p:nvSpPr>
        <p:spPr>
          <a:xfrm flipH="1">
            <a:off x="1917368" y="3569564"/>
            <a:ext cx="29574" cy="67656"/>
          </a:xfrm>
          <a:prstGeom prst="line">
            <a:avLst/>
          </a:prstGeom>
          <a:noFill/>
          <a:ln w="9525">
            <a:solidFill>
              <a:srgbClr val="6B7385"/>
            </a:solidFill>
            <a:prstDash val="solid"/>
            <a:tailEnd type="triangle"/>
          </a:ln>
        </p:spPr>
      </p:sp>
      <p:sp>
        <p:nvSpPr>
          <p:cNvPr id="44" name="Text 42"/>
          <p:cNvSpPr/>
          <p:nvPr/>
        </p:nvSpPr>
        <p:spPr>
          <a:xfrm>
            <a:off x="640080" y="4114800"/>
            <a:ext cx="2331720" cy="502920"/>
          </a:xfrm>
          <a:prstGeom prst="rect">
            <a:avLst/>
          </a:prstGeom>
          <a:noFill/>
          <a:ln/>
        </p:spPr>
        <p:txBody>
          <a:bodyPr wrap="square" lIns="0" tIns="0" rIns="0" bIns="0" rtlCol="0" anchor="t"/>
          <a:lstStyle/>
          <a:p>
            <a:pPr algn="ctr" indent="0" marL="0">
              <a:buNone/>
            </a:pPr>
            <a:r>
              <a:rPr lang="en-US" sz="1050" dirty="0">
                <a:solidFill>
                  <a:srgbClr val="262B3A"/>
                </a:solidFill>
                <a:latin typeface="Calibri" pitchFamily="34" charset="0"/>
                <a:ea typeface="Calibri" pitchFamily="34" charset="-122"/>
                <a:cs typeface="Calibri" pitchFamily="34" charset="-120"/>
              </a:rPr>
              <a:t>particles move </a:t>
            </a:r>
            <a:r>
              <a:rPr lang="en-US" sz="1050" b="1" dirty="0">
                <a:solidFill>
                  <a:srgbClr val="262B3A"/>
                </a:solidFill>
                <a:latin typeface="Calibri" pitchFamily="34" charset="0"/>
                <a:ea typeface="Calibri" pitchFamily="34" charset="-122"/>
                <a:cs typeface="Calibri" pitchFamily="34" charset="-120"/>
              </a:rPr>
              <a:t>faster</a:t>
            </a:r>
            <a:r>
              <a:rPr lang="en-US" sz="1050" dirty="0">
                <a:solidFill>
                  <a:srgbClr val="262B3A"/>
                </a:solidFill>
                <a:latin typeface="Calibri" pitchFamily="34" charset="0"/>
                <a:ea typeface="Calibri" pitchFamily="34" charset="-122"/>
                <a:cs typeface="Calibri" pitchFamily="34" charset="-120"/>
              </a:rPr>
              <a:t>: more </a:t>
            </a:r>
            <a:r>
              <a:rPr lang="en-US" sz="1050" b="1" dirty="0">
                <a:solidFill>
                  <a:srgbClr val="262B3A"/>
                </a:solidFill>
                <a:latin typeface="Calibri" pitchFamily="34" charset="0"/>
                <a:ea typeface="Calibri" pitchFamily="34" charset="-122"/>
                <a:cs typeface="Calibri" pitchFamily="34" charset="-120"/>
              </a:rPr>
              <a:t>kinetic</a:t>
            </a:r>
            <a:r>
              <a:rPr lang="en-US" sz="1050" dirty="0">
                <a:solidFill>
                  <a:srgbClr val="262B3A"/>
                </a:solidFill>
                <a:latin typeface="Calibri" pitchFamily="34" charset="0"/>
                <a:ea typeface="Calibri" pitchFamily="34" charset="-122"/>
                <a:cs typeface="Calibri" pitchFamily="34" charset="-120"/>
              </a:rPr>
              <a:t> energy</a:t>
            </a:r>
            <a:endParaRPr lang="en-US" sz="1050" dirty="0"/>
          </a:p>
        </p:txBody>
      </p:sp>
      <p:sp>
        <p:nvSpPr>
          <p:cNvPr id="45" name="Text 43"/>
          <p:cNvSpPr/>
          <p:nvPr/>
        </p:nvSpPr>
        <p:spPr>
          <a:xfrm>
            <a:off x="640080" y="4663440"/>
            <a:ext cx="233172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state does not change</a:t>
            </a:r>
            <a:endParaRPr lang="en-US" sz="1050" dirty="0"/>
          </a:p>
        </p:txBody>
      </p:sp>
      <p:sp>
        <p:nvSpPr>
          <p:cNvPr id="46" name="Shape 44"/>
          <p:cNvSpPr/>
          <p:nvPr/>
        </p:nvSpPr>
        <p:spPr>
          <a:xfrm>
            <a:off x="3383280" y="2743200"/>
            <a:ext cx="2423160" cy="2514600"/>
          </a:xfrm>
          <a:prstGeom prst="roundRect">
            <a:avLst>
              <a:gd name="adj" fmla="val 1887"/>
            </a:avLst>
          </a:prstGeom>
          <a:solidFill>
            <a:srgbClr val="FFFFFF"/>
          </a:solidFill>
          <a:ln w="12700">
            <a:solidFill>
              <a:srgbClr val="D5DCEB"/>
            </a:solidFill>
            <a:prstDash val="solid"/>
          </a:ln>
        </p:spPr>
      </p:sp>
      <p:sp>
        <p:nvSpPr>
          <p:cNvPr id="47" name="Text 45"/>
          <p:cNvSpPr/>
          <p:nvPr/>
        </p:nvSpPr>
        <p:spPr>
          <a:xfrm>
            <a:off x="3383280" y="2788920"/>
            <a:ext cx="2423160" cy="256032"/>
          </a:xfrm>
          <a:prstGeom prst="rect">
            <a:avLst/>
          </a:prstGeom>
          <a:noFill/>
          <a:ln/>
        </p:spPr>
        <p:txBody>
          <a:bodyPr wrap="square" lIns="0" tIns="0" rIns="0" bIns="0" rtlCol="0" anchor="ctr"/>
          <a:lstStyle/>
          <a:p>
            <a:pPr algn="ctr" indent="0" marL="0">
              <a:buNone/>
            </a:pPr>
            <a:r>
              <a:rPr lang="en-US" sz="1150" b="1" dirty="0">
                <a:solidFill>
                  <a:srgbClr val="2E5BD8"/>
                </a:solidFill>
                <a:latin typeface="Calibri" pitchFamily="34" charset="0"/>
                <a:ea typeface="Calibri" pitchFamily="34" charset="-122"/>
                <a:cs typeface="Calibri" pitchFamily="34" charset="-120"/>
              </a:rPr>
              <a:t>Change of state</a:t>
            </a:r>
            <a:endParaRPr lang="en-US" sz="1150" dirty="0"/>
          </a:p>
        </p:txBody>
      </p:sp>
      <p:sp>
        <p:nvSpPr>
          <p:cNvPr id="48" name="Shape 46"/>
          <p:cNvSpPr/>
          <p:nvPr/>
        </p:nvSpPr>
        <p:spPr>
          <a:xfrm>
            <a:off x="3931920" y="3108960"/>
            <a:ext cx="1325880" cy="960120"/>
          </a:xfrm>
          <a:prstGeom prst="rect">
            <a:avLst/>
          </a:prstGeom>
          <a:solidFill>
            <a:srgbClr val="FFFFFF"/>
          </a:solidFill>
          <a:ln w="15875">
            <a:solidFill>
              <a:srgbClr val="1A2340"/>
            </a:solidFill>
            <a:prstDash val="solid"/>
          </a:ln>
        </p:spPr>
      </p:sp>
      <p:sp>
        <p:nvSpPr>
          <p:cNvPr id="49" name="Shape 47"/>
          <p:cNvSpPr/>
          <p:nvPr/>
        </p:nvSpPr>
        <p:spPr>
          <a:xfrm>
            <a:off x="4309096" y="3246678"/>
            <a:ext cx="149230" cy="149230"/>
          </a:xfrm>
          <a:prstGeom prst="ellipse">
            <a:avLst/>
          </a:prstGeom>
          <a:solidFill>
            <a:srgbClr val="E0884A"/>
          </a:solidFill>
          <a:ln w="9525">
            <a:solidFill>
              <a:srgbClr val="9A5320"/>
            </a:solidFill>
            <a:prstDash val="solid"/>
          </a:ln>
        </p:spPr>
      </p:sp>
      <p:sp>
        <p:nvSpPr>
          <p:cNvPr id="50" name="Shape 48"/>
          <p:cNvSpPr/>
          <p:nvPr/>
        </p:nvSpPr>
        <p:spPr>
          <a:xfrm flipH="1">
            <a:off x="4299629" y="3401756"/>
            <a:ext cx="55179" cy="153611"/>
          </a:xfrm>
          <a:prstGeom prst="line">
            <a:avLst/>
          </a:prstGeom>
          <a:noFill/>
          <a:ln w="12700">
            <a:solidFill>
              <a:srgbClr val="6B7385"/>
            </a:solidFill>
            <a:prstDash val="solid"/>
            <a:tailEnd type="triangle"/>
          </a:ln>
        </p:spPr>
      </p:sp>
      <p:sp>
        <p:nvSpPr>
          <p:cNvPr id="51" name="Shape 49"/>
          <p:cNvSpPr/>
          <p:nvPr/>
        </p:nvSpPr>
        <p:spPr>
          <a:xfrm>
            <a:off x="4600141" y="3792875"/>
            <a:ext cx="149230" cy="149230"/>
          </a:xfrm>
          <a:prstGeom prst="ellipse">
            <a:avLst/>
          </a:prstGeom>
          <a:solidFill>
            <a:srgbClr val="E0884A"/>
          </a:solidFill>
          <a:ln w="9525">
            <a:solidFill>
              <a:srgbClr val="9A5320"/>
            </a:solidFill>
            <a:prstDash val="solid"/>
          </a:ln>
        </p:spPr>
      </p:sp>
      <p:sp>
        <p:nvSpPr>
          <p:cNvPr id="52" name="Shape 50"/>
          <p:cNvSpPr/>
          <p:nvPr/>
        </p:nvSpPr>
        <p:spPr>
          <a:xfrm flipV="1">
            <a:off x="4741223" y="3711054"/>
            <a:ext cx="126892" cy="102661"/>
          </a:xfrm>
          <a:prstGeom prst="line">
            <a:avLst/>
          </a:prstGeom>
          <a:noFill/>
          <a:ln w="12700">
            <a:solidFill>
              <a:srgbClr val="6B7385"/>
            </a:solidFill>
            <a:prstDash val="solid"/>
            <a:tailEnd type="triangle"/>
          </a:ln>
        </p:spPr>
      </p:sp>
      <p:sp>
        <p:nvSpPr>
          <p:cNvPr id="53" name="Shape 51"/>
          <p:cNvSpPr/>
          <p:nvPr/>
        </p:nvSpPr>
        <p:spPr>
          <a:xfrm>
            <a:off x="4052236" y="3784491"/>
            <a:ext cx="149230" cy="149230"/>
          </a:xfrm>
          <a:prstGeom prst="ellipse">
            <a:avLst/>
          </a:prstGeom>
          <a:solidFill>
            <a:srgbClr val="E0884A"/>
          </a:solidFill>
          <a:ln w="9525">
            <a:solidFill>
              <a:srgbClr val="9A5320"/>
            </a:solidFill>
            <a:prstDash val="solid"/>
          </a:ln>
        </p:spPr>
      </p:sp>
      <p:sp>
        <p:nvSpPr>
          <p:cNvPr id="54" name="Shape 52"/>
          <p:cNvSpPr/>
          <p:nvPr/>
        </p:nvSpPr>
        <p:spPr>
          <a:xfrm flipH="1">
            <a:off x="3937484" y="3914534"/>
            <a:ext cx="124272" cy="105817"/>
          </a:xfrm>
          <a:prstGeom prst="line">
            <a:avLst/>
          </a:prstGeom>
          <a:noFill/>
          <a:ln w="12700">
            <a:solidFill>
              <a:srgbClr val="6B7385"/>
            </a:solidFill>
            <a:prstDash val="solid"/>
            <a:tailEnd type="triangle"/>
          </a:ln>
        </p:spPr>
      </p:sp>
      <p:sp>
        <p:nvSpPr>
          <p:cNvPr id="55" name="Shape 53"/>
          <p:cNvSpPr/>
          <p:nvPr/>
        </p:nvSpPr>
        <p:spPr>
          <a:xfrm>
            <a:off x="5016079" y="3350972"/>
            <a:ext cx="149230" cy="149230"/>
          </a:xfrm>
          <a:prstGeom prst="ellipse">
            <a:avLst/>
          </a:prstGeom>
          <a:solidFill>
            <a:srgbClr val="E0884A"/>
          </a:solidFill>
          <a:ln w="9525">
            <a:solidFill>
              <a:srgbClr val="9A5320"/>
            </a:solidFill>
            <a:prstDash val="solid"/>
          </a:ln>
        </p:spPr>
      </p:sp>
      <p:sp>
        <p:nvSpPr>
          <p:cNvPr id="56" name="Shape 54"/>
          <p:cNvSpPr/>
          <p:nvPr/>
        </p:nvSpPr>
        <p:spPr>
          <a:xfrm flipH="1">
            <a:off x="4866441" y="3462563"/>
            <a:ext cx="147166" cy="70590"/>
          </a:xfrm>
          <a:prstGeom prst="line">
            <a:avLst/>
          </a:prstGeom>
          <a:noFill/>
          <a:ln w="12700">
            <a:solidFill>
              <a:srgbClr val="6B7385"/>
            </a:solidFill>
            <a:prstDash val="solid"/>
            <a:tailEnd type="triangle"/>
          </a:ln>
        </p:spPr>
      </p:sp>
      <p:sp>
        <p:nvSpPr>
          <p:cNvPr id="57" name="Text 55"/>
          <p:cNvSpPr/>
          <p:nvPr/>
        </p:nvSpPr>
        <p:spPr>
          <a:xfrm>
            <a:off x="3429000" y="4114800"/>
            <a:ext cx="2331720" cy="502920"/>
          </a:xfrm>
          <a:prstGeom prst="rect">
            <a:avLst/>
          </a:prstGeom>
          <a:noFill/>
          <a:ln/>
        </p:spPr>
        <p:txBody>
          <a:bodyPr wrap="square" lIns="0" tIns="0" rIns="0" bIns="0" rtlCol="0" anchor="t"/>
          <a:lstStyle/>
          <a:p>
            <a:pPr algn="ctr" indent="0" marL="0">
              <a:buNone/>
            </a:pPr>
            <a:r>
              <a:rPr lang="en-US" sz="1050" dirty="0">
                <a:solidFill>
                  <a:srgbClr val="262B3A"/>
                </a:solidFill>
                <a:latin typeface="Calibri" pitchFamily="34" charset="0"/>
                <a:ea typeface="Calibri" pitchFamily="34" charset="-122"/>
                <a:cs typeface="Calibri" pitchFamily="34" charset="-120"/>
              </a:rPr>
              <a:t>bonds between particles broken: more </a:t>
            </a:r>
            <a:r>
              <a:rPr lang="en-US" sz="1050" b="1" dirty="0">
                <a:solidFill>
                  <a:srgbClr val="262B3A"/>
                </a:solidFill>
                <a:latin typeface="Calibri" pitchFamily="34" charset="0"/>
                <a:ea typeface="Calibri" pitchFamily="34" charset="-122"/>
                <a:cs typeface="Calibri" pitchFamily="34" charset="-120"/>
              </a:rPr>
              <a:t>potential</a:t>
            </a:r>
            <a:r>
              <a:rPr lang="en-US" sz="1050" dirty="0">
                <a:solidFill>
                  <a:srgbClr val="262B3A"/>
                </a:solidFill>
                <a:latin typeface="Calibri" pitchFamily="34" charset="0"/>
                <a:ea typeface="Calibri" pitchFamily="34" charset="-122"/>
                <a:cs typeface="Calibri" pitchFamily="34" charset="-120"/>
              </a:rPr>
              <a:t> energy</a:t>
            </a:r>
            <a:endParaRPr lang="en-US" sz="1050" dirty="0"/>
          </a:p>
        </p:txBody>
      </p:sp>
      <p:sp>
        <p:nvSpPr>
          <p:cNvPr id="58" name="Text 56"/>
          <p:cNvSpPr/>
          <p:nvPr/>
        </p:nvSpPr>
        <p:spPr>
          <a:xfrm>
            <a:off x="3429000" y="4663440"/>
            <a:ext cx="233172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temperature stays the same</a:t>
            </a:r>
            <a:endParaRPr lang="en-US" sz="1050" dirty="0"/>
          </a:p>
        </p:txBody>
      </p:sp>
      <p:sp>
        <p:nvSpPr>
          <p:cNvPr id="59" name="Shape 57"/>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60" name="Text 58"/>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Internal energy</a:t>
            </a:r>
            <a:endParaRPr lang="en-US" sz="1300" dirty="0"/>
          </a:p>
        </p:txBody>
      </p:sp>
      <p:sp>
        <p:nvSpPr>
          <p:cNvPr id="61" name="Text 59"/>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Internal energy</a:t>
            </a:r>
            <a:r>
              <a:rPr lang="en-US" sz="1150" dirty="0">
                <a:solidFill>
                  <a:srgbClr val="262B3A"/>
                </a:solidFill>
                <a:latin typeface="Calibri" pitchFamily="34" charset="0"/>
                <a:ea typeface="Calibri" pitchFamily="34" charset="-122"/>
                <a:cs typeface="Calibri" pitchFamily="34" charset="-120"/>
              </a:rPr>
              <a:t> is the energy stored by the particles of a system: the total </a:t>
            </a:r>
            <a:r>
              <a:rPr lang="en-US" sz="1150" b="1" dirty="0">
                <a:solidFill>
                  <a:srgbClr val="262B3A"/>
                </a:solidFill>
                <a:latin typeface="Calibri" pitchFamily="34" charset="0"/>
                <a:ea typeface="Calibri" pitchFamily="34" charset="-122"/>
                <a:cs typeface="Calibri" pitchFamily="34" charset="-120"/>
              </a:rPr>
              <a:t>kinetic</a:t>
            </a:r>
            <a:r>
              <a:rPr lang="en-US" sz="1150" dirty="0">
                <a:solidFill>
                  <a:srgbClr val="262B3A"/>
                </a:solidFill>
                <a:latin typeface="Calibri" pitchFamily="34" charset="0"/>
                <a:ea typeface="Calibri" pitchFamily="34" charset="-122"/>
                <a:cs typeface="Calibri" pitchFamily="34" charset="-120"/>
              </a:rPr>
              <a:t> energy (movement) plus </a:t>
            </a:r>
            <a:r>
              <a:rPr lang="en-US" sz="1150" b="1" dirty="0">
                <a:solidFill>
                  <a:srgbClr val="262B3A"/>
                </a:solidFill>
                <a:latin typeface="Calibri" pitchFamily="34" charset="0"/>
                <a:ea typeface="Calibri" pitchFamily="34" charset="-122"/>
                <a:cs typeface="Calibri" pitchFamily="34" charset="-120"/>
              </a:rPr>
              <a:t>potential</a:t>
            </a:r>
            <a:r>
              <a:rPr lang="en-US" sz="1150" dirty="0">
                <a:solidFill>
                  <a:srgbClr val="262B3A"/>
                </a:solidFill>
                <a:latin typeface="Calibri" pitchFamily="34" charset="0"/>
                <a:ea typeface="Calibri" pitchFamily="34" charset="-122"/>
                <a:cs typeface="Calibri" pitchFamily="34" charset="-120"/>
              </a:rPr>
              <a:t> energy (from forces between particles).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Heating a system </a:t>
            </a:r>
            <a:r>
              <a:rPr lang="en-US" sz="1150" b="1" dirty="0">
                <a:solidFill>
                  <a:srgbClr val="262B3A"/>
                </a:solidFill>
                <a:latin typeface="Calibri" pitchFamily="34" charset="0"/>
                <a:ea typeface="Calibri" pitchFamily="34" charset="-122"/>
                <a:cs typeface="Calibri" pitchFamily="34" charset="-120"/>
              </a:rPr>
              <a:t>increases its internal energy</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This </a:t>
            </a:r>
            <a:r>
              <a:rPr lang="en-US" sz="1150" b="1" dirty="0">
                <a:solidFill>
                  <a:srgbClr val="262B3A"/>
                </a:solidFill>
                <a:latin typeface="Calibri" pitchFamily="34" charset="0"/>
                <a:ea typeface="Calibri" pitchFamily="34" charset="-122"/>
                <a:cs typeface="Calibri" pitchFamily="34" charset="-120"/>
              </a:rPr>
              <a:t>either</a:t>
            </a:r>
            <a:r>
              <a:rPr lang="en-US" sz="1150" dirty="0">
                <a:solidFill>
                  <a:srgbClr val="262B3A"/>
                </a:solidFill>
                <a:latin typeface="Calibri" pitchFamily="34" charset="0"/>
                <a:ea typeface="Calibri" pitchFamily="34" charset="-122"/>
                <a:cs typeface="Calibri" pitchFamily="34" charset="-120"/>
              </a:rPr>
              <a:t> raises the </a:t>
            </a:r>
            <a:r>
              <a:rPr lang="en-US" sz="1150" b="1" dirty="0">
                <a:solidFill>
                  <a:srgbClr val="262B3A"/>
                </a:solidFill>
                <a:latin typeface="Calibri" pitchFamily="34" charset="0"/>
                <a:ea typeface="Calibri" pitchFamily="34" charset="-122"/>
                <a:cs typeface="Calibri" pitchFamily="34" charset="-120"/>
              </a:rPr>
              <a:t>temperature</a:t>
            </a:r>
            <a:r>
              <a:rPr lang="en-US" sz="1150" dirty="0">
                <a:solidFill>
                  <a:srgbClr val="262B3A"/>
                </a:solidFill>
                <a:latin typeface="Calibri" pitchFamily="34" charset="0"/>
                <a:ea typeface="Calibri" pitchFamily="34" charset="-122"/>
                <a:cs typeface="Calibri" pitchFamily="34" charset="-120"/>
              </a:rPr>
              <a:t> (particles move faster) </a:t>
            </a:r>
            <a:r>
              <a:rPr lang="en-US" sz="1150" b="1" dirty="0">
                <a:solidFill>
                  <a:srgbClr val="262B3A"/>
                </a:solidFill>
                <a:latin typeface="Calibri" pitchFamily="34" charset="0"/>
                <a:ea typeface="Calibri" pitchFamily="34" charset="-122"/>
                <a:cs typeface="Calibri" pitchFamily="34" charset="-120"/>
              </a:rPr>
              <a:t>or</a:t>
            </a:r>
            <a:r>
              <a:rPr lang="en-US" sz="1150" dirty="0">
                <a:solidFill>
                  <a:srgbClr val="262B3A"/>
                </a:solidFill>
                <a:latin typeface="Calibri" pitchFamily="34" charset="0"/>
                <a:ea typeface="Calibri" pitchFamily="34" charset="-122"/>
                <a:cs typeface="Calibri" pitchFamily="34" charset="-120"/>
              </a:rPr>
              <a:t> causes a </a:t>
            </a:r>
            <a:r>
              <a:rPr lang="en-US" sz="1150" b="1" dirty="0">
                <a:solidFill>
                  <a:srgbClr val="262B3A"/>
                </a:solidFill>
                <a:latin typeface="Calibri" pitchFamily="34" charset="0"/>
                <a:ea typeface="Calibri" pitchFamily="34" charset="-122"/>
                <a:cs typeface="Calibri" pitchFamily="34" charset="-120"/>
              </a:rPr>
              <a:t>change of state</a:t>
            </a:r>
            <a:r>
              <a:rPr lang="en-US" sz="1150" dirty="0">
                <a:solidFill>
                  <a:srgbClr val="262B3A"/>
                </a:solidFill>
                <a:latin typeface="Calibri" pitchFamily="34" charset="0"/>
                <a:ea typeface="Calibri" pitchFamily="34" charset="-122"/>
                <a:cs typeface="Calibri" pitchFamily="34" charset="-120"/>
              </a:rPr>
              <a:t> (particles separate) — not both at once.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Cooling decreases the internal energy: the temperature falls or the substance condenses or freezes.</a:t>
            </a:r>
            <a:endParaRPr lang="en-US" sz="1150" dirty="0"/>
          </a:p>
        </p:txBody>
      </p:sp>
      <p:sp>
        <p:nvSpPr>
          <p:cNvPr id="62" name="Shape 60"/>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63" name="Text 61"/>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Which energy changes?</a:t>
            </a:r>
            <a:endParaRPr lang="en-US" sz="1300" dirty="0"/>
          </a:p>
        </p:txBody>
      </p:sp>
      <p:sp>
        <p:nvSpPr>
          <p:cNvPr id="64" name="Text 62"/>
          <p:cNvSpPr/>
          <p:nvPr/>
        </p:nvSpPr>
        <p:spPr>
          <a:xfrm>
            <a:off x="6382512" y="4133088"/>
            <a:ext cx="5233111" cy="1508760"/>
          </a:xfrm>
          <a:prstGeom prst="rect">
            <a:avLst/>
          </a:prstGeom>
          <a:noFill/>
          <a:ln/>
        </p:spPr>
        <p:txBody>
          <a:bodyPr wrap="square" lIns="0" tIns="0" rIns="0" bIns="0" rtlCol="0" anchor="t"/>
          <a:lstStyle/>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Water warms 20 → 60 °C   </a:t>
            </a:r>
            <a:r>
              <a:rPr lang="en-US" sz="1050" b="1" dirty="0">
                <a:solidFill>
                  <a:srgbClr val="262B3A"/>
                </a:solidFill>
                <a:latin typeface="Calibri" pitchFamily="34" charset="0"/>
                <a:ea typeface="Calibri" pitchFamily="34" charset="-122"/>
                <a:cs typeface="Calibri" pitchFamily="34" charset="-120"/>
              </a:rPr>
              <a:t>kinetic</a:t>
            </a:r>
            <a:r>
              <a:rPr lang="en-US" sz="1050" dirty="0">
                <a:solidFill>
                  <a:srgbClr val="262B3A"/>
                </a:solidFill>
                <a:latin typeface="Calibri" pitchFamily="34" charset="0"/>
                <a:ea typeface="Calibri" pitchFamily="34" charset="-122"/>
                <a:cs typeface="Calibri" pitchFamily="34" charset="-120"/>
              </a:rPr>
              <a:t> energy of particles increases</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Ice melts at 0 °C   </a:t>
            </a:r>
            <a:r>
              <a:rPr lang="en-US" sz="1050" b="1" dirty="0">
                <a:solidFill>
                  <a:srgbClr val="262B3A"/>
                </a:solidFill>
                <a:latin typeface="Calibri" pitchFamily="34" charset="0"/>
                <a:ea typeface="Calibri" pitchFamily="34" charset="-122"/>
                <a:cs typeface="Calibri" pitchFamily="34" charset="-120"/>
              </a:rPr>
              <a:t>potential</a:t>
            </a:r>
            <a:r>
              <a:rPr lang="en-US" sz="1050" dirty="0">
                <a:solidFill>
                  <a:srgbClr val="262B3A"/>
                </a:solidFill>
                <a:latin typeface="Calibri" pitchFamily="34" charset="0"/>
                <a:ea typeface="Calibri" pitchFamily="34" charset="-122"/>
                <a:cs typeface="Calibri" pitchFamily="34" charset="-120"/>
              </a:rPr>
              <a:t> energy increases; temperature constant</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Steam condenses at 100 °C   </a:t>
            </a:r>
            <a:r>
              <a:rPr lang="en-US" sz="1050" dirty="0">
                <a:solidFill>
                  <a:srgbClr val="262B3A"/>
                </a:solidFill>
                <a:latin typeface="Calibri" pitchFamily="34" charset="0"/>
                <a:ea typeface="Calibri" pitchFamily="34" charset="-122"/>
                <a:cs typeface="Calibri" pitchFamily="34" charset="-120"/>
              </a:rPr>
              <a:t>potential energy </a:t>
            </a:r>
            <a:r>
              <a:rPr lang="en-US" sz="1050" b="1" dirty="0">
                <a:solidFill>
                  <a:srgbClr val="262B3A"/>
                </a:solidFill>
                <a:latin typeface="Calibri" pitchFamily="34" charset="0"/>
                <a:ea typeface="Calibri" pitchFamily="34" charset="-122"/>
                <a:cs typeface="Calibri" pitchFamily="34" charset="-120"/>
              </a:rPr>
              <a:t>decreases</a:t>
            </a:r>
            <a:r>
              <a:rPr lang="en-US" sz="1050" dirty="0">
                <a:solidFill>
                  <a:srgbClr val="262B3A"/>
                </a:solidFill>
                <a:latin typeface="Calibri" pitchFamily="34" charset="0"/>
                <a:ea typeface="Calibri" pitchFamily="34" charset="-122"/>
                <a:cs typeface="Calibri" pitchFamily="34" charset="-120"/>
              </a:rPr>
              <a:t>; energy released</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temperature change ↔ kinetic; state change ↔ potential</a:t>
            </a:r>
            <a:endParaRPr lang="en-US" sz="1050" dirty="0"/>
          </a:p>
        </p:txBody>
      </p:sp>
      <p:sp>
        <p:nvSpPr>
          <p:cNvPr id="65" name="Shape 63"/>
          <p:cNvSpPr/>
          <p:nvPr/>
        </p:nvSpPr>
        <p:spPr>
          <a:xfrm>
            <a:off x="411480" y="5833872"/>
            <a:ext cx="11368735" cy="530352"/>
          </a:xfrm>
          <a:prstGeom prst="rect">
            <a:avLst/>
          </a:prstGeom>
          <a:solidFill>
            <a:srgbClr val="FFF4E0"/>
          </a:solidFill>
          <a:ln w="6350">
            <a:solidFill>
              <a:srgbClr val="F1D9A8"/>
            </a:solidFill>
            <a:prstDash val="solid"/>
          </a:ln>
        </p:spPr>
      </p:sp>
      <p:sp>
        <p:nvSpPr>
          <p:cNvPr id="66" name="Shape 64"/>
          <p:cNvSpPr/>
          <p:nvPr/>
        </p:nvSpPr>
        <p:spPr>
          <a:xfrm>
            <a:off x="411480" y="5833872"/>
            <a:ext cx="82296" cy="530352"/>
          </a:xfrm>
          <a:prstGeom prst="rect">
            <a:avLst/>
          </a:prstGeom>
          <a:solidFill>
            <a:srgbClr val="E39A2F"/>
          </a:solidFill>
          <a:ln w="12700">
            <a:solidFill>
              <a:srgbClr val="E39A2F"/>
            </a:solidFill>
            <a:prstDash val="solid"/>
          </a:ln>
        </p:spPr>
      </p:sp>
      <p:sp>
        <p:nvSpPr>
          <p:cNvPr id="67" name="Text 6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Water boils in a kettle that is still switched on. The temperature stays at 100 °C. Where is the energy from the heater going?</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Specific heat capacity</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P6.1.6, P6.1.7 • the energy needed to warm 1 kg of a material by 1 °C</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P6.1 How does energy transform matter?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P6.1.7  |  15</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specific heat capacities drawn to scale (J/kg °C)</a:t>
            </a:r>
            <a:endParaRPr lang="en-US" sz="1000" dirty="0"/>
          </a:p>
        </p:txBody>
      </p:sp>
      <p:sp>
        <p:nvSpPr>
          <p:cNvPr id="10" name="Shape 8"/>
          <p:cNvSpPr/>
          <p:nvPr/>
        </p:nvSpPr>
        <p:spPr>
          <a:xfrm>
            <a:off x="731520" y="1371600"/>
            <a:ext cx="4937760" cy="457200"/>
          </a:xfrm>
          <a:prstGeom prst="roundRect">
            <a:avLst>
              <a:gd name="adj" fmla="val 12000"/>
            </a:avLst>
          </a:prstGeom>
          <a:solidFill>
            <a:srgbClr val="FFFFFF"/>
          </a:solidFill>
          <a:ln w="19050">
            <a:solidFill>
              <a:srgbClr val="2E8B57"/>
            </a:solidFill>
            <a:prstDash val="solid"/>
          </a:ln>
        </p:spPr>
      </p:sp>
      <p:sp>
        <p:nvSpPr>
          <p:cNvPr id="11" name="Text 9"/>
          <p:cNvSpPr/>
          <p:nvPr/>
        </p:nvSpPr>
        <p:spPr>
          <a:xfrm>
            <a:off x="822960" y="1371600"/>
            <a:ext cx="3657600" cy="457200"/>
          </a:xfrm>
          <a:prstGeom prst="rect">
            <a:avLst/>
          </a:prstGeom>
          <a:noFill/>
          <a:ln/>
        </p:spPr>
        <p:txBody>
          <a:bodyPr wrap="square" lIns="0" tIns="0" rIns="0" bIns="0" rtlCol="0" anchor="ctr"/>
          <a:lstStyle/>
          <a:p>
            <a:pPr algn="l" indent="0" marL="0">
              <a:buNone/>
            </a:pPr>
            <a:r>
              <a:rPr lang="en-US" sz="1600" b="1" dirty="0">
                <a:solidFill>
                  <a:srgbClr val="1A2340"/>
                </a:solidFill>
                <a:latin typeface="Calibri" pitchFamily="34" charset="0"/>
                <a:ea typeface="Calibri" pitchFamily="34" charset="-122"/>
                <a:cs typeface="Calibri" pitchFamily="34" charset="-120"/>
              </a:rPr>
              <a:t>ΔE = m × c × Δθ</a:t>
            </a:r>
            <a:endParaRPr lang="en-US" sz="1600" dirty="0"/>
          </a:p>
        </p:txBody>
      </p:sp>
      <p:sp>
        <p:nvSpPr>
          <p:cNvPr id="12" name="Shape 10"/>
          <p:cNvSpPr/>
          <p:nvPr/>
        </p:nvSpPr>
        <p:spPr>
          <a:xfrm>
            <a:off x="4526280" y="1463040"/>
            <a:ext cx="1005840" cy="274320"/>
          </a:xfrm>
          <a:prstGeom prst="roundRect">
            <a:avLst>
              <a:gd name="adj" fmla="val 50000"/>
            </a:avLst>
          </a:prstGeom>
          <a:solidFill>
            <a:srgbClr val="2E8B57"/>
          </a:solidFill>
          <a:ln w="12700">
            <a:solidFill>
              <a:srgbClr val="2E8B57"/>
            </a:solidFill>
            <a:prstDash val="solid"/>
          </a:ln>
        </p:spPr>
      </p:sp>
      <p:sp>
        <p:nvSpPr>
          <p:cNvPr id="13" name="Text 11"/>
          <p:cNvSpPr/>
          <p:nvPr/>
        </p:nvSpPr>
        <p:spPr>
          <a:xfrm>
            <a:off x="4526280" y="1463040"/>
            <a:ext cx="10058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GIVEN</a:t>
            </a:r>
            <a:endParaRPr lang="en-US" sz="1000" dirty="0"/>
          </a:p>
        </p:txBody>
      </p:sp>
      <p:sp>
        <p:nvSpPr>
          <p:cNvPr id="14" name="Text 12"/>
          <p:cNvSpPr/>
          <p:nvPr/>
        </p:nvSpPr>
        <p:spPr>
          <a:xfrm>
            <a:off x="731520" y="2011680"/>
            <a:ext cx="4937760" cy="25603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Energy to warm 1 kg by 1 °C (J)</a:t>
            </a:r>
            <a:endParaRPr lang="en-US" sz="1100" dirty="0"/>
          </a:p>
        </p:txBody>
      </p:sp>
      <p:sp>
        <p:nvSpPr>
          <p:cNvPr id="15" name="Shape 13"/>
          <p:cNvSpPr/>
          <p:nvPr/>
        </p:nvSpPr>
        <p:spPr>
          <a:xfrm>
            <a:off x="1965960" y="2377440"/>
            <a:ext cx="3017520" cy="274320"/>
          </a:xfrm>
          <a:prstGeom prst="rect">
            <a:avLst/>
          </a:prstGeom>
          <a:solidFill>
            <a:srgbClr val="5B9BD5"/>
          </a:solidFill>
          <a:ln/>
        </p:spPr>
      </p:sp>
      <p:sp>
        <p:nvSpPr>
          <p:cNvPr id="16" name="Text 14"/>
          <p:cNvSpPr/>
          <p:nvPr/>
        </p:nvSpPr>
        <p:spPr>
          <a:xfrm>
            <a:off x="640080" y="2377440"/>
            <a:ext cx="1261872" cy="274320"/>
          </a:xfrm>
          <a:prstGeom prst="rect">
            <a:avLst/>
          </a:prstGeom>
          <a:noFill/>
          <a:ln/>
        </p:spPr>
        <p:txBody>
          <a:bodyPr wrap="square" lIns="0" tIns="0" rIns="0" bIns="0" rtlCol="0" anchor="ctr"/>
          <a:lstStyle/>
          <a:p>
            <a:pPr algn="r" indent="0" marL="0">
              <a:buNone/>
            </a:pPr>
            <a:r>
              <a:rPr lang="en-US" sz="1050" b="1" dirty="0">
                <a:solidFill>
                  <a:srgbClr val="262B3A"/>
                </a:solidFill>
                <a:latin typeface="Calibri" pitchFamily="34" charset="0"/>
                <a:ea typeface="Calibri" pitchFamily="34" charset="-122"/>
                <a:cs typeface="Calibri" pitchFamily="34" charset="-120"/>
              </a:rPr>
              <a:t>water</a:t>
            </a:r>
            <a:endParaRPr lang="en-US" sz="1050" dirty="0"/>
          </a:p>
        </p:txBody>
      </p:sp>
      <p:sp>
        <p:nvSpPr>
          <p:cNvPr id="17" name="Text 15"/>
          <p:cNvSpPr/>
          <p:nvPr/>
        </p:nvSpPr>
        <p:spPr>
          <a:xfrm>
            <a:off x="5038344" y="2377440"/>
            <a:ext cx="1280160" cy="274320"/>
          </a:xfrm>
          <a:prstGeom prst="rect">
            <a:avLst/>
          </a:prstGeom>
          <a:noFill/>
          <a:ln/>
        </p:spPr>
        <p:txBody>
          <a:bodyPr wrap="square" lIns="0" tIns="0" rIns="0" bIns="0" rtlCol="0" anchor="ctr"/>
          <a:lstStyle/>
          <a:p>
            <a:pPr algn="l" indent="0" marL="0">
              <a:buNone/>
            </a:pPr>
            <a:r>
              <a:rPr lang="en-US" sz="1050" dirty="0">
                <a:solidFill>
                  <a:srgbClr val="1A2340"/>
                </a:solidFill>
                <a:latin typeface="Calibri" pitchFamily="34" charset="0"/>
                <a:ea typeface="Calibri" pitchFamily="34" charset="-122"/>
                <a:cs typeface="Calibri" pitchFamily="34" charset="-120"/>
              </a:rPr>
              <a:t>4200</a:t>
            </a:r>
            <a:endParaRPr lang="en-US" sz="1050" dirty="0"/>
          </a:p>
        </p:txBody>
      </p:sp>
      <p:sp>
        <p:nvSpPr>
          <p:cNvPr id="18" name="Shape 16"/>
          <p:cNvSpPr/>
          <p:nvPr/>
        </p:nvSpPr>
        <p:spPr>
          <a:xfrm>
            <a:off x="1965960" y="2834640"/>
            <a:ext cx="1508760" cy="274320"/>
          </a:xfrm>
          <a:prstGeom prst="rect">
            <a:avLst/>
          </a:prstGeom>
          <a:solidFill>
            <a:srgbClr val="7FB2D9"/>
          </a:solidFill>
          <a:ln/>
        </p:spPr>
      </p:sp>
      <p:sp>
        <p:nvSpPr>
          <p:cNvPr id="19" name="Text 17"/>
          <p:cNvSpPr/>
          <p:nvPr/>
        </p:nvSpPr>
        <p:spPr>
          <a:xfrm>
            <a:off x="640080" y="2834640"/>
            <a:ext cx="1261872" cy="274320"/>
          </a:xfrm>
          <a:prstGeom prst="rect">
            <a:avLst/>
          </a:prstGeom>
          <a:noFill/>
          <a:ln/>
        </p:spPr>
        <p:txBody>
          <a:bodyPr wrap="square" lIns="0" tIns="0" rIns="0" bIns="0" rtlCol="0" anchor="ctr"/>
          <a:lstStyle/>
          <a:p>
            <a:pPr algn="r" indent="0" marL="0">
              <a:buNone/>
            </a:pPr>
            <a:r>
              <a:rPr lang="en-US" sz="1050" b="1" dirty="0">
                <a:solidFill>
                  <a:srgbClr val="262B3A"/>
                </a:solidFill>
                <a:latin typeface="Calibri" pitchFamily="34" charset="0"/>
                <a:ea typeface="Calibri" pitchFamily="34" charset="-122"/>
                <a:cs typeface="Calibri" pitchFamily="34" charset="-120"/>
              </a:rPr>
              <a:t>ice</a:t>
            </a:r>
            <a:endParaRPr lang="en-US" sz="1050" dirty="0"/>
          </a:p>
        </p:txBody>
      </p:sp>
      <p:sp>
        <p:nvSpPr>
          <p:cNvPr id="20" name="Text 18"/>
          <p:cNvSpPr/>
          <p:nvPr/>
        </p:nvSpPr>
        <p:spPr>
          <a:xfrm>
            <a:off x="3529584" y="2834640"/>
            <a:ext cx="1280160" cy="274320"/>
          </a:xfrm>
          <a:prstGeom prst="rect">
            <a:avLst/>
          </a:prstGeom>
          <a:noFill/>
          <a:ln/>
        </p:spPr>
        <p:txBody>
          <a:bodyPr wrap="square" lIns="0" tIns="0" rIns="0" bIns="0" rtlCol="0" anchor="ctr"/>
          <a:lstStyle/>
          <a:p>
            <a:pPr algn="l" indent="0" marL="0">
              <a:buNone/>
            </a:pPr>
            <a:r>
              <a:rPr lang="en-US" sz="1050" dirty="0">
                <a:solidFill>
                  <a:srgbClr val="1A2340"/>
                </a:solidFill>
                <a:latin typeface="Calibri" pitchFamily="34" charset="0"/>
                <a:ea typeface="Calibri" pitchFamily="34" charset="-122"/>
                <a:cs typeface="Calibri" pitchFamily="34" charset="-120"/>
              </a:rPr>
              <a:t>2100</a:t>
            </a:r>
            <a:endParaRPr lang="en-US" sz="1050" dirty="0"/>
          </a:p>
        </p:txBody>
      </p:sp>
      <p:sp>
        <p:nvSpPr>
          <p:cNvPr id="21" name="Shape 19"/>
          <p:cNvSpPr/>
          <p:nvPr/>
        </p:nvSpPr>
        <p:spPr>
          <a:xfrm>
            <a:off x="1965960" y="3291840"/>
            <a:ext cx="646611" cy="274320"/>
          </a:xfrm>
          <a:prstGeom prst="rect">
            <a:avLst/>
          </a:prstGeom>
          <a:solidFill>
            <a:srgbClr val="8C96A8"/>
          </a:solidFill>
          <a:ln/>
        </p:spPr>
      </p:sp>
      <p:sp>
        <p:nvSpPr>
          <p:cNvPr id="22" name="Text 20"/>
          <p:cNvSpPr/>
          <p:nvPr/>
        </p:nvSpPr>
        <p:spPr>
          <a:xfrm>
            <a:off x="640080" y="3291840"/>
            <a:ext cx="1261872" cy="274320"/>
          </a:xfrm>
          <a:prstGeom prst="rect">
            <a:avLst/>
          </a:prstGeom>
          <a:noFill/>
          <a:ln/>
        </p:spPr>
        <p:txBody>
          <a:bodyPr wrap="square" lIns="0" tIns="0" rIns="0" bIns="0" rtlCol="0" anchor="ctr"/>
          <a:lstStyle/>
          <a:p>
            <a:pPr algn="r" indent="0" marL="0">
              <a:buNone/>
            </a:pPr>
            <a:r>
              <a:rPr lang="en-US" sz="1050" b="1" dirty="0">
                <a:solidFill>
                  <a:srgbClr val="262B3A"/>
                </a:solidFill>
                <a:latin typeface="Calibri" pitchFamily="34" charset="0"/>
                <a:ea typeface="Calibri" pitchFamily="34" charset="-122"/>
                <a:cs typeface="Calibri" pitchFamily="34" charset="-120"/>
              </a:rPr>
              <a:t>aluminium</a:t>
            </a:r>
            <a:endParaRPr lang="en-US" sz="1050" dirty="0"/>
          </a:p>
        </p:txBody>
      </p:sp>
      <p:sp>
        <p:nvSpPr>
          <p:cNvPr id="23" name="Text 21"/>
          <p:cNvSpPr/>
          <p:nvPr/>
        </p:nvSpPr>
        <p:spPr>
          <a:xfrm>
            <a:off x="2667435" y="3291840"/>
            <a:ext cx="1280160" cy="274320"/>
          </a:xfrm>
          <a:prstGeom prst="rect">
            <a:avLst/>
          </a:prstGeom>
          <a:noFill/>
          <a:ln/>
        </p:spPr>
        <p:txBody>
          <a:bodyPr wrap="square" lIns="0" tIns="0" rIns="0" bIns="0" rtlCol="0" anchor="ctr"/>
          <a:lstStyle/>
          <a:p>
            <a:pPr algn="l" indent="0" marL="0">
              <a:buNone/>
            </a:pPr>
            <a:r>
              <a:rPr lang="en-US" sz="1050" dirty="0">
                <a:solidFill>
                  <a:srgbClr val="1A2340"/>
                </a:solidFill>
                <a:latin typeface="Calibri" pitchFamily="34" charset="0"/>
                <a:ea typeface="Calibri" pitchFamily="34" charset="-122"/>
                <a:cs typeface="Calibri" pitchFamily="34" charset="-120"/>
              </a:rPr>
              <a:t>900</a:t>
            </a:r>
            <a:endParaRPr lang="en-US" sz="1050" dirty="0"/>
          </a:p>
        </p:txBody>
      </p:sp>
      <p:sp>
        <p:nvSpPr>
          <p:cNvPr id="24" name="Shape 22"/>
          <p:cNvSpPr/>
          <p:nvPr/>
        </p:nvSpPr>
        <p:spPr>
          <a:xfrm>
            <a:off x="1965960" y="3749040"/>
            <a:ext cx="323306" cy="274320"/>
          </a:xfrm>
          <a:prstGeom prst="rect">
            <a:avLst/>
          </a:prstGeom>
          <a:solidFill>
            <a:srgbClr val="6B7385"/>
          </a:solidFill>
          <a:ln/>
        </p:spPr>
      </p:sp>
      <p:sp>
        <p:nvSpPr>
          <p:cNvPr id="25" name="Text 23"/>
          <p:cNvSpPr/>
          <p:nvPr/>
        </p:nvSpPr>
        <p:spPr>
          <a:xfrm>
            <a:off x="640080" y="3749040"/>
            <a:ext cx="1261872" cy="274320"/>
          </a:xfrm>
          <a:prstGeom prst="rect">
            <a:avLst/>
          </a:prstGeom>
          <a:noFill/>
          <a:ln/>
        </p:spPr>
        <p:txBody>
          <a:bodyPr wrap="square" lIns="0" tIns="0" rIns="0" bIns="0" rtlCol="0" anchor="ctr"/>
          <a:lstStyle/>
          <a:p>
            <a:pPr algn="r" indent="0" marL="0">
              <a:buNone/>
            </a:pPr>
            <a:r>
              <a:rPr lang="en-US" sz="1050" b="1" dirty="0">
                <a:solidFill>
                  <a:srgbClr val="262B3A"/>
                </a:solidFill>
                <a:latin typeface="Calibri" pitchFamily="34" charset="0"/>
                <a:ea typeface="Calibri" pitchFamily="34" charset="-122"/>
                <a:cs typeface="Calibri" pitchFamily="34" charset="-120"/>
              </a:rPr>
              <a:t>iron</a:t>
            </a:r>
            <a:endParaRPr lang="en-US" sz="1050" dirty="0"/>
          </a:p>
        </p:txBody>
      </p:sp>
      <p:sp>
        <p:nvSpPr>
          <p:cNvPr id="26" name="Text 24"/>
          <p:cNvSpPr/>
          <p:nvPr/>
        </p:nvSpPr>
        <p:spPr>
          <a:xfrm>
            <a:off x="2344130" y="3749040"/>
            <a:ext cx="1280160" cy="274320"/>
          </a:xfrm>
          <a:prstGeom prst="rect">
            <a:avLst/>
          </a:prstGeom>
          <a:noFill/>
          <a:ln/>
        </p:spPr>
        <p:txBody>
          <a:bodyPr wrap="square" lIns="0" tIns="0" rIns="0" bIns="0" rtlCol="0" anchor="ctr"/>
          <a:lstStyle/>
          <a:p>
            <a:pPr algn="l" indent="0" marL="0">
              <a:buNone/>
            </a:pPr>
            <a:r>
              <a:rPr lang="en-US" sz="1050" dirty="0">
                <a:solidFill>
                  <a:srgbClr val="1A2340"/>
                </a:solidFill>
                <a:latin typeface="Calibri" pitchFamily="34" charset="0"/>
                <a:ea typeface="Calibri" pitchFamily="34" charset="-122"/>
                <a:cs typeface="Calibri" pitchFamily="34" charset="-120"/>
              </a:rPr>
              <a:t>450</a:t>
            </a:r>
            <a:endParaRPr lang="en-US" sz="1050" dirty="0"/>
          </a:p>
        </p:txBody>
      </p:sp>
      <p:sp>
        <p:nvSpPr>
          <p:cNvPr id="27" name="Shape 25"/>
          <p:cNvSpPr/>
          <p:nvPr/>
        </p:nvSpPr>
        <p:spPr>
          <a:xfrm>
            <a:off x="1965960" y="4206240"/>
            <a:ext cx="276606" cy="274320"/>
          </a:xfrm>
          <a:prstGeom prst="rect">
            <a:avLst/>
          </a:prstGeom>
          <a:solidFill>
            <a:srgbClr val="B8730A"/>
          </a:solidFill>
          <a:ln/>
        </p:spPr>
      </p:sp>
      <p:sp>
        <p:nvSpPr>
          <p:cNvPr id="28" name="Text 26"/>
          <p:cNvSpPr/>
          <p:nvPr/>
        </p:nvSpPr>
        <p:spPr>
          <a:xfrm>
            <a:off x="640080" y="4206240"/>
            <a:ext cx="1261872" cy="274320"/>
          </a:xfrm>
          <a:prstGeom prst="rect">
            <a:avLst/>
          </a:prstGeom>
          <a:noFill/>
          <a:ln/>
        </p:spPr>
        <p:txBody>
          <a:bodyPr wrap="square" lIns="0" tIns="0" rIns="0" bIns="0" rtlCol="0" anchor="ctr"/>
          <a:lstStyle/>
          <a:p>
            <a:pPr algn="r" indent="0" marL="0">
              <a:buNone/>
            </a:pPr>
            <a:r>
              <a:rPr lang="en-US" sz="1050" b="1" dirty="0">
                <a:solidFill>
                  <a:srgbClr val="262B3A"/>
                </a:solidFill>
                <a:latin typeface="Calibri" pitchFamily="34" charset="0"/>
                <a:ea typeface="Calibri" pitchFamily="34" charset="-122"/>
                <a:cs typeface="Calibri" pitchFamily="34" charset="-120"/>
              </a:rPr>
              <a:t>copper</a:t>
            </a:r>
            <a:endParaRPr lang="en-US" sz="1050" dirty="0"/>
          </a:p>
        </p:txBody>
      </p:sp>
      <p:sp>
        <p:nvSpPr>
          <p:cNvPr id="29" name="Text 27"/>
          <p:cNvSpPr/>
          <p:nvPr/>
        </p:nvSpPr>
        <p:spPr>
          <a:xfrm>
            <a:off x="2297430" y="4206240"/>
            <a:ext cx="1280160" cy="274320"/>
          </a:xfrm>
          <a:prstGeom prst="rect">
            <a:avLst/>
          </a:prstGeom>
          <a:noFill/>
          <a:ln/>
        </p:spPr>
        <p:txBody>
          <a:bodyPr wrap="square" lIns="0" tIns="0" rIns="0" bIns="0" rtlCol="0" anchor="ctr"/>
          <a:lstStyle/>
          <a:p>
            <a:pPr algn="l" indent="0" marL="0">
              <a:buNone/>
            </a:pPr>
            <a:r>
              <a:rPr lang="en-US" sz="1050" dirty="0">
                <a:solidFill>
                  <a:srgbClr val="1A2340"/>
                </a:solidFill>
                <a:latin typeface="Calibri" pitchFamily="34" charset="0"/>
                <a:ea typeface="Calibri" pitchFamily="34" charset="-122"/>
                <a:cs typeface="Calibri" pitchFamily="34" charset="-120"/>
              </a:rPr>
              <a:t>385</a:t>
            </a:r>
            <a:endParaRPr lang="en-US" sz="1050" dirty="0"/>
          </a:p>
        </p:txBody>
      </p:sp>
      <p:sp>
        <p:nvSpPr>
          <p:cNvPr id="30" name="Shape 28"/>
          <p:cNvSpPr/>
          <p:nvPr/>
        </p:nvSpPr>
        <p:spPr>
          <a:xfrm>
            <a:off x="1965960" y="2286000"/>
            <a:ext cx="91" cy="2377440"/>
          </a:xfrm>
          <a:prstGeom prst="line">
            <a:avLst/>
          </a:prstGeom>
          <a:noFill/>
          <a:ln w="15875">
            <a:solidFill>
              <a:srgbClr val="1A2340"/>
            </a:solidFill>
            <a:prstDash val="solid"/>
          </a:ln>
        </p:spPr>
      </p:sp>
      <p:sp>
        <p:nvSpPr>
          <p:cNvPr id="31" name="Text 29"/>
          <p:cNvSpPr/>
          <p:nvPr/>
        </p:nvSpPr>
        <p:spPr>
          <a:xfrm>
            <a:off x="731520" y="4800600"/>
            <a:ext cx="493776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water needs more energy per kg per °C than any of the others</a:t>
            </a:r>
            <a:endParaRPr lang="en-US" sz="1050" dirty="0"/>
          </a:p>
        </p:txBody>
      </p:sp>
      <p:sp>
        <p:nvSpPr>
          <p:cNvPr id="32" name="Shape 30"/>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33" name="Text 3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What it means</a:t>
            </a:r>
            <a:endParaRPr lang="en-US" sz="1300" dirty="0"/>
          </a:p>
        </p:txBody>
      </p:sp>
      <p:sp>
        <p:nvSpPr>
          <p:cNvPr id="34" name="Text 32"/>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Specific heat capacity (c)</a:t>
            </a:r>
            <a:r>
              <a:rPr lang="en-US" sz="1150" dirty="0">
                <a:solidFill>
                  <a:srgbClr val="262B3A"/>
                </a:solidFill>
                <a:latin typeface="Calibri" pitchFamily="34" charset="0"/>
                <a:ea typeface="Calibri" pitchFamily="34" charset="-122"/>
                <a:cs typeface="Calibri" pitchFamily="34" charset="-120"/>
              </a:rPr>
              <a:t>: the energy needed to raise the temperature of </a:t>
            </a:r>
            <a:r>
              <a:rPr lang="en-US" sz="1150" b="1" dirty="0">
                <a:solidFill>
                  <a:srgbClr val="262B3A"/>
                </a:solidFill>
                <a:latin typeface="Calibri" pitchFamily="34" charset="0"/>
                <a:ea typeface="Calibri" pitchFamily="34" charset="-122"/>
                <a:cs typeface="Calibri" pitchFamily="34" charset="-120"/>
              </a:rPr>
              <a:t>1 kg</a:t>
            </a:r>
            <a:r>
              <a:rPr lang="en-US" sz="1150" dirty="0">
                <a:solidFill>
                  <a:srgbClr val="262B3A"/>
                </a:solidFill>
                <a:latin typeface="Calibri" pitchFamily="34" charset="0"/>
                <a:ea typeface="Calibri" pitchFamily="34" charset="-122"/>
                <a:cs typeface="Calibri" pitchFamily="34" charset="-120"/>
              </a:rPr>
              <a:t> of a substance by </a:t>
            </a:r>
            <a:r>
              <a:rPr lang="en-US" sz="1150" b="1" dirty="0">
                <a:solidFill>
                  <a:srgbClr val="262B3A"/>
                </a:solidFill>
                <a:latin typeface="Calibri" pitchFamily="34" charset="0"/>
                <a:ea typeface="Calibri" pitchFamily="34" charset="-122"/>
                <a:cs typeface="Calibri" pitchFamily="34" charset="-120"/>
              </a:rPr>
              <a:t>1 °C</a:t>
            </a:r>
            <a:r>
              <a:rPr lang="en-US" sz="1150" dirty="0">
                <a:solidFill>
                  <a:srgbClr val="262B3A"/>
                </a:solidFill>
                <a:latin typeface="Calibri" pitchFamily="34" charset="0"/>
                <a:ea typeface="Calibri" pitchFamily="34" charset="-122"/>
                <a:cs typeface="Calibri" pitchFamily="34" charset="-120"/>
              </a:rPr>
              <a:t>, without a change of state.</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ΔE = m × c × Δθ</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GIVEN</a:t>
            </a:r>
            <a:r>
              <a:rPr lang="en-US" sz="1150" dirty="0">
                <a:solidFill>
                  <a:srgbClr val="262B3A"/>
                </a:solidFill>
                <a:latin typeface="Calibri" pitchFamily="34" charset="0"/>
                <a:ea typeface="Calibri" pitchFamily="34" charset="-122"/>
                <a:cs typeface="Calibri" pitchFamily="34" charset="-120"/>
              </a:rPr>
              <a:t> on the equation sheet). Units: J, kg, J/kg °C, °C.</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Δθ = final temperature − starting temperature.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a:t>
            </a:r>
            <a:r>
              <a:rPr lang="en-US" sz="1150" b="1" dirty="0">
                <a:solidFill>
                  <a:srgbClr val="262B3A"/>
                </a:solidFill>
                <a:latin typeface="Calibri" pitchFamily="34" charset="0"/>
                <a:ea typeface="Calibri" pitchFamily="34" charset="-122"/>
                <a:cs typeface="Calibri" pitchFamily="34" charset="-120"/>
              </a:rPr>
              <a:t>high</a:t>
            </a:r>
            <a:r>
              <a:rPr lang="en-US" sz="1150" dirty="0">
                <a:solidFill>
                  <a:srgbClr val="262B3A"/>
                </a:solidFill>
                <a:latin typeface="Calibri" pitchFamily="34" charset="0"/>
                <a:ea typeface="Calibri" pitchFamily="34" charset="-122"/>
                <a:cs typeface="Calibri" pitchFamily="34" charset="-120"/>
              </a:rPr>
              <a:t> c means a lot of energy is needed to warm it, and it releases a lot as it cools.</a:t>
            </a:r>
            <a:endParaRPr lang="en-US" sz="1150" dirty="0"/>
          </a:p>
        </p:txBody>
      </p:sp>
      <p:sp>
        <p:nvSpPr>
          <p:cNvPr id="35" name="Shape 33"/>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36" name="Text 34"/>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37" name="Text 35"/>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A kettle heats 1.5 kg of water from 20 °C to 100 °C. c = 4200 J/kg °C. Calculate the energy needed.</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Equation   </a:t>
            </a:r>
            <a:r>
              <a:rPr lang="en-US" sz="1100" dirty="0">
                <a:solidFill>
                  <a:srgbClr val="262B3A"/>
                </a:solidFill>
                <a:latin typeface="Calibri" pitchFamily="34" charset="0"/>
                <a:ea typeface="Calibri" pitchFamily="34" charset="-122"/>
                <a:cs typeface="Calibri" pitchFamily="34" charset="-120"/>
              </a:rPr>
              <a:t>ΔE = m × c × Δθ</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Δθ   </a:t>
            </a:r>
            <a:r>
              <a:rPr lang="en-US" sz="1100" dirty="0">
                <a:solidFill>
                  <a:srgbClr val="262B3A"/>
                </a:solidFill>
                <a:latin typeface="Calibri" pitchFamily="34" charset="0"/>
                <a:ea typeface="Calibri" pitchFamily="34" charset="-122"/>
                <a:cs typeface="Calibri" pitchFamily="34" charset="-120"/>
              </a:rPr>
              <a:t>100 − 20 = 80 °C</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Substitute   </a:t>
            </a:r>
            <a:r>
              <a:rPr lang="en-US" sz="1100" dirty="0">
                <a:solidFill>
                  <a:srgbClr val="262B3A"/>
                </a:solidFill>
                <a:latin typeface="Calibri" pitchFamily="34" charset="0"/>
                <a:ea typeface="Calibri" pitchFamily="34" charset="-122"/>
                <a:cs typeface="Calibri" pitchFamily="34" charset="-120"/>
              </a:rPr>
              <a:t>ΔE = 1.5 × 4200 × 80</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ΔE = 504 000 J (504 kJ)</a:t>
            </a:r>
            <a:endParaRPr lang="en-US" sz="1100" dirty="0"/>
          </a:p>
        </p:txBody>
      </p:sp>
      <p:sp>
        <p:nvSpPr>
          <p:cNvPr id="38" name="Shape 36"/>
          <p:cNvSpPr/>
          <p:nvPr/>
        </p:nvSpPr>
        <p:spPr>
          <a:xfrm>
            <a:off x="411480" y="5833872"/>
            <a:ext cx="11368735" cy="530352"/>
          </a:xfrm>
          <a:prstGeom prst="rect">
            <a:avLst/>
          </a:prstGeom>
          <a:solidFill>
            <a:srgbClr val="FFF4E0"/>
          </a:solidFill>
          <a:ln w="6350">
            <a:solidFill>
              <a:srgbClr val="F1D9A8"/>
            </a:solidFill>
            <a:prstDash val="solid"/>
          </a:ln>
        </p:spPr>
      </p:sp>
      <p:sp>
        <p:nvSpPr>
          <p:cNvPr id="39" name="Shape 37"/>
          <p:cNvSpPr/>
          <p:nvPr/>
        </p:nvSpPr>
        <p:spPr>
          <a:xfrm>
            <a:off x="411480" y="5833872"/>
            <a:ext cx="82296" cy="530352"/>
          </a:xfrm>
          <a:prstGeom prst="rect">
            <a:avLst/>
          </a:prstGeom>
          <a:solidFill>
            <a:srgbClr val="E39A2F"/>
          </a:solidFill>
          <a:ln w="12700">
            <a:solidFill>
              <a:srgbClr val="E39A2F"/>
            </a:solidFill>
            <a:prstDash val="solid"/>
          </a:ln>
        </p:spPr>
      </p:sp>
      <p:sp>
        <p:nvSpPr>
          <p:cNvPr id="40" name="Text 3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An aluminium pan of mass 2.0 kg is heated by 25 °C. c(aluminium) = 900 J/kg °C. Calculate the energy transferred.</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4</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P6.1.5–P6.1.7 • internal energy and specific heat capacity</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P6.1 How does energy transform matter?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4  |  16</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meant by the </a:t>
            </a:r>
            <a:r>
              <a:rPr lang="en-US" sz="1250" b="1" dirty="0">
                <a:solidFill>
                  <a:srgbClr val="262B3A"/>
                </a:solidFill>
                <a:latin typeface="Calibri" pitchFamily="34" charset="0"/>
                <a:ea typeface="Calibri" pitchFamily="34" charset="-122"/>
                <a:cs typeface="Calibri" pitchFamily="34" charset="-120"/>
              </a:rPr>
              <a:t>internal energy</a:t>
            </a:r>
            <a:r>
              <a:rPr lang="en-US" sz="1250" dirty="0">
                <a:solidFill>
                  <a:srgbClr val="262B3A"/>
                </a:solidFill>
                <a:latin typeface="Calibri" pitchFamily="34" charset="0"/>
                <a:ea typeface="Calibri" pitchFamily="34" charset="-122"/>
                <a:cs typeface="Calibri" pitchFamily="34" charset="-120"/>
              </a:rPr>
              <a:t> of a substance?</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5DCEB"/>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Define </a:t>
            </a:r>
            <a:r>
              <a:rPr lang="en-US" sz="1250" b="1" dirty="0">
                <a:solidFill>
                  <a:srgbClr val="262B3A"/>
                </a:solidFill>
                <a:latin typeface="Calibri" pitchFamily="34" charset="0"/>
                <a:ea typeface="Calibri" pitchFamily="34" charset="-122"/>
                <a:cs typeface="Calibri" pitchFamily="34" charset="-120"/>
              </a:rPr>
              <a:t>specific heat capacity</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5DCEB"/>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Calculate the energy needed to heat </a:t>
            </a:r>
            <a:r>
              <a:rPr lang="en-US" sz="1250" b="1" dirty="0">
                <a:solidFill>
                  <a:srgbClr val="262B3A"/>
                </a:solidFill>
                <a:latin typeface="Calibri" pitchFamily="34" charset="0"/>
                <a:ea typeface="Calibri" pitchFamily="34" charset="-122"/>
                <a:cs typeface="Calibri" pitchFamily="34" charset="-120"/>
              </a:rPr>
              <a:t>2.0 kg</a:t>
            </a:r>
            <a:r>
              <a:rPr lang="en-US" sz="1250" dirty="0">
                <a:solidFill>
                  <a:srgbClr val="262B3A"/>
                </a:solidFill>
                <a:latin typeface="Calibri" pitchFamily="34" charset="0"/>
                <a:ea typeface="Calibri" pitchFamily="34" charset="-122"/>
                <a:cs typeface="Calibri" pitchFamily="34" charset="-120"/>
              </a:rPr>
              <a:t> of water from </a:t>
            </a:r>
            <a:r>
              <a:rPr lang="en-US" sz="1250" b="1" dirty="0">
                <a:solidFill>
                  <a:srgbClr val="262B3A"/>
                </a:solidFill>
                <a:latin typeface="Calibri" pitchFamily="34" charset="0"/>
                <a:ea typeface="Calibri" pitchFamily="34" charset="-122"/>
                <a:cs typeface="Calibri" pitchFamily="34" charset="-120"/>
              </a:rPr>
              <a:t>15 °C</a:t>
            </a:r>
            <a:r>
              <a:rPr lang="en-US" sz="1250" dirty="0">
                <a:solidFill>
                  <a:srgbClr val="262B3A"/>
                </a:solidFill>
                <a:latin typeface="Calibri" pitchFamily="34" charset="0"/>
                <a:ea typeface="Calibri" pitchFamily="34" charset="-122"/>
                <a:cs typeface="Calibri" pitchFamily="34" charset="-120"/>
              </a:rPr>
              <a:t> to </a:t>
            </a:r>
            <a:r>
              <a:rPr lang="en-US" sz="1250" b="1" dirty="0">
                <a:solidFill>
                  <a:srgbClr val="262B3A"/>
                </a:solidFill>
                <a:latin typeface="Calibri" pitchFamily="34" charset="0"/>
                <a:ea typeface="Calibri" pitchFamily="34" charset="-122"/>
                <a:cs typeface="Calibri" pitchFamily="34" charset="-120"/>
              </a:rPr>
              <a:t>65 °C</a:t>
            </a:r>
            <a:r>
              <a:rPr lang="en-US" sz="1250" dirty="0">
                <a:solidFill>
                  <a:srgbClr val="262B3A"/>
                </a:solidFill>
                <a:latin typeface="Calibri" pitchFamily="34" charset="0"/>
                <a:ea typeface="Calibri" pitchFamily="34" charset="-122"/>
                <a:cs typeface="Calibri" pitchFamily="34" charset="-120"/>
              </a:rPr>
              <a:t>. (c = 4200 J/kg °C)</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5DCEB"/>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a:t>
            </a:r>
            <a:r>
              <a:rPr lang="en-US" sz="1250" b="1" dirty="0">
                <a:solidFill>
                  <a:srgbClr val="262B3A"/>
                </a:solidFill>
                <a:latin typeface="Calibri" pitchFamily="34" charset="0"/>
                <a:ea typeface="Calibri" pitchFamily="34" charset="-122"/>
                <a:cs typeface="Calibri" pitchFamily="34" charset="-120"/>
              </a:rPr>
              <a:t>0.50 kg</a:t>
            </a:r>
            <a:r>
              <a:rPr lang="en-US" sz="1250" dirty="0">
                <a:solidFill>
                  <a:srgbClr val="262B3A"/>
                </a:solidFill>
                <a:latin typeface="Calibri" pitchFamily="34" charset="0"/>
                <a:ea typeface="Calibri" pitchFamily="34" charset="-122"/>
                <a:cs typeface="Calibri" pitchFamily="34" charset="-120"/>
              </a:rPr>
              <a:t> metal block is given </a:t>
            </a:r>
            <a:r>
              <a:rPr lang="en-US" sz="1250" b="1" dirty="0">
                <a:solidFill>
                  <a:srgbClr val="262B3A"/>
                </a:solidFill>
                <a:latin typeface="Calibri" pitchFamily="34" charset="0"/>
                <a:ea typeface="Calibri" pitchFamily="34" charset="-122"/>
                <a:cs typeface="Calibri" pitchFamily="34" charset="-120"/>
              </a:rPr>
              <a:t>9000 J</a:t>
            </a:r>
            <a:r>
              <a:rPr lang="en-US" sz="1250" dirty="0">
                <a:solidFill>
                  <a:srgbClr val="262B3A"/>
                </a:solidFill>
                <a:latin typeface="Calibri" pitchFamily="34" charset="0"/>
                <a:ea typeface="Calibri" pitchFamily="34" charset="-122"/>
                <a:cs typeface="Calibri" pitchFamily="34" charset="-120"/>
              </a:rPr>
              <a:t> of energy. Its temperature rises by </a:t>
            </a:r>
            <a:r>
              <a:rPr lang="en-US" sz="1250" b="1" dirty="0">
                <a:solidFill>
                  <a:srgbClr val="262B3A"/>
                </a:solidFill>
                <a:latin typeface="Calibri" pitchFamily="34" charset="0"/>
                <a:ea typeface="Calibri" pitchFamily="34" charset="-122"/>
                <a:cs typeface="Calibri" pitchFamily="34" charset="-120"/>
              </a:rPr>
              <a:t>20 °C</a:t>
            </a:r>
            <a:r>
              <a:rPr lang="en-US" sz="1250" dirty="0">
                <a:solidFill>
                  <a:srgbClr val="262B3A"/>
                </a:solidFill>
                <a:latin typeface="Calibri" pitchFamily="34" charset="0"/>
                <a:ea typeface="Calibri" pitchFamily="34" charset="-122"/>
                <a:cs typeface="Calibri" pitchFamily="34" charset="-120"/>
              </a:rPr>
              <a:t>. Calculate its specific heat capacity.</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PAG P5: specific heat capacity of a metal</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P6.1.7 • heat a 1.0 kg aluminium block with an electric heater</a:t>
            </a:r>
            <a:endParaRPr lang="en-US" sz="1100" dirty="0"/>
          </a:p>
        </p:txBody>
      </p:sp>
      <p:sp>
        <p:nvSpPr>
          <p:cNvPr id="6" name="Shape 4"/>
          <p:cNvSpPr/>
          <p:nvPr/>
        </p:nvSpPr>
        <p:spPr>
          <a:xfrm>
            <a:off x="11012119" y="292608"/>
            <a:ext cx="768096"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1012119" y="292608"/>
            <a:ext cx="76809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PAG P5</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P6.1 How does energy transform matter?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PAG P5  |  17</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block in insulation, with an immersion heater and a thermometer; circuit to measure power</a:t>
            </a:r>
            <a:endParaRPr lang="en-US" sz="1000" dirty="0"/>
          </a:p>
        </p:txBody>
      </p:sp>
      <p:sp>
        <p:nvSpPr>
          <p:cNvPr id="12" name="Shape 10"/>
          <p:cNvSpPr/>
          <p:nvPr/>
        </p:nvSpPr>
        <p:spPr>
          <a:xfrm>
            <a:off x="685800" y="2514600"/>
            <a:ext cx="2103120" cy="2331720"/>
          </a:xfrm>
          <a:prstGeom prst="rect">
            <a:avLst/>
          </a:prstGeom>
          <a:solidFill>
            <a:srgbClr val="F3E3B3"/>
          </a:solidFill>
          <a:ln w="12700">
            <a:solidFill>
              <a:srgbClr val="C9A95A"/>
            </a:solidFill>
            <a:prstDash val="solid"/>
          </a:ln>
        </p:spPr>
      </p:sp>
      <p:sp>
        <p:nvSpPr>
          <p:cNvPr id="13" name="Shape 11"/>
          <p:cNvSpPr/>
          <p:nvPr/>
        </p:nvSpPr>
        <p:spPr>
          <a:xfrm>
            <a:off x="731520" y="2542032"/>
            <a:ext cx="182880" cy="201168"/>
          </a:xfrm>
          <a:prstGeom prst="line">
            <a:avLst/>
          </a:prstGeom>
          <a:noFill/>
          <a:ln w="6350">
            <a:solidFill>
              <a:srgbClr val="C9A95A"/>
            </a:solidFill>
            <a:prstDash val="solid"/>
          </a:ln>
        </p:spPr>
      </p:sp>
      <p:sp>
        <p:nvSpPr>
          <p:cNvPr id="14" name="Shape 12"/>
          <p:cNvSpPr/>
          <p:nvPr/>
        </p:nvSpPr>
        <p:spPr>
          <a:xfrm>
            <a:off x="978408" y="2542032"/>
            <a:ext cx="182880" cy="201168"/>
          </a:xfrm>
          <a:prstGeom prst="line">
            <a:avLst/>
          </a:prstGeom>
          <a:noFill/>
          <a:ln w="6350">
            <a:solidFill>
              <a:srgbClr val="C9A95A"/>
            </a:solidFill>
            <a:prstDash val="solid"/>
          </a:ln>
        </p:spPr>
      </p:sp>
      <p:sp>
        <p:nvSpPr>
          <p:cNvPr id="15" name="Shape 13"/>
          <p:cNvSpPr/>
          <p:nvPr/>
        </p:nvSpPr>
        <p:spPr>
          <a:xfrm>
            <a:off x="1225296" y="2542032"/>
            <a:ext cx="182880" cy="201168"/>
          </a:xfrm>
          <a:prstGeom prst="line">
            <a:avLst/>
          </a:prstGeom>
          <a:noFill/>
          <a:ln w="6350">
            <a:solidFill>
              <a:srgbClr val="C9A95A"/>
            </a:solidFill>
            <a:prstDash val="solid"/>
          </a:ln>
        </p:spPr>
      </p:sp>
      <p:sp>
        <p:nvSpPr>
          <p:cNvPr id="16" name="Shape 14"/>
          <p:cNvSpPr/>
          <p:nvPr/>
        </p:nvSpPr>
        <p:spPr>
          <a:xfrm>
            <a:off x="1472184" y="2542032"/>
            <a:ext cx="182880" cy="201168"/>
          </a:xfrm>
          <a:prstGeom prst="line">
            <a:avLst/>
          </a:prstGeom>
          <a:noFill/>
          <a:ln w="6350">
            <a:solidFill>
              <a:srgbClr val="C9A95A"/>
            </a:solidFill>
            <a:prstDash val="solid"/>
          </a:ln>
        </p:spPr>
      </p:sp>
      <p:sp>
        <p:nvSpPr>
          <p:cNvPr id="17" name="Shape 15"/>
          <p:cNvSpPr/>
          <p:nvPr/>
        </p:nvSpPr>
        <p:spPr>
          <a:xfrm>
            <a:off x="1719072" y="2542032"/>
            <a:ext cx="182880" cy="201168"/>
          </a:xfrm>
          <a:prstGeom prst="line">
            <a:avLst/>
          </a:prstGeom>
          <a:noFill/>
          <a:ln w="6350">
            <a:solidFill>
              <a:srgbClr val="C9A95A"/>
            </a:solidFill>
            <a:prstDash val="solid"/>
          </a:ln>
        </p:spPr>
      </p:sp>
      <p:sp>
        <p:nvSpPr>
          <p:cNvPr id="18" name="Shape 16"/>
          <p:cNvSpPr/>
          <p:nvPr/>
        </p:nvSpPr>
        <p:spPr>
          <a:xfrm>
            <a:off x="1965960" y="2542032"/>
            <a:ext cx="182880" cy="201168"/>
          </a:xfrm>
          <a:prstGeom prst="line">
            <a:avLst/>
          </a:prstGeom>
          <a:noFill/>
          <a:ln w="6350">
            <a:solidFill>
              <a:srgbClr val="C9A95A"/>
            </a:solidFill>
            <a:prstDash val="solid"/>
          </a:ln>
        </p:spPr>
      </p:sp>
      <p:sp>
        <p:nvSpPr>
          <p:cNvPr id="19" name="Shape 17"/>
          <p:cNvSpPr/>
          <p:nvPr/>
        </p:nvSpPr>
        <p:spPr>
          <a:xfrm>
            <a:off x="2212848" y="2542032"/>
            <a:ext cx="182880" cy="201168"/>
          </a:xfrm>
          <a:prstGeom prst="line">
            <a:avLst/>
          </a:prstGeom>
          <a:noFill/>
          <a:ln w="6350">
            <a:solidFill>
              <a:srgbClr val="C9A95A"/>
            </a:solidFill>
            <a:prstDash val="solid"/>
          </a:ln>
        </p:spPr>
      </p:sp>
      <p:sp>
        <p:nvSpPr>
          <p:cNvPr id="20" name="Shape 18"/>
          <p:cNvSpPr/>
          <p:nvPr/>
        </p:nvSpPr>
        <p:spPr>
          <a:xfrm>
            <a:off x="2459736" y="2542032"/>
            <a:ext cx="182880" cy="201168"/>
          </a:xfrm>
          <a:prstGeom prst="line">
            <a:avLst/>
          </a:prstGeom>
          <a:noFill/>
          <a:ln w="6350">
            <a:solidFill>
              <a:srgbClr val="C9A95A"/>
            </a:solidFill>
            <a:prstDash val="solid"/>
          </a:ln>
        </p:spPr>
      </p:sp>
      <p:sp>
        <p:nvSpPr>
          <p:cNvPr id="21" name="Shape 19"/>
          <p:cNvSpPr/>
          <p:nvPr/>
        </p:nvSpPr>
        <p:spPr>
          <a:xfrm>
            <a:off x="2706624" y="2542032"/>
            <a:ext cx="182880" cy="201168"/>
          </a:xfrm>
          <a:prstGeom prst="line">
            <a:avLst/>
          </a:prstGeom>
          <a:noFill/>
          <a:ln w="6350">
            <a:solidFill>
              <a:srgbClr val="C9A95A"/>
            </a:solidFill>
            <a:prstDash val="solid"/>
          </a:ln>
        </p:spPr>
      </p:sp>
      <p:sp>
        <p:nvSpPr>
          <p:cNvPr id="22" name="Shape 20"/>
          <p:cNvSpPr/>
          <p:nvPr/>
        </p:nvSpPr>
        <p:spPr>
          <a:xfrm>
            <a:off x="896112" y="2743200"/>
            <a:ext cx="1682496" cy="1920240"/>
          </a:xfrm>
          <a:prstGeom prst="rect">
            <a:avLst/>
          </a:prstGeom>
          <a:solidFill>
            <a:srgbClr val="C2C8D2"/>
          </a:solidFill>
          <a:ln w="15875">
            <a:solidFill>
              <a:srgbClr val="6B7385"/>
            </a:solidFill>
            <a:prstDash val="solid"/>
          </a:ln>
        </p:spPr>
      </p:sp>
      <p:sp>
        <p:nvSpPr>
          <p:cNvPr id="23" name="Text 21"/>
          <p:cNvSpPr/>
          <p:nvPr/>
        </p:nvSpPr>
        <p:spPr>
          <a:xfrm>
            <a:off x="896112" y="4206240"/>
            <a:ext cx="1682496" cy="411480"/>
          </a:xfrm>
          <a:prstGeom prst="rect">
            <a:avLst/>
          </a:prstGeom>
          <a:noFill/>
          <a:ln/>
        </p:spPr>
        <p:txBody>
          <a:bodyPr wrap="square" lIns="0" tIns="0" rIns="0" bIns="0" rtlCol="0" anchor="ctr"/>
          <a:lstStyle/>
          <a:p>
            <a:pPr algn="ctr" indent="0" marL="0">
              <a:buNone/>
            </a:pPr>
            <a:r>
              <a:rPr lang="en-US" sz="1000" b="1" dirty="0">
                <a:solidFill>
                  <a:srgbClr val="1A2340"/>
                </a:solidFill>
                <a:latin typeface="Calibri" pitchFamily="34" charset="0"/>
                <a:ea typeface="Calibri" pitchFamily="34" charset="-122"/>
                <a:cs typeface="Calibri" pitchFamily="34" charset="-120"/>
              </a:rPr>
              <a:t>aluminium block 1.0 kg</a:t>
            </a:r>
            <a:endParaRPr lang="en-US" sz="1000" dirty="0"/>
          </a:p>
        </p:txBody>
      </p:sp>
      <p:sp>
        <p:nvSpPr>
          <p:cNvPr id="24" name="Shape 22"/>
          <p:cNvSpPr/>
          <p:nvPr/>
        </p:nvSpPr>
        <p:spPr>
          <a:xfrm>
            <a:off x="1188720" y="2057400"/>
            <a:ext cx="201168" cy="1920240"/>
          </a:xfrm>
          <a:prstGeom prst="rect">
            <a:avLst/>
          </a:prstGeom>
          <a:solidFill>
            <a:srgbClr val="4A5262"/>
          </a:solidFill>
          <a:ln w="12700">
            <a:solidFill>
              <a:srgbClr val="2E3442"/>
            </a:solidFill>
            <a:prstDash val="solid"/>
          </a:ln>
        </p:spPr>
      </p:sp>
      <p:sp>
        <p:nvSpPr>
          <p:cNvPr id="25" name="Shape 23"/>
          <p:cNvSpPr/>
          <p:nvPr/>
        </p:nvSpPr>
        <p:spPr>
          <a:xfrm flipV="1">
            <a:off x="1243584" y="1691640"/>
            <a:ext cx="91" cy="365760"/>
          </a:xfrm>
          <a:prstGeom prst="line">
            <a:avLst/>
          </a:prstGeom>
          <a:noFill/>
          <a:ln w="15875">
            <a:solidFill>
              <a:srgbClr val="1A2340"/>
            </a:solidFill>
            <a:prstDash val="solid"/>
          </a:ln>
        </p:spPr>
      </p:sp>
      <p:sp>
        <p:nvSpPr>
          <p:cNvPr id="26" name="Shape 24"/>
          <p:cNvSpPr/>
          <p:nvPr/>
        </p:nvSpPr>
        <p:spPr>
          <a:xfrm flipV="1">
            <a:off x="1335024" y="1691640"/>
            <a:ext cx="91" cy="365760"/>
          </a:xfrm>
          <a:prstGeom prst="line">
            <a:avLst/>
          </a:prstGeom>
          <a:noFill/>
          <a:ln w="15875">
            <a:solidFill>
              <a:srgbClr val="1A2340"/>
            </a:solidFill>
            <a:prstDash val="solid"/>
          </a:ln>
        </p:spPr>
      </p:sp>
      <p:sp>
        <p:nvSpPr>
          <p:cNvPr id="27" name="Text 25"/>
          <p:cNvSpPr/>
          <p:nvPr/>
        </p:nvSpPr>
        <p:spPr>
          <a:xfrm>
            <a:off x="411480" y="1463040"/>
            <a:ext cx="1097280" cy="256032"/>
          </a:xfrm>
          <a:prstGeom prst="rect">
            <a:avLst/>
          </a:prstGeom>
          <a:noFill/>
          <a:ln/>
        </p:spPr>
        <p:txBody>
          <a:bodyPr wrap="square" lIns="0" tIns="0" rIns="0" bIns="0" rtlCol="0" anchor="ctr"/>
          <a:lstStyle/>
          <a:p>
            <a:pPr algn="r" indent="0" marL="0">
              <a:buNone/>
            </a:pPr>
            <a:r>
              <a:rPr lang="en-US" sz="1050" b="1" dirty="0">
                <a:solidFill>
                  <a:srgbClr val="262B3A"/>
                </a:solidFill>
                <a:latin typeface="Calibri" pitchFamily="34" charset="0"/>
                <a:ea typeface="Calibri" pitchFamily="34" charset="-122"/>
                <a:cs typeface="Calibri" pitchFamily="34" charset="-120"/>
              </a:rPr>
              <a:t>heater</a:t>
            </a:r>
            <a:endParaRPr lang="en-US" sz="1050" dirty="0"/>
          </a:p>
        </p:txBody>
      </p:sp>
      <p:sp>
        <p:nvSpPr>
          <p:cNvPr id="28" name="Shape 26"/>
          <p:cNvSpPr/>
          <p:nvPr/>
        </p:nvSpPr>
        <p:spPr>
          <a:xfrm>
            <a:off x="2153412" y="1417320"/>
            <a:ext cx="82296" cy="2377440"/>
          </a:xfrm>
          <a:prstGeom prst="roundRect">
            <a:avLst>
              <a:gd name="adj" fmla="val 44444"/>
            </a:avLst>
          </a:prstGeom>
          <a:solidFill>
            <a:srgbClr val="FFFFFF"/>
          </a:solidFill>
          <a:ln w="9525">
            <a:solidFill>
              <a:srgbClr val="6B7385"/>
            </a:solidFill>
            <a:prstDash val="solid"/>
          </a:ln>
        </p:spPr>
      </p:sp>
      <p:sp>
        <p:nvSpPr>
          <p:cNvPr id="29" name="Shape 27"/>
          <p:cNvSpPr/>
          <p:nvPr/>
        </p:nvSpPr>
        <p:spPr>
          <a:xfrm>
            <a:off x="2125980" y="3726180"/>
            <a:ext cx="137160" cy="137160"/>
          </a:xfrm>
          <a:prstGeom prst="ellipse">
            <a:avLst/>
          </a:prstGeom>
          <a:solidFill>
            <a:srgbClr val="C8414C"/>
          </a:solidFill>
          <a:ln w="9525">
            <a:solidFill>
              <a:srgbClr val="8E2A33"/>
            </a:solidFill>
            <a:prstDash val="solid"/>
          </a:ln>
        </p:spPr>
      </p:sp>
      <p:sp>
        <p:nvSpPr>
          <p:cNvPr id="30" name="Shape 28"/>
          <p:cNvSpPr/>
          <p:nvPr/>
        </p:nvSpPr>
        <p:spPr>
          <a:xfrm>
            <a:off x="2180844" y="2606040"/>
            <a:ext cx="27432" cy="1188720"/>
          </a:xfrm>
          <a:prstGeom prst="rect">
            <a:avLst/>
          </a:prstGeom>
          <a:solidFill>
            <a:srgbClr val="C8414C"/>
          </a:solidFill>
          <a:ln/>
        </p:spPr>
      </p:sp>
      <p:sp>
        <p:nvSpPr>
          <p:cNvPr id="31" name="Shape 29"/>
          <p:cNvSpPr/>
          <p:nvPr/>
        </p:nvSpPr>
        <p:spPr>
          <a:xfrm>
            <a:off x="2203704" y="1783080"/>
            <a:ext cx="32004" cy="91"/>
          </a:xfrm>
          <a:prstGeom prst="line">
            <a:avLst/>
          </a:prstGeom>
          <a:noFill/>
          <a:ln w="6350">
            <a:solidFill>
              <a:srgbClr val="6B7385"/>
            </a:solidFill>
            <a:prstDash val="solid"/>
          </a:ln>
        </p:spPr>
      </p:sp>
      <p:sp>
        <p:nvSpPr>
          <p:cNvPr id="32" name="Shape 30"/>
          <p:cNvSpPr/>
          <p:nvPr/>
        </p:nvSpPr>
        <p:spPr>
          <a:xfrm>
            <a:off x="2203704" y="2057400"/>
            <a:ext cx="32004" cy="91"/>
          </a:xfrm>
          <a:prstGeom prst="line">
            <a:avLst/>
          </a:prstGeom>
          <a:noFill/>
          <a:ln w="6350">
            <a:solidFill>
              <a:srgbClr val="6B7385"/>
            </a:solidFill>
            <a:prstDash val="solid"/>
          </a:ln>
        </p:spPr>
      </p:sp>
      <p:sp>
        <p:nvSpPr>
          <p:cNvPr id="33" name="Shape 31"/>
          <p:cNvSpPr/>
          <p:nvPr/>
        </p:nvSpPr>
        <p:spPr>
          <a:xfrm>
            <a:off x="2203704" y="2331720"/>
            <a:ext cx="32004" cy="91"/>
          </a:xfrm>
          <a:prstGeom prst="line">
            <a:avLst/>
          </a:prstGeom>
          <a:noFill/>
          <a:ln w="6350">
            <a:solidFill>
              <a:srgbClr val="6B7385"/>
            </a:solidFill>
            <a:prstDash val="solid"/>
          </a:ln>
        </p:spPr>
      </p:sp>
      <p:sp>
        <p:nvSpPr>
          <p:cNvPr id="34" name="Shape 32"/>
          <p:cNvSpPr/>
          <p:nvPr/>
        </p:nvSpPr>
        <p:spPr>
          <a:xfrm>
            <a:off x="2203704" y="2606040"/>
            <a:ext cx="32004" cy="91"/>
          </a:xfrm>
          <a:prstGeom prst="line">
            <a:avLst/>
          </a:prstGeom>
          <a:noFill/>
          <a:ln w="6350">
            <a:solidFill>
              <a:srgbClr val="6B7385"/>
            </a:solidFill>
            <a:prstDash val="solid"/>
          </a:ln>
        </p:spPr>
      </p:sp>
      <p:sp>
        <p:nvSpPr>
          <p:cNvPr id="35" name="Shape 33"/>
          <p:cNvSpPr/>
          <p:nvPr/>
        </p:nvSpPr>
        <p:spPr>
          <a:xfrm>
            <a:off x="2203704" y="2880360"/>
            <a:ext cx="32004" cy="91"/>
          </a:xfrm>
          <a:prstGeom prst="line">
            <a:avLst/>
          </a:prstGeom>
          <a:noFill/>
          <a:ln w="6350">
            <a:solidFill>
              <a:srgbClr val="6B7385"/>
            </a:solidFill>
            <a:prstDash val="solid"/>
          </a:ln>
        </p:spPr>
      </p:sp>
      <p:sp>
        <p:nvSpPr>
          <p:cNvPr id="36" name="Shape 34"/>
          <p:cNvSpPr/>
          <p:nvPr/>
        </p:nvSpPr>
        <p:spPr>
          <a:xfrm>
            <a:off x="2203704" y="3154680"/>
            <a:ext cx="32004" cy="91"/>
          </a:xfrm>
          <a:prstGeom prst="line">
            <a:avLst/>
          </a:prstGeom>
          <a:noFill/>
          <a:ln w="6350">
            <a:solidFill>
              <a:srgbClr val="6B7385"/>
            </a:solidFill>
            <a:prstDash val="solid"/>
          </a:ln>
        </p:spPr>
      </p:sp>
      <p:sp>
        <p:nvSpPr>
          <p:cNvPr id="37" name="Shape 35"/>
          <p:cNvSpPr/>
          <p:nvPr/>
        </p:nvSpPr>
        <p:spPr>
          <a:xfrm>
            <a:off x="2203704" y="3429000"/>
            <a:ext cx="32004" cy="91"/>
          </a:xfrm>
          <a:prstGeom prst="line">
            <a:avLst/>
          </a:prstGeom>
          <a:noFill/>
          <a:ln w="6350">
            <a:solidFill>
              <a:srgbClr val="6B7385"/>
            </a:solidFill>
            <a:prstDash val="solid"/>
          </a:ln>
        </p:spPr>
      </p:sp>
      <p:sp>
        <p:nvSpPr>
          <p:cNvPr id="38" name="Text 36"/>
          <p:cNvSpPr/>
          <p:nvPr/>
        </p:nvSpPr>
        <p:spPr>
          <a:xfrm>
            <a:off x="2331720" y="1463040"/>
            <a:ext cx="914400" cy="25603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thermometer</a:t>
            </a:r>
            <a:endParaRPr lang="en-US" sz="1050" dirty="0"/>
          </a:p>
        </p:txBody>
      </p:sp>
      <p:sp>
        <p:nvSpPr>
          <p:cNvPr id="39" name="Text 37"/>
          <p:cNvSpPr/>
          <p:nvPr/>
        </p:nvSpPr>
        <p:spPr>
          <a:xfrm>
            <a:off x="685800" y="4892040"/>
            <a:ext cx="2103120" cy="256032"/>
          </a:xfrm>
          <a:prstGeom prst="rect">
            <a:avLst/>
          </a:prstGeom>
          <a:noFill/>
          <a:ln/>
        </p:spPr>
        <p:txBody>
          <a:bodyPr wrap="square" lIns="0" tIns="0" rIns="0" bIns="0" rtlCol="0" anchor="ctr"/>
          <a:lstStyle/>
          <a:p>
            <a:pPr algn="ctr" indent="0" marL="0">
              <a:buNone/>
            </a:pPr>
            <a:r>
              <a:rPr lang="en-US" sz="1000" i="1" dirty="0">
                <a:solidFill>
                  <a:srgbClr val="8A6A20"/>
                </a:solidFill>
                <a:latin typeface="Calibri" pitchFamily="34" charset="0"/>
                <a:ea typeface="Calibri" pitchFamily="34" charset="-122"/>
                <a:cs typeface="Calibri" pitchFamily="34" charset="-120"/>
              </a:rPr>
              <a:t>insulation (lagging)</a:t>
            </a:r>
            <a:endParaRPr lang="en-US" sz="1000" dirty="0"/>
          </a:p>
        </p:txBody>
      </p:sp>
      <p:sp>
        <p:nvSpPr>
          <p:cNvPr id="40" name="Shape 38"/>
          <p:cNvSpPr/>
          <p:nvPr/>
        </p:nvSpPr>
        <p:spPr>
          <a:xfrm>
            <a:off x="3566160" y="1691640"/>
            <a:ext cx="896112" cy="91"/>
          </a:xfrm>
          <a:prstGeom prst="line">
            <a:avLst/>
          </a:prstGeom>
          <a:noFill/>
          <a:ln w="19050">
            <a:solidFill>
              <a:srgbClr val="1A2340"/>
            </a:solidFill>
            <a:prstDash val="solid"/>
          </a:ln>
        </p:spPr>
      </p:sp>
      <p:sp>
        <p:nvSpPr>
          <p:cNvPr id="41" name="Shape 39"/>
          <p:cNvSpPr/>
          <p:nvPr/>
        </p:nvSpPr>
        <p:spPr>
          <a:xfrm>
            <a:off x="4773168" y="1691640"/>
            <a:ext cx="896112" cy="91"/>
          </a:xfrm>
          <a:prstGeom prst="line">
            <a:avLst/>
          </a:prstGeom>
          <a:noFill/>
          <a:ln w="19050">
            <a:solidFill>
              <a:srgbClr val="1A2340"/>
            </a:solidFill>
            <a:prstDash val="solid"/>
          </a:ln>
        </p:spPr>
      </p:sp>
      <p:sp>
        <p:nvSpPr>
          <p:cNvPr id="42" name="Shape 40"/>
          <p:cNvSpPr/>
          <p:nvPr/>
        </p:nvSpPr>
        <p:spPr>
          <a:xfrm>
            <a:off x="4462272" y="1490472"/>
            <a:ext cx="91" cy="402336"/>
          </a:xfrm>
          <a:prstGeom prst="line">
            <a:avLst/>
          </a:prstGeom>
          <a:noFill/>
          <a:ln w="19050">
            <a:solidFill>
              <a:srgbClr val="1A2340"/>
            </a:solidFill>
            <a:prstDash val="solid"/>
          </a:ln>
        </p:spPr>
      </p:sp>
      <p:sp>
        <p:nvSpPr>
          <p:cNvPr id="43" name="Shape 41"/>
          <p:cNvSpPr/>
          <p:nvPr/>
        </p:nvSpPr>
        <p:spPr>
          <a:xfrm>
            <a:off x="4553712" y="1591056"/>
            <a:ext cx="91" cy="201168"/>
          </a:xfrm>
          <a:prstGeom prst="line">
            <a:avLst/>
          </a:prstGeom>
          <a:noFill/>
          <a:ln w="57150">
            <a:solidFill>
              <a:srgbClr val="1A2340"/>
            </a:solidFill>
            <a:prstDash val="solid"/>
          </a:ln>
        </p:spPr>
      </p:sp>
      <p:sp>
        <p:nvSpPr>
          <p:cNvPr id="44" name="Shape 42"/>
          <p:cNvSpPr/>
          <p:nvPr/>
        </p:nvSpPr>
        <p:spPr>
          <a:xfrm>
            <a:off x="4553712" y="1691640"/>
            <a:ext cx="128016" cy="91"/>
          </a:xfrm>
          <a:prstGeom prst="line">
            <a:avLst/>
          </a:prstGeom>
          <a:noFill/>
          <a:ln w="19050">
            <a:solidFill>
              <a:srgbClr val="1A2340"/>
            </a:solidFill>
            <a:prstDash val="solid"/>
          </a:ln>
        </p:spPr>
      </p:sp>
      <p:sp>
        <p:nvSpPr>
          <p:cNvPr id="45" name="Shape 43"/>
          <p:cNvSpPr/>
          <p:nvPr/>
        </p:nvSpPr>
        <p:spPr>
          <a:xfrm>
            <a:off x="4681728" y="1490472"/>
            <a:ext cx="91" cy="402336"/>
          </a:xfrm>
          <a:prstGeom prst="line">
            <a:avLst/>
          </a:prstGeom>
          <a:noFill/>
          <a:ln w="19050">
            <a:solidFill>
              <a:srgbClr val="1A2340"/>
            </a:solidFill>
            <a:prstDash val="solid"/>
          </a:ln>
        </p:spPr>
      </p:sp>
      <p:sp>
        <p:nvSpPr>
          <p:cNvPr id="46" name="Shape 44"/>
          <p:cNvSpPr/>
          <p:nvPr/>
        </p:nvSpPr>
        <p:spPr>
          <a:xfrm>
            <a:off x="4773168" y="1591056"/>
            <a:ext cx="91" cy="201168"/>
          </a:xfrm>
          <a:prstGeom prst="line">
            <a:avLst/>
          </a:prstGeom>
          <a:noFill/>
          <a:ln w="57150">
            <a:solidFill>
              <a:srgbClr val="1A2340"/>
            </a:solidFill>
            <a:prstDash val="solid"/>
          </a:ln>
        </p:spPr>
      </p:sp>
      <p:sp>
        <p:nvSpPr>
          <p:cNvPr id="47" name="Text 45"/>
          <p:cNvSpPr/>
          <p:nvPr/>
        </p:nvSpPr>
        <p:spPr>
          <a:xfrm>
            <a:off x="3794760" y="1243584"/>
            <a:ext cx="164592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12 V d.c. supply</a:t>
            </a:r>
            <a:endParaRPr lang="en-US" sz="1050" dirty="0"/>
          </a:p>
        </p:txBody>
      </p:sp>
      <p:sp>
        <p:nvSpPr>
          <p:cNvPr id="48" name="Shape 46"/>
          <p:cNvSpPr/>
          <p:nvPr/>
        </p:nvSpPr>
        <p:spPr>
          <a:xfrm>
            <a:off x="5669280" y="1691640"/>
            <a:ext cx="91" cy="466344"/>
          </a:xfrm>
          <a:prstGeom prst="line">
            <a:avLst/>
          </a:prstGeom>
          <a:noFill/>
          <a:ln w="19050">
            <a:solidFill>
              <a:srgbClr val="1A2340"/>
            </a:solidFill>
            <a:prstDash val="solid"/>
          </a:ln>
        </p:spPr>
      </p:sp>
      <p:sp>
        <p:nvSpPr>
          <p:cNvPr id="49" name="Shape 47"/>
          <p:cNvSpPr/>
          <p:nvPr/>
        </p:nvSpPr>
        <p:spPr>
          <a:xfrm>
            <a:off x="5669280" y="2505456"/>
            <a:ext cx="91" cy="466344"/>
          </a:xfrm>
          <a:prstGeom prst="line">
            <a:avLst/>
          </a:prstGeom>
          <a:noFill/>
          <a:ln w="19050">
            <a:solidFill>
              <a:srgbClr val="1A2340"/>
            </a:solidFill>
            <a:prstDash val="solid"/>
          </a:ln>
        </p:spPr>
      </p:sp>
      <p:sp>
        <p:nvSpPr>
          <p:cNvPr id="50" name="Shape 48"/>
          <p:cNvSpPr/>
          <p:nvPr/>
        </p:nvSpPr>
        <p:spPr>
          <a:xfrm>
            <a:off x="5495544" y="2157984"/>
            <a:ext cx="347472" cy="347472"/>
          </a:xfrm>
          <a:prstGeom prst="ellipse">
            <a:avLst/>
          </a:prstGeom>
          <a:solidFill>
            <a:srgbClr val="FFFFFF"/>
          </a:solidFill>
          <a:ln w="19050">
            <a:solidFill>
              <a:srgbClr val="1A2340"/>
            </a:solidFill>
            <a:prstDash val="solid"/>
          </a:ln>
        </p:spPr>
      </p:sp>
      <p:sp>
        <p:nvSpPr>
          <p:cNvPr id="51" name="Text 49"/>
          <p:cNvSpPr/>
          <p:nvPr/>
        </p:nvSpPr>
        <p:spPr>
          <a:xfrm>
            <a:off x="5486400" y="2148840"/>
            <a:ext cx="365760" cy="365760"/>
          </a:xfrm>
          <a:prstGeom prst="rect">
            <a:avLst/>
          </a:prstGeom>
          <a:noFill/>
          <a:ln/>
        </p:spPr>
        <p:txBody>
          <a:bodyPr wrap="square" lIns="0" tIns="0" rIns="0" bIns="0" rtlCol="0" anchor="ctr"/>
          <a:lstStyle/>
          <a:p>
            <a:pPr algn="ctr" indent="0" marL="0">
              <a:buNone/>
            </a:pPr>
            <a:r>
              <a:rPr lang="en-US" sz="1300" b="1" dirty="0">
                <a:solidFill>
                  <a:srgbClr val="1A2340"/>
                </a:solidFill>
                <a:latin typeface="Calibri" pitchFamily="34" charset="0"/>
                <a:ea typeface="Calibri" pitchFamily="34" charset="-122"/>
                <a:cs typeface="Calibri" pitchFamily="34" charset="-120"/>
              </a:rPr>
              <a:t>A</a:t>
            </a:r>
            <a:endParaRPr lang="en-US" sz="1300" dirty="0"/>
          </a:p>
        </p:txBody>
      </p:sp>
      <p:sp>
        <p:nvSpPr>
          <p:cNvPr id="52" name="Shape 50"/>
          <p:cNvSpPr/>
          <p:nvPr/>
        </p:nvSpPr>
        <p:spPr>
          <a:xfrm flipH="1">
            <a:off x="4864608" y="2971800"/>
            <a:ext cx="804672" cy="91"/>
          </a:xfrm>
          <a:prstGeom prst="line">
            <a:avLst/>
          </a:prstGeom>
          <a:noFill/>
          <a:ln w="19050">
            <a:solidFill>
              <a:srgbClr val="1A2340"/>
            </a:solidFill>
            <a:prstDash val="solid"/>
          </a:ln>
        </p:spPr>
      </p:sp>
      <p:sp>
        <p:nvSpPr>
          <p:cNvPr id="53" name="Shape 51"/>
          <p:cNvSpPr/>
          <p:nvPr/>
        </p:nvSpPr>
        <p:spPr>
          <a:xfrm flipH="1">
            <a:off x="3566160" y="2971800"/>
            <a:ext cx="804672" cy="91"/>
          </a:xfrm>
          <a:prstGeom prst="line">
            <a:avLst/>
          </a:prstGeom>
          <a:noFill/>
          <a:ln w="19050">
            <a:solidFill>
              <a:srgbClr val="1A2340"/>
            </a:solidFill>
            <a:prstDash val="solid"/>
          </a:ln>
        </p:spPr>
      </p:sp>
      <p:sp>
        <p:nvSpPr>
          <p:cNvPr id="54" name="Shape 52"/>
          <p:cNvSpPr/>
          <p:nvPr/>
        </p:nvSpPr>
        <p:spPr>
          <a:xfrm>
            <a:off x="4370832" y="2880360"/>
            <a:ext cx="493776" cy="182880"/>
          </a:xfrm>
          <a:prstGeom prst="rect">
            <a:avLst/>
          </a:prstGeom>
          <a:solidFill>
            <a:srgbClr val="FFFFFF"/>
          </a:solidFill>
          <a:ln w="19050">
            <a:solidFill>
              <a:srgbClr val="1A2340"/>
            </a:solidFill>
            <a:prstDash val="solid"/>
          </a:ln>
        </p:spPr>
      </p:sp>
      <p:sp>
        <p:nvSpPr>
          <p:cNvPr id="55" name="Text 53"/>
          <p:cNvSpPr/>
          <p:nvPr/>
        </p:nvSpPr>
        <p:spPr>
          <a:xfrm>
            <a:off x="3703320" y="2560320"/>
            <a:ext cx="182880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heater (in the block)</a:t>
            </a:r>
            <a:endParaRPr lang="en-US" sz="1050" dirty="0"/>
          </a:p>
        </p:txBody>
      </p:sp>
      <p:sp>
        <p:nvSpPr>
          <p:cNvPr id="56" name="Shape 54"/>
          <p:cNvSpPr/>
          <p:nvPr/>
        </p:nvSpPr>
        <p:spPr>
          <a:xfrm flipV="1">
            <a:off x="3566160" y="1691640"/>
            <a:ext cx="91" cy="1280160"/>
          </a:xfrm>
          <a:prstGeom prst="line">
            <a:avLst/>
          </a:prstGeom>
          <a:noFill/>
          <a:ln w="19050">
            <a:solidFill>
              <a:srgbClr val="1A2340"/>
            </a:solidFill>
            <a:prstDash val="solid"/>
          </a:ln>
        </p:spPr>
      </p:sp>
      <p:sp>
        <p:nvSpPr>
          <p:cNvPr id="57" name="Shape 55"/>
          <p:cNvSpPr/>
          <p:nvPr/>
        </p:nvSpPr>
        <p:spPr>
          <a:xfrm>
            <a:off x="4114800" y="2971800"/>
            <a:ext cx="91" cy="640080"/>
          </a:xfrm>
          <a:prstGeom prst="line">
            <a:avLst/>
          </a:prstGeom>
          <a:noFill/>
          <a:ln w="19050">
            <a:solidFill>
              <a:srgbClr val="1A2340"/>
            </a:solidFill>
            <a:prstDash val="solid"/>
          </a:ln>
        </p:spPr>
      </p:sp>
      <p:sp>
        <p:nvSpPr>
          <p:cNvPr id="58" name="Shape 56"/>
          <p:cNvSpPr/>
          <p:nvPr/>
        </p:nvSpPr>
        <p:spPr>
          <a:xfrm>
            <a:off x="4114800" y="3611880"/>
            <a:ext cx="1005840" cy="91"/>
          </a:xfrm>
          <a:prstGeom prst="line">
            <a:avLst/>
          </a:prstGeom>
          <a:noFill/>
          <a:ln w="19050">
            <a:solidFill>
              <a:srgbClr val="1A2340"/>
            </a:solidFill>
            <a:prstDash val="solid"/>
          </a:ln>
        </p:spPr>
      </p:sp>
      <p:sp>
        <p:nvSpPr>
          <p:cNvPr id="59" name="Shape 57"/>
          <p:cNvSpPr/>
          <p:nvPr/>
        </p:nvSpPr>
        <p:spPr>
          <a:xfrm flipV="1">
            <a:off x="5120640" y="2971800"/>
            <a:ext cx="91" cy="640080"/>
          </a:xfrm>
          <a:prstGeom prst="line">
            <a:avLst/>
          </a:prstGeom>
          <a:noFill/>
          <a:ln w="19050">
            <a:solidFill>
              <a:srgbClr val="1A2340"/>
            </a:solidFill>
            <a:prstDash val="solid"/>
          </a:ln>
        </p:spPr>
      </p:sp>
      <p:sp>
        <p:nvSpPr>
          <p:cNvPr id="60" name="Shape 58"/>
          <p:cNvSpPr/>
          <p:nvPr/>
        </p:nvSpPr>
        <p:spPr>
          <a:xfrm>
            <a:off x="4114800" y="3611880"/>
            <a:ext cx="329184" cy="91"/>
          </a:xfrm>
          <a:prstGeom prst="line">
            <a:avLst/>
          </a:prstGeom>
          <a:noFill/>
          <a:ln w="19050">
            <a:solidFill>
              <a:srgbClr val="1A2340"/>
            </a:solidFill>
            <a:prstDash val="solid"/>
          </a:ln>
        </p:spPr>
      </p:sp>
      <p:sp>
        <p:nvSpPr>
          <p:cNvPr id="61" name="Shape 59"/>
          <p:cNvSpPr/>
          <p:nvPr/>
        </p:nvSpPr>
        <p:spPr>
          <a:xfrm>
            <a:off x="4791456" y="3611880"/>
            <a:ext cx="329184" cy="91"/>
          </a:xfrm>
          <a:prstGeom prst="line">
            <a:avLst/>
          </a:prstGeom>
          <a:noFill/>
          <a:ln w="19050">
            <a:solidFill>
              <a:srgbClr val="1A2340"/>
            </a:solidFill>
            <a:prstDash val="solid"/>
          </a:ln>
        </p:spPr>
      </p:sp>
      <p:sp>
        <p:nvSpPr>
          <p:cNvPr id="62" name="Shape 60"/>
          <p:cNvSpPr/>
          <p:nvPr/>
        </p:nvSpPr>
        <p:spPr>
          <a:xfrm>
            <a:off x="4443984" y="3438144"/>
            <a:ext cx="347472" cy="347472"/>
          </a:xfrm>
          <a:prstGeom prst="ellipse">
            <a:avLst/>
          </a:prstGeom>
          <a:solidFill>
            <a:srgbClr val="FFFFFF"/>
          </a:solidFill>
          <a:ln w="19050">
            <a:solidFill>
              <a:srgbClr val="1A2340"/>
            </a:solidFill>
            <a:prstDash val="solid"/>
          </a:ln>
        </p:spPr>
      </p:sp>
      <p:sp>
        <p:nvSpPr>
          <p:cNvPr id="63" name="Text 61"/>
          <p:cNvSpPr/>
          <p:nvPr/>
        </p:nvSpPr>
        <p:spPr>
          <a:xfrm>
            <a:off x="4434840" y="3429000"/>
            <a:ext cx="365760" cy="365760"/>
          </a:xfrm>
          <a:prstGeom prst="rect">
            <a:avLst/>
          </a:prstGeom>
          <a:noFill/>
          <a:ln/>
        </p:spPr>
        <p:txBody>
          <a:bodyPr wrap="square" lIns="0" tIns="0" rIns="0" bIns="0" rtlCol="0" anchor="ctr"/>
          <a:lstStyle/>
          <a:p>
            <a:pPr algn="ctr" indent="0" marL="0">
              <a:buNone/>
            </a:pPr>
            <a:r>
              <a:rPr lang="en-US" sz="1300" b="1" dirty="0">
                <a:solidFill>
                  <a:srgbClr val="1A2340"/>
                </a:solidFill>
                <a:latin typeface="Calibri" pitchFamily="34" charset="0"/>
                <a:ea typeface="Calibri" pitchFamily="34" charset="-122"/>
                <a:cs typeface="Calibri" pitchFamily="34" charset="-120"/>
              </a:rPr>
              <a:t>V</a:t>
            </a:r>
            <a:endParaRPr lang="en-US" sz="1300" dirty="0"/>
          </a:p>
        </p:txBody>
      </p:sp>
      <p:sp>
        <p:nvSpPr>
          <p:cNvPr id="64" name="Shape 62"/>
          <p:cNvSpPr/>
          <p:nvPr/>
        </p:nvSpPr>
        <p:spPr>
          <a:xfrm>
            <a:off x="4064508" y="2921508"/>
            <a:ext cx="100584" cy="100584"/>
          </a:xfrm>
          <a:prstGeom prst="ellipse">
            <a:avLst/>
          </a:prstGeom>
          <a:solidFill>
            <a:srgbClr val="1A2340"/>
          </a:solidFill>
          <a:ln w="6350">
            <a:solidFill>
              <a:srgbClr val="1A2340"/>
            </a:solidFill>
            <a:prstDash val="solid"/>
          </a:ln>
        </p:spPr>
      </p:sp>
      <p:sp>
        <p:nvSpPr>
          <p:cNvPr id="65" name="Shape 63"/>
          <p:cNvSpPr/>
          <p:nvPr/>
        </p:nvSpPr>
        <p:spPr>
          <a:xfrm>
            <a:off x="5070348" y="2921508"/>
            <a:ext cx="100584" cy="100584"/>
          </a:xfrm>
          <a:prstGeom prst="ellipse">
            <a:avLst/>
          </a:prstGeom>
          <a:solidFill>
            <a:srgbClr val="1A2340"/>
          </a:solidFill>
          <a:ln w="6350">
            <a:solidFill>
              <a:srgbClr val="1A2340"/>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063240" y="3931920"/>
          <a:ext cx="2743200" cy="914400"/>
        </p:xfrm>
        <a:graphic>
          <a:graphicData uri="http://schemas.openxmlformats.org/drawingml/2006/table">
            <a:tbl>
              <a:tblPr/>
              <a:tblGrid>
                <a:gridCol w="1463040"/>
                <a:gridCol w="1280160"/>
              </a:tblGrid>
              <a:tr h="24688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Measure</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With</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r>
              <a:tr h="246888">
                <a:tc>
                  <a:txBody>
                    <a:bodyPr/>
                    <a:lstStyle/>
                    <a:p>
                      <a:pPr indent="0" marL="0">
                        <a:buNone/>
                      </a:pPr>
                      <a:r>
                        <a:rPr lang="en-US" sz="1000" b="1" dirty="0">
                          <a:solidFill>
                            <a:srgbClr val="262B3A"/>
                          </a:solidFill>
                          <a:latin typeface="Calibri" pitchFamily="34" charset="0"/>
                          <a:ea typeface="Calibri" pitchFamily="34" charset="-122"/>
                          <a:cs typeface="Calibri" pitchFamily="34" charset="-120"/>
                        </a:rPr>
                        <a:t>mass of block, m</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000" dirty="0">
                          <a:solidFill>
                            <a:srgbClr val="262B3A"/>
                          </a:solidFill>
                          <a:latin typeface="Calibri" pitchFamily="34" charset="0"/>
                          <a:ea typeface="Calibri" pitchFamily="34" charset="-122"/>
                          <a:cs typeface="Calibri" pitchFamily="34" charset="-120"/>
                        </a:rPr>
                        <a:t>balance</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246888">
                <a:tc>
                  <a:txBody>
                    <a:bodyPr/>
                    <a:lstStyle/>
                    <a:p>
                      <a:pPr indent="0" marL="0">
                        <a:buNone/>
                      </a:pPr>
                      <a:r>
                        <a:rPr lang="en-US" sz="1000" b="1" dirty="0">
                          <a:solidFill>
                            <a:srgbClr val="262B3A"/>
                          </a:solidFill>
                          <a:latin typeface="Calibri" pitchFamily="34" charset="0"/>
                          <a:ea typeface="Calibri" pitchFamily="34" charset="-122"/>
                          <a:cs typeface="Calibri" pitchFamily="34" charset="-120"/>
                        </a:rPr>
                        <a:t>p.d. V and current I</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000" dirty="0">
                          <a:solidFill>
                            <a:srgbClr val="262B3A"/>
                          </a:solidFill>
                          <a:latin typeface="Calibri" pitchFamily="34" charset="0"/>
                          <a:ea typeface="Calibri" pitchFamily="34" charset="-122"/>
                          <a:cs typeface="Calibri" pitchFamily="34" charset="-120"/>
                        </a:rPr>
                        <a:t>voltmeter, ammeter</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246888">
                <a:tc>
                  <a:txBody>
                    <a:bodyPr/>
                    <a:lstStyle/>
                    <a:p>
                      <a:pPr indent="0" marL="0">
                        <a:buNone/>
                      </a:pPr>
                      <a:r>
                        <a:rPr lang="en-US" sz="1000" b="1" dirty="0">
                          <a:solidFill>
                            <a:srgbClr val="262B3A"/>
                          </a:solidFill>
                          <a:latin typeface="Calibri" pitchFamily="34" charset="0"/>
                          <a:ea typeface="Calibri" pitchFamily="34" charset="-122"/>
                          <a:cs typeface="Calibri" pitchFamily="34" charset="-120"/>
                        </a:rPr>
                        <a:t>time t</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000" dirty="0">
                          <a:solidFill>
                            <a:srgbClr val="262B3A"/>
                          </a:solidFill>
                          <a:latin typeface="Calibri" pitchFamily="34" charset="0"/>
                          <a:ea typeface="Calibri" pitchFamily="34" charset="-122"/>
                          <a:cs typeface="Calibri" pitchFamily="34" charset="-120"/>
                        </a:rPr>
                        <a:t>stopwatch</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246888">
                <a:tc>
                  <a:txBody>
                    <a:bodyPr/>
                    <a:lstStyle/>
                    <a:p>
                      <a:pPr indent="0" marL="0">
                        <a:buNone/>
                      </a:pPr>
                      <a:r>
                        <a:rPr lang="en-US" sz="1000" b="1" dirty="0">
                          <a:solidFill>
                            <a:srgbClr val="262B3A"/>
                          </a:solidFill>
                          <a:latin typeface="Calibri" pitchFamily="34" charset="0"/>
                          <a:ea typeface="Calibri" pitchFamily="34" charset="-122"/>
                          <a:cs typeface="Calibri" pitchFamily="34" charset="-120"/>
                        </a:rPr>
                        <a:t>temperature θ</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000" dirty="0">
                          <a:solidFill>
                            <a:srgbClr val="262B3A"/>
                          </a:solidFill>
                          <a:latin typeface="Calibri" pitchFamily="34" charset="0"/>
                          <a:ea typeface="Calibri" pitchFamily="34" charset="-122"/>
                          <a:cs typeface="Calibri" pitchFamily="34" charset="-120"/>
                        </a:rPr>
                        <a:t>thermometer</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bl>
          </a:graphicData>
        </a:graphic>
      </p:graphicFrame>
      <p:sp>
        <p:nvSpPr>
          <p:cNvPr id="67" name="Shape 64"/>
          <p:cNvSpPr/>
          <p:nvPr/>
        </p:nvSpPr>
        <p:spPr>
          <a:xfrm>
            <a:off x="6217920" y="1188720"/>
            <a:ext cx="5562295" cy="2560320"/>
          </a:xfrm>
          <a:prstGeom prst="roundRect">
            <a:avLst>
              <a:gd name="adj" fmla="val 2143"/>
            </a:avLst>
          </a:prstGeom>
          <a:solidFill>
            <a:srgbClr val="F5F8FE"/>
          </a:solidFill>
          <a:ln w="9525">
            <a:solidFill>
              <a:srgbClr val="D5DCEB"/>
            </a:solidFill>
            <a:prstDash val="solid"/>
          </a:ln>
        </p:spPr>
      </p:sp>
      <p:sp>
        <p:nvSpPr>
          <p:cNvPr id="68" name="Text 65"/>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Method</a:t>
            </a:r>
            <a:endParaRPr lang="en-US" sz="1300" dirty="0"/>
          </a:p>
        </p:txBody>
      </p:sp>
      <p:sp>
        <p:nvSpPr>
          <p:cNvPr id="69" name="Text 66"/>
          <p:cNvSpPr/>
          <p:nvPr/>
        </p:nvSpPr>
        <p:spPr>
          <a:xfrm>
            <a:off x="6382512" y="1609344"/>
            <a:ext cx="5233111" cy="206654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Measure the </a:t>
            </a:r>
            <a:r>
              <a:rPr lang="en-US" sz="1050" b="1" dirty="0">
                <a:solidFill>
                  <a:srgbClr val="262B3A"/>
                </a:solidFill>
                <a:latin typeface="Calibri" pitchFamily="34" charset="0"/>
                <a:ea typeface="Calibri" pitchFamily="34" charset="-122"/>
                <a:cs typeface="Calibri" pitchFamily="34" charset="-120"/>
              </a:rPr>
              <a:t>mass</a:t>
            </a:r>
            <a:r>
              <a:rPr lang="en-US" sz="1050" dirty="0">
                <a:solidFill>
                  <a:srgbClr val="262B3A"/>
                </a:solidFill>
                <a:latin typeface="Calibri" pitchFamily="34" charset="0"/>
                <a:ea typeface="Calibri" pitchFamily="34" charset="-122"/>
                <a:cs typeface="Calibri" pitchFamily="34" charset="-120"/>
              </a:rPr>
              <a:t> of the block. Wrap it in </a:t>
            </a:r>
            <a:r>
              <a:rPr lang="en-US" sz="1050" b="1" dirty="0">
                <a:solidFill>
                  <a:srgbClr val="262B3A"/>
                </a:solidFill>
                <a:latin typeface="Calibri" pitchFamily="34" charset="0"/>
                <a:ea typeface="Calibri" pitchFamily="34" charset="-122"/>
                <a:cs typeface="Calibri" pitchFamily="34" charset="-120"/>
              </a:rPr>
              <a:t>insulation</a:t>
            </a:r>
            <a:r>
              <a:rPr lang="en-US" sz="1050" dirty="0">
                <a:solidFill>
                  <a:srgbClr val="262B3A"/>
                </a:solidFill>
                <a:latin typeface="Calibri" pitchFamily="34" charset="0"/>
                <a:ea typeface="Calibri" pitchFamily="34" charset="-122"/>
                <a:cs typeface="Calibri" pitchFamily="34" charset="-120"/>
              </a:rPr>
              <a:t>. Put the heater and thermometer in the holes (a drop of water helps thermal contact).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Record the starting temperature. Switch on and start the stopwatch. Record </a:t>
            </a:r>
            <a:r>
              <a:rPr lang="en-US" sz="1050" b="1" dirty="0">
                <a:solidFill>
                  <a:srgbClr val="262B3A"/>
                </a:solidFill>
                <a:latin typeface="Calibri" pitchFamily="34" charset="0"/>
                <a:ea typeface="Calibri" pitchFamily="34" charset="-122"/>
                <a:cs typeface="Calibri" pitchFamily="34" charset="-120"/>
              </a:rPr>
              <a:t>V</a:t>
            </a:r>
            <a:r>
              <a:rPr lang="en-US" sz="1050" dirty="0">
                <a:solidFill>
                  <a:srgbClr val="262B3A"/>
                </a:solidFill>
                <a:latin typeface="Calibri" pitchFamily="34" charset="0"/>
                <a:ea typeface="Calibri" pitchFamily="34" charset="-122"/>
                <a:cs typeface="Calibri" pitchFamily="34" charset="-120"/>
              </a:rPr>
              <a:t> and </a:t>
            </a:r>
            <a:r>
              <a:rPr lang="en-US" sz="1050" b="1" dirty="0">
                <a:solidFill>
                  <a:srgbClr val="262B3A"/>
                </a:solidFill>
                <a:latin typeface="Calibri" pitchFamily="34" charset="0"/>
                <a:ea typeface="Calibri" pitchFamily="34" charset="-122"/>
                <a:cs typeface="Calibri" pitchFamily="34" charset="-120"/>
              </a:rPr>
              <a:t>I</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Record the temperature every </a:t>
            </a:r>
            <a:r>
              <a:rPr lang="en-US" sz="1050" b="1" dirty="0">
                <a:solidFill>
                  <a:srgbClr val="262B3A"/>
                </a:solidFill>
                <a:latin typeface="Calibri" pitchFamily="34" charset="0"/>
                <a:ea typeface="Calibri" pitchFamily="34" charset="-122"/>
                <a:cs typeface="Calibri" pitchFamily="34" charset="-120"/>
              </a:rPr>
              <a:t>60 s</a:t>
            </a:r>
            <a:r>
              <a:rPr lang="en-US" sz="1050" dirty="0">
                <a:solidFill>
                  <a:srgbClr val="262B3A"/>
                </a:solidFill>
                <a:latin typeface="Calibri" pitchFamily="34" charset="0"/>
                <a:ea typeface="Calibri" pitchFamily="34" charset="-122"/>
                <a:cs typeface="Calibri" pitchFamily="34" charset="-120"/>
              </a:rPr>
              <a:t> for 10 minutes.</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Energy supplied: </a:t>
            </a:r>
            <a:r>
              <a:rPr lang="en-US" sz="1050" b="1" dirty="0">
                <a:solidFill>
                  <a:srgbClr val="262B3A"/>
                </a:solidFill>
                <a:latin typeface="Calibri" pitchFamily="34" charset="0"/>
                <a:ea typeface="Calibri" pitchFamily="34" charset="-122"/>
                <a:cs typeface="Calibri" pitchFamily="34" charset="-120"/>
              </a:rPr>
              <a:t>E = P × t</a:t>
            </a:r>
            <a:r>
              <a:rPr lang="en-US" sz="1050" dirty="0">
                <a:solidFill>
                  <a:srgbClr val="262B3A"/>
                </a:solidFill>
                <a:latin typeface="Calibri" pitchFamily="34" charset="0"/>
                <a:ea typeface="Calibri" pitchFamily="34" charset="-122"/>
                <a:cs typeface="Calibri" pitchFamily="34" charset="-120"/>
              </a:rPr>
              <a:t> with </a:t>
            </a:r>
            <a:r>
              <a:rPr lang="en-US" sz="1050" b="1" dirty="0">
                <a:solidFill>
                  <a:srgbClr val="262B3A"/>
                </a:solidFill>
                <a:latin typeface="Calibri" pitchFamily="34" charset="0"/>
                <a:ea typeface="Calibri" pitchFamily="34" charset="-122"/>
                <a:cs typeface="Calibri" pitchFamily="34" charset="-120"/>
              </a:rPr>
              <a:t>P = V × I</a:t>
            </a:r>
            <a:r>
              <a:rPr lang="en-US" sz="1050" dirty="0">
                <a:solidFill>
                  <a:srgbClr val="262B3A"/>
                </a:solidFill>
                <a:latin typeface="Calibri" pitchFamily="34" charset="0"/>
                <a:ea typeface="Calibri" pitchFamily="34" charset="-122"/>
                <a:cs typeface="Calibri" pitchFamily="34" charset="-120"/>
              </a:rPr>
              <a:t> (both </a:t>
            </a:r>
            <a:r>
              <a:rPr lang="en-US" sz="1050" b="1" dirty="0">
                <a:solidFill>
                  <a:srgbClr val="C8414C"/>
                </a:solidFill>
                <a:latin typeface="Calibri" pitchFamily="34" charset="0"/>
                <a:ea typeface="Calibri" pitchFamily="34" charset="-122"/>
                <a:cs typeface="Calibri" pitchFamily="34" charset="-120"/>
              </a:rPr>
              <a:t>RECALL</a:t>
            </a:r>
            <a:r>
              <a:rPr lang="en-US" sz="1050" dirty="0">
                <a:solidFill>
                  <a:srgbClr val="262B3A"/>
                </a:solidFill>
                <a:latin typeface="Calibri" pitchFamily="34" charset="0"/>
                <a:ea typeface="Calibri" pitchFamily="34" charset="-122"/>
                <a:cs typeface="Calibri" pitchFamily="34" charset="-120"/>
              </a:rPr>
              <a:t>), or read a joulemeter.</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c = E ÷ (m × Δθ)</a:t>
            </a:r>
            <a:r>
              <a:rPr lang="en-US" sz="1050" dirty="0">
                <a:solidFill>
                  <a:srgbClr val="262B3A"/>
                </a:solidFill>
                <a:latin typeface="Calibri" pitchFamily="34" charset="0"/>
                <a:ea typeface="Calibri" pitchFamily="34" charset="-122"/>
                <a:cs typeface="Calibri" pitchFamily="34" charset="-120"/>
              </a:rPr>
              <a:t>.</a:t>
            </a:r>
            <a:endParaRPr lang="en-US" sz="1050" dirty="0"/>
          </a:p>
        </p:txBody>
      </p:sp>
      <p:sp>
        <p:nvSpPr>
          <p:cNvPr id="70" name="Shape 67"/>
          <p:cNvSpPr/>
          <p:nvPr/>
        </p:nvSpPr>
        <p:spPr>
          <a:xfrm>
            <a:off x="6217920" y="3886200"/>
            <a:ext cx="5562295" cy="1828800"/>
          </a:xfrm>
          <a:prstGeom prst="roundRect">
            <a:avLst>
              <a:gd name="adj" fmla="val 3000"/>
            </a:avLst>
          </a:prstGeom>
          <a:solidFill>
            <a:srgbClr val="FFF4E0"/>
          </a:solidFill>
          <a:ln w="9525">
            <a:solidFill>
              <a:srgbClr val="F1D9A8"/>
            </a:solidFill>
            <a:prstDash val="solid"/>
          </a:ln>
        </p:spPr>
      </p:sp>
      <p:sp>
        <p:nvSpPr>
          <p:cNvPr id="71" name="Text 68"/>
          <p:cNvSpPr/>
          <p:nvPr/>
        </p:nvSpPr>
        <p:spPr>
          <a:xfrm>
            <a:off x="6382512" y="39593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Variables and safety</a:t>
            </a:r>
            <a:endParaRPr lang="en-US" sz="1300" dirty="0"/>
          </a:p>
        </p:txBody>
      </p:sp>
      <p:sp>
        <p:nvSpPr>
          <p:cNvPr id="72" name="Text 69"/>
          <p:cNvSpPr/>
          <p:nvPr/>
        </p:nvSpPr>
        <p:spPr>
          <a:xfrm>
            <a:off x="6382512" y="4270248"/>
            <a:ext cx="5233111" cy="1371600"/>
          </a:xfrm>
          <a:prstGeom prst="rect">
            <a:avLst/>
          </a:prstGeom>
          <a:noFill/>
          <a:ln/>
        </p:spPr>
        <p:txBody>
          <a:bodyPr wrap="square" lIns="0" tIns="0" rIns="0" bIns="0" rtlCol="0" anchor="t"/>
          <a:lstStyle/>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Independent   </a:t>
            </a:r>
            <a:r>
              <a:rPr lang="en-US" sz="1050" dirty="0">
                <a:solidFill>
                  <a:srgbClr val="262B3A"/>
                </a:solidFill>
                <a:latin typeface="Calibri" pitchFamily="34" charset="0"/>
                <a:ea typeface="Calibri" pitchFamily="34" charset="-122"/>
                <a:cs typeface="Calibri" pitchFamily="34" charset="-120"/>
              </a:rPr>
              <a:t>energy supplied (time heated)</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Dependent   </a:t>
            </a:r>
            <a:r>
              <a:rPr lang="en-US" sz="1050" dirty="0">
                <a:solidFill>
                  <a:srgbClr val="262B3A"/>
                </a:solidFill>
                <a:latin typeface="Calibri" pitchFamily="34" charset="0"/>
                <a:ea typeface="Calibri" pitchFamily="34" charset="-122"/>
                <a:cs typeface="Calibri" pitchFamily="34" charset="-120"/>
              </a:rPr>
              <a:t>temperature of the block</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Control   </a:t>
            </a:r>
            <a:r>
              <a:rPr lang="en-US" sz="1050" dirty="0">
                <a:solidFill>
                  <a:srgbClr val="262B3A"/>
                </a:solidFill>
                <a:latin typeface="Calibri" pitchFamily="34" charset="0"/>
                <a:ea typeface="Calibri" pitchFamily="34" charset="-122"/>
                <a:cs typeface="Calibri" pitchFamily="34" charset="-120"/>
              </a:rPr>
              <a:t>mass of block, power (V and I), insulation</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Safety   </a:t>
            </a:r>
            <a:r>
              <a:rPr lang="en-US" sz="1050" b="1" dirty="0">
                <a:solidFill>
                  <a:srgbClr val="C8414C"/>
                </a:solidFill>
                <a:latin typeface="Calibri" pitchFamily="34" charset="0"/>
                <a:ea typeface="Calibri" pitchFamily="34" charset="-122"/>
                <a:cs typeface="Calibri" pitchFamily="34" charset="-120"/>
              </a:rPr>
              <a:t>heater and block get hot: do not touch, let cool; low-voltage supply</a:t>
            </a:r>
            <a:endParaRPr lang="en-US" sz="1050" dirty="0"/>
          </a:p>
        </p:txBody>
      </p:sp>
      <p:sp>
        <p:nvSpPr>
          <p:cNvPr id="73" name="Shape 70"/>
          <p:cNvSpPr/>
          <p:nvPr/>
        </p:nvSpPr>
        <p:spPr>
          <a:xfrm>
            <a:off x="411480" y="5833872"/>
            <a:ext cx="11368735" cy="530352"/>
          </a:xfrm>
          <a:prstGeom prst="rect">
            <a:avLst/>
          </a:prstGeom>
          <a:solidFill>
            <a:srgbClr val="FFF4E0"/>
          </a:solidFill>
          <a:ln w="6350">
            <a:solidFill>
              <a:srgbClr val="F1D9A8"/>
            </a:solidFill>
            <a:prstDash val="solid"/>
          </a:ln>
        </p:spPr>
      </p:sp>
      <p:sp>
        <p:nvSpPr>
          <p:cNvPr id="74" name="Shape 71"/>
          <p:cNvSpPr/>
          <p:nvPr/>
        </p:nvSpPr>
        <p:spPr>
          <a:xfrm>
            <a:off x="411480" y="5833872"/>
            <a:ext cx="82296" cy="530352"/>
          </a:xfrm>
          <a:prstGeom prst="rect">
            <a:avLst/>
          </a:prstGeom>
          <a:solidFill>
            <a:srgbClr val="E39A2F"/>
          </a:solidFill>
          <a:ln w="12700">
            <a:solidFill>
              <a:srgbClr val="E39A2F"/>
            </a:solidFill>
            <a:prstDash val="solid"/>
          </a:ln>
        </p:spPr>
      </p:sp>
      <p:sp>
        <p:nvSpPr>
          <p:cNvPr id="75" name="Text 7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is the block wrapped in insulation? What would happen to the calculated value of c without it?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PAG P5: results and evaluation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P6.1.7 • 1.0 kg aluminium block, heater at 12.0 V and 4.0 A</a:t>
            </a:r>
            <a:endParaRPr lang="en-US" sz="1100" dirty="0"/>
          </a:p>
        </p:txBody>
      </p:sp>
      <p:sp>
        <p:nvSpPr>
          <p:cNvPr id="6" name="Shape 4"/>
          <p:cNvSpPr/>
          <p:nvPr/>
        </p:nvSpPr>
        <p:spPr>
          <a:xfrm>
            <a:off x="11012119" y="292608"/>
            <a:ext cx="768096"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1012119" y="292608"/>
            <a:ext cx="76809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PAG P5</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P6.1 How does energy transform matter?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PAG P5  |  18</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sample results plotted to scale (y-axis starts at 10 °C); best-fit line from 60 s</a:t>
            </a:r>
            <a:endParaRPr lang="en-US" sz="1000" dirty="0"/>
          </a:p>
        </p:txBody>
      </p:sp>
      <p:sp>
        <p:nvSpPr>
          <p:cNvPr id="12" name="Shape 10"/>
          <p:cNvSpPr/>
          <p:nvPr/>
        </p:nvSpPr>
        <p:spPr>
          <a:xfrm>
            <a:off x="1325880" y="1417320"/>
            <a:ext cx="4389120" cy="3291840"/>
          </a:xfrm>
          <a:prstGeom prst="rect">
            <a:avLst/>
          </a:prstGeom>
          <a:solidFill>
            <a:srgbClr val="FFFFFF"/>
          </a:solidFill>
          <a:ln/>
        </p:spPr>
      </p:sp>
      <p:sp>
        <p:nvSpPr>
          <p:cNvPr id="13" name="Shape 11"/>
          <p:cNvSpPr/>
          <p:nvPr/>
        </p:nvSpPr>
        <p:spPr>
          <a:xfrm>
            <a:off x="1325880" y="1417320"/>
            <a:ext cx="91" cy="3291840"/>
          </a:xfrm>
          <a:prstGeom prst="line">
            <a:avLst/>
          </a:prstGeom>
          <a:noFill/>
          <a:ln w="6350">
            <a:solidFill>
              <a:srgbClr val="C9D3E6"/>
            </a:solidFill>
            <a:prstDash val="solid"/>
          </a:ln>
        </p:spPr>
      </p:sp>
      <p:sp>
        <p:nvSpPr>
          <p:cNvPr id="14" name="Shape 12"/>
          <p:cNvSpPr/>
          <p:nvPr/>
        </p:nvSpPr>
        <p:spPr>
          <a:xfrm>
            <a:off x="1691640" y="1417320"/>
            <a:ext cx="91" cy="3291840"/>
          </a:xfrm>
          <a:prstGeom prst="line">
            <a:avLst/>
          </a:prstGeom>
          <a:noFill/>
          <a:ln w="6350">
            <a:solidFill>
              <a:srgbClr val="E6EBF4"/>
            </a:solidFill>
            <a:prstDash val="solid"/>
          </a:ln>
        </p:spPr>
      </p:sp>
      <p:sp>
        <p:nvSpPr>
          <p:cNvPr id="15" name="Shape 13"/>
          <p:cNvSpPr/>
          <p:nvPr/>
        </p:nvSpPr>
        <p:spPr>
          <a:xfrm>
            <a:off x="2057400" y="1417320"/>
            <a:ext cx="91" cy="3291840"/>
          </a:xfrm>
          <a:prstGeom prst="line">
            <a:avLst/>
          </a:prstGeom>
          <a:noFill/>
          <a:ln w="6350">
            <a:solidFill>
              <a:srgbClr val="C9D3E6"/>
            </a:solidFill>
            <a:prstDash val="solid"/>
          </a:ln>
        </p:spPr>
      </p:sp>
      <p:sp>
        <p:nvSpPr>
          <p:cNvPr id="16" name="Shape 14"/>
          <p:cNvSpPr/>
          <p:nvPr/>
        </p:nvSpPr>
        <p:spPr>
          <a:xfrm>
            <a:off x="2423160" y="1417320"/>
            <a:ext cx="91" cy="3291840"/>
          </a:xfrm>
          <a:prstGeom prst="line">
            <a:avLst/>
          </a:prstGeom>
          <a:noFill/>
          <a:ln w="6350">
            <a:solidFill>
              <a:srgbClr val="E6EBF4"/>
            </a:solidFill>
            <a:prstDash val="solid"/>
          </a:ln>
        </p:spPr>
      </p:sp>
      <p:sp>
        <p:nvSpPr>
          <p:cNvPr id="17" name="Shape 15"/>
          <p:cNvSpPr/>
          <p:nvPr/>
        </p:nvSpPr>
        <p:spPr>
          <a:xfrm>
            <a:off x="2788920" y="1417320"/>
            <a:ext cx="91" cy="3291840"/>
          </a:xfrm>
          <a:prstGeom prst="line">
            <a:avLst/>
          </a:prstGeom>
          <a:noFill/>
          <a:ln w="6350">
            <a:solidFill>
              <a:srgbClr val="C9D3E6"/>
            </a:solidFill>
            <a:prstDash val="solid"/>
          </a:ln>
        </p:spPr>
      </p:sp>
      <p:sp>
        <p:nvSpPr>
          <p:cNvPr id="18" name="Shape 16"/>
          <p:cNvSpPr/>
          <p:nvPr/>
        </p:nvSpPr>
        <p:spPr>
          <a:xfrm>
            <a:off x="3154680" y="1417320"/>
            <a:ext cx="91" cy="3291840"/>
          </a:xfrm>
          <a:prstGeom prst="line">
            <a:avLst/>
          </a:prstGeom>
          <a:noFill/>
          <a:ln w="6350">
            <a:solidFill>
              <a:srgbClr val="E6EBF4"/>
            </a:solidFill>
            <a:prstDash val="solid"/>
          </a:ln>
        </p:spPr>
      </p:sp>
      <p:sp>
        <p:nvSpPr>
          <p:cNvPr id="19" name="Shape 17"/>
          <p:cNvSpPr/>
          <p:nvPr/>
        </p:nvSpPr>
        <p:spPr>
          <a:xfrm>
            <a:off x="3520440" y="1417320"/>
            <a:ext cx="91" cy="3291840"/>
          </a:xfrm>
          <a:prstGeom prst="line">
            <a:avLst/>
          </a:prstGeom>
          <a:noFill/>
          <a:ln w="6350">
            <a:solidFill>
              <a:srgbClr val="C9D3E6"/>
            </a:solidFill>
            <a:prstDash val="solid"/>
          </a:ln>
        </p:spPr>
      </p:sp>
      <p:sp>
        <p:nvSpPr>
          <p:cNvPr id="20" name="Shape 18"/>
          <p:cNvSpPr/>
          <p:nvPr/>
        </p:nvSpPr>
        <p:spPr>
          <a:xfrm>
            <a:off x="3886200" y="1417320"/>
            <a:ext cx="91" cy="3291840"/>
          </a:xfrm>
          <a:prstGeom prst="line">
            <a:avLst/>
          </a:prstGeom>
          <a:noFill/>
          <a:ln w="6350">
            <a:solidFill>
              <a:srgbClr val="E6EBF4"/>
            </a:solidFill>
            <a:prstDash val="solid"/>
          </a:ln>
        </p:spPr>
      </p:sp>
      <p:sp>
        <p:nvSpPr>
          <p:cNvPr id="21" name="Shape 19"/>
          <p:cNvSpPr/>
          <p:nvPr/>
        </p:nvSpPr>
        <p:spPr>
          <a:xfrm>
            <a:off x="4251960" y="1417320"/>
            <a:ext cx="91" cy="3291840"/>
          </a:xfrm>
          <a:prstGeom prst="line">
            <a:avLst/>
          </a:prstGeom>
          <a:noFill/>
          <a:ln w="6350">
            <a:solidFill>
              <a:srgbClr val="C9D3E6"/>
            </a:solidFill>
            <a:prstDash val="solid"/>
          </a:ln>
        </p:spPr>
      </p:sp>
      <p:sp>
        <p:nvSpPr>
          <p:cNvPr id="22" name="Shape 20"/>
          <p:cNvSpPr/>
          <p:nvPr/>
        </p:nvSpPr>
        <p:spPr>
          <a:xfrm>
            <a:off x="4617720" y="1417320"/>
            <a:ext cx="91" cy="3291840"/>
          </a:xfrm>
          <a:prstGeom prst="line">
            <a:avLst/>
          </a:prstGeom>
          <a:noFill/>
          <a:ln w="6350">
            <a:solidFill>
              <a:srgbClr val="E6EBF4"/>
            </a:solidFill>
            <a:prstDash val="solid"/>
          </a:ln>
        </p:spPr>
      </p:sp>
      <p:sp>
        <p:nvSpPr>
          <p:cNvPr id="23" name="Shape 21"/>
          <p:cNvSpPr/>
          <p:nvPr/>
        </p:nvSpPr>
        <p:spPr>
          <a:xfrm>
            <a:off x="4983480" y="1417320"/>
            <a:ext cx="91" cy="3291840"/>
          </a:xfrm>
          <a:prstGeom prst="line">
            <a:avLst/>
          </a:prstGeom>
          <a:noFill/>
          <a:ln w="6350">
            <a:solidFill>
              <a:srgbClr val="C9D3E6"/>
            </a:solidFill>
            <a:prstDash val="solid"/>
          </a:ln>
        </p:spPr>
      </p:sp>
      <p:sp>
        <p:nvSpPr>
          <p:cNvPr id="24" name="Shape 22"/>
          <p:cNvSpPr/>
          <p:nvPr/>
        </p:nvSpPr>
        <p:spPr>
          <a:xfrm>
            <a:off x="5349240" y="1417320"/>
            <a:ext cx="91" cy="3291840"/>
          </a:xfrm>
          <a:prstGeom prst="line">
            <a:avLst/>
          </a:prstGeom>
          <a:noFill/>
          <a:ln w="6350">
            <a:solidFill>
              <a:srgbClr val="E6EBF4"/>
            </a:solidFill>
            <a:prstDash val="solid"/>
          </a:ln>
        </p:spPr>
      </p:sp>
      <p:sp>
        <p:nvSpPr>
          <p:cNvPr id="25" name="Shape 23"/>
          <p:cNvSpPr/>
          <p:nvPr/>
        </p:nvSpPr>
        <p:spPr>
          <a:xfrm>
            <a:off x="5715000" y="1417320"/>
            <a:ext cx="91" cy="3291840"/>
          </a:xfrm>
          <a:prstGeom prst="line">
            <a:avLst/>
          </a:prstGeom>
          <a:noFill/>
          <a:ln w="6350">
            <a:solidFill>
              <a:srgbClr val="C9D3E6"/>
            </a:solidFill>
            <a:prstDash val="solid"/>
          </a:ln>
        </p:spPr>
      </p:sp>
      <p:sp>
        <p:nvSpPr>
          <p:cNvPr id="26" name="Shape 24"/>
          <p:cNvSpPr/>
          <p:nvPr/>
        </p:nvSpPr>
        <p:spPr>
          <a:xfrm>
            <a:off x="1325880" y="4709160"/>
            <a:ext cx="4389120" cy="91"/>
          </a:xfrm>
          <a:prstGeom prst="line">
            <a:avLst/>
          </a:prstGeom>
          <a:noFill/>
          <a:ln w="6350">
            <a:solidFill>
              <a:srgbClr val="C9D3E6"/>
            </a:solidFill>
            <a:prstDash val="solid"/>
          </a:ln>
        </p:spPr>
      </p:sp>
      <p:sp>
        <p:nvSpPr>
          <p:cNvPr id="27" name="Shape 25"/>
          <p:cNvSpPr/>
          <p:nvPr/>
        </p:nvSpPr>
        <p:spPr>
          <a:xfrm>
            <a:off x="1325880" y="4503420"/>
            <a:ext cx="4389120" cy="91"/>
          </a:xfrm>
          <a:prstGeom prst="line">
            <a:avLst/>
          </a:prstGeom>
          <a:noFill/>
          <a:ln w="6350">
            <a:solidFill>
              <a:srgbClr val="E6EBF4"/>
            </a:solidFill>
            <a:prstDash val="solid"/>
          </a:ln>
        </p:spPr>
      </p:sp>
      <p:sp>
        <p:nvSpPr>
          <p:cNvPr id="28" name="Shape 26"/>
          <p:cNvSpPr/>
          <p:nvPr/>
        </p:nvSpPr>
        <p:spPr>
          <a:xfrm>
            <a:off x="1325880" y="4297680"/>
            <a:ext cx="4389120" cy="91"/>
          </a:xfrm>
          <a:prstGeom prst="line">
            <a:avLst/>
          </a:prstGeom>
          <a:noFill/>
          <a:ln w="6350">
            <a:solidFill>
              <a:srgbClr val="C9D3E6"/>
            </a:solidFill>
            <a:prstDash val="solid"/>
          </a:ln>
        </p:spPr>
      </p:sp>
      <p:sp>
        <p:nvSpPr>
          <p:cNvPr id="29" name="Shape 27"/>
          <p:cNvSpPr/>
          <p:nvPr/>
        </p:nvSpPr>
        <p:spPr>
          <a:xfrm>
            <a:off x="1325880" y="4091940"/>
            <a:ext cx="4389120" cy="91"/>
          </a:xfrm>
          <a:prstGeom prst="line">
            <a:avLst/>
          </a:prstGeom>
          <a:noFill/>
          <a:ln w="6350">
            <a:solidFill>
              <a:srgbClr val="E6EBF4"/>
            </a:solidFill>
            <a:prstDash val="solid"/>
          </a:ln>
        </p:spPr>
      </p:sp>
      <p:sp>
        <p:nvSpPr>
          <p:cNvPr id="30" name="Shape 28"/>
          <p:cNvSpPr/>
          <p:nvPr/>
        </p:nvSpPr>
        <p:spPr>
          <a:xfrm>
            <a:off x="1325880" y="3886200"/>
            <a:ext cx="4389120" cy="91"/>
          </a:xfrm>
          <a:prstGeom prst="line">
            <a:avLst/>
          </a:prstGeom>
          <a:noFill/>
          <a:ln w="6350">
            <a:solidFill>
              <a:srgbClr val="C9D3E6"/>
            </a:solidFill>
            <a:prstDash val="solid"/>
          </a:ln>
        </p:spPr>
      </p:sp>
      <p:sp>
        <p:nvSpPr>
          <p:cNvPr id="31" name="Shape 29"/>
          <p:cNvSpPr/>
          <p:nvPr/>
        </p:nvSpPr>
        <p:spPr>
          <a:xfrm>
            <a:off x="1325880" y="3680460"/>
            <a:ext cx="4389120" cy="91"/>
          </a:xfrm>
          <a:prstGeom prst="line">
            <a:avLst/>
          </a:prstGeom>
          <a:noFill/>
          <a:ln w="6350">
            <a:solidFill>
              <a:srgbClr val="E6EBF4"/>
            </a:solidFill>
            <a:prstDash val="solid"/>
          </a:ln>
        </p:spPr>
      </p:sp>
      <p:sp>
        <p:nvSpPr>
          <p:cNvPr id="32" name="Shape 30"/>
          <p:cNvSpPr/>
          <p:nvPr/>
        </p:nvSpPr>
        <p:spPr>
          <a:xfrm>
            <a:off x="1325880" y="3474720"/>
            <a:ext cx="4389120" cy="91"/>
          </a:xfrm>
          <a:prstGeom prst="line">
            <a:avLst/>
          </a:prstGeom>
          <a:noFill/>
          <a:ln w="6350">
            <a:solidFill>
              <a:srgbClr val="C9D3E6"/>
            </a:solidFill>
            <a:prstDash val="solid"/>
          </a:ln>
        </p:spPr>
      </p:sp>
      <p:sp>
        <p:nvSpPr>
          <p:cNvPr id="33" name="Shape 31"/>
          <p:cNvSpPr/>
          <p:nvPr/>
        </p:nvSpPr>
        <p:spPr>
          <a:xfrm>
            <a:off x="1325880" y="3268980"/>
            <a:ext cx="4389120" cy="91"/>
          </a:xfrm>
          <a:prstGeom prst="line">
            <a:avLst/>
          </a:prstGeom>
          <a:noFill/>
          <a:ln w="6350">
            <a:solidFill>
              <a:srgbClr val="E6EBF4"/>
            </a:solidFill>
            <a:prstDash val="solid"/>
          </a:ln>
        </p:spPr>
      </p:sp>
      <p:sp>
        <p:nvSpPr>
          <p:cNvPr id="34" name="Shape 32"/>
          <p:cNvSpPr/>
          <p:nvPr/>
        </p:nvSpPr>
        <p:spPr>
          <a:xfrm>
            <a:off x="1325880" y="3063240"/>
            <a:ext cx="4389120" cy="91"/>
          </a:xfrm>
          <a:prstGeom prst="line">
            <a:avLst/>
          </a:prstGeom>
          <a:noFill/>
          <a:ln w="6350">
            <a:solidFill>
              <a:srgbClr val="C9D3E6"/>
            </a:solidFill>
            <a:prstDash val="solid"/>
          </a:ln>
        </p:spPr>
      </p:sp>
      <p:sp>
        <p:nvSpPr>
          <p:cNvPr id="35" name="Shape 33"/>
          <p:cNvSpPr/>
          <p:nvPr/>
        </p:nvSpPr>
        <p:spPr>
          <a:xfrm>
            <a:off x="1325880" y="2857500"/>
            <a:ext cx="4389120" cy="91"/>
          </a:xfrm>
          <a:prstGeom prst="line">
            <a:avLst/>
          </a:prstGeom>
          <a:noFill/>
          <a:ln w="6350">
            <a:solidFill>
              <a:srgbClr val="E6EBF4"/>
            </a:solidFill>
            <a:prstDash val="solid"/>
          </a:ln>
        </p:spPr>
      </p:sp>
      <p:sp>
        <p:nvSpPr>
          <p:cNvPr id="36" name="Shape 34"/>
          <p:cNvSpPr/>
          <p:nvPr/>
        </p:nvSpPr>
        <p:spPr>
          <a:xfrm>
            <a:off x="1325880" y="2651760"/>
            <a:ext cx="4389120" cy="91"/>
          </a:xfrm>
          <a:prstGeom prst="line">
            <a:avLst/>
          </a:prstGeom>
          <a:noFill/>
          <a:ln w="6350">
            <a:solidFill>
              <a:srgbClr val="C9D3E6"/>
            </a:solidFill>
            <a:prstDash val="solid"/>
          </a:ln>
        </p:spPr>
      </p:sp>
      <p:sp>
        <p:nvSpPr>
          <p:cNvPr id="37" name="Shape 35"/>
          <p:cNvSpPr/>
          <p:nvPr/>
        </p:nvSpPr>
        <p:spPr>
          <a:xfrm>
            <a:off x="1325880" y="2446020"/>
            <a:ext cx="4389120" cy="91"/>
          </a:xfrm>
          <a:prstGeom prst="line">
            <a:avLst/>
          </a:prstGeom>
          <a:noFill/>
          <a:ln w="6350">
            <a:solidFill>
              <a:srgbClr val="E6EBF4"/>
            </a:solidFill>
            <a:prstDash val="solid"/>
          </a:ln>
        </p:spPr>
      </p:sp>
      <p:sp>
        <p:nvSpPr>
          <p:cNvPr id="38" name="Shape 36"/>
          <p:cNvSpPr/>
          <p:nvPr/>
        </p:nvSpPr>
        <p:spPr>
          <a:xfrm>
            <a:off x="1325880" y="2240280"/>
            <a:ext cx="4389120" cy="91"/>
          </a:xfrm>
          <a:prstGeom prst="line">
            <a:avLst/>
          </a:prstGeom>
          <a:noFill/>
          <a:ln w="6350">
            <a:solidFill>
              <a:srgbClr val="C9D3E6"/>
            </a:solidFill>
            <a:prstDash val="solid"/>
          </a:ln>
        </p:spPr>
      </p:sp>
      <p:sp>
        <p:nvSpPr>
          <p:cNvPr id="39" name="Shape 37"/>
          <p:cNvSpPr/>
          <p:nvPr/>
        </p:nvSpPr>
        <p:spPr>
          <a:xfrm>
            <a:off x="1325880" y="2034540"/>
            <a:ext cx="4389120" cy="91"/>
          </a:xfrm>
          <a:prstGeom prst="line">
            <a:avLst/>
          </a:prstGeom>
          <a:noFill/>
          <a:ln w="6350">
            <a:solidFill>
              <a:srgbClr val="E6EBF4"/>
            </a:solidFill>
            <a:prstDash val="solid"/>
          </a:ln>
        </p:spPr>
      </p:sp>
      <p:sp>
        <p:nvSpPr>
          <p:cNvPr id="40" name="Shape 38"/>
          <p:cNvSpPr/>
          <p:nvPr/>
        </p:nvSpPr>
        <p:spPr>
          <a:xfrm>
            <a:off x="1325880" y="1828800"/>
            <a:ext cx="4389120" cy="91"/>
          </a:xfrm>
          <a:prstGeom prst="line">
            <a:avLst/>
          </a:prstGeom>
          <a:noFill/>
          <a:ln w="6350">
            <a:solidFill>
              <a:srgbClr val="C9D3E6"/>
            </a:solidFill>
            <a:prstDash val="solid"/>
          </a:ln>
        </p:spPr>
      </p:sp>
      <p:sp>
        <p:nvSpPr>
          <p:cNvPr id="41" name="Shape 39"/>
          <p:cNvSpPr/>
          <p:nvPr/>
        </p:nvSpPr>
        <p:spPr>
          <a:xfrm>
            <a:off x="1325880" y="1623060"/>
            <a:ext cx="4389120" cy="91"/>
          </a:xfrm>
          <a:prstGeom prst="line">
            <a:avLst/>
          </a:prstGeom>
          <a:noFill/>
          <a:ln w="6350">
            <a:solidFill>
              <a:srgbClr val="E6EBF4"/>
            </a:solidFill>
            <a:prstDash val="solid"/>
          </a:ln>
        </p:spPr>
      </p:sp>
      <p:sp>
        <p:nvSpPr>
          <p:cNvPr id="42" name="Shape 40"/>
          <p:cNvSpPr/>
          <p:nvPr/>
        </p:nvSpPr>
        <p:spPr>
          <a:xfrm>
            <a:off x="1325880" y="1417320"/>
            <a:ext cx="4389120" cy="91"/>
          </a:xfrm>
          <a:prstGeom prst="line">
            <a:avLst/>
          </a:prstGeom>
          <a:noFill/>
          <a:ln w="6350">
            <a:solidFill>
              <a:srgbClr val="C9D3E6"/>
            </a:solidFill>
            <a:prstDash val="solid"/>
          </a:ln>
        </p:spPr>
      </p:sp>
      <p:sp>
        <p:nvSpPr>
          <p:cNvPr id="43" name="Shape 41"/>
          <p:cNvSpPr/>
          <p:nvPr/>
        </p:nvSpPr>
        <p:spPr>
          <a:xfrm>
            <a:off x="1325880" y="4709160"/>
            <a:ext cx="4389120" cy="91"/>
          </a:xfrm>
          <a:prstGeom prst="line">
            <a:avLst/>
          </a:prstGeom>
          <a:noFill/>
          <a:ln w="19050">
            <a:solidFill>
              <a:srgbClr val="1A2340"/>
            </a:solidFill>
            <a:prstDash val="solid"/>
          </a:ln>
        </p:spPr>
      </p:sp>
      <p:sp>
        <p:nvSpPr>
          <p:cNvPr id="44" name="Shape 42"/>
          <p:cNvSpPr/>
          <p:nvPr/>
        </p:nvSpPr>
        <p:spPr>
          <a:xfrm flipV="1">
            <a:off x="1325880" y="1417320"/>
            <a:ext cx="91" cy="3291840"/>
          </a:xfrm>
          <a:prstGeom prst="line">
            <a:avLst/>
          </a:prstGeom>
          <a:noFill/>
          <a:ln w="19050">
            <a:solidFill>
              <a:srgbClr val="1A2340"/>
            </a:solidFill>
            <a:prstDash val="solid"/>
          </a:ln>
        </p:spPr>
      </p:sp>
      <p:sp>
        <p:nvSpPr>
          <p:cNvPr id="45" name="Shape 43"/>
          <p:cNvSpPr/>
          <p:nvPr/>
        </p:nvSpPr>
        <p:spPr>
          <a:xfrm>
            <a:off x="1325880" y="4709160"/>
            <a:ext cx="91" cy="54864"/>
          </a:xfrm>
          <a:prstGeom prst="line">
            <a:avLst/>
          </a:prstGeom>
          <a:noFill/>
          <a:ln w="12700">
            <a:solidFill>
              <a:srgbClr val="1A2340"/>
            </a:solidFill>
            <a:prstDash val="solid"/>
          </a:ln>
        </p:spPr>
      </p:sp>
      <p:sp>
        <p:nvSpPr>
          <p:cNvPr id="46" name="Text 44"/>
          <p:cNvSpPr/>
          <p:nvPr/>
        </p:nvSpPr>
        <p:spPr>
          <a:xfrm>
            <a:off x="105156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47" name="Shape 45"/>
          <p:cNvSpPr/>
          <p:nvPr/>
        </p:nvSpPr>
        <p:spPr>
          <a:xfrm>
            <a:off x="2057400" y="4709160"/>
            <a:ext cx="91" cy="54864"/>
          </a:xfrm>
          <a:prstGeom prst="line">
            <a:avLst/>
          </a:prstGeom>
          <a:noFill/>
          <a:ln w="12700">
            <a:solidFill>
              <a:srgbClr val="1A2340"/>
            </a:solidFill>
            <a:prstDash val="solid"/>
          </a:ln>
        </p:spPr>
      </p:sp>
      <p:sp>
        <p:nvSpPr>
          <p:cNvPr id="48" name="Text 46"/>
          <p:cNvSpPr/>
          <p:nvPr/>
        </p:nvSpPr>
        <p:spPr>
          <a:xfrm>
            <a:off x="178308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49" name="Shape 47"/>
          <p:cNvSpPr/>
          <p:nvPr/>
        </p:nvSpPr>
        <p:spPr>
          <a:xfrm>
            <a:off x="2788920" y="4709160"/>
            <a:ext cx="91" cy="54864"/>
          </a:xfrm>
          <a:prstGeom prst="line">
            <a:avLst/>
          </a:prstGeom>
          <a:noFill/>
          <a:ln w="12700">
            <a:solidFill>
              <a:srgbClr val="1A2340"/>
            </a:solidFill>
            <a:prstDash val="solid"/>
          </a:ln>
        </p:spPr>
      </p:sp>
      <p:sp>
        <p:nvSpPr>
          <p:cNvPr id="50" name="Text 48"/>
          <p:cNvSpPr/>
          <p:nvPr/>
        </p:nvSpPr>
        <p:spPr>
          <a:xfrm>
            <a:off x="251460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200</a:t>
            </a:r>
            <a:endParaRPr lang="en-US" sz="1000" dirty="0"/>
          </a:p>
        </p:txBody>
      </p:sp>
      <p:sp>
        <p:nvSpPr>
          <p:cNvPr id="51" name="Shape 49"/>
          <p:cNvSpPr/>
          <p:nvPr/>
        </p:nvSpPr>
        <p:spPr>
          <a:xfrm>
            <a:off x="3520440" y="4709160"/>
            <a:ext cx="91" cy="54864"/>
          </a:xfrm>
          <a:prstGeom prst="line">
            <a:avLst/>
          </a:prstGeom>
          <a:noFill/>
          <a:ln w="12700">
            <a:solidFill>
              <a:srgbClr val="1A2340"/>
            </a:solidFill>
            <a:prstDash val="solid"/>
          </a:ln>
        </p:spPr>
      </p:sp>
      <p:sp>
        <p:nvSpPr>
          <p:cNvPr id="52" name="Text 50"/>
          <p:cNvSpPr/>
          <p:nvPr/>
        </p:nvSpPr>
        <p:spPr>
          <a:xfrm>
            <a:off x="324612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300</a:t>
            </a:r>
            <a:endParaRPr lang="en-US" sz="1000" dirty="0"/>
          </a:p>
        </p:txBody>
      </p:sp>
      <p:sp>
        <p:nvSpPr>
          <p:cNvPr id="53" name="Shape 51"/>
          <p:cNvSpPr/>
          <p:nvPr/>
        </p:nvSpPr>
        <p:spPr>
          <a:xfrm>
            <a:off x="4251960" y="4709160"/>
            <a:ext cx="91" cy="54864"/>
          </a:xfrm>
          <a:prstGeom prst="line">
            <a:avLst/>
          </a:prstGeom>
          <a:noFill/>
          <a:ln w="12700">
            <a:solidFill>
              <a:srgbClr val="1A2340"/>
            </a:solidFill>
            <a:prstDash val="solid"/>
          </a:ln>
        </p:spPr>
      </p:sp>
      <p:sp>
        <p:nvSpPr>
          <p:cNvPr id="54" name="Text 52"/>
          <p:cNvSpPr/>
          <p:nvPr/>
        </p:nvSpPr>
        <p:spPr>
          <a:xfrm>
            <a:off x="397764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400</a:t>
            </a:r>
            <a:endParaRPr lang="en-US" sz="1000" dirty="0"/>
          </a:p>
        </p:txBody>
      </p:sp>
      <p:sp>
        <p:nvSpPr>
          <p:cNvPr id="55" name="Shape 53"/>
          <p:cNvSpPr/>
          <p:nvPr/>
        </p:nvSpPr>
        <p:spPr>
          <a:xfrm>
            <a:off x="4983480" y="4709160"/>
            <a:ext cx="91" cy="54864"/>
          </a:xfrm>
          <a:prstGeom prst="line">
            <a:avLst/>
          </a:prstGeom>
          <a:noFill/>
          <a:ln w="12700">
            <a:solidFill>
              <a:srgbClr val="1A2340"/>
            </a:solidFill>
            <a:prstDash val="solid"/>
          </a:ln>
        </p:spPr>
      </p:sp>
      <p:sp>
        <p:nvSpPr>
          <p:cNvPr id="56" name="Text 54"/>
          <p:cNvSpPr/>
          <p:nvPr/>
        </p:nvSpPr>
        <p:spPr>
          <a:xfrm>
            <a:off x="470916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500</a:t>
            </a:r>
            <a:endParaRPr lang="en-US" sz="1000" dirty="0"/>
          </a:p>
        </p:txBody>
      </p:sp>
      <p:sp>
        <p:nvSpPr>
          <p:cNvPr id="57" name="Shape 55"/>
          <p:cNvSpPr/>
          <p:nvPr/>
        </p:nvSpPr>
        <p:spPr>
          <a:xfrm>
            <a:off x="5715000" y="4709160"/>
            <a:ext cx="91" cy="54864"/>
          </a:xfrm>
          <a:prstGeom prst="line">
            <a:avLst/>
          </a:prstGeom>
          <a:noFill/>
          <a:ln w="12700">
            <a:solidFill>
              <a:srgbClr val="1A2340"/>
            </a:solidFill>
            <a:prstDash val="solid"/>
          </a:ln>
        </p:spPr>
      </p:sp>
      <p:sp>
        <p:nvSpPr>
          <p:cNvPr id="58" name="Text 56"/>
          <p:cNvSpPr/>
          <p:nvPr/>
        </p:nvSpPr>
        <p:spPr>
          <a:xfrm>
            <a:off x="544068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600</a:t>
            </a:r>
            <a:endParaRPr lang="en-US" sz="1000" dirty="0"/>
          </a:p>
        </p:txBody>
      </p:sp>
      <p:sp>
        <p:nvSpPr>
          <p:cNvPr id="59" name="Shape 57"/>
          <p:cNvSpPr/>
          <p:nvPr/>
        </p:nvSpPr>
        <p:spPr>
          <a:xfrm>
            <a:off x="1271016" y="4709160"/>
            <a:ext cx="54864" cy="91"/>
          </a:xfrm>
          <a:prstGeom prst="line">
            <a:avLst/>
          </a:prstGeom>
          <a:noFill/>
          <a:ln w="12700">
            <a:solidFill>
              <a:srgbClr val="1A2340"/>
            </a:solidFill>
            <a:prstDash val="solid"/>
          </a:ln>
        </p:spPr>
      </p:sp>
      <p:sp>
        <p:nvSpPr>
          <p:cNvPr id="60" name="Text 58"/>
          <p:cNvSpPr/>
          <p:nvPr/>
        </p:nvSpPr>
        <p:spPr>
          <a:xfrm>
            <a:off x="886968" y="46177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61" name="Shape 59"/>
          <p:cNvSpPr/>
          <p:nvPr/>
        </p:nvSpPr>
        <p:spPr>
          <a:xfrm>
            <a:off x="1271016" y="4297680"/>
            <a:ext cx="54864" cy="91"/>
          </a:xfrm>
          <a:prstGeom prst="line">
            <a:avLst/>
          </a:prstGeom>
          <a:noFill/>
          <a:ln w="12700">
            <a:solidFill>
              <a:srgbClr val="1A2340"/>
            </a:solidFill>
            <a:prstDash val="solid"/>
          </a:ln>
        </p:spPr>
      </p:sp>
      <p:sp>
        <p:nvSpPr>
          <p:cNvPr id="62" name="Text 60"/>
          <p:cNvSpPr/>
          <p:nvPr/>
        </p:nvSpPr>
        <p:spPr>
          <a:xfrm>
            <a:off x="886968" y="42062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15</a:t>
            </a:r>
            <a:endParaRPr lang="en-US" sz="1000" dirty="0"/>
          </a:p>
        </p:txBody>
      </p:sp>
      <p:sp>
        <p:nvSpPr>
          <p:cNvPr id="63" name="Shape 61"/>
          <p:cNvSpPr/>
          <p:nvPr/>
        </p:nvSpPr>
        <p:spPr>
          <a:xfrm>
            <a:off x="1271016" y="3886200"/>
            <a:ext cx="54864" cy="91"/>
          </a:xfrm>
          <a:prstGeom prst="line">
            <a:avLst/>
          </a:prstGeom>
          <a:noFill/>
          <a:ln w="12700">
            <a:solidFill>
              <a:srgbClr val="1A2340"/>
            </a:solidFill>
            <a:prstDash val="solid"/>
          </a:ln>
        </p:spPr>
      </p:sp>
      <p:sp>
        <p:nvSpPr>
          <p:cNvPr id="64" name="Text 62"/>
          <p:cNvSpPr/>
          <p:nvPr/>
        </p:nvSpPr>
        <p:spPr>
          <a:xfrm>
            <a:off x="886968" y="37947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65" name="Shape 63"/>
          <p:cNvSpPr/>
          <p:nvPr/>
        </p:nvSpPr>
        <p:spPr>
          <a:xfrm>
            <a:off x="1271016" y="3474720"/>
            <a:ext cx="54864" cy="91"/>
          </a:xfrm>
          <a:prstGeom prst="line">
            <a:avLst/>
          </a:prstGeom>
          <a:noFill/>
          <a:ln w="12700">
            <a:solidFill>
              <a:srgbClr val="1A2340"/>
            </a:solidFill>
            <a:prstDash val="solid"/>
          </a:ln>
        </p:spPr>
      </p:sp>
      <p:sp>
        <p:nvSpPr>
          <p:cNvPr id="66" name="Text 64"/>
          <p:cNvSpPr/>
          <p:nvPr/>
        </p:nvSpPr>
        <p:spPr>
          <a:xfrm>
            <a:off x="886968" y="33832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25</a:t>
            </a:r>
            <a:endParaRPr lang="en-US" sz="1000" dirty="0"/>
          </a:p>
        </p:txBody>
      </p:sp>
      <p:sp>
        <p:nvSpPr>
          <p:cNvPr id="67" name="Shape 65"/>
          <p:cNvSpPr/>
          <p:nvPr/>
        </p:nvSpPr>
        <p:spPr>
          <a:xfrm>
            <a:off x="1271016" y="3063240"/>
            <a:ext cx="54864" cy="91"/>
          </a:xfrm>
          <a:prstGeom prst="line">
            <a:avLst/>
          </a:prstGeom>
          <a:noFill/>
          <a:ln w="12700">
            <a:solidFill>
              <a:srgbClr val="1A2340"/>
            </a:solidFill>
            <a:prstDash val="solid"/>
          </a:ln>
        </p:spPr>
      </p:sp>
      <p:sp>
        <p:nvSpPr>
          <p:cNvPr id="68" name="Text 66"/>
          <p:cNvSpPr/>
          <p:nvPr/>
        </p:nvSpPr>
        <p:spPr>
          <a:xfrm>
            <a:off x="886968" y="29718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69" name="Shape 67"/>
          <p:cNvSpPr/>
          <p:nvPr/>
        </p:nvSpPr>
        <p:spPr>
          <a:xfrm>
            <a:off x="1271016" y="2651760"/>
            <a:ext cx="54864" cy="91"/>
          </a:xfrm>
          <a:prstGeom prst="line">
            <a:avLst/>
          </a:prstGeom>
          <a:noFill/>
          <a:ln w="12700">
            <a:solidFill>
              <a:srgbClr val="1A2340"/>
            </a:solidFill>
            <a:prstDash val="solid"/>
          </a:ln>
        </p:spPr>
      </p:sp>
      <p:sp>
        <p:nvSpPr>
          <p:cNvPr id="70" name="Text 68"/>
          <p:cNvSpPr/>
          <p:nvPr/>
        </p:nvSpPr>
        <p:spPr>
          <a:xfrm>
            <a:off x="886968" y="25603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35</a:t>
            </a:r>
            <a:endParaRPr lang="en-US" sz="1000" dirty="0"/>
          </a:p>
        </p:txBody>
      </p:sp>
      <p:sp>
        <p:nvSpPr>
          <p:cNvPr id="71" name="Shape 69"/>
          <p:cNvSpPr/>
          <p:nvPr/>
        </p:nvSpPr>
        <p:spPr>
          <a:xfrm>
            <a:off x="1271016" y="2240280"/>
            <a:ext cx="54864" cy="91"/>
          </a:xfrm>
          <a:prstGeom prst="line">
            <a:avLst/>
          </a:prstGeom>
          <a:noFill/>
          <a:ln w="12700">
            <a:solidFill>
              <a:srgbClr val="1A2340"/>
            </a:solidFill>
            <a:prstDash val="solid"/>
          </a:ln>
        </p:spPr>
      </p:sp>
      <p:sp>
        <p:nvSpPr>
          <p:cNvPr id="72" name="Text 70"/>
          <p:cNvSpPr/>
          <p:nvPr/>
        </p:nvSpPr>
        <p:spPr>
          <a:xfrm>
            <a:off x="886968" y="21488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73" name="Shape 71"/>
          <p:cNvSpPr/>
          <p:nvPr/>
        </p:nvSpPr>
        <p:spPr>
          <a:xfrm>
            <a:off x="1271016" y="1828800"/>
            <a:ext cx="54864" cy="91"/>
          </a:xfrm>
          <a:prstGeom prst="line">
            <a:avLst/>
          </a:prstGeom>
          <a:noFill/>
          <a:ln w="12700">
            <a:solidFill>
              <a:srgbClr val="1A2340"/>
            </a:solidFill>
            <a:prstDash val="solid"/>
          </a:ln>
        </p:spPr>
      </p:sp>
      <p:sp>
        <p:nvSpPr>
          <p:cNvPr id="74" name="Text 72"/>
          <p:cNvSpPr/>
          <p:nvPr/>
        </p:nvSpPr>
        <p:spPr>
          <a:xfrm>
            <a:off x="886968" y="17373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45</a:t>
            </a:r>
            <a:endParaRPr lang="en-US" sz="1000" dirty="0"/>
          </a:p>
        </p:txBody>
      </p:sp>
      <p:sp>
        <p:nvSpPr>
          <p:cNvPr id="75" name="Shape 73"/>
          <p:cNvSpPr/>
          <p:nvPr/>
        </p:nvSpPr>
        <p:spPr>
          <a:xfrm>
            <a:off x="1271016" y="1417320"/>
            <a:ext cx="54864" cy="91"/>
          </a:xfrm>
          <a:prstGeom prst="line">
            <a:avLst/>
          </a:prstGeom>
          <a:noFill/>
          <a:ln w="12700">
            <a:solidFill>
              <a:srgbClr val="1A2340"/>
            </a:solidFill>
            <a:prstDash val="solid"/>
          </a:ln>
        </p:spPr>
      </p:sp>
      <p:sp>
        <p:nvSpPr>
          <p:cNvPr id="76" name="Text 74"/>
          <p:cNvSpPr/>
          <p:nvPr/>
        </p:nvSpPr>
        <p:spPr>
          <a:xfrm>
            <a:off x="88696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50</a:t>
            </a:r>
            <a:endParaRPr lang="en-US" sz="1000" dirty="0"/>
          </a:p>
        </p:txBody>
      </p:sp>
      <p:sp>
        <p:nvSpPr>
          <p:cNvPr id="77" name="Text 75"/>
          <p:cNvSpPr/>
          <p:nvPr/>
        </p:nvSpPr>
        <p:spPr>
          <a:xfrm>
            <a:off x="1325880" y="4956048"/>
            <a:ext cx="43891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time / s</a:t>
            </a:r>
            <a:endParaRPr lang="en-US" sz="1050" dirty="0"/>
          </a:p>
        </p:txBody>
      </p:sp>
      <p:sp>
        <p:nvSpPr>
          <p:cNvPr id="78" name="Text 76"/>
          <p:cNvSpPr/>
          <p:nvPr/>
        </p:nvSpPr>
        <p:spPr>
          <a:xfrm rot="16200000">
            <a:off x="-886968" y="2935224"/>
            <a:ext cx="32918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temperature / °C</a:t>
            </a:r>
            <a:endParaRPr lang="en-US" sz="1050" dirty="0"/>
          </a:p>
        </p:txBody>
      </p:sp>
      <p:sp>
        <p:nvSpPr>
          <p:cNvPr id="79" name="Shape 77"/>
          <p:cNvSpPr/>
          <p:nvPr/>
        </p:nvSpPr>
        <p:spPr>
          <a:xfrm flipV="1">
            <a:off x="1655064" y="1708049"/>
            <a:ext cx="4059936" cy="2100556"/>
          </a:xfrm>
          <a:prstGeom prst="line">
            <a:avLst/>
          </a:prstGeom>
          <a:noFill/>
          <a:ln w="25400">
            <a:solidFill>
              <a:srgbClr val="2E5BD8"/>
            </a:solidFill>
            <a:prstDash val="solid"/>
          </a:ln>
        </p:spPr>
      </p:sp>
      <p:sp>
        <p:nvSpPr>
          <p:cNvPr id="80" name="Shape 78"/>
          <p:cNvSpPr/>
          <p:nvPr/>
        </p:nvSpPr>
        <p:spPr>
          <a:xfrm>
            <a:off x="1280160" y="3840480"/>
            <a:ext cx="91440" cy="91440"/>
          </a:xfrm>
          <a:prstGeom prst="line">
            <a:avLst/>
          </a:prstGeom>
          <a:noFill/>
          <a:ln w="15875">
            <a:solidFill>
              <a:srgbClr val="1A2340"/>
            </a:solidFill>
            <a:prstDash val="solid"/>
          </a:ln>
        </p:spPr>
      </p:sp>
      <p:sp>
        <p:nvSpPr>
          <p:cNvPr id="81" name="Shape 79"/>
          <p:cNvSpPr/>
          <p:nvPr/>
        </p:nvSpPr>
        <p:spPr>
          <a:xfrm flipV="1">
            <a:off x="1280160" y="3840480"/>
            <a:ext cx="91440" cy="91440"/>
          </a:xfrm>
          <a:prstGeom prst="line">
            <a:avLst/>
          </a:prstGeom>
          <a:noFill/>
          <a:ln w="15875">
            <a:solidFill>
              <a:srgbClr val="1A2340"/>
            </a:solidFill>
            <a:prstDash val="solid"/>
          </a:ln>
        </p:spPr>
      </p:sp>
      <p:sp>
        <p:nvSpPr>
          <p:cNvPr id="82" name="Shape 80"/>
          <p:cNvSpPr/>
          <p:nvPr/>
        </p:nvSpPr>
        <p:spPr>
          <a:xfrm>
            <a:off x="1719072" y="3708806"/>
            <a:ext cx="91440" cy="91440"/>
          </a:xfrm>
          <a:prstGeom prst="line">
            <a:avLst/>
          </a:prstGeom>
          <a:noFill/>
          <a:ln w="15875">
            <a:solidFill>
              <a:srgbClr val="1A2340"/>
            </a:solidFill>
            <a:prstDash val="solid"/>
          </a:ln>
        </p:spPr>
      </p:sp>
      <p:sp>
        <p:nvSpPr>
          <p:cNvPr id="83" name="Shape 81"/>
          <p:cNvSpPr/>
          <p:nvPr/>
        </p:nvSpPr>
        <p:spPr>
          <a:xfrm flipV="1">
            <a:off x="1719072" y="3708806"/>
            <a:ext cx="91440" cy="91440"/>
          </a:xfrm>
          <a:prstGeom prst="line">
            <a:avLst/>
          </a:prstGeom>
          <a:noFill/>
          <a:ln w="15875">
            <a:solidFill>
              <a:srgbClr val="1A2340"/>
            </a:solidFill>
            <a:prstDash val="solid"/>
          </a:ln>
        </p:spPr>
      </p:sp>
      <p:sp>
        <p:nvSpPr>
          <p:cNvPr id="84" name="Shape 82"/>
          <p:cNvSpPr/>
          <p:nvPr/>
        </p:nvSpPr>
        <p:spPr>
          <a:xfrm>
            <a:off x="2157984" y="3478378"/>
            <a:ext cx="91440" cy="91440"/>
          </a:xfrm>
          <a:prstGeom prst="line">
            <a:avLst/>
          </a:prstGeom>
          <a:noFill/>
          <a:ln w="15875">
            <a:solidFill>
              <a:srgbClr val="1A2340"/>
            </a:solidFill>
            <a:prstDash val="solid"/>
          </a:ln>
        </p:spPr>
      </p:sp>
      <p:sp>
        <p:nvSpPr>
          <p:cNvPr id="85" name="Shape 83"/>
          <p:cNvSpPr/>
          <p:nvPr/>
        </p:nvSpPr>
        <p:spPr>
          <a:xfrm flipV="1">
            <a:off x="2157984" y="3478378"/>
            <a:ext cx="91440" cy="91440"/>
          </a:xfrm>
          <a:prstGeom prst="line">
            <a:avLst/>
          </a:prstGeom>
          <a:noFill/>
          <a:ln w="15875">
            <a:solidFill>
              <a:srgbClr val="1A2340"/>
            </a:solidFill>
            <a:prstDash val="solid"/>
          </a:ln>
        </p:spPr>
      </p:sp>
      <p:sp>
        <p:nvSpPr>
          <p:cNvPr id="86" name="Shape 84"/>
          <p:cNvSpPr/>
          <p:nvPr/>
        </p:nvSpPr>
        <p:spPr>
          <a:xfrm>
            <a:off x="2596896" y="3247949"/>
            <a:ext cx="91440" cy="91440"/>
          </a:xfrm>
          <a:prstGeom prst="line">
            <a:avLst/>
          </a:prstGeom>
          <a:noFill/>
          <a:ln w="15875">
            <a:solidFill>
              <a:srgbClr val="1A2340"/>
            </a:solidFill>
            <a:prstDash val="solid"/>
          </a:ln>
        </p:spPr>
      </p:sp>
      <p:sp>
        <p:nvSpPr>
          <p:cNvPr id="87" name="Shape 85"/>
          <p:cNvSpPr/>
          <p:nvPr/>
        </p:nvSpPr>
        <p:spPr>
          <a:xfrm flipV="1">
            <a:off x="2596896" y="3247949"/>
            <a:ext cx="91440" cy="91440"/>
          </a:xfrm>
          <a:prstGeom prst="line">
            <a:avLst/>
          </a:prstGeom>
          <a:noFill/>
          <a:ln w="15875">
            <a:solidFill>
              <a:srgbClr val="1A2340"/>
            </a:solidFill>
            <a:prstDash val="solid"/>
          </a:ln>
        </p:spPr>
      </p:sp>
      <p:sp>
        <p:nvSpPr>
          <p:cNvPr id="88" name="Shape 86"/>
          <p:cNvSpPr/>
          <p:nvPr/>
        </p:nvSpPr>
        <p:spPr>
          <a:xfrm>
            <a:off x="3035808" y="3025750"/>
            <a:ext cx="91440" cy="91440"/>
          </a:xfrm>
          <a:prstGeom prst="line">
            <a:avLst/>
          </a:prstGeom>
          <a:noFill/>
          <a:ln w="15875">
            <a:solidFill>
              <a:srgbClr val="1A2340"/>
            </a:solidFill>
            <a:prstDash val="solid"/>
          </a:ln>
        </p:spPr>
      </p:sp>
      <p:sp>
        <p:nvSpPr>
          <p:cNvPr id="89" name="Shape 87"/>
          <p:cNvSpPr/>
          <p:nvPr/>
        </p:nvSpPr>
        <p:spPr>
          <a:xfrm flipV="1">
            <a:off x="3035808" y="3025750"/>
            <a:ext cx="91440" cy="91440"/>
          </a:xfrm>
          <a:prstGeom prst="line">
            <a:avLst/>
          </a:prstGeom>
          <a:noFill/>
          <a:ln w="15875">
            <a:solidFill>
              <a:srgbClr val="1A2340"/>
            </a:solidFill>
            <a:prstDash val="solid"/>
          </a:ln>
        </p:spPr>
      </p:sp>
      <p:sp>
        <p:nvSpPr>
          <p:cNvPr id="90" name="Shape 88"/>
          <p:cNvSpPr/>
          <p:nvPr/>
        </p:nvSpPr>
        <p:spPr>
          <a:xfrm>
            <a:off x="3474720" y="2795321"/>
            <a:ext cx="91440" cy="91440"/>
          </a:xfrm>
          <a:prstGeom prst="line">
            <a:avLst/>
          </a:prstGeom>
          <a:noFill/>
          <a:ln w="15875">
            <a:solidFill>
              <a:srgbClr val="1A2340"/>
            </a:solidFill>
            <a:prstDash val="solid"/>
          </a:ln>
        </p:spPr>
      </p:sp>
      <p:sp>
        <p:nvSpPr>
          <p:cNvPr id="91" name="Shape 89"/>
          <p:cNvSpPr/>
          <p:nvPr/>
        </p:nvSpPr>
        <p:spPr>
          <a:xfrm flipV="1">
            <a:off x="3474720" y="2795321"/>
            <a:ext cx="91440" cy="91440"/>
          </a:xfrm>
          <a:prstGeom prst="line">
            <a:avLst/>
          </a:prstGeom>
          <a:noFill/>
          <a:ln w="15875">
            <a:solidFill>
              <a:srgbClr val="1A2340"/>
            </a:solidFill>
            <a:prstDash val="solid"/>
          </a:ln>
        </p:spPr>
      </p:sp>
      <p:sp>
        <p:nvSpPr>
          <p:cNvPr id="92" name="Shape 90"/>
          <p:cNvSpPr/>
          <p:nvPr/>
        </p:nvSpPr>
        <p:spPr>
          <a:xfrm>
            <a:off x="3913632" y="2573122"/>
            <a:ext cx="91440" cy="91440"/>
          </a:xfrm>
          <a:prstGeom prst="line">
            <a:avLst/>
          </a:prstGeom>
          <a:noFill/>
          <a:ln w="15875">
            <a:solidFill>
              <a:srgbClr val="1A2340"/>
            </a:solidFill>
            <a:prstDash val="solid"/>
          </a:ln>
        </p:spPr>
      </p:sp>
      <p:sp>
        <p:nvSpPr>
          <p:cNvPr id="93" name="Shape 91"/>
          <p:cNvSpPr/>
          <p:nvPr/>
        </p:nvSpPr>
        <p:spPr>
          <a:xfrm flipV="1">
            <a:off x="3913632" y="2573122"/>
            <a:ext cx="91440" cy="91440"/>
          </a:xfrm>
          <a:prstGeom prst="line">
            <a:avLst/>
          </a:prstGeom>
          <a:noFill/>
          <a:ln w="15875">
            <a:solidFill>
              <a:srgbClr val="1A2340"/>
            </a:solidFill>
            <a:prstDash val="solid"/>
          </a:ln>
        </p:spPr>
      </p:sp>
      <p:sp>
        <p:nvSpPr>
          <p:cNvPr id="94" name="Shape 92"/>
          <p:cNvSpPr/>
          <p:nvPr/>
        </p:nvSpPr>
        <p:spPr>
          <a:xfrm>
            <a:off x="4352544" y="2342693"/>
            <a:ext cx="91440" cy="91440"/>
          </a:xfrm>
          <a:prstGeom prst="line">
            <a:avLst/>
          </a:prstGeom>
          <a:noFill/>
          <a:ln w="15875">
            <a:solidFill>
              <a:srgbClr val="1A2340"/>
            </a:solidFill>
            <a:prstDash val="solid"/>
          </a:ln>
        </p:spPr>
      </p:sp>
      <p:sp>
        <p:nvSpPr>
          <p:cNvPr id="95" name="Shape 93"/>
          <p:cNvSpPr/>
          <p:nvPr/>
        </p:nvSpPr>
        <p:spPr>
          <a:xfrm flipV="1">
            <a:off x="4352544" y="2342693"/>
            <a:ext cx="91440" cy="91440"/>
          </a:xfrm>
          <a:prstGeom prst="line">
            <a:avLst/>
          </a:prstGeom>
          <a:noFill/>
          <a:ln w="15875">
            <a:solidFill>
              <a:srgbClr val="1A2340"/>
            </a:solidFill>
            <a:prstDash val="solid"/>
          </a:ln>
        </p:spPr>
      </p:sp>
      <p:sp>
        <p:nvSpPr>
          <p:cNvPr id="96" name="Shape 94"/>
          <p:cNvSpPr/>
          <p:nvPr/>
        </p:nvSpPr>
        <p:spPr>
          <a:xfrm>
            <a:off x="4791456" y="2120494"/>
            <a:ext cx="91440" cy="91440"/>
          </a:xfrm>
          <a:prstGeom prst="line">
            <a:avLst/>
          </a:prstGeom>
          <a:noFill/>
          <a:ln w="15875">
            <a:solidFill>
              <a:srgbClr val="1A2340"/>
            </a:solidFill>
            <a:prstDash val="solid"/>
          </a:ln>
        </p:spPr>
      </p:sp>
      <p:sp>
        <p:nvSpPr>
          <p:cNvPr id="97" name="Shape 95"/>
          <p:cNvSpPr/>
          <p:nvPr/>
        </p:nvSpPr>
        <p:spPr>
          <a:xfrm flipV="1">
            <a:off x="4791456" y="2120494"/>
            <a:ext cx="91440" cy="91440"/>
          </a:xfrm>
          <a:prstGeom prst="line">
            <a:avLst/>
          </a:prstGeom>
          <a:noFill/>
          <a:ln w="15875">
            <a:solidFill>
              <a:srgbClr val="1A2340"/>
            </a:solidFill>
            <a:prstDash val="solid"/>
          </a:ln>
        </p:spPr>
      </p:sp>
      <p:sp>
        <p:nvSpPr>
          <p:cNvPr id="98" name="Shape 96"/>
          <p:cNvSpPr/>
          <p:nvPr/>
        </p:nvSpPr>
        <p:spPr>
          <a:xfrm>
            <a:off x="5230368" y="1890065"/>
            <a:ext cx="91440" cy="91440"/>
          </a:xfrm>
          <a:prstGeom prst="line">
            <a:avLst/>
          </a:prstGeom>
          <a:noFill/>
          <a:ln w="15875">
            <a:solidFill>
              <a:srgbClr val="1A2340"/>
            </a:solidFill>
            <a:prstDash val="solid"/>
          </a:ln>
        </p:spPr>
      </p:sp>
      <p:sp>
        <p:nvSpPr>
          <p:cNvPr id="99" name="Shape 97"/>
          <p:cNvSpPr/>
          <p:nvPr/>
        </p:nvSpPr>
        <p:spPr>
          <a:xfrm flipV="1">
            <a:off x="5230368" y="1890065"/>
            <a:ext cx="91440" cy="91440"/>
          </a:xfrm>
          <a:prstGeom prst="line">
            <a:avLst/>
          </a:prstGeom>
          <a:noFill/>
          <a:ln w="15875">
            <a:solidFill>
              <a:srgbClr val="1A2340"/>
            </a:solidFill>
            <a:prstDash val="solid"/>
          </a:ln>
        </p:spPr>
      </p:sp>
      <p:sp>
        <p:nvSpPr>
          <p:cNvPr id="100" name="Shape 98"/>
          <p:cNvSpPr/>
          <p:nvPr/>
        </p:nvSpPr>
        <p:spPr>
          <a:xfrm>
            <a:off x="5669280" y="1659636"/>
            <a:ext cx="91440" cy="91440"/>
          </a:xfrm>
          <a:prstGeom prst="line">
            <a:avLst/>
          </a:prstGeom>
          <a:noFill/>
          <a:ln w="15875">
            <a:solidFill>
              <a:srgbClr val="1A2340"/>
            </a:solidFill>
            <a:prstDash val="solid"/>
          </a:ln>
        </p:spPr>
      </p:sp>
      <p:sp>
        <p:nvSpPr>
          <p:cNvPr id="101" name="Shape 99"/>
          <p:cNvSpPr/>
          <p:nvPr/>
        </p:nvSpPr>
        <p:spPr>
          <a:xfrm flipV="1">
            <a:off x="5669280" y="1659636"/>
            <a:ext cx="91440" cy="91440"/>
          </a:xfrm>
          <a:prstGeom prst="line">
            <a:avLst/>
          </a:prstGeom>
          <a:noFill/>
          <a:ln w="15875">
            <a:solidFill>
              <a:srgbClr val="1A2340"/>
            </a:solidFill>
            <a:prstDash val="solid"/>
          </a:ln>
        </p:spPr>
      </p:sp>
      <p:sp>
        <p:nvSpPr>
          <p:cNvPr id="102" name="Text 100"/>
          <p:cNvSpPr/>
          <p:nvPr/>
        </p:nvSpPr>
        <p:spPr>
          <a:xfrm>
            <a:off x="1856232" y="4026103"/>
            <a:ext cx="237744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slow start: the heater warms up first</a:t>
            </a:r>
            <a:endParaRPr lang="en-US" sz="1050" dirty="0"/>
          </a:p>
        </p:txBody>
      </p:sp>
      <p:sp>
        <p:nvSpPr>
          <p:cNvPr id="103" name="Text 101"/>
          <p:cNvSpPr/>
          <p:nvPr/>
        </p:nvSpPr>
        <p:spPr>
          <a:xfrm>
            <a:off x="2935224" y="1828800"/>
            <a:ext cx="1737360" cy="256032"/>
          </a:xfrm>
          <a:prstGeom prst="rect">
            <a:avLst/>
          </a:prstGeom>
          <a:noFill/>
          <a:ln/>
        </p:spPr>
        <p:txBody>
          <a:bodyPr wrap="square" lIns="0" tIns="0" rIns="0" bIns="0" rtlCol="0" anchor="ctr"/>
          <a:lstStyle/>
          <a:p>
            <a:pPr algn="l" indent="0" marL="0">
              <a:buNone/>
            </a:pPr>
            <a:r>
              <a:rPr lang="en-US" sz="1050" b="1" dirty="0">
                <a:solidFill>
                  <a:srgbClr val="2E5BD8"/>
                </a:solidFill>
                <a:latin typeface="Calibri" pitchFamily="34" charset="0"/>
                <a:ea typeface="Calibri" pitchFamily="34" charset="-122"/>
                <a:cs typeface="Calibri" pitchFamily="34" charset="-120"/>
              </a:rPr>
              <a:t>gradient ≈ 0.046 °C/s</a:t>
            </a:r>
            <a:endParaRPr lang="en-US" sz="10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217920" y="1188720"/>
          <a:ext cx="5559552" cy="914400"/>
        </p:xfrm>
        <a:graphic>
          <a:graphicData uri="http://schemas.openxmlformats.org/drawingml/2006/table">
            <a:tbl>
              <a:tblPr/>
              <a:tblGrid>
                <a:gridCol w="713232"/>
                <a:gridCol w="440558"/>
                <a:gridCol w="440558"/>
                <a:gridCol w="440558"/>
                <a:gridCol w="440558"/>
                <a:gridCol w="440558"/>
                <a:gridCol w="440558"/>
                <a:gridCol w="440558"/>
                <a:gridCol w="440558"/>
                <a:gridCol w="440558"/>
                <a:gridCol w="440558"/>
                <a:gridCol w="440558"/>
              </a:tblGrid>
              <a:tr h="310896">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 / s</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60</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120</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180</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240</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300</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360</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420</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480</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540</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600</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r>
              <a:tr h="310896">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θ / °C</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20.0</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21.6</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24.4</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27.2</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29.9</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32.7</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35.4</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38.2</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40.9</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43.7</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46.5</a:t>
                      </a:r>
                      <a:endParaRPr lang="en-US" sz="10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bl>
          </a:graphicData>
        </a:graphic>
      </p:graphicFrame>
      <p:sp>
        <p:nvSpPr>
          <p:cNvPr id="105" name="Shape 102"/>
          <p:cNvSpPr/>
          <p:nvPr/>
        </p:nvSpPr>
        <p:spPr>
          <a:xfrm>
            <a:off x="6217920" y="2011680"/>
            <a:ext cx="5559552" cy="1828800"/>
          </a:xfrm>
          <a:prstGeom prst="roundRect">
            <a:avLst>
              <a:gd name="adj" fmla="val 3000"/>
            </a:avLst>
          </a:prstGeom>
          <a:solidFill>
            <a:srgbClr val="FFF4E0"/>
          </a:solidFill>
          <a:ln w="9525">
            <a:solidFill>
              <a:srgbClr val="F1D9A8"/>
            </a:solidFill>
            <a:prstDash val="solid"/>
          </a:ln>
        </p:spPr>
      </p:sp>
      <p:sp>
        <p:nvSpPr>
          <p:cNvPr id="106" name="Text 103"/>
          <p:cNvSpPr/>
          <p:nvPr/>
        </p:nvSpPr>
        <p:spPr>
          <a:xfrm>
            <a:off x="6382512" y="208483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calculation of c</a:t>
            </a:r>
            <a:endParaRPr lang="en-US" sz="1300" dirty="0"/>
          </a:p>
        </p:txBody>
      </p:sp>
      <p:sp>
        <p:nvSpPr>
          <p:cNvPr id="107" name="Text 104"/>
          <p:cNvSpPr/>
          <p:nvPr/>
        </p:nvSpPr>
        <p:spPr>
          <a:xfrm>
            <a:off x="6382512" y="2395728"/>
            <a:ext cx="5230368" cy="1371600"/>
          </a:xfrm>
          <a:prstGeom prst="rect">
            <a:avLst/>
          </a:prstGeom>
          <a:noFill/>
          <a:ln/>
        </p:spPr>
        <p:txBody>
          <a:bodyPr wrap="square" lIns="0" tIns="0" rIns="0" bIns="0" rtlCol="0" anchor="t"/>
          <a:lstStyle/>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Power   </a:t>
            </a:r>
            <a:r>
              <a:rPr lang="en-US" sz="1050" dirty="0">
                <a:solidFill>
                  <a:srgbClr val="262B3A"/>
                </a:solidFill>
                <a:latin typeface="Calibri" pitchFamily="34" charset="0"/>
                <a:ea typeface="Calibri" pitchFamily="34" charset="-122"/>
                <a:cs typeface="Calibri" pitchFamily="34" charset="-120"/>
              </a:rPr>
              <a:t>P = V × I = 12.0 × 4.0 = 48 W</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Energy   </a:t>
            </a:r>
            <a:r>
              <a:rPr lang="en-US" sz="1050" dirty="0">
                <a:solidFill>
                  <a:srgbClr val="262B3A"/>
                </a:solidFill>
                <a:latin typeface="Calibri" pitchFamily="34" charset="0"/>
                <a:ea typeface="Calibri" pitchFamily="34" charset="-122"/>
                <a:cs typeface="Calibri" pitchFamily="34" charset="-120"/>
              </a:rPr>
              <a:t>E = P × t = 48 × 600 = 28 800 J</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Δθ   </a:t>
            </a:r>
            <a:r>
              <a:rPr lang="en-US" sz="1050" dirty="0">
                <a:solidFill>
                  <a:srgbClr val="262B3A"/>
                </a:solidFill>
                <a:latin typeface="Calibri" pitchFamily="34" charset="0"/>
                <a:ea typeface="Calibri" pitchFamily="34" charset="-122"/>
                <a:cs typeface="Calibri" pitchFamily="34" charset="-120"/>
              </a:rPr>
              <a:t>46.5 − 20.0 = 26.5 °C</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c = 28800 ÷ (1.0 × 26.5) ≈ 1100 J/kg °C</a:t>
            </a:r>
            <a:endParaRPr lang="en-US" sz="1050" dirty="0"/>
          </a:p>
        </p:txBody>
      </p:sp>
      <p:sp>
        <p:nvSpPr>
          <p:cNvPr id="108" name="Shape 105"/>
          <p:cNvSpPr/>
          <p:nvPr/>
        </p:nvSpPr>
        <p:spPr>
          <a:xfrm>
            <a:off x="6217920" y="3959352"/>
            <a:ext cx="5559552" cy="1755648"/>
          </a:xfrm>
          <a:prstGeom prst="roundRect">
            <a:avLst>
              <a:gd name="adj" fmla="val 3125"/>
            </a:avLst>
          </a:prstGeom>
          <a:solidFill>
            <a:srgbClr val="FFF4E0"/>
          </a:solidFill>
          <a:ln w="9525">
            <a:solidFill>
              <a:srgbClr val="F1D9A8"/>
            </a:solidFill>
            <a:prstDash val="solid"/>
          </a:ln>
        </p:spPr>
      </p:sp>
      <p:sp>
        <p:nvSpPr>
          <p:cNvPr id="109" name="Text 106"/>
          <p:cNvSpPr/>
          <p:nvPr/>
        </p:nvSpPr>
        <p:spPr>
          <a:xfrm>
            <a:off x="6382512" y="4032504"/>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Evaluation: why is c too big?</a:t>
            </a:r>
            <a:endParaRPr lang="en-US" sz="1300" dirty="0"/>
          </a:p>
        </p:txBody>
      </p:sp>
      <p:sp>
        <p:nvSpPr>
          <p:cNvPr id="110" name="Text 107"/>
          <p:cNvSpPr/>
          <p:nvPr/>
        </p:nvSpPr>
        <p:spPr>
          <a:xfrm>
            <a:off x="6382512" y="4343400"/>
            <a:ext cx="5230368" cy="1298448"/>
          </a:xfrm>
          <a:prstGeom prst="rect">
            <a:avLst/>
          </a:prstGeom>
          <a:noFill/>
          <a:ln/>
        </p:spPr>
        <p:txBody>
          <a:bodyPr wrap="square" lIns="0" tIns="0" rIns="0" bIns="0" rtlCol="0" anchor="t"/>
          <a:lstStyle/>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Data book   </a:t>
            </a:r>
            <a:r>
              <a:rPr lang="en-US" sz="1050" dirty="0">
                <a:solidFill>
                  <a:srgbClr val="262B3A"/>
                </a:solidFill>
                <a:latin typeface="Calibri" pitchFamily="34" charset="0"/>
                <a:ea typeface="Calibri" pitchFamily="34" charset="-122"/>
                <a:cs typeface="Calibri" pitchFamily="34" charset="-120"/>
              </a:rPr>
              <a:t>c(aluminium) = 900 J/kg °C: our value is about 21% high</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Energy lost   </a:t>
            </a:r>
            <a:r>
              <a:rPr lang="en-US" sz="1050" dirty="0">
                <a:solidFill>
                  <a:srgbClr val="262B3A"/>
                </a:solidFill>
                <a:latin typeface="Calibri" pitchFamily="34" charset="0"/>
                <a:ea typeface="Calibri" pitchFamily="34" charset="-122"/>
                <a:cs typeface="Calibri" pitchFamily="34" charset="-120"/>
              </a:rPr>
              <a:t>to the air and bench, and to warm the heater/thermometer → Δθ too small</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Improve   </a:t>
            </a:r>
            <a:r>
              <a:rPr lang="en-US" sz="1050" dirty="0">
                <a:solidFill>
                  <a:srgbClr val="262B3A"/>
                </a:solidFill>
                <a:latin typeface="Calibri" pitchFamily="34" charset="0"/>
                <a:ea typeface="Calibri" pitchFamily="34" charset="-122"/>
                <a:cs typeface="Calibri" pitchFamily="34" charset="-120"/>
              </a:rPr>
              <a:t>more insulation and a lid; good thermal contact; start from room temperature</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losses always make the measured c larger than the true value</a:t>
            </a:r>
            <a:endParaRPr lang="en-US" sz="1050" dirty="0"/>
          </a:p>
        </p:txBody>
      </p:sp>
      <p:sp>
        <p:nvSpPr>
          <p:cNvPr id="111" name="Shape 108"/>
          <p:cNvSpPr/>
          <p:nvPr/>
        </p:nvSpPr>
        <p:spPr>
          <a:xfrm>
            <a:off x="411480" y="5833872"/>
            <a:ext cx="11368735" cy="530352"/>
          </a:xfrm>
          <a:prstGeom prst="rect">
            <a:avLst/>
          </a:prstGeom>
          <a:solidFill>
            <a:srgbClr val="FFF4E0"/>
          </a:solidFill>
          <a:ln w="6350">
            <a:solidFill>
              <a:srgbClr val="F1D9A8"/>
            </a:solidFill>
            <a:prstDash val="solid"/>
          </a:ln>
        </p:spPr>
      </p:sp>
      <p:sp>
        <p:nvSpPr>
          <p:cNvPr id="112" name="Shape 109"/>
          <p:cNvSpPr/>
          <p:nvPr/>
        </p:nvSpPr>
        <p:spPr>
          <a:xfrm>
            <a:off x="411480" y="5833872"/>
            <a:ext cx="82296" cy="530352"/>
          </a:xfrm>
          <a:prstGeom prst="rect">
            <a:avLst/>
          </a:prstGeom>
          <a:solidFill>
            <a:srgbClr val="E39A2F"/>
          </a:solidFill>
          <a:ln w="12700">
            <a:solidFill>
              <a:srgbClr val="E39A2F"/>
            </a:solidFill>
            <a:prstDash val="solid"/>
          </a:ln>
        </p:spPr>
      </p:sp>
      <p:sp>
        <p:nvSpPr>
          <p:cNvPr id="113" name="Text 11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Without losses, how much would the temperature of the block have risen in 600 s? (c = 900 J/kg °C)</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5</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P6.1.7 • PAG P5 specific heat capacity</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P6.1 How does energy transform matter?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5  |  19</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In the specific heat capacity practical, a joulemeter is not available. Which measurements are needed to work out the </a:t>
            </a:r>
            <a:r>
              <a:rPr lang="en-US" sz="1250" b="1" dirty="0">
                <a:solidFill>
                  <a:srgbClr val="262B3A"/>
                </a:solidFill>
                <a:latin typeface="Calibri" pitchFamily="34" charset="0"/>
                <a:ea typeface="Calibri" pitchFamily="34" charset="-122"/>
                <a:cs typeface="Calibri" pitchFamily="34" charset="-120"/>
              </a:rPr>
              <a:t>energy supplied</a:t>
            </a:r>
            <a:r>
              <a:rPr lang="en-US" sz="1250" dirty="0">
                <a:solidFill>
                  <a:srgbClr val="262B3A"/>
                </a:solidFill>
                <a:latin typeface="Calibri" pitchFamily="34" charset="0"/>
                <a:ea typeface="Calibri" pitchFamily="34" charset="-122"/>
                <a:cs typeface="Calibri" pitchFamily="34" charset="-120"/>
              </a:rPr>
              <a:t> by the heater?</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5DCEB"/>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heater of power </a:t>
            </a:r>
            <a:r>
              <a:rPr lang="en-US" sz="1250" b="1" dirty="0">
                <a:solidFill>
                  <a:srgbClr val="262B3A"/>
                </a:solidFill>
                <a:latin typeface="Calibri" pitchFamily="34" charset="0"/>
                <a:ea typeface="Calibri" pitchFamily="34" charset="-122"/>
                <a:cs typeface="Calibri" pitchFamily="34" charset="-120"/>
              </a:rPr>
              <a:t>40 W</a:t>
            </a:r>
            <a:r>
              <a:rPr lang="en-US" sz="1250" dirty="0">
                <a:solidFill>
                  <a:srgbClr val="262B3A"/>
                </a:solidFill>
                <a:latin typeface="Calibri" pitchFamily="34" charset="0"/>
                <a:ea typeface="Calibri" pitchFamily="34" charset="-122"/>
                <a:cs typeface="Calibri" pitchFamily="34" charset="-120"/>
              </a:rPr>
              <a:t> is switched on for </a:t>
            </a:r>
            <a:r>
              <a:rPr lang="en-US" sz="1250" b="1" dirty="0">
                <a:solidFill>
                  <a:srgbClr val="262B3A"/>
                </a:solidFill>
                <a:latin typeface="Calibri" pitchFamily="34" charset="0"/>
                <a:ea typeface="Calibri" pitchFamily="34" charset="-122"/>
                <a:cs typeface="Calibri" pitchFamily="34" charset="-120"/>
              </a:rPr>
              <a:t>300 s</a:t>
            </a:r>
            <a:r>
              <a:rPr lang="en-US" sz="1250" dirty="0">
                <a:solidFill>
                  <a:srgbClr val="262B3A"/>
                </a:solidFill>
                <a:latin typeface="Calibri" pitchFamily="34" charset="0"/>
                <a:ea typeface="Calibri" pitchFamily="34" charset="-122"/>
                <a:cs typeface="Calibri" pitchFamily="34" charset="-120"/>
              </a:rPr>
              <a:t>. Calculate the energy it transfers.</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5DCEB"/>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student's value for the specific heat capacity of aluminium is </a:t>
            </a:r>
            <a:r>
              <a:rPr lang="en-US" sz="1250" b="1" dirty="0">
                <a:solidFill>
                  <a:srgbClr val="262B3A"/>
                </a:solidFill>
                <a:latin typeface="Calibri" pitchFamily="34" charset="0"/>
                <a:ea typeface="Calibri" pitchFamily="34" charset="-122"/>
                <a:cs typeface="Calibri" pitchFamily="34" charset="-120"/>
              </a:rPr>
              <a:t>higher</a:t>
            </a:r>
            <a:r>
              <a:rPr lang="en-US" sz="1250" dirty="0">
                <a:solidFill>
                  <a:srgbClr val="262B3A"/>
                </a:solidFill>
                <a:latin typeface="Calibri" pitchFamily="34" charset="0"/>
                <a:ea typeface="Calibri" pitchFamily="34" charset="-122"/>
                <a:cs typeface="Calibri" pitchFamily="34" charset="-120"/>
              </a:rPr>
              <a:t> than the data-book value. Explain why.</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5DCEB"/>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Suggest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ways to make the result more accurate.</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Specific latent heat</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P6.1.6, P6.1.8 • energy to change the state of 1 kg, with no change in temperature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P6.1 How does energy transform matter?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P6.1.8  |  20</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latent heats of water drawn to scale (kJ/kg)</a:t>
            </a:r>
            <a:endParaRPr lang="en-US" sz="1000" dirty="0"/>
          </a:p>
        </p:txBody>
      </p:sp>
      <p:sp>
        <p:nvSpPr>
          <p:cNvPr id="10" name="Shape 8"/>
          <p:cNvSpPr/>
          <p:nvPr/>
        </p:nvSpPr>
        <p:spPr>
          <a:xfrm>
            <a:off x="731520" y="1371600"/>
            <a:ext cx="4937760" cy="457200"/>
          </a:xfrm>
          <a:prstGeom prst="roundRect">
            <a:avLst>
              <a:gd name="adj" fmla="val 12000"/>
            </a:avLst>
          </a:prstGeom>
          <a:solidFill>
            <a:srgbClr val="FFFFFF"/>
          </a:solidFill>
          <a:ln w="19050">
            <a:solidFill>
              <a:srgbClr val="2E8B57"/>
            </a:solidFill>
            <a:prstDash val="solid"/>
          </a:ln>
        </p:spPr>
      </p:sp>
      <p:sp>
        <p:nvSpPr>
          <p:cNvPr id="11" name="Text 9"/>
          <p:cNvSpPr/>
          <p:nvPr/>
        </p:nvSpPr>
        <p:spPr>
          <a:xfrm>
            <a:off x="822960" y="1371600"/>
            <a:ext cx="3657600" cy="457200"/>
          </a:xfrm>
          <a:prstGeom prst="rect">
            <a:avLst/>
          </a:prstGeom>
          <a:noFill/>
          <a:ln/>
        </p:spPr>
        <p:txBody>
          <a:bodyPr wrap="square" lIns="0" tIns="0" rIns="0" bIns="0" rtlCol="0" anchor="ctr"/>
          <a:lstStyle/>
          <a:p>
            <a:pPr algn="l" indent="0" marL="0">
              <a:buNone/>
            </a:pPr>
            <a:r>
              <a:rPr lang="en-US" sz="1600" b="1" dirty="0">
                <a:solidFill>
                  <a:srgbClr val="1A2340"/>
                </a:solidFill>
                <a:latin typeface="Calibri" pitchFamily="34" charset="0"/>
                <a:ea typeface="Calibri" pitchFamily="34" charset="-122"/>
                <a:cs typeface="Calibri" pitchFamily="34" charset="-120"/>
              </a:rPr>
              <a:t>E = m × L</a:t>
            </a:r>
            <a:endParaRPr lang="en-US" sz="1600" dirty="0"/>
          </a:p>
        </p:txBody>
      </p:sp>
      <p:sp>
        <p:nvSpPr>
          <p:cNvPr id="12" name="Shape 10"/>
          <p:cNvSpPr/>
          <p:nvPr/>
        </p:nvSpPr>
        <p:spPr>
          <a:xfrm>
            <a:off x="4526280" y="1463040"/>
            <a:ext cx="1005840" cy="274320"/>
          </a:xfrm>
          <a:prstGeom prst="roundRect">
            <a:avLst>
              <a:gd name="adj" fmla="val 50000"/>
            </a:avLst>
          </a:prstGeom>
          <a:solidFill>
            <a:srgbClr val="2E8B57"/>
          </a:solidFill>
          <a:ln w="12700">
            <a:solidFill>
              <a:srgbClr val="2E8B57"/>
            </a:solidFill>
            <a:prstDash val="solid"/>
          </a:ln>
        </p:spPr>
      </p:sp>
      <p:sp>
        <p:nvSpPr>
          <p:cNvPr id="13" name="Text 11"/>
          <p:cNvSpPr/>
          <p:nvPr/>
        </p:nvSpPr>
        <p:spPr>
          <a:xfrm>
            <a:off x="4526280" y="1463040"/>
            <a:ext cx="10058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GIVEN</a:t>
            </a:r>
            <a:endParaRPr lang="en-US" sz="1000" dirty="0"/>
          </a:p>
        </p:txBody>
      </p:sp>
      <p:sp>
        <p:nvSpPr>
          <p:cNvPr id="14" name="Text 12"/>
          <p:cNvSpPr/>
          <p:nvPr/>
        </p:nvSpPr>
        <p:spPr>
          <a:xfrm>
            <a:off x="731520" y="1965960"/>
            <a:ext cx="4937760" cy="25603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Energy to change the state of 1 kg of water</a:t>
            </a:r>
            <a:endParaRPr lang="en-US" sz="1100" dirty="0"/>
          </a:p>
        </p:txBody>
      </p:sp>
      <p:sp>
        <p:nvSpPr>
          <p:cNvPr id="15" name="Shape 13"/>
          <p:cNvSpPr/>
          <p:nvPr/>
        </p:nvSpPr>
        <p:spPr>
          <a:xfrm>
            <a:off x="2057400" y="2286000"/>
            <a:ext cx="432438" cy="274320"/>
          </a:xfrm>
          <a:prstGeom prst="rect">
            <a:avLst/>
          </a:prstGeom>
          <a:solidFill>
            <a:srgbClr val="7FB2D9"/>
          </a:solidFill>
          <a:ln/>
        </p:spPr>
      </p:sp>
      <p:sp>
        <p:nvSpPr>
          <p:cNvPr id="16" name="Text 14"/>
          <p:cNvSpPr/>
          <p:nvPr/>
        </p:nvSpPr>
        <p:spPr>
          <a:xfrm>
            <a:off x="731520" y="2286000"/>
            <a:ext cx="1261872" cy="274320"/>
          </a:xfrm>
          <a:prstGeom prst="rect">
            <a:avLst/>
          </a:prstGeom>
          <a:noFill/>
          <a:ln/>
        </p:spPr>
        <p:txBody>
          <a:bodyPr wrap="square" lIns="0" tIns="0" rIns="0" bIns="0" rtlCol="0" anchor="ctr"/>
          <a:lstStyle/>
          <a:p>
            <a:pPr algn="r" indent="0" marL="0">
              <a:buNone/>
            </a:pPr>
            <a:r>
              <a:rPr lang="en-US" sz="1050" b="1" dirty="0">
                <a:solidFill>
                  <a:srgbClr val="262B3A"/>
                </a:solidFill>
                <a:latin typeface="Calibri" pitchFamily="34" charset="0"/>
                <a:ea typeface="Calibri" pitchFamily="34" charset="-122"/>
                <a:cs typeface="Calibri" pitchFamily="34" charset="-120"/>
              </a:rPr>
              <a:t>fusion (melt)</a:t>
            </a:r>
            <a:endParaRPr lang="en-US" sz="1050" dirty="0"/>
          </a:p>
        </p:txBody>
      </p:sp>
      <p:sp>
        <p:nvSpPr>
          <p:cNvPr id="17" name="Text 15"/>
          <p:cNvSpPr/>
          <p:nvPr/>
        </p:nvSpPr>
        <p:spPr>
          <a:xfrm>
            <a:off x="2544702" y="2286000"/>
            <a:ext cx="1280160" cy="274320"/>
          </a:xfrm>
          <a:prstGeom prst="rect">
            <a:avLst/>
          </a:prstGeom>
          <a:noFill/>
          <a:ln/>
        </p:spPr>
        <p:txBody>
          <a:bodyPr wrap="square" lIns="0" tIns="0" rIns="0" bIns="0" rtlCol="0" anchor="ctr"/>
          <a:lstStyle/>
          <a:p>
            <a:pPr algn="l" indent="0" marL="0">
              <a:buNone/>
            </a:pPr>
            <a:r>
              <a:rPr lang="en-US" sz="1050" dirty="0">
                <a:solidFill>
                  <a:srgbClr val="1A2340"/>
                </a:solidFill>
                <a:latin typeface="Calibri" pitchFamily="34" charset="0"/>
                <a:ea typeface="Calibri" pitchFamily="34" charset="-122"/>
                <a:cs typeface="Calibri" pitchFamily="34" charset="-120"/>
              </a:rPr>
              <a:t>334 kJ/kg</a:t>
            </a:r>
            <a:endParaRPr lang="en-US" sz="1050" dirty="0"/>
          </a:p>
        </p:txBody>
      </p:sp>
      <p:sp>
        <p:nvSpPr>
          <p:cNvPr id="18" name="Shape 16"/>
          <p:cNvSpPr/>
          <p:nvPr/>
        </p:nvSpPr>
        <p:spPr>
          <a:xfrm>
            <a:off x="2057400" y="2697480"/>
            <a:ext cx="2926080" cy="274320"/>
          </a:xfrm>
          <a:prstGeom prst="rect">
            <a:avLst/>
          </a:prstGeom>
          <a:solidFill>
            <a:srgbClr val="C8414C"/>
          </a:solidFill>
          <a:ln/>
        </p:spPr>
      </p:sp>
      <p:sp>
        <p:nvSpPr>
          <p:cNvPr id="19" name="Text 17"/>
          <p:cNvSpPr/>
          <p:nvPr/>
        </p:nvSpPr>
        <p:spPr>
          <a:xfrm>
            <a:off x="731520" y="2697480"/>
            <a:ext cx="1261872" cy="274320"/>
          </a:xfrm>
          <a:prstGeom prst="rect">
            <a:avLst/>
          </a:prstGeom>
          <a:noFill/>
          <a:ln/>
        </p:spPr>
        <p:txBody>
          <a:bodyPr wrap="square" lIns="0" tIns="0" rIns="0" bIns="0" rtlCol="0" anchor="ctr"/>
          <a:lstStyle/>
          <a:p>
            <a:pPr algn="r" indent="0" marL="0">
              <a:buNone/>
            </a:pPr>
            <a:r>
              <a:rPr lang="en-US" sz="1050" b="1" dirty="0">
                <a:solidFill>
                  <a:srgbClr val="262B3A"/>
                </a:solidFill>
                <a:latin typeface="Calibri" pitchFamily="34" charset="0"/>
                <a:ea typeface="Calibri" pitchFamily="34" charset="-122"/>
                <a:cs typeface="Calibri" pitchFamily="34" charset="-120"/>
              </a:rPr>
              <a:t>vaporisation (boil)</a:t>
            </a:r>
            <a:endParaRPr lang="en-US" sz="1050" dirty="0"/>
          </a:p>
        </p:txBody>
      </p:sp>
      <p:sp>
        <p:nvSpPr>
          <p:cNvPr id="20" name="Text 18"/>
          <p:cNvSpPr/>
          <p:nvPr/>
        </p:nvSpPr>
        <p:spPr>
          <a:xfrm>
            <a:off x="5038344" y="2697480"/>
            <a:ext cx="1280160" cy="274320"/>
          </a:xfrm>
          <a:prstGeom prst="rect">
            <a:avLst/>
          </a:prstGeom>
          <a:noFill/>
          <a:ln/>
        </p:spPr>
        <p:txBody>
          <a:bodyPr wrap="square" lIns="0" tIns="0" rIns="0" bIns="0" rtlCol="0" anchor="ctr"/>
          <a:lstStyle/>
          <a:p>
            <a:pPr algn="l" indent="0" marL="0">
              <a:buNone/>
            </a:pPr>
            <a:r>
              <a:rPr lang="en-US" sz="1050" dirty="0">
                <a:solidFill>
                  <a:srgbClr val="1A2340"/>
                </a:solidFill>
                <a:latin typeface="Calibri" pitchFamily="34" charset="0"/>
                <a:ea typeface="Calibri" pitchFamily="34" charset="-122"/>
                <a:cs typeface="Calibri" pitchFamily="34" charset="-120"/>
              </a:rPr>
              <a:t>2260 kJ/kg</a:t>
            </a:r>
            <a:endParaRPr lang="en-US" sz="1050" dirty="0"/>
          </a:p>
        </p:txBody>
      </p:sp>
      <p:sp>
        <p:nvSpPr>
          <p:cNvPr id="21" name="Text 19"/>
          <p:cNvSpPr/>
          <p:nvPr/>
        </p:nvSpPr>
        <p:spPr>
          <a:xfrm>
            <a:off x="2057400" y="3017520"/>
            <a:ext cx="2926080" cy="18288"/>
          </a:xfrm>
          <a:prstGeom prst="rect">
            <a:avLst/>
          </a:prstGeom>
          <a:noFill/>
          <a:ln/>
        </p:spPr>
        <p:txBody>
          <a:bodyPr wrap="square" lIns="0" tIns="0" rIns="0" bIns="0" rtlCol="0" anchor="ctr"/>
          <a:lstStyle/>
          <a:p>
            <a:pPr algn="ctr" indent="0" marL="0">
              <a:buNone/>
            </a:pPr>
            <a:endParaRPr lang="en-US" sz="10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40080" y="3291840"/>
          <a:ext cx="5120640" cy="914400"/>
        </p:xfrm>
        <a:graphic>
          <a:graphicData uri="http://schemas.openxmlformats.org/drawingml/2006/table">
            <a:tbl>
              <a:tblPr/>
              <a:tblGrid>
                <a:gridCol w="1371600"/>
                <a:gridCol w="1874520"/>
                <a:gridCol w="1874520"/>
              </a:tblGrid>
              <a:tr h="292608">
                <a:tc>
                  <a:txBody>
                    <a:bodyPr/>
                    <a:lstStyle/>
                    <a:p>
                      <a:pPr indent="0" marL="0">
                        <a:buNone/>
                      </a:pP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Specific heat capacity, c</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Specific latent heat, L</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r>
              <a:tr h="292608">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What changes</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temperature</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state</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292608">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Temperature</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rises or falls</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constant</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Equation (given)</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ΔE = m × c × Δθ</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E = m × L</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292608">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Unit</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J/kg °C</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J/kg</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bl>
          </a:graphicData>
        </a:graphic>
      </p:graphicFrame>
      <p:sp>
        <p:nvSpPr>
          <p:cNvPr id="23" name="Shape 20"/>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24" name="Text 2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Latent heat</a:t>
            </a:r>
            <a:endParaRPr lang="en-US" sz="1300" dirty="0"/>
          </a:p>
        </p:txBody>
      </p:sp>
      <p:sp>
        <p:nvSpPr>
          <p:cNvPr id="25" name="Text 22"/>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Specific latent heat (L)</a:t>
            </a:r>
            <a:r>
              <a:rPr lang="en-US" sz="1150" dirty="0">
                <a:solidFill>
                  <a:srgbClr val="262B3A"/>
                </a:solidFill>
                <a:latin typeface="Calibri" pitchFamily="34" charset="0"/>
                <a:ea typeface="Calibri" pitchFamily="34" charset="-122"/>
                <a:cs typeface="Calibri" pitchFamily="34" charset="-120"/>
              </a:rPr>
              <a:t>: the energy needed to change the state of </a:t>
            </a:r>
            <a:r>
              <a:rPr lang="en-US" sz="1150" b="1" dirty="0">
                <a:solidFill>
                  <a:srgbClr val="262B3A"/>
                </a:solidFill>
                <a:latin typeface="Calibri" pitchFamily="34" charset="0"/>
                <a:ea typeface="Calibri" pitchFamily="34" charset="-122"/>
                <a:cs typeface="Calibri" pitchFamily="34" charset="-120"/>
              </a:rPr>
              <a:t>1 kg</a:t>
            </a:r>
            <a:r>
              <a:rPr lang="en-US" sz="1150" dirty="0">
                <a:solidFill>
                  <a:srgbClr val="262B3A"/>
                </a:solidFill>
                <a:latin typeface="Calibri" pitchFamily="34" charset="0"/>
                <a:ea typeface="Calibri" pitchFamily="34" charset="-122"/>
                <a:cs typeface="Calibri" pitchFamily="34" charset="-120"/>
              </a:rPr>
              <a:t> of a substance </a:t>
            </a:r>
            <a:r>
              <a:rPr lang="en-US" sz="1150" b="1" dirty="0">
                <a:solidFill>
                  <a:srgbClr val="262B3A"/>
                </a:solidFill>
                <a:latin typeface="Calibri" pitchFamily="34" charset="0"/>
                <a:ea typeface="Calibri" pitchFamily="34" charset="-122"/>
                <a:cs typeface="Calibri" pitchFamily="34" charset="-120"/>
              </a:rPr>
              <a:t>with no change in temperature</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E = m × L</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GIVEN</a:t>
            </a:r>
            <a:r>
              <a:rPr lang="en-US" sz="1150" dirty="0">
                <a:solidFill>
                  <a:srgbClr val="262B3A"/>
                </a:solidFill>
                <a:latin typeface="Calibri" pitchFamily="34" charset="0"/>
                <a:ea typeface="Calibri" pitchFamily="34" charset="-122"/>
                <a:cs typeface="Calibri" pitchFamily="34" charset="-120"/>
              </a:rPr>
              <a:t> on the equation sheet). Units: J, kg, J/kg.</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Fusion</a:t>
            </a:r>
            <a:r>
              <a:rPr lang="en-US" sz="1150" dirty="0">
                <a:solidFill>
                  <a:srgbClr val="262B3A"/>
                </a:solidFill>
                <a:latin typeface="Calibri" pitchFamily="34" charset="0"/>
                <a:ea typeface="Calibri" pitchFamily="34" charset="-122"/>
                <a:cs typeface="Calibri" pitchFamily="34" charset="-120"/>
              </a:rPr>
              <a:t>: solid ↔ liquid. </a:t>
            </a:r>
            <a:r>
              <a:rPr lang="en-US" sz="1150" b="1" dirty="0">
                <a:solidFill>
                  <a:srgbClr val="262B3A"/>
                </a:solidFill>
                <a:latin typeface="Calibri" pitchFamily="34" charset="0"/>
                <a:ea typeface="Calibri" pitchFamily="34" charset="-122"/>
                <a:cs typeface="Calibri" pitchFamily="34" charset="-120"/>
              </a:rPr>
              <a:t>Vaporisation</a:t>
            </a:r>
            <a:r>
              <a:rPr lang="en-US" sz="1150" dirty="0">
                <a:solidFill>
                  <a:srgbClr val="262B3A"/>
                </a:solidFill>
                <a:latin typeface="Calibri" pitchFamily="34" charset="0"/>
                <a:ea typeface="Calibri" pitchFamily="34" charset="-122"/>
                <a:cs typeface="Calibri" pitchFamily="34" charset="-120"/>
              </a:rPr>
              <a:t>: liquid ↔ gas. The same energy is released when it freezes or condenses.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L(vaporisation) is much bigger: the particles must be pulled </a:t>
            </a:r>
            <a:r>
              <a:rPr lang="en-US" sz="1150" b="1" dirty="0">
                <a:solidFill>
                  <a:srgbClr val="262B3A"/>
                </a:solidFill>
                <a:latin typeface="Calibri" pitchFamily="34" charset="0"/>
                <a:ea typeface="Calibri" pitchFamily="34" charset="-122"/>
                <a:cs typeface="Calibri" pitchFamily="34" charset="-120"/>
              </a:rPr>
              <a:t>completely apart</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26" name="Shape 23"/>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27" name="Text 24"/>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28" name="Text 25"/>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Calculate the energy needed to melt 0.25 kg of ice at 0 °C. L(fusion) = 334 000 J/kg.</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Equation   </a:t>
            </a:r>
            <a:r>
              <a:rPr lang="en-US" sz="1100" dirty="0">
                <a:solidFill>
                  <a:srgbClr val="262B3A"/>
                </a:solidFill>
                <a:latin typeface="Calibri" pitchFamily="34" charset="0"/>
                <a:ea typeface="Calibri" pitchFamily="34" charset="-122"/>
                <a:cs typeface="Calibri" pitchFamily="34" charset="-120"/>
              </a:rPr>
              <a:t>E = m × L</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Substitute   </a:t>
            </a:r>
            <a:r>
              <a:rPr lang="en-US" sz="1100" dirty="0">
                <a:solidFill>
                  <a:srgbClr val="262B3A"/>
                </a:solidFill>
                <a:latin typeface="Calibri" pitchFamily="34" charset="0"/>
                <a:ea typeface="Calibri" pitchFamily="34" charset="-122"/>
                <a:cs typeface="Calibri" pitchFamily="34" charset="-120"/>
              </a:rPr>
              <a:t>E = 0.25 × 334 000</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Check   </a:t>
            </a:r>
            <a:r>
              <a:rPr lang="en-US" sz="1100" dirty="0">
                <a:solidFill>
                  <a:srgbClr val="262B3A"/>
                </a:solidFill>
                <a:latin typeface="Calibri" pitchFamily="34" charset="0"/>
                <a:ea typeface="Calibri" pitchFamily="34" charset="-122"/>
                <a:cs typeface="Calibri" pitchFamily="34" charset="-120"/>
              </a:rPr>
              <a:t>temperature stays at 0 °C, so no Δθ</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E = 83 500 J (83.5 kJ)</a:t>
            </a:r>
            <a:endParaRPr lang="en-US" sz="1100" dirty="0"/>
          </a:p>
        </p:txBody>
      </p:sp>
      <p:sp>
        <p:nvSpPr>
          <p:cNvPr id="29" name="Shape 26"/>
          <p:cNvSpPr/>
          <p:nvPr/>
        </p:nvSpPr>
        <p:spPr>
          <a:xfrm>
            <a:off x="411480" y="5833872"/>
            <a:ext cx="11368735" cy="530352"/>
          </a:xfrm>
          <a:prstGeom prst="rect">
            <a:avLst/>
          </a:prstGeom>
          <a:solidFill>
            <a:srgbClr val="FFF4E0"/>
          </a:solidFill>
          <a:ln w="6350">
            <a:solidFill>
              <a:srgbClr val="F1D9A8"/>
            </a:solidFill>
            <a:prstDash val="solid"/>
          </a:ln>
        </p:spPr>
      </p:sp>
      <p:sp>
        <p:nvSpPr>
          <p:cNvPr id="30" name="Shape 27"/>
          <p:cNvSpPr/>
          <p:nvPr/>
        </p:nvSpPr>
        <p:spPr>
          <a:xfrm>
            <a:off x="411480" y="5833872"/>
            <a:ext cx="82296" cy="530352"/>
          </a:xfrm>
          <a:prstGeom prst="rect">
            <a:avLst/>
          </a:prstGeom>
          <a:solidFill>
            <a:srgbClr val="E39A2F"/>
          </a:solidFill>
          <a:ln w="12700">
            <a:solidFill>
              <a:srgbClr val="E39A2F"/>
            </a:solidFill>
            <a:prstDash val="solid"/>
          </a:ln>
        </p:spPr>
      </p:sp>
      <p:sp>
        <p:nvSpPr>
          <p:cNvPr id="31" name="Text 2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Calculate the energy needed to boil away 0.40 kg of water at 100 °C. L(vaporisation) = 2 260 000 J/kg.</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Heating curves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P6.1.5, P6.1.8 • flat sections (plateaus) show a change of state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P6.1 How does energy transform matter?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P6.1.8  |  21</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to scale: 0.20 kg of ice at −30 °C, 1000 W heater, no energy losses</a:t>
            </a:r>
            <a:endParaRPr lang="en-US" sz="1000" dirty="0"/>
          </a:p>
        </p:txBody>
      </p:sp>
      <p:sp>
        <p:nvSpPr>
          <p:cNvPr id="10" name="Shape 8"/>
          <p:cNvSpPr/>
          <p:nvPr/>
        </p:nvSpPr>
        <p:spPr>
          <a:xfrm>
            <a:off x="1325880" y="1417320"/>
            <a:ext cx="4389120" cy="3291840"/>
          </a:xfrm>
          <a:prstGeom prst="rect">
            <a:avLst/>
          </a:prstGeom>
          <a:solidFill>
            <a:srgbClr val="FFFFFF"/>
          </a:solidFill>
          <a:ln/>
        </p:spPr>
      </p:sp>
      <p:sp>
        <p:nvSpPr>
          <p:cNvPr id="11" name="Shape 9"/>
          <p:cNvSpPr/>
          <p:nvPr/>
        </p:nvSpPr>
        <p:spPr>
          <a:xfrm>
            <a:off x="1325880" y="1417320"/>
            <a:ext cx="91" cy="3291840"/>
          </a:xfrm>
          <a:prstGeom prst="line">
            <a:avLst/>
          </a:prstGeom>
          <a:noFill/>
          <a:ln w="6350">
            <a:solidFill>
              <a:srgbClr val="C9D3E6"/>
            </a:solidFill>
            <a:prstDash val="solid"/>
          </a:ln>
        </p:spPr>
      </p:sp>
      <p:sp>
        <p:nvSpPr>
          <p:cNvPr id="12" name="Shape 10"/>
          <p:cNvSpPr/>
          <p:nvPr/>
        </p:nvSpPr>
        <p:spPr>
          <a:xfrm>
            <a:off x="1639389" y="1417320"/>
            <a:ext cx="91" cy="3291840"/>
          </a:xfrm>
          <a:prstGeom prst="line">
            <a:avLst/>
          </a:prstGeom>
          <a:noFill/>
          <a:ln w="6350">
            <a:solidFill>
              <a:srgbClr val="E6EBF4"/>
            </a:solidFill>
            <a:prstDash val="solid"/>
          </a:ln>
        </p:spPr>
      </p:sp>
      <p:sp>
        <p:nvSpPr>
          <p:cNvPr id="13" name="Shape 11"/>
          <p:cNvSpPr/>
          <p:nvPr/>
        </p:nvSpPr>
        <p:spPr>
          <a:xfrm>
            <a:off x="1952897" y="1417320"/>
            <a:ext cx="91" cy="3291840"/>
          </a:xfrm>
          <a:prstGeom prst="line">
            <a:avLst/>
          </a:prstGeom>
          <a:noFill/>
          <a:ln w="6350">
            <a:solidFill>
              <a:srgbClr val="C9D3E6"/>
            </a:solidFill>
            <a:prstDash val="solid"/>
          </a:ln>
        </p:spPr>
      </p:sp>
      <p:sp>
        <p:nvSpPr>
          <p:cNvPr id="14" name="Shape 12"/>
          <p:cNvSpPr/>
          <p:nvPr/>
        </p:nvSpPr>
        <p:spPr>
          <a:xfrm>
            <a:off x="2266406" y="1417320"/>
            <a:ext cx="91" cy="3291840"/>
          </a:xfrm>
          <a:prstGeom prst="line">
            <a:avLst/>
          </a:prstGeom>
          <a:noFill/>
          <a:ln w="6350">
            <a:solidFill>
              <a:srgbClr val="E6EBF4"/>
            </a:solidFill>
            <a:prstDash val="solid"/>
          </a:ln>
        </p:spPr>
      </p:sp>
      <p:sp>
        <p:nvSpPr>
          <p:cNvPr id="15" name="Shape 13"/>
          <p:cNvSpPr/>
          <p:nvPr/>
        </p:nvSpPr>
        <p:spPr>
          <a:xfrm>
            <a:off x="2579914" y="1417320"/>
            <a:ext cx="91" cy="3291840"/>
          </a:xfrm>
          <a:prstGeom prst="line">
            <a:avLst/>
          </a:prstGeom>
          <a:noFill/>
          <a:ln w="6350">
            <a:solidFill>
              <a:srgbClr val="C9D3E6"/>
            </a:solidFill>
            <a:prstDash val="solid"/>
          </a:ln>
        </p:spPr>
      </p:sp>
      <p:sp>
        <p:nvSpPr>
          <p:cNvPr id="16" name="Shape 14"/>
          <p:cNvSpPr/>
          <p:nvPr/>
        </p:nvSpPr>
        <p:spPr>
          <a:xfrm>
            <a:off x="2893423" y="1417320"/>
            <a:ext cx="91" cy="3291840"/>
          </a:xfrm>
          <a:prstGeom prst="line">
            <a:avLst/>
          </a:prstGeom>
          <a:noFill/>
          <a:ln w="6350">
            <a:solidFill>
              <a:srgbClr val="E6EBF4"/>
            </a:solidFill>
            <a:prstDash val="solid"/>
          </a:ln>
        </p:spPr>
      </p:sp>
      <p:sp>
        <p:nvSpPr>
          <p:cNvPr id="17" name="Shape 15"/>
          <p:cNvSpPr/>
          <p:nvPr/>
        </p:nvSpPr>
        <p:spPr>
          <a:xfrm>
            <a:off x="3206931" y="1417320"/>
            <a:ext cx="91" cy="3291840"/>
          </a:xfrm>
          <a:prstGeom prst="line">
            <a:avLst/>
          </a:prstGeom>
          <a:noFill/>
          <a:ln w="6350">
            <a:solidFill>
              <a:srgbClr val="C9D3E6"/>
            </a:solidFill>
            <a:prstDash val="solid"/>
          </a:ln>
        </p:spPr>
      </p:sp>
      <p:sp>
        <p:nvSpPr>
          <p:cNvPr id="18" name="Shape 16"/>
          <p:cNvSpPr/>
          <p:nvPr/>
        </p:nvSpPr>
        <p:spPr>
          <a:xfrm>
            <a:off x="3520440" y="1417320"/>
            <a:ext cx="91" cy="3291840"/>
          </a:xfrm>
          <a:prstGeom prst="line">
            <a:avLst/>
          </a:prstGeom>
          <a:noFill/>
          <a:ln w="6350">
            <a:solidFill>
              <a:srgbClr val="E6EBF4"/>
            </a:solidFill>
            <a:prstDash val="solid"/>
          </a:ln>
        </p:spPr>
      </p:sp>
      <p:sp>
        <p:nvSpPr>
          <p:cNvPr id="19" name="Shape 17"/>
          <p:cNvSpPr/>
          <p:nvPr/>
        </p:nvSpPr>
        <p:spPr>
          <a:xfrm>
            <a:off x="3833949" y="1417320"/>
            <a:ext cx="91" cy="3291840"/>
          </a:xfrm>
          <a:prstGeom prst="line">
            <a:avLst/>
          </a:prstGeom>
          <a:noFill/>
          <a:ln w="6350">
            <a:solidFill>
              <a:srgbClr val="C9D3E6"/>
            </a:solidFill>
            <a:prstDash val="solid"/>
          </a:ln>
        </p:spPr>
      </p:sp>
      <p:sp>
        <p:nvSpPr>
          <p:cNvPr id="20" name="Shape 18"/>
          <p:cNvSpPr/>
          <p:nvPr/>
        </p:nvSpPr>
        <p:spPr>
          <a:xfrm>
            <a:off x="4147457" y="1417320"/>
            <a:ext cx="91" cy="3291840"/>
          </a:xfrm>
          <a:prstGeom prst="line">
            <a:avLst/>
          </a:prstGeom>
          <a:noFill/>
          <a:ln w="6350">
            <a:solidFill>
              <a:srgbClr val="E6EBF4"/>
            </a:solidFill>
            <a:prstDash val="solid"/>
          </a:ln>
        </p:spPr>
      </p:sp>
      <p:sp>
        <p:nvSpPr>
          <p:cNvPr id="21" name="Shape 19"/>
          <p:cNvSpPr/>
          <p:nvPr/>
        </p:nvSpPr>
        <p:spPr>
          <a:xfrm>
            <a:off x="4460966" y="1417320"/>
            <a:ext cx="91" cy="3291840"/>
          </a:xfrm>
          <a:prstGeom prst="line">
            <a:avLst/>
          </a:prstGeom>
          <a:noFill/>
          <a:ln w="6350">
            <a:solidFill>
              <a:srgbClr val="C9D3E6"/>
            </a:solidFill>
            <a:prstDash val="solid"/>
          </a:ln>
        </p:spPr>
      </p:sp>
      <p:sp>
        <p:nvSpPr>
          <p:cNvPr id="22" name="Shape 20"/>
          <p:cNvSpPr/>
          <p:nvPr/>
        </p:nvSpPr>
        <p:spPr>
          <a:xfrm>
            <a:off x="4774474" y="1417320"/>
            <a:ext cx="91" cy="3291840"/>
          </a:xfrm>
          <a:prstGeom prst="line">
            <a:avLst/>
          </a:prstGeom>
          <a:noFill/>
          <a:ln w="6350">
            <a:solidFill>
              <a:srgbClr val="E6EBF4"/>
            </a:solidFill>
            <a:prstDash val="solid"/>
          </a:ln>
        </p:spPr>
      </p:sp>
      <p:sp>
        <p:nvSpPr>
          <p:cNvPr id="23" name="Shape 21"/>
          <p:cNvSpPr/>
          <p:nvPr/>
        </p:nvSpPr>
        <p:spPr>
          <a:xfrm>
            <a:off x="5087983" y="1417320"/>
            <a:ext cx="91" cy="3291840"/>
          </a:xfrm>
          <a:prstGeom prst="line">
            <a:avLst/>
          </a:prstGeom>
          <a:noFill/>
          <a:ln w="6350">
            <a:solidFill>
              <a:srgbClr val="C9D3E6"/>
            </a:solidFill>
            <a:prstDash val="solid"/>
          </a:ln>
        </p:spPr>
      </p:sp>
      <p:sp>
        <p:nvSpPr>
          <p:cNvPr id="24" name="Shape 22"/>
          <p:cNvSpPr/>
          <p:nvPr/>
        </p:nvSpPr>
        <p:spPr>
          <a:xfrm>
            <a:off x="5401491" y="1417320"/>
            <a:ext cx="91" cy="3291840"/>
          </a:xfrm>
          <a:prstGeom prst="line">
            <a:avLst/>
          </a:prstGeom>
          <a:noFill/>
          <a:ln w="6350">
            <a:solidFill>
              <a:srgbClr val="E6EBF4"/>
            </a:solidFill>
            <a:prstDash val="solid"/>
          </a:ln>
        </p:spPr>
      </p:sp>
      <p:sp>
        <p:nvSpPr>
          <p:cNvPr id="25" name="Shape 23"/>
          <p:cNvSpPr/>
          <p:nvPr/>
        </p:nvSpPr>
        <p:spPr>
          <a:xfrm>
            <a:off x="5715000" y="1417320"/>
            <a:ext cx="91" cy="3291840"/>
          </a:xfrm>
          <a:prstGeom prst="line">
            <a:avLst/>
          </a:prstGeom>
          <a:noFill/>
          <a:ln w="6350">
            <a:solidFill>
              <a:srgbClr val="C9D3E6"/>
            </a:solidFill>
            <a:prstDash val="solid"/>
          </a:ln>
        </p:spPr>
      </p:sp>
      <p:sp>
        <p:nvSpPr>
          <p:cNvPr id="26" name="Shape 24"/>
          <p:cNvSpPr/>
          <p:nvPr/>
        </p:nvSpPr>
        <p:spPr>
          <a:xfrm>
            <a:off x="1325880" y="4709160"/>
            <a:ext cx="4389120" cy="91"/>
          </a:xfrm>
          <a:prstGeom prst="line">
            <a:avLst/>
          </a:prstGeom>
          <a:noFill/>
          <a:ln w="6350">
            <a:solidFill>
              <a:srgbClr val="C9D3E6"/>
            </a:solidFill>
            <a:prstDash val="solid"/>
          </a:ln>
        </p:spPr>
      </p:sp>
      <p:sp>
        <p:nvSpPr>
          <p:cNvPr id="27" name="Shape 25"/>
          <p:cNvSpPr/>
          <p:nvPr/>
        </p:nvSpPr>
        <p:spPr>
          <a:xfrm>
            <a:off x="1325880" y="4526280"/>
            <a:ext cx="4389120" cy="91"/>
          </a:xfrm>
          <a:prstGeom prst="line">
            <a:avLst/>
          </a:prstGeom>
          <a:noFill/>
          <a:ln w="6350">
            <a:solidFill>
              <a:srgbClr val="E6EBF4"/>
            </a:solidFill>
            <a:prstDash val="solid"/>
          </a:ln>
        </p:spPr>
      </p:sp>
      <p:sp>
        <p:nvSpPr>
          <p:cNvPr id="28" name="Shape 26"/>
          <p:cNvSpPr/>
          <p:nvPr/>
        </p:nvSpPr>
        <p:spPr>
          <a:xfrm>
            <a:off x="1325880" y="4343400"/>
            <a:ext cx="4389120" cy="91"/>
          </a:xfrm>
          <a:prstGeom prst="line">
            <a:avLst/>
          </a:prstGeom>
          <a:noFill/>
          <a:ln w="6350">
            <a:solidFill>
              <a:srgbClr val="C9D3E6"/>
            </a:solidFill>
            <a:prstDash val="solid"/>
          </a:ln>
        </p:spPr>
      </p:sp>
      <p:sp>
        <p:nvSpPr>
          <p:cNvPr id="29" name="Shape 27"/>
          <p:cNvSpPr/>
          <p:nvPr/>
        </p:nvSpPr>
        <p:spPr>
          <a:xfrm>
            <a:off x="1325880" y="4160520"/>
            <a:ext cx="4389120" cy="91"/>
          </a:xfrm>
          <a:prstGeom prst="line">
            <a:avLst/>
          </a:prstGeom>
          <a:noFill/>
          <a:ln w="6350">
            <a:solidFill>
              <a:srgbClr val="E6EBF4"/>
            </a:solidFill>
            <a:prstDash val="solid"/>
          </a:ln>
        </p:spPr>
      </p:sp>
      <p:sp>
        <p:nvSpPr>
          <p:cNvPr id="30" name="Shape 28"/>
          <p:cNvSpPr/>
          <p:nvPr/>
        </p:nvSpPr>
        <p:spPr>
          <a:xfrm>
            <a:off x="1325880" y="3977640"/>
            <a:ext cx="4389120" cy="91"/>
          </a:xfrm>
          <a:prstGeom prst="line">
            <a:avLst/>
          </a:prstGeom>
          <a:noFill/>
          <a:ln w="6350">
            <a:solidFill>
              <a:srgbClr val="C9D3E6"/>
            </a:solidFill>
            <a:prstDash val="solid"/>
          </a:ln>
        </p:spPr>
      </p:sp>
      <p:sp>
        <p:nvSpPr>
          <p:cNvPr id="31" name="Shape 29"/>
          <p:cNvSpPr/>
          <p:nvPr/>
        </p:nvSpPr>
        <p:spPr>
          <a:xfrm>
            <a:off x="1325880" y="3794760"/>
            <a:ext cx="4389120" cy="91"/>
          </a:xfrm>
          <a:prstGeom prst="line">
            <a:avLst/>
          </a:prstGeom>
          <a:noFill/>
          <a:ln w="6350">
            <a:solidFill>
              <a:srgbClr val="E6EBF4"/>
            </a:solidFill>
            <a:prstDash val="solid"/>
          </a:ln>
        </p:spPr>
      </p:sp>
      <p:sp>
        <p:nvSpPr>
          <p:cNvPr id="32" name="Shape 30"/>
          <p:cNvSpPr/>
          <p:nvPr/>
        </p:nvSpPr>
        <p:spPr>
          <a:xfrm>
            <a:off x="1325880" y="3611880"/>
            <a:ext cx="4389120" cy="91"/>
          </a:xfrm>
          <a:prstGeom prst="line">
            <a:avLst/>
          </a:prstGeom>
          <a:noFill/>
          <a:ln w="6350">
            <a:solidFill>
              <a:srgbClr val="C9D3E6"/>
            </a:solidFill>
            <a:prstDash val="solid"/>
          </a:ln>
        </p:spPr>
      </p:sp>
      <p:sp>
        <p:nvSpPr>
          <p:cNvPr id="33" name="Shape 31"/>
          <p:cNvSpPr/>
          <p:nvPr/>
        </p:nvSpPr>
        <p:spPr>
          <a:xfrm>
            <a:off x="1325880" y="3429000"/>
            <a:ext cx="4389120" cy="91"/>
          </a:xfrm>
          <a:prstGeom prst="line">
            <a:avLst/>
          </a:prstGeom>
          <a:noFill/>
          <a:ln w="6350">
            <a:solidFill>
              <a:srgbClr val="E6EBF4"/>
            </a:solidFill>
            <a:prstDash val="solid"/>
          </a:ln>
        </p:spPr>
      </p:sp>
      <p:sp>
        <p:nvSpPr>
          <p:cNvPr id="34" name="Shape 32"/>
          <p:cNvSpPr/>
          <p:nvPr/>
        </p:nvSpPr>
        <p:spPr>
          <a:xfrm>
            <a:off x="1325880" y="3246120"/>
            <a:ext cx="4389120" cy="91"/>
          </a:xfrm>
          <a:prstGeom prst="line">
            <a:avLst/>
          </a:prstGeom>
          <a:noFill/>
          <a:ln w="6350">
            <a:solidFill>
              <a:srgbClr val="C9D3E6"/>
            </a:solidFill>
            <a:prstDash val="solid"/>
          </a:ln>
        </p:spPr>
      </p:sp>
      <p:sp>
        <p:nvSpPr>
          <p:cNvPr id="35" name="Shape 33"/>
          <p:cNvSpPr/>
          <p:nvPr/>
        </p:nvSpPr>
        <p:spPr>
          <a:xfrm>
            <a:off x="1325880" y="3063240"/>
            <a:ext cx="4389120" cy="91"/>
          </a:xfrm>
          <a:prstGeom prst="line">
            <a:avLst/>
          </a:prstGeom>
          <a:noFill/>
          <a:ln w="6350">
            <a:solidFill>
              <a:srgbClr val="E6EBF4"/>
            </a:solidFill>
            <a:prstDash val="solid"/>
          </a:ln>
        </p:spPr>
      </p:sp>
      <p:sp>
        <p:nvSpPr>
          <p:cNvPr id="36" name="Shape 34"/>
          <p:cNvSpPr/>
          <p:nvPr/>
        </p:nvSpPr>
        <p:spPr>
          <a:xfrm>
            <a:off x="1325880" y="2880360"/>
            <a:ext cx="4389120" cy="91"/>
          </a:xfrm>
          <a:prstGeom prst="line">
            <a:avLst/>
          </a:prstGeom>
          <a:noFill/>
          <a:ln w="6350">
            <a:solidFill>
              <a:srgbClr val="C9D3E6"/>
            </a:solidFill>
            <a:prstDash val="solid"/>
          </a:ln>
        </p:spPr>
      </p:sp>
      <p:sp>
        <p:nvSpPr>
          <p:cNvPr id="37" name="Shape 35"/>
          <p:cNvSpPr/>
          <p:nvPr/>
        </p:nvSpPr>
        <p:spPr>
          <a:xfrm>
            <a:off x="1325880" y="2697480"/>
            <a:ext cx="4389120" cy="91"/>
          </a:xfrm>
          <a:prstGeom prst="line">
            <a:avLst/>
          </a:prstGeom>
          <a:noFill/>
          <a:ln w="6350">
            <a:solidFill>
              <a:srgbClr val="E6EBF4"/>
            </a:solidFill>
            <a:prstDash val="solid"/>
          </a:ln>
        </p:spPr>
      </p:sp>
      <p:sp>
        <p:nvSpPr>
          <p:cNvPr id="38" name="Shape 36"/>
          <p:cNvSpPr/>
          <p:nvPr/>
        </p:nvSpPr>
        <p:spPr>
          <a:xfrm>
            <a:off x="1325880" y="2514600"/>
            <a:ext cx="4389120" cy="91"/>
          </a:xfrm>
          <a:prstGeom prst="line">
            <a:avLst/>
          </a:prstGeom>
          <a:noFill/>
          <a:ln w="6350">
            <a:solidFill>
              <a:srgbClr val="C9D3E6"/>
            </a:solidFill>
            <a:prstDash val="solid"/>
          </a:ln>
        </p:spPr>
      </p:sp>
      <p:sp>
        <p:nvSpPr>
          <p:cNvPr id="39" name="Shape 37"/>
          <p:cNvSpPr/>
          <p:nvPr/>
        </p:nvSpPr>
        <p:spPr>
          <a:xfrm>
            <a:off x="1325880" y="2331720"/>
            <a:ext cx="4389120" cy="91"/>
          </a:xfrm>
          <a:prstGeom prst="line">
            <a:avLst/>
          </a:prstGeom>
          <a:noFill/>
          <a:ln w="6350">
            <a:solidFill>
              <a:srgbClr val="E6EBF4"/>
            </a:solidFill>
            <a:prstDash val="solid"/>
          </a:ln>
        </p:spPr>
      </p:sp>
      <p:sp>
        <p:nvSpPr>
          <p:cNvPr id="40" name="Shape 38"/>
          <p:cNvSpPr/>
          <p:nvPr/>
        </p:nvSpPr>
        <p:spPr>
          <a:xfrm>
            <a:off x="1325880" y="2148840"/>
            <a:ext cx="4389120" cy="91"/>
          </a:xfrm>
          <a:prstGeom prst="line">
            <a:avLst/>
          </a:prstGeom>
          <a:noFill/>
          <a:ln w="6350">
            <a:solidFill>
              <a:srgbClr val="C9D3E6"/>
            </a:solidFill>
            <a:prstDash val="solid"/>
          </a:ln>
        </p:spPr>
      </p:sp>
      <p:sp>
        <p:nvSpPr>
          <p:cNvPr id="41" name="Shape 39"/>
          <p:cNvSpPr/>
          <p:nvPr/>
        </p:nvSpPr>
        <p:spPr>
          <a:xfrm>
            <a:off x="1325880" y="1965960"/>
            <a:ext cx="4389120" cy="91"/>
          </a:xfrm>
          <a:prstGeom prst="line">
            <a:avLst/>
          </a:prstGeom>
          <a:noFill/>
          <a:ln w="6350">
            <a:solidFill>
              <a:srgbClr val="E6EBF4"/>
            </a:solidFill>
            <a:prstDash val="solid"/>
          </a:ln>
        </p:spPr>
      </p:sp>
      <p:sp>
        <p:nvSpPr>
          <p:cNvPr id="42" name="Shape 40"/>
          <p:cNvSpPr/>
          <p:nvPr/>
        </p:nvSpPr>
        <p:spPr>
          <a:xfrm>
            <a:off x="1325880" y="1783080"/>
            <a:ext cx="4389120" cy="91"/>
          </a:xfrm>
          <a:prstGeom prst="line">
            <a:avLst/>
          </a:prstGeom>
          <a:noFill/>
          <a:ln w="6350">
            <a:solidFill>
              <a:srgbClr val="C9D3E6"/>
            </a:solidFill>
            <a:prstDash val="solid"/>
          </a:ln>
        </p:spPr>
      </p:sp>
      <p:sp>
        <p:nvSpPr>
          <p:cNvPr id="43" name="Shape 41"/>
          <p:cNvSpPr/>
          <p:nvPr/>
        </p:nvSpPr>
        <p:spPr>
          <a:xfrm>
            <a:off x="1325880" y="1600200"/>
            <a:ext cx="4389120" cy="91"/>
          </a:xfrm>
          <a:prstGeom prst="line">
            <a:avLst/>
          </a:prstGeom>
          <a:noFill/>
          <a:ln w="6350">
            <a:solidFill>
              <a:srgbClr val="E6EBF4"/>
            </a:solidFill>
            <a:prstDash val="solid"/>
          </a:ln>
        </p:spPr>
      </p:sp>
      <p:sp>
        <p:nvSpPr>
          <p:cNvPr id="44" name="Shape 42"/>
          <p:cNvSpPr/>
          <p:nvPr/>
        </p:nvSpPr>
        <p:spPr>
          <a:xfrm>
            <a:off x="1325880" y="1417320"/>
            <a:ext cx="4389120" cy="91"/>
          </a:xfrm>
          <a:prstGeom prst="line">
            <a:avLst/>
          </a:prstGeom>
          <a:noFill/>
          <a:ln w="6350">
            <a:solidFill>
              <a:srgbClr val="C9D3E6"/>
            </a:solidFill>
            <a:prstDash val="solid"/>
          </a:ln>
        </p:spPr>
      </p:sp>
      <p:sp>
        <p:nvSpPr>
          <p:cNvPr id="45" name="Shape 43"/>
          <p:cNvSpPr/>
          <p:nvPr/>
        </p:nvSpPr>
        <p:spPr>
          <a:xfrm>
            <a:off x="1325880" y="4709160"/>
            <a:ext cx="4389120" cy="91"/>
          </a:xfrm>
          <a:prstGeom prst="line">
            <a:avLst/>
          </a:prstGeom>
          <a:noFill/>
          <a:ln w="19050">
            <a:solidFill>
              <a:srgbClr val="1A2340"/>
            </a:solidFill>
            <a:prstDash val="solid"/>
          </a:ln>
        </p:spPr>
      </p:sp>
      <p:sp>
        <p:nvSpPr>
          <p:cNvPr id="46" name="Shape 44"/>
          <p:cNvSpPr/>
          <p:nvPr/>
        </p:nvSpPr>
        <p:spPr>
          <a:xfrm flipV="1">
            <a:off x="1325880" y="1417320"/>
            <a:ext cx="91" cy="3291840"/>
          </a:xfrm>
          <a:prstGeom prst="line">
            <a:avLst/>
          </a:prstGeom>
          <a:noFill/>
          <a:ln w="19050">
            <a:solidFill>
              <a:srgbClr val="1A2340"/>
            </a:solidFill>
            <a:prstDash val="solid"/>
          </a:ln>
        </p:spPr>
      </p:sp>
      <p:sp>
        <p:nvSpPr>
          <p:cNvPr id="47" name="Shape 45"/>
          <p:cNvSpPr/>
          <p:nvPr/>
        </p:nvSpPr>
        <p:spPr>
          <a:xfrm>
            <a:off x="1325880" y="4709160"/>
            <a:ext cx="91" cy="54864"/>
          </a:xfrm>
          <a:prstGeom prst="line">
            <a:avLst/>
          </a:prstGeom>
          <a:noFill/>
          <a:ln w="12700">
            <a:solidFill>
              <a:srgbClr val="1A2340"/>
            </a:solidFill>
            <a:prstDash val="solid"/>
          </a:ln>
        </p:spPr>
      </p:sp>
      <p:sp>
        <p:nvSpPr>
          <p:cNvPr id="48" name="Text 46"/>
          <p:cNvSpPr/>
          <p:nvPr/>
        </p:nvSpPr>
        <p:spPr>
          <a:xfrm>
            <a:off x="105156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49" name="Shape 47"/>
          <p:cNvSpPr/>
          <p:nvPr/>
        </p:nvSpPr>
        <p:spPr>
          <a:xfrm>
            <a:off x="1952897" y="4709160"/>
            <a:ext cx="91" cy="54864"/>
          </a:xfrm>
          <a:prstGeom prst="line">
            <a:avLst/>
          </a:prstGeom>
          <a:noFill/>
          <a:ln w="12700">
            <a:solidFill>
              <a:srgbClr val="1A2340"/>
            </a:solidFill>
            <a:prstDash val="solid"/>
          </a:ln>
        </p:spPr>
      </p:sp>
      <p:sp>
        <p:nvSpPr>
          <p:cNvPr id="50" name="Text 48"/>
          <p:cNvSpPr/>
          <p:nvPr/>
        </p:nvSpPr>
        <p:spPr>
          <a:xfrm>
            <a:off x="1678577"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51" name="Shape 49"/>
          <p:cNvSpPr/>
          <p:nvPr/>
        </p:nvSpPr>
        <p:spPr>
          <a:xfrm>
            <a:off x="2579914" y="4709160"/>
            <a:ext cx="91" cy="54864"/>
          </a:xfrm>
          <a:prstGeom prst="line">
            <a:avLst/>
          </a:prstGeom>
          <a:noFill/>
          <a:ln w="12700">
            <a:solidFill>
              <a:srgbClr val="1A2340"/>
            </a:solidFill>
            <a:prstDash val="solid"/>
          </a:ln>
        </p:spPr>
      </p:sp>
      <p:sp>
        <p:nvSpPr>
          <p:cNvPr id="52" name="Text 50"/>
          <p:cNvSpPr/>
          <p:nvPr/>
        </p:nvSpPr>
        <p:spPr>
          <a:xfrm>
            <a:off x="2305594"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200</a:t>
            </a:r>
            <a:endParaRPr lang="en-US" sz="1000" dirty="0"/>
          </a:p>
        </p:txBody>
      </p:sp>
      <p:sp>
        <p:nvSpPr>
          <p:cNvPr id="53" name="Shape 51"/>
          <p:cNvSpPr/>
          <p:nvPr/>
        </p:nvSpPr>
        <p:spPr>
          <a:xfrm>
            <a:off x="3206931" y="4709160"/>
            <a:ext cx="91" cy="54864"/>
          </a:xfrm>
          <a:prstGeom prst="line">
            <a:avLst/>
          </a:prstGeom>
          <a:noFill/>
          <a:ln w="12700">
            <a:solidFill>
              <a:srgbClr val="1A2340"/>
            </a:solidFill>
            <a:prstDash val="solid"/>
          </a:ln>
        </p:spPr>
      </p:sp>
      <p:sp>
        <p:nvSpPr>
          <p:cNvPr id="54" name="Text 52"/>
          <p:cNvSpPr/>
          <p:nvPr/>
        </p:nvSpPr>
        <p:spPr>
          <a:xfrm>
            <a:off x="2932611"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300</a:t>
            </a:r>
            <a:endParaRPr lang="en-US" sz="1000" dirty="0"/>
          </a:p>
        </p:txBody>
      </p:sp>
      <p:sp>
        <p:nvSpPr>
          <p:cNvPr id="55" name="Shape 53"/>
          <p:cNvSpPr/>
          <p:nvPr/>
        </p:nvSpPr>
        <p:spPr>
          <a:xfrm>
            <a:off x="3833949" y="4709160"/>
            <a:ext cx="91" cy="54864"/>
          </a:xfrm>
          <a:prstGeom prst="line">
            <a:avLst/>
          </a:prstGeom>
          <a:noFill/>
          <a:ln w="12700">
            <a:solidFill>
              <a:srgbClr val="1A2340"/>
            </a:solidFill>
            <a:prstDash val="solid"/>
          </a:ln>
        </p:spPr>
      </p:sp>
      <p:sp>
        <p:nvSpPr>
          <p:cNvPr id="56" name="Text 54"/>
          <p:cNvSpPr/>
          <p:nvPr/>
        </p:nvSpPr>
        <p:spPr>
          <a:xfrm>
            <a:off x="3559629"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400</a:t>
            </a:r>
            <a:endParaRPr lang="en-US" sz="1000" dirty="0"/>
          </a:p>
        </p:txBody>
      </p:sp>
      <p:sp>
        <p:nvSpPr>
          <p:cNvPr id="57" name="Shape 55"/>
          <p:cNvSpPr/>
          <p:nvPr/>
        </p:nvSpPr>
        <p:spPr>
          <a:xfrm>
            <a:off x="4460966" y="4709160"/>
            <a:ext cx="91" cy="54864"/>
          </a:xfrm>
          <a:prstGeom prst="line">
            <a:avLst/>
          </a:prstGeom>
          <a:noFill/>
          <a:ln w="12700">
            <a:solidFill>
              <a:srgbClr val="1A2340"/>
            </a:solidFill>
            <a:prstDash val="solid"/>
          </a:ln>
        </p:spPr>
      </p:sp>
      <p:sp>
        <p:nvSpPr>
          <p:cNvPr id="58" name="Text 56"/>
          <p:cNvSpPr/>
          <p:nvPr/>
        </p:nvSpPr>
        <p:spPr>
          <a:xfrm>
            <a:off x="4186646"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500</a:t>
            </a:r>
            <a:endParaRPr lang="en-US" sz="1000" dirty="0"/>
          </a:p>
        </p:txBody>
      </p:sp>
      <p:sp>
        <p:nvSpPr>
          <p:cNvPr id="59" name="Shape 57"/>
          <p:cNvSpPr/>
          <p:nvPr/>
        </p:nvSpPr>
        <p:spPr>
          <a:xfrm>
            <a:off x="5087983" y="4709160"/>
            <a:ext cx="91" cy="54864"/>
          </a:xfrm>
          <a:prstGeom prst="line">
            <a:avLst/>
          </a:prstGeom>
          <a:noFill/>
          <a:ln w="12700">
            <a:solidFill>
              <a:srgbClr val="1A2340"/>
            </a:solidFill>
            <a:prstDash val="solid"/>
          </a:ln>
        </p:spPr>
      </p:sp>
      <p:sp>
        <p:nvSpPr>
          <p:cNvPr id="60" name="Text 58"/>
          <p:cNvSpPr/>
          <p:nvPr/>
        </p:nvSpPr>
        <p:spPr>
          <a:xfrm>
            <a:off x="4813663"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600</a:t>
            </a:r>
            <a:endParaRPr lang="en-US" sz="1000" dirty="0"/>
          </a:p>
        </p:txBody>
      </p:sp>
      <p:sp>
        <p:nvSpPr>
          <p:cNvPr id="61" name="Shape 59"/>
          <p:cNvSpPr/>
          <p:nvPr/>
        </p:nvSpPr>
        <p:spPr>
          <a:xfrm>
            <a:off x="5715000" y="4709160"/>
            <a:ext cx="91" cy="54864"/>
          </a:xfrm>
          <a:prstGeom prst="line">
            <a:avLst/>
          </a:prstGeom>
          <a:noFill/>
          <a:ln w="12700">
            <a:solidFill>
              <a:srgbClr val="1A2340"/>
            </a:solidFill>
            <a:prstDash val="solid"/>
          </a:ln>
        </p:spPr>
      </p:sp>
      <p:sp>
        <p:nvSpPr>
          <p:cNvPr id="62" name="Text 60"/>
          <p:cNvSpPr/>
          <p:nvPr/>
        </p:nvSpPr>
        <p:spPr>
          <a:xfrm>
            <a:off x="544068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700</a:t>
            </a:r>
            <a:endParaRPr lang="en-US" sz="1000" dirty="0"/>
          </a:p>
        </p:txBody>
      </p:sp>
      <p:sp>
        <p:nvSpPr>
          <p:cNvPr id="63" name="Shape 61"/>
          <p:cNvSpPr/>
          <p:nvPr/>
        </p:nvSpPr>
        <p:spPr>
          <a:xfrm>
            <a:off x="1271016" y="4709160"/>
            <a:ext cx="54864" cy="91"/>
          </a:xfrm>
          <a:prstGeom prst="line">
            <a:avLst/>
          </a:prstGeom>
          <a:noFill/>
          <a:ln w="12700">
            <a:solidFill>
              <a:srgbClr val="1A2340"/>
            </a:solidFill>
            <a:prstDash val="solid"/>
          </a:ln>
        </p:spPr>
      </p:sp>
      <p:sp>
        <p:nvSpPr>
          <p:cNvPr id="64" name="Text 62"/>
          <p:cNvSpPr/>
          <p:nvPr/>
        </p:nvSpPr>
        <p:spPr>
          <a:xfrm>
            <a:off x="886968" y="46177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65" name="Shape 63"/>
          <p:cNvSpPr/>
          <p:nvPr/>
        </p:nvSpPr>
        <p:spPr>
          <a:xfrm>
            <a:off x="1271016" y="4343400"/>
            <a:ext cx="54864" cy="91"/>
          </a:xfrm>
          <a:prstGeom prst="line">
            <a:avLst/>
          </a:prstGeom>
          <a:noFill/>
          <a:ln w="12700">
            <a:solidFill>
              <a:srgbClr val="1A2340"/>
            </a:solidFill>
            <a:prstDash val="solid"/>
          </a:ln>
        </p:spPr>
      </p:sp>
      <p:sp>
        <p:nvSpPr>
          <p:cNvPr id="66" name="Text 64"/>
          <p:cNvSpPr/>
          <p:nvPr/>
        </p:nvSpPr>
        <p:spPr>
          <a:xfrm>
            <a:off x="886968" y="42519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67" name="Shape 65"/>
          <p:cNvSpPr/>
          <p:nvPr/>
        </p:nvSpPr>
        <p:spPr>
          <a:xfrm>
            <a:off x="1271016" y="3977640"/>
            <a:ext cx="54864" cy="91"/>
          </a:xfrm>
          <a:prstGeom prst="line">
            <a:avLst/>
          </a:prstGeom>
          <a:noFill/>
          <a:ln w="12700">
            <a:solidFill>
              <a:srgbClr val="1A2340"/>
            </a:solidFill>
            <a:prstDash val="solid"/>
          </a:ln>
        </p:spPr>
      </p:sp>
      <p:sp>
        <p:nvSpPr>
          <p:cNvPr id="68" name="Text 66"/>
          <p:cNvSpPr/>
          <p:nvPr/>
        </p:nvSpPr>
        <p:spPr>
          <a:xfrm>
            <a:off x="886968" y="38862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69" name="Shape 67"/>
          <p:cNvSpPr/>
          <p:nvPr/>
        </p:nvSpPr>
        <p:spPr>
          <a:xfrm>
            <a:off x="1271016" y="3611880"/>
            <a:ext cx="54864" cy="91"/>
          </a:xfrm>
          <a:prstGeom prst="line">
            <a:avLst/>
          </a:prstGeom>
          <a:noFill/>
          <a:ln w="12700">
            <a:solidFill>
              <a:srgbClr val="1A2340"/>
            </a:solidFill>
            <a:prstDash val="solid"/>
          </a:ln>
        </p:spPr>
      </p:sp>
      <p:sp>
        <p:nvSpPr>
          <p:cNvPr id="70" name="Text 68"/>
          <p:cNvSpPr/>
          <p:nvPr/>
        </p:nvSpPr>
        <p:spPr>
          <a:xfrm>
            <a:off x="886968" y="35204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71" name="Shape 69"/>
          <p:cNvSpPr/>
          <p:nvPr/>
        </p:nvSpPr>
        <p:spPr>
          <a:xfrm>
            <a:off x="1271016" y="3246120"/>
            <a:ext cx="54864" cy="91"/>
          </a:xfrm>
          <a:prstGeom prst="line">
            <a:avLst/>
          </a:prstGeom>
          <a:noFill/>
          <a:ln w="12700">
            <a:solidFill>
              <a:srgbClr val="1A2340"/>
            </a:solidFill>
            <a:prstDash val="solid"/>
          </a:ln>
        </p:spPr>
      </p:sp>
      <p:sp>
        <p:nvSpPr>
          <p:cNvPr id="72" name="Text 70"/>
          <p:cNvSpPr/>
          <p:nvPr/>
        </p:nvSpPr>
        <p:spPr>
          <a:xfrm>
            <a:off x="886968" y="31546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73" name="Shape 71"/>
          <p:cNvSpPr/>
          <p:nvPr/>
        </p:nvSpPr>
        <p:spPr>
          <a:xfrm>
            <a:off x="1271016" y="2880360"/>
            <a:ext cx="54864" cy="91"/>
          </a:xfrm>
          <a:prstGeom prst="line">
            <a:avLst/>
          </a:prstGeom>
          <a:noFill/>
          <a:ln w="12700">
            <a:solidFill>
              <a:srgbClr val="1A2340"/>
            </a:solidFill>
            <a:prstDash val="solid"/>
          </a:ln>
        </p:spPr>
      </p:sp>
      <p:sp>
        <p:nvSpPr>
          <p:cNvPr id="74" name="Text 72"/>
          <p:cNvSpPr/>
          <p:nvPr/>
        </p:nvSpPr>
        <p:spPr>
          <a:xfrm>
            <a:off x="886968" y="27889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60</a:t>
            </a:r>
            <a:endParaRPr lang="en-US" sz="1000" dirty="0"/>
          </a:p>
        </p:txBody>
      </p:sp>
      <p:sp>
        <p:nvSpPr>
          <p:cNvPr id="75" name="Shape 73"/>
          <p:cNvSpPr/>
          <p:nvPr/>
        </p:nvSpPr>
        <p:spPr>
          <a:xfrm>
            <a:off x="1271016" y="2514600"/>
            <a:ext cx="54864" cy="91"/>
          </a:xfrm>
          <a:prstGeom prst="line">
            <a:avLst/>
          </a:prstGeom>
          <a:noFill/>
          <a:ln w="12700">
            <a:solidFill>
              <a:srgbClr val="1A2340"/>
            </a:solidFill>
            <a:prstDash val="solid"/>
          </a:ln>
        </p:spPr>
      </p:sp>
      <p:sp>
        <p:nvSpPr>
          <p:cNvPr id="76" name="Text 74"/>
          <p:cNvSpPr/>
          <p:nvPr/>
        </p:nvSpPr>
        <p:spPr>
          <a:xfrm>
            <a:off x="886968" y="24231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80</a:t>
            </a:r>
            <a:endParaRPr lang="en-US" sz="1000" dirty="0"/>
          </a:p>
        </p:txBody>
      </p:sp>
      <p:sp>
        <p:nvSpPr>
          <p:cNvPr id="77" name="Shape 75"/>
          <p:cNvSpPr/>
          <p:nvPr/>
        </p:nvSpPr>
        <p:spPr>
          <a:xfrm>
            <a:off x="1271016" y="2148840"/>
            <a:ext cx="54864" cy="91"/>
          </a:xfrm>
          <a:prstGeom prst="line">
            <a:avLst/>
          </a:prstGeom>
          <a:noFill/>
          <a:ln w="12700">
            <a:solidFill>
              <a:srgbClr val="1A2340"/>
            </a:solidFill>
            <a:prstDash val="solid"/>
          </a:ln>
        </p:spPr>
      </p:sp>
      <p:sp>
        <p:nvSpPr>
          <p:cNvPr id="78" name="Text 76"/>
          <p:cNvSpPr/>
          <p:nvPr/>
        </p:nvSpPr>
        <p:spPr>
          <a:xfrm>
            <a:off x="886968" y="20574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79" name="Shape 77"/>
          <p:cNvSpPr/>
          <p:nvPr/>
        </p:nvSpPr>
        <p:spPr>
          <a:xfrm>
            <a:off x="1271016" y="1783080"/>
            <a:ext cx="54864" cy="91"/>
          </a:xfrm>
          <a:prstGeom prst="line">
            <a:avLst/>
          </a:prstGeom>
          <a:noFill/>
          <a:ln w="12700">
            <a:solidFill>
              <a:srgbClr val="1A2340"/>
            </a:solidFill>
            <a:prstDash val="solid"/>
          </a:ln>
        </p:spPr>
      </p:sp>
      <p:sp>
        <p:nvSpPr>
          <p:cNvPr id="80" name="Text 78"/>
          <p:cNvSpPr/>
          <p:nvPr/>
        </p:nvSpPr>
        <p:spPr>
          <a:xfrm>
            <a:off x="886968" y="16916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120</a:t>
            </a:r>
            <a:endParaRPr lang="en-US" sz="1000" dirty="0"/>
          </a:p>
        </p:txBody>
      </p:sp>
      <p:sp>
        <p:nvSpPr>
          <p:cNvPr id="81" name="Shape 79"/>
          <p:cNvSpPr/>
          <p:nvPr/>
        </p:nvSpPr>
        <p:spPr>
          <a:xfrm>
            <a:off x="1271016" y="1417320"/>
            <a:ext cx="54864" cy="91"/>
          </a:xfrm>
          <a:prstGeom prst="line">
            <a:avLst/>
          </a:prstGeom>
          <a:noFill/>
          <a:ln w="12700">
            <a:solidFill>
              <a:srgbClr val="1A2340"/>
            </a:solidFill>
            <a:prstDash val="solid"/>
          </a:ln>
        </p:spPr>
      </p:sp>
      <p:sp>
        <p:nvSpPr>
          <p:cNvPr id="82" name="Text 80"/>
          <p:cNvSpPr/>
          <p:nvPr/>
        </p:nvSpPr>
        <p:spPr>
          <a:xfrm>
            <a:off x="88696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140</a:t>
            </a:r>
            <a:endParaRPr lang="en-US" sz="1000" dirty="0"/>
          </a:p>
        </p:txBody>
      </p:sp>
      <p:sp>
        <p:nvSpPr>
          <p:cNvPr id="83" name="Text 81"/>
          <p:cNvSpPr/>
          <p:nvPr/>
        </p:nvSpPr>
        <p:spPr>
          <a:xfrm>
            <a:off x="1325880" y="4956048"/>
            <a:ext cx="43891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time / s</a:t>
            </a:r>
            <a:endParaRPr lang="en-US" sz="1050" dirty="0"/>
          </a:p>
        </p:txBody>
      </p:sp>
      <p:sp>
        <p:nvSpPr>
          <p:cNvPr id="84" name="Text 82"/>
          <p:cNvSpPr/>
          <p:nvPr/>
        </p:nvSpPr>
        <p:spPr>
          <a:xfrm rot="16200000">
            <a:off x="-886968" y="2935224"/>
            <a:ext cx="32918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temperature / °C</a:t>
            </a:r>
            <a:endParaRPr lang="en-US" sz="1050" dirty="0"/>
          </a:p>
        </p:txBody>
      </p:sp>
      <p:sp>
        <p:nvSpPr>
          <p:cNvPr id="85" name="Shape 83"/>
          <p:cNvSpPr/>
          <p:nvPr/>
        </p:nvSpPr>
        <p:spPr>
          <a:xfrm>
            <a:off x="1325880" y="3977640"/>
            <a:ext cx="4389120" cy="91"/>
          </a:xfrm>
          <a:prstGeom prst="line">
            <a:avLst/>
          </a:prstGeom>
          <a:noFill/>
          <a:ln w="12700">
            <a:solidFill>
              <a:srgbClr val="1A2340"/>
            </a:solidFill>
            <a:prstDash val="dash"/>
          </a:ln>
        </p:spPr>
      </p:sp>
      <p:sp>
        <p:nvSpPr>
          <p:cNvPr id="86" name="Shape 84"/>
          <p:cNvSpPr/>
          <p:nvPr/>
        </p:nvSpPr>
        <p:spPr>
          <a:xfrm>
            <a:off x="1404884" y="3922776"/>
            <a:ext cx="418847" cy="109728"/>
          </a:xfrm>
          <a:prstGeom prst="rect">
            <a:avLst/>
          </a:prstGeom>
          <a:solidFill>
            <a:srgbClr val="7FB2D9">
              <a:alpha val="60000"/>
            </a:srgbClr>
          </a:solidFill>
          <a:ln/>
        </p:spPr>
      </p:sp>
      <p:sp>
        <p:nvSpPr>
          <p:cNvPr id="87" name="Shape 85"/>
          <p:cNvSpPr/>
          <p:nvPr/>
        </p:nvSpPr>
        <p:spPr>
          <a:xfrm>
            <a:off x="2350426" y="2093976"/>
            <a:ext cx="2834117" cy="109728"/>
          </a:xfrm>
          <a:prstGeom prst="rect">
            <a:avLst/>
          </a:prstGeom>
          <a:solidFill>
            <a:srgbClr val="F5A742">
              <a:alpha val="60000"/>
            </a:srgbClr>
          </a:solidFill>
          <a:ln/>
        </p:spPr>
      </p:sp>
      <p:sp>
        <p:nvSpPr>
          <p:cNvPr id="88" name="Shape 86"/>
          <p:cNvSpPr/>
          <p:nvPr/>
        </p:nvSpPr>
        <p:spPr>
          <a:xfrm flipV="1">
            <a:off x="1325880" y="3977640"/>
            <a:ext cx="79004" cy="548640"/>
          </a:xfrm>
          <a:prstGeom prst="line">
            <a:avLst/>
          </a:prstGeom>
          <a:noFill/>
          <a:ln w="31750">
            <a:solidFill>
              <a:srgbClr val="C8414C"/>
            </a:solidFill>
            <a:prstDash val="solid"/>
          </a:ln>
        </p:spPr>
      </p:sp>
      <p:sp>
        <p:nvSpPr>
          <p:cNvPr id="89" name="Shape 87"/>
          <p:cNvSpPr/>
          <p:nvPr/>
        </p:nvSpPr>
        <p:spPr>
          <a:xfrm>
            <a:off x="1404884" y="3977640"/>
            <a:ext cx="418847" cy="91"/>
          </a:xfrm>
          <a:prstGeom prst="line">
            <a:avLst/>
          </a:prstGeom>
          <a:noFill/>
          <a:ln w="31750">
            <a:solidFill>
              <a:srgbClr val="C8414C"/>
            </a:solidFill>
            <a:prstDash val="solid"/>
          </a:ln>
        </p:spPr>
      </p:sp>
      <p:sp>
        <p:nvSpPr>
          <p:cNvPr id="90" name="Shape 88"/>
          <p:cNvSpPr/>
          <p:nvPr/>
        </p:nvSpPr>
        <p:spPr>
          <a:xfrm flipV="1">
            <a:off x="1823732" y="2148840"/>
            <a:ext cx="526694" cy="1828800"/>
          </a:xfrm>
          <a:prstGeom prst="line">
            <a:avLst/>
          </a:prstGeom>
          <a:noFill/>
          <a:ln w="31750">
            <a:solidFill>
              <a:srgbClr val="C8414C"/>
            </a:solidFill>
            <a:prstDash val="solid"/>
          </a:ln>
        </p:spPr>
      </p:sp>
      <p:sp>
        <p:nvSpPr>
          <p:cNvPr id="91" name="Shape 89"/>
          <p:cNvSpPr/>
          <p:nvPr/>
        </p:nvSpPr>
        <p:spPr>
          <a:xfrm>
            <a:off x="2350426" y="2148840"/>
            <a:ext cx="2834117" cy="91"/>
          </a:xfrm>
          <a:prstGeom prst="line">
            <a:avLst/>
          </a:prstGeom>
          <a:noFill/>
          <a:ln w="31750">
            <a:solidFill>
              <a:srgbClr val="C8414C"/>
            </a:solidFill>
            <a:prstDash val="solid"/>
          </a:ln>
        </p:spPr>
      </p:sp>
      <p:sp>
        <p:nvSpPr>
          <p:cNvPr id="92" name="Shape 90"/>
          <p:cNvSpPr/>
          <p:nvPr/>
        </p:nvSpPr>
        <p:spPr>
          <a:xfrm flipV="1">
            <a:off x="5184543" y="1783080"/>
            <a:ext cx="50161" cy="365760"/>
          </a:xfrm>
          <a:prstGeom prst="line">
            <a:avLst/>
          </a:prstGeom>
          <a:noFill/>
          <a:ln w="31750">
            <a:solidFill>
              <a:srgbClr val="C8414C"/>
            </a:solidFill>
            <a:prstDash val="solid"/>
          </a:ln>
        </p:spPr>
      </p:sp>
      <p:sp>
        <p:nvSpPr>
          <p:cNvPr id="93" name="Text 91"/>
          <p:cNvSpPr/>
          <p:nvPr/>
        </p:nvSpPr>
        <p:spPr>
          <a:xfrm>
            <a:off x="1419933" y="4379976"/>
            <a:ext cx="1463040" cy="256032"/>
          </a:xfrm>
          <a:prstGeom prst="rect">
            <a:avLst/>
          </a:prstGeom>
          <a:noFill/>
          <a:ln/>
        </p:spPr>
        <p:txBody>
          <a:bodyPr wrap="square" lIns="0" tIns="0" rIns="0" bIns="0" rtlCol="0" anchor="ctr"/>
          <a:lstStyle/>
          <a:p>
            <a:pPr algn="l" indent="0" marL="0">
              <a:buNone/>
            </a:pPr>
            <a:r>
              <a:rPr lang="en-US" sz="1050" b="1" dirty="0">
                <a:solidFill>
                  <a:srgbClr val="1A2340"/>
                </a:solidFill>
                <a:latin typeface="Calibri" pitchFamily="34" charset="0"/>
                <a:ea typeface="Calibri" pitchFamily="34" charset="-122"/>
                <a:cs typeface="Calibri" pitchFamily="34" charset="-120"/>
              </a:rPr>
              <a:t>ice warms</a:t>
            </a:r>
            <a:endParaRPr lang="en-US" sz="1050" dirty="0"/>
          </a:p>
        </p:txBody>
      </p:sp>
      <p:sp>
        <p:nvSpPr>
          <p:cNvPr id="94" name="Text 92"/>
          <p:cNvSpPr/>
          <p:nvPr/>
        </p:nvSpPr>
        <p:spPr>
          <a:xfrm>
            <a:off x="1877655" y="4014216"/>
            <a:ext cx="1371600" cy="256032"/>
          </a:xfrm>
          <a:prstGeom prst="rect">
            <a:avLst/>
          </a:prstGeom>
          <a:noFill/>
          <a:ln/>
        </p:spPr>
        <p:txBody>
          <a:bodyPr wrap="square" lIns="0" tIns="0" rIns="0" bIns="0" rtlCol="0" anchor="ctr"/>
          <a:lstStyle/>
          <a:p>
            <a:pPr algn="l" indent="0" marL="0">
              <a:buNone/>
            </a:pPr>
            <a:r>
              <a:rPr lang="en-US" sz="1050" b="1" dirty="0">
                <a:solidFill>
                  <a:srgbClr val="2E5BD8"/>
                </a:solidFill>
                <a:latin typeface="Calibri" pitchFamily="34" charset="0"/>
                <a:ea typeface="Calibri" pitchFamily="34" charset="-122"/>
                <a:cs typeface="Calibri" pitchFamily="34" charset="-120"/>
              </a:rPr>
              <a:t>← melting (0 °C)</a:t>
            </a:r>
            <a:endParaRPr lang="en-US" sz="1050" dirty="0"/>
          </a:p>
        </p:txBody>
      </p:sp>
      <p:sp>
        <p:nvSpPr>
          <p:cNvPr id="95" name="Text 93"/>
          <p:cNvSpPr/>
          <p:nvPr/>
        </p:nvSpPr>
        <p:spPr>
          <a:xfrm>
            <a:off x="2109651" y="3026664"/>
            <a:ext cx="1371600" cy="256032"/>
          </a:xfrm>
          <a:prstGeom prst="rect">
            <a:avLst/>
          </a:prstGeom>
          <a:noFill/>
          <a:ln/>
        </p:spPr>
        <p:txBody>
          <a:bodyPr wrap="square" lIns="0" tIns="0" rIns="0" bIns="0" rtlCol="0" anchor="ctr"/>
          <a:lstStyle/>
          <a:p>
            <a:pPr algn="l" indent="0" marL="0">
              <a:buNone/>
            </a:pPr>
            <a:r>
              <a:rPr lang="en-US" sz="1050" b="1" dirty="0">
                <a:solidFill>
                  <a:srgbClr val="1A2340"/>
                </a:solidFill>
                <a:latin typeface="Calibri" pitchFamily="34" charset="0"/>
                <a:ea typeface="Calibri" pitchFamily="34" charset="-122"/>
                <a:cs typeface="Calibri" pitchFamily="34" charset="-120"/>
              </a:rPr>
              <a:t>water warms</a:t>
            </a:r>
            <a:endParaRPr lang="en-US" sz="1050" dirty="0"/>
          </a:p>
        </p:txBody>
      </p:sp>
      <p:sp>
        <p:nvSpPr>
          <p:cNvPr id="96" name="Text 94"/>
          <p:cNvSpPr/>
          <p:nvPr/>
        </p:nvSpPr>
        <p:spPr>
          <a:xfrm>
            <a:off x="2893423" y="1847088"/>
            <a:ext cx="2011680" cy="256032"/>
          </a:xfrm>
          <a:prstGeom prst="rect">
            <a:avLst/>
          </a:prstGeom>
          <a:noFill/>
          <a:ln/>
        </p:spPr>
        <p:txBody>
          <a:bodyPr wrap="square" lIns="0" tIns="0" rIns="0" bIns="0" rtlCol="0" anchor="ctr"/>
          <a:lstStyle/>
          <a:p>
            <a:pPr algn="ctr" indent="0" marL="0">
              <a:buNone/>
            </a:pPr>
            <a:r>
              <a:rPr lang="en-US" sz="1050" b="1" dirty="0">
                <a:solidFill>
                  <a:srgbClr val="B8730A"/>
                </a:solidFill>
                <a:latin typeface="Calibri" pitchFamily="34" charset="0"/>
                <a:ea typeface="Calibri" pitchFamily="34" charset="-122"/>
                <a:cs typeface="Calibri" pitchFamily="34" charset="-120"/>
              </a:rPr>
              <a:t>boiling (100 °C)</a:t>
            </a:r>
            <a:endParaRPr lang="en-US" sz="1050" dirty="0"/>
          </a:p>
        </p:txBody>
      </p:sp>
      <p:sp>
        <p:nvSpPr>
          <p:cNvPr id="97" name="Text 95"/>
          <p:cNvSpPr/>
          <p:nvPr/>
        </p:nvSpPr>
        <p:spPr>
          <a:xfrm>
            <a:off x="4586369" y="1545336"/>
            <a:ext cx="1097280" cy="256032"/>
          </a:xfrm>
          <a:prstGeom prst="rect">
            <a:avLst/>
          </a:prstGeom>
          <a:noFill/>
          <a:ln/>
        </p:spPr>
        <p:txBody>
          <a:bodyPr wrap="square" lIns="0" tIns="0" rIns="0" bIns="0" rtlCol="0" anchor="ctr"/>
          <a:lstStyle/>
          <a:p>
            <a:pPr algn="r" indent="0" marL="0">
              <a:buNone/>
            </a:pPr>
            <a:r>
              <a:rPr lang="en-US" sz="1050" b="1" dirty="0">
                <a:solidFill>
                  <a:srgbClr val="1A2340"/>
                </a:solidFill>
                <a:latin typeface="Calibri" pitchFamily="34" charset="0"/>
                <a:ea typeface="Calibri" pitchFamily="34" charset="-122"/>
                <a:cs typeface="Calibri" pitchFamily="34" charset="-120"/>
              </a:rPr>
              <a:t>steam</a:t>
            </a:r>
            <a:endParaRPr lang="en-US" sz="1050" dirty="0"/>
          </a:p>
        </p:txBody>
      </p:sp>
      <p:sp>
        <p:nvSpPr>
          <p:cNvPr id="98" name="Text 96"/>
          <p:cNvSpPr/>
          <p:nvPr/>
        </p:nvSpPr>
        <p:spPr>
          <a:xfrm>
            <a:off x="3395037" y="3429000"/>
            <a:ext cx="1737360" cy="411480"/>
          </a:xfrm>
          <a:prstGeom prst="rect">
            <a:avLst/>
          </a:prstGeom>
          <a:noFill/>
          <a:ln/>
        </p:spPr>
        <p:txBody>
          <a:bodyPr wrap="square" lIns="0" tIns="0" rIns="0" bIns="0" rtlCol="0" anchor="t"/>
          <a:lstStyle/>
          <a:p>
            <a:pPr algn="l" indent="0" marL="0">
              <a:buNone/>
            </a:pPr>
            <a:r>
              <a:rPr lang="en-US" sz="1000" i="1" dirty="0">
                <a:solidFill>
                  <a:srgbClr val="6B7385"/>
                </a:solidFill>
                <a:latin typeface="Calibri" pitchFamily="34" charset="0"/>
                <a:ea typeface="Calibri" pitchFamily="34" charset="-122"/>
                <a:cs typeface="Calibri" pitchFamily="34" charset="-120"/>
              </a:rPr>
              <a:t>boiling takes 452 s; melting 66.8 s</a:t>
            </a:r>
            <a:endParaRPr lang="en-US" sz="1000" dirty="0"/>
          </a:p>
        </p:txBody>
      </p:sp>
      <p:sp>
        <p:nvSpPr>
          <p:cNvPr id="99" name="Shape 97"/>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100" name="Text 98"/>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Reading a heating curve</a:t>
            </a:r>
            <a:endParaRPr lang="en-US" sz="1300" dirty="0"/>
          </a:p>
        </p:txBody>
      </p:sp>
      <p:sp>
        <p:nvSpPr>
          <p:cNvPr id="101" name="Text 99"/>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Sloping</a:t>
            </a:r>
            <a:r>
              <a:rPr lang="en-US" sz="1100" dirty="0">
                <a:solidFill>
                  <a:srgbClr val="262B3A"/>
                </a:solidFill>
                <a:latin typeface="Calibri" pitchFamily="34" charset="0"/>
                <a:ea typeface="Calibri" pitchFamily="34" charset="-122"/>
                <a:cs typeface="Calibri" pitchFamily="34" charset="-120"/>
              </a:rPr>
              <a:t> sections: one state is warming up. Energy increases the </a:t>
            </a:r>
            <a:r>
              <a:rPr lang="en-US" sz="1100" b="1" dirty="0">
                <a:solidFill>
                  <a:srgbClr val="262B3A"/>
                </a:solidFill>
                <a:latin typeface="Calibri" pitchFamily="34" charset="0"/>
                <a:ea typeface="Calibri" pitchFamily="34" charset="-122"/>
                <a:cs typeface="Calibri" pitchFamily="34" charset="-120"/>
              </a:rPr>
              <a:t>kinetic</a:t>
            </a:r>
            <a:r>
              <a:rPr lang="en-US" sz="1100" dirty="0">
                <a:solidFill>
                  <a:srgbClr val="262B3A"/>
                </a:solidFill>
                <a:latin typeface="Calibri" pitchFamily="34" charset="0"/>
                <a:ea typeface="Calibri" pitchFamily="34" charset="-122"/>
                <a:cs typeface="Calibri" pitchFamily="34" charset="-120"/>
              </a:rPr>
              <a:t> energy of particles (ΔE = mcΔθ).</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Flat</a:t>
            </a:r>
            <a:r>
              <a:rPr lang="en-US" sz="1100" dirty="0">
                <a:solidFill>
                  <a:srgbClr val="262B3A"/>
                </a:solidFill>
                <a:latin typeface="Calibri" pitchFamily="34" charset="0"/>
                <a:ea typeface="Calibri" pitchFamily="34" charset="-122"/>
                <a:cs typeface="Calibri" pitchFamily="34" charset="-120"/>
              </a:rPr>
              <a:t> sections (plateaus): a </a:t>
            </a:r>
            <a:r>
              <a:rPr lang="en-US" sz="1100" b="1" dirty="0">
                <a:solidFill>
                  <a:srgbClr val="262B3A"/>
                </a:solidFill>
                <a:latin typeface="Calibri" pitchFamily="34" charset="0"/>
                <a:ea typeface="Calibri" pitchFamily="34" charset="-122"/>
                <a:cs typeface="Calibri" pitchFamily="34" charset="-120"/>
              </a:rPr>
              <a:t>change of state</a:t>
            </a:r>
            <a:r>
              <a:rPr lang="en-US" sz="1100" dirty="0">
                <a:solidFill>
                  <a:srgbClr val="262B3A"/>
                </a:solidFill>
                <a:latin typeface="Calibri" pitchFamily="34" charset="0"/>
                <a:ea typeface="Calibri" pitchFamily="34" charset="-122"/>
                <a:cs typeface="Calibri" pitchFamily="34" charset="-120"/>
              </a:rPr>
              <a:t> at the melting or boiling point. Energy breaks bonds (</a:t>
            </a:r>
            <a:r>
              <a:rPr lang="en-US" sz="1100" b="1" dirty="0">
                <a:solidFill>
                  <a:srgbClr val="262B3A"/>
                </a:solidFill>
                <a:latin typeface="Calibri" pitchFamily="34" charset="0"/>
                <a:ea typeface="Calibri" pitchFamily="34" charset="-122"/>
                <a:cs typeface="Calibri" pitchFamily="34" charset="-120"/>
              </a:rPr>
              <a:t>potential</a:t>
            </a:r>
            <a:r>
              <a:rPr lang="en-US" sz="1100" dirty="0">
                <a:solidFill>
                  <a:srgbClr val="262B3A"/>
                </a:solidFill>
                <a:latin typeface="Calibri" pitchFamily="34" charset="0"/>
                <a:ea typeface="Calibri" pitchFamily="34" charset="-122"/>
                <a:cs typeface="Calibri" pitchFamily="34" charset="-120"/>
              </a:rPr>
              <a:t> energy) (E = mL).</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boiling plateau is </a:t>
            </a:r>
            <a:r>
              <a:rPr lang="en-US" sz="1100" b="1" dirty="0">
                <a:solidFill>
                  <a:srgbClr val="262B3A"/>
                </a:solidFill>
                <a:latin typeface="Calibri" pitchFamily="34" charset="0"/>
                <a:ea typeface="Calibri" pitchFamily="34" charset="-122"/>
                <a:cs typeface="Calibri" pitchFamily="34" charset="-120"/>
              </a:rPr>
              <a:t>longer</a:t>
            </a:r>
            <a:r>
              <a:rPr lang="en-US" sz="1100" dirty="0">
                <a:solidFill>
                  <a:srgbClr val="262B3A"/>
                </a:solidFill>
                <a:latin typeface="Calibri" pitchFamily="34" charset="0"/>
                <a:ea typeface="Calibri" pitchFamily="34" charset="-122"/>
                <a:cs typeface="Calibri" pitchFamily="34" charset="-120"/>
              </a:rPr>
              <a:t> than the melting one because L(vaporisation) &gt; L(fusion).</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 </a:t>
            </a:r>
            <a:r>
              <a:rPr lang="en-US" sz="1100" b="1" dirty="0">
                <a:solidFill>
                  <a:srgbClr val="262B3A"/>
                </a:solidFill>
                <a:latin typeface="Calibri" pitchFamily="34" charset="0"/>
                <a:ea typeface="Calibri" pitchFamily="34" charset="-122"/>
                <a:cs typeface="Calibri" pitchFamily="34" charset="-120"/>
              </a:rPr>
              <a:t>cooling curve</a:t>
            </a:r>
            <a:r>
              <a:rPr lang="en-US" sz="1100" dirty="0">
                <a:solidFill>
                  <a:srgbClr val="262B3A"/>
                </a:solidFill>
                <a:latin typeface="Calibri" pitchFamily="34" charset="0"/>
                <a:ea typeface="Calibri" pitchFamily="34" charset="-122"/>
                <a:cs typeface="Calibri" pitchFamily="34" charset="-120"/>
              </a:rPr>
              <a:t> has the same shape in reverse: plateaus at the freezing and condensing points.</a:t>
            </a:r>
            <a:endParaRPr lang="en-US" sz="1100" dirty="0"/>
          </a:p>
        </p:txBody>
      </p:sp>
      <p:sp>
        <p:nvSpPr>
          <p:cNvPr id="102" name="Shape 100"/>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103" name="Text 101"/>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Stretch: L from a heating curve</a:t>
            </a:r>
            <a:endParaRPr lang="en-US" sz="1300" dirty="0"/>
          </a:p>
        </p:txBody>
      </p:sp>
      <p:sp>
        <p:nvSpPr>
          <p:cNvPr id="104" name="Text 102"/>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The melting plateau runs from 12.6 s to 79.4 s. P = 1000 W, m = 0.20 kg.</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Time   </a:t>
            </a:r>
            <a:r>
              <a:rPr lang="en-US" sz="1050" dirty="0">
                <a:solidFill>
                  <a:srgbClr val="262B3A"/>
                </a:solidFill>
                <a:latin typeface="Calibri" pitchFamily="34" charset="0"/>
                <a:ea typeface="Calibri" pitchFamily="34" charset="-122"/>
                <a:cs typeface="Calibri" pitchFamily="34" charset="-120"/>
              </a:rPr>
              <a:t>79.4 − 12.6 = 66.8 s</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Energy   </a:t>
            </a:r>
            <a:r>
              <a:rPr lang="en-US" sz="1050" dirty="0">
                <a:solidFill>
                  <a:srgbClr val="262B3A"/>
                </a:solidFill>
                <a:latin typeface="Calibri" pitchFamily="34" charset="0"/>
                <a:ea typeface="Calibri" pitchFamily="34" charset="-122"/>
                <a:cs typeface="Calibri" pitchFamily="34" charset="-120"/>
              </a:rPr>
              <a:t>E = P × t = 1000 × 66.8 = 66 800 J</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Equation   </a:t>
            </a:r>
            <a:r>
              <a:rPr lang="en-US" sz="1050" dirty="0">
                <a:solidFill>
                  <a:srgbClr val="262B3A"/>
                </a:solidFill>
                <a:latin typeface="Calibri" pitchFamily="34" charset="0"/>
                <a:ea typeface="Calibri" pitchFamily="34" charset="-122"/>
                <a:cs typeface="Calibri" pitchFamily="34" charset="-120"/>
              </a:rPr>
              <a:t>L = E ÷ m = 66 800 ÷ 0.20</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L(fusion) = 334 000 J/kg</a:t>
            </a:r>
            <a:endParaRPr lang="en-US" sz="1050" dirty="0"/>
          </a:p>
        </p:txBody>
      </p:sp>
      <p:sp>
        <p:nvSpPr>
          <p:cNvPr id="105" name="Shape 103"/>
          <p:cNvSpPr/>
          <p:nvPr/>
        </p:nvSpPr>
        <p:spPr>
          <a:xfrm>
            <a:off x="411480" y="5833872"/>
            <a:ext cx="11368735" cy="530352"/>
          </a:xfrm>
          <a:prstGeom prst="rect">
            <a:avLst/>
          </a:prstGeom>
          <a:solidFill>
            <a:srgbClr val="FFF4E0"/>
          </a:solidFill>
          <a:ln w="6350">
            <a:solidFill>
              <a:srgbClr val="F1D9A8"/>
            </a:solidFill>
            <a:prstDash val="solid"/>
          </a:ln>
        </p:spPr>
      </p:sp>
      <p:sp>
        <p:nvSpPr>
          <p:cNvPr id="106" name="Shape 104"/>
          <p:cNvSpPr/>
          <p:nvPr/>
        </p:nvSpPr>
        <p:spPr>
          <a:xfrm>
            <a:off x="411480" y="5833872"/>
            <a:ext cx="82296" cy="530352"/>
          </a:xfrm>
          <a:prstGeom prst="rect">
            <a:avLst/>
          </a:prstGeom>
          <a:solidFill>
            <a:srgbClr val="E39A2F"/>
          </a:solidFill>
          <a:ln w="12700">
            <a:solidFill>
              <a:srgbClr val="E39A2F"/>
            </a:solidFill>
            <a:prstDash val="solid"/>
          </a:ln>
        </p:spPr>
      </p:sp>
      <p:sp>
        <p:nvSpPr>
          <p:cNvPr id="107" name="Text 10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does the temperature stay at 100 °C for 452 s even though the heater is still supplying energy?</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6</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P6.1.6, P6.1.8 • specific latent heat and heating curves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P6.1 How does energy transform matter?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6  |  22</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Define </a:t>
            </a:r>
            <a:r>
              <a:rPr lang="en-US" sz="1250" b="1" dirty="0">
                <a:solidFill>
                  <a:srgbClr val="262B3A"/>
                </a:solidFill>
                <a:latin typeface="Calibri" pitchFamily="34" charset="0"/>
                <a:ea typeface="Calibri" pitchFamily="34" charset="-122"/>
                <a:cs typeface="Calibri" pitchFamily="34" charset="-120"/>
              </a:rPr>
              <a:t>specific latent heat of vaporisation</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5DCEB"/>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Calculate the energy needed to melt </a:t>
            </a:r>
            <a:r>
              <a:rPr lang="en-US" sz="1250" b="1" dirty="0">
                <a:solidFill>
                  <a:srgbClr val="262B3A"/>
                </a:solidFill>
                <a:latin typeface="Calibri" pitchFamily="34" charset="0"/>
                <a:ea typeface="Calibri" pitchFamily="34" charset="-122"/>
                <a:cs typeface="Calibri" pitchFamily="34" charset="-120"/>
              </a:rPr>
              <a:t>0.30 kg</a:t>
            </a:r>
            <a:r>
              <a:rPr lang="en-US" sz="1250" dirty="0">
                <a:solidFill>
                  <a:srgbClr val="262B3A"/>
                </a:solidFill>
                <a:latin typeface="Calibri" pitchFamily="34" charset="0"/>
                <a:ea typeface="Calibri" pitchFamily="34" charset="-122"/>
                <a:cs typeface="Calibri" pitchFamily="34" charset="-120"/>
              </a:rPr>
              <a:t> of ice at 0 °C. (L = 334 000 J/kg)</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5DCEB"/>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a heating curve has a </a:t>
            </a:r>
            <a:r>
              <a:rPr lang="en-US" sz="1250" b="1" dirty="0">
                <a:solidFill>
                  <a:srgbClr val="262B3A"/>
                </a:solidFill>
                <a:latin typeface="Calibri" pitchFamily="34" charset="0"/>
                <a:ea typeface="Calibri" pitchFamily="34" charset="-122"/>
                <a:cs typeface="Calibri" pitchFamily="34" charset="-120"/>
              </a:rPr>
              <a:t>flat</a:t>
            </a:r>
            <a:r>
              <a:rPr lang="en-US" sz="1250" dirty="0">
                <a:solidFill>
                  <a:srgbClr val="262B3A"/>
                </a:solidFill>
                <a:latin typeface="Calibri" pitchFamily="34" charset="0"/>
                <a:ea typeface="Calibri" pitchFamily="34" charset="-122"/>
                <a:cs typeface="Calibri" pitchFamily="34" charset="-120"/>
              </a:rPr>
              <a:t> section while a solid is melting.</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5DCEB"/>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On a heating curve for water, the boiling section is longer than the melting section. Explain why.</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Summary: key words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P6.1 How does energy transform matter? • learn these definitions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P6.1 How does energy transform matter?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Key words  |  23</a:t>
            </a:r>
            <a:endParaRPr lang="en-US" sz="1000" dirty="0"/>
          </a:p>
        </p:txBody>
      </p:sp>
      <p:sp>
        <p:nvSpPr>
          <p:cNvPr id="8" name="Shape 6"/>
          <p:cNvSpPr/>
          <p:nvPr/>
        </p:nvSpPr>
        <p:spPr>
          <a:xfrm>
            <a:off x="411480" y="1188720"/>
            <a:ext cx="2739314" cy="1143000"/>
          </a:xfrm>
          <a:prstGeom prst="rect">
            <a:avLst/>
          </a:prstGeom>
          <a:solidFill>
            <a:srgbClr val="F5F8FE"/>
          </a:solidFill>
          <a:ln w="9525">
            <a:solidFill>
              <a:srgbClr val="D5DCEB"/>
            </a:solidFill>
            <a:prstDash val="solid"/>
          </a:ln>
        </p:spPr>
      </p:sp>
      <p:sp>
        <p:nvSpPr>
          <p:cNvPr id="9" name="Shape 7"/>
          <p:cNvSpPr/>
          <p:nvPr/>
        </p:nvSpPr>
        <p:spPr>
          <a:xfrm>
            <a:off x="411480" y="1188720"/>
            <a:ext cx="73152" cy="1143000"/>
          </a:xfrm>
          <a:prstGeom prst="rect">
            <a:avLst/>
          </a:prstGeom>
          <a:solidFill>
            <a:srgbClr val="2E5BD8"/>
          </a:solidFill>
          <a:ln w="12700">
            <a:solidFill>
              <a:srgbClr val="2E5BD8"/>
            </a:solidFill>
            <a:prstDash val="solid"/>
          </a:ln>
        </p:spPr>
      </p:sp>
      <p:sp>
        <p:nvSpPr>
          <p:cNvPr id="10" name="Text 8"/>
          <p:cNvSpPr/>
          <p:nvPr/>
        </p:nvSpPr>
        <p:spPr>
          <a:xfrm>
            <a:off x="576072" y="1243584"/>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Particle model</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Matter is made of tiny particles; their arrangement and motion explain the states.</a:t>
            </a:r>
            <a:endParaRPr lang="en-US" sz="1200" dirty="0"/>
          </a:p>
        </p:txBody>
      </p:sp>
      <p:sp>
        <p:nvSpPr>
          <p:cNvPr id="11" name="Shape 9"/>
          <p:cNvSpPr/>
          <p:nvPr/>
        </p:nvSpPr>
        <p:spPr>
          <a:xfrm>
            <a:off x="3287954" y="1188720"/>
            <a:ext cx="2739314" cy="1143000"/>
          </a:xfrm>
          <a:prstGeom prst="rect">
            <a:avLst/>
          </a:prstGeom>
          <a:solidFill>
            <a:srgbClr val="F5F8FE"/>
          </a:solidFill>
          <a:ln w="9525">
            <a:solidFill>
              <a:srgbClr val="D5DCEB"/>
            </a:solidFill>
            <a:prstDash val="solid"/>
          </a:ln>
        </p:spPr>
      </p:sp>
      <p:sp>
        <p:nvSpPr>
          <p:cNvPr id="12" name="Shape 10"/>
          <p:cNvSpPr/>
          <p:nvPr/>
        </p:nvSpPr>
        <p:spPr>
          <a:xfrm>
            <a:off x="3287954" y="1188720"/>
            <a:ext cx="73152" cy="1143000"/>
          </a:xfrm>
          <a:prstGeom prst="rect">
            <a:avLst/>
          </a:prstGeom>
          <a:solidFill>
            <a:srgbClr val="2E5BD8"/>
          </a:solidFill>
          <a:ln w="12700">
            <a:solidFill>
              <a:srgbClr val="2E5BD8"/>
            </a:solidFill>
            <a:prstDash val="solid"/>
          </a:ln>
        </p:spPr>
      </p:sp>
      <p:sp>
        <p:nvSpPr>
          <p:cNvPr id="13" name="Text 11"/>
          <p:cNvSpPr/>
          <p:nvPr/>
        </p:nvSpPr>
        <p:spPr>
          <a:xfrm>
            <a:off x="3452546" y="1243584"/>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Density (ρ)</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Mass per unit volume: ρ = m ÷ V, in kg/m³ or g/cm³.</a:t>
            </a:r>
            <a:endParaRPr lang="en-US" sz="1200" dirty="0"/>
          </a:p>
        </p:txBody>
      </p:sp>
      <p:sp>
        <p:nvSpPr>
          <p:cNvPr id="14" name="Shape 12"/>
          <p:cNvSpPr/>
          <p:nvPr/>
        </p:nvSpPr>
        <p:spPr>
          <a:xfrm>
            <a:off x="6164428" y="1188720"/>
            <a:ext cx="2739314" cy="1143000"/>
          </a:xfrm>
          <a:prstGeom prst="rect">
            <a:avLst/>
          </a:prstGeom>
          <a:solidFill>
            <a:srgbClr val="F5F8FE"/>
          </a:solidFill>
          <a:ln w="9525">
            <a:solidFill>
              <a:srgbClr val="D5DCEB"/>
            </a:solidFill>
            <a:prstDash val="solid"/>
          </a:ln>
        </p:spPr>
      </p:sp>
      <p:sp>
        <p:nvSpPr>
          <p:cNvPr id="15" name="Shape 13"/>
          <p:cNvSpPr/>
          <p:nvPr/>
        </p:nvSpPr>
        <p:spPr>
          <a:xfrm>
            <a:off x="6164428" y="1188720"/>
            <a:ext cx="73152" cy="1143000"/>
          </a:xfrm>
          <a:prstGeom prst="rect">
            <a:avLst/>
          </a:prstGeom>
          <a:solidFill>
            <a:srgbClr val="2E5BD8"/>
          </a:solidFill>
          <a:ln w="12700">
            <a:solidFill>
              <a:srgbClr val="2E5BD8"/>
            </a:solidFill>
            <a:prstDash val="solid"/>
          </a:ln>
        </p:spPr>
      </p:sp>
      <p:sp>
        <p:nvSpPr>
          <p:cNvPr id="16" name="Text 14"/>
          <p:cNvSpPr/>
          <p:nvPr/>
        </p:nvSpPr>
        <p:spPr>
          <a:xfrm>
            <a:off x="6329020" y="1243584"/>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Change of state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Melting, freezing, evaporating/boiling, condensing or sublimating.</a:t>
            </a:r>
            <a:endParaRPr lang="en-US" sz="1200" dirty="0"/>
          </a:p>
        </p:txBody>
      </p:sp>
      <p:sp>
        <p:nvSpPr>
          <p:cNvPr id="17" name="Shape 15"/>
          <p:cNvSpPr/>
          <p:nvPr/>
        </p:nvSpPr>
        <p:spPr>
          <a:xfrm>
            <a:off x="9040901" y="1188720"/>
            <a:ext cx="2739314" cy="1143000"/>
          </a:xfrm>
          <a:prstGeom prst="rect">
            <a:avLst/>
          </a:prstGeom>
          <a:solidFill>
            <a:srgbClr val="F5F8FE"/>
          </a:solidFill>
          <a:ln w="9525">
            <a:solidFill>
              <a:srgbClr val="D5DCEB"/>
            </a:solidFill>
            <a:prstDash val="solid"/>
          </a:ln>
        </p:spPr>
      </p:sp>
      <p:sp>
        <p:nvSpPr>
          <p:cNvPr id="18" name="Shape 16"/>
          <p:cNvSpPr/>
          <p:nvPr/>
        </p:nvSpPr>
        <p:spPr>
          <a:xfrm>
            <a:off x="9040901" y="1188720"/>
            <a:ext cx="73152" cy="1143000"/>
          </a:xfrm>
          <a:prstGeom prst="rect">
            <a:avLst/>
          </a:prstGeom>
          <a:solidFill>
            <a:srgbClr val="2E5BD8"/>
          </a:solidFill>
          <a:ln w="12700">
            <a:solidFill>
              <a:srgbClr val="2E5BD8"/>
            </a:solidFill>
            <a:prstDash val="solid"/>
          </a:ln>
        </p:spPr>
      </p:sp>
      <p:sp>
        <p:nvSpPr>
          <p:cNvPr id="19" name="Text 17"/>
          <p:cNvSpPr/>
          <p:nvPr/>
        </p:nvSpPr>
        <p:spPr>
          <a:xfrm>
            <a:off x="9205493" y="1243584"/>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Sublimation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solid changing straight into a gas without melting.</a:t>
            </a:r>
            <a:endParaRPr lang="en-US" sz="1200" dirty="0"/>
          </a:p>
        </p:txBody>
      </p:sp>
      <p:sp>
        <p:nvSpPr>
          <p:cNvPr id="20" name="Shape 18"/>
          <p:cNvSpPr/>
          <p:nvPr/>
        </p:nvSpPr>
        <p:spPr>
          <a:xfrm>
            <a:off x="411480" y="2441448"/>
            <a:ext cx="2739314" cy="1143000"/>
          </a:xfrm>
          <a:prstGeom prst="rect">
            <a:avLst/>
          </a:prstGeom>
          <a:solidFill>
            <a:srgbClr val="F5F8FE"/>
          </a:solidFill>
          <a:ln w="9525">
            <a:solidFill>
              <a:srgbClr val="D5DCEB"/>
            </a:solidFill>
            <a:prstDash val="solid"/>
          </a:ln>
        </p:spPr>
      </p:sp>
      <p:sp>
        <p:nvSpPr>
          <p:cNvPr id="21" name="Shape 19"/>
          <p:cNvSpPr/>
          <p:nvPr/>
        </p:nvSpPr>
        <p:spPr>
          <a:xfrm>
            <a:off x="411480" y="2441448"/>
            <a:ext cx="73152" cy="1143000"/>
          </a:xfrm>
          <a:prstGeom prst="rect">
            <a:avLst/>
          </a:prstGeom>
          <a:solidFill>
            <a:srgbClr val="2E5BD8"/>
          </a:solidFill>
          <a:ln w="12700">
            <a:solidFill>
              <a:srgbClr val="2E5BD8"/>
            </a:solidFill>
            <a:prstDash val="solid"/>
          </a:ln>
        </p:spPr>
      </p:sp>
      <p:sp>
        <p:nvSpPr>
          <p:cNvPr id="22" name="Text 20"/>
          <p:cNvSpPr/>
          <p:nvPr/>
        </p:nvSpPr>
        <p:spPr>
          <a:xfrm>
            <a:off x="576072" y="2496312"/>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Conservation of mass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In a change of state no particles are made or lost, so mass stays the same.</a:t>
            </a:r>
            <a:endParaRPr lang="en-US" sz="1200" dirty="0"/>
          </a:p>
        </p:txBody>
      </p:sp>
      <p:sp>
        <p:nvSpPr>
          <p:cNvPr id="23" name="Shape 21"/>
          <p:cNvSpPr/>
          <p:nvPr/>
        </p:nvSpPr>
        <p:spPr>
          <a:xfrm>
            <a:off x="3287954" y="2441448"/>
            <a:ext cx="2739314" cy="1143000"/>
          </a:xfrm>
          <a:prstGeom prst="rect">
            <a:avLst/>
          </a:prstGeom>
          <a:solidFill>
            <a:srgbClr val="F5F8FE"/>
          </a:solidFill>
          <a:ln w="9525">
            <a:solidFill>
              <a:srgbClr val="D5DCEB"/>
            </a:solidFill>
            <a:prstDash val="solid"/>
          </a:ln>
        </p:spPr>
      </p:sp>
      <p:sp>
        <p:nvSpPr>
          <p:cNvPr id="24" name="Shape 22"/>
          <p:cNvSpPr/>
          <p:nvPr/>
        </p:nvSpPr>
        <p:spPr>
          <a:xfrm>
            <a:off x="3287954" y="2441448"/>
            <a:ext cx="73152" cy="1143000"/>
          </a:xfrm>
          <a:prstGeom prst="rect">
            <a:avLst/>
          </a:prstGeom>
          <a:solidFill>
            <a:srgbClr val="2E5BD8"/>
          </a:solidFill>
          <a:ln w="12700">
            <a:solidFill>
              <a:srgbClr val="2E5BD8"/>
            </a:solidFill>
            <a:prstDash val="solid"/>
          </a:ln>
        </p:spPr>
      </p:sp>
      <p:sp>
        <p:nvSpPr>
          <p:cNvPr id="25" name="Text 23"/>
          <p:cNvSpPr/>
          <p:nvPr/>
        </p:nvSpPr>
        <p:spPr>
          <a:xfrm>
            <a:off x="3452546" y="2496312"/>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Physical change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No new substance; reversing it recovers the original material and properties.</a:t>
            </a:r>
            <a:endParaRPr lang="en-US" sz="1200" dirty="0"/>
          </a:p>
        </p:txBody>
      </p:sp>
      <p:sp>
        <p:nvSpPr>
          <p:cNvPr id="26" name="Shape 24"/>
          <p:cNvSpPr/>
          <p:nvPr/>
        </p:nvSpPr>
        <p:spPr>
          <a:xfrm>
            <a:off x="6164428" y="2441448"/>
            <a:ext cx="2739314" cy="1143000"/>
          </a:xfrm>
          <a:prstGeom prst="rect">
            <a:avLst/>
          </a:prstGeom>
          <a:solidFill>
            <a:srgbClr val="F5F8FE"/>
          </a:solidFill>
          <a:ln w="9525">
            <a:solidFill>
              <a:srgbClr val="D5DCEB"/>
            </a:solidFill>
            <a:prstDash val="solid"/>
          </a:ln>
        </p:spPr>
      </p:sp>
      <p:sp>
        <p:nvSpPr>
          <p:cNvPr id="27" name="Shape 25"/>
          <p:cNvSpPr/>
          <p:nvPr/>
        </p:nvSpPr>
        <p:spPr>
          <a:xfrm>
            <a:off x="6164428" y="2441448"/>
            <a:ext cx="73152" cy="1143000"/>
          </a:xfrm>
          <a:prstGeom prst="rect">
            <a:avLst/>
          </a:prstGeom>
          <a:solidFill>
            <a:srgbClr val="2E5BD8"/>
          </a:solidFill>
          <a:ln w="12700">
            <a:solidFill>
              <a:srgbClr val="2E5BD8"/>
            </a:solidFill>
            <a:prstDash val="solid"/>
          </a:ln>
        </p:spPr>
      </p:sp>
      <p:sp>
        <p:nvSpPr>
          <p:cNvPr id="28" name="Text 26"/>
          <p:cNvSpPr/>
          <p:nvPr/>
        </p:nvSpPr>
        <p:spPr>
          <a:xfrm>
            <a:off x="6329020" y="2496312"/>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Chemical change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Atoms rearranged into new substances with different properties.</a:t>
            </a:r>
            <a:endParaRPr lang="en-US" sz="1200" dirty="0"/>
          </a:p>
        </p:txBody>
      </p:sp>
      <p:sp>
        <p:nvSpPr>
          <p:cNvPr id="29" name="Shape 27"/>
          <p:cNvSpPr/>
          <p:nvPr/>
        </p:nvSpPr>
        <p:spPr>
          <a:xfrm>
            <a:off x="9040901" y="2441448"/>
            <a:ext cx="2739314" cy="1143000"/>
          </a:xfrm>
          <a:prstGeom prst="rect">
            <a:avLst/>
          </a:prstGeom>
          <a:solidFill>
            <a:srgbClr val="F5F8FE"/>
          </a:solidFill>
          <a:ln w="9525">
            <a:solidFill>
              <a:srgbClr val="D5DCEB"/>
            </a:solidFill>
            <a:prstDash val="solid"/>
          </a:ln>
        </p:spPr>
      </p:sp>
      <p:sp>
        <p:nvSpPr>
          <p:cNvPr id="30" name="Shape 28"/>
          <p:cNvSpPr/>
          <p:nvPr/>
        </p:nvSpPr>
        <p:spPr>
          <a:xfrm>
            <a:off x="9040901" y="2441448"/>
            <a:ext cx="73152" cy="1143000"/>
          </a:xfrm>
          <a:prstGeom prst="rect">
            <a:avLst/>
          </a:prstGeom>
          <a:solidFill>
            <a:srgbClr val="2E5BD8"/>
          </a:solidFill>
          <a:ln w="12700">
            <a:solidFill>
              <a:srgbClr val="2E5BD8"/>
            </a:solidFill>
            <a:prstDash val="solid"/>
          </a:ln>
        </p:spPr>
      </p:sp>
      <p:sp>
        <p:nvSpPr>
          <p:cNvPr id="31" name="Text 29"/>
          <p:cNvSpPr/>
          <p:nvPr/>
        </p:nvSpPr>
        <p:spPr>
          <a:xfrm>
            <a:off x="9205493" y="2496312"/>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Displacement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Finding the volume of an object from the water it pushes out.</a:t>
            </a:r>
            <a:endParaRPr lang="en-US" sz="1200" dirty="0"/>
          </a:p>
        </p:txBody>
      </p:sp>
      <p:sp>
        <p:nvSpPr>
          <p:cNvPr id="32" name="Shape 30"/>
          <p:cNvSpPr/>
          <p:nvPr/>
        </p:nvSpPr>
        <p:spPr>
          <a:xfrm>
            <a:off x="411480" y="3694176"/>
            <a:ext cx="2739314" cy="1143000"/>
          </a:xfrm>
          <a:prstGeom prst="rect">
            <a:avLst/>
          </a:prstGeom>
          <a:solidFill>
            <a:srgbClr val="F5F8FE"/>
          </a:solidFill>
          <a:ln w="9525">
            <a:solidFill>
              <a:srgbClr val="D5DCEB"/>
            </a:solidFill>
            <a:prstDash val="solid"/>
          </a:ln>
        </p:spPr>
      </p:sp>
      <p:sp>
        <p:nvSpPr>
          <p:cNvPr id="33" name="Shape 31"/>
          <p:cNvSpPr/>
          <p:nvPr/>
        </p:nvSpPr>
        <p:spPr>
          <a:xfrm>
            <a:off x="411480" y="3694176"/>
            <a:ext cx="73152" cy="1143000"/>
          </a:xfrm>
          <a:prstGeom prst="rect">
            <a:avLst/>
          </a:prstGeom>
          <a:solidFill>
            <a:srgbClr val="2E5BD8"/>
          </a:solidFill>
          <a:ln w="12700">
            <a:solidFill>
              <a:srgbClr val="2E5BD8"/>
            </a:solidFill>
            <a:prstDash val="solid"/>
          </a:ln>
        </p:spPr>
      </p:sp>
      <p:sp>
        <p:nvSpPr>
          <p:cNvPr id="34" name="Text 32"/>
          <p:cNvSpPr/>
          <p:nvPr/>
        </p:nvSpPr>
        <p:spPr>
          <a:xfrm>
            <a:off x="576072" y="3749040"/>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Internal energy</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Total kinetic and potential energy of the particles in a system.</a:t>
            </a:r>
            <a:endParaRPr lang="en-US" sz="1200" dirty="0"/>
          </a:p>
        </p:txBody>
      </p:sp>
      <p:sp>
        <p:nvSpPr>
          <p:cNvPr id="35" name="Shape 33"/>
          <p:cNvSpPr/>
          <p:nvPr/>
        </p:nvSpPr>
        <p:spPr>
          <a:xfrm>
            <a:off x="3287954" y="3694176"/>
            <a:ext cx="2739314" cy="1143000"/>
          </a:xfrm>
          <a:prstGeom prst="rect">
            <a:avLst/>
          </a:prstGeom>
          <a:solidFill>
            <a:srgbClr val="F5F8FE"/>
          </a:solidFill>
          <a:ln w="9525">
            <a:solidFill>
              <a:srgbClr val="D5DCEB"/>
            </a:solidFill>
            <a:prstDash val="solid"/>
          </a:ln>
        </p:spPr>
      </p:sp>
      <p:sp>
        <p:nvSpPr>
          <p:cNvPr id="36" name="Shape 34"/>
          <p:cNvSpPr/>
          <p:nvPr/>
        </p:nvSpPr>
        <p:spPr>
          <a:xfrm>
            <a:off x="3287954" y="3694176"/>
            <a:ext cx="73152" cy="1143000"/>
          </a:xfrm>
          <a:prstGeom prst="rect">
            <a:avLst/>
          </a:prstGeom>
          <a:solidFill>
            <a:srgbClr val="2E5BD8"/>
          </a:solidFill>
          <a:ln w="12700">
            <a:solidFill>
              <a:srgbClr val="2E5BD8"/>
            </a:solidFill>
            <a:prstDash val="solid"/>
          </a:ln>
        </p:spPr>
      </p:sp>
      <p:sp>
        <p:nvSpPr>
          <p:cNvPr id="37" name="Text 35"/>
          <p:cNvSpPr/>
          <p:nvPr/>
        </p:nvSpPr>
        <p:spPr>
          <a:xfrm>
            <a:off x="3452546" y="3749040"/>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Temperature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Rises when the particles gain kinetic energy (move faster).</a:t>
            </a:r>
            <a:endParaRPr lang="en-US" sz="1200" dirty="0"/>
          </a:p>
        </p:txBody>
      </p:sp>
      <p:sp>
        <p:nvSpPr>
          <p:cNvPr id="38" name="Shape 36"/>
          <p:cNvSpPr/>
          <p:nvPr/>
        </p:nvSpPr>
        <p:spPr>
          <a:xfrm>
            <a:off x="6164428" y="3694176"/>
            <a:ext cx="2739314" cy="1143000"/>
          </a:xfrm>
          <a:prstGeom prst="rect">
            <a:avLst/>
          </a:prstGeom>
          <a:solidFill>
            <a:srgbClr val="F5F8FE"/>
          </a:solidFill>
          <a:ln w="9525">
            <a:solidFill>
              <a:srgbClr val="D5DCEB"/>
            </a:solidFill>
            <a:prstDash val="solid"/>
          </a:ln>
        </p:spPr>
      </p:sp>
      <p:sp>
        <p:nvSpPr>
          <p:cNvPr id="39" name="Shape 37"/>
          <p:cNvSpPr/>
          <p:nvPr/>
        </p:nvSpPr>
        <p:spPr>
          <a:xfrm>
            <a:off x="6164428" y="3694176"/>
            <a:ext cx="73152" cy="1143000"/>
          </a:xfrm>
          <a:prstGeom prst="rect">
            <a:avLst/>
          </a:prstGeom>
          <a:solidFill>
            <a:srgbClr val="2E5BD8"/>
          </a:solidFill>
          <a:ln w="12700">
            <a:solidFill>
              <a:srgbClr val="2E5BD8"/>
            </a:solidFill>
            <a:prstDash val="solid"/>
          </a:ln>
        </p:spPr>
      </p:sp>
      <p:sp>
        <p:nvSpPr>
          <p:cNvPr id="40" name="Text 38"/>
          <p:cNvSpPr/>
          <p:nvPr/>
        </p:nvSpPr>
        <p:spPr>
          <a:xfrm>
            <a:off x="6329020" y="3749040"/>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Specific heat capacity</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Energy to raise the temperature of 1 kg by 1 °C (J/kg °C).</a:t>
            </a:r>
            <a:endParaRPr lang="en-US" sz="1200" dirty="0"/>
          </a:p>
        </p:txBody>
      </p:sp>
      <p:sp>
        <p:nvSpPr>
          <p:cNvPr id="41" name="Shape 39"/>
          <p:cNvSpPr/>
          <p:nvPr/>
        </p:nvSpPr>
        <p:spPr>
          <a:xfrm>
            <a:off x="9040901" y="3694176"/>
            <a:ext cx="2739314" cy="1143000"/>
          </a:xfrm>
          <a:prstGeom prst="rect">
            <a:avLst/>
          </a:prstGeom>
          <a:solidFill>
            <a:srgbClr val="F5F8FE"/>
          </a:solidFill>
          <a:ln w="9525">
            <a:solidFill>
              <a:srgbClr val="D5DCEB"/>
            </a:solidFill>
            <a:prstDash val="solid"/>
          </a:ln>
        </p:spPr>
      </p:sp>
      <p:sp>
        <p:nvSpPr>
          <p:cNvPr id="42" name="Shape 40"/>
          <p:cNvSpPr/>
          <p:nvPr/>
        </p:nvSpPr>
        <p:spPr>
          <a:xfrm>
            <a:off x="9040901" y="3694176"/>
            <a:ext cx="73152" cy="1143000"/>
          </a:xfrm>
          <a:prstGeom prst="rect">
            <a:avLst/>
          </a:prstGeom>
          <a:solidFill>
            <a:srgbClr val="2E5BD8"/>
          </a:solidFill>
          <a:ln w="12700">
            <a:solidFill>
              <a:srgbClr val="2E5BD8"/>
            </a:solidFill>
            <a:prstDash val="solid"/>
          </a:ln>
        </p:spPr>
      </p:sp>
      <p:sp>
        <p:nvSpPr>
          <p:cNvPr id="43" name="Text 41"/>
          <p:cNvSpPr/>
          <p:nvPr/>
        </p:nvSpPr>
        <p:spPr>
          <a:xfrm>
            <a:off x="9205493" y="3749040"/>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Specific latent heat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Energy to change the state of 1 kg with no temperature change (J/kg).</a:t>
            </a:r>
            <a:endParaRPr lang="en-US" sz="1200" dirty="0"/>
          </a:p>
        </p:txBody>
      </p:sp>
      <p:sp>
        <p:nvSpPr>
          <p:cNvPr id="44" name="Shape 42"/>
          <p:cNvSpPr/>
          <p:nvPr/>
        </p:nvSpPr>
        <p:spPr>
          <a:xfrm>
            <a:off x="411480" y="4946904"/>
            <a:ext cx="2739314" cy="1143000"/>
          </a:xfrm>
          <a:prstGeom prst="rect">
            <a:avLst/>
          </a:prstGeom>
          <a:solidFill>
            <a:srgbClr val="F5F8FE"/>
          </a:solidFill>
          <a:ln w="9525">
            <a:solidFill>
              <a:srgbClr val="D5DCEB"/>
            </a:solidFill>
            <a:prstDash val="solid"/>
          </a:ln>
        </p:spPr>
      </p:sp>
      <p:sp>
        <p:nvSpPr>
          <p:cNvPr id="45" name="Shape 43"/>
          <p:cNvSpPr/>
          <p:nvPr/>
        </p:nvSpPr>
        <p:spPr>
          <a:xfrm>
            <a:off x="411480" y="4946904"/>
            <a:ext cx="73152" cy="1143000"/>
          </a:xfrm>
          <a:prstGeom prst="rect">
            <a:avLst/>
          </a:prstGeom>
          <a:solidFill>
            <a:srgbClr val="2E5BD8"/>
          </a:solidFill>
          <a:ln w="12700">
            <a:solidFill>
              <a:srgbClr val="2E5BD8"/>
            </a:solidFill>
            <a:prstDash val="solid"/>
          </a:ln>
        </p:spPr>
      </p:sp>
      <p:sp>
        <p:nvSpPr>
          <p:cNvPr id="46" name="Text 44"/>
          <p:cNvSpPr/>
          <p:nvPr/>
        </p:nvSpPr>
        <p:spPr>
          <a:xfrm>
            <a:off x="576072" y="5001768"/>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Latent heat of fusion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For melting or freezing (solid ↔ liquid).</a:t>
            </a:r>
            <a:endParaRPr lang="en-US" sz="1200" dirty="0"/>
          </a:p>
        </p:txBody>
      </p:sp>
      <p:sp>
        <p:nvSpPr>
          <p:cNvPr id="47" name="Shape 45"/>
          <p:cNvSpPr/>
          <p:nvPr/>
        </p:nvSpPr>
        <p:spPr>
          <a:xfrm>
            <a:off x="3287954" y="4946904"/>
            <a:ext cx="2739314" cy="1143000"/>
          </a:xfrm>
          <a:prstGeom prst="rect">
            <a:avLst/>
          </a:prstGeom>
          <a:solidFill>
            <a:srgbClr val="F5F8FE"/>
          </a:solidFill>
          <a:ln w="9525">
            <a:solidFill>
              <a:srgbClr val="D5DCEB"/>
            </a:solidFill>
            <a:prstDash val="solid"/>
          </a:ln>
        </p:spPr>
      </p:sp>
      <p:sp>
        <p:nvSpPr>
          <p:cNvPr id="48" name="Shape 46"/>
          <p:cNvSpPr/>
          <p:nvPr/>
        </p:nvSpPr>
        <p:spPr>
          <a:xfrm>
            <a:off x="3287954" y="4946904"/>
            <a:ext cx="73152" cy="1143000"/>
          </a:xfrm>
          <a:prstGeom prst="rect">
            <a:avLst/>
          </a:prstGeom>
          <a:solidFill>
            <a:srgbClr val="2E5BD8"/>
          </a:solidFill>
          <a:ln w="12700">
            <a:solidFill>
              <a:srgbClr val="2E5BD8"/>
            </a:solidFill>
            <a:prstDash val="solid"/>
          </a:ln>
        </p:spPr>
      </p:sp>
      <p:sp>
        <p:nvSpPr>
          <p:cNvPr id="49" name="Text 47"/>
          <p:cNvSpPr/>
          <p:nvPr/>
        </p:nvSpPr>
        <p:spPr>
          <a:xfrm>
            <a:off x="3452546" y="5001768"/>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Latent heat of vaporisation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For boiling or condensing (liquid ↔ gas).</a:t>
            </a:r>
            <a:endParaRPr lang="en-US" sz="1200" dirty="0"/>
          </a:p>
        </p:txBody>
      </p:sp>
      <p:sp>
        <p:nvSpPr>
          <p:cNvPr id="50" name="Shape 48"/>
          <p:cNvSpPr/>
          <p:nvPr/>
        </p:nvSpPr>
        <p:spPr>
          <a:xfrm>
            <a:off x="6164428" y="4946904"/>
            <a:ext cx="2739314" cy="1143000"/>
          </a:xfrm>
          <a:prstGeom prst="rect">
            <a:avLst/>
          </a:prstGeom>
          <a:solidFill>
            <a:srgbClr val="F5F8FE"/>
          </a:solidFill>
          <a:ln w="9525">
            <a:solidFill>
              <a:srgbClr val="D5DCEB"/>
            </a:solidFill>
            <a:prstDash val="solid"/>
          </a:ln>
        </p:spPr>
      </p:sp>
      <p:sp>
        <p:nvSpPr>
          <p:cNvPr id="51" name="Shape 49"/>
          <p:cNvSpPr/>
          <p:nvPr/>
        </p:nvSpPr>
        <p:spPr>
          <a:xfrm>
            <a:off x="6164428" y="4946904"/>
            <a:ext cx="73152" cy="1143000"/>
          </a:xfrm>
          <a:prstGeom prst="rect">
            <a:avLst/>
          </a:prstGeom>
          <a:solidFill>
            <a:srgbClr val="2E5BD8"/>
          </a:solidFill>
          <a:ln w="12700">
            <a:solidFill>
              <a:srgbClr val="2E5BD8"/>
            </a:solidFill>
            <a:prstDash val="solid"/>
          </a:ln>
        </p:spPr>
      </p:sp>
      <p:sp>
        <p:nvSpPr>
          <p:cNvPr id="52" name="Text 50"/>
          <p:cNvSpPr/>
          <p:nvPr/>
        </p:nvSpPr>
        <p:spPr>
          <a:xfrm>
            <a:off x="6329020" y="5001768"/>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Heating curve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Graph of temperature against time; flat sections show changes of state.</a:t>
            </a:r>
            <a:endParaRPr lang="en-US" sz="1200" dirty="0"/>
          </a:p>
        </p:txBody>
      </p:sp>
      <p:sp>
        <p:nvSpPr>
          <p:cNvPr id="53" name="Shape 51"/>
          <p:cNvSpPr/>
          <p:nvPr/>
        </p:nvSpPr>
        <p:spPr>
          <a:xfrm>
            <a:off x="9040901" y="4946904"/>
            <a:ext cx="2739314" cy="1143000"/>
          </a:xfrm>
          <a:prstGeom prst="rect">
            <a:avLst/>
          </a:prstGeom>
          <a:solidFill>
            <a:srgbClr val="F5F8FE"/>
          </a:solidFill>
          <a:ln w="9525">
            <a:solidFill>
              <a:srgbClr val="D5DCEB"/>
            </a:solidFill>
            <a:prstDash val="solid"/>
          </a:ln>
        </p:spPr>
      </p:sp>
      <p:sp>
        <p:nvSpPr>
          <p:cNvPr id="54" name="Shape 52"/>
          <p:cNvSpPr/>
          <p:nvPr/>
        </p:nvSpPr>
        <p:spPr>
          <a:xfrm>
            <a:off x="9040901" y="4946904"/>
            <a:ext cx="73152" cy="1143000"/>
          </a:xfrm>
          <a:prstGeom prst="rect">
            <a:avLst/>
          </a:prstGeom>
          <a:solidFill>
            <a:srgbClr val="2E5BD8"/>
          </a:solidFill>
          <a:ln w="12700">
            <a:solidFill>
              <a:srgbClr val="2E5BD8"/>
            </a:solidFill>
            <a:prstDash val="solid"/>
          </a:ln>
        </p:spPr>
      </p:sp>
      <p:sp>
        <p:nvSpPr>
          <p:cNvPr id="55" name="Text 53"/>
          <p:cNvSpPr/>
          <p:nvPr/>
        </p:nvSpPr>
        <p:spPr>
          <a:xfrm>
            <a:off x="9205493" y="5001768"/>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Insulation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Reduces energy transfer to the surroundings in PAG P5.</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Summary: equations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Recall or given? Check against the J260 equation sheet</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P6.1 How does energy transform matter?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Equations  |  24</a:t>
            </a:r>
            <a:endParaRPr lang="en-US" sz="1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11480" y="1234440"/>
          <a:ext cx="11368735" cy="914400"/>
        </p:xfrm>
        <a:graphic>
          <a:graphicData uri="http://schemas.openxmlformats.org/drawingml/2006/table">
            <a:tbl>
              <a:tblPr/>
              <a:tblGrid>
                <a:gridCol w="2377440"/>
                <a:gridCol w="6172200"/>
                <a:gridCol w="1463040"/>
                <a:gridCol w="1356055"/>
              </a:tblGrid>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Equation</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 words (units)</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Recall or given?</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Spec</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r>
              <a:tr h="566928">
                <a:tc>
                  <a:txBody>
                    <a:bodyPr/>
                    <a:lstStyle/>
                    <a:p>
                      <a:pPr indent="0" marL="0">
                        <a:buNone/>
                      </a:pPr>
                      <a:r>
                        <a:rPr lang="en-US" sz="1400" b="1" dirty="0">
                          <a:solidFill>
                            <a:srgbClr val="1A2340"/>
                          </a:solidFill>
                          <a:latin typeface="Georgia" pitchFamily="34" charset="0"/>
                          <a:ea typeface="Georgia" pitchFamily="34" charset="-122"/>
                          <a:cs typeface="Georgia" pitchFamily="34" charset="-120"/>
                        </a:rPr>
                        <a:t>ρ = m ÷ V</a:t>
                      </a:r>
                      <a:endParaRPr lang="en-US" sz="1400" dirty="0">
                        <a:latin typeface="Georgia" charset="0"/>
                        <a:ea typeface="Georgia" charset="0"/>
                        <a:cs typeface="Georgia"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density (kg/m³) = mass (kg) ÷ volume (m³)</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2E5BD8"/>
                          </a:solidFill>
                          <a:latin typeface="Calibri" pitchFamily="34" charset="0"/>
                          <a:ea typeface="Calibri" pitchFamily="34" charset="-122"/>
                          <a:cs typeface="Calibri" pitchFamily="34" charset="-120"/>
                        </a:rPr>
                        <a:t>P6.1.4</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566928">
                <a:tc>
                  <a:txBody>
                    <a:bodyPr/>
                    <a:lstStyle/>
                    <a:p>
                      <a:pPr indent="0" marL="0">
                        <a:buNone/>
                      </a:pPr>
                      <a:r>
                        <a:rPr lang="en-US" sz="1400" b="1" dirty="0">
                          <a:solidFill>
                            <a:srgbClr val="1A2340"/>
                          </a:solidFill>
                          <a:latin typeface="Georgia" pitchFamily="34" charset="0"/>
                          <a:ea typeface="Georgia" pitchFamily="34" charset="-122"/>
                          <a:cs typeface="Georgia" pitchFamily="34" charset="-120"/>
                        </a:rPr>
                        <a:t>ΔE = m × c × Δθ</a:t>
                      </a:r>
                      <a:endParaRPr lang="en-US" sz="1400" dirty="0">
                        <a:latin typeface="Georgia" charset="0"/>
                        <a:ea typeface="Georgia" charset="0"/>
                        <a:cs typeface="Georgia"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change in internal energy (J) = mass (kg) × specific heat capacity (J/kg °C) × change in temperature (°C)</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b="1" dirty="0">
                          <a:solidFill>
                            <a:srgbClr val="2E8B57"/>
                          </a:solidFill>
                          <a:latin typeface="Calibri" pitchFamily="34" charset="0"/>
                          <a:ea typeface="Calibri" pitchFamily="34" charset="-122"/>
                          <a:cs typeface="Calibri" pitchFamily="34" charset="-120"/>
                        </a:rPr>
                        <a:t>GIVEN (J260 sheet)</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b="1" dirty="0">
                          <a:solidFill>
                            <a:srgbClr val="2E5BD8"/>
                          </a:solidFill>
                          <a:latin typeface="Calibri" pitchFamily="34" charset="0"/>
                          <a:ea typeface="Calibri" pitchFamily="34" charset="-122"/>
                          <a:cs typeface="Calibri" pitchFamily="34" charset="-120"/>
                        </a:rPr>
                        <a:t>P6.1.7</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A2340"/>
                          </a:solidFill>
                          <a:latin typeface="Georgia" pitchFamily="34" charset="0"/>
                          <a:ea typeface="Georgia" pitchFamily="34" charset="-122"/>
                          <a:cs typeface="Georgia" pitchFamily="34" charset="-120"/>
                        </a:rPr>
                        <a:t>E = m × L</a:t>
                      </a:r>
                      <a:endParaRPr lang="en-US" sz="1400" dirty="0">
                        <a:latin typeface="Georgia" charset="0"/>
                        <a:ea typeface="Georgia" charset="0"/>
                        <a:cs typeface="Georgia"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energy to cause a change of state (J) = mass (kg) × specific latent heat (J/kg)</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2E8B57"/>
                          </a:solidFill>
                          <a:latin typeface="Calibri" pitchFamily="34" charset="0"/>
                          <a:ea typeface="Calibri" pitchFamily="34" charset="-122"/>
                          <a:cs typeface="Calibri" pitchFamily="34" charset="-120"/>
                        </a:rPr>
                        <a:t>GIVEN (J260 sheet)</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2E5BD8"/>
                          </a:solidFill>
                          <a:latin typeface="Calibri" pitchFamily="34" charset="0"/>
                          <a:ea typeface="Calibri" pitchFamily="34" charset="-122"/>
                          <a:cs typeface="Calibri" pitchFamily="34" charset="-120"/>
                        </a:rPr>
                        <a:t>P6.1.8</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566928">
                <a:tc>
                  <a:txBody>
                    <a:bodyPr/>
                    <a:lstStyle/>
                    <a:p>
                      <a:pPr indent="0" marL="0">
                        <a:buNone/>
                      </a:pPr>
                      <a:r>
                        <a:rPr lang="en-US" sz="1400" b="1" dirty="0">
                          <a:solidFill>
                            <a:srgbClr val="1A2340"/>
                          </a:solidFill>
                          <a:latin typeface="Georgia" pitchFamily="34" charset="0"/>
                          <a:ea typeface="Georgia" pitchFamily="34" charset="-122"/>
                          <a:cs typeface="Georgia" pitchFamily="34" charset="-120"/>
                        </a:rPr>
                        <a:t>P = E ÷ t</a:t>
                      </a:r>
                      <a:endParaRPr lang="en-US" sz="1400" dirty="0">
                        <a:latin typeface="Georgia" charset="0"/>
                        <a:ea typeface="Georgia" charset="0"/>
                        <a:cs typeface="Georgia"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power (W) = energy transferred (J) ÷ time (s)</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b="1" dirty="0">
                          <a:solidFill>
                            <a:srgbClr val="2E5BD8"/>
                          </a:solidFill>
                          <a:latin typeface="Calibri" pitchFamily="34" charset="0"/>
                          <a:ea typeface="Calibri" pitchFamily="34" charset="-122"/>
                          <a:cs typeface="Calibri" pitchFamily="34" charset="-120"/>
                        </a:rPr>
                        <a:t>PAG P5</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A2340"/>
                          </a:solidFill>
                          <a:latin typeface="Georgia" pitchFamily="34" charset="0"/>
                          <a:ea typeface="Georgia" pitchFamily="34" charset="-122"/>
                          <a:cs typeface="Georgia" pitchFamily="34" charset="-120"/>
                        </a:rPr>
                        <a:t>P = V × I</a:t>
                      </a:r>
                      <a:endParaRPr lang="en-US" sz="1400" dirty="0">
                        <a:latin typeface="Georgia" charset="0"/>
                        <a:ea typeface="Georgia" charset="0"/>
                        <a:cs typeface="Georgia"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power (W) = potential difference (V) × current (A)</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2E5BD8"/>
                          </a:solidFill>
                          <a:latin typeface="Calibri" pitchFamily="34" charset="0"/>
                          <a:ea typeface="Calibri" pitchFamily="34" charset="-122"/>
                          <a:cs typeface="Calibri" pitchFamily="34" charset="-120"/>
                        </a:rPr>
                        <a:t>PAG P5</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bl>
          </a:graphicData>
        </a:graphic>
      </p:graphicFrame>
      <p:sp>
        <p:nvSpPr>
          <p:cNvPr id="9" name="Shape 6"/>
          <p:cNvSpPr/>
          <p:nvPr/>
        </p:nvSpPr>
        <p:spPr>
          <a:xfrm>
            <a:off x="411480" y="5833872"/>
            <a:ext cx="11368735" cy="530352"/>
          </a:xfrm>
          <a:prstGeom prst="rect">
            <a:avLst/>
          </a:prstGeom>
          <a:solidFill>
            <a:srgbClr val="FFF4E0"/>
          </a:solidFill>
          <a:ln w="6350">
            <a:solidFill>
              <a:srgbClr val="F1D9A8"/>
            </a:solidFill>
            <a:prstDash val="solid"/>
          </a:ln>
        </p:spPr>
      </p:sp>
      <p:sp>
        <p:nvSpPr>
          <p:cNvPr id="10" name="Shape 7"/>
          <p:cNvSpPr/>
          <p:nvPr/>
        </p:nvSpPr>
        <p:spPr>
          <a:xfrm>
            <a:off x="411480" y="5833872"/>
            <a:ext cx="82296" cy="530352"/>
          </a:xfrm>
          <a:prstGeom prst="rect">
            <a:avLst/>
          </a:prstGeom>
          <a:solidFill>
            <a:srgbClr val="E39A2F"/>
          </a:solidFill>
          <a:ln w="12700">
            <a:solidFill>
              <a:srgbClr val="E39A2F"/>
            </a:solidFill>
            <a:prstDash val="solid"/>
          </a:ln>
        </p:spPr>
      </p:sp>
      <p:sp>
        <p:nvSpPr>
          <p:cNvPr id="11" name="Text 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Which of these equations must you learn by heart? Which two can you look up on the equation sheet?</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Full exam question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P6.1.1–P6.1.8 • answer every part • 13 marks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P6.1 How does energy transform matter?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Full question  |  25</a:t>
            </a:r>
            <a:endParaRPr lang="en-US" sz="1000" dirty="0"/>
          </a:p>
        </p:txBody>
      </p:sp>
      <p:sp>
        <p:nvSpPr>
          <p:cNvPr id="8" name="Text 6"/>
          <p:cNvSpPr/>
          <p:nvPr/>
        </p:nvSpPr>
        <p:spPr>
          <a:xfrm>
            <a:off x="411480" y="1143000"/>
            <a:ext cx="11368735" cy="502920"/>
          </a:xfrm>
          <a:prstGeom prst="rect">
            <a:avLst/>
          </a:prstGeom>
          <a:noFill/>
          <a:ln/>
        </p:spPr>
        <p:txBody>
          <a:bodyPr wrap="square" lIns="0" tIns="0" rIns="0" bIns="0" rtlCol="0" anchor="ctr"/>
          <a:lstStyle/>
          <a:p>
            <a:pPr indent="0" marL="0">
              <a:buNone/>
            </a:pPr>
            <a:r>
              <a:rPr lang="en-US" sz="1200" i="1" dirty="0">
                <a:solidFill>
                  <a:srgbClr val="262B3A"/>
                </a:solidFill>
                <a:latin typeface="Calibri" pitchFamily="34" charset="0"/>
                <a:ea typeface="Calibri" pitchFamily="34" charset="-122"/>
                <a:cs typeface="Calibri" pitchFamily="34" charset="-120"/>
              </a:rPr>
              <a:t>A student uses an electric kettle to heat </a:t>
            </a:r>
            <a:r>
              <a:rPr lang="en-US" sz="1200" b="1" i="1" dirty="0">
                <a:solidFill>
                  <a:srgbClr val="262B3A"/>
                </a:solidFill>
                <a:latin typeface="Calibri" pitchFamily="34" charset="0"/>
                <a:ea typeface="Calibri" pitchFamily="34" charset="-122"/>
                <a:cs typeface="Calibri" pitchFamily="34" charset="-120"/>
              </a:rPr>
              <a:t>0.50 kg</a:t>
            </a:r>
            <a:r>
              <a:rPr lang="en-US" sz="1200" i="1" dirty="0">
                <a:solidFill>
                  <a:srgbClr val="262B3A"/>
                </a:solidFill>
                <a:latin typeface="Calibri" pitchFamily="34" charset="0"/>
                <a:ea typeface="Calibri" pitchFamily="34" charset="-122"/>
                <a:cs typeface="Calibri" pitchFamily="34" charset="-120"/>
              </a:rPr>
              <a:t> of water from </a:t>
            </a:r>
            <a:r>
              <a:rPr lang="en-US" sz="1200" b="1" i="1" dirty="0">
                <a:solidFill>
                  <a:srgbClr val="262B3A"/>
                </a:solidFill>
                <a:latin typeface="Calibri" pitchFamily="34" charset="0"/>
                <a:ea typeface="Calibri" pitchFamily="34" charset="-122"/>
                <a:cs typeface="Calibri" pitchFamily="34" charset="-120"/>
              </a:rPr>
              <a:t>20 °C</a:t>
            </a:r>
            <a:r>
              <a:rPr lang="en-US" sz="1200" i="1" dirty="0">
                <a:solidFill>
                  <a:srgbClr val="262B3A"/>
                </a:solidFill>
                <a:latin typeface="Calibri" pitchFamily="34" charset="0"/>
                <a:ea typeface="Calibri" pitchFamily="34" charset="-122"/>
                <a:cs typeface="Calibri" pitchFamily="34" charset="-120"/>
              </a:rPr>
              <a:t> to its boiling point, </a:t>
            </a:r>
            <a:r>
              <a:rPr lang="en-US" sz="1200" b="1" i="1" dirty="0">
                <a:solidFill>
                  <a:srgbClr val="262B3A"/>
                </a:solidFill>
                <a:latin typeface="Calibri" pitchFamily="34" charset="0"/>
                <a:ea typeface="Calibri" pitchFamily="34" charset="-122"/>
                <a:cs typeface="Calibri" pitchFamily="34" charset="-120"/>
              </a:rPr>
              <a:t>100 °C</a:t>
            </a:r>
            <a:r>
              <a:rPr lang="en-US" sz="1200" i="1" dirty="0">
                <a:solidFill>
                  <a:srgbClr val="262B3A"/>
                </a:solidFill>
                <a:latin typeface="Calibri" pitchFamily="34" charset="0"/>
                <a:ea typeface="Calibri" pitchFamily="34" charset="-122"/>
                <a:cs typeface="Calibri" pitchFamily="34" charset="-120"/>
              </a:rPr>
              <a:t>. Specific heat capacity of water = 4200 J/kg °C. Specific latent heat of vaporisation of water = 2 260 000 J/kg.</a:t>
            </a:r>
            <a:endParaRPr lang="en-US" sz="1200" dirty="0"/>
          </a:p>
        </p:txBody>
      </p:sp>
      <p:sp>
        <p:nvSpPr>
          <p:cNvPr id="9" name="Shape 7"/>
          <p:cNvSpPr/>
          <p:nvPr/>
        </p:nvSpPr>
        <p:spPr>
          <a:xfrm>
            <a:off x="411480" y="1719072"/>
            <a:ext cx="5570068" cy="1742956"/>
          </a:xfrm>
          <a:prstGeom prst="roundRect">
            <a:avLst>
              <a:gd name="adj" fmla="val 2623"/>
            </a:avLst>
          </a:prstGeom>
          <a:solidFill>
            <a:srgbClr val="F5F8FE"/>
          </a:solidFill>
          <a:ln w="9525">
            <a:solidFill>
              <a:srgbClr val="D5DCEB"/>
            </a:solidFill>
            <a:prstDash val="solid"/>
          </a:ln>
        </p:spPr>
      </p:sp>
      <p:sp>
        <p:nvSpPr>
          <p:cNvPr id="10" name="Text 8"/>
          <p:cNvSpPr/>
          <p:nvPr/>
        </p:nvSpPr>
        <p:spPr>
          <a:xfrm>
            <a:off x="548640" y="1792224"/>
            <a:ext cx="5295748" cy="1377196"/>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(a)  </a:t>
            </a:r>
            <a:r>
              <a:rPr lang="en-US" sz="1200" dirty="0">
                <a:solidFill>
                  <a:srgbClr val="262B3A"/>
                </a:solidFill>
                <a:latin typeface="Calibri" pitchFamily="34" charset="0"/>
                <a:ea typeface="Calibri" pitchFamily="34" charset="-122"/>
                <a:cs typeface="Calibri" pitchFamily="34" charset="-120"/>
              </a:rPr>
              <a:t>Describe the arrangement and movement of the particles in liquid water and in steam. Use your answer to explain why steam is much less dense than water.</a:t>
            </a:r>
            <a:endParaRPr lang="en-US" sz="1200" dirty="0"/>
          </a:p>
        </p:txBody>
      </p:sp>
      <p:sp>
        <p:nvSpPr>
          <p:cNvPr id="11" name="Text 9"/>
          <p:cNvSpPr/>
          <p:nvPr/>
        </p:nvSpPr>
        <p:spPr>
          <a:xfrm>
            <a:off x="4518508" y="3151132"/>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2" name="Shape 10"/>
          <p:cNvSpPr/>
          <p:nvPr/>
        </p:nvSpPr>
        <p:spPr>
          <a:xfrm>
            <a:off x="411480" y="3571756"/>
            <a:ext cx="5570068" cy="1291078"/>
          </a:xfrm>
          <a:prstGeom prst="roundRect">
            <a:avLst>
              <a:gd name="adj" fmla="val 3541"/>
            </a:avLst>
          </a:prstGeom>
          <a:solidFill>
            <a:srgbClr val="FFFFFF"/>
          </a:solidFill>
          <a:ln w="9525">
            <a:solidFill>
              <a:srgbClr val="D5DCEB"/>
            </a:solidFill>
            <a:prstDash val="solid"/>
          </a:ln>
        </p:spPr>
      </p:sp>
      <p:sp>
        <p:nvSpPr>
          <p:cNvPr id="13" name="Text 11"/>
          <p:cNvSpPr/>
          <p:nvPr/>
        </p:nvSpPr>
        <p:spPr>
          <a:xfrm>
            <a:off x="548640" y="3644908"/>
            <a:ext cx="5295748" cy="925318"/>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(b)  </a:t>
            </a:r>
            <a:r>
              <a:rPr lang="en-US" sz="1200" dirty="0">
                <a:solidFill>
                  <a:srgbClr val="262B3A"/>
                </a:solidFill>
                <a:latin typeface="Calibri" pitchFamily="34" charset="0"/>
                <a:ea typeface="Calibri" pitchFamily="34" charset="-122"/>
                <a:cs typeface="Calibri" pitchFamily="34" charset="-120"/>
              </a:rPr>
              <a:t>Calculate the energy needed to heat the water from 20 °C to 100 °C.</a:t>
            </a:r>
            <a:endParaRPr lang="en-US" sz="1200" dirty="0"/>
          </a:p>
        </p:txBody>
      </p:sp>
      <p:sp>
        <p:nvSpPr>
          <p:cNvPr id="14" name="Text 12"/>
          <p:cNvSpPr/>
          <p:nvPr/>
        </p:nvSpPr>
        <p:spPr>
          <a:xfrm>
            <a:off x="4518508" y="4551938"/>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4972562"/>
            <a:ext cx="5570068" cy="1291078"/>
          </a:xfrm>
          <a:prstGeom prst="roundRect">
            <a:avLst>
              <a:gd name="adj" fmla="val 3541"/>
            </a:avLst>
          </a:prstGeom>
          <a:solidFill>
            <a:srgbClr val="F5F8FE"/>
          </a:solidFill>
          <a:ln w="9525">
            <a:solidFill>
              <a:srgbClr val="D5DCEB"/>
            </a:solidFill>
            <a:prstDash val="solid"/>
          </a:ln>
        </p:spPr>
      </p:sp>
      <p:sp>
        <p:nvSpPr>
          <p:cNvPr id="16" name="Text 14"/>
          <p:cNvSpPr/>
          <p:nvPr/>
        </p:nvSpPr>
        <p:spPr>
          <a:xfrm>
            <a:off x="548640" y="5045714"/>
            <a:ext cx="5295748" cy="925318"/>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(c)  </a:t>
            </a:r>
            <a:r>
              <a:rPr lang="en-US" sz="1200" dirty="0">
                <a:solidFill>
                  <a:srgbClr val="262B3A"/>
                </a:solidFill>
                <a:latin typeface="Calibri" pitchFamily="34" charset="0"/>
                <a:ea typeface="Calibri" pitchFamily="34" charset="-122"/>
                <a:cs typeface="Calibri" pitchFamily="34" charset="-120"/>
              </a:rPr>
              <a:t>The kettle has a power of </a:t>
            </a:r>
            <a:r>
              <a:rPr lang="en-US" sz="1200" b="1" dirty="0">
                <a:solidFill>
                  <a:srgbClr val="262B3A"/>
                </a:solidFill>
                <a:latin typeface="Calibri" pitchFamily="34" charset="0"/>
                <a:ea typeface="Calibri" pitchFamily="34" charset="-122"/>
                <a:cs typeface="Calibri" pitchFamily="34" charset="-120"/>
              </a:rPr>
              <a:t>2000 W</a:t>
            </a:r>
            <a:r>
              <a:rPr lang="en-US" sz="1200" dirty="0">
                <a:solidFill>
                  <a:srgbClr val="262B3A"/>
                </a:solidFill>
                <a:latin typeface="Calibri" pitchFamily="34" charset="0"/>
                <a:ea typeface="Calibri" pitchFamily="34" charset="-122"/>
                <a:cs typeface="Calibri" pitchFamily="34" charset="-120"/>
              </a:rPr>
              <a:t>. Calculate the minimum time it takes to heat the water to 100 °C.</a:t>
            </a:r>
            <a:endParaRPr lang="en-US" sz="1200" dirty="0"/>
          </a:p>
        </p:txBody>
      </p:sp>
      <p:sp>
        <p:nvSpPr>
          <p:cNvPr id="17" name="Text 15"/>
          <p:cNvSpPr/>
          <p:nvPr/>
        </p:nvSpPr>
        <p:spPr>
          <a:xfrm>
            <a:off x="4518508"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6210148" y="1719072"/>
            <a:ext cx="5570068" cy="1441704"/>
          </a:xfrm>
          <a:prstGeom prst="roundRect">
            <a:avLst>
              <a:gd name="adj" fmla="val 3171"/>
            </a:avLst>
          </a:prstGeom>
          <a:solidFill>
            <a:srgbClr val="F5F8FE"/>
          </a:solidFill>
          <a:ln w="9525">
            <a:solidFill>
              <a:srgbClr val="D5DCEB"/>
            </a:solidFill>
            <a:prstDash val="solid"/>
          </a:ln>
        </p:spPr>
      </p:sp>
      <p:sp>
        <p:nvSpPr>
          <p:cNvPr id="19" name="Text 17"/>
          <p:cNvSpPr/>
          <p:nvPr/>
        </p:nvSpPr>
        <p:spPr>
          <a:xfrm>
            <a:off x="6347308" y="1792224"/>
            <a:ext cx="5295748" cy="1075944"/>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(d)  </a:t>
            </a:r>
            <a:r>
              <a:rPr lang="en-US" sz="1200" dirty="0">
                <a:solidFill>
                  <a:srgbClr val="262B3A"/>
                </a:solidFill>
                <a:latin typeface="Calibri" pitchFamily="34" charset="0"/>
                <a:ea typeface="Calibri" pitchFamily="34" charset="-122"/>
                <a:cs typeface="Calibri" pitchFamily="34" charset="-120"/>
              </a:rPr>
              <a:t>The kettle does not switch off, and </a:t>
            </a:r>
            <a:r>
              <a:rPr lang="en-US" sz="1200" b="1" dirty="0">
                <a:solidFill>
                  <a:srgbClr val="262B3A"/>
                </a:solidFill>
                <a:latin typeface="Calibri" pitchFamily="34" charset="0"/>
                <a:ea typeface="Calibri" pitchFamily="34" charset="-122"/>
                <a:cs typeface="Calibri" pitchFamily="34" charset="-120"/>
              </a:rPr>
              <a:t>0.050 kg</a:t>
            </a:r>
            <a:r>
              <a:rPr lang="en-US" sz="1200" dirty="0">
                <a:solidFill>
                  <a:srgbClr val="262B3A"/>
                </a:solidFill>
                <a:latin typeface="Calibri" pitchFamily="34" charset="0"/>
                <a:ea typeface="Calibri" pitchFamily="34" charset="-122"/>
                <a:cs typeface="Calibri" pitchFamily="34" charset="-120"/>
              </a:rPr>
              <a:t> of water boils away. Calculate the energy needed.</a:t>
            </a:r>
            <a:endParaRPr lang="en-US" sz="1200" dirty="0"/>
          </a:p>
        </p:txBody>
      </p:sp>
      <p:sp>
        <p:nvSpPr>
          <p:cNvPr id="20" name="Text 18"/>
          <p:cNvSpPr/>
          <p:nvPr/>
        </p:nvSpPr>
        <p:spPr>
          <a:xfrm>
            <a:off x="10317175" y="2849880"/>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3270504"/>
            <a:ext cx="5570068" cy="1441704"/>
          </a:xfrm>
          <a:prstGeom prst="roundRect">
            <a:avLst>
              <a:gd name="adj" fmla="val 3171"/>
            </a:avLst>
          </a:prstGeom>
          <a:solidFill>
            <a:srgbClr val="FFFFFF"/>
          </a:solidFill>
          <a:ln w="9525">
            <a:solidFill>
              <a:srgbClr val="D5DCEB"/>
            </a:solidFill>
            <a:prstDash val="solid"/>
          </a:ln>
        </p:spPr>
      </p:sp>
      <p:sp>
        <p:nvSpPr>
          <p:cNvPr id="22" name="Text 20"/>
          <p:cNvSpPr/>
          <p:nvPr/>
        </p:nvSpPr>
        <p:spPr>
          <a:xfrm>
            <a:off x="6347308" y="3343656"/>
            <a:ext cx="5295748" cy="1075944"/>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(e)  </a:t>
            </a:r>
            <a:r>
              <a:rPr lang="en-US" sz="1200" dirty="0">
                <a:solidFill>
                  <a:srgbClr val="262B3A"/>
                </a:solidFill>
                <a:latin typeface="Calibri" pitchFamily="34" charset="0"/>
                <a:ea typeface="Calibri" pitchFamily="34" charset="-122"/>
                <a:cs typeface="Calibri" pitchFamily="34" charset="-120"/>
              </a:rPr>
              <a:t>Explain why the temperature of the water stays at 100 °C while it is boiling.</a:t>
            </a:r>
            <a:endParaRPr lang="en-US" sz="1200" dirty="0"/>
          </a:p>
        </p:txBody>
      </p:sp>
      <p:sp>
        <p:nvSpPr>
          <p:cNvPr id="23" name="Text 21"/>
          <p:cNvSpPr/>
          <p:nvPr/>
        </p:nvSpPr>
        <p:spPr>
          <a:xfrm>
            <a:off x="10317175" y="4401312"/>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4" name="Shape 22"/>
          <p:cNvSpPr/>
          <p:nvPr/>
        </p:nvSpPr>
        <p:spPr>
          <a:xfrm>
            <a:off x="6210148" y="4821936"/>
            <a:ext cx="5570068" cy="1441704"/>
          </a:xfrm>
          <a:prstGeom prst="roundRect">
            <a:avLst>
              <a:gd name="adj" fmla="val 3171"/>
            </a:avLst>
          </a:prstGeom>
          <a:solidFill>
            <a:srgbClr val="F5F8FE"/>
          </a:solidFill>
          <a:ln w="9525">
            <a:solidFill>
              <a:srgbClr val="D5DCEB"/>
            </a:solidFill>
            <a:prstDash val="solid"/>
          </a:ln>
        </p:spPr>
      </p:sp>
      <p:sp>
        <p:nvSpPr>
          <p:cNvPr id="25" name="Text 23"/>
          <p:cNvSpPr/>
          <p:nvPr/>
        </p:nvSpPr>
        <p:spPr>
          <a:xfrm>
            <a:off x="6347308" y="4895088"/>
            <a:ext cx="5295748" cy="1075944"/>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(f)  </a:t>
            </a:r>
            <a:r>
              <a:rPr lang="en-US" sz="1200" dirty="0">
                <a:solidFill>
                  <a:srgbClr val="262B3A"/>
                </a:solidFill>
                <a:latin typeface="Calibri" pitchFamily="34" charset="0"/>
                <a:ea typeface="Calibri" pitchFamily="34" charset="-122"/>
                <a:cs typeface="Calibri" pitchFamily="34" charset="-120"/>
              </a:rPr>
              <a:t>The steam condenses on a cold window. Explain why condensing is a </a:t>
            </a:r>
            <a:r>
              <a:rPr lang="en-US" sz="1200" b="1" dirty="0">
                <a:solidFill>
                  <a:srgbClr val="262B3A"/>
                </a:solidFill>
                <a:latin typeface="Calibri" pitchFamily="34" charset="0"/>
                <a:ea typeface="Calibri" pitchFamily="34" charset="-122"/>
                <a:cs typeface="Calibri" pitchFamily="34" charset="-120"/>
              </a:rPr>
              <a:t>physical</a:t>
            </a:r>
            <a:r>
              <a:rPr lang="en-US" sz="1200" dirty="0">
                <a:solidFill>
                  <a:srgbClr val="262B3A"/>
                </a:solidFill>
                <a:latin typeface="Calibri" pitchFamily="34" charset="0"/>
                <a:ea typeface="Calibri" pitchFamily="34" charset="-122"/>
                <a:cs typeface="Calibri" pitchFamily="34" charset="-120"/>
              </a:rPr>
              <a:t> change, and what happens to the mass.</a:t>
            </a:r>
            <a:endParaRPr lang="en-US" sz="1200" dirty="0"/>
          </a:p>
        </p:txBody>
      </p:sp>
      <p:sp>
        <p:nvSpPr>
          <p:cNvPr id="26" name="Text 24"/>
          <p:cNvSpPr/>
          <p:nvPr/>
        </p:nvSpPr>
        <p:spPr>
          <a:xfrm>
            <a:off x="10317175"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7" name="Text 25"/>
          <p:cNvSpPr/>
          <p:nvPr/>
        </p:nvSpPr>
        <p:spPr>
          <a:xfrm>
            <a:off x="9448495" y="6236208"/>
            <a:ext cx="2331720" cy="219456"/>
          </a:xfrm>
          <a:prstGeom prst="rect">
            <a:avLst/>
          </a:prstGeom>
          <a:noFill/>
          <a:ln/>
        </p:spPr>
        <p:txBody>
          <a:bodyPr wrap="square" lIns="0" tIns="0" rIns="0" bIns="0" rtlCol="0" anchor="ctr"/>
          <a:lstStyle/>
          <a:p>
            <a:pPr algn="r" indent="0" marL="0">
              <a:buNone/>
            </a:pPr>
            <a:r>
              <a:rPr lang="en-US" sz="1100" b="1" dirty="0">
                <a:solidFill>
                  <a:srgbClr val="B8730A"/>
                </a:solidFill>
                <a:latin typeface="Calibri" pitchFamily="34" charset="0"/>
                <a:ea typeface="Calibri" pitchFamily="34" charset="-122"/>
                <a:cs typeface="Calibri" pitchFamily="34" charset="-120"/>
              </a:rPr>
              <a:t>Total: 13 marks</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3A63C9"/>
        </a:solidFill>
      </p:bgPr>
    </p:bg>
    <p:spTree>
      <p:nvGrpSpPr>
        <p:cNvPr id="1" name=""/>
        <p:cNvGrpSpPr/>
        <p:nvPr/>
      </p:nvGrpSpPr>
      <p:grpSpPr>
        <a:xfrm>
          <a:off x="0" y="0"/>
          <a:ext cx="0" cy="0"/>
          <a:chOff x="0" y="0"/>
          <a:chExt cx="0" cy="0"/>
        </a:xfrm>
      </p:grpSpPr>
      <p:sp>
        <p:nvSpPr>
          <p:cNvPr id="2" name="Shape 0"/>
          <p:cNvSpPr/>
          <p:nvPr/>
        </p:nvSpPr>
        <p:spPr>
          <a:xfrm>
            <a:off x="8503920" y="-1097280"/>
            <a:ext cx="5029200" cy="5029200"/>
          </a:xfrm>
          <a:prstGeom prst="ellipse">
            <a:avLst/>
          </a:prstGeom>
          <a:solidFill>
            <a:srgbClr val="2B4C9B"/>
          </a:solidFill>
          <a:ln w="12700">
            <a:solidFill>
              <a:srgbClr val="2B4C9B"/>
            </a:solidFill>
            <a:prstDash val="solid"/>
          </a:ln>
        </p:spPr>
      </p:sp>
      <p:sp>
        <p:nvSpPr>
          <p:cNvPr id="3" name="Shape 1"/>
          <p:cNvSpPr/>
          <p:nvPr/>
        </p:nvSpPr>
        <p:spPr>
          <a:xfrm>
            <a:off x="914400" y="2148840"/>
            <a:ext cx="1463040" cy="1463040"/>
          </a:xfrm>
          <a:prstGeom prst="ellipse">
            <a:avLst/>
          </a:prstGeom>
          <a:solidFill>
            <a:srgbClr val="FFFFFF"/>
          </a:solidFill>
          <a:ln w="12700">
            <a:solidFill>
              <a:srgbClr val="FFFFFF"/>
            </a:solidFill>
            <a:prstDash val="solid"/>
          </a:ln>
        </p:spPr>
      </p:sp>
      <p:sp>
        <p:nvSpPr>
          <p:cNvPr id="4" name="Shape 2"/>
          <p:cNvSpPr/>
          <p:nvPr/>
        </p:nvSpPr>
        <p:spPr>
          <a:xfrm rot="-2700000">
            <a:off x="1143000" y="2779776"/>
            <a:ext cx="914400" cy="201168"/>
          </a:xfrm>
          <a:prstGeom prst="rect">
            <a:avLst/>
          </a:prstGeom>
          <a:solidFill>
            <a:srgbClr val="3A63C9"/>
          </a:solidFill>
          <a:ln w="12700">
            <a:solidFill>
              <a:srgbClr val="3A63C9"/>
            </a:solidFill>
            <a:prstDash val="solid"/>
          </a:ln>
        </p:spPr>
      </p:sp>
      <p:sp>
        <p:nvSpPr>
          <p:cNvPr id="5" name="Shape 3"/>
          <p:cNvSpPr/>
          <p:nvPr/>
        </p:nvSpPr>
        <p:spPr>
          <a:xfrm rot="13500000">
            <a:off x="1161288" y="3044952"/>
            <a:ext cx="201168" cy="219456"/>
          </a:xfrm>
          <a:prstGeom prst="triangle">
            <a:avLst/>
          </a:prstGeom>
          <a:solidFill>
            <a:srgbClr val="F5A742"/>
          </a:solidFill>
          <a:ln w="12700">
            <a:solidFill>
              <a:srgbClr val="F5A742"/>
            </a:solidFill>
            <a:prstDash val="solid"/>
          </a:ln>
        </p:spPr>
      </p:sp>
      <p:sp>
        <p:nvSpPr>
          <p:cNvPr id="6" name="Shape 4"/>
          <p:cNvSpPr/>
          <p:nvPr/>
        </p:nvSpPr>
        <p:spPr>
          <a:xfrm rot="-2700000">
            <a:off x="1947672" y="2377440"/>
            <a:ext cx="182880" cy="201168"/>
          </a:xfrm>
          <a:prstGeom prst="rect">
            <a:avLst/>
          </a:prstGeom>
          <a:solidFill>
            <a:srgbClr val="C8414C"/>
          </a:solidFill>
          <a:ln w="12700">
            <a:solidFill>
              <a:srgbClr val="C8414C"/>
            </a:solidFill>
            <a:prstDash val="solid"/>
          </a:ln>
        </p:spPr>
      </p:sp>
      <p:sp>
        <p:nvSpPr>
          <p:cNvPr id="7" name="Text 5"/>
          <p:cNvSpPr/>
          <p:nvPr/>
        </p:nvSpPr>
        <p:spPr>
          <a:xfrm>
            <a:off x="2743200" y="2103120"/>
            <a:ext cx="6400800" cy="100584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Homework</a:t>
            </a:r>
            <a:endParaRPr lang="en-US" sz="5400" dirty="0"/>
          </a:p>
        </p:txBody>
      </p:sp>
      <p:sp>
        <p:nvSpPr>
          <p:cNvPr id="8" name="Text 6"/>
          <p:cNvSpPr/>
          <p:nvPr/>
        </p:nvSpPr>
        <p:spPr>
          <a:xfrm>
            <a:off x="2743200" y="3108960"/>
            <a:ext cx="7315200" cy="457200"/>
          </a:xfrm>
          <a:prstGeom prst="rect">
            <a:avLst/>
          </a:prstGeom>
          <a:noFill/>
          <a:ln/>
        </p:spPr>
        <p:txBody>
          <a:bodyPr wrap="square" lIns="0" tIns="0" rIns="0" bIns="0" rtlCol="0" anchor="ctr"/>
          <a:lstStyle/>
          <a:p>
            <a:pPr indent="0" marL="0">
              <a:buNone/>
            </a:pPr>
            <a:r>
              <a:rPr lang="en-US" sz="1800" i="1" dirty="0">
                <a:solidFill>
                  <a:srgbClr val="E1E8FA"/>
                </a:solidFill>
                <a:latin typeface="Calibri" pitchFamily="34" charset="0"/>
                <a:ea typeface="Calibri" pitchFamily="34" charset="-122"/>
                <a:cs typeface="Calibri" pitchFamily="34" charset="-120"/>
              </a:rPr>
              <a:t>P6.1 How does energy transform matter? • 17 marks • about 30 minutes</a:t>
            </a:r>
            <a:endParaRPr lang="en-US" sz="1800" dirty="0"/>
          </a:p>
        </p:txBody>
      </p:sp>
      <p:sp>
        <p:nvSpPr>
          <p:cNvPr id="9" name="Text 7"/>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A9B4CF"/>
                </a:solidFill>
                <a:latin typeface="Calibri" pitchFamily="34" charset="0"/>
                <a:ea typeface="Calibri" pitchFamily="34" charset="-122"/>
                <a:cs typeface="Calibri" pitchFamily="34" charset="-120"/>
              </a:rPr>
              <a:t>OCR GCSE Twenty First Century Science — Combined Science B (J260) | P6.1 How does energy transform matter? | Higher &amp; Foundation</a:t>
            </a:r>
            <a:endParaRPr lang="en-US" sz="1000" dirty="0"/>
          </a:p>
        </p:txBody>
      </p:sp>
      <p:sp>
        <p:nvSpPr>
          <p:cNvPr id="10" name="Text 8"/>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A9B4CF"/>
                </a:solidFill>
                <a:latin typeface="Calibri" pitchFamily="34" charset="0"/>
                <a:ea typeface="Calibri" pitchFamily="34" charset="-122"/>
                <a:cs typeface="Calibri" pitchFamily="34" charset="-120"/>
              </a:rPr>
              <a:t>Homework  |  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Homework</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Answer in full sentences • show all working • 17 marks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P6.1 How does energy transform matter?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Homework  |  27</a:t>
            </a:r>
            <a:endParaRPr lang="en-US" sz="1000" dirty="0"/>
          </a:p>
        </p:txBody>
      </p:sp>
      <p:sp>
        <p:nvSpPr>
          <p:cNvPr id="8" name="Text 6"/>
          <p:cNvSpPr/>
          <p:nvPr/>
        </p:nvSpPr>
        <p:spPr>
          <a:xfrm>
            <a:off x="411480" y="1115568"/>
            <a:ext cx="11368735" cy="347472"/>
          </a:xfrm>
          <a:prstGeom prst="rect">
            <a:avLst/>
          </a:prstGeom>
          <a:noFill/>
          <a:ln/>
        </p:spPr>
        <p:txBody>
          <a:bodyPr wrap="square" lIns="0" tIns="0" rIns="0" bIns="0" rtlCol="0" anchor="ctr"/>
          <a:lstStyle/>
          <a:p>
            <a:pPr indent="0" marL="0">
              <a:buNone/>
            </a:pPr>
            <a:r>
              <a:rPr lang="en-US" sz="1150" i="1" dirty="0">
                <a:solidFill>
                  <a:srgbClr val="262B3A"/>
                </a:solidFill>
                <a:latin typeface="Calibri" pitchFamily="34" charset="0"/>
                <a:ea typeface="Calibri" pitchFamily="34" charset="-122"/>
                <a:cs typeface="Calibri" pitchFamily="34" charset="-120"/>
              </a:rPr>
              <a:t>All students answer all questions. Q6 is a stretch calculation.</a:t>
            </a:r>
            <a:endParaRPr lang="en-US" sz="1150" dirty="0"/>
          </a:p>
        </p:txBody>
      </p:sp>
      <p:sp>
        <p:nvSpPr>
          <p:cNvPr id="9" name="Shape 7"/>
          <p:cNvSpPr/>
          <p:nvPr/>
        </p:nvSpPr>
        <p:spPr>
          <a:xfrm>
            <a:off x="411480" y="1517904"/>
            <a:ext cx="5570068" cy="1120140"/>
          </a:xfrm>
          <a:prstGeom prst="roundRect">
            <a:avLst>
              <a:gd name="adj" fmla="val 4082"/>
            </a:avLst>
          </a:prstGeom>
          <a:solidFill>
            <a:srgbClr val="F5F8FE"/>
          </a:solidFill>
          <a:ln w="9525">
            <a:solidFill>
              <a:srgbClr val="D5DCEB"/>
            </a:solidFill>
            <a:prstDash val="solid"/>
          </a:ln>
        </p:spPr>
      </p:sp>
      <p:sp>
        <p:nvSpPr>
          <p:cNvPr id="10" name="Text 8"/>
          <p:cNvSpPr/>
          <p:nvPr/>
        </p:nvSpPr>
        <p:spPr>
          <a:xfrm>
            <a:off x="548640" y="1591056"/>
            <a:ext cx="5295748" cy="772668"/>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1  </a:t>
            </a:r>
            <a:r>
              <a:rPr lang="en-US" sz="1150" dirty="0">
                <a:solidFill>
                  <a:srgbClr val="262B3A"/>
                </a:solidFill>
                <a:latin typeface="Calibri" pitchFamily="34" charset="0"/>
                <a:ea typeface="Calibri" pitchFamily="34" charset="-122"/>
                <a:cs typeface="Calibri" pitchFamily="34" charset="-120"/>
              </a:rPr>
              <a:t>Name the change of state when a solid turns straight into a gas.</a:t>
            </a:r>
            <a:endParaRPr lang="en-US" sz="1150" dirty="0"/>
          </a:p>
        </p:txBody>
      </p:sp>
      <p:sp>
        <p:nvSpPr>
          <p:cNvPr id="11" name="Text 9"/>
          <p:cNvSpPr/>
          <p:nvPr/>
        </p:nvSpPr>
        <p:spPr>
          <a:xfrm>
            <a:off x="4518508" y="2345436"/>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2" name="Shape 10"/>
          <p:cNvSpPr/>
          <p:nvPr/>
        </p:nvSpPr>
        <p:spPr>
          <a:xfrm>
            <a:off x="411480" y="2747772"/>
            <a:ext cx="5570068" cy="1120140"/>
          </a:xfrm>
          <a:prstGeom prst="roundRect">
            <a:avLst>
              <a:gd name="adj" fmla="val 4082"/>
            </a:avLst>
          </a:prstGeom>
          <a:solidFill>
            <a:srgbClr val="F5F8FE"/>
          </a:solidFill>
          <a:ln w="9525">
            <a:solidFill>
              <a:srgbClr val="D5DCEB"/>
            </a:solidFill>
            <a:prstDash val="solid"/>
          </a:ln>
        </p:spPr>
      </p:sp>
      <p:sp>
        <p:nvSpPr>
          <p:cNvPr id="13" name="Text 11"/>
          <p:cNvSpPr/>
          <p:nvPr/>
        </p:nvSpPr>
        <p:spPr>
          <a:xfrm>
            <a:off x="548640" y="2820924"/>
            <a:ext cx="5295748" cy="772668"/>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2  </a:t>
            </a:r>
            <a:r>
              <a:rPr lang="en-US" sz="1150" dirty="0">
                <a:solidFill>
                  <a:srgbClr val="262B3A"/>
                </a:solidFill>
                <a:latin typeface="Calibri" pitchFamily="34" charset="0"/>
                <a:ea typeface="Calibri" pitchFamily="34" charset="-122"/>
                <a:cs typeface="Calibri" pitchFamily="34" charset="-120"/>
              </a:rPr>
              <a:t>Explain why </a:t>
            </a:r>
            <a:r>
              <a:rPr lang="en-US" sz="1150" b="1" dirty="0">
                <a:solidFill>
                  <a:srgbClr val="262B3A"/>
                </a:solidFill>
                <a:latin typeface="Calibri" pitchFamily="34" charset="0"/>
                <a:ea typeface="Calibri" pitchFamily="34" charset="-122"/>
                <a:cs typeface="Calibri" pitchFamily="34" charset="-120"/>
              </a:rPr>
              <a:t>100 g</a:t>
            </a:r>
            <a:r>
              <a:rPr lang="en-US" sz="1150" dirty="0">
                <a:solidFill>
                  <a:srgbClr val="262B3A"/>
                </a:solidFill>
                <a:latin typeface="Calibri" pitchFamily="34" charset="0"/>
                <a:ea typeface="Calibri" pitchFamily="34" charset="-122"/>
                <a:cs typeface="Calibri" pitchFamily="34" charset="-120"/>
              </a:rPr>
              <a:t> of ice melts to give exactly </a:t>
            </a:r>
            <a:r>
              <a:rPr lang="en-US" sz="1150" b="1" dirty="0">
                <a:solidFill>
                  <a:srgbClr val="262B3A"/>
                </a:solidFill>
                <a:latin typeface="Calibri" pitchFamily="34" charset="0"/>
                <a:ea typeface="Calibri" pitchFamily="34" charset="-122"/>
                <a:cs typeface="Calibri" pitchFamily="34" charset="-120"/>
              </a:rPr>
              <a:t>100 g</a:t>
            </a:r>
            <a:r>
              <a:rPr lang="en-US" sz="1150" dirty="0">
                <a:solidFill>
                  <a:srgbClr val="262B3A"/>
                </a:solidFill>
                <a:latin typeface="Calibri" pitchFamily="34" charset="0"/>
                <a:ea typeface="Calibri" pitchFamily="34" charset="-122"/>
                <a:cs typeface="Calibri" pitchFamily="34" charset="-120"/>
              </a:rPr>
              <a:t> of water.</a:t>
            </a:r>
            <a:endParaRPr lang="en-US" sz="1150" dirty="0"/>
          </a:p>
        </p:txBody>
      </p:sp>
      <p:sp>
        <p:nvSpPr>
          <p:cNvPr id="14" name="Text 12"/>
          <p:cNvSpPr/>
          <p:nvPr/>
        </p:nvSpPr>
        <p:spPr>
          <a:xfrm>
            <a:off x="4518508" y="3575304"/>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3977640"/>
            <a:ext cx="5570068" cy="1120140"/>
          </a:xfrm>
          <a:prstGeom prst="roundRect">
            <a:avLst>
              <a:gd name="adj" fmla="val 4082"/>
            </a:avLst>
          </a:prstGeom>
          <a:solidFill>
            <a:srgbClr val="F5F8FE"/>
          </a:solidFill>
          <a:ln w="9525">
            <a:solidFill>
              <a:srgbClr val="D5DCEB"/>
            </a:solidFill>
            <a:prstDash val="solid"/>
          </a:ln>
        </p:spPr>
      </p:sp>
      <p:sp>
        <p:nvSpPr>
          <p:cNvPr id="16" name="Text 14"/>
          <p:cNvSpPr/>
          <p:nvPr/>
        </p:nvSpPr>
        <p:spPr>
          <a:xfrm>
            <a:off x="548640" y="4050792"/>
            <a:ext cx="5295748" cy="772668"/>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3  </a:t>
            </a:r>
            <a:r>
              <a:rPr lang="en-US" sz="1150" dirty="0">
                <a:solidFill>
                  <a:srgbClr val="262B3A"/>
                </a:solidFill>
                <a:latin typeface="Calibri" pitchFamily="34" charset="0"/>
                <a:ea typeface="Calibri" pitchFamily="34" charset="-122"/>
                <a:cs typeface="Calibri" pitchFamily="34" charset="-120"/>
              </a:rPr>
              <a:t>A stone of mass </a:t>
            </a:r>
            <a:r>
              <a:rPr lang="en-US" sz="1150" b="1" dirty="0">
                <a:solidFill>
                  <a:srgbClr val="262B3A"/>
                </a:solidFill>
                <a:latin typeface="Calibri" pitchFamily="34" charset="0"/>
                <a:ea typeface="Calibri" pitchFamily="34" charset="-122"/>
                <a:cs typeface="Calibri" pitchFamily="34" charset="-120"/>
              </a:rPr>
              <a:t>54 g</a:t>
            </a:r>
            <a:r>
              <a:rPr lang="en-US" sz="1150" dirty="0">
                <a:solidFill>
                  <a:srgbClr val="262B3A"/>
                </a:solidFill>
                <a:latin typeface="Calibri" pitchFamily="34" charset="0"/>
                <a:ea typeface="Calibri" pitchFamily="34" charset="-122"/>
                <a:cs typeface="Calibri" pitchFamily="34" charset="-120"/>
              </a:rPr>
              <a:t> displaces </a:t>
            </a:r>
            <a:r>
              <a:rPr lang="en-US" sz="1150" b="1" dirty="0">
                <a:solidFill>
                  <a:srgbClr val="262B3A"/>
                </a:solidFill>
                <a:latin typeface="Calibri" pitchFamily="34" charset="0"/>
                <a:ea typeface="Calibri" pitchFamily="34" charset="-122"/>
                <a:cs typeface="Calibri" pitchFamily="34" charset="-120"/>
              </a:rPr>
              <a:t>20 cm³</a:t>
            </a:r>
            <a:r>
              <a:rPr lang="en-US" sz="1150" dirty="0">
                <a:solidFill>
                  <a:srgbClr val="262B3A"/>
                </a:solidFill>
                <a:latin typeface="Calibri" pitchFamily="34" charset="0"/>
                <a:ea typeface="Calibri" pitchFamily="34" charset="-122"/>
                <a:cs typeface="Calibri" pitchFamily="34" charset="-120"/>
              </a:rPr>
              <a:t> of water. Calculate its density in g/cm³ </a:t>
            </a:r>
            <a:r>
              <a:rPr lang="en-US" sz="1150" b="1" dirty="0">
                <a:solidFill>
                  <a:srgbClr val="262B3A"/>
                </a:solidFill>
                <a:latin typeface="Calibri" pitchFamily="34" charset="0"/>
                <a:ea typeface="Calibri" pitchFamily="34" charset="-122"/>
                <a:cs typeface="Calibri" pitchFamily="34" charset="-120"/>
              </a:rPr>
              <a:t>and</a:t>
            </a:r>
            <a:r>
              <a:rPr lang="en-US" sz="1150" dirty="0">
                <a:solidFill>
                  <a:srgbClr val="262B3A"/>
                </a:solidFill>
                <a:latin typeface="Calibri" pitchFamily="34" charset="0"/>
                <a:ea typeface="Calibri" pitchFamily="34" charset="-122"/>
                <a:cs typeface="Calibri" pitchFamily="34" charset="-120"/>
              </a:rPr>
              <a:t> in kg/m³.</a:t>
            </a:r>
            <a:endParaRPr lang="en-US" sz="1150" dirty="0"/>
          </a:p>
        </p:txBody>
      </p:sp>
      <p:sp>
        <p:nvSpPr>
          <p:cNvPr id="17" name="Text 15"/>
          <p:cNvSpPr/>
          <p:nvPr/>
        </p:nvSpPr>
        <p:spPr>
          <a:xfrm>
            <a:off x="4518508" y="4805172"/>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5207508"/>
            <a:ext cx="5570068" cy="1120140"/>
          </a:xfrm>
          <a:prstGeom prst="roundRect">
            <a:avLst>
              <a:gd name="adj" fmla="val 4082"/>
            </a:avLst>
          </a:prstGeom>
          <a:solidFill>
            <a:srgbClr val="F5F8FE"/>
          </a:solidFill>
          <a:ln w="9525">
            <a:solidFill>
              <a:srgbClr val="D5DCEB"/>
            </a:solidFill>
            <a:prstDash val="solid"/>
          </a:ln>
        </p:spPr>
      </p:sp>
      <p:sp>
        <p:nvSpPr>
          <p:cNvPr id="19" name="Text 17"/>
          <p:cNvSpPr/>
          <p:nvPr/>
        </p:nvSpPr>
        <p:spPr>
          <a:xfrm>
            <a:off x="548640" y="5280660"/>
            <a:ext cx="5295748" cy="772668"/>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4  </a:t>
            </a:r>
            <a:r>
              <a:rPr lang="en-US" sz="1150" dirty="0">
                <a:solidFill>
                  <a:srgbClr val="262B3A"/>
                </a:solidFill>
                <a:latin typeface="Calibri" pitchFamily="34" charset="0"/>
                <a:ea typeface="Calibri" pitchFamily="34" charset="-122"/>
                <a:cs typeface="Calibri" pitchFamily="34" charset="-120"/>
              </a:rPr>
              <a:t>Calculate the energy needed to warm </a:t>
            </a:r>
            <a:r>
              <a:rPr lang="en-US" sz="1150" b="1" dirty="0">
                <a:solidFill>
                  <a:srgbClr val="262B3A"/>
                </a:solidFill>
                <a:latin typeface="Calibri" pitchFamily="34" charset="0"/>
                <a:ea typeface="Calibri" pitchFamily="34" charset="-122"/>
                <a:cs typeface="Calibri" pitchFamily="34" charset="-120"/>
              </a:rPr>
              <a:t>0.80 kg</a:t>
            </a:r>
            <a:r>
              <a:rPr lang="en-US" sz="1150" dirty="0">
                <a:solidFill>
                  <a:srgbClr val="262B3A"/>
                </a:solidFill>
                <a:latin typeface="Calibri" pitchFamily="34" charset="0"/>
                <a:ea typeface="Calibri" pitchFamily="34" charset="-122"/>
                <a:cs typeface="Calibri" pitchFamily="34" charset="-120"/>
              </a:rPr>
              <a:t> of oil by </a:t>
            </a:r>
            <a:r>
              <a:rPr lang="en-US" sz="1150" b="1" dirty="0">
                <a:solidFill>
                  <a:srgbClr val="262B3A"/>
                </a:solidFill>
                <a:latin typeface="Calibri" pitchFamily="34" charset="0"/>
                <a:ea typeface="Calibri" pitchFamily="34" charset="-122"/>
                <a:cs typeface="Calibri" pitchFamily="34" charset="-120"/>
              </a:rPr>
              <a:t>30 °C</a:t>
            </a:r>
            <a:r>
              <a:rPr lang="en-US" sz="1150" dirty="0">
                <a:solidFill>
                  <a:srgbClr val="262B3A"/>
                </a:solidFill>
                <a:latin typeface="Calibri" pitchFamily="34" charset="0"/>
                <a:ea typeface="Calibri" pitchFamily="34" charset="-122"/>
                <a:cs typeface="Calibri" pitchFamily="34" charset="-120"/>
              </a:rPr>
              <a:t>. (c = 2000 J/kg °C)</a:t>
            </a:r>
            <a:endParaRPr lang="en-US" sz="1150" dirty="0"/>
          </a:p>
        </p:txBody>
      </p:sp>
      <p:sp>
        <p:nvSpPr>
          <p:cNvPr id="20" name="Text 18"/>
          <p:cNvSpPr/>
          <p:nvPr/>
        </p:nvSpPr>
        <p:spPr>
          <a:xfrm>
            <a:off x="4518508"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1517904"/>
            <a:ext cx="5570068" cy="997889"/>
          </a:xfrm>
          <a:prstGeom prst="roundRect">
            <a:avLst>
              <a:gd name="adj" fmla="val 4582"/>
            </a:avLst>
          </a:prstGeom>
          <a:solidFill>
            <a:srgbClr val="F5F8FE"/>
          </a:solidFill>
          <a:ln w="9525">
            <a:solidFill>
              <a:srgbClr val="D5DCEB"/>
            </a:solidFill>
            <a:prstDash val="solid"/>
          </a:ln>
        </p:spPr>
      </p:sp>
      <p:sp>
        <p:nvSpPr>
          <p:cNvPr id="22" name="Text 20"/>
          <p:cNvSpPr/>
          <p:nvPr/>
        </p:nvSpPr>
        <p:spPr>
          <a:xfrm>
            <a:off x="6347308" y="1591056"/>
            <a:ext cx="5295748" cy="650417"/>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5  </a:t>
            </a:r>
            <a:r>
              <a:rPr lang="en-US" sz="1150" dirty="0">
                <a:solidFill>
                  <a:srgbClr val="262B3A"/>
                </a:solidFill>
                <a:latin typeface="Calibri" pitchFamily="34" charset="0"/>
                <a:ea typeface="Calibri" pitchFamily="34" charset="-122"/>
                <a:cs typeface="Calibri" pitchFamily="34" charset="-120"/>
              </a:rPr>
              <a:t>Explain the difference between </a:t>
            </a:r>
            <a:r>
              <a:rPr lang="en-US" sz="1150" b="1" dirty="0">
                <a:solidFill>
                  <a:srgbClr val="262B3A"/>
                </a:solidFill>
                <a:latin typeface="Calibri" pitchFamily="34" charset="0"/>
                <a:ea typeface="Calibri" pitchFamily="34" charset="-122"/>
                <a:cs typeface="Calibri" pitchFamily="34" charset="-120"/>
              </a:rPr>
              <a:t>specific heat capacity</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specific latent heat</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23" name="Text 21"/>
          <p:cNvSpPr/>
          <p:nvPr/>
        </p:nvSpPr>
        <p:spPr>
          <a:xfrm>
            <a:off x="10317175" y="2223185"/>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4" name="Shape 22"/>
          <p:cNvSpPr/>
          <p:nvPr/>
        </p:nvSpPr>
        <p:spPr>
          <a:xfrm>
            <a:off x="6210148" y="2625521"/>
            <a:ext cx="5570068" cy="997889"/>
          </a:xfrm>
          <a:prstGeom prst="roundRect">
            <a:avLst>
              <a:gd name="adj" fmla="val 4582"/>
            </a:avLst>
          </a:prstGeom>
          <a:solidFill>
            <a:srgbClr val="F5F8FE"/>
          </a:solidFill>
          <a:ln w="9525">
            <a:solidFill>
              <a:srgbClr val="D5DCEB"/>
            </a:solidFill>
            <a:prstDash val="solid"/>
          </a:ln>
        </p:spPr>
      </p:sp>
      <p:sp>
        <p:nvSpPr>
          <p:cNvPr id="25" name="Text 23"/>
          <p:cNvSpPr/>
          <p:nvPr/>
        </p:nvSpPr>
        <p:spPr>
          <a:xfrm>
            <a:off x="6347308" y="2698673"/>
            <a:ext cx="5295748" cy="650417"/>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6  </a:t>
            </a:r>
            <a:r>
              <a:rPr lang="en-US" sz="1150" b="1" dirty="0">
                <a:solidFill>
                  <a:srgbClr val="262B3A"/>
                </a:solidFill>
                <a:latin typeface="Calibri" pitchFamily="34" charset="0"/>
                <a:ea typeface="Calibri" pitchFamily="34" charset="-122"/>
                <a:cs typeface="Calibri" pitchFamily="34" charset="-120"/>
              </a:rPr>
              <a:t>Stretch:</a:t>
            </a:r>
            <a:r>
              <a:rPr lang="en-US" sz="1150" dirty="0">
                <a:solidFill>
                  <a:srgbClr val="262B3A"/>
                </a:solidFill>
                <a:latin typeface="Calibri" pitchFamily="34" charset="0"/>
                <a:ea typeface="Calibri" pitchFamily="34" charset="-122"/>
                <a:cs typeface="Calibri" pitchFamily="34" charset="-120"/>
              </a:rPr>
              <a:t> a </a:t>
            </a:r>
            <a:r>
              <a:rPr lang="en-US" sz="1150" b="1" dirty="0">
                <a:solidFill>
                  <a:srgbClr val="262B3A"/>
                </a:solidFill>
                <a:latin typeface="Calibri" pitchFamily="34" charset="0"/>
                <a:ea typeface="Calibri" pitchFamily="34" charset="-122"/>
                <a:cs typeface="Calibri" pitchFamily="34" charset="-120"/>
              </a:rPr>
              <a:t>0.20 kg</a:t>
            </a:r>
            <a:r>
              <a:rPr lang="en-US" sz="1150" dirty="0">
                <a:solidFill>
                  <a:srgbClr val="262B3A"/>
                </a:solidFill>
                <a:latin typeface="Calibri" pitchFamily="34" charset="0"/>
                <a:ea typeface="Calibri" pitchFamily="34" charset="-122"/>
                <a:cs typeface="Calibri" pitchFamily="34" charset="-120"/>
              </a:rPr>
              <a:t> ice cube at 0 °C melts and the water warms to </a:t>
            </a:r>
            <a:r>
              <a:rPr lang="en-US" sz="1150" b="1" dirty="0">
                <a:solidFill>
                  <a:srgbClr val="262B3A"/>
                </a:solidFill>
                <a:latin typeface="Calibri" pitchFamily="34" charset="0"/>
                <a:ea typeface="Calibri" pitchFamily="34" charset="-122"/>
                <a:cs typeface="Calibri" pitchFamily="34" charset="-120"/>
              </a:rPr>
              <a:t>20 °C</a:t>
            </a:r>
            <a:r>
              <a:rPr lang="en-US" sz="1150" dirty="0">
                <a:solidFill>
                  <a:srgbClr val="262B3A"/>
                </a:solidFill>
                <a:latin typeface="Calibri" pitchFamily="34" charset="0"/>
                <a:ea typeface="Calibri" pitchFamily="34" charset="-122"/>
                <a:cs typeface="Calibri" pitchFamily="34" charset="-120"/>
              </a:rPr>
              <a:t>. Calculate the total energy. (L = 334 000 J/kg; c = 4200 J/kg °C)</a:t>
            </a:r>
            <a:endParaRPr lang="en-US" sz="1150" dirty="0"/>
          </a:p>
        </p:txBody>
      </p:sp>
      <p:sp>
        <p:nvSpPr>
          <p:cNvPr id="26" name="Text 24"/>
          <p:cNvSpPr/>
          <p:nvPr/>
        </p:nvSpPr>
        <p:spPr>
          <a:xfrm>
            <a:off x="10317175" y="3330801"/>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7" name="Shape 25"/>
          <p:cNvSpPr/>
          <p:nvPr/>
        </p:nvSpPr>
        <p:spPr>
          <a:xfrm>
            <a:off x="6210148" y="3733137"/>
            <a:ext cx="5570068" cy="2594511"/>
          </a:xfrm>
          <a:prstGeom prst="roundRect">
            <a:avLst>
              <a:gd name="adj" fmla="val 1762"/>
            </a:avLst>
          </a:prstGeom>
          <a:solidFill>
            <a:srgbClr val="FFF4E0"/>
          </a:solidFill>
          <a:ln w="9525">
            <a:solidFill>
              <a:srgbClr val="F1D9A8"/>
            </a:solidFill>
            <a:prstDash val="solid"/>
          </a:ln>
        </p:spPr>
      </p:sp>
      <p:sp>
        <p:nvSpPr>
          <p:cNvPr id="28" name="Text 26"/>
          <p:cNvSpPr/>
          <p:nvPr/>
        </p:nvSpPr>
        <p:spPr>
          <a:xfrm>
            <a:off x="6347308" y="3806289"/>
            <a:ext cx="5295748" cy="2247039"/>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7  </a:t>
            </a:r>
            <a:r>
              <a:rPr lang="en-US" sz="1150" dirty="0">
                <a:solidFill>
                  <a:srgbClr val="262B3A"/>
                </a:solidFill>
                <a:latin typeface="Calibri" pitchFamily="34" charset="0"/>
                <a:ea typeface="Calibri" pitchFamily="34" charset="-122"/>
                <a:cs typeface="Calibri" pitchFamily="34" charset="-120"/>
              </a:rPr>
              <a:t>Describe how a student could find the </a:t>
            </a:r>
            <a:r>
              <a:rPr lang="en-US" sz="1150" b="1" dirty="0">
                <a:solidFill>
                  <a:srgbClr val="262B3A"/>
                </a:solidFill>
                <a:latin typeface="Calibri" pitchFamily="34" charset="0"/>
                <a:ea typeface="Calibri" pitchFamily="34" charset="-122"/>
                <a:cs typeface="Calibri" pitchFamily="34" charset="-120"/>
              </a:rPr>
              <a:t>specific heat capacity</a:t>
            </a:r>
            <a:r>
              <a:rPr lang="en-US" sz="1150" dirty="0">
                <a:solidFill>
                  <a:srgbClr val="262B3A"/>
                </a:solidFill>
                <a:latin typeface="Calibri" pitchFamily="34" charset="0"/>
                <a:ea typeface="Calibri" pitchFamily="34" charset="-122"/>
                <a:cs typeface="Calibri" pitchFamily="34" charset="-120"/>
              </a:rPr>
              <a:t> of a metal block. Include the equipment, the measurements, how to calculate c, and how to make the result accurate.</a:t>
            </a:r>
            <a:endParaRPr lang="en-US" sz="1150" dirty="0"/>
          </a:p>
        </p:txBody>
      </p:sp>
      <p:sp>
        <p:nvSpPr>
          <p:cNvPr id="29" name="Text 27"/>
          <p:cNvSpPr/>
          <p:nvPr/>
        </p:nvSpPr>
        <p:spPr>
          <a:xfrm>
            <a:off x="10317175"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[6 marks]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OCR J260 P6.1 How does energy transform matter?</dc:title>
  <dc:subject>PptxGenJS Presentation</dc:subject>
  <dc:creator>GCSE Physics</dc:creator>
  <cp:lastModifiedBy>GCSE Physics</cp:lastModifiedBy>
  <cp:revision>1</cp:revision>
  <dcterms:created xsi:type="dcterms:W3CDTF">2026-10-29T17:47:36Z</dcterms:created>
  <dcterms:modified xsi:type="dcterms:W3CDTF">2026-10-29T17:47:36Z</dcterms:modified>
</cp:coreProperties>
</file>