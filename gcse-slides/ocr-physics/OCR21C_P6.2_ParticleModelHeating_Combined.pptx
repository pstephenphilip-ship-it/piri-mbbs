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P6.2 How does the particle model explain the effects of heating? is Part 2 of 3 in J260 Chapter P6 (P6.1, P6.2, P6.3).
The OCR delivery guide for P6.2 lists the density of the states, conservation of mass in changes of state and "how heating a system will change the energy stored … temperature or changes of state" under P6.2. These were already taught in the P6.1 deck, so this deck RECAPS them on one slide (slide 5) and then teaches the gas content.
Spec wording and numbering were reconstructed from search extracts and memory (ocr.org.uk could not be fetched): see SPEC_P6_2.md before showing codes to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P6.2.1–P6.2.3 were taught in P6.1 (as P6.1.1–P6.1.5): this deck recaps them briefly. The new content is P6.2.4 onwards.
HT (Higher tier only, bold in OCR): pV = constant and doing work on a gas. Both are marked HT here following the national subject content; their exact J260 status is UNVERIFIED (they might be separate-science J259 only). Absolute zero and kelvin are taught with P6.2.4 as the basis of the pressure–temperature graph: UNVERIFIED as a separate statement.
Numbering P6.2.1–P6.2.6 is reconstructed (see SPEC_P6_2.md).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P6 has three sub-topics in Combined Science: P6.1, P6.2 and P6.3. P6.4 and P6.5 are J259 only.
The OCR delivery guide for P6.2 lists density of the states, conservation of mass in changes of state and the effect of heating on stored energy: the P6.1 deck already taught these, so slide 5 is a recap only.
No PAG is linked to P6.2 in the extracts found. The pressure–temperature investigation is included as a SUGGESTED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The total kinetic and potential energy of all its particles.
2. Gas particles are far apart; liquid particles are touching. The same mass of gas takes up a much bigger volume, so ρ = m ÷ V is much smaller.
3. 50 g: the same particles are rearranged; none are created or destroyed (and none escape from the sealed bag).
4. Far apart, random arrangement; move quickly in random directions, in straight lines between collisions.
5. ρ = m ÷ V = 2.0 ÷ 1.6 = 1.25 kg/m³ (accept 1.3).
6. p = F ÷ A = 600 ÷ 0.20 = 3000 Pa (N/m²).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RECAPS P6.1 (P6.1.1–P6.1.5 in that deck), which the OCR delivery guide places under P6.2. Do not re-teach: use it as a 3-minute reminder.
QUICK CHECK ANSWER: The internal energy still increases; the energy increases the potential energy of the particles as they separate (the water boils / changes state), not their kinetic energy, so the temperature stays at 100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Air particles inside collide with the inside of the rubber all the time, exerting a force (pressure) outwards, at right angles to the surface, in every direction. This balances the pull of the stretched rubber and the air pressure outside.
The idea that "the pressure produces a net force at right angles to any surface" follows the national content wording (UNVERIFIED as a separate J260 statement). p = F ÷ A is recalled from KS3; it is not needed as a calculation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average speed (and average kinetic energy) decreases. No: the particles have a range of speeds; it is the average that falls. Some particles may still be moving fast.
Stretch: the average kinetic energy is proportional to the temperature in kelvin (see the absolute zero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7 marks)
Q1 [2]: Steam particles are far apart / water particles are touching (1); so the same mass of steam takes up a much larger volume, so mass ÷ volume is smaller (1).
Q2 [2]: Random / in all directions (1); fast / in straight lines between collisions (1).
Q3 [2]: Particles collide with / hit the walls (1); each collision exerts a force on the wall; force per unit area is pressure (1).
Q4 [1]: It increases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If the can is heated, the gas particles inside move faster, hitting the walls more often and harder, so the pressure rises. The volume cannot increase, so the pressure could become high enough to burst / explode the can.
The J260 statement is qualitative only (as on this slide). Gauge readings are drawn to scale for a fixed volume: 100 × 353 ÷ 293 = 120.5 kPa ≈ 120 kPa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−40 + 273 = 233 K; 300 − 273 = 27 °C. No: −300 °C is below absolute zero (−273 °C); the particles cannot have less than the minimum kinetic energy.
Graph: the points are the flask data from the practical slide, plotted to scale; the solid line is the best fit through absolute zero (gradient 0.3413 kPa/K from a least-squares fit in node), dashed where extrapolated. Using only the first and last points the x-intercept is -276 °C.
GCSE uses 273 (not 273.15). Real gases condense before reaching absolute zero, so the line is extrapolated, not measured. Kelvin/absolute zero as a separate J260 statement is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7 marks)
Q1 [3]: Particles gain (kinetic) energy / move faster (1); collide with the walls more often / more frequently and harder / with more force (1); so a greater force on the walls, so greater pressure (1).
Q2 [2]: 37 + 273 = 310 K (1); 250 − 273 = −23 °C (1).
Q3 [2]: The lowest possible temperature / where particles have minimum (zero) kinetic energy / the pressure of a gas would be zero (1); −273 °C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air in the tube is outside the water bath, so it is not at the measured temperature. A short tube keeps that volume of air small compared with the flask, so almost all the gas is at the water temperature.
SUGGESTED practical, not a named OCR PAG for P6.2 (no PAG link found in the search extracts). It supports the qualitative P6.2.4 statement and the idea of absolute zero. Alternative: a sealed syringe in a water bath (volume vs temperature at constant pressure), which is not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(stretch): T = 373 K; p = 100 × 373 ÷ 293 = 127 kPa.
The J260 statement is qualitative; the proportional calculation is stretch only.
Calculations (node): T = θ + 273; least-squares gradient through the origin 0.3413 kPa/K; each point within 0.5% of 100 × T ÷ 293.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7 marks)
Q1 [3]: Independent: temperature (1); dependent: pressure (1); control: volume of gas / mass (amount) of gas (1).
Q2 [1]: So the air in the flask reaches the same temperature as the water (thermometer) (1).
Q3 [2]: Straight line through the origin (0 K) (1); pressure is (directly) proportional to (kelvin) temperature (1).
Q4 [1]: Any one (1): stand up / mop spills of hot water / eye protection / clamp the flask / do not touch the hot 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p₂ = p₁V₁ ÷ V₂ = 1.0 × 10⁵ × 2.0 ÷ 5.0 = 4.0 × 10⁴ Pa (40 kPa).
HT (Higher tier only): p × V = constant is on the OCR Physics B / Combined Science B equation sheet ("for a given mass of gas at a constant temperature: pressure × volume = constant"). Its HT status in J260 follows the national content (UNVERIFIED).
Why "slowly"? Fast compression does work on the gas and warms it (next slides), so the temperature would not be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straight line through the origin is easy to recognise and test (it shows direct proportion); a curve could be several different relationships.
Data (node): pV = 6000, 6050, 5960, 6030, 5960; mean 6000. Least-squares gradient of p vs 1/V through the origin = 5985 kPa cm³. Points within 2% of 6000 ÷ V.
Method (if done as a demonstration): sealed syringe connected to a pressure gauge; push the plunger in slowly in steps, wait for the temperature to settle, record V (syringe scale) and p (gauge).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9 marks)
Q1 [2]: Fixed mass / amount of gas (1); constant temperature (1).
Q2 [3]: p₁V₁ = p₂V₂ (1); p₂ = 100 × 300 ÷ 75 (1); = 400 kPa (1).
Q3 [2]: Particles are closer together / more particles per unit volume / less distance to travel (1); so they hit the walls more often (more collisions per second), so greater force per area (1). (Speed unchanged because temperature constant.)
Q4 [2]: p against V: a curve, p decreasing as V increases (inverse proportion) (1); p against 1/V: a straight line through the origin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escaping air expands and does work pushing back the surrounding air, so energy is transferred out of it: its internal energy falls and so does its temperature. (Accept: the opposite of doing work on a gas.)
HT (Higher tier only) following the national content statement "explain how, in a given situation, doing work on a gas can increase its temperature". Its J260 status (combined vs J259 only) is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Useful: e.g. explains gas pressure / why pressure rises with temperature / predicts absolute zero. Limitation: e.g. particles are not hard spheres; forces between particles are ignored; diagrams not to scale; real gases condense at low temperature.
Scale (node): for air at 0 °C and 101 kPa, n = p ÷ kT = 2.69e+25 per m³, mean spacing = n^(−1/3) = 3.34e-9 m, about 11 × a 3 × 10⁻¹⁰ m molecule. The right-hand box uses about 10 diameters.
"Limitations of the particle model" is drawn from the J260 ideas about science (models); the exact statement is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7 marks)
Q1 [3]: Work is done on the gas / energy is transferred to the gas by the force on the piston (1); the internal energy / kinetic energy of the particles increases (particles bounce off the moving piston faster) (1); so the temperature increases (1).
Q2 [2]: Energy is transferred to the surroundings / through the walls (1); at the same rate as work is done, so the internal energy (temperature) stays about constant (1).
Q3 [2]: Any two (1 each): particles shown as hard spheres; forces between particles ignored; diagrams not to scale / particles much smaller and further apart; real gases condense before absolute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hide the definitions, students say them, then reveal. The three HT terms are Higher tier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360 kPa (p × V = constant: V ÷ 3 so p × 3). p × V = constant is GIVEN on the equation sheet (Higher tier).
T = θ + 273 is a conversion students must recall (not on the sheet). ρ = m ÷ V is a recall equation from P6.1. ΔE = mcΔθ and E = mL (P6.1, given) are not needed here.
Status follows the OCR Physics B equation sheet extract ("for a given mass of gas at a constant temperature: pressure × volume = constant") and a third-party list labelled "OCR Combined Science B Equation Sheet". UNVERIFIED against the current J260 sheet: check before printing.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[3]: Particles move randomly / in all directions / fast (1); they collide with the walls (inside of the tyre) (1); each collision exerts a force; force per unit area = pressure (1).
(b) [1]: 27 + 273 = 300 K (1).
(c) [3]: Temperature rises so particles gain kinetic energy / move faster (1); collide with the walls more often / more frequently and with more force (1); so greater force on the walls, so greater pressure (volume constant) (1).
(d) [3]: p₁V₁ = p₂V₂ / p × V = constant (1); p₂ = 100 × 80 ÷ 32 (1); = 250 kPa (1).
(e) [2]: Work is done on the air / energy is transferred to the air (1); so its internal energy (kinetic energy of particles) increases, so temperature rises (1).
(f) [1]: Any one (1): particles are not hard spheres; forces between particles ignored; not to scale; real gases condense at low temperatures.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Particles colliding with / hitting the walls (1).
2 [2]: −23 + 273 = 250 K (1); 400 − 273 = 127 °C (1).
3 [2]: Particles lose kinetic energy / move slower (1); hit the walls less often and with less force, so the pressure falls (1).
4 [2]: −273 °C / 0 K (1); particles have the least possible (zero) kinetic energy, so cannot slow down more / pressure would be zero (1).
5 [2]: p₂ = 2.0 × 10⁵ × 0.030 ÷ 0.12 (1); = 5.0 × 10⁴ Pa (1).
6 [2]: Straight line through the origin (1); p is (directly) proportional to 1/V / p is inversely proportional to V / p × V = constant (1).
7 [6]: OCR level-of-response mark scheme (6 marks). Read the whole answer, decide the level from the content descriptor, then the mark within the level from the quality of the line of reasoning. Use the indicative scientific points below.
Level 3 (5–6 marks): Describes a clear method with the measurements AND the expected result AND a full particle explanation (faster particles, more frequent/harder collisions, greater force). There is a well-developed line of reasoning which is clear and logically structured. The information presented is relevant and substantiated.
Level 2 (3–4 marks): Describes a method with most measurements AND EITHER the expected result OR a partial particle explanation. There is a line of reasoning presented with some structure. The information presented is relevant and supported by some evidence.
Level 1 (1–2 marks): Gives a simple description of heating the air and measuring pressure OR a simple statement that pressure increases because particles move faster. There is an attempt at a logical structure with a line of reasoning. The information is in the most part relevant.
0 marks: no response or no response worthy of credit.
Indicative scientific points may include:
 • Apparatus: flask (sealed) of air connected by a short tube to a pressure gauge; water bath / beaker of water; heater; thermometer; stirrer.
 • Flask fully under the water; volume (and mass) of gas fixed.
 • Record temperature and pressure; heat the water; stir and wait for the air to reach the water temperature; record readings at intervals (e.g. every 10–15 °C).
 • Convert temperatures to kelvin; plot pressure against temperature.
 • Results: pressure increases as temperature increases; straight line; through 0 K / extrapolates to −273 °C.
 • Particles gain kinetic energy / move faster as temperature rises.
 • Hit the walls more often and harder, so a greater force per area, so a greater pressure.
 • Safety: hot water / eye protection / clamp the flask; reliability: repeat while cooling, short tube, check for leaks.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A"/>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2B4C9B"/>
          </a:solidFill>
          <a:ln w="12700">
            <a:solidFill>
              <a:srgbClr val="2B4C9B"/>
            </a:solidFill>
            <a:prstDash val="solid"/>
          </a:ln>
        </p:spPr>
      </p:sp>
      <p:sp>
        <p:nvSpPr>
          <p:cNvPr id="3" name="Shape 1"/>
          <p:cNvSpPr/>
          <p:nvPr/>
        </p:nvSpPr>
        <p:spPr>
          <a:xfrm>
            <a:off x="9326880" y="2377440"/>
            <a:ext cx="4937760" cy="4937760"/>
          </a:xfrm>
          <a:prstGeom prst="ellipse">
            <a:avLst/>
          </a:prstGeom>
          <a:solidFill>
            <a:srgbClr val="3A63C9">
              <a:alpha val="85000"/>
            </a:srgbClr>
          </a:solidFill>
          <a:ln w="12700">
            <a:solidFill>
              <a:srgbClr val="3A63C9"/>
            </a:solidFill>
            <a:prstDash val="solid"/>
          </a:ln>
        </p:spPr>
      </p:sp>
      <p:sp>
        <p:nvSpPr>
          <p:cNvPr id="4" name="Shape 2"/>
          <p:cNvSpPr/>
          <p:nvPr/>
        </p:nvSpPr>
        <p:spPr>
          <a:xfrm>
            <a:off x="0" y="0"/>
            <a:ext cx="164592" cy="6858000"/>
          </a:xfrm>
          <a:prstGeom prst="rect">
            <a:avLst/>
          </a:prstGeom>
          <a:solidFill>
            <a:srgbClr val="3A63C9"/>
          </a:solidFill>
          <a:ln w="12700">
            <a:solidFill>
              <a:srgbClr val="3A63C9"/>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9FB8F0"/>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P6.2  Heating gases</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9D5F2"/>
                </a:solidFill>
                <a:latin typeface="Georgia" pitchFamily="34" charset="0"/>
                <a:ea typeface="Georgia" pitchFamily="34" charset="-122"/>
                <a:cs typeface="Georgia" pitchFamily="34" charset="-120"/>
              </a:rPr>
              <a:t>How does the particle model explain the effects of heating?</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CE4F7"/>
                </a:solidFill>
                <a:latin typeface="Calibri" pitchFamily="34" charset="0"/>
                <a:ea typeface="Calibri" pitchFamily="34" charset="-122"/>
                <a:cs typeface="Calibri" pitchFamily="34" charset="-120"/>
              </a:rPr>
              <a:t>Gas pressure  •  Temperature  •  Absolute zero  •  Kelvin  •  pV = constant (HT)  •  Work on a gas (HT)</a:t>
            </a:r>
            <a:endParaRPr lang="en-US" sz="1300" dirty="0"/>
          </a:p>
        </p:txBody>
      </p:sp>
      <p:sp>
        <p:nvSpPr>
          <p:cNvPr id="10" name="Shape 8"/>
          <p:cNvSpPr/>
          <p:nvPr/>
        </p:nvSpPr>
        <p:spPr>
          <a:xfrm>
            <a:off x="731520" y="3886200"/>
            <a:ext cx="457200" cy="457200"/>
          </a:xfrm>
          <a:prstGeom prst="ellipse">
            <a:avLst/>
          </a:prstGeom>
          <a:solidFill>
            <a:srgbClr val="3A63C9"/>
          </a:solidFill>
          <a:ln w="12700">
            <a:solidFill>
              <a:srgbClr val="9F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P6.2.1–P6.2.6 • suggested practical: pressure and temperature of a gas</a:t>
            </a:r>
            <a:endParaRPr lang="en-US" sz="1400" dirty="0"/>
          </a:p>
        </p:txBody>
      </p:sp>
      <p:sp>
        <p:nvSpPr>
          <p:cNvPr id="13" name="Shape 11"/>
          <p:cNvSpPr/>
          <p:nvPr/>
        </p:nvSpPr>
        <p:spPr>
          <a:xfrm>
            <a:off x="731520" y="4507992"/>
            <a:ext cx="457200" cy="457200"/>
          </a:xfrm>
          <a:prstGeom prst="ellipse">
            <a:avLst/>
          </a:prstGeom>
          <a:solidFill>
            <a:srgbClr val="3A63C9"/>
          </a:solidFill>
          <a:ln w="12700">
            <a:solidFill>
              <a:srgbClr val="9F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HT pill on pV = constant and work done on a gas</a:t>
            </a:r>
            <a:endParaRPr lang="en-US" sz="1400" dirty="0"/>
          </a:p>
        </p:txBody>
      </p:sp>
      <p:sp>
        <p:nvSpPr>
          <p:cNvPr id="16" name="Shape 14"/>
          <p:cNvSpPr/>
          <p:nvPr/>
        </p:nvSpPr>
        <p:spPr>
          <a:xfrm>
            <a:off x="731520" y="5129784"/>
            <a:ext cx="457200" cy="457200"/>
          </a:xfrm>
          <a:prstGeom prst="ellipse">
            <a:avLst/>
          </a:prstGeom>
          <a:solidFill>
            <a:srgbClr val="3A63C9"/>
          </a:solidFill>
          <a:ln w="12700">
            <a:solidFill>
              <a:srgbClr val="9F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Gas pressure • temperature • absolute zero and kelvin • pV = constant • limits of the model</a:t>
            </a:r>
            <a:endParaRPr lang="en-US" sz="1400" dirty="0"/>
          </a:p>
        </p:txBody>
      </p:sp>
      <p:sp>
        <p:nvSpPr>
          <p:cNvPr id="19" name="Shape 17"/>
          <p:cNvSpPr/>
          <p:nvPr/>
        </p:nvSpPr>
        <p:spPr>
          <a:xfrm>
            <a:off x="731520" y="5769864"/>
            <a:ext cx="5582412" cy="365760"/>
          </a:xfrm>
          <a:prstGeom prst="roundRect">
            <a:avLst>
              <a:gd name="adj" fmla="val 50000"/>
            </a:avLst>
          </a:prstGeom>
          <a:solidFill>
            <a:srgbClr val="16213E"/>
          </a:solidFill>
          <a:ln w="15875">
            <a:solidFill>
              <a:srgbClr val="F5A742"/>
            </a:solidFill>
            <a:prstDash val="solid"/>
          </a:ln>
        </p:spPr>
      </p:sp>
      <p:sp>
        <p:nvSpPr>
          <p:cNvPr id="20" name="Text 18"/>
          <p:cNvSpPr/>
          <p:nvPr/>
        </p:nvSpPr>
        <p:spPr>
          <a:xfrm>
            <a:off x="731520" y="5769864"/>
            <a:ext cx="5582412"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2 of 3 in Chapter P6: Matter – models and explanations</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A9B4CF"/>
                </a:solidFill>
                <a:latin typeface="Calibri" pitchFamily="34" charset="0"/>
                <a:ea typeface="Calibri" pitchFamily="34" charset="-122"/>
                <a:cs typeface="Calibri" pitchFamily="34" charset="-120"/>
              </a:rPr>
              <a:t>OCR J260 Combined Science B • P6.2 How does the particle model explain the effects of heating? • teacher deck • mark schemes in the speaker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P6.2.1–P6.2.6 • by the end of this sub-topic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2E5BD8"/>
          </a:solidFill>
          <a:ln w="12700">
            <a:solidFill>
              <a:srgbClr val="2E5BD8"/>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P6.2.1   </a:t>
            </a:r>
            <a:r>
              <a:rPr lang="en-US" sz="1200" dirty="0">
                <a:solidFill>
                  <a:srgbClr val="262B3A"/>
                </a:solidFill>
                <a:latin typeface="Calibri" pitchFamily="34" charset="0"/>
                <a:ea typeface="Calibri" pitchFamily="34" charset="-122"/>
                <a:cs typeface="Calibri" pitchFamily="34" charset="-120"/>
              </a:rPr>
              <a:t>Explain the </a:t>
            </a:r>
            <a:r>
              <a:rPr lang="en-US" sz="1200" b="1" dirty="0">
                <a:solidFill>
                  <a:srgbClr val="262B3A"/>
                </a:solidFill>
                <a:latin typeface="Calibri" pitchFamily="34" charset="0"/>
                <a:ea typeface="Calibri" pitchFamily="34" charset="-122"/>
                <a:cs typeface="Calibri" pitchFamily="34" charset="-120"/>
              </a:rPr>
              <a:t>density</a:t>
            </a:r>
            <a:r>
              <a:rPr lang="en-US" sz="1200" dirty="0">
                <a:solidFill>
                  <a:srgbClr val="262B3A"/>
                </a:solidFill>
                <a:latin typeface="Calibri" pitchFamily="34" charset="0"/>
                <a:ea typeface="Calibri" pitchFamily="34" charset="-122"/>
                <a:cs typeface="Calibri" pitchFamily="34" charset="-120"/>
              </a:rPr>
              <a:t> of solids, liquids and gases using the arrangement of particles (recap of P6.1).</a:t>
            </a:r>
            <a:endParaRPr lang="en-US" sz="1100" dirty="0"/>
          </a:p>
        </p:txBody>
      </p:sp>
      <p:sp>
        <p:nvSpPr>
          <p:cNvPr id="11" name="Shape 9"/>
          <p:cNvSpPr/>
          <p:nvPr/>
        </p:nvSpPr>
        <p:spPr>
          <a:xfrm>
            <a:off x="502920" y="2194560"/>
            <a:ext cx="457200" cy="457200"/>
          </a:xfrm>
          <a:prstGeom prst="ellipse">
            <a:avLst/>
          </a:prstGeom>
          <a:solidFill>
            <a:srgbClr val="2E5BD8"/>
          </a:solidFill>
          <a:ln w="12700">
            <a:solidFill>
              <a:srgbClr val="2E5BD8"/>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P6.2.2   </a:t>
            </a:r>
            <a:r>
              <a:rPr lang="en-US" sz="1200" dirty="0">
                <a:solidFill>
                  <a:srgbClr val="262B3A"/>
                </a:solidFill>
                <a:latin typeface="Calibri" pitchFamily="34" charset="0"/>
                <a:ea typeface="Calibri" pitchFamily="34" charset="-122"/>
                <a:cs typeface="Calibri" pitchFamily="34" charset="-120"/>
              </a:rPr>
              <a:t>Describe how </a:t>
            </a:r>
            <a:r>
              <a:rPr lang="en-US" sz="1200" b="1" dirty="0">
                <a:solidFill>
                  <a:srgbClr val="262B3A"/>
                </a:solidFill>
                <a:latin typeface="Calibri" pitchFamily="34" charset="0"/>
                <a:ea typeface="Calibri" pitchFamily="34" charset="-122"/>
                <a:cs typeface="Calibri" pitchFamily="34" charset="-120"/>
              </a:rPr>
              <a:t>mass is conserved</a:t>
            </a:r>
            <a:r>
              <a:rPr lang="en-US" sz="1200" dirty="0">
                <a:solidFill>
                  <a:srgbClr val="262B3A"/>
                </a:solidFill>
                <a:latin typeface="Calibri" pitchFamily="34" charset="0"/>
                <a:ea typeface="Calibri" pitchFamily="34" charset="-122"/>
                <a:cs typeface="Calibri" pitchFamily="34" charset="-120"/>
              </a:rPr>
              <a:t> in changes of state, which are reversible </a:t>
            </a:r>
            <a:r>
              <a:rPr lang="en-US" sz="1200" b="1" dirty="0">
                <a:solidFill>
                  <a:srgbClr val="262B3A"/>
                </a:solidFill>
                <a:latin typeface="Calibri" pitchFamily="34" charset="0"/>
                <a:ea typeface="Calibri" pitchFamily="34" charset="-122"/>
                <a:cs typeface="Calibri" pitchFamily="34" charset="-120"/>
              </a:rPr>
              <a:t>physical changes</a:t>
            </a:r>
            <a:r>
              <a:rPr lang="en-US" sz="1200" dirty="0">
                <a:solidFill>
                  <a:srgbClr val="262B3A"/>
                </a:solidFill>
                <a:latin typeface="Calibri" pitchFamily="34" charset="0"/>
                <a:ea typeface="Calibri" pitchFamily="34" charset="-122"/>
                <a:cs typeface="Calibri" pitchFamily="34" charset="-120"/>
              </a:rPr>
              <a:t> (recap).</a:t>
            </a:r>
            <a:endParaRPr lang="en-US" sz="1100" dirty="0"/>
          </a:p>
        </p:txBody>
      </p:sp>
      <p:sp>
        <p:nvSpPr>
          <p:cNvPr id="14" name="Shape 12"/>
          <p:cNvSpPr/>
          <p:nvPr/>
        </p:nvSpPr>
        <p:spPr>
          <a:xfrm>
            <a:off x="502920" y="3063240"/>
            <a:ext cx="457200" cy="457200"/>
          </a:xfrm>
          <a:prstGeom prst="ellipse">
            <a:avLst/>
          </a:prstGeom>
          <a:solidFill>
            <a:srgbClr val="2E5BD8"/>
          </a:solidFill>
          <a:ln w="12700">
            <a:solidFill>
              <a:srgbClr val="2E5BD8"/>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P6.2.3   </a:t>
            </a:r>
            <a:r>
              <a:rPr lang="en-US" sz="1200" dirty="0">
                <a:solidFill>
                  <a:srgbClr val="262B3A"/>
                </a:solidFill>
                <a:latin typeface="Calibri" pitchFamily="34" charset="0"/>
                <a:ea typeface="Calibri" pitchFamily="34" charset="-122"/>
                <a:cs typeface="Calibri" pitchFamily="34" charset="-120"/>
              </a:rPr>
              <a:t>Describe how heating changes the </a:t>
            </a:r>
            <a:r>
              <a:rPr lang="en-US" sz="1200" b="1" dirty="0">
                <a:solidFill>
                  <a:srgbClr val="262B3A"/>
                </a:solidFill>
                <a:latin typeface="Calibri" pitchFamily="34" charset="0"/>
                <a:ea typeface="Calibri" pitchFamily="34" charset="-122"/>
                <a:cs typeface="Calibri" pitchFamily="34" charset="-120"/>
              </a:rPr>
              <a:t>internal energy</a:t>
            </a:r>
            <a:r>
              <a:rPr lang="en-US" sz="1200" dirty="0">
                <a:solidFill>
                  <a:srgbClr val="262B3A"/>
                </a:solidFill>
                <a:latin typeface="Calibri" pitchFamily="34" charset="0"/>
                <a:ea typeface="Calibri" pitchFamily="34" charset="-122"/>
                <a:cs typeface="Calibri" pitchFamily="34" charset="-120"/>
              </a:rPr>
              <a:t>: temperature rise or change of state (recap).</a:t>
            </a:r>
            <a:endParaRPr lang="en-US" sz="1100" dirty="0"/>
          </a:p>
        </p:txBody>
      </p:sp>
      <p:sp>
        <p:nvSpPr>
          <p:cNvPr id="17" name="Shape 15"/>
          <p:cNvSpPr/>
          <p:nvPr/>
        </p:nvSpPr>
        <p:spPr>
          <a:xfrm>
            <a:off x="502920" y="3931920"/>
            <a:ext cx="457200" cy="457200"/>
          </a:xfrm>
          <a:prstGeom prst="ellipse">
            <a:avLst/>
          </a:prstGeom>
          <a:solidFill>
            <a:srgbClr val="2E5BD8"/>
          </a:solidFill>
          <a:ln w="12700">
            <a:solidFill>
              <a:srgbClr val="2E5BD8"/>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P6.2.4   </a:t>
            </a:r>
            <a:r>
              <a:rPr lang="en-US" sz="1200" dirty="0">
                <a:solidFill>
                  <a:srgbClr val="262B3A"/>
                </a:solidFill>
                <a:latin typeface="Calibri" pitchFamily="34" charset="0"/>
                <a:ea typeface="Calibri" pitchFamily="34" charset="-122"/>
                <a:cs typeface="Calibri" pitchFamily="34" charset="-120"/>
              </a:rPr>
              <a:t>Explain how the motion of gas particles is related to the </a:t>
            </a:r>
            <a:r>
              <a:rPr lang="en-US" sz="1200" b="1" dirty="0">
                <a:solidFill>
                  <a:srgbClr val="262B3A"/>
                </a:solidFill>
                <a:latin typeface="Calibri" pitchFamily="34" charset="0"/>
                <a:ea typeface="Calibri" pitchFamily="34" charset="-122"/>
                <a:cs typeface="Calibri" pitchFamily="34" charset="-120"/>
              </a:rPr>
              <a:t>temperature</a:t>
            </a:r>
            <a:r>
              <a:rPr lang="en-US" sz="1200" dirty="0">
                <a:solidFill>
                  <a:srgbClr val="262B3A"/>
                </a:solidFill>
                <a:latin typeface="Calibri" pitchFamily="34" charset="0"/>
                <a:ea typeface="Calibri" pitchFamily="34" charset="-122"/>
                <a:cs typeface="Calibri" pitchFamily="34" charset="-120"/>
              </a:rPr>
              <a:t> and the </a:t>
            </a:r>
            <a:r>
              <a:rPr lang="en-US" sz="1200" b="1" dirty="0">
                <a:solidFill>
                  <a:srgbClr val="262B3A"/>
                </a:solidFill>
                <a:latin typeface="Calibri" pitchFamily="34" charset="0"/>
                <a:ea typeface="Calibri" pitchFamily="34" charset="-122"/>
                <a:cs typeface="Calibri" pitchFamily="34" charset="-120"/>
              </a:rPr>
              <a:t>pressure</a:t>
            </a:r>
            <a:r>
              <a:rPr lang="en-US" sz="1200" dirty="0">
                <a:solidFill>
                  <a:srgbClr val="262B3A"/>
                </a:solidFill>
                <a:latin typeface="Calibri" pitchFamily="34" charset="0"/>
                <a:ea typeface="Calibri" pitchFamily="34" charset="-122"/>
                <a:cs typeface="Calibri" pitchFamily="34" charset="-120"/>
              </a:rPr>
              <a:t> of the gas.</a:t>
            </a:r>
            <a:endParaRPr lang="en-US" sz="1100" dirty="0"/>
          </a:p>
        </p:txBody>
      </p:sp>
      <p:sp>
        <p:nvSpPr>
          <p:cNvPr id="20" name="Shape 18"/>
          <p:cNvSpPr/>
          <p:nvPr/>
        </p:nvSpPr>
        <p:spPr>
          <a:xfrm>
            <a:off x="6263640" y="1325880"/>
            <a:ext cx="457200" cy="457200"/>
          </a:xfrm>
          <a:prstGeom prst="ellipse">
            <a:avLst/>
          </a:prstGeom>
          <a:solidFill>
            <a:srgbClr val="2E5BD8"/>
          </a:solidFill>
          <a:ln w="12700">
            <a:solidFill>
              <a:srgbClr val="2E5BD8"/>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P6.2.4   </a:t>
            </a:r>
            <a:r>
              <a:rPr lang="en-US" sz="1200" dirty="0">
                <a:solidFill>
                  <a:srgbClr val="262B3A"/>
                </a:solidFill>
                <a:latin typeface="Calibri" pitchFamily="34" charset="0"/>
                <a:ea typeface="Calibri" pitchFamily="34" charset="-122"/>
                <a:cs typeface="Calibri" pitchFamily="34" charset="-120"/>
              </a:rPr>
              <a:t>Explain why heating a gas at </a:t>
            </a:r>
            <a:r>
              <a:rPr lang="en-US" sz="1200" b="1" dirty="0">
                <a:solidFill>
                  <a:srgbClr val="262B3A"/>
                </a:solidFill>
                <a:latin typeface="Calibri" pitchFamily="34" charset="0"/>
                <a:ea typeface="Calibri" pitchFamily="34" charset="-122"/>
                <a:cs typeface="Calibri" pitchFamily="34" charset="-120"/>
              </a:rPr>
              <a:t>constant volume</a:t>
            </a:r>
            <a:r>
              <a:rPr lang="en-US" sz="1200" dirty="0">
                <a:solidFill>
                  <a:srgbClr val="262B3A"/>
                </a:solidFill>
                <a:latin typeface="Calibri" pitchFamily="34" charset="0"/>
                <a:ea typeface="Calibri" pitchFamily="34" charset="-122"/>
                <a:cs typeface="Calibri" pitchFamily="34" charset="-120"/>
              </a:rPr>
              <a:t> raises its pressure; use </a:t>
            </a:r>
            <a:r>
              <a:rPr lang="en-US" sz="1200" b="1" dirty="0">
                <a:solidFill>
                  <a:srgbClr val="262B3A"/>
                </a:solidFill>
                <a:latin typeface="Calibri" pitchFamily="34" charset="0"/>
                <a:ea typeface="Calibri" pitchFamily="34" charset="-122"/>
                <a:cs typeface="Calibri" pitchFamily="34" charset="-120"/>
              </a:rPr>
              <a:t>absolute zero</a:t>
            </a:r>
            <a:r>
              <a:rPr lang="en-US" sz="1200" dirty="0">
                <a:solidFill>
                  <a:srgbClr val="262B3A"/>
                </a:solidFill>
                <a:latin typeface="Calibri" pitchFamily="34" charset="0"/>
                <a:ea typeface="Calibri" pitchFamily="34" charset="-122"/>
                <a:cs typeface="Calibri" pitchFamily="34" charset="-120"/>
              </a:rPr>
              <a:t> and the </a:t>
            </a:r>
            <a:r>
              <a:rPr lang="en-US" sz="1200" b="1" dirty="0">
                <a:solidFill>
                  <a:srgbClr val="262B3A"/>
                </a:solidFill>
                <a:latin typeface="Calibri" pitchFamily="34" charset="0"/>
                <a:ea typeface="Calibri" pitchFamily="34" charset="-122"/>
                <a:cs typeface="Calibri" pitchFamily="34" charset="-120"/>
              </a:rPr>
              <a:t>kelvin</a:t>
            </a:r>
            <a:r>
              <a:rPr lang="en-US" sz="1200" dirty="0">
                <a:solidFill>
                  <a:srgbClr val="262B3A"/>
                </a:solidFill>
                <a:latin typeface="Calibri" pitchFamily="34" charset="0"/>
                <a:ea typeface="Calibri" pitchFamily="34" charset="-122"/>
                <a:cs typeface="Calibri" pitchFamily="34" charset="-120"/>
              </a:rPr>
              <a:t> scale.</a:t>
            </a:r>
            <a:endParaRPr lang="en-US" sz="1100" dirty="0"/>
          </a:p>
        </p:txBody>
      </p:sp>
      <p:sp>
        <p:nvSpPr>
          <p:cNvPr id="23" name="Shape 21"/>
          <p:cNvSpPr/>
          <p:nvPr/>
        </p:nvSpPr>
        <p:spPr>
          <a:xfrm>
            <a:off x="6263640" y="2194560"/>
            <a:ext cx="457200" cy="457200"/>
          </a:xfrm>
          <a:prstGeom prst="ellipse">
            <a:avLst/>
          </a:prstGeom>
          <a:solidFill>
            <a:srgbClr val="2E5BD8"/>
          </a:solidFill>
          <a:ln w="12700">
            <a:solidFill>
              <a:srgbClr val="2E5BD8"/>
            </a:solidFill>
            <a:prstDash val="solid"/>
          </a:ln>
        </p:spPr>
      </p:sp>
      <p:sp>
        <p:nvSpPr>
          <p:cNvPr id="24" name="Text 2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P6.2.5   </a:t>
            </a:r>
            <a:r>
              <a:rPr lang="en-US" sz="1200" dirty="0">
                <a:solidFill>
                  <a:srgbClr val="262B3A"/>
                </a:solidFill>
                <a:latin typeface="Calibri" pitchFamily="34" charset="0"/>
                <a:ea typeface="Calibri" pitchFamily="34" charset="-122"/>
                <a:cs typeface="Calibri" pitchFamily="34" charset="-120"/>
              </a:rPr>
              <a:t>Use </a:t>
            </a:r>
            <a:r>
              <a:rPr lang="en-US" sz="1200" b="1" dirty="0">
                <a:solidFill>
                  <a:srgbClr val="262B3A"/>
                </a:solidFill>
                <a:latin typeface="Calibri" pitchFamily="34" charset="0"/>
                <a:ea typeface="Calibri" pitchFamily="34" charset="-122"/>
                <a:cs typeface="Calibri" pitchFamily="34" charset="-120"/>
              </a:rPr>
              <a:t>p × V = constant</a:t>
            </a:r>
            <a:r>
              <a:rPr lang="en-US" sz="1200" dirty="0">
                <a:solidFill>
                  <a:srgbClr val="262B3A"/>
                </a:solidFill>
                <a:latin typeface="Calibri" pitchFamily="34" charset="0"/>
                <a:ea typeface="Calibri" pitchFamily="34" charset="-122"/>
                <a:cs typeface="Calibri" pitchFamily="34" charset="-120"/>
              </a:rPr>
              <a:t> for a fixed mass of gas at constant temperature; interpret p–V graphs.</a:t>
            </a:r>
            <a:endParaRPr lang="en-US" sz="1100" dirty="0"/>
          </a:p>
        </p:txBody>
      </p:sp>
      <p:sp>
        <p:nvSpPr>
          <p:cNvPr id="26" name="Shape 24"/>
          <p:cNvSpPr/>
          <p:nvPr/>
        </p:nvSpPr>
        <p:spPr>
          <a:xfrm>
            <a:off x="11018520" y="2633472"/>
            <a:ext cx="411480" cy="274320"/>
          </a:xfrm>
          <a:prstGeom prst="roundRect">
            <a:avLst>
              <a:gd name="adj" fmla="val 50000"/>
            </a:avLst>
          </a:prstGeom>
          <a:solidFill>
            <a:srgbClr val="C8414C"/>
          </a:solidFill>
          <a:ln w="12700">
            <a:solidFill>
              <a:srgbClr val="C8414C"/>
            </a:solidFill>
            <a:prstDash val="solid"/>
          </a:ln>
        </p:spPr>
      </p:sp>
      <p:sp>
        <p:nvSpPr>
          <p:cNvPr id="27" name="Text 25"/>
          <p:cNvSpPr/>
          <p:nvPr/>
        </p:nvSpPr>
        <p:spPr>
          <a:xfrm>
            <a:off x="11018520" y="263347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8" name="Shape 26"/>
          <p:cNvSpPr/>
          <p:nvPr/>
        </p:nvSpPr>
        <p:spPr>
          <a:xfrm>
            <a:off x="6263640" y="3063240"/>
            <a:ext cx="457200" cy="457200"/>
          </a:xfrm>
          <a:prstGeom prst="ellipse">
            <a:avLst/>
          </a:prstGeom>
          <a:solidFill>
            <a:srgbClr val="2E5BD8"/>
          </a:solidFill>
          <a:ln w="12700">
            <a:solidFill>
              <a:srgbClr val="2E5BD8"/>
            </a:solidFill>
            <a:prstDash val="solid"/>
          </a:ln>
        </p:spPr>
      </p:sp>
      <p:sp>
        <p:nvSpPr>
          <p:cNvPr id="29" name="Text 27"/>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30" name="Text 28"/>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P6.2.6   </a:t>
            </a:r>
            <a:r>
              <a:rPr lang="en-US" sz="1200" dirty="0">
                <a:solidFill>
                  <a:srgbClr val="262B3A"/>
                </a:solidFill>
                <a:latin typeface="Calibri" pitchFamily="34" charset="0"/>
                <a:ea typeface="Calibri" pitchFamily="34" charset="-122"/>
                <a:cs typeface="Calibri" pitchFamily="34" charset="-120"/>
              </a:rPr>
              <a:t>Explain how </a:t>
            </a:r>
            <a:r>
              <a:rPr lang="en-US" sz="1200" b="1" dirty="0">
                <a:solidFill>
                  <a:srgbClr val="262B3A"/>
                </a:solidFill>
                <a:latin typeface="Calibri" pitchFamily="34" charset="0"/>
                <a:ea typeface="Calibri" pitchFamily="34" charset="-122"/>
                <a:cs typeface="Calibri" pitchFamily="34" charset="-120"/>
              </a:rPr>
              <a:t>doing work on a gas</a:t>
            </a:r>
            <a:r>
              <a:rPr lang="en-US" sz="1200" dirty="0">
                <a:solidFill>
                  <a:srgbClr val="262B3A"/>
                </a:solidFill>
                <a:latin typeface="Calibri" pitchFamily="34" charset="0"/>
                <a:ea typeface="Calibri" pitchFamily="34" charset="-122"/>
                <a:cs typeface="Calibri" pitchFamily="34" charset="-120"/>
              </a:rPr>
              <a:t> (e.g. a bicycle pump) can increase its temperature.</a:t>
            </a:r>
            <a:endParaRPr lang="en-US" sz="1100" dirty="0"/>
          </a:p>
        </p:txBody>
      </p:sp>
      <p:sp>
        <p:nvSpPr>
          <p:cNvPr id="31" name="Shape 29"/>
          <p:cNvSpPr/>
          <p:nvPr/>
        </p:nvSpPr>
        <p:spPr>
          <a:xfrm>
            <a:off x="11018520" y="3502152"/>
            <a:ext cx="411480" cy="274320"/>
          </a:xfrm>
          <a:prstGeom prst="roundRect">
            <a:avLst>
              <a:gd name="adj" fmla="val 50000"/>
            </a:avLst>
          </a:prstGeom>
          <a:solidFill>
            <a:srgbClr val="C8414C"/>
          </a:solidFill>
          <a:ln w="12700">
            <a:solidFill>
              <a:srgbClr val="C8414C"/>
            </a:solidFill>
            <a:prstDash val="solid"/>
          </a:ln>
        </p:spPr>
      </p:sp>
      <p:sp>
        <p:nvSpPr>
          <p:cNvPr id="32" name="Text 30"/>
          <p:cNvSpPr/>
          <p:nvPr/>
        </p:nvSpPr>
        <p:spPr>
          <a:xfrm>
            <a:off x="11018520" y="3502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3" name="Shape 31"/>
          <p:cNvSpPr/>
          <p:nvPr/>
        </p:nvSpPr>
        <p:spPr>
          <a:xfrm>
            <a:off x="6263640" y="3931920"/>
            <a:ext cx="457200" cy="457200"/>
          </a:xfrm>
          <a:prstGeom prst="ellipse">
            <a:avLst/>
          </a:prstGeom>
          <a:solidFill>
            <a:srgbClr val="2E5BD8"/>
          </a:solidFill>
          <a:ln w="12700">
            <a:solidFill>
              <a:srgbClr val="2E5BD8"/>
            </a:solidFill>
            <a:prstDash val="solid"/>
          </a:ln>
        </p:spPr>
      </p:sp>
      <p:sp>
        <p:nvSpPr>
          <p:cNvPr id="34" name="Text 32"/>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5" name="Text 33"/>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IaS   </a:t>
            </a:r>
            <a:r>
              <a:rPr lang="en-US" sz="1200" dirty="0">
                <a:solidFill>
                  <a:srgbClr val="262B3A"/>
                </a:solidFill>
                <a:latin typeface="Calibri" pitchFamily="34" charset="0"/>
                <a:ea typeface="Calibri" pitchFamily="34" charset="-122"/>
                <a:cs typeface="Calibri" pitchFamily="34" charset="-120"/>
              </a:rPr>
              <a:t>Describe the </a:t>
            </a:r>
            <a:r>
              <a:rPr lang="en-US" sz="1200" b="1" dirty="0">
                <a:solidFill>
                  <a:srgbClr val="262B3A"/>
                </a:solidFill>
                <a:latin typeface="Calibri" pitchFamily="34" charset="0"/>
                <a:ea typeface="Calibri" pitchFamily="34" charset="-122"/>
                <a:cs typeface="Calibri" pitchFamily="34" charset="-120"/>
              </a:rPr>
              <a:t>limitations of the particle model</a:t>
            </a:r>
            <a:r>
              <a:rPr lang="en-US" sz="1200" dirty="0">
                <a:solidFill>
                  <a:srgbClr val="262B3A"/>
                </a:solidFill>
                <a:latin typeface="Calibri" pitchFamily="34" charset="0"/>
                <a:ea typeface="Calibri" pitchFamily="34" charset="-122"/>
                <a:cs typeface="Calibri" pitchFamily="34" charset="-120"/>
              </a:rPr>
              <a:t> of a gas.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Chapter P6 Matter – models and explanations • P6.2 is Part 2 of 3 in Combined Science 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1A2340"/>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P6.2</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Particles and heating</a:t>
            </a:r>
            <a:endParaRPr lang="en-US" sz="1150" dirty="0"/>
          </a:p>
        </p:txBody>
      </p:sp>
      <p:sp>
        <p:nvSpPr>
          <p:cNvPr id="10" name="Shape 8"/>
          <p:cNvSpPr/>
          <p:nvPr/>
        </p:nvSpPr>
        <p:spPr>
          <a:xfrm>
            <a:off x="914400" y="1920240"/>
            <a:ext cx="91" cy="3758184"/>
          </a:xfrm>
          <a:prstGeom prst="line">
            <a:avLst/>
          </a:prstGeom>
          <a:noFill/>
          <a:ln w="19050">
            <a:solidFill>
              <a:srgbClr val="2E5BD8"/>
            </a:solidFill>
            <a:prstDash val="solid"/>
          </a:ln>
        </p:spPr>
      </p:sp>
      <p:sp>
        <p:nvSpPr>
          <p:cNvPr id="11" name="Shape 9"/>
          <p:cNvSpPr/>
          <p:nvPr/>
        </p:nvSpPr>
        <p:spPr>
          <a:xfrm>
            <a:off x="914400" y="2386584"/>
            <a:ext cx="411480" cy="91"/>
          </a:xfrm>
          <a:prstGeom prst="line">
            <a:avLst/>
          </a:prstGeom>
          <a:noFill/>
          <a:ln w="19050">
            <a:solidFill>
              <a:srgbClr val="2E5BD8"/>
            </a:solidFill>
            <a:prstDash val="solid"/>
          </a:ln>
        </p:spPr>
      </p:sp>
      <p:sp>
        <p:nvSpPr>
          <p:cNvPr id="12" name="Shape 10"/>
          <p:cNvSpPr/>
          <p:nvPr/>
        </p:nvSpPr>
        <p:spPr>
          <a:xfrm>
            <a:off x="1325880" y="2103120"/>
            <a:ext cx="5120640" cy="566928"/>
          </a:xfrm>
          <a:prstGeom prst="roundRect">
            <a:avLst>
              <a:gd name="adj" fmla="val 8065"/>
            </a:avLst>
          </a:prstGeom>
          <a:solidFill>
            <a:srgbClr val="F5F8FE"/>
          </a:solidFill>
          <a:ln w="12700">
            <a:solidFill>
              <a:srgbClr val="D5DCEB"/>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P6.2.1–P6.2.3   </a:t>
            </a:r>
            <a:r>
              <a:rPr lang="en-US" sz="1100" dirty="0">
                <a:solidFill>
                  <a:srgbClr val="262B3A"/>
                </a:solidFill>
                <a:latin typeface="Calibri" pitchFamily="34" charset="0"/>
                <a:ea typeface="Calibri" pitchFamily="34" charset="-122"/>
                <a:cs typeface="Calibri" pitchFamily="34" charset="-120"/>
              </a:rPr>
              <a:t>States, density, mass conserved, internal energy</a:t>
            </a:r>
            <a:endParaRPr lang="en-US" sz="1100" dirty="0"/>
          </a:p>
        </p:txBody>
      </p:sp>
      <p:sp>
        <p:nvSpPr>
          <p:cNvPr id="14" name="Shape 12"/>
          <p:cNvSpPr/>
          <p:nvPr/>
        </p:nvSpPr>
        <p:spPr>
          <a:xfrm>
            <a:off x="5257800" y="2249424"/>
            <a:ext cx="1097280" cy="274320"/>
          </a:xfrm>
          <a:prstGeom prst="roundRect">
            <a:avLst>
              <a:gd name="adj" fmla="val 50000"/>
            </a:avLst>
          </a:prstGeom>
          <a:solidFill>
            <a:srgbClr val="6B7385"/>
          </a:solidFill>
          <a:ln w="12700">
            <a:solidFill>
              <a:srgbClr val="6B7385"/>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P6.1 RECAP</a:t>
            </a:r>
            <a:endParaRPr lang="en-US" sz="1000" dirty="0"/>
          </a:p>
        </p:txBody>
      </p:sp>
      <p:sp>
        <p:nvSpPr>
          <p:cNvPr id="16" name="Shape 14"/>
          <p:cNvSpPr/>
          <p:nvPr/>
        </p:nvSpPr>
        <p:spPr>
          <a:xfrm>
            <a:off x="914400" y="3044952"/>
            <a:ext cx="411480" cy="91"/>
          </a:xfrm>
          <a:prstGeom prst="line">
            <a:avLst/>
          </a:prstGeom>
          <a:noFill/>
          <a:ln w="19050">
            <a:solidFill>
              <a:srgbClr val="2E5BD8"/>
            </a:solidFill>
            <a:prstDash val="solid"/>
          </a:ln>
        </p:spPr>
      </p:sp>
      <p:sp>
        <p:nvSpPr>
          <p:cNvPr id="17" name="Shape 15"/>
          <p:cNvSpPr/>
          <p:nvPr/>
        </p:nvSpPr>
        <p:spPr>
          <a:xfrm>
            <a:off x="1325880" y="2761488"/>
            <a:ext cx="5120640" cy="566928"/>
          </a:xfrm>
          <a:prstGeom prst="roundRect">
            <a:avLst>
              <a:gd name="adj" fmla="val 8065"/>
            </a:avLst>
          </a:prstGeom>
          <a:solidFill>
            <a:srgbClr val="F5F8FE"/>
          </a:solidFill>
          <a:ln w="12700">
            <a:solidFill>
              <a:srgbClr val="D5DCEB"/>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P6.2.4   </a:t>
            </a:r>
            <a:r>
              <a:rPr lang="en-US" sz="1100" dirty="0">
                <a:solidFill>
                  <a:srgbClr val="262B3A"/>
                </a:solidFill>
                <a:latin typeface="Calibri" pitchFamily="34" charset="0"/>
                <a:ea typeface="Calibri" pitchFamily="34" charset="-122"/>
                <a:cs typeface="Calibri" pitchFamily="34" charset="-120"/>
              </a:rPr>
              <a:t>Gas particles: motion, temperature and pressure</a:t>
            </a:r>
            <a:endParaRPr lang="en-US" sz="1100" dirty="0"/>
          </a:p>
        </p:txBody>
      </p:sp>
      <p:sp>
        <p:nvSpPr>
          <p:cNvPr id="19" name="Shape 17"/>
          <p:cNvSpPr/>
          <p:nvPr/>
        </p:nvSpPr>
        <p:spPr>
          <a:xfrm>
            <a:off x="5257800" y="2907792"/>
            <a:ext cx="1097280" cy="274320"/>
          </a:xfrm>
          <a:prstGeom prst="roundRect">
            <a:avLst>
              <a:gd name="adj" fmla="val 50000"/>
            </a:avLst>
          </a:prstGeom>
          <a:solidFill>
            <a:srgbClr val="2E5BD8"/>
          </a:solidFill>
          <a:ln w="12700">
            <a:solidFill>
              <a:srgbClr val="2E5BD8"/>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2E5BD8"/>
            </a:solidFill>
            <a:prstDash val="solid"/>
          </a:ln>
        </p:spPr>
      </p:sp>
      <p:sp>
        <p:nvSpPr>
          <p:cNvPr id="22" name="Shape 20"/>
          <p:cNvSpPr/>
          <p:nvPr/>
        </p:nvSpPr>
        <p:spPr>
          <a:xfrm>
            <a:off x="1325880" y="3419856"/>
            <a:ext cx="5120640" cy="566928"/>
          </a:xfrm>
          <a:prstGeom prst="roundRect">
            <a:avLst>
              <a:gd name="adj" fmla="val 8065"/>
            </a:avLst>
          </a:prstGeom>
          <a:solidFill>
            <a:srgbClr val="F5F8FE"/>
          </a:solidFill>
          <a:ln w="12700">
            <a:solidFill>
              <a:srgbClr val="D5DCEB"/>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P6.2.4   </a:t>
            </a:r>
            <a:r>
              <a:rPr lang="en-US" sz="1100" dirty="0">
                <a:solidFill>
                  <a:srgbClr val="262B3A"/>
                </a:solidFill>
                <a:latin typeface="Calibri" pitchFamily="34" charset="0"/>
                <a:ea typeface="Calibri" pitchFamily="34" charset="-122"/>
                <a:cs typeface="Calibri" pitchFamily="34" charset="-120"/>
              </a:rPr>
              <a:t>Heating at constant volume; absolute zero and kelvin</a:t>
            </a:r>
            <a:endParaRPr lang="en-US" sz="1100" dirty="0"/>
          </a:p>
        </p:txBody>
      </p:sp>
      <p:sp>
        <p:nvSpPr>
          <p:cNvPr id="24" name="Shape 22"/>
          <p:cNvSpPr/>
          <p:nvPr/>
        </p:nvSpPr>
        <p:spPr>
          <a:xfrm>
            <a:off x="5257800" y="3566160"/>
            <a:ext cx="1097280" cy="274320"/>
          </a:xfrm>
          <a:prstGeom prst="roundRect">
            <a:avLst>
              <a:gd name="adj" fmla="val 50000"/>
            </a:avLst>
          </a:prstGeom>
          <a:solidFill>
            <a:srgbClr val="2E5BD8"/>
          </a:solidFill>
          <a:ln w="12700">
            <a:solidFill>
              <a:srgbClr val="2E5BD8"/>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4361688"/>
            <a:ext cx="411480" cy="91"/>
          </a:xfrm>
          <a:prstGeom prst="line">
            <a:avLst/>
          </a:prstGeom>
          <a:noFill/>
          <a:ln w="19050">
            <a:solidFill>
              <a:srgbClr val="2E5BD8"/>
            </a:solidFill>
            <a:prstDash val="solid"/>
          </a:ln>
        </p:spPr>
      </p:sp>
      <p:sp>
        <p:nvSpPr>
          <p:cNvPr id="27" name="Shape 25"/>
          <p:cNvSpPr/>
          <p:nvPr/>
        </p:nvSpPr>
        <p:spPr>
          <a:xfrm>
            <a:off x="1325880" y="4078224"/>
            <a:ext cx="5120640" cy="566928"/>
          </a:xfrm>
          <a:prstGeom prst="roundRect">
            <a:avLst>
              <a:gd name="adj" fmla="val 8065"/>
            </a:avLst>
          </a:prstGeom>
          <a:solidFill>
            <a:srgbClr val="F5F8FE"/>
          </a:solidFill>
          <a:ln w="12700">
            <a:solidFill>
              <a:srgbClr val="D5DCEB"/>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Practical   </a:t>
            </a:r>
            <a:r>
              <a:rPr lang="en-US" sz="1100" dirty="0">
                <a:solidFill>
                  <a:srgbClr val="262B3A"/>
                </a:solidFill>
                <a:latin typeface="Calibri" pitchFamily="34" charset="0"/>
                <a:ea typeface="Calibri" pitchFamily="34" charset="-122"/>
                <a:cs typeface="Calibri" pitchFamily="34" charset="-120"/>
              </a:rPr>
              <a:t>Pressure against temperature: a flask in a water bath</a:t>
            </a:r>
            <a:endParaRPr lang="en-US" sz="1100" dirty="0"/>
          </a:p>
        </p:txBody>
      </p:sp>
      <p:sp>
        <p:nvSpPr>
          <p:cNvPr id="29" name="Shape 27"/>
          <p:cNvSpPr/>
          <p:nvPr/>
        </p:nvSpPr>
        <p:spPr>
          <a:xfrm>
            <a:off x="5257800" y="4224528"/>
            <a:ext cx="1097280" cy="274320"/>
          </a:xfrm>
          <a:prstGeom prst="roundRect">
            <a:avLst>
              <a:gd name="adj" fmla="val 50000"/>
            </a:avLst>
          </a:prstGeom>
          <a:solidFill>
            <a:srgbClr val="B8730A"/>
          </a:solidFill>
          <a:ln w="12700">
            <a:solidFill>
              <a:srgbClr val="B8730A"/>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31" name="Shape 29"/>
          <p:cNvSpPr/>
          <p:nvPr/>
        </p:nvSpPr>
        <p:spPr>
          <a:xfrm>
            <a:off x="914400" y="5020056"/>
            <a:ext cx="411480" cy="91"/>
          </a:xfrm>
          <a:prstGeom prst="line">
            <a:avLst/>
          </a:prstGeom>
          <a:noFill/>
          <a:ln w="19050">
            <a:solidFill>
              <a:srgbClr val="2E5BD8"/>
            </a:solidFill>
            <a:prstDash val="solid"/>
          </a:ln>
        </p:spPr>
      </p:sp>
      <p:sp>
        <p:nvSpPr>
          <p:cNvPr id="32" name="Shape 30"/>
          <p:cNvSpPr/>
          <p:nvPr/>
        </p:nvSpPr>
        <p:spPr>
          <a:xfrm>
            <a:off x="1325880" y="4736592"/>
            <a:ext cx="5120640" cy="566928"/>
          </a:xfrm>
          <a:prstGeom prst="roundRect">
            <a:avLst>
              <a:gd name="adj" fmla="val 8065"/>
            </a:avLst>
          </a:prstGeom>
          <a:solidFill>
            <a:srgbClr val="F5F8FE"/>
          </a:solidFill>
          <a:ln w="12700">
            <a:solidFill>
              <a:srgbClr val="D5DCEB"/>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P6.2.5–P6.2.6   </a:t>
            </a:r>
            <a:r>
              <a:rPr lang="en-US" sz="1100" dirty="0">
                <a:solidFill>
                  <a:srgbClr val="262B3A"/>
                </a:solidFill>
                <a:latin typeface="Calibri" pitchFamily="34" charset="0"/>
                <a:ea typeface="Calibri" pitchFamily="34" charset="-122"/>
                <a:cs typeface="Calibri" pitchFamily="34" charset="-120"/>
              </a:rPr>
              <a:t>p × V = constant; doing work on a gas</a:t>
            </a:r>
            <a:endParaRPr lang="en-US" sz="1100" dirty="0"/>
          </a:p>
        </p:txBody>
      </p:sp>
      <p:sp>
        <p:nvSpPr>
          <p:cNvPr id="34" name="Shape 32"/>
          <p:cNvSpPr/>
          <p:nvPr/>
        </p:nvSpPr>
        <p:spPr>
          <a:xfrm>
            <a:off x="5257800" y="4882896"/>
            <a:ext cx="1097280" cy="274320"/>
          </a:xfrm>
          <a:prstGeom prst="roundRect">
            <a:avLst>
              <a:gd name="adj" fmla="val 50000"/>
            </a:avLst>
          </a:prstGeom>
          <a:solidFill>
            <a:srgbClr val="C8414C"/>
          </a:solidFill>
          <a:ln w="12700">
            <a:solidFill>
              <a:srgbClr val="C8414C"/>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HIGHER (HT)</a:t>
            </a:r>
            <a:endParaRPr lang="en-US" sz="1000" dirty="0"/>
          </a:p>
        </p:txBody>
      </p:sp>
      <p:sp>
        <p:nvSpPr>
          <p:cNvPr id="36" name="Shape 34"/>
          <p:cNvSpPr/>
          <p:nvPr/>
        </p:nvSpPr>
        <p:spPr>
          <a:xfrm>
            <a:off x="914400" y="5678424"/>
            <a:ext cx="411480" cy="91"/>
          </a:xfrm>
          <a:prstGeom prst="line">
            <a:avLst/>
          </a:prstGeom>
          <a:noFill/>
          <a:ln w="19050">
            <a:solidFill>
              <a:srgbClr val="2E5BD8"/>
            </a:solidFill>
            <a:prstDash val="solid"/>
          </a:ln>
        </p:spPr>
      </p:sp>
      <p:sp>
        <p:nvSpPr>
          <p:cNvPr id="37" name="Shape 35"/>
          <p:cNvSpPr/>
          <p:nvPr/>
        </p:nvSpPr>
        <p:spPr>
          <a:xfrm>
            <a:off x="1325880" y="5394960"/>
            <a:ext cx="5120640" cy="566928"/>
          </a:xfrm>
          <a:prstGeom prst="roundRect">
            <a:avLst>
              <a:gd name="adj" fmla="val 8065"/>
            </a:avLst>
          </a:prstGeom>
          <a:solidFill>
            <a:srgbClr val="F5F8FE"/>
          </a:solidFill>
          <a:ln w="12700">
            <a:solidFill>
              <a:srgbClr val="D5DCEB"/>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IaS   </a:t>
            </a:r>
            <a:r>
              <a:rPr lang="en-US" sz="1100" dirty="0">
                <a:solidFill>
                  <a:srgbClr val="262B3A"/>
                </a:solidFill>
                <a:latin typeface="Calibri" pitchFamily="34" charset="0"/>
                <a:ea typeface="Calibri" pitchFamily="34" charset="-122"/>
                <a:cs typeface="Calibri" pitchFamily="34" charset="-120"/>
              </a:rPr>
              <a:t>Limitations of the particle model</a:t>
            </a:r>
            <a:endParaRPr lang="en-US" sz="1100" dirty="0"/>
          </a:p>
        </p:txBody>
      </p:sp>
      <p:sp>
        <p:nvSpPr>
          <p:cNvPr id="39" name="Shape 37"/>
          <p:cNvSpPr/>
          <p:nvPr/>
        </p:nvSpPr>
        <p:spPr>
          <a:xfrm>
            <a:off x="5257800" y="5541264"/>
            <a:ext cx="1097280" cy="274320"/>
          </a:xfrm>
          <a:prstGeom prst="roundRect">
            <a:avLst>
              <a:gd name="adj" fmla="val 50000"/>
            </a:avLst>
          </a:prstGeom>
          <a:solidFill>
            <a:srgbClr val="2E5BD8"/>
          </a:solidFill>
          <a:ln w="12700">
            <a:solidFill>
              <a:srgbClr val="2E5BD8"/>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P6.1 particle model and internal energy • KS3 pressure = force ÷ area • P2 energy transfers (work)</a:t>
            </a:r>
            <a:endParaRPr lang="en-US" sz="1050" dirty="0"/>
          </a:p>
        </p:txBody>
      </p:sp>
      <p:sp>
        <p:nvSpPr>
          <p:cNvPr id="42" name="Shape 40"/>
          <p:cNvSpPr/>
          <p:nvPr/>
        </p:nvSpPr>
        <p:spPr>
          <a:xfrm>
            <a:off x="6720840" y="1234440"/>
            <a:ext cx="5056632" cy="2788920"/>
          </a:xfrm>
          <a:prstGeom prst="roundRect">
            <a:avLst>
              <a:gd name="adj" fmla="val 1967"/>
            </a:avLst>
          </a:prstGeom>
          <a:solidFill>
            <a:srgbClr val="1F2A4A"/>
          </a:solidFill>
          <a:ln/>
        </p:spPr>
      </p:sp>
      <p:sp>
        <p:nvSpPr>
          <p:cNvPr id="43" name="Text 41"/>
          <p:cNvSpPr/>
          <p:nvPr/>
        </p:nvSpPr>
        <p:spPr>
          <a:xfrm>
            <a:off x="6903720" y="1325880"/>
            <a:ext cx="4709160" cy="260604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P6 in J260</a:t>
            </a:r>
            <a:endParaRPr lang="en-US" sz="1500" dirty="0"/>
          </a:p>
          <a:p>
            <a:pPr marL="152400" indent="-152400">
              <a:spcAft>
                <a:spcPts val="300"/>
              </a:spcAft>
              <a:buSzPct val="100000"/>
              <a:buChar char="▪"/>
            </a:pPr>
            <a:r>
              <a:rPr lang="en-US" sz="1150" b="1" dirty="0">
                <a:solidFill>
                  <a:srgbClr val="E6ECFA"/>
                </a:solidFill>
                <a:latin typeface="Calibri" pitchFamily="34" charset="0"/>
                <a:ea typeface="Calibri" pitchFamily="34" charset="-122"/>
                <a:cs typeface="Calibri" pitchFamily="34" charset="-120"/>
              </a:rPr>
              <a:t>P6.1 How does energy transform matter?</a:t>
            </a:r>
            <a:r>
              <a:rPr lang="en-US" sz="1150" dirty="0">
                <a:solidFill>
                  <a:srgbClr val="E6ECFA"/>
                </a:solidFill>
                <a:latin typeface="Calibri" pitchFamily="34" charset="0"/>
                <a:ea typeface="Calibri" pitchFamily="34" charset="-122"/>
                <a:cs typeface="Calibri" pitchFamily="34" charset="-120"/>
              </a:rPr>
              <a:t> States, density, internal energy, c and L.</a:t>
            </a:r>
            <a:endParaRPr lang="en-US" sz="1500" dirty="0"/>
          </a:p>
          <a:p>
            <a:pPr marL="152400" indent="-152400">
              <a:spcAft>
                <a:spcPts val="300"/>
              </a:spcAft>
              <a:buSzPct val="100000"/>
              <a:buChar char="▪"/>
            </a:pPr>
            <a:r>
              <a:rPr lang="en-US" sz="1150" b="1" dirty="0">
                <a:solidFill>
                  <a:srgbClr val="E6ECFA"/>
                </a:solidFill>
                <a:latin typeface="Calibri" pitchFamily="34" charset="0"/>
                <a:ea typeface="Calibri" pitchFamily="34" charset="-122"/>
                <a:cs typeface="Calibri" pitchFamily="34" charset="-120"/>
              </a:rPr>
              <a:t>P6.2 How does the particle model explain the effects of heating?</a:t>
            </a:r>
            <a:r>
              <a:rPr lang="en-US" sz="1150" dirty="0">
                <a:solidFill>
                  <a:srgbClr val="E6ECFA"/>
                </a:solidFill>
                <a:latin typeface="Calibri" pitchFamily="34" charset="0"/>
                <a:ea typeface="Calibri" pitchFamily="34" charset="-122"/>
                <a:cs typeface="Calibri" pitchFamily="34" charset="-120"/>
              </a:rPr>
              <a:t> (this deck)</a:t>
            </a:r>
            <a:endParaRPr lang="en-US" sz="1500" dirty="0"/>
          </a:p>
          <a:p>
            <a:pPr marL="152400" indent="-152400">
              <a:spcAft>
                <a:spcPts val="300"/>
              </a:spcAft>
              <a:buSzPct val="100000"/>
              <a:buChar char="▪"/>
            </a:pPr>
            <a:r>
              <a:rPr lang="en-US" sz="1150" b="1" dirty="0">
                <a:solidFill>
                  <a:srgbClr val="E6ECFA"/>
                </a:solidFill>
                <a:latin typeface="Calibri" pitchFamily="34" charset="0"/>
                <a:ea typeface="Calibri" pitchFamily="34" charset="-122"/>
                <a:cs typeface="Calibri" pitchFamily="34" charset="-120"/>
              </a:rPr>
              <a:t>P6.3 How does the particle model relate to material under stress?</a:t>
            </a:r>
            <a:r>
              <a:rPr lang="en-US" sz="1150" dirty="0">
                <a:solidFill>
                  <a:srgbClr val="E6ECFA"/>
                </a:solidFill>
                <a:latin typeface="Calibri" pitchFamily="34" charset="0"/>
                <a:ea typeface="Calibri" pitchFamily="34" charset="-122"/>
                <a:cs typeface="Calibri" pitchFamily="34" charset="-120"/>
              </a:rPr>
              <a:t> Forces on springs, F = kx.</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P6.4 (pressure in fluids) and P6.5 (the Big Bang) are </a:t>
            </a:r>
            <a:r>
              <a:rPr lang="en-US" sz="1150" b="1" dirty="0">
                <a:solidFill>
                  <a:srgbClr val="E6ECFA"/>
                </a:solidFill>
                <a:latin typeface="Calibri" pitchFamily="34" charset="0"/>
                <a:ea typeface="Calibri" pitchFamily="34" charset="-122"/>
                <a:cs typeface="Calibri" pitchFamily="34" charset="-120"/>
              </a:rPr>
              <a:t>Physics B J259 only</a:t>
            </a:r>
            <a:r>
              <a:rPr lang="en-US" sz="1150" dirty="0">
                <a:solidFill>
                  <a:srgbClr val="E6ECFA"/>
                </a:solidFill>
                <a:latin typeface="Calibri" pitchFamily="34" charset="0"/>
                <a:ea typeface="Calibri" pitchFamily="34" charset="-122"/>
                <a:cs typeface="Calibri" pitchFamily="34" charset="-120"/>
              </a:rPr>
              <a:t>.</a:t>
            </a:r>
            <a:endParaRPr lang="en-US" sz="1500" dirty="0"/>
          </a:p>
        </p:txBody>
      </p:sp>
      <p:sp>
        <p:nvSpPr>
          <p:cNvPr id="44" name="Shape 42"/>
          <p:cNvSpPr/>
          <p:nvPr/>
        </p:nvSpPr>
        <p:spPr>
          <a:xfrm>
            <a:off x="6720840" y="4160520"/>
            <a:ext cx="5056632" cy="2103120"/>
          </a:xfrm>
          <a:prstGeom prst="roundRect">
            <a:avLst>
              <a:gd name="adj" fmla="val 2609"/>
            </a:avLst>
          </a:prstGeom>
          <a:solidFill>
            <a:srgbClr val="FFF4E0"/>
          </a:solidFill>
          <a:ln w="12700">
            <a:solidFill>
              <a:srgbClr val="F1D9A8"/>
            </a:solidFill>
            <a:prstDash val="solid"/>
          </a:ln>
        </p:spPr>
      </p:sp>
      <p:sp>
        <p:nvSpPr>
          <p:cNvPr id="45" name="Text 43"/>
          <p:cNvSpPr/>
          <p:nvPr/>
        </p:nvSpPr>
        <p:spPr>
          <a:xfrm>
            <a:off x="6903720" y="4251960"/>
            <a:ext cx="4709160" cy="192024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Foundation: gas pressure and temperature, explained with particles.</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Slides with the red </a:t>
            </a:r>
            <a:r>
              <a:rPr lang="en-US" sz="1150" b="1" dirty="0">
                <a:solidFill>
                  <a:srgbClr val="262B3A"/>
                </a:solidFill>
                <a:latin typeface="Calibri" pitchFamily="34" charset="0"/>
                <a:ea typeface="Calibri" pitchFamily="34" charset="-122"/>
                <a:cs typeface="Calibri" pitchFamily="34" charset="-120"/>
              </a:rPr>
              <a:t>HT</a:t>
            </a:r>
            <a:r>
              <a:rPr lang="en-US" sz="1150" dirty="0">
                <a:solidFill>
                  <a:srgbClr val="262B3A"/>
                </a:solidFill>
                <a:latin typeface="Calibri" pitchFamily="34" charset="0"/>
                <a:ea typeface="Calibri" pitchFamily="34" charset="-122"/>
                <a:cs typeface="Calibri" pitchFamily="34" charset="-120"/>
              </a:rPr>
              <a:t> pill (p × V = constant, work done on a gas) are </a:t>
            </a:r>
            <a:r>
              <a:rPr lang="en-US" sz="1150" b="1" dirty="0">
                <a:solidFill>
                  <a:srgbClr val="262B3A"/>
                </a:solidFill>
                <a:latin typeface="Calibri" pitchFamily="34" charset="0"/>
                <a:ea typeface="Calibri" pitchFamily="34" charset="-122"/>
                <a:cs typeface="Calibri" pitchFamily="34" charset="-120"/>
              </a:rPr>
              <a:t>Higher tier only</a:t>
            </a:r>
            <a:r>
              <a:rPr lang="en-US" sz="1150" dirty="0">
                <a:solidFill>
                  <a:srgbClr val="262B3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T = θ + 273</a:t>
            </a:r>
            <a:r>
              <a:rPr lang="en-US" sz="1150" dirty="0">
                <a:solidFill>
                  <a:srgbClr val="262B3A"/>
                </a:solidFill>
                <a:latin typeface="Calibri" pitchFamily="34" charset="0"/>
                <a:ea typeface="Calibri" pitchFamily="34" charset="-122"/>
                <a:cs typeface="Calibri" pitchFamily="34" charset="-120"/>
              </a:rPr>
              <a:t> must be recalled; </a:t>
            </a:r>
            <a:r>
              <a:rPr lang="en-US" sz="1150" b="1" dirty="0">
                <a:solidFill>
                  <a:srgbClr val="262B3A"/>
                </a:solidFill>
                <a:latin typeface="Calibri" pitchFamily="34" charset="0"/>
                <a:ea typeface="Calibri" pitchFamily="34" charset="-122"/>
                <a:cs typeface="Calibri" pitchFamily="34" charset="-120"/>
              </a:rPr>
              <a:t>p × V = constant</a:t>
            </a:r>
            <a:r>
              <a:rPr lang="en-US" sz="1150" dirty="0">
                <a:solidFill>
                  <a:srgbClr val="262B3A"/>
                </a:solidFill>
                <a:latin typeface="Calibri" pitchFamily="34" charset="0"/>
                <a:ea typeface="Calibri" pitchFamily="34" charset="-122"/>
                <a:cs typeface="Calibri" pitchFamily="34" charset="-120"/>
              </a:rPr>
              <a:t> is given on the equation sheet.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Recall from P6.1 and KS3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5F8FE"/>
          </a:solidFill>
          <a:ln w="9525">
            <a:solidFill>
              <a:srgbClr val="D5DCEB"/>
            </a:solidFill>
            <a:prstDash val="solid"/>
          </a:ln>
        </p:spPr>
      </p:sp>
      <p:sp>
        <p:nvSpPr>
          <p:cNvPr id="9" name="Shape 7"/>
          <p:cNvSpPr/>
          <p:nvPr/>
        </p:nvSpPr>
        <p:spPr>
          <a:xfrm>
            <a:off x="548640" y="1371600"/>
            <a:ext cx="438912" cy="438912"/>
          </a:xfrm>
          <a:prstGeom prst="ellipse">
            <a:avLst/>
          </a:prstGeom>
          <a:solidFill>
            <a:srgbClr val="2E5BD8"/>
          </a:solidFill>
          <a:ln w="12700">
            <a:solidFill>
              <a:srgbClr val="2E5BD8"/>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P6.1 • internal energy</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the </a:t>
            </a:r>
            <a:r>
              <a:rPr lang="en-US" sz="1250" b="1" dirty="0">
                <a:solidFill>
                  <a:srgbClr val="262B3A"/>
                </a:solidFill>
                <a:latin typeface="Calibri" pitchFamily="34" charset="0"/>
                <a:ea typeface="Calibri" pitchFamily="34" charset="-122"/>
                <a:cs typeface="Calibri" pitchFamily="34" charset="-120"/>
              </a:rPr>
              <a:t>internal energy</a:t>
            </a:r>
            <a:r>
              <a:rPr lang="en-US" sz="1250" dirty="0">
                <a:solidFill>
                  <a:srgbClr val="262B3A"/>
                </a:solidFill>
                <a:latin typeface="Calibri" pitchFamily="34" charset="0"/>
                <a:ea typeface="Calibri" pitchFamily="34" charset="-122"/>
                <a:cs typeface="Calibri" pitchFamily="34" charset="-120"/>
              </a:rPr>
              <a:t> of a substance?</a:t>
            </a:r>
            <a:endParaRPr lang="en-US" sz="1250" dirty="0"/>
          </a:p>
        </p:txBody>
      </p:sp>
      <p:sp>
        <p:nvSpPr>
          <p:cNvPr id="13" name="Shape 11"/>
          <p:cNvSpPr/>
          <p:nvPr/>
        </p:nvSpPr>
        <p:spPr>
          <a:xfrm>
            <a:off x="4251960" y="1234440"/>
            <a:ext cx="3657600" cy="2011680"/>
          </a:xfrm>
          <a:prstGeom prst="roundRect">
            <a:avLst>
              <a:gd name="adj" fmla="val 2727"/>
            </a:avLst>
          </a:prstGeom>
          <a:solidFill>
            <a:srgbClr val="F5F8FE"/>
          </a:solidFill>
          <a:ln w="9525">
            <a:solidFill>
              <a:srgbClr val="D5DCEB"/>
            </a:solidFill>
            <a:prstDash val="solid"/>
          </a:ln>
        </p:spPr>
      </p:sp>
      <p:sp>
        <p:nvSpPr>
          <p:cNvPr id="14" name="Shape 12"/>
          <p:cNvSpPr/>
          <p:nvPr/>
        </p:nvSpPr>
        <p:spPr>
          <a:xfrm>
            <a:off x="4389120" y="1371600"/>
            <a:ext cx="438912" cy="438912"/>
          </a:xfrm>
          <a:prstGeom prst="ellipse">
            <a:avLst/>
          </a:prstGeom>
          <a:solidFill>
            <a:srgbClr val="2E5BD8"/>
          </a:solidFill>
          <a:ln w="12700">
            <a:solidFill>
              <a:srgbClr val="2E5BD8"/>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P6.1 • density of the states</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the particle model to explain why a </a:t>
            </a:r>
            <a:r>
              <a:rPr lang="en-US" sz="1250" b="1" dirty="0">
                <a:solidFill>
                  <a:srgbClr val="262B3A"/>
                </a:solidFill>
                <a:latin typeface="Calibri" pitchFamily="34" charset="0"/>
                <a:ea typeface="Calibri" pitchFamily="34" charset="-122"/>
                <a:cs typeface="Calibri" pitchFamily="34" charset="-120"/>
              </a:rPr>
              <a:t>gas</a:t>
            </a:r>
            <a:r>
              <a:rPr lang="en-US" sz="1250" dirty="0">
                <a:solidFill>
                  <a:srgbClr val="262B3A"/>
                </a:solidFill>
                <a:latin typeface="Calibri" pitchFamily="34" charset="0"/>
                <a:ea typeface="Calibri" pitchFamily="34" charset="-122"/>
                <a:cs typeface="Calibri" pitchFamily="34" charset="-120"/>
              </a:rPr>
              <a:t> is much less dense than a </a:t>
            </a:r>
            <a:r>
              <a:rPr lang="en-US" sz="1250" b="1" dirty="0">
                <a:solidFill>
                  <a:srgbClr val="262B3A"/>
                </a:solidFill>
                <a:latin typeface="Calibri" pitchFamily="34" charset="0"/>
                <a:ea typeface="Calibri" pitchFamily="34" charset="-122"/>
                <a:cs typeface="Calibri" pitchFamily="34" charset="-120"/>
              </a:rPr>
              <a:t>liquid</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8" name="Shape 16"/>
          <p:cNvSpPr/>
          <p:nvPr/>
        </p:nvSpPr>
        <p:spPr>
          <a:xfrm>
            <a:off x="8092440" y="1234440"/>
            <a:ext cx="3657600" cy="2011680"/>
          </a:xfrm>
          <a:prstGeom prst="roundRect">
            <a:avLst>
              <a:gd name="adj" fmla="val 2727"/>
            </a:avLst>
          </a:prstGeom>
          <a:solidFill>
            <a:srgbClr val="F5F8FE"/>
          </a:solidFill>
          <a:ln w="9525">
            <a:solidFill>
              <a:srgbClr val="D5DCEB"/>
            </a:solidFill>
            <a:prstDash val="solid"/>
          </a:ln>
        </p:spPr>
      </p:sp>
      <p:sp>
        <p:nvSpPr>
          <p:cNvPr id="19" name="Shape 17"/>
          <p:cNvSpPr/>
          <p:nvPr/>
        </p:nvSpPr>
        <p:spPr>
          <a:xfrm>
            <a:off x="8229600" y="1371600"/>
            <a:ext cx="438912" cy="438912"/>
          </a:xfrm>
          <a:prstGeom prst="ellipse">
            <a:avLst/>
          </a:prstGeom>
          <a:solidFill>
            <a:srgbClr val="2E5BD8"/>
          </a:solidFill>
          <a:ln w="12700">
            <a:solidFill>
              <a:srgbClr val="2E5BD8"/>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P6.1 • conservation of mass</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b="1" dirty="0">
                <a:solidFill>
                  <a:srgbClr val="262B3A"/>
                </a:solidFill>
                <a:latin typeface="Calibri" pitchFamily="34" charset="0"/>
                <a:ea typeface="Calibri" pitchFamily="34" charset="-122"/>
                <a:cs typeface="Calibri" pitchFamily="34" charset="-120"/>
              </a:rPr>
              <a:t>50 g</a:t>
            </a:r>
            <a:r>
              <a:rPr lang="en-US" sz="1250" dirty="0">
                <a:solidFill>
                  <a:srgbClr val="262B3A"/>
                </a:solidFill>
                <a:latin typeface="Calibri" pitchFamily="34" charset="0"/>
                <a:ea typeface="Calibri" pitchFamily="34" charset="-122"/>
                <a:cs typeface="Calibri" pitchFamily="34" charset="-120"/>
              </a:rPr>
              <a:t> of ice melts in a sealed bag. What is the mass of the water? Why?</a:t>
            </a:r>
            <a:endParaRPr lang="en-US" sz="1250" dirty="0"/>
          </a:p>
        </p:txBody>
      </p:sp>
      <p:sp>
        <p:nvSpPr>
          <p:cNvPr id="23" name="Shape 21"/>
          <p:cNvSpPr/>
          <p:nvPr/>
        </p:nvSpPr>
        <p:spPr>
          <a:xfrm>
            <a:off x="411480" y="3429000"/>
            <a:ext cx="3657600" cy="2011680"/>
          </a:xfrm>
          <a:prstGeom prst="roundRect">
            <a:avLst>
              <a:gd name="adj" fmla="val 2727"/>
            </a:avLst>
          </a:prstGeom>
          <a:solidFill>
            <a:srgbClr val="F5F8FE"/>
          </a:solidFill>
          <a:ln w="9525">
            <a:solidFill>
              <a:srgbClr val="D5DCEB"/>
            </a:solidFill>
            <a:prstDash val="solid"/>
          </a:ln>
        </p:spPr>
      </p:sp>
      <p:sp>
        <p:nvSpPr>
          <p:cNvPr id="24" name="Shape 22"/>
          <p:cNvSpPr/>
          <p:nvPr/>
        </p:nvSpPr>
        <p:spPr>
          <a:xfrm>
            <a:off x="548640" y="3566160"/>
            <a:ext cx="438912" cy="438912"/>
          </a:xfrm>
          <a:prstGeom prst="ellipse">
            <a:avLst/>
          </a:prstGeom>
          <a:solidFill>
            <a:srgbClr val="2E5BD8"/>
          </a:solidFill>
          <a:ln w="12700">
            <a:solidFill>
              <a:srgbClr val="2E5BD8"/>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KS3 • particles</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the particles in a </a:t>
            </a:r>
            <a:r>
              <a:rPr lang="en-US" sz="1250" b="1" dirty="0">
                <a:solidFill>
                  <a:srgbClr val="262B3A"/>
                </a:solidFill>
                <a:latin typeface="Calibri" pitchFamily="34" charset="0"/>
                <a:ea typeface="Calibri" pitchFamily="34" charset="-122"/>
                <a:cs typeface="Calibri" pitchFamily="34" charset="-120"/>
              </a:rPr>
              <a:t>gas</a:t>
            </a:r>
            <a:r>
              <a:rPr lang="en-US" sz="1250" dirty="0">
                <a:solidFill>
                  <a:srgbClr val="262B3A"/>
                </a:solidFill>
                <a:latin typeface="Calibri" pitchFamily="34" charset="0"/>
                <a:ea typeface="Calibri" pitchFamily="34" charset="-122"/>
                <a:cs typeface="Calibri" pitchFamily="34" charset="-120"/>
              </a:rPr>
              <a:t> are arranged and how they </a:t>
            </a:r>
            <a:r>
              <a:rPr lang="en-US" sz="1250" b="1" dirty="0">
                <a:solidFill>
                  <a:srgbClr val="262B3A"/>
                </a:solidFill>
                <a:latin typeface="Calibri" pitchFamily="34" charset="0"/>
                <a:ea typeface="Calibri" pitchFamily="34" charset="-122"/>
                <a:cs typeface="Calibri" pitchFamily="34" charset="-120"/>
              </a:rPr>
              <a:t>move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8" name="Shape 26"/>
          <p:cNvSpPr/>
          <p:nvPr/>
        </p:nvSpPr>
        <p:spPr>
          <a:xfrm>
            <a:off x="4251960" y="3429000"/>
            <a:ext cx="3657600" cy="2011680"/>
          </a:xfrm>
          <a:prstGeom prst="roundRect">
            <a:avLst>
              <a:gd name="adj" fmla="val 2727"/>
            </a:avLst>
          </a:prstGeom>
          <a:solidFill>
            <a:srgbClr val="F5F8FE"/>
          </a:solidFill>
          <a:ln w="9525">
            <a:solidFill>
              <a:srgbClr val="D5DCEB"/>
            </a:solidFill>
            <a:prstDash val="solid"/>
          </a:ln>
        </p:spPr>
      </p:sp>
      <p:sp>
        <p:nvSpPr>
          <p:cNvPr id="29" name="Shape 27"/>
          <p:cNvSpPr/>
          <p:nvPr/>
        </p:nvSpPr>
        <p:spPr>
          <a:xfrm>
            <a:off x="4389120" y="3566160"/>
            <a:ext cx="438912" cy="438912"/>
          </a:xfrm>
          <a:prstGeom prst="ellipse">
            <a:avLst/>
          </a:prstGeom>
          <a:solidFill>
            <a:srgbClr val="2E5BD8"/>
          </a:solidFill>
          <a:ln w="12700">
            <a:solidFill>
              <a:srgbClr val="2E5BD8"/>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P6.1 • density</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b="1" dirty="0">
                <a:solidFill>
                  <a:srgbClr val="262B3A"/>
                </a:solidFill>
                <a:latin typeface="Calibri" pitchFamily="34" charset="0"/>
                <a:ea typeface="Calibri" pitchFamily="34" charset="-122"/>
                <a:cs typeface="Calibri" pitchFamily="34" charset="-120"/>
              </a:rPr>
              <a:t>2.0 kg</a:t>
            </a:r>
            <a:r>
              <a:rPr lang="en-US" sz="1250" dirty="0">
                <a:solidFill>
                  <a:srgbClr val="262B3A"/>
                </a:solidFill>
                <a:latin typeface="Calibri" pitchFamily="34" charset="0"/>
                <a:ea typeface="Calibri" pitchFamily="34" charset="-122"/>
                <a:cs typeface="Calibri" pitchFamily="34" charset="-120"/>
              </a:rPr>
              <a:t> of air fills a volume of </a:t>
            </a:r>
            <a:r>
              <a:rPr lang="en-US" sz="1250" b="1" dirty="0">
                <a:solidFill>
                  <a:srgbClr val="262B3A"/>
                </a:solidFill>
                <a:latin typeface="Calibri" pitchFamily="34" charset="0"/>
                <a:ea typeface="Calibri" pitchFamily="34" charset="-122"/>
                <a:cs typeface="Calibri" pitchFamily="34" charset="-120"/>
              </a:rPr>
              <a:t>1.6 m³</a:t>
            </a:r>
            <a:r>
              <a:rPr lang="en-US" sz="1250" dirty="0">
                <a:solidFill>
                  <a:srgbClr val="262B3A"/>
                </a:solidFill>
                <a:latin typeface="Calibri" pitchFamily="34" charset="0"/>
                <a:ea typeface="Calibri" pitchFamily="34" charset="-122"/>
                <a:cs typeface="Calibri" pitchFamily="34" charset="-120"/>
              </a:rPr>
              <a:t>. Calculate the density of the air.</a:t>
            </a:r>
            <a:endParaRPr lang="en-US" sz="1250" dirty="0"/>
          </a:p>
        </p:txBody>
      </p:sp>
      <p:sp>
        <p:nvSpPr>
          <p:cNvPr id="33" name="Shape 31"/>
          <p:cNvSpPr/>
          <p:nvPr/>
        </p:nvSpPr>
        <p:spPr>
          <a:xfrm>
            <a:off x="8092440" y="3429000"/>
            <a:ext cx="3657600" cy="2011680"/>
          </a:xfrm>
          <a:prstGeom prst="roundRect">
            <a:avLst>
              <a:gd name="adj" fmla="val 2727"/>
            </a:avLst>
          </a:prstGeom>
          <a:solidFill>
            <a:srgbClr val="F5F8FE"/>
          </a:solidFill>
          <a:ln w="9525">
            <a:solidFill>
              <a:srgbClr val="D5DCEB"/>
            </a:solidFill>
            <a:prstDash val="solid"/>
          </a:ln>
        </p:spPr>
      </p:sp>
      <p:sp>
        <p:nvSpPr>
          <p:cNvPr id="34" name="Shape 32"/>
          <p:cNvSpPr/>
          <p:nvPr/>
        </p:nvSpPr>
        <p:spPr>
          <a:xfrm>
            <a:off x="8229600" y="3566160"/>
            <a:ext cx="438912" cy="438912"/>
          </a:xfrm>
          <a:prstGeom prst="ellipse">
            <a:avLst/>
          </a:prstGeom>
          <a:solidFill>
            <a:srgbClr val="2E5BD8"/>
          </a:solidFill>
          <a:ln w="12700">
            <a:solidFill>
              <a:srgbClr val="2E5BD8"/>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KS3 • pressure</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force of </a:t>
            </a:r>
            <a:r>
              <a:rPr lang="en-US" sz="1250" b="1" dirty="0">
                <a:solidFill>
                  <a:srgbClr val="262B3A"/>
                </a:solidFill>
                <a:latin typeface="Calibri" pitchFamily="34" charset="0"/>
                <a:ea typeface="Calibri" pitchFamily="34" charset="-122"/>
                <a:cs typeface="Calibri" pitchFamily="34" charset="-120"/>
              </a:rPr>
              <a:t>600 N</a:t>
            </a:r>
            <a:r>
              <a:rPr lang="en-US" sz="1250" dirty="0">
                <a:solidFill>
                  <a:srgbClr val="262B3A"/>
                </a:solidFill>
                <a:latin typeface="Calibri" pitchFamily="34" charset="0"/>
                <a:ea typeface="Calibri" pitchFamily="34" charset="-122"/>
                <a:cs typeface="Calibri" pitchFamily="34" charset="-120"/>
              </a:rPr>
              <a:t> acts on an area of </a:t>
            </a:r>
            <a:r>
              <a:rPr lang="en-US" sz="1250" b="1" dirty="0">
                <a:solidFill>
                  <a:srgbClr val="262B3A"/>
                </a:solidFill>
                <a:latin typeface="Calibri" pitchFamily="34" charset="0"/>
                <a:ea typeface="Calibri" pitchFamily="34" charset="-122"/>
                <a:cs typeface="Calibri" pitchFamily="34" charset="-120"/>
              </a:rPr>
              <a:t>0.20 m²</a:t>
            </a:r>
            <a:r>
              <a:rPr lang="en-US" sz="1250" dirty="0">
                <a:solidFill>
                  <a:srgbClr val="262B3A"/>
                </a:solidFill>
                <a:latin typeface="Calibri" pitchFamily="34" charset="0"/>
                <a:ea typeface="Calibri" pitchFamily="34" charset="-122"/>
                <a:cs typeface="Calibri" pitchFamily="34" charset="-120"/>
              </a:rPr>
              <a:t>. Calculate the pressure. Give the unit.</a:t>
            </a:r>
            <a:endParaRPr lang="en-US" sz="1250" dirty="0"/>
          </a:p>
        </p:txBody>
      </p:sp>
      <p:sp>
        <p:nvSpPr>
          <p:cNvPr id="38" name="Shape 36"/>
          <p:cNvSpPr/>
          <p:nvPr/>
        </p:nvSpPr>
        <p:spPr>
          <a:xfrm>
            <a:off x="411480" y="5715000"/>
            <a:ext cx="11368735" cy="548640"/>
          </a:xfrm>
          <a:prstGeom prst="rect">
            <a:avLst/>
          </a:prstGeom>
          <a:solidFill>
            <a:srgbClr val="EEF2FA"/>
          </a:solidFill>
          <a:ln w="12700">
            <a:solidFill>
              <a:srgbClr val="D5DCEB"/>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2E5BD8"/>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Recap from P6.1: the particle model</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P6.2.1–P6.2.3 • taught in P6.1: a quick reminder before the new gas content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P6.2.1–3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same substance as a solid, a liquid and a gas (gas spacing NOT to scale)</a:t>
            </a:r>
            <a:endParaRPr lang="en-US" sz="1000" dirty="0"/>
          </a:p>
        </p:txBody>
      </p:sp>
      <p:sp>
        <p:nvSpPr>
          <p:cNvPr id="10" name="Text 8"/>
          <p:cNvSpPr/>
          <p:nvPr/>
        </p:nvSpPr>
        <p:spPr>
          <a:xfrm>
            <a:off x="685800" y="1353312"/>
            <a:ext cx="1554480" cy="256032"/>
          </a:xfrm>
          <a:prstGeom prst="rect">
            <a:avLst/>
          </a:prstGeom>
          <a:noFill/>
          <a:ln/>
        </p:spPr>
        <p:txBody>
          <a:bodyPr wrap="square" lIns="0" tIns="0" rIns="0" bIns="0" rtlCol="0" anchor="ctr"/>
          <a:lstStyle/>
          <a:p>
            <a:pPr algn="ctr" indent="0" marL="0">
              <a:buNone/>
            </a:pPr>
            <a:r>
              <a:rPr lang="en-US" sz="1100" b="1" dirty="0">
                <a:solidFill>
                  <a:srgbClr val="2E4A9A"/>
                </a:solidFill>
                <a:latin typeface="Calibri" pitchFamily="34" charset="0"/>
                <a:ea typeface="Calibri" pitchFamily="34" charset="-122"/>
                <a:cs typeface="Calibri" pitchFamily="34" charset="-120"/>
              </a:rPr>
              <a:t>SOLID</a:t>
            </a:r>
            <a:endParaRPr lang="en-US" sz="1100" dirty="0"/>
          </a:p>
        </p:txBody>
      </p:sp>
      <p:sp>
        <p:nvSpPr>
          <p:cNvPr id="11" name="Shape 9"/>
          <p:cNvSpPr/>
          <p:nvPr/>
        </p:nvSpPr>
        <p:spPr>
          <a:xfrm>
            <a:off x="685800" y="1645920"/>
            <a:ext cx="1554480" cy="1325880"/>
          </a:xfrm>
          <a:prstGeom prst="rect">
            <a:avLst/>
          </a:prstGeom>
          <a:solidFill>
            <a:srgbClr val="FFFFFF"/>
          </a:solidFill>
          <a:ln w="15875">
            <a:solidFill>
              <a:srgbClr val="1A2340"/>
            </a:solidFill>
            <a:prstDash val="solid"/>
          </a:ln>
        </p:spPr>
      </p:sp>
      <p:sp>
        <p:nvSpPr>
          <p:cNvPr id="12" name="Shape 10"/>
          <p:cNvSpPr/>
          <p:nvPr/>
        </p:nvSpPr>
        <p:spPr>
          <a:xfrm>
            <a:off x="766633" y="2792029"/>
            <a:ext cx="149230" cy="149230"/>
          </a:xfrm>
          <a:prstGeom prst="ellipse">
            <a:avLst/>
          </a:prstGeom>
          <a:solidFill>
            <a:srgbClr val="5B7FD6"/>
          </a:solidFill>
          <a:ln w="9525">
            <a:solidFill>
              <a:srgbClr val="2E4A9A"/>
            </a:solidFill>
            <a:prstDash val="solid"/>
          </a:ln>
        </p:spPr>
      </p:sp>
      <p:sp>
        <p:nvSpPr>
          <p:cNvPr id="13" name="Shape 11"/>
          <p:cNvSpPr/>
          <p:nvPr/>
        </p:nvSpPr>
        <p:spPr>
          <a:xfrm>
            <a:off x="922081" y="2792029"/>
            <a:ext cx="149230" cy="149230"/>
          </a:xfrm>
          <a:prstGeom prst="ellipse">
            <a:avLst/>
          </a:prstGeom>
          <a:solidFill>
            <a:srgbClr val="5B7FD6"/>
          </a:solidFill>
          <a:ln w="9525">
            <a:solidFill>
              <a:srgbClr val="2E4A9A"/>
            </a:solidFill>
            <a:prstDash val="solid"/>
          </a:ln>
        </p:spPr>
      </p:sp>
      <p:sp>
        <p:nvSpPr>
          <p:cNvPr id="14" name="Shape 12"/>
          <p:cNvSpPr/>
          <p:nvPr/>
        </p:nvSpPr>
        <p:spPr>
          <a:xfrm>
            <a:off x="1077529" y="2792029"/>
            <a:ext cx="149230" cy="149230"/>
          </a:xfrm>
          <a:prstGeom prst="ellipse">
            <a:avLst/>
          </a:prstGeom>
          <a:solidFill>
            <a:srgbClr val="5B7FD6"/>
          </a:solidFill>
          <a:ln w="9525">
            <a:solidFill>
              <a:srgbClr val="2E4A9A"/>
            </a:solidFill>
            <a:prstDash val="solid"/>
          </a:ln>
        </p:spPr>
      </p:sp>
      <p:sp>
        <p:nvSpPr>
          <p:cNvPr id="15" name="Shape 13"/>
          <p:cNvSpPr/>
          <p:nvPr/>
        </p:nvSpPr>
        <p:spPr>
          <a:xfrm>
            <a:off x="1232977" y="2792029"/>
            <a:ext cx="149230" cy="149230"/>
          </a:xfrm>
          <a:prstGeom prst="ellipse">
            <a:avLst/>
          </a:prstGeom>
          <a:solidFill>
            <a:srgbClr val="5B7FD6"/>
          </a:solidFill>
          <a:ln w="9525">
            <a:solidFill>
              <a:srgbClr val="2E4A9A"/>
            </a:solidFill>
            <a:prstDash val="solid"/>
          </a:ln>
        </p:spPr>
      </p:sp>
      <p:sp>
        <p:nvSpPr>
          <p:cNvPr id="16" name="Shape 14"/>
          <p:cNvSpPr/>
          <p:nvPr/>
        </p:nvSpPr>
        <p:spPr>
          <a:xfrm>
            <a:off x="1388425" y="2792029"/>
            <a:ext cx="149230" cy="149230"/>
          </a:xfrm>
          <a:prstGeom prst="ellipse">
            <a:avLst/>
          </a:prstGeom>
          <a:solidFill>
            <a:srgbClr val="5B7FD6"/>
          </a:solidFill>
          <a:ln w="9525">
            <a:solidFill>
              <a:srgbClr val="2E4A9A"/>
            </a:solidFill>
            <a:prstDash val="solid"/>
          </a:ln>
        </p:spPr>
      </p:sp>
      <p:sp>
        <p:nvSpPr>
          <p:cNvPr id="17" name="Shape 15"/>
          <p:cNvSpPr/>
          <p:nvPr/>
        </p:nvSpPr>
        <p:spPr>
          <a:xfrm>
            <a:off x="1543873" y="2792029"/>
            <a:ext cx="149230" cy="149230"/>
          </a:xfrm>
          <a:prstGeom prst="ellipse">
            <a:avLst/>
          </a:prstGeom>
          <a:solidFill>
            <a:srgbClr val="5B7FD6"/>
          </a:solidFill>
          <a:ln w="9525">
            <a:solidFill>
              <a:srgbClr val="2E4A9A"/>
            </a:solidFill>
            <a:prstDash val="solid"/>
          </a:ln>
        </p:spPr>
      </p:sp>
      <p:sp>
        <p:nvSpPr>
          <p:cNvPr id="18" name="Shape 16"/>
          <p:cNvSpPr/>
          <p:nvPr/>
        </p:nvSpPr>
        <p:spPr>
          <a:xfrm>
            <a:off x="1699321" y="2792029"/>
            <a:ext cx="149230" cy="149230"/>
          </a:xfrm>
          <a:prstGeom prst="ellipse">
            <a:avLst/>
          </a:prstGeom>
          <a:solidFill>
            <a:srgbClr val="5B7FD6"/>
          </a:solidFill>
          <a:ln w="9525">
            <a:solidFill>
              <a:srgbClr val="2E4A9A"/>
            </a:solidFill>
            <a:prstDash val="solid"/>
          </a:ln>
        </p:spPr>
      </p:sp>
      <p:sp>
        <p:nvSpPr>
          <p:cNvPr id="19" name="Shape 17"/>
          <p:cNvSpPr/>
          <p:nvPr/>
        </p:nvSpPr>
        <p:spPr>
          <a:xfrm>
            <a:off x="1854769" y="2792029"/>
            <a:ext cx="149230" cy="149230"/>
          </a:xfrm>
          <a:prstGeom prst="ellipse">
            <a:avLst/>
          </a:prstGeom>
          <a:solidFill>
            <a:srgbClr val="5B7FD6"/>
          </a:solidFill>
          <a:ln w="9525">
            <a:solidFill>
              <a:srgbClr val="2E4A9A"/>
            </a:solidFill>
            <a:prstDash val="solid"/>
          </a:ln>
        </p:spPr>
      </p:sp>
      <p:sp>
        <p:nvSpPr>
          <p:cNvPr id="20" name="Shape 18"/>
          <p:cNvSpPr/>
          <p:nvPr/>
        </p:nvSpPr>
        <p:spPr>
          <a:xfrm>
            <a:off x="2010217" y="2792029"/>
            <a:ext cx="149230" cy="149230"/>
          </a:xfrm>
          <a:prstGeom prst="ellipse">
            <a:avLst/>
          </a:prstGeom>
          <a:solidFill>
            <a:srgbClr val="5B7FD6"/>
          </a:solidFill>
          <a:ln w="9525">
            <a:solidFill>
              <a:srgbClr val="2E4A9A"/>
            </a:solidFill>
            <a:prstDash val="solid"/>
          </a:ln>
        </p:spPr>
      </p:sp>
      <p:sp>
        <p:nvSpPr>
          <p:cNvPr id="21" name="Shape 19"/>
          <p:cNvSpPr/>
          <p:nvPr/>
        </p:nvSpPr>
        <p:spPr>
          <a:xfrm>
            <a:off x="766633" y="2636581"/>
            <a:ext cx="149230" cy="149230"/>
          </a:xfrm>
          <a:prstGeom prst="ellipse">
            <a:avLst/>
          </a:prstGeom>
          <a:solidFill>
            <a:srgbClr val="5B7FD6"/>
          </a:solidFill>
          <a:ln w="9525">
            <a:solidFill>
              <a:srgbClr val="2E4A9A"/>
            </a:solidFill>
            <a:prstDash val="solid"/>
          </a:ln>
        </p:spPr>
      </p:sp>
      <p:sp>
        <p:nvSpPr>
          <p:cNvPr id="22" name="Shape 20"/>
          <p:cNvSpPr/>
          <p:nvPr/>
        </p:nvSpPr>
        <p:spPr>
          <a:xfrm>
            <a:off x="922081" y="2636581"/>
            <a:ext cx="149230" cy="149230"/>
          </a:xfrm>
          <a:prstGeom prst="ellipse">
            <a:avLst/>
          </a:prstGeom>
          <a:solidFill>
            <a:srgbClr val="5B7FD6"/>
          </a:solidFill>
          <a:ln w="9525">
            <a:solidFill>
              <a:srgbClr val="2E4A9A"/>
            </a:solidFill>
            <a:prstDash val="solid"/>
          </a:ln>
        </p:spPr>
      </p:sp>
      <p:sp>
        <p:nvSpPr>
          <p:cNvPr id="23" name="Shape 21"/>
          <p:cNvSpPr/>
          <p:nvPr/>
        </p:nvSpPr>
        <p:spPr>
          <a:xfrm>
            <a:off x="1077529" y="2636581"/>
            <a:ext cx="149230" cy="149230"/>
          </a:xfrm>
          <a:prstGeom prst="ellipse">
            <a:avLst/>
          </a:prstGeom>
          <a:solidFill>
            <a:srgbClr val="5B7FD6"/>
          </a:solidFill>
          <a:ln w="9525">
            <a:solidFill>
              <a:srgbClr val="2E4A9A"/>
            </a:solidFill>
            <a:prstDash val="solid"/>
          </a:ln>
        </p:spPr>
      </p:sp>
      <p:sp>
        <p:nvSpPr>
          <p:cNvPr id="24" name="Shape 22"/>
          <p:cNvSpPr/>
          <p:nvPr/>
        </p:nvSpPr>
        <p:spPr>
          <a:xfrm>
            <a:off x="1232977" y="2636581"/>
            <a:ext cx="149230" cy="149230"/>
          </a:xfrm>
          <a:prstGeom prst="ellipse">
            <a:avLst/>
          </a:prstGeom>
          <a:solidFill>
            <a:srgbClr val="5B7FD6"/>
          </a:solidFill>
          <a:ln w="9525">
            <a:solidFill>
              <a:srgbClr val="2E4A9A"/>
            </a:solidFill>
            <a:prstDash val="solid"/>
          </a:ln>
        </p:spPr>
      </p:sp>
      <p:sp>
        <p:nvSpPr>
          <p:cNvPr id="25" name="Shape 23"/>
          <p:cNvSpPr/>
          <p:nvPr/>
        </p:nvSpPr>
        <p:spPr>
          <a:xfrm>
            <a:off x="1388425" y="2636581"/>
            <a:ext cx="149230" cy="149230"/>
          </a:xfrm>
          <a:prstGeom prst="ellipse">
            <a:avLst/>
          </a:prstGeom>
          <a:solidFill>
            <a:srgbClr val="5B7FD6"/>
          </a:solidFill>
          <a:ln w="9525">
            <a:solidFill>
              <a:srgbClr val="2E4A9A"/>
            </a:solidFill>
            <a:prstDash val="solid"/>
          </a:ln>
        </p:spPr>
      </p:sp>
      <p:sp>
        <p:nvSpPr>
          <p:cNvPr id="26" name="Shape 24"/>
          <p:cNvSpPr/>
          <p:nvPr/>
        </p:nvSpPr>
        <p:spPr>
          <a:xfrm>
            <a:off x="1543873" y="2636581"/>
            <a:ext cx="149230" cy="149230"/>
          </a:xfrm>
          <a:prstGeom prst="ellipse">
            <a:avLst/>
          </a:prstGeom>
          <a:solidFill>
            <a:srgbClr val="5B7FD6"/>
          </a:solidFill>
          <a:ln w="9525">
            <a:solidFill>
              <a:srgbClr val="2E4A9A"/>
            </a:solidFill>
            <a:prstDash val="solid"/>
          </a:ln>
        </p:spPr>
      </p:sp>
      <p:sp>
        <p:nvSpPr>
          <p:cNvPr id="27" name="Shape 25"/>
          <p:cNvSpPr/>
          <p:nvPr/>
        </p:nvSpPr>
        <p:spPr>
          <a:xfrm>
            <a:off x="1699321" y="2636581"/>
            <a:ext cx="149230" cy="149230"/>
          </a:xfrm>
          <a:prstGeom prst="ellipse">
            <a:avLst/>
          </a:prstGeom>
          <a:solidFill>
            <a:srgbClr val="5B7FD6"/>
          </a:solidFill>
          <a:ln w="9525">
            <a:solidFill>
              <a:srgbClr val="2E4A9A"/>
            </a:solidFill>
            <a:prstDash val="solid"/>
          </a:ln>
        </p:spPr>
      </p:sp>
      <p:sp>
        <p:nvSpPr>
          <p:cNvPr id="28" name="Shape 26"/>
          <p:cNvSpPr/>
          <p:nvPr/>
        </p:nvSpPr>
        <p:spPr>
          <a:xfrm>
            <a:off x="1854769" y="2636581"/>
            <a:ext cx="149230" cy="149230"/>
          </a:xfrm>
          <a:prstGeom prst="ellipse">
            <a:avLst/>
          </a:prstGeom>
          <a:solidFill>
            <a:srgbClr val="5B7FD6"/>
          </a:solidFill>
          <a:ln w="9525">
            <a:solidFill>
              <a:srgbClr val="2E4A9A"/>
            </a:solidFill>
            <a:prstDash val="solid"/>
          </a:ln>
        </p:spPr>
      </p:sp>
      <p:sp>
        <p:nvSpPr>
          <p:cNvPr id="29" name="Shape 27"/>
          <p:cNvSpPr/>
          <p:nvPr/>
        </p:nvSpPr>
        <p:spPr>
          <a:xfrm>
            <a:off x="2010217" y="2636581"/>
            <a:ext cx="149230" cy="149230"/>
          </a:xfrm>
          <a:prstGeom prst="ellipse">
            <a:avLst/>
          </a:prstGeom>
          <a:solidFill>
            <a:srgbClr val="5B7FD6"/>
          </a:solidFill>
          <a:ln w="9525">
            <a:solidFill>
              <a:srgbClr val="2E4A9A"/>
            </a:solidFill>
            <a:prstDash val="solid"/>
          </a:ln>
        </p:spPr>
      </p:sp>
      <p:sp>
        <p:nvSpPr>
          <p:cNvPr id="30" name="Shape 28"/>
          <p:cNvSpPr/>
          <p:nvPr/>
        </p:nvSpPr>
        <p:spPr>
          <a:xfrm>
            <a:off x="766633" y="2481133"/>
            <a:ext cx="149230" cy="149230"/>
          </a:xfrm>
          <a:prstGeom prst="ellipse">
            <a:avLst/>
          </a:prstGeom>
          <a:solidFill>
            <a:srgbClr val="5B7FD6"/>
          </a:solidFill>
          <a:ln w="9525">
            <a:solidFill>
              <a:srgbClr val="2E4A9A"/>
            </a:solidFill>
            <a:prstDash val="solid"/>
          </a:ln>
        </p:spPr>
      </p:sp>
      <p:sp>
        <p:nvSpPr>
          <p:cNvPr id="31" name="Shape 29"/>
          <p:cNvSpPr/>
          <p:nvPr/>
        </p:nvSpPr>
        <p:spPr>
          <a:xfrm>
            <a:off x="922081" y="2481133"/>
            <a:ext cx="149230" cy="149230"/>
          </a:xfrm>
          <a:prstGeom prst="ellipse">
            <a:avLst/>
          </a:prstGeom>
          <a:solidFill>
            <a:srgbClr val="5B7FD6"/>
          </a:solidFill>
          <a:ln w="9525">
            <a:solidFill>
              <a:srgbClr val="2E4A9A"/>
            </a:solidFill>
            <a:prstDash val="solid"/>
          </a:ln>
        </p:spPr>
      </p:sp>
      <p:sp>
        <p:nvSpPr>
          <p:cNvPr id="32" name="Shape 30"/>
          <p:cNvSpPr/>
          <p:nvPr/>
        </p:nvSpPr>
        <p:spPr>
          <a:xfrm>
            <a:off x="1077529" y="2481133"/>
            <a:ext cx="149230" cy="149230"/>
          </a:xfrm>
          <a:prstGeom prst="ellipse">
            <a:avLst/>
          </a:prstGeom>
          <a:solidFill>
            <a:srgbClr val="5B7FD6"/>
          </a:solidFill>
          <a:ln w="9525">
            <a:solidFill>
              <a:srgbClr val="2E4A9A"/>
            </a:solidFill>
            <a:prstDash val="solid"/>
          </a:ln>
        </p:spPr>
      </p:sp>
      <p:sp>
        <p:nvSpPr>
          <p:cNvPr id="33" name="Shape 31"/>
          <p:cNvSpPr/>
          <p:nvPr/>
        </p:nvSpPr>
        <p:spPr>
          <a:xfrm>
            <a:off x="1232977" y="2481133"/>
            <a:ext cx="149230" cy="149230"/>
          </a:xfrm>
          <a:prstGeom prst="ellipse">
            <a:avLst/>
          </a:prstGeom>
          <a:solidFill>
            <a:srgbClr val="5B7FD6"/>
          </a:solidFill>
          <a:ln w="9525">
            <a:solidFill>
              <a:srgbClr val="2E4A9A"/>
            </a:solidFill>
            <a:prstDash val="solid"/>
          </a:ln>
        </p:spPr>
      </p:sp>
      <p:sp>
        <p:nvSpPr>
          <p:cNvPr id="34" name="Shape 32"/>
          <p:cNvSpPr/>
          <p:nvPr/>
        </p:nvSpPr>
        <p:spPr>
          <a:xfrm>
            <a:off x="1388425" y="2481133"/>
            <a:ext cx="149230" cy="149230"/>
          </a:xfrm>
          <a:prstGeom prst="ellipse">
            <a:avLst/>
          </a:prstGeom>
          <a:solidFill>
            <a:srgbClr val="5B7FD6"/>
          </a:solidFill>
          <a:ln w="9525">
            <a:solidFill>
              <a:srgbClr val="2E4A9A"/>
            </a:solidFill>
            <a:prstDash val="solid"/>
          </a:ln>
        </p:spPr>
      </p:sp>
      <p:sp>
        <p:nvSpPr>
          <p:cNvPr id="35" name="Shape 33"/>
          <p:cNvSpPr/>
          <p:nvPr/>
        </p:nvSpPr>
        <p:spPr>
          <a:xfrm>
            <a:off x="1543873" y="2481133"/>
            <a:ext cx="149230" cy="149230"/>
          </a:xfrm>
          <a:prstGeom prst="ellipse">
            <a:avLst/>
          </a:prstGeom>
          <a:solidFill>
            <a:srgbClr val="5B7FD6"/>
          </a:solidFill>
          <a:ln w="9525">
            <a:solidFill>
              <a:srgbClr val="2E4A9A"/>
            </a:solidFill>
            <a:prstDash val="solid"/>
          </a:ln>
        </p:spPr>
      </p:sp>
      <p:sp>
        <p:nvSpPr>
          <p:cNvPr id="36" name="Shape 34"/>
          <p:cNvSpPr/>
          <p:nvPr/>
        </p:nvSpPr>
        <p:spPr>
          <a:xfrm>
            <a:off x="1699321" y="2481133"/>
            <a:ext cx="149230" cy="149230"/>
          </a:xfrm>
          <a:prstGeom prst="ellipse">
            <a:avLst/>
          </a:prstGeom>
          <a:solidFill>
            <a:srgbClr val="5B7FD6"/>
          </a:solidFill>
          <a:ln w="9525">
            <a:solidFill>
              <a:srgbClr val="2E4A9A"/>
            </a:solidFill>
            <a:prstDash val="solid"/>
          </a:ln>
        </p:spPr>
      </p:sp>
      <p:sp>
        <p:nvSpPr>
          <p:cNvPr id="37" name="Shape 35"/>
          <p:cNvSpPr/>
          <p:nvPr/>
        </p:nvSpPr>
        <p:spPr>
          <a:xfrm>
            <a:off x="1854769" y="2481133"/>
            <a:ext cx="149230" cy="149230"/>
          </a:xfrm>
          <a:prstGeom prst="ellipse">
            <a:avLst/>
          </a:prstGeom>
          <a:solidFill>
            <a:srgbClr val="5B7FD6"/>
          </a:solidFill>
          <a:ln w="9525">
            <a:solidFill>
              <a:srgbClr val="2E4A9A"/>
            </a:solidFill>
            <a:prstDash val="solid"/>
          </a:ln>
        </p:spPr>
      </p:sp>
      <p:sp>
        <p:nvSpPr>
          <p:cNvPr id="38" name="Shape 36"/>
          <p:cNvSpPr/>
          <p:nvPr/>
        </p:nvSpPr>
        <p:spPr>
          <a:xfrm>
            <a:off x="2010217" y="2481133"/>
            <a:ext cx="149230" cy="149230"/>
          </a:xfrm>
          <a:prstGeom prst="ellipse">
            <a:avLst/>
          </a:prstGeom>
          <a:solidFill>
            <a:srgbClr val="5B7FD6"/>
          </a:solidFill>
          <a:ln w="9525">
            <a:solidFill>
              <a:srgbClr val="2E4A9A"/>
            </a:solidFill>
            <a:prstDash val="solid"/>
          </a:ln>
        </p:spPr>
      </p:sp>
      <p:sp>
        <p:nvSpPr>
          <p:cNvPr id="39" name="Shape 37"/>
          <p:cNvSpPr/>
          <p:nvPr/>
        </p:nvSpPr>
        <p:spPr>
          <a:xfrm>
            <a:off x="766633" y="2325685"/>
            <a:ext cx="149230" cy="149230"/>
          </a:xfrm>
          <a:prstGeom prst="ellipse">
            <a:avLst/>
          </a:prstGeom>
          <a:solidFill>
            <a:srgbClr val="5B7FD6"/>
          </a:solidFill>
          <a:ln w="9525">
            <a:solidFill>
              <a:srgbClr val="2E4A9A"/>
            </a:solidFill>
            <a:prstDash val="solid"/>
          </a:ln>
        </p:spPr>
      </p:sp>
      <p:sp>
        <p:nvSpPr>
          <p:cNvPr id="40" name="Shape 38"/>
          <p:cNvSpPr/>
          <p:nvPr/>
        </p:nvSpPr>
        <p:spPr>
          <a:xfrm>
            <a:off x="922081" y="2325685"/>
            <a:ext cx="149230" cy="149230"/>
          </a:xfrm>
          <a:prstGeom prst="ellipse">
            <a:avLst/>
          </a:prstGeom>
          <a:solidFill>
            <a:srgbClr val="5B7FD6"/>
          </a:solidFill>
          <a:ln w="9525">
            <a:solidFill>
              <a:srgbClr val="2E4A9A"/>
            </a:solidFill>
            <a:prstDash val="solid"/>
          </a:ln>
        </p:spPr>
      </p:sp>
      <p:sp>
        <p:nvSpPr>
          <p:cNvPr id="41" name="Shape 39"/>
          <p:cNvSpPr/>
          <p:nvPr/>
        </p:nvSpPr>
        <p:spPr>
          <a:xfrm>
            <a:off x="1077529" y="2325685"/>
            <a:ext cx="149230" cy="149230"/>
          </a:xfrm>
          <a:prstGeom prst="ellipse">
            <a:avLst/>
          </a:prstGeom>
          <a:solidFill>
            <a:srgbClr val="5B7FD6"/>
          </a:solidFill>
          <a:ln w="9525">
            <a:solidFill>
              <a:srgbClr val="2E4A9A"/>
            </a:solidFill>
            <a:prstDash val="solid"/>
          </a:ln>
        </p:spPr>
      </p:sp>
      <p:sp>
        <p:nvSpPr>
          <p:cNvPr id="42" name="Shape 40"/>
          <p:cNvSpPr/>
          <p:nvPr/>
        </p:nvSpPr>
        <p:spPr>
          <a:xfrm>
            <a:off x="1232977" y="2325685"/>
            <a:ext cx="149230" cy="149230"/>
          </a:xfrm>
          <a:prstGeom prst="ellipse">
            <a:avLst/>
          </a:prstGeom>
          <a:solidFill>
            <a:srgbClr val="5B7FD6"/>
          </a:solidFill>
          <a:ln w="9525">
            <a:solidFill>
              <a:srgbClr val="2E4A9A"/>
            </a:solidFill>
            <a:prstDash val="solid"/>
          </a:ln>
        </p:spPr>
      </p:sp>
      <p:sp>
        <p:nvSpPr>
          <p:cNvPr id="43" name="Shape 41"/>
          <p:cNvSpPr/>
          <p:nvPr/>
        </p:nvSpPr>
        <p:spPr>
          <a:xfrm>
            <a:off x="1388425" y="2325685"/>
            <a:ext cx="149230" cy="149230"/>
          </a:xfrm>
          <a:prstGeom prst="ellipse">
            <a:avLst/>
          </a:prstGeom>
          <a:solidFill>
            <a:srgbClr val="5B7FD6"/>
          </a:solidFill>
          <a:ln w="9525">
            <a:solidFill>
              <a:srgbClr val="2E4A9A"/>
            </a:solidFill>
            <a:prstDash val="solid"/>
          </a:ln>
        </p:spPr>
      </p:sp>
      <p:sp>
        <p:nvSpPr>
          <p:cNvPr id="44" name="Shape 42"/>
          <p:cNvSpPr/>
          <p:nvPr/>
        </p:nvSpPr>
        <p:spPr>
          <a:xfrm>
            <a:off x="1543873" y="2325685"/>
            <a:ext cx="149230" cy="149230"/>
          </a:xfrm>
          <a:prstGeom prst="ellipse">
            <a:avLst/>
          </a:prstGeom>
          <a:solidFill>
            <a:srgbClr val="5B7FD6"/>
          </a:solidFill>
          <a:ln w="9525">
            <a:solidFill>
              <a:srgbClr val="2E4A9A"/>
            </a:solidFill>
            <a:prstDash val="solid"/>
          </a:ln>
        </p:spPr>
      </p:sp>
      <p:sp>
        <p:nvSpPr>
          <p:cNvPr id="45" name="Shape 43"/>
          <p:cNvSpPr/>
          <p:nvPr/>
        </p:nvSpPr>
        <p:spPr>
          <a:xfrm>
            <a:off x="1699321" y="2325685"/>
            <a:ext cx="149230" cy="149230"/>
          </a:xfrm>
          <a:prstGeom prst="ellipse">
            <a:avLst/>
          </a:prstGeom>
          <a:solidFill>
            <a:srgbClr val="5B7FD6"/>
          </a:solidFill>
          <a:ln w="9525">
            <a:solidFill>
              <a:srgbClr val="2E4A9A"/>
            </a:solidFill>
            <a:prstDash val="solid"/>
          </a:ln>
        </p:spPr>
      </p:sp>
      <p:sp>
        <p:nvSpPr>
          <p:cNvPr id="46" name="Shape 44"/>
          <p:cNvSpPr/>
          <p:nvPr/>
        </p:nvSpPr>
        <p:spPr>
          <a:xfrm>
            <a:off x="1854769" y="2325685"/>
            <a:ext cx="149230" cy="149230"/>
          </a:xfrm>
          <a:prstGeom prst="ellipse">
            <a:avLst/>
          </a:prstGeom>
          <a:solidFill>
            <a:srgbClr val="5B7FD6"/>
          </a:solidFill>
          <a:ln w="9525">
            <a:solidFill>
              <a:srgbClr val="2E4A9A"/>
            </a:solidFill>
            <a:prstDash val="solid"/>
          </a:ln>
        </p:spPr>
      </p:sp>
      <p:sp>
        <p:nvSpPr>
          <p:cNvPr id="47" name="Shape 45"/>
          <p:cNvSpPr/>
          <p:nvPr/>
        </p:nvSpPr>
        <p:spPr>
          <a:xfrm>
            <a:off x="2010217" y="2325685"/>
            <a:ext cx="149230" cy="149230"/>
          </a:xfrm>
          <a:prstGeom prst="ellipse">
            <a:avLst/>
          </a:prstGeom>
          <a:solidFill>
            <a:srgbClr val="5B7FD6"/>
          </a:solidFill>
          <a:ln w="9525">
            <a:solidFill>
              <a:srgbClr val="2E4A9A"/>
            </a:solidFill>
            <a:prstDash val="solid"/>
          </a:ln>
        </p:spPr>
      </p:sp>
      <p:sp>
        <p:nvSpPr>
          <p:cNvPr id="48" name="Shape 46"/>
          <p:cNvSpPr/>
          <p:nvPr/>
        </p:nvSpPr>
        <p:spPr>
          <a:xfrm>
            <a:off x="766633" y="2170237"/>
            <a:ext cx="149230" cy="149230"/>
          </a:xfrm>
          <a:prstGeom prst="ellipse">
            <a:avLst/>
          </a:prstGeom>
          <a:solidFill>
            <a:srgbClr val="5B7FD6"/>
          </a:solidFill>
          <a:ln w="9525">
            <a:solidFill>
              <a:srgbClr val="2E4A9A"/>
            </a:solidFill>
            <a:prstDash val="solid"/>
          </a:ln>
        </p:spPr>
      </p:sp>
      <p:sp>
        <p:nvSpPr>
          <p:cNvPr id="49" name="Shape 47"/>
          <p:cNvSpPr/>
          <p:nvPr/>
        </p:nvSpPr>
        <p:spPr>
          <a:xfrm>
            <a:off x="922081" y="2170237"/>
            <a:ext cx="149230" cy="149230"/>
          </a:xfrm>
          <a:prstGeom prst="ellipse">
            <a:avLst/>
          </a:prstGeom>
          <a:solidFill>
            <a:srgbClr val="5B7FD6"/>
          </a:solidFill>
          <a:ln w="9525">
            <a:solidFill>
              <a:srgbClr val="2E4A9A"/>
            </a:solidFill>
            <a:prstDash val="solid"/>
          </a:ln>
        </p:spPr>
      </p:sp>
      <p:sp>
        <p:nvSpPr>
          <p:cNvPr id="50" name="Shape 48"/>
          <p:cNvSpPr/>
          <p:nvPr/>
        </p:nvSpPr>
        <p:spPr>
          <a:xfrm>
            <a:off x="1077529" y="2170237"/>
            <a:ext cx="149230" cy="149230"/>
          </a:xfrm>
          <a:prstGeom prst="ellipse">
            <a:avLst/>
          </a:prstGeom>
          <a:solidFill>
            <a:srgbClr val="5B7FD6"/>
          </a:solidFill>
          <a:ln w="9525">
            <a:solidFill>
              <a:srgbClr val="2E4A9A"/>
            </a:solidFill>
            <a:prstDash val="solid"/>
          </a:ln>
        </p:spPr>
      </p:sp>
      <p:sp>
        <p:nvSpPr>
          <p:cNvPr id="51" name="Shape 49"/>
          <p:cNvSpPr/>
          <p:nvPr/>
        </p:nvSpPr>
        <p:spPr>
          <a:xfrm>
            <a:off x="1232977" y="2170237"/>
            <a:ext cx="149230" cy="149230"/>
          </a:xfrm>
          <a:prstGeom prst="ellipse">
            <a:avLst/>
          </a:prstGeom>
          <a:solidFill>
            <a:srgbClr val="5B7FD6"/>
          </a:solidFill>
          <a:ln w="9525">
            <a:solidFill>
              <a:srgbClr val="2E4A9A"/>
            </a:solidFill>
            <a:prstDash val="solid"/>
          </a:ln>
        </p:spPr>
      </p:sp>
      <p:sp>
        <p:nvSpPr>
          <p:cNvPr id="52" name="Shape 50"/>
          <p:cNvSpPr/>
          <p:nvPr/>
        </p:nvSpPr>
        <p:spPr>
          <a:xfrm>
            <a:off x="1388425" y="2170237"/>
            <a:ext cx="149230" cy="149230"/>
          </a:xfrm>
          <a:prstGeom prst="ellipse">
            <a:avLst/>
          </a:prstGeom>
          <a:solidFill>
            <a:srgbClr val="5B7FD6"/>
          </a:solidFill>
          <a:ln w="9525">
            <a:solidFill>
              <a:srgbClr val="2E4A9A"/>
            </a:solidFill>
            <a:prstDash val="solid"/>
          </a:ln>
        </p:spPr>
      </p:sp>
      <p:sp>
        <p:nvSpPr>
          <p:cNvPr id="53" name="Shape 51"/>
          <p:cNvSpPr/>
          <p:nvPr/>
        </p:nvSpPr>
        <p:spPr>
          <a:xfrm>
            <a:off x="1543873" y="2170237"/>
            <a:ext cx="149230" cy="149230"/>
          </a:xfrm>
          <a:prstGeom prst="ellipse">
            <a:avLst/>
          </a:prstGeom>
          <a:solidFill>
            <a:srgbClr val="5B7FD6"/>
          </a:solidFill>
          <a:ln w="9525">
            <a:solidFill>
              <a:srgbClr val="2E4A9A"/>
            </a:solidFill>
            <a:prstDash val="solid"/>
          </a:ln>
        </p:spPr>
      </p:sp>
      <p:sp>
        <p:nvSpPr>
          <p:cNvPr id="54" name="Shape 52"/>
          <p:cNvSpPr/>
          <p:nvPr/>
        </p:nvSpPr>
        <p:spPr>
          <a:xfrm>
            <a:off x="1699321" y="2170237"/>
            <a:ext cx="149230" cy="149230"/>
          </a:xfrm>
          <a:prstGeom prst="ellipse">
            <a:avLst/>
          </a:prstGeom>
          <a:solidFill>
            <a:srgbClr val="5B7FD6"/>
          </a:solidFill>
          <a:ln w="9525">
            <a:solidFill>
              <a:srgbClr val="2E4A9A"/>
            </a:solidFill>
            <a:prstDash val="solid"/>
          </a:ln>
        </p:spPr>
      </p:sp>
      <p:sp>
        <p:nvSpPr>
          <p:cNvPr id="55" name="Shape 53"/>
          <p:cNvSpPr/>
          <p:nvPr/>
        </p:nvSpPr>
        <p:spPr>
          <a:xfrm>
            <a:off x="1854769" y="2170237"/>
            <a:ext cx="149230" cy="149230"/>
          </a:xfrm>
          <a:prstGeom prst="ellipse">
            <a:avLst/>
          </a:prstGeom>
          <a:solidFill>
            <a:srgbClr val="5B7FD6"/>
          </a:solidFill>
          <a:ln w="9525">
            <a:solidFill>
              <a:srgbClr val="2E4A9A"/>
            </a:solidFill>
            <a:prstDash val="solid"/>
          </a:ln>
        </p:spPr>
      </p:sp>
      <p:sp>
        <p:nvSpPr>
          <p:cNvPr id="56" name="Shape 54"/>
          <p:cNvSpPr/>
          <p:nvPr/>
        </p:nvSpPr>
        <p:spPr>
          <a:xfrm>
            <a:off x="2010217" y="2170237"/>
            <a:ext cx="149230" cy="149230"/>
          </a:xfrm>
          <a:prstGeom prst="ellipse">
            <a:avLst/>
          </a:prstGeom>
          <a:solidFill>
            <a:srgbClr val="5B7FD6"/>
          </a:solidFill>
          <a:ln w="9525">
            <a:solidFill>
              <a:srgbClr val="2E4A9A"/>
            </a:solidFill>
            <a:prstDash val="solid"/>
          </a:ln>
        </p:spPr>
      </p:sp>
      <p:sp>
        <p:nvSpPr>
          <p:cNvPr id="57" name="Shape 55"/>
          <p:cNvSpPr/>
          <p:nvPr/>
        </p:nvSpPr>
        <p:spPr>
          <a:xfrm>
            <a:off x="766633" y="2014789"/>
            <a:ext cx="149230" cy="149230"/>
          </a:xfrm>
          <a:prstGeom prst="ellipse">
            <a:avLst/>
          </a:prstGeom>
          <a:solidFill>
            <a:srgbClr val="5B7FD6"/>
          </a:solidFill>
          <a:ln w="9525">
            <a:solidFill>
              <a:srgbClr val="2E4A9A"/>
            </a:solidFill>
            <a:prstDash val="solid"/>
          </a:ln>
        </p:spPr>
      </p:sp>
      <p:sp>
        <p:nvSpPr>
          <p:cNvPr id="58" name="Shape 56"/>
          <p:cNvSpPr/>
          <p:nvPr/>
        </p:nvSpPr>
        <p:spPr>
          <a:xfrm>
            <a:off x="922081" y="2014789"/>
            <a:ext cx="149230" cy="149230"/>
          </a:xfrm>
          <a:prstGeom prst="ellipse">
            <a:avLst/>
          </a:prstGeom>
          <a:solidFill>
            <a:srgbClr val="5B7FD6"/>
          </a:solidFill>
          <a:ln w="9525">
            <a:solidFill>
              <a:srgbClr val="2E4A9A"/>
            </a:solidFill>
            <a:prstDash val="solid"/>
          </a:ln>
        </p:spPr>
      </p:sp>
      <p:sp>
        <p:nvSpPr>
          <p:cNvPr id="59" name="Shape 57"/>
          <p:cNvSpPr/>
          <p:nvPr/>
        </p:nvSpPr>
        <p:spPr>
          <a:xfrm>
            <a:off x="1077529" y="2014789"/>
            <a:ext cx="149230" cy="149230"/>
          </a:xfrm>
          <a:prstGeom prst="ellipse">
            <a:avLst/>
          </a:prstGeom>
          <a:solidFill>
            <a:srgbClr val="5B7FD6"/>
          </a:solidFill>
          <a:ln w="9525">
            <a:solidFill>
              <a:srgbClr val="2E4A9A"/>
            </a:solidFill>
            <a:prstDash val="solid"/>
          </a:ln>
        </p:spPr>
      </p:sp>
      <p:sp>
        <p:nvSpPr>
          <p:cNvPr id="60" name="Shape 58"/>
          <p:cNvSpPr/>
          <p:nvPr/>
        </p:nvSpPr>
        <p:spPr>
          <a:xfrm>
            <a:off x="1232977" y="2014789"/>
            <a:ext cx="149230" cy="149230"/>
          </a:xfrm>
          <a:prstGeom prst="ellipse">
            <a:avLst/>
          </a:prstGeom>
          <a:solidFill>
            <a:srgbClr val="5B7FD6"/>
          </a:solidFill>
          <a:ln w="9525">
            <a:solidFill>
              <a:srgbClr val="2E4A9A"/>
            </a:solidFill>
            <a:prstDash val="solid"/>
          </a:ln>
        </p:spPr>
      </p:sp>
      <p:sp>
        <p:nvSpPr>
          <p:cNvPr id="61" name="Shape 59"/>
          <p:cNvSpPr/>
          <p:nvPr/>
        </p:nvSpPr>
        <p:spPr>
          <a:xfrm>
            <a:off x="1388425" y="2014789"/>
            <a:ext cx="149230" cy="149230"/>
          </a:xfrm>
          <a:prstGeom prst="ellipse">
            <a:avLst/>
          </a:prstGeom>
          <a:solidFill>
            <a:srgbClr val="5B7FD6"/>
          </a:solidFill>
          <a:ln w="9525">
            <a:solidFill>
              <a:srgbClr val="2E4A9A"/>
            </a:solidFill>
            <a:prstDash val="solid"/>
          </a:ln>
        </p:spPr>
      </p:sp>
      <p:sp>
        <p:nvSpPr>
          <p:cNvPr id="62" name="Shape 60"/>
          <p:cNvSpPr/>
          <p:nvPr/>
        </p:nvSpPr>
        <p:spPr>
          <a:xfrm>
            <a:off x="1543873" y="2014789"/>
            <a:ext cx="149230" cy="149230"/>
          </a:xfrm>
          <a:prstGeom prst="ellipse">
            <a:avLst/>
          </a:prstGeom>
          <a:solidFill>
            <a:srgbClr val="5B7FD6"/>
          </a:solidFill>
          <a:ln w="9525">
            <a:solidFill>
              <a:srgbClr val="2E4A9A"/>
            </a:solidFill>
            <a:prstDash val="solid"/>
          </a:ln>
        </p:spPr>
      </p:sp>
      <p:sp>
        <p:nvSpPr>
          <p:cNvPr id="63" name="Shape 61"/>
          <p:cNvSpPr/>
          <p:nvPr/>
        </p:nvSpPr>
        <p:spPr>
          <a:xfrm>
            <a:off x="1699321" y="2014789"/>
            <a:ext cx="149230" cy="149230"/>
          </a:xfrm>
          <a:prstGeom prst="ellipse">
            <a:avLst/>
          </a:prstGeom>
          <a:solidFill>
            <a:srgbClr val="5B7FD6"/>
          </a:solidFill>
          <a:ln w="9525">
            <a:solidFill>
              <a:srgbClr val="2E4A9A"/>
            </a:solidFill>
            <a:prstDash val="solid"/>
          </a:ln>
        </p:spPr>
      </p:sp>
      <p:sp>
        <p:nvSpPr>
          <p:cNvPr id="64" name="Shape 62"/>
          <p:cNvSpPr/>
          <p:nvPr/>
        </p:nvSpPr>
        <p:spPr>
          <a:xfrm>
            <a:off x="1854769" y="2014789"/>
            <a:ext cx="149230" cy="149230"/>
          </a:xfrm>
          <a:prstGeom prst="ellipse">
            <a:avLst/>
          </a:prstGeom>
          <a:solidFill>
            <a:srgbClr val="5B7FD6"/>
          </a:solidFill>
          <a:ln w="9525">
            <a:solidFill>
              <a:srgbClr val="2E4A9A"/>
            </a:solidFill>
            <a:prstDash val="solid"/>
          </a:ln>
        </p:spPr>
      </p:sp>
      <p:sp>
        <p:nvSpPr>
          <p:cNvPr id="65" name="Shape 63"/>
          <p:cNvSpPr/>
          <p:nvPr/>
        </p:nvSpPr>
        <p:spPr>
          <a:xfrm>
            <a:off x="2010217" y="2014789"/>
            <a:ext cx="149230" cy="149230"/>
          </a:xfrm>
          <a:prstGeom prst="ellipse">
            <a:avLst/>
          </a:prstGeom>
          <a:solidFill>
            <a:srgbClr val="5B7FD6"/>
          </a:solidFill>
          <a:ln w="9525">
            <a:solidFill>
              <a:srgbClr val="2E4A9A"/>
            </a:solidFill>
            <a:prstDash val="solid"/>
          </a:ln>
        </p:spPr>
      </p:sp>
      <p:sp>
        <p:nvSpPr>
          <p:cNvPr id="66" name="Shape 64"/>
          <p:cNvSpPr/>
          <p:nvPr/>
        </p:nvSpPr>
        <p:spPr>
          <a:xfrm>
            <a:off x="766633" y="1859341"/>
            <a:ext cx="149230" cy="149230"/>
          </a:xfrm>
          <a:prstGeom prst="ellipse">
            <a:avLst/>
          </a:prstGeom>
          <a:solidFill>
            <a:srgbClr val="5B7FD6"/>
          </a:solidFill>
          <a:ln w="9525">
            <a:solidFill>
              <a:srgbClr val="2E4A9A"/>
            </a:solidFill>
            <a:prstDash val="solid"/>
          </a:ln>
        </p:spPr>
      </p:sp>
      <p:sp>
        <p:nvSpPr>
          <p:cNvPr id="67" name="Shape 65"/>
          <p:cNvSpPr/>
          <p:nvPr/>
        </p:nvSpPr>
        <p:spPr>
          <a:xfrm>
            <a:off x="922081" y="1859341"/>
            <a:ext cx="149230" cy="149230"/>
          </a:xfrm>
          <a:prstGeom prst="ellipse">
            <a:avLst/>
          </a:prstGeom>
          <a:solidFill>
            <a:srgbClr val="5B7FD6"/>
          </a:solidFill>
          <a:ln w="9525">
            <a:solidFill>
              <a:srgbClr val="2E4A9A"/>
            </a:solidFill>
            <a:prstDash val="solid"/>
          </a:ln>
        </p:spPr>
      </p:sp>
      <p:sp>
        <p:nvSpPr>
          <p:cNvPr id="68" name="Shape 66"/>
          <p:cNvSpPr/>
          <p:nvPr/>
        </p:nvSpPr>
        <p:spPr>
          <a:xfrm>
            <a:off x="1077529" y="1859341"/>
            <a:ext cx="149230" cy="149230"/>
          </a:xfrm>
          <a:prstGeom prst="ellipse">
            <a:avLst/>
          </a:prstGeom>
          <a:solidFill>
            <a:srgbClr val="5B7FD6"/>
          </a:solidFill>
          <a:ln w="9525">
            <a:solidFill>
              <a:srgbClr val="2E4A9A"/>
            </a:solidFill>
            <a:prstDash val="solid"/>
          </a:ln>
        </p:spPr>
      </p:sp>
      <p:sp>
        <p:nvSpPr>
          <p:cNvPr id="69" name="Shape 67"/>
          <p:cNvSpPr/>
          <p:nvPr/>
        </p:nvSpPr>
        <p:spPr>
          <a:xfrm>
            <a:off x="1232977" y="1859341"/>
            <a:ext cx="149230" cy="149230"/>
          </a:xfrm>
          <a:prstGeom prst="ellipse">
            <a:avLst/>
          </a:prstGeom>
          <a:solidFill>
            <a:srgbClr val="5B7FD6"/>
          </a:solidFill>
          <a:ln w="9525">
            <a:solidFill>
              <a:srgbClr val="2E4A9A"/>
            </a:solidFill>
            <a:prstDash val="solid"/>
          </a:ln>
        </p:spPr>
      </p:sp>
      <p:sp>
        <p:nvSpPr>
          <p:cNvPr id="70" name="Shape 68"/>
          <p:cNvSpPr/>
          <p:nvPr/>
        </p:nvSpPr>
        <p:spPr>
          <a:xfrm>
            <a:off x="1388425" y="1859341"/>
            <a:ext cx="149230" cy="149230"/>
          </a:xfrm>
          <a:prstGeom prst="ellipse">
            <a:avLst/>
          </a:prstGeom>
          <a:solidFill>
            <a:srgbClr val="5B7FD6"/>
          </a:solidFill>
          <a:ln w="9525">
            <a:solidFill>
              <a:srgbClr val="2E4A9A"/>
            </a:solidFill>
            <a:prstDash val="solid"/>
          </a:ln>
        </p:spPr>
      </p:sp>
      <p:sp>
        <p:nvSpPr>
          <p:cNvPr id="71" name="Shape 69"/>
          <p:cNvSpPr/>
          <p:nvPr/>
        </p:nvSpPr>
        <p:spPr>
          <a:xfrm>
            <a:off x="1543873" y="1859341"/>
            <a:ext cx="149230" cy="149230"/>
          </a:xfrm>
          <a:prstGeom prst="ellipse">
            <a:avLst/>
          </a:prstGeom>
          <a:solidFill>
            <a:srgbClr val="5B7FD6"/>
          </a:solidFill>
          <a:ln w="9525">
            <a:solidFill>
              <a:srgbClr val="2E4A9A"/>
            </a:solidFill>
            <a:prstDash val="solid"/>
          </a:ln>
        </p:spPr>
      </p:sp>
      <p:sp>
        <p:nvSpPr>
          <p:cNvPr id="72" name="Shape 70"/>
          <p:cNvSpPr/>
          <p:nvPr/>
        </p:nvSpPr>
        <p:spPr>
          <a:xfrm>
            <a:off x="1699321" y="1859341"/>
            <a:ext cx="149230" cy="149230"/>
          </a:xfrm>
          <a:prstGeom prst="ellipse">
            <a:avLst/>
          </a:prstGeom>
          <a:solidFill>
            <a:srgbClr val="5B7FD6"/>
          </a:solidFill>
          <a:ln w="9525">
            <a:solidFill>
              <a:srgbClr val="2E4A9A"/>
            </a:solidFill>
            <a:prstDash val="solid"/>
          </a:ln>
        </p:spPr>
      </p:sp>
      <p:sp>
        <p:nvSpPr>
          <p:cNvPr id="73" name="Shape 71"/>
          <p:cNvSpPr/>
          <p:nvPr/>
        </p:nvSpPr>
        <p:spPr>
          <a:xfrm>
            <a:off x="1854769" y="1859341"/>
            <a:ext cx="149230" cy="149230"/>
          </a:xfrm>
          <a:prstGeom prst="ellipse">
            <a:avLst/>
          </a:prstGeom>
          <a:solidFill>
            <a:srgbClr val="5B7FD6"/>
          </a:solidFill>
          <a:ln w="9525">
            <a:solidFill>
              <a:srgbClr val="2E4A9A"/>
            </a:solidFill>
            <a:prstDash val="solid"/>
          </a:ln>
        </p:spPr>
      </p:sp>
      <p:sp>
        <p:nvSpPr>
          <p:cNvPr id="74" name="Shape 72"/>
          <p:cNvSpPr/>
          <p:nvPr/>
        </p:nvSpPr>
        <p:spPr>
          <a:xfrm>
            <a:off x="2010217" y="1859341"/>
            <a:ext cx="149230" cy="149230"/>
          </a:xfrm>
          <a:prstGeom prst="ellipse">
            <a:avLst/>
          </a:prstGeom>
          <a:solidFill>
            <a:srgbClr val="5B7FD6"/>
          </a:solidFill>
          <a:ln w="9525">
            <a:solidFill>
              <a:srgbClr val="2E4A9A"/>
            </a:solidFill>
            <a:prstDash val="solid"/>
          </a:ln>
        </p:spPr>
      </p:sp>
      <p:sp>
        <p:nvSpPr>
          <p:cNvPr id="75" name="Shape 73"/>
          <p:cNvSpPr/>
          <p:nvPr/>
        </p:nvSpPr>
        <p:spPr>
          <a:xfrm>
            <a:off x="766633" y="1703893"/>
            <a:ext cx="149230" cy="149230"/>
          </a:xfrm>
          <a:prstGeom prst="ellipse">
            <a:avLst/>
          </a:prstGeom>
          <a:solidFill>
            <a:srgbClr val="5B7FD6"/>
          </a:solidFill>
          <a:ln w="9525">
            <a:solidFill>
              <a:srgbClr val="2E4A9A"/>
            </a:solidFill>
            <a:prstDash val="solid"/>
          </a:ln>
        </p:spPr>
      </p:sp>
      <p:sp>
        <p:nvSpPr>
          <p:cNvPr id="76" name="Shape 74"/>
          <p:cNvSpPr/>
          <p:nvPr/>
        </p:nvSpPr>
        <p:spPr>
          <a:xfrm>
            <a:off x="922081" y="1703893"/>
            <a:ext cx="149230" cy="149230"/>
          </a:xfrm>
          <a:prstGeom prst="ellipse">
            <a:avLst/>
          </a:prstGeom>
          <a:solidFill>
            <a:srgbClr val="5B7FD6"/>
          </a:solidFill>
          <a:ln w="9525">
            <a:solidFill>
              <a:srgbClr val="2E4A9A"/>
            </a:solidFill>
            <a:prstDash val="solid"/>
          </a:ln>
        </p:spPr>
      </p:sp>
      <p:sp>
        <p:nvSpPr>
          <p:cNvPr id="77" name="Shape 75"/>
          <p:cNvSpPr/>
          <p:nvPr/>
        </p:nvSpPr>
        <p:spPr>
          <a:xfrm>
            <a:off x="1077529" y="1703893"/>
            <a:ext cx="149230" cy="149230"/>
          </a:xfrm>
          <a:prstGeom prst="ellipse">
            <a:avLst/>
          </a:prstGeom>
          <a:solidFill>
            <a:srgbClr val="5B7FD6"/>
          </a:solidFill>
          <a:ln w="9525">
            <a:solidFill>
              <a:srgbClr val="2E4A9A"/>
            </a:solidFill>
            <a:prstDash val="solid"/>
          </a:ln>
        </p:spPr>
      </p:sp>
      <p:sp>
        <p:nvSpPr>
          <p:cNvPr id="78" name="Shape 76"/>
          <p:cNvSpPr/>
          <p:nvPr/>
        </p:nvSpPr>
        <p:spPr>
          <a:xfrm>
            <a:off x="1232977" y="1703893"/>
            <a:ext cx="149230" cy="149230"/>
          </a:xfrm>
          <a:prstGeom prst="ellipse">
            <a:avLst/>
          </a:prstGeom>
          <a:solidFill>
            <a:srgbClr val="5B7FD6"/>
          </a:solidFill>
          <a:ln w="9525">
            <a:solidFill>
              <a:srgbClr val="2E4A9A"/>
            </a:solidFill>
            <a:prstDash val="solid"/>
          </a:ln>
        </p:spPr>
      </p:sp>
      <p:sp>
        <p:nvSpPr>
          <p:cNvPr id="79" name="Shape 77"/>
          <p:cNvSpPr/>
          <p:nvPr/>
        </p:nvSpPr>
        <p:spPr>
          <a:xfrm>
            <a:off x="1388425" y="1703893"/>
            <a:ext cx="149230" cy="149230"/>
          </a:xfrm>
          <a:prstGeom prst="ellipse">
            <a:avLst/>
          </a:prstGeom>
          <a:solidFill>
            <a:srgbClr val="5B7FD6"/>
          </a:solidFill>
          <a:ln w="9525">
            <a:solidFill>
              <a:srgbClr val="2E4A9A"/>
            </a:solidFill>
            <a:prstDash val="solid"/>
          </a:ln>
        </p:spPr>
      </p:sp>
      <p:sp>
        <p:nvSpPr>
          <p:cNvPr id="80" name="Shape 78"/>
          <p:cNvSpPr/>
          <p:nvPr/>
        </p:nvSpPr>
        <p:spPr>
          <a:xfrm>
            <a:off x="1543873" y="1703893"/>
            <a:ext cx="149230" cy="149230"/>
          </a:xfrm>
          <a:prstGeom prst="ellipse">
            <a:avLst/>
          </a:prstGeom>
          <a:solidFill>
            <a:srgbClr val="5B7FD6"/>
          </a:solidFill>
          <a:ln w="9525">
            <a:solidFill>
              <a:srgbClr val="2E4A9A"/>
            </a:solidFill>
            <a:prstDash val="solid"/>
          </a:ln>
        </p:spPr>
      </p:sp>
      <p:sp>
        <p:nvSpPr>
          <p:cNvPr id="81" name="Shape 79"/>
          <p:cNvSpPr/>
          <p:nvPr/>
        </p:nvSpPr>
        <p:spPr>
          <a:xfrm>
            <a:off x="1699321" y="1703893"/>
            <a:ext cx="149230" cy="149230"/>
          </a:xfrm>
          <a:prstGeom prst="ellipse">
            <a:avLst/>
          </a:prstGeom>
          <a:solidFill>
            <a:srgbClr val="5B7FD6"/>
          </a:solidFill>
          <a:ln w="9525">
            <a:solidFill>
              <a:srgbClr val="2E4A9A"/>
            </a:solidFill>
            <a:prstDash val="solid"/>
          </a:ln>
        </p:spPr>
      </p:sp>
      <p:sp>
        <p:nvSpPr>
          <p:cNvPr id="82" name="Shape 80"/>
          <p:cNvSpPr/>
          <p:nvPr/>
        </p:nvSpPr>
        <p:spPr>
          <a:xfrm>
            <a:off x="1854769" y="1703893"/>
            <a:ext cx="149230" cy="149230"/>
          </a:xfrm>
          <a:prstGeom prst="ellipse">
            <a:avLst/>
          </a:prstGeom>
          <a:solidFill>
            <a:srgbClr val="5B7FD6"/>
          </a:solidFill>
          <a:ln w="9525">
            <a:solidFill>
              <a:srgbClr val="2E4A9A"/>
            </a:solidFill>
            <a:prstDash val="solid"/>
          </a:ln>
        </p:spPr>
      </p:sp>
      <p:sp>
        <p:nvSpPr>
          <p:cNvPr id="83" name="Shape 81"/>
          <p:cNvSpPr/>
          <p:nvPr/>
        </p:nvSpPr>
        <p:spPr>
          <a:xfrm>
            <a:off x="2010217" y="1703893"/>
            <a:ext cx="149230" cy="149230"/>
          </a:xfrm>
          <a:prstGeom prst="ellipse">
            <a:avLst/>
          </a:prstGeom>
          <a:solidFill>
            <a:srgbClr val="5B7FD6"/>
          </a:solidFill>
          <a:ln w="9525">
            <a:solidFill>
              <a:srgbClr val="2E4A9A"/>
            </a:solidFill>
            <a:prstDash val="solid"/>
          </a:ln>
        </p:spPr>
      </p:sp>
      <p:sp>
        <p:nvSpPr>
          <p:cNvPr id="84" name="Text 82"/>
          <p:cNvSpPr/>
          <p:nvPr/>
        </p:nvSpPr>
        <p:spPr>
          <a:xfrm>
            <a:off x="685800" y="3008376"/>
            <a:ext cx="15544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high density</a:t>
            </a:r>
            <a:endParaRPr lang="en-US" sz="1050" dirty="0"/>
          </a:p>
        </p:txBody>
      </p:sp>
      <p:sp>
        <p:nvSpPr>
          <p:cNvPr id="85" name="Text 83"/>
          <p:cNvSpPr/>
          <p:nvPr/>
        </p:nvSpPr>
        <p:spPr>
          <a:xfrm>
            <a:off x="2423160" y="1353312"/>
            <a:ext cx="1554480" cy="256032"/>
          </a:xfrm>
          <a:prstGeom prst="rect">
            <a:avLst/>
          </a:prstGeom>
          <a:noFill/>
          <a:ln/>
        </p:spPr>
        <p:txBody>
          <a:bodyPr wrap="square" lIns="0" tIns="0" rIns="0" bIns="0" rtlCol="0" anchor="ctr"/>
          <a:lstStyle/>
          <a:p>
            <a:pPr algn="ctr" indent="0" marL="0">
              <a:buNone/>
            </a:pPr>
            <a:r>
              <a:rPr lang="en-US" sz="1100" b="1" dirty="0">
                <a:solidFill>
                  <a:srgbClr val="1F6E8C"/>
                </a:solidFill>
                <a:latin typeface="Calibri" pitchFamily="34" charset="0"/>
                <a:ea typeface="Calibri" pitchFamily="34" charset="-122"/>
                <a:cs typeface="Calibri" pitchFamily="34" charset="-120"/>
              </a:rPr>
              <a:t>LIQUID</a:t>
            </a:r>
            <a:endParaRPr lang="en-US" sz="1100" dirty="0"/>
          </a:p>
        </p:txBody>
      </p:sp>
      <p:sp>
        <p:nvSpPr>
          <p:cNvPr id="86" name="Shape 84"/>
          <p:cNvSpPr/>
          <p:nvPr/>
        </p:nvSpPr>
        <p:spPr>
          <a:xfrm>
            <a:off x="2423160" y="1645920"/>
            <a:ext cx="1554480" cy="1325880"/>
          </a:xfrm>
          <a:prstGeom prst="rect">
            <a:avLst/>
          </a:prstGeom>
          <a:solidFill>
            <a:srgbClr val="FFFFFF"/>
          </a:solidFill>
          <a:ln w="15875">
            <a:solidFill>
              <a:srgbClr val="1A2340"/>
            </a:solidFill>
            <a:prstDash val="solid"/>
          </a:ln>
        </p:spPr>
      </p:sp>
      <p:sp>
        <p:nvSpPr>
          <p:cNvPr id="87" name="Shape 85"/>
          <p:cNvSpPr/>
          <p:nvPr/>
        </p:nvSpPr>
        <p:spPr>
          <a:xfrm>
            <a:off x="2496200" y="2779049"/>
            <a:ext cx="149230" cy="149230"/>
          </a:xfrm>
          <a:prstGeom prst="ellipse">
            <a:avLst/>
          </a:prstGeom>
          <a:solidFill>
            <a:srgbClr val="3FA3C9"/>
          </a:solidFill>
          <a:ln w="9525">
            <a:solidFill>
              <a:srgbClr val="1F6E8C"/>
            </a:solidFill>
            <a:prstDash val="solid"/>
          </a:ln>
        </p:spPr>
      </p:sp>
      <p:sp>
        <p:nvSpPr>
          <p:cNvPr id="88" name="Shape 86"/>
          <p:cNvSpPr/>
          <p:nvPr/>
        </p:nvSpPr>
        <p:spPr>
          <a:xfrm>
            <a:off x="2838023" y="2772321"/>
            <a:ext cx="149230" cy="149230"/>
          </a:xfrm>
          <a:prstGeom prst="ellipse">
            <a:avLst/>
          </a:prstGeom>
          <a:solidFill>
            <a:srgbClr val="3FA3C9"/>
          </a:solidFill>
          <a:ln w="9525">
            <a:solidFill>
              <a:srgbClr val="1F6E8C"/>
            </a:solidFill>
            <a:prstDash val="solid"/>
          </a:ln>
        </p:spPr>
      </p:sp>
      <p:sp>
        <p:nvSpPr>
          <p:cNvPr id="89" name="Shape 87"/>
          <p:cNvSpPr/>
          <p:nvPr/>
        </p:nvSpPr>
        <p:spPr>
          <a:xfrm>
            <a:off x="3010741" y="2800928"/>
            <a:ext cx="149230" cy="149230"/>
          </a:xfrm>
          <a:prstGeom prst="ellipse">
            <a:avLst/>
          </a:prstGeom>
          <a:solidFill>
            <a:srgbClr val="3FA3C9"/>
          </a:solidFill>
          <a:ln w="9525">
            <a:solidFill>
              <a:srgbClr val="1F6E8C"/>
            </a:solidFill>
            <a:prstDash val="solid"/>
          </a:ln>
        </p:spPr>
      </p:sp>
      <p:sp>
        <p:nvSpPr>
          <p:cNvPr id="90" name="Shape 88"/>
          <p:cNvSpPr/>
          <p:nvPr/>
        </p:nvSpPr>
        <p:spPr>
          <a:xfrm>
            <a:off x="3193272" y="2793371"/>
            <a:ext cx="149230" cy="149230"/>
          </a:xfrm>
          <a:prstGeom prst="ellipse">
            <a:avLst/>
          </a:prstGeom>
          <a:solidFill>
            <a:srgbClr val="3FA3C9"/>
          </a:solidFill>
          <a:ln w="9525">
            <a:solidFill>
              <a:srgbClr val="1F6E8C"/>
            </a:solidFill>
            <a:prstDash val="solid"/>
          </a:ln>
        </p:spPr>
      </p:sp>
      <p:sp>
        <p:nvSpPr>
          <p:cNvPr id="91" name="Shape 89"/>
          <p:cNvSpPr/>
          <p:nvPr/>
        </p:nvSpPr>
        <p:spPr>
          <a:xfrm>
            <a:off x="3365298" y="2790693"/>
            <a:ext cx="149230" cy="149230"/>
          </a:xfrm>
          <a:prstGeom prst="ellipse">
            <a:avLst/>
          </a:prstGeom>
          <a:solidFill>
            <a:srgbClr val="3FA3C9"/>
          </a:solidFill>
          <a:ln w="9525">
            <a:solidFill>
              <a:srgbClr val="1F6E8C"/>
            </a:solidFill>
            <a:prstDash val="solid"/>
          </a:ln>
        </p:spPr>
      </p:sp>
      <p:sp>
        <p:nvSpPr>
          <p:cNvPr id="92" name="Shape 90"/>
          <p:cNvSpPr/>
          <p:nvPr/>
        </p:nvSpPr>
        <p:spPr>
          <a:xfrm>
            <a:off x="3528258" y="2808471"/>
            <a:ext cx="149230" cy="149230"/>
          </a:xfrm>
          <a:prstGeom prst="ellipse">
            <a:avLst/>
          </a:prstGeom>
          <a:solidFill>
            <a:srgbClr val="3FA3C9"/>
          </a:solidFill>
          <a:ln w="9525">
            <a:solidFill>
              <a:srgbClr val="1F6E8C"/>
            </a:solidFill>
            <a:prstDash val="solid"/>
          </a:ln>
        </p:spPr>
      </p:sp>
      <p:sp>
        <p:nvSpPr>
          <p:cNvPr id="93" name="Shape 91"/>
          <p:cNvSpPr/>
          <p:nvPr/>
        </p:nvSpPr>
        <p:spPr>
          <a:xfrm>
            <a:off x="3693239" y="2768904"/>
            <a:ext cx="149230" cy="149230"/>
          </a:xfrm>
          <a:prstGeom prst="ellipse">
            <a:avLst/>
          </a:prstGeom>
          <a:solidFill>
            <a:srgbClr val="3FA3C9"/>
          </a:solidFill>
          <a:ln w="9525">
            <a:solidFill>
              <a:srgbClr val="1F6E8C"/>
            </a:solidFill>
            <a:prstDash val="solid"/>
          </a:ln>
        </p:spPr>
      </p:sp>
      <p:sp>
        <p:nvSpPr>
          <p:cNvPr id="94" name="Shape 92"/>
          <p:cNvSpPr/>
          <p:nvPr/>
        </p:nvSpPr>
        <p:spPr>
          <a:xfrm>
            <a:off x="2618601" y="2644267"/>
            <a:ext cx="149230" cy="149230"/>
          </a:xfrm>
          <a:prstGeom prst="ellipse">
            <a:avLst/>
          </a:prstGeom>
          <a:solidFill>
            <a:srgbClr val="3FA3C9"/>
          </a:solidFill>
          <a:ln w="9525">
            <a:solidFill>
              <a:srgbClr val="1F6E8C"/>
            </a:solidFill>
            <a:prstDash val="solid"/>
          </a:ln>
        </p:spPr>
      </p:sp>
      <p:sp>
        <p:nvSpPr>
          <p:cNvPr id="95" name="Shape 93"/>
          <p:cNvSpPr/>
          <p:nvPr/>
        </p:nvSpPr>
        <p:spPr>
          <a:xfrm>
            <a:off x="2788823" y="2625659"/>
            <a:ext cx="149230" cy="149230"/>
          </a:xfrm>
          <a:prstGeom prst="ellipse">
            <a:avLst/>
          </a:prstGeom>
          <a:solidFill>
            <a:srgbClr val="3FA3C9"/>
          </a:solidFill>
          <a:ln w="9525">
            <a:solidFill>
              <a:srgbClr val="1F6E8C"/>
            </a:solidFill>
            <a:prstDash val="solid"/>
          </a:ln>
        </p:spPr>
      </p:sp>
      <p:sp>
        <p:nvSpPr>
          <p:cNvPr id="96" name="Shape 94"/>
          <p:cNvSpPr/>
          <p:nvPr/>
        </p:nvSpPr>
        <p:spPr>
          <a:xfrm>
            <a:off x="2953738" y="2630078"/>
            <a:ext cx="149230" cy="149230"/>
          </a:xfrm>
          <a:prstGeom prst="ellipse">
            <a:avLst/>
          </a:prstGeom>
          <a:solidFill>
            <a:srgbClr val="3FA3C9"/>
          </a:solidFill>
          <a:ln w="9525">
            <a:solidFill>
              <a:srgbClr val="1F6E8C"/>
            </a:solidFill>
            <a:prstDash val="solid"/>
          </a:ln>
        </p:spPr>
      </p:sp>
      <p:sp>
        <p:nvSpPr>
          <p:cNvPr id="97" name="Shape 95"/>
          <p:cNvSpPr/>
          <p:nvPr/>
        </p:nvSpPr>
        <p:spPr>
          <a:xfrm>
            <a:off x="3114872" y="2633531"/>
            <a:ext cx="149230" cy="149230"/>
          </a:xfrm>
          <a:prstGeom prst="ellipse">
            <a:avLst/>
          </a:prstGeom>
          <a:solidFill>
            <a:srgbClr val="3FA3C9"/>
          </a:solidFill>
          <a:ln w="9525">
            <a:solidFill>
              <a:srgbClr val="1F6E8C"/>
            </a:solidFill>
            <a:prstDash val="solid"/>
          </a:ln>
        </p:spPr>
      </p:sp>
      <p:sp>
        <p:nvSpPr>
          <p:cNvPr id="98" name="Shape 96"/>
          <p:cNvSpPr/>
          <p:nvPr/>
        </p:nvSpPr>
        <p:spPr>
          <a:xfrm>
            <a:off x="2481089" y="2497672"/>
            <a:ext cx="149230" cy="149230"/>
          </a:xfrm>
          <a:prstGeom prst="ellipse">
            <a:avLst/>
          </a:prstGeom>
          <a:solidFill>
            <a:srgbClr val="3FA3C9"/>
          </a:solidFill>
          <a:ln w="9525">
            <a:solidFill>
              <a:srgbClr val="1F6E8C"/>
            </a:solidFill>
            <a:prstDash val="solid"/>
          </a:ln>
        </p:spPr>
      </p:sp>
      <p:sp>
        <p:nvSpPr>
          <p:cNvPr id="99" name="Shape 97"/>
          <p:cNvSpPr/>
          <p:nvPr/>
        </p:nvSpPr>
        <p:spPr>
          <a:xfrm>
            <a:off x="2685416" y="2471990"/>
            <a:ext cx="149230" cy="149230"/>
          </a:xfrm>
          <a:prstGeom prst="ellipse">
            <a:avLst/>
          </a:prstGeom>
          <a:solidFill>
            <a:srgbClr val="3FA3C9"/>
          </a:solidFill>
          <a:ln w="9525">
            <a:solidFill>
              <a:srgbClr val="1F6E8C"/>
            </a:solidFill>
            <a:prstDash val="solid"/>
          </a:ln>
        </p:spPr>
      </p:sp>
      <p:sp>
        <p:nvSpPr>
          <p:cNvPr id="100" name="Shape 98"/>
          <p:cNvSpPr/>
          <p:nvPr/>
        </p:nvSpPr>
        <p:spPr>
          <a:xfrm>
            <a:off x="2853517" y="2483913"/>
            <a:ext cx="149230" cy="149230"/>
          </a:xfrm>
          <a:prstGeom prst="ellipse">
            <a:avLst/>
          </a:prstGeom>
          <a:solidFill>
            <a:srgbClr val="3FA3C9"/>
          </a:solidFill>
          <a:ln w="9525">
            <a:solidFill>
              <a:srgbClr val="1F6E8C"/>
            </a:solidFill>
            <a:prstDash val="solid"/>
          </a:ln>
        </p:spPr>
      </p:sp>
      <p:sp>
        <p:nvSpPr>
          <p:cNvPr id="101" name="Shape 99"/>
          <p:cNvSpPr/>
          <p:nvPr/>
        </p:nvSpPr>
        <p:spPr>
          <a:xfrm>
            <a:off x="3032746" y="2488829"/>
            <a:ext cx="149230" cy="149230"/>
          </a:xfrm>
          <a:prstGeom prst="ellipse">
            <a:avLst/>
          </a:prstGeom>
          <a:solidFill>
            <a:srgbClr val="3FA3C9"/>
          </a:solidFill>
          <a:ln w="9525">
            <a:solidFill>
              <a:srgbClr val="1F6E8C"/>
            </a:solidFill>
            <a:prstDash val="solid"/>
          </a:ln>
        </p:spPr>
      </p:sp>
      <p:sp>
        <p:nvSpPr>
          <p:cNvPr id="102" name="Shape 100"/>
          <p:cNvSpPr/>
          <p:nvPr/>
        </p:nvSpPr>
        <p:spPr>
          <a:xfrm>
            <a:off x="3356050" y="2462666"/>
            <a:ext cx="149230" cy="149230"/>
          </a:xfrm>
          <a:prstGeom prst="ellipse">
            <a:avLst/>
          </a:prstGeom>
          <a:solidFill>
            <a:srgbClr val="3FA3C9"/>
          </a:solidFill>
          <a:ln w="9525">
            <a:solidFill>
              <a:srgbClr val="1F6E8C"/>
            </a:solidFill>
            <a:prstDash val="solid"/>
          </a:ln>
        </p:spPr>
      </p:sp>
      <p:sp>
        <p:nvSpPr>
          <p:cNvPr id="103" name="Shape 101"/>
          <p:cNvSpPr/>
          <p:nvPr/>
        </p:nvSpPr>
        <p:spPr>
          <a:xfrm>
            <a:off x="3513098" y="2473166"/>
            <a:ext cx="149230" cy="149230"/>
          </a:xfrm>
          <a:prstGeom prst="ellipse">
            <a:avLst/>
          </a:prstGeom>
          <a:solidFill>
            <a:srgbClr val="3FA3C9"/>
          </a:solidFill>
          <a:ln w="9525">
            <a:solidFill>
              <a:srgbClr val="1F6E8C"/>
            </a:solidFill>
            <a:prstDash val="solid"/>
          </a:ln>
        </p:spPr>
      </p:sp>
      <p:sp>
        <p:nvSpPr>
          <p:cNvPr id="104" name="Shape 102"/>
          <p:cNvSpPr/>
          <p:nvPr/>
        </p:nvSpPr>
        <p:spPr>
          <a:xfrm>
            <a:off x="3690492" y="2457057"/>
            <a:ext cx="149230" cy="149230"/>
          </a:xfrm>
          <a:prstGeom prst="ellipse">
            <a:avLst/>
          </a:prstGeom>
          <a:solidFill>
            <a:srgbClr val="3FA3C9"/>
          </a:solidFill>
          <a:ln w="9525">
            <a:solidFill>
              <a:srgbClr val="1F6E8C"/>
            </a:solidFill>
            <a:prstDash val="solid"/>
          </a:ln>
        </p:spPr>
      </p:sp>
      <p:sp>
        <p:nvSpPr>
          <p:cNvPr id="105" name="Shape 103"/>
          <p:cNvSpPr/>
          <p:nvPr/>
        </p:nvSpPr>
        <p:spPr>
          <a:xfrm>
            <a:off x="2583652" y="2341112"/>
            <a:ext cx="149230" cy="149230"/>
          </a:xfrm>
          <a:prstGeom prst="ellipse">
            <a:avLst/>
          </a:prstGeom>
          <a:solidFill>
            <a:srgbClr val="3FA3C9"/>
          </a:solidFill>
          <a:ln w="9525">
            <a:solidFill>
              <a:srgbClr val="1F6E8C"/>
            </a:solidFill>
            <a:prstDash val="solid"/>
          </a:ln>
        </p:spPr>
      </p:sp>
      <p:sp>
        <p:nvSpPr>
          <p:cNvPr id="106" name="Shape 104"/>
          <p:cNvSpPr/>
          <p:nvPr/>
        </p:nvSpPr>
        <p:spPr>
          <a:xfrm>
            <a:off x="2762902" y="2325396"/>
            <a:ext cx="149230" cy="149230"/>
          </a:xfrm>
          <a:prstGeom prst="ellipse">
            <a:avLst/>
          </a:prstGeom>
          <a:solidFill>
            <a:srgbClr val="3FA3C9"/>
          </a:solidFill>
          <a:ln w="9525">
            <a:solidFill>
              <a:srgbClr val="1F6E8C"/>
            </a:solidFill>
            <a:prstDash val="solid"/>
          </a:ln>
        </p:spPr>
      </p:sp>
      <p:sp>
        <p:nvSpPr>
          <p:cNvPr id="107" name="Shape 105"/>
          <p:cNvSpPr/>
          <p:nvPr/>
        </p:nvSpPr>
        <p:spPr>
          <a:xfrm>
            <a:off x="2939448" y="2317069"/>
            <a:ext cx="149230" cy="149230"/>
          </a:xfrm>
          <a:prstGeom prst="ellipse">
            <a:avLst/>
          </a:prstGeom>
          <a:solidFill>
            <a:srgbClr val="3FA3C9"/>
          </a:solidFill>
          <a:ln w="9525">
            <a:solidFill>
              <a:srgbClr val="1F6E8C"/>
            </a:solidFill>
            <a:prstDash val="solid"/>
          </a:ln>
        </p:spPr>
      </p:sp>
      <p:sp>
        <p:nvSpPr>
          <p:cNvPr id="108" name="Shape 106"/>
          <p:cNvSpPr/>
          <p:nvPr/>
        </p:nvSpPr>
        <p:spPr>
          <a:xfrm>
            <a:off x="3115797" y="2345622"/>
            <a:ext cx="149230" cy="149230"/>
          </a:xfrm>
          <a:prstGeom prst="ellipse">
            <a:avLst/>
          </a:prstGeom>
          <a:solidFill>
            <a:srgbClr val="3FA3C9"/>
          </a:solidFill>
          <a:ln w="9525">
            <a:solidFill>
              <a:srgbClr val="1F6E8C"/>
            </a:solidFill>
            <a:prstDash val="solid"/>
          </a:ln>
        </p:spPr>
      </p:sp>
      <p:sp>
        <p:nvSpPr>
          <p:cNvPr id="109" name="Shape 107"/>
          <p:cNvSpPr/>
          <p:nvPr/>
        </p:nvSpPr>
        <p:spPr>
          <a:xfrm>
            <a:off x="3274911" y="2319144"/>
            <a:ext cx="149230" cy="149230"/>
          </a:xfrm>
          <a:prstGeom prst="ellipse">
            <a:avLst/>
          </a:prstGeom>
          <a:solidFill>
            <a:srgbClr val="3FA3C9"/>
          </a:solidFill>
          <a:ln w="9525">
            <a:solidFill>
              <a:srgbClr val="1F6E8C"/>
            </a:solidFill>
            <a:prstDash val="solid"/>
          </a:ln>
        </p:spPr>
      </p:sp>
      <p:sp>
        <p:nvSpPr>
          <p:cNvPr id="110" name="Shape 108"/>
          <p:cNvSpPr/>
          <p:nvPr/>
        </p:nvSpPr>
        <p:spPr>
          <a:xfrm>
            <a:off x="3442270" y="2315233"/>
            <a:ext cx="149230" cy="149230"/>
          </a:xfrm>
          <a:prstGeom prst="ellipse">
            <a:avLst/>
          </a:prstGeom>
          <a:solidFill>
            <a:srgbClr val="3FA3C9"/>
          </a:solidFill>
          <a:ln w="9525">
            <a:solidFill>
              <a:srgbClr val="1F6E8C"/>
            </a:solidFill>
            <a:prstDash val="solid"/>
          </a:ln>
        </p:spPr>
      </p:sp>
      <p:sp>
        <p:nvSpPr>
          <p:cNvPr id="111" name="Shape 109"/>
          <p:cNvSpPr/>
          <p:nvPr/>
        </p:nvSpPr>
        <p:spPr>
          <a:xfrm>
            <a:off x="3605859" y="2321196"/>
            <a:ext cx="149230" cy="149230"/>
          </a:xfrm>
          <a:prstGeom prst="ellipse">
            <a:avLst/>
          </a:prstGeom>
          <a:solidFill>
            <a:srgbClr val="3FA3C9"/>
          </a:solidFill>
          <a:ln w="9525">
            <a:solidFill>
              <a:srgbClr val="1F6E8C"/>
            </a:solidFill>
            <a:prstDash val="solid"/>
          </a:ln>
        </p:spPr>
      </p:sp>
      <p:sp>
        <p:nvSpPr>
          <p:cNvPr id="112" name="Shape 110"/>
          <p:cNvSpPr/>
          <p:nvPr/>
        </p:nvSpPr>
        <p:spPr>
          <a:xfrm>
            <a:off x="3770171" y="2301970"/>
            <a:ext cx="149230" cy="149230"/>
          </a:xfrm>
          <a:prstGeom prst="ellipse">
            <a:avLst/>
          </a:prstGeom>
          <a:solidFill>
            <a:srgbClr val="3FA3C9"/>
          </a:solidFill>
          <a:ln w="9525">
            <a:solidFill>
              <a:srgbClr val="1F6E8C"/>
            </a:solidFill>
            <a:prstDash val="solid"/>
          </a:ln>
        </p:spPr>
      </p:sp>
      <p:sp>
        <p:nvSpPr>
          <p:cNvPr id="113" name="Shape 111"/>
          <p:cNvSpPr/>
          <p:nvPr/>
        </p:nvSpPr>
        <p:spPr>
          <a:xfrm>
            <a:off x="2649033" y="2167019"/>
            <a:ext cx="149230" cy="149230"/>
          </a:xfrm>
          <a:prstGeom prst="ellipse">
            <a:avLst/>
          </a:prstGeom>
          <a:solidFill>
            <a:srgbClr val="3FA3C9"/>
          </a:solidFill>
          <a:ln w="9525">
            <a:solidFill>
              <a:srgbClr val="1F6E8C"/>
            </a:solidFill>
            <a:prstDash val="solid"/>
          </a:ln>
        </p:spPr>
      </p:sp>
      <p:sp>
        <p:nvSpPr>
          <p:cNvPr id="114" name="Shape 112"/>
          <p:cNvSpPr/>
          <p:nvPr/>
        </p:nvSpPr>
        <p:spPr>
          <a:xfrm>
            <a:off x="2830193" y="2176027"/>
            <a:ext cx="149230" cy="149230"/>
          </a:xfrm>
          <a:prstGeom prst="ellipse">
            <a:avLst/>
          </a:prstGeom>
          <a:solidFill>
            <a:srgbClr val="3FA3C9"/>
          </a:solidFill>
          <a:ln w="9525">
            <a:solidFill>
              <a:srgbClr val="1F6E8C"/>
            </a:solidFill>
            <a:prstDash val="solid"/>
          </a:ln>
        </p:spPr>
      </p:sp>
      <p:sp>
        <p:nvSpPr>
          <p:cNvPr id="115" name="Shape 113"/>
          <p:cNvSpPr/>
          <p:nvPr/>
        </p:nvSpPr>
        <p:spPr>
          <a:xfrm>
            <a:off x="3019841" y="2172009"/>
            <a:ext cx="149230" cy="149230"/>
          </a:xfrm>
          <a:prstGeom prst="ellipse">
            <a:avLst/>
          </a:prstGeom>
          <a:solidFill>
            <a:srgbClr val="3FA3C9"/>
          </a:solidFill>
          <a:ln w="9525">
            <a:solidFill>
              <a:srgbClr val="1F6E8C"/>
            </a:solidFill>
            <a:prstDash val="solid"/>
          </a:ln>
        </p:spPr>
      </p:sp>
      <p:sp>
        <p:nvSpPr>
          <p:cNvPr id="116" name="Shape 114"/>
          <p:cNvSpPr/>
          <p:nvPr/>
        </p:nvSpPr>
        <p:spPr>
          <a:xfrm>
            <a:off x="3527294" y="2169931"/>
            <a:ext cx="149230" cy="149230"/>
          </a:xfrm>
          <a:prstGeom prst="ellipse">
            <a:avLst/>
          </a:prstGeom>
          <a:solidFill>
            <a:srgbClr val="3FA3C9"/>
          </a:solidFill>
          <a:ln w="9525">
            <a:solidFill>
              <a:srgbClr val="1F6E8C"/>
            </a:solidFill>
            <a:prstDash val="solid"/>
          </a:ln>
        </p:spPr>
      </p:sp>
      <p:sp>
        <p:nvSpPr>
          <p:cNvPr id="117" name="Shape 115"/>
          <p:cNvSpPr/>
          <p:nvPr/>
        </p:nvSpPr>
        <p:spPr>
          <a:xfrm>
            <a:off x="2617401" y="2015091"/>
            <a:ext cx="149230" cy="149230"/>
          </a:xfrm>
          <a:prstGeom prst="ellipse">
            <a:avLst/>
          </a:prstGeom>
          <a:solidFill>
            <a:srgbClr val="3FA3C9"/>
          </a:solidFill>
          <a:ln w="9525">
            <a:solidFill>
              <a:srgbClr val="1F6E8C"/>
            </a:solidFill>
            <a:prstDash val="solid"/>
          </a:ln>
        </p:spPr>
      </p:sp>
      <p:sp>
        <p:nvSpPr>
          <p:cNvPr id="118" name="Shape 116"/>
          <p:cNvSpPr/>
          <p:nvPr/>
        </p:nvSpPr>
        <p:spPr>
          <a:xfrm>
            <a:off x="2771712" y="2022416"/>
            <a:ext cx="149230" cy="149230"/>
          </a:xfrm>
          <a:prstGeom prst="ellipse">
            <a:avLst/>
          </a:prstGeom>
          <a:solidFill>
            <a:srgbClr val="3FA3C9"/>
          </a:solidFill>
          <a:ln w="9525">
            <a:solidFill>
              <a:srgbClr val="1F6E8C"/>
            </a:solidFill>
            <a:prstDash val="solid"/>
          </a:ln>
        </p:spPr>
      </p:sp>
      <p:sp>
        <p:nvSpPr>
          <p:cNvPr id="119" name="Shape 117"/>
          <p:cNvSpPr/>
          <p:nvPr/>
        </p:nvSpPr>
        <p:spPr>
          <a:xfrm>
            <a:off x="2953929" y="2010093"/>
            <a:ext cx="149230" cy="149230"/>
          </a:xfrm>
          <a:prstGeom prst="ellipse">
            <a:avLst/>
          </a:prstGeom>
          <a:solidFill>
            <a:srgbClr val="3FA3C9"/>
          </a:solidFill>
          <a:ln w="9525">
            <a:solidFill>
              <a:srgbClr val="1F6E8C"/>
            </a:solidFill>
            <a:prstDash val="solid"/>
          </a:ln>
        </p:spPr>
      </p:sp>
      <p:sp>
        <p:nvSpPr>
          <p:cNvPr id="120" name="Shape 118"/>
          <p:cNvSpPr/>
          <p:nvPr/>
        </p:nvSpPr>
        <p:spPr>
          <a:xfrm>
            <a:off x="3108566" y="2025328"/>
            <a:ext cx="149230" cy="149230"/>
          </a:xfrm>
          <a:prstGeom prst="ellipse">
            <a:avLst/>
          </a:prstGeom>
          <a:solidFill>
            <a:srgbClr val="3FA3C9"/>
          </a:solidFill>
          <a:ln w="9525">
            <a:solidFill>
              <a:srgbClr val="1F6E8C"/>
            </a:solidFill>
            <a:prstDash val="solid"/>
          </a:ln>
        </p:spPr>
      </p:sp>
      <p:sp>
        <p:nvSpPr>
          <p:cNvPr id="121" name="Shape 119"/>
          <p:cNvSpPr/>
          <p:nvPr/>
        </p:nvSpPr>
        <p:spPr>
          <a:xfrm>
            <a:off x="3275353" y="2023895"/>
            <a:ext cx="149230" cy="149230"/>
          </a:xfrm>
          <a:prstGeom prst="ellipse">
            <a:avLst/>
          </a:prstGeom>
          <a:solidFill>
            <a:srgbClr val="3FA3C9"/>
          </a:solidFill>
          <a:ln w="9525">
            <a:solidFill>
              <a:srgbClr val="1F6E8C"/>
            </a:solidFill>
            <a:prstDash val="solid"/>
          </a:ln>
        </p:spPr>
      </p:sp>
      <p:sp>
        <p:nvSpPr>
          <p:cNvPr id="122" name="Shape 120"/>
          <p:cNvSpPr/>
          <p:nvPr/>
        </p:nvSpPr>
        <p:spPr>
          <a:xfrm>
            <a:off x="3431271" y="1987290"/>
            <a:ext cx="149230" cy="149230"/>
          </a:xfrm>
          <a:prstGeom prst="ellipse">
            <a:avLst/>
          </a:prstGeom>
          <a:solidFill>
            <a:srgbClr val="3FA3C9"/>
          </a:solidFill>
          <a:ln w="9525">
            <a:solidFill>
              <a:srgbClr val="1F6E8C"/>
            </a:solidFill>
            <a:prstDash val="solid"/>
          </a:ln>
        </p:spPr>
      </p:sp>
      <p:sp>
        <p:nvSpPr>
          <p:cNvPr id="123" name="Shape 121"/>
          <p:cNvSpPr/>
          <p:nvPr/>
        </p:nvSpPr>
        <p:spPr>
          <a:xfrm>
            <a:off x="3593753" y="2000695"/>
            <a:ext cx="149230" cy="149230"/>
          </a:xfrm>
          <a:prstGeom prst="ellipse">
            <a:avLst/>
          </a:prstGeom>
          <a:solidFill>
            <a:srgbClr val="3FA3C9"/>
          </a:solidFill>
          <a:ln w="9525">
            <a:solidFill>
              <a:srgbClr val="1F6E8C"/>
            </a:solidFill>
            <a:prstDash val="solid"/>
          </a:ln>
        </p:spPr>
      </p:sp>
      <p:sp>
        <p:nvSpPr>
          <p:cNvPr id="124" name="Shape 122"/>
          <p:cNvSpPr/>
          <p:nvPr/>
        </p:nvSpPr>
        <p:spPr>
          <a:xfrm>
            <a:off x="3774176" y="1997468"/>
            <a:ext cx="149230" cy="149230"/>
          </a:xfrm>
          <a:prstGeom prst="ellipse">
            <a:avLst/>
          </a:prstGeom>
          <a:solidFill>
            <a:srgbClr val="3FA3C9"/>
          </a:solidFill>
          <a:ln w="9525">
            <a:solidFill>
              <a:srgbClr val="1F6E8C"/>
            </a:solidFill>
            <a:prstDash val="solid"/>
          </a:ln>
        </p:spPr>
      </p:sp>
      <p:sp>
        <p:nvSpPr>
          <p:cNvPr id="125" name="Shape 123"/>
          <p:cNvSpPr/>
          <p:nvPr/>
        </p:nvSpPr>
        <p:spPr>
          <a:xfrm>
            <a:off x="2505920" y="1875387"/>
            <a:ext cx="149230" cy="149230"/>
          </a:xfrm>
          <a:prstGeom prst="ellipse">
            <a:avLst/>
          </a:prstGeom>
          <a:solidFill>
            <a:srgbClr val="3FA3C9"/>
          </a:solidFill>
          <a:ln w="9525">
            <a:solidFill>
              <a:srgbClr val="1F6E8C"/>
            </a:solidFill>
            <a:prstDash val="solid"/>
          </a:ln>
        </p:spPr>
      </p:sp>
      <p:sp>
        <p:nvSpPr>
          <p:cNvPr id="126" name="Shape 124"/>
          <p:cNvSpPr/>
          <p:nvPr/>
        </p:nvSpPr>
        <p:spPr>
          <a:xfrm>
            <a:off x="3035443" y="1834468"/>
            <a:ext cx="149230" cy="149230"/>
          </a:xfrm>
          <a:prstGeom prst="ellipse">
            <a:avLst/>
          </a:prstGeom>
          <a:solidFill>
            <a:srgbClr val="3FA3C9"/>
          </a:solidFill>
          <a:ln w="9525">
            <a:solidFill>
              <a:srgbClr val="1F6E8C"/>
            </a:solidFill>
            <a:prstDash val="solid"/>
          </a:ln>
        </p:spPr>
      </p:sp>
      <p:sp>
        <p:nvSpPr>
          <p:cNvPr id="127" name="Shape 125"/>
          <p:cNvSpPr/>
          <p:nvPr/>
        </p:nvSpPr>
        <p:spPr>
          <a:xfrm>
            <a:off x="3196743" y="1873905"/>
            <a:ext cx="149230" cy="149230"/>
          </a:xfrm>
          <a:prstGeom prst="ellipse">
            <a:avLst/>
          </a:prstGeom>
          <a:solidFill>
            <a:srgbClr val="3FA3C9"/>
          </a:solidFill>
          <a:ln w="9525">
            <a:solidFill>
              <a:srgbClr val="1F6E8C"/>
            </a:solidFill>
            <a:prstDash val="solid"/>
          </a:ln>
        </p:spPr>
      </p:sp>
      <p:sp>
        <p:nvSpPr>
          <p:cNvPr id="128" name="Shape 126"/>
          <p:cNvSpPr/>
          <p:nvPr/>
        </p:nvSpPr>
        <p:spPr>
          <a:xfrm>
            <a:off x="3363895" y="1836194"/>
            <a:ext cx="149230" cy="149230"/>
          </a:xfrm>
          <a:prstGeom prst="ellipse">
            <a:avLst/>
          </a:prstGeom>
          <a:solidFill>
            <a:srgbClr val="3FA3C9"/>
          </a:solidFill>
          <a:ln w="9525">
            <a:solidFill>
              <a:srgbClr val="1F6E8C"/>
            </a:solidFill>
            <a:prstDash val="solid"/>
          </a:ln>
        </p:spPr>
      </p:sp>
      <p:sp>
        <p:nvSpPr>
          <p:cNvPr id="129" name="Shape 127"/>
          <p:cNvSpPr/>
          <p:nvPr/>
        </p:nvSpPr>
        <p:spPr>
          <a:xfrm>
            <a:off x="3526872" y="1837907"/>
            <a:ext cx="149230" cy="149230"/>
          </a:xfrm>
          <a:prstGeom prst="ellipse">
            <a:avLst/>
          </a:prstGeom>
          <a:solidFill>
            <a:srgbClr val="3FA3C9"/>
          </a:solidFill>
          <a:ln w="9525">
            <a:solidFill>
              <a:srgbClr val="1F6E8C"/>
            </a:solidFill>
            <a:prstDash val="solid"/>
          </a:ln>
        </p:spPr>
      </p:sp>
      <p:sp>
        <p:nvSpPr>
          <p:cNvPr id="130" name="Shape 128"/>
          <p:cNvSpPr/>
          <p:nvPr/>
        </p:nvSpPr>
        <p:spPr>
          <a:xfrm>
            <a:off x="3695832" y="1853484"/>
            <a:ext cx="149230" cy="149230"/>
          </a:xfrm>
          <a:prstGeom prst="ellipse">
            <a:avLst/>
          </a:prstGeom>
          <a:solidFill>
            <a:srgbClr val="3FA3C9"/>
          </a:solidFill>
          <a:ln w="9525">
            <a:solidFill>
              <a:srgbClr val="1F6E8C"/>
            </a:solidFill>
            <a:prstDash val="solid"/>
          </a:ln>
        </p:spPr>
      </p:sp>
      <p:sp>
        <p:nvSpPr>
          <p:cNvPr id="131" name="Text 129"/>
          <p:cNvSpPr/>
          <p:nvPr/>
        </p:nvSpPr>
        <p:spPr>
          <a:xfrm>
            <a:off x="2423160" y="3008376"/>
            <a:ext cx="15544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high density</a:t>
            </a:r>
            <a:endParaRPr lang="en-US" sz="1050" dirty="0"/>
          </a:p>
        </p:txBody>
      </p:sp>
      <p:sp>
        <p:nvSpPr>
          <p:cNvPr id="132" name="Text 130"/>
          <p:cNvSpPr/>
          <p:nvPr/>
        </p:nvSpPr>
        <p:spPr>
          <a:xfrm>
            <a:off x="4160520" y="1353312"/>
            <a:ext cx="1554480" cy="256032"/>
          </a:xfrm>
          <a:prstGeom prst="rect">
            <a:avLst/>
          </a:prstGeom>
          <a:noFill/>
          <a:ln/>
        </p:spPr>
        <p:txBody>
          <a:bodyPr wrap="square" lIns="0" tIns="0" rIns="0" bIns="0" rtlCol="0" anchor="ctr"/>
          <a:lstStyle/>
          <a:p>
            <a:pPr algn="ctr" indent="0" marL="0">
              <a:buNone/>
            </a:pPr>
            <a:r>
              <a:rPr lang="en-US" sz="1100" b="1" dirty="0">
                <a:solidFill>
                  <a:srgbClr val="9A5320"/>
                </a:solidFill>
                <a:latin typeface="Calibri" pitchFamily="34" charset="0"/>
                <a:ea typeface="Calibri" pitchFamily="34" charset="-122"/>
                <a:cs typeface="Calibri" pitchFamily="34" charset="-120"/>
              </a:rPr>
              <a:t>GAS</a:t>
            </a:r>
            <a:endParaRPr lang="en-US" sz="1100" dirty="0"/>
          </a:p>
        </p:txBody>
      </p:sp>
      <p:sp>
        <p:nvSpPr>
          <p:cNvPr id="133" name="Shape 131"/>
          <p:cNvSpPr/>
          <p:nvPr/>
        </p:nvSpPr>
        <p:spPr>
          <a:xfrm>
            <a:off x="4160520" y="1645920"/>
            <a:ext cx="1554480" cy="1325880"/>
          </a:xfrm>
          <a:prstGeom prst="rect">
            <a:avLst/>
          </a:prstGeom>
          <a:solidFill>
            <a:srgbClr val="FFFFFF"/>
          </a:solidFill>
          <a:ln w="15875">
            <a:solidFill>
              <a:srgbClr val="1A2340"/>
            </a:solidFill>
            <a:prstDash val="solid"/>
          </a:ln>
        </p:spPr>
      </p:sp>
      <p:sp>
        <p:nvSpPr>
          <p:cNvPr id="134" name="Shape 132"/>
          <p:cNvSpPr/>
          <p:nvPr/>
        </p:nvSpPr>
        <p:spPr>
          <a:xfrm>
            <a:off x="5111021" y="2527502"/>
            <a:ext cx="146304" cy="146304"/>
          </a:xfrm>
          <a:prstGeom prst="ellipse">
            <a:avLst/>
          </a:prstGeom>
          <a:solidFill>
            <a:srgbClr val="E0884A"/>
          </a:solidFill>
          <a:ln w="9525">
            <a:solidFill>
              <a:srgbClr val="9A5320"/>
            </a:solidFill>
            <a:prstDash val="solid"/>
          </a:ln>
        </p:spPr>
      </p:sp>
      <p:sp>
        <p:nvSpPr>
          <p:cNvPr id="135" name="Shape 133"/>
          <p:cNvSpPr/>
          <p:nvPr/>
        </p:nvSpPr>
        <p:spPr>
          <a:xfrm>
            <a:off x="5205969" y="2681906"/>
            <a:ext cx="62831" cy="234218"/>
          </a:xfrm>
          <a:prstGeom prst="line">
            <a:avLst/>
          </a:prstGeom>
          <a:noFill/>
          <a:ln w="12700">
            <a:solidFill>
              <a:srgbClr val="6B7385"/>
            </a:solidFill>
            <a:prstDash val="solid"/>
            <a:tailEnd type="triangle"/>
          </a:ln>
        </p:spPr>
      </p:sp>
      <p:sp>
        <p:nvSpPr>
          <p:cNvPr id="136" name="Shape 134"/>
          <p:cNvSpPr/>
          <p:nvPr/>
        </p:nvSpPr>
        <p:spPr>
          <a:xfrm>
            <a:off x="4500735" y="2367491"/>
            <a:ext cx="146304" cy="146304"/>
          </a:xfrm>
          <a:prstGeom prst="ellipse">
            <a:avLst/>
          </a:prstGeom>
          <a:solidFill>
            <a:srgbClr val="E0884A"/>
          </a:solidFill>
          <a:ln w="9525">
            <a:solidFill>
              <a:srgbClr val="9A5320"/>
            </a:solidFill>
            <a:prstDash val="solid"/>
          </a:ln>
        </p:spPr>
      </p:sp>
      <p:sp>
        <p:nvSpPr>
          <p:cNvPr id="137" name="Shape 135"/>
          <p:cNvSpPr/>
          <p:nvPr/>
        </p:nvSpPr>
        <p:spPr>
          <a:xfrm>
            <a:off x="4634018" y="2499475"/>
            <a:ext cx="120905" cy="118293"/>
          </a:xfrm>
          <a:prstGeom prst="line">
            <a:avLst/>
          </a:prstGeom>
          <a:noFill/>
          <a:ln w="12700">
            <a:solidFill>
              <a:srgbClr val="6B7385"/>
            </a:solidFill>
            <a:prstDash val="solid"/>
            <a:tailEnd type="triangle"/>
          </a:ln>
        </p:spPr>
      </p:sp>
      <p:sp>
        <p:nvSpPr>
          <p:cNvPr id="138" name="Shape 136"/>
          <p:cNvSpPr/>
          <p:nvPr/>
        </p:nvSpPr>
        <p:spPr>
          <a:xfrm>
            <a:off x="5391286" y="1946238"/>
            <a:ext cx="146304" cy="146304"/>
          </a:xfrm>
          <a:prstGeom prst="ellipse">
            <a:avLst/>
          </a:prstGeom>
          <a:solidFill>
            <a:srgbClr val="E0884A"/>
          </a:solidFill>
          <a:ln w="9525">
            <a:solidFill>
              <a:srgbClr val="9A5320"/>
            </a:solidFill>
            <a:prstDash val="solid"/>
          </a:ln>
        </p:spPr>
      </p:sp>
      <p:sp>
        <p:nvSpPr>
          <p:cNvPr id="139" name="Shape 137"/>
          <p:cNvSpPr/>
          <p:nvPr/>
        </p:nvSpPr>
        <p:spPr>
          <a:xfrm>
            <a:off x="5466831" y="2103481"/>
            <a:ext cx="5602" cy="196875"/>
          </a:xfrm>
          <a:prstGeom prst="line">
            <a:avLst/>
          </a:prstGeom>
          <a:noFill/>
          <a:ln w="12700">
            <a:solidFill>
              <a:srgbClr val="6B7385"/>
            </a:solidFill>
            <a:prstDash val="solid"/>
            <a:tailEnd type="triangle"/>
          </a:ln>
        </p:spPr>
      </p:sp>
      <p:sp>
        <p:nvSpPr>
          <p:cNvPr id="140" name="Shape 138"/>
          <p:cNvSpPr/>
          <p:nvPr/>
        </p:nvSpPr>
        <p:spPr>
          <a:xfrm>
            <a:off x="4544642" y="1721131"/>
            <a:ext cx="146304" cy="146304"/>
          </a:xfrm>
          <a:prstGeom prst="ellipse">
            <a:avLst/>
          </a:prstGeom>
          <a:solidFill>
            <a:srgbClr val="E0884A"/>
          </a:solidFill>
          <a:ln w="9525">
            <a:solidFill>
              <a:srgbClr val="9A5320"/>
            </a:solidFill>
            <a:prstDash val="solid"/>
          </a:ln>
        </p:spPr>
      </p:sp>
      <p:sp>
        <p:nvSpPr>
          <p:cNvPr id="141" name="Shape 139"/>
          <p:cNvSpPr/>
          <p:nvPr/>
        </p:nvSpPr>
        <p:spPr>
          <a:xfrm flipH="1">
            <a:off x="4525292" y="1871058"/>
            <a:ext cx="58112" cy="129737"/>
          </a:xfrm>
          <a:prstGeom prst="line">
            <a:avLst/>
          </a:prstGeom>
          <a:noFill/>
          <a:ln w="12700">
            <a:solidFill>
              <a:srgbClr val="6B7385"/>
            </a:solidFill>
            <a:prstDash val="solid"/>
            <a:tailEnd type="triangle"/>
          </a:ln>
        </p:spPr>
      </p:sp>
      <p:sp>
        <p:nvSpPr>
          <p:cNvPr id="142" name="Text 140"/>
          <p:cNvSpPr/>
          <p:nvPr/>
        </p:nvSpPr>
        <p:spPr>
          <a:xfrm>
            <a:off x="4160520" y="3008376"/>
            <a:ext cx="15544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very low density</a:t>
            </a:r>
            <a:endParaRPr lang="en-US" sz="1050" dirty="0"/>
          </a:p>
        </p:txBody>
      </p:sp>
      <p:sp>
        <p:nvSpPr>
          <p:cNvPr id="143" name="Shape 141"/>
          <p:cNvSpPr/>
          <p:nvPr/>
        </p:nvSpPr>
        <p:spPr>
          <a:xfrm>
            <a:off x="2286000" y="2286000"/>
            <a:ext cx="91440" cy="91"/>
          </a:xfrm>
          <a:prstGeom prst="line">
            <a:avLst/>
          </a:prstGeom>
          <a:noFill/>
          <a:ln w="25400">
            <a:solidFill>
              <a:srgbClr val="C8414C"/>
            </a:solidFill>
            <a:prstDash val="solid"/>
            <a:tailEnd type="triangle"/>
          </a:ln>
        </p:spPr>
      </p:sp>
      <p:sp>
        <p:nvSpPr>
          <p:cNvPr id="144" name="Shape 142"/>
          <p:cNvSpPr/>
          <p:nvPr/>
        </p:nvSpPr>
        <p:spPr>
          <a:xfrm>
            <a:off x="4023360" y="2286000"/>
            <a:ext cx="91440" cy="91"/>
          </a:xfrm>
          <a:prstGeom prst="line">
            <a:avLst/>
          </a:prstGeom>
          <a:noFill/>
          <a:ln w="25400">
            <a:solidFill>
              <a:srgbClr val="C8414C"/>
            </a:solidFill>
            <a:prstDash val="solid"/>
            <a:tailEnd type="triangle"/>
          </a:ln>
        </p:spPr>
      </p:sp>
      <p:sp>
        <p:nvSpPr>
          <p:cNvPr id="145" name="Shape 143"/>
          <p:cNvSpPr/>
          <p:nvPr/>
        </p:nvSpPr>
        <p:spPr>
          <a:xfrm>
            <a:off x="685800" y="3520440"/>
            <a:ext cx="5029200" cy="1691640"/>
          </a:xfrm>
          <a:prstGeom prst="roundRect">
            <a:avLst>
              <a:gd name="adj" fmla="val 2703"/>
            </a:avLst>
          </a:prstGeom>
          <a:solidFill>
            <a:srgbClr val="FFFFFF"/>
          </a:solidFill>
          <a:ln w="12700">
            <a:solidFill>
              <a:srgbClr val="D5DCEB"/>
            </a:solidFill>
            <a:prstDash val="solid"/>
          </a:ln>
        </p:spPr>
      </p:sp>
      <p:sp>
        <p:nvSpPr>
          <p:cNvPr id="146" name="Text 144"/>
          <p:cNvSpPr/>
          <p:nvPr/>
        </p:nvSpPr>
        <p:spPr>
          <a:xfrm>
            <a:off x="822960" y="3584448"/>
            <a:ext cx="4754880" cy="274320"/>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Heating increases the </a:t>
            </a:r>
            <a:r>
              <a:rPr lang="en-US" sz="1100" b="1" dirty="0">
                <a:solidFill>
                  <a:srgbClr val="262B3A"/>
                </a:solidFill>
                <a:latin typeface="Calibri" pitchFamily="34" charset="0"/>
                <a:ea typeface="Calibri" pitchFamily="34" charset="-122"/>
                <a:cs typeface="Calibri" pitchFamily="34" charset="-120"/>
              </a:rPr>
              <a:t>internal energy</a:t>
            </a:r>
            <a:r>
              <a:rPr lang="en-US" sz="1100" b="1" dirty="0">
                <a:solidFill>
                  <a:srgbClr val="262B3A"/>
                </a:solidFill>
                <a:latin typeface="Calibri" pitchFamily="34" charset="0"/>
                <a:ea typeface="Calibri" pitchFamily="34" charset="-122"/>
                <a:cs typeface="Calibri" pitchFamily="34" charset="-120"/>
              </a:rPr>
              <a:t> (kinetic + potential energy of the particles)</a:t>
            </a:r>
            <a:endParaRPr lang="en-US" sz="1100" dirty="0"/>
          </a:p>
        </p:txBody>
      </p:sp>
      <p:sp>
        <p:nvSpPr>
          <p:cNvPr id="147" name="Shape 145"/>
          <p:cNvSpPr/>
          <p:nvPr/>
        </p:nvSpPr>
        <p:spPr>
          <a:xfrm>
            <a:off x="868680" y="3977640"/>
            <a:ext cx="2194560" cy="502920"/>
          </a:xfrm>
          <a:prstGeom prst="roundRect">
            <a:avLst>
              <a:gd name="adj" fmla="val 9091"/>
            </a:avLst>
          </a:prstGeom>
          <a:solidFill>
            <a:srgbClr val="FFFFFF"/>
          </a:solidFill>
          <a:ln w="15875">
            <a:solidFill>
              <a:srgbClr val="C8414C"/>
            </a:solidFill>
            <a:prstDash val="solid"/>
          </a:ln>
        </p:spPr>
      </p:sp>
      <p:sp>
        <p:nvSpPr>
          <p:cNvPr id="148" name="Text 146"/>
          <p:cNvSpPr/>
          <p:nvPr/>
        </p:nvSpPr>
        <p:spPr>
          <a:xfrm>
            <a:off x="905256" y="3977640"/>
            <a:ext cx="2121408" cy="502920"/>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heating</a:t>
            </a:r>
            <a:endParaRPr lang="en-US" sz="1050" dirty="0"/>
          </a:p>
        </p:txBody>
      </p:sp>
      <p:sp>
        <p:nvSpPr>
          <p:cNvPr id="149" name="Shape 147"/>
          <p:cNvSpPr/>
          <p:nvPr/>
        </p:nvSpPr>
        <p:spPr>
          <a:xfrm>
            <a:off x="3090672" y="4229100"/>
            <a:ext cx="219456" cy="91"/>
          </a:xfrm>
          <a:prstGeom prst="line">
            <a:avLst/>
          </a:prstGeom>
          <a:noFill/>
          <a:ln w="25400">
            <a:solidFill>
              <a:srgbClr val="C8414C"/>
            </a:solidFill>
            <a:prstDash val="solid"/>
            <a:tailEnd type="triangle"/>
          </a:ln>
        </p:spPr>
      </p:sp>
      <p:sp>
        <p:nvSpPr>
          <p:cNvPr id="150" name="Shape 148"/>
          <p:cNvSpPr/>
          <p:nvPr/>
        </p:nvSpPr>
        <p:spPr>
          <a:xfrm>
            <a:off x="3337560" y="3977640"/>
            <a:ext cx="2194560" cy="502920"/>
          </a:xfrm>
          <a:prstGeom prst="roundRect">
            <a:avLst>
              <a:gd name="adj" fmla="val 9091"/>
            </a:avLst>
          </a:prstGeom>
          <a:solidFill>
            <a:srgbClr val="FFFFFF"/>
          </a:solidFill>
          <a:ln w="15875">
            <a:solidFill>
              <a:srgbClr val="C8414C"/>
            </a:solidFill>
            <a:prstDash val="solid"/>
          </a:ln>
        </p:spPr>
      </p:sp>
      <p:sp>
        <p:nvSpPr>
          <p:cNvPr id="151" name="Text 149"/>
          <p:cNvSpPr/>
          <p:nvPr/>
        </p:nvSpPr>
        <p:spPr>
          <a:xfrm>
            <a:off x="3374136" y="3977640"/>
            <a:ext cx="2121408" cy="502920"/>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particles gain energy</a:t>
            </a:r>
            <a:endParaRPr lang="en-US" sz="1050" dirty="0"/>
          </a:p>
        </p:txBody>
      </p:sp>
      <p:sp>
        <p:nvSpPr>
          <p:cNvPr id="152" name="Shape 150"/>
          <p:cNvSpPr/>
          <p:nvPr/>
        </p:nvSpPr>
        <p:spPr>
          <a:xfrm>
            <a:off x="868680" y="4617720"/>
            <a:ext cx="2194560" cy="457200"/>
          </a:xfrm>
          <a:prstGeom prst="roundRect">
            <a:avLst>
              <a:gd name="adj" fmla="val 10000"/>
            </a:avLst>
          </a:prstGeom>
          <a:solidFill>
            <a:srgbClr val="FBE9E9"/>
          </a:solidFill>
          <a:ln w="12700">
            <a:solidFill>
              <a:srgbClr val="C8414C"/>
            </a:solidFill>
            <a:prstDash val="solid"/>
          </a:ln>
        </p:spPr>
      </p:sp>
      <p:sp>
        <p:nvSpPr>
          <p:cNvPr id="153" name="Text 151"/>
          <p:cNvSpPr/>
          <p:nvPr/>
        </p:nvSpPr>
        <p:spPr>
          <a:xfrm>
            <a:off x="868680" y="4617720"/>
            <a:ext cx="2194560" cy="45720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EITHER temperature rises</a:t>
            </a:r>
            <a:endParaRPr lang="en-US" sz="1000" dirty="0"/>
          </a:p>
          <a:p>
            <a:pPr algn="ctr" indent="0" marL="0">
              <a:buNone/>
            </a:pPr>
            <a:r>
              <a:rPr lang="en-US" sz="1000" b="1" dirty="0">
                <a:solidFill>
                  <a:srgbClr val="262B3A"/>
                </a:solidFill>
                <a:latin typeface="Calibri" pitchFamily="34" charset="0"/>
                <a:ea typeface="Calibri" pitchFamily="34" charset="-122"/>
                <a:cs typeface="Calibri" pitchFamily="34" charset="-120"/>
              </a:rPr>
              <a:t>(more kinetic energy)</a:t>
            </a:r>
            <a:endParaRPr lang="en-US" sz="1000" dirty="0"/>
          </a:p>
        </p:txBody>
      </p:sp>
      <p:sp>
        <p:nvSpPr>
          <p:cNvPr id="154" name="Shape 152"/>
          <p:cNvSpPr/>
          <p:nvPr/>
        </p:nvSpPr>
        <p:spPr>
          <a:xfrm>
            <a:off x="3337560" y="4617720"/>
            <a:ext cx="2194560" cy="457200"/>
          </a:xfrm>
          <a:prstGeom prst="roundRect">
            <a:avLst>
              <a:gd name="adj" fmla="val 10000"/>
            </a:avLst>
          </a:prstGeom>
          <a:solidFill>
            <a:srgbClr val="E6EEFB"/>
          </a:solidFill>
          <a:ln w="12700">
            <a:solidFill>
              <a:srgbClr val="2E5BD8"/>
            </a:solidFill>
            <a:prstDash val="solid"/>
          </a:ln>
        </p:spPr>
      </p:sp>
      <p:sp>
        <p:nvSpPr>
          <p:cNvPr id="155" name="Text 153"/>
          <p:cNvSpPr/>
          <p:nvPr/>
        </p:nvSpPr>
        <p:spPr>
          <a:xfrm>
            <a:off x="3337560" y="4617720"/>
            <a:ext cx="2194560" cy="45720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OR state changes</a:t>
            </a:r>
            <a:endParaRPr lang="en-US" sz="1000" dirty="0"/>
          </a:p>
          <a:p>
            <a:pPr algn="ctr" indent="0" marL="0">
              <a:buNone/>
            </a:pPr>
            <a:r>
              <a:rPr lang="en-US" sz="1000" b="1" dirty="0">
                <a:solidFill>
                  <a:srgbClr val="262B3A"/>
                </a:solidFill>
                <a:latin typeface="Calibri" pitchFamily="34" charset="0"/>
                <a:ea typeface="Calibri" pitchFamily="34" charset="-122"/>
                <a:cs typeface="Calibri" pitchFamily="34" charset="-120"/>
              </a:rPr>
              <a:t>(more potential energy)</a:t>
            </a:r>
            <a:endParaRPr lang="en-US" sz="1000" dirty="0"/>
          </a:p>
        </p:txBody>
      </p:sp>
      <p:sp>
        <p:nvSpPr>
          <p:cNvPr id="156" name="Shape 154"/>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57" name="Text 15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What you already know (P6.1)</a:t>
            </a:r>
            <a:endParaRPr lang="en-US" sz="1300" dirty="0"/>
          </a:p>
        </p:txBody>
      </p:sp>
      <p:sp>
        <p:nvSpPr>
          <p:cNvPr id="158" name="Text 156"/>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Density:</a:t>
            </a:r>
            <a:r>
              <a:rPr lang="en-US" sz="1100" dirty="0">
                <a:solidFill>
                  <a:srgbClr val="262B3A"/>
                </a:solidFill>
                <a:latin typeface="Calibri" pitchFamily="34" charset="0"/>
                <a:ea typeface="Calibri" pitchFamily="34" charset="-122"/>
                <a:cs typeface="Calibri" pitchFamily="34" charset="-120"/>
              </a:rPr>
              <a:t> solid and liquid particles touch; gas particles are far apart, so a gas has a much lower density.</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Mass is conserved</a:t>
            </a:r>
            <a:r>
              <a:rPr lang="en-US" sz="1100" dirty="0">
                <a:solidFill>
                  <a:srgbClr val="262B3A"/>
                </a:solidFill>
                <a:latin typeface="Calibri" pitchFamily="34" charset="0"/>
                <a:ea typeface="Calibri" pitchFamily="34" charset="-122"/>
                <a:cs typeface="Calibri" pitchFamily="34" charset="-120"/>
              </a:rPr>
              <a:t> when a substance melts, freezes, evaporates, condenses or sublimates: the same particles are rearranged.</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These are </a:t>
            </a:r>
            <a:r>
              <a:rPr lang="en-US" sz="1100" b="1" dirty="0">
                <a:solidFill>
                  <a:srgbClr val="262B3A"/>
                </a:solidFill>
                <a:latin typeface="Calibri" pitchFamily="34" charset="0"/>
                <a:ea typeface="Calibri" pitchFamily="34" charset="-122"/>
                <a:cs typeface="Calibri" pitchFamily="34" charset="-120"/>
              </a:rPr>
              <a:t>physical changes</a:t>
            </a:r>
            <a:r>
              <a:rPr lang="en-US" sz="1100" dirty="0">
                <a:solidFill>
                  <a:srgbClr val="262B3A"/>
                </a:solidFill>
                <a:latin typeface="Calibri" pitchFamily="34" charset="0"/>
                <a:ea typeface="Calibri" pitchFamily="34" charset="-122"/>
                <a:cs typeface="Calibri" pitchFamily="34" charset="-120"/>
              </a:rPr>
              <a:t>: reverse them and the material recovers its original properties.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Internal energy</a:t>
            </a:r>
            <a:r>
              <a:rPr lang="en-US" sz="1100" dirty="0">
                <a:solidFill>
                  <a:srgbClr val="262B3A"/>
                </a:solidFill>
                <a:latin typeface="Calibri" pitchFamily="34" charset="0"/>
                <a:ea typeface="Calibri" pitchFamily="34" charset="-122"/>
                <a:cs typeface="Calibri" pitchFamily="34" charset="-120"/>
              </a:rPr>
              <a:t> = total kinetic + potential energy of the particles.</a:t>
            </a:r>
            <a:endParaRPr lang="en-US" sz="1100" dirty="0"/>
          </a:p>
        </p:txBody>
      </p:sp>
      <p:sp>
        <p:nvSpPr>
          <p:cNvPr id="159" name="Shape 157"/>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60" name="Text 158"/>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Today: what is new</a:t>
            </a:r>
            <a:endParaRPr lang="en-US" sz="1300" dirty="0"/>
          </a:p>
        </p:txBody>
      </p:sp>
      <p:sp>
        <p:nvSpPr>
          <p:cNvPr id="161" name="Text 159"/>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Now we zoom in on the gas state.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Gas particles   </a:t>
            </a:r>
            <a:r>
              <a:rPr lang="en-US" sz="1050" dirty="0">
                <a:solidFill>
                  <a:srgbClr val="262B3A"/>
                </a:solidFill>
                <a:latin typeface="Calibri" pitchFamily="34" charset="0"/>
                <a:ea typeface="Calibri" pitchFamily="34" charset="-122"/>
                <a:cs typeface="Calibri" pitchFamily="34" charset="-120"/>
              </a:rPr>
              <a:t>how their motion causes pressure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Temperature   </a:t>
            </a:r>
            <a:r>
              <a:rPr lang="en-US" sz="1050" dirty="0">
                <a:solidFill>
                  <a:srgbClr val="262B3A"/>
                </a:solidFill>
                <a:latin typeface="Calibri" pitchFamily="34" charset="0"/>
                <a:ea typeface="Calibri" pitchFamily="34" charset="-122"/>
                <a:cs typeface="Calibri" pitchFamily="34" charset="-120"/>
              </a:rPr>
              <a:t>linked to particle speed and kinetic energy</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Heating a gas   </a:t>
            </a:r>
            <a:r>
              <a:rPr lang="en-US" sz="1050" dirty="0">
                <a:solidFill>
                  <a:srgbClr val="262B3A"/>
                </a:solidFill>
                <a:latin typeface="Calibri" pitchFamily="34" charset="0"/>
                <a:ea typeface="Calibri" pitchFamily="34" charset="-122"/>
                <a:cs typeface="Calibri" pitchFamily="34" charset="-120"/>
              </a:rPr>
              <a:t>why its pressure rises; absolute zero</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HT   </a:t>
            </a:r>
            <a:r>
              <a:rPr lang="en-US" sz="1050" b="1" dirty="0">
                <a:solidFill>
                  <a:srgbClr val="C8414C"/>
                </a:solidFill>
                <a:latin typeface="Calibri" pitchFamily="34" charset="0"/>
                <a:ea typeface="Calibri" pitchFamily="34" charset="-122"/>
                <a:cs typeface="Calibri" pitchFamily="34" charset="-120"/>
              </a:rPr>
              <a:t>p × V = constant and work done on a gas</a:t>
            </a:r>
            <a:endParaRPr lang="en-US" sz="1050" dirty="0"/>
          </a:p>
        </p:txBody>
      </p:sp>
      <p:sp>
        <p:nvSpPr>
          <p:cNvPr id="162" name="Shape 160"/>
          <p:cNvSpPr/>
          <p:nvPr/>
        </p:nvSpPr>
        <p:spPr>
          <a:xfrm>
            <a:off x="411480" y="5833872"/>
            <a:ext cx="11368735" cy="530352"/>
          </a:xfrm>
          <a:prstGeom prst="rect">
            <a:avLst/>
          </a:prstGeom>
          <a:solidFill>
            <a:srgbClr val="FFF4E0"/>
          </a:solidFill>
          <a:ln w="6350">
            <a:solidFill>
              <a:srgbClr val="F1D9A8"/>
            </a:solidFill>
            <a:prstDash val="solid"/>
          </a:ln>
        </p:spPr>
      </p:sp>
      <p:sp>
        <p:nvSpPr>
          <p:cNvPr id="163" name="Shape 161"/>
          <p:cNvSpPr/>
          <p:nvPr/>
        </p:nvSpPr>
        <p:spPr>
          <a:xfrm>
            <a:off x="411480" y="5833872"/>
            <a:ext cx="82296" cy="530352"/>
          </a:xfrm>
          <a:prstGeom prst="rect">
            <a:avLst/>
          </a:prstGeom>
          <a:solidFill>
            <a:srgbClr val="E39A2F"/>
          </a:solidFill>
          <a:ln w="12700">
            <a:solidFill>
              <a:srgbClr val="E39A2F"/>
            </a:solidFill>
            <a:prstDash val="solid"/>
          </a:ln>
        </p:spPr>
      </p:sp>
      <p:sp>
        <p:nvSpPr>
          <p:cNvPr id="164" name="Text 16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Heating a beaker of water at 100 °C does not raise its temperature. What happens to the internal energy, and where does it go?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How gas particles cause pressure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P6.2.4 • particles hitting the walls of their container push on them</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P6.2.4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gas in a closed box; zoom on one collision with the right-hand wall</a:t>
            </a:r>
            <a:endParaRPr lang="en-US" sz="1000" dirty="0"/>
          </a:p>
        </p:txBody>
      </p:sp>
      <p:sp>
        <p:nvSpPr>
          <p:cNvPr id="10" name="Shape 8"/>
          <p:cNvSpPr/>
          <p:nvPr/>
        </p:nvSpPr>
        <p:spPr>
          <a:xfrm>
            <a:off x="731520" y="1554480"/>
            <a:ext cx="2468880" cy="2468880"/>
          </a:xfrm>
          <a:prstGeom prst="rect">
            <a:avLst/>
          </a:prstGeom>
          <a:solidFill>
            <a:srgbClr val="FFFFFF"/>
          </a:solidFill>
          <a:ln w="19050">
            <a:solidFill>
              <a:srgbClr val="1A2340"/>
            </a:solidFill>
            <a:prstDash val="solid"/>
          </a:ln>
        </p:spPr>
      </p:sp>
      <p:sp>
        <p:nvSpPr>
          <p:cNvPr id="11" name="Shape 9"/>
          <p:cNvSpPr/>
          <p:nvPr/>
        </p:nvSpPr>
        <p:spPr>
          <a:xfrm>
            <a:off x="1742979" y="2598551"/>
            <a:ext cx="146304" cy="146304"/>
          </a:xfrm>
          <a:prstGeom prst="ellipse">
            <a:avLst/>
          </a:prstGeom>
          <a:solidFill>
            <a:srgbClr val="E0884A"/>
          </a:solidFill>
          <a:ln w="9525">
            <a:solidFill>
              <a:srgbClr val="9A5320"/>
            </a:solidFill>
            <a:prstDash val="solid"/>
          </a:ln>
        </p:spPr>
      </p:sp>
      <p:sp>
        <p:nvSpPr>
          <p:cNvPr id="12" name="Shape 10"/>
          <p:cNvSpPr/>
          <p:nvPr/>
        </p:nvSpPr>
        <p:spPr>
          <a:xfrm flipH="1" flipV="1">
            <a:off x="1770609" y="2393474"/>
            <a:ext cx="31939" cy="195209"/>
          </a:xfrm>
          <a:prstGeom prst="line">
            <a:avLst/>
          </a:prstGeom>
          <a:noFill/>
          <a:ln w="12700">
            <a:solidFill>
              <a:srgbClr val="6B7385"/>
            </a:solidFill>
            <a:prstDash val="solid"/>
            <a:tailEnd type="triangle"/>
          </a:ln>
        </p:spPr>
      </p:sp>
      <p:sp>
        <p:nvSpPr>
          <p:cNvPr id="13" name="Shape 11"/>
          <p:cNvSpPr/>
          <p:nvPr/>
        </p:nvSpPr>
        <p:spPr>
          <a:xfrm>
            <a:off x="1841269" y="3583180"/>
            <a:ext cx="146304" cy="146304"/>
          </a:xfrm>
          <a:prstGeom prst="ellipse">
            <a:avLst/>
          </a:prstGeom>
          <a:solidFill>
            <a:srgbClr val="E0884A"/>
          </a:solidFill>
          <a:ln w="9525">
            <a:solidFill>
              <a:srgbClr val="9A5320"/>
            </a:solidFill>
            <a:prstDash val="solid"/>
          </a:ln>
        </p:spPr>
      </p:sp>
      <p:sp>
        <p:nvSpPr>
          <p:cNvPr id="14" name="Shape 12"/>
          <p:cNvSpPr/>
          <p:nvPr/>
        </p:nvSpPr>
        <p:spPr>
          <a:xfrm flipV="1">
            <a:off x="1932991" y="3326945"/>
            <a:ext cx="55979" cy="247338"/>
          </a:xfrm>
          <a:prstGeom prst="line">
            <a:avLst/>
          </a:prstGeom>
          <a:noFill/>
          <a:ln w="12700">
            <a:solidFill>
              <a:srgbClr val="6B7385"/>
            </a:solidFill>
            <a:prstDash val="solid"/>
            <a:tailEnd type="triangle"/>
          </a:ln>
        </p:spPr>
      </p:sp>
      <p:sp>
        <p:nvSpPr>
          <p:cNvPr id="15" name="Shape 13"/>
          <p:cNvSpPr/>
          <p:nvPr/>
        </p:nvSpPr>
        <p:spPr>
          <a:xfrm>
            <a:off x="2711747" y="2374547"/>
            <a:ext cx="146304" cy="146304"/>
          </a:xfrm>
          <a:prstGeom prst="ellipse">
            <a:avLst/>
          </a:prstGeom>
          <a:solidFill>
            <a:srgbClr val="E0884A"/>
          </a:solidFill>
          <a:ln w="9525">
            <a:solidFill>
              <a:srgbClr val="9A5320"/>
            </a:solidFill>
            <a:prstDash val="solid"/>
          </a:ln>
        </p:spPr>
      </p:sp>
      <p:sp>
        <p:nvSpPr>
          <p:cNvPr id="16" name="Shape 14"/>
          <p:cNvSpPr/>
          <p:nvPr/>
        </p:nvSpPr>
        <p:spPr>
          <a:xfrm>
            <a:off x="2803515" y="2529738"/>
            <a:ext cx="51349" cy="226293"/>
          </a:xfrm>
          <a:prstGeom prst="line">
            <a:avLst/>
          </a:prstGeom>
          <a:noFill/>
          <a:ln w="12700">
            <a:solidFill>
              <a:srgbClr val="6B7385"/>
            </a:solidFill>
            <a:prstDash val="solid"/>
            <a:tailEnd type="triangle"/>
          </a:ln>
        </p:spPr>
      </p:sp>
      <p:sp>
        <p:nvSpPr>
          <p:cNvPr id="17" name="Shape 15"/>
          <p:cNvSpPr/>
          <p:nvPr/>
        </p:nvSpPr>
        <p:spPr>
          <a:xfrm>
            <a:off x="1204300" y="2362172"/>
            <a:ext cx="146304" cy="146304"/>
          </a:xfrm>
          <a:prstGeom prst="ellipse">
            <a:avLst/>
          </a:prstGeom>
          <a:solidFill>
            <a:srgbClr val="E0884A"/>
          </a:solidFill>
          <a:ln w="9525">
            <a:solidFill>
              <a:srgbClr val="9A5320"/>
            </a:solidFill>
            <a:prstDash val="solid"/>
          </a:ln>
        </p:spPr>
      </p:sp>
      <p:sp>
        <p:nvSpPr>
          <p:cNvPr id="18" name="Shape 16"/>
          <p:cNvSpPr/>
          <p:nvPr/>
        </p:nvSpPr>
        <p:spPr>
          <a:xfrm flipV="1">
            <a:off x="1323357" y="2109397"/>
            <a:ext cx="166332" cy="255432"/>
          </a:xfrm>
          <a:prstGeom prst="line">
            <a:avLst/>
          </a:prstGeom>
          <a:noFill/>
          <a:ln w="12700">
            <a:solidFill>
              <a:srgbClr val="6B7385"/>
            </a:solidFill>
            <a:prstDash val="solid"/>
            <a:tailEnd type="triangle"/>
          </a:ln>
        </p:spPr>
      </p:sp>
      <p:sp>
        <p:nvSpPr>
          <p:cNvPr id="19" name="Shape 17"/>
          <p:cNvSpPr/>
          <p:nvPr/>
        </p:nvSpPr>
        <p:spPr>
          <a:xfrm>
            <a:off x="1000916" y="3636441"/>
            <a:ext cx="146304" cy="146304"/>
          </a:xfrm>
          <a:prstGeom prst="ellipse">
            <a:avLst/>
          </a:prstGeom>
          <a:solidFill>
            <a:srgbClr val="E0884A"/>
          </a:solidFill>
          <a:ln w="9525">
            <a:solidFill>
              <a:srgbClr val="9A5320"/>
            </a:solidFill>
            <a:prstDash val="solid"/>
          </a:ln>
        </p:spPr>
      </p:sp>
      <p:sp>
        <p:nvSpPr>
          <p:cNvPr id="20" name="Shape 18"/>
          <p:cNvSpPr/>
          <p:nvPr/>
        </p:nvSpPr>
        <p:spPr>
          <a:xfrm>
            <a:off x="1157185" y="3722575"/>
            <a:ext cx="182846" cy="28559"/>
          </a:xfrm>
          <a:prstGeom prst="line">
            <a:avLst/>
          </a:prstGeom>
          <a:noFill/>
          <a:ln w="12700">
            <a:solidFill>
              <a:srgbClr val="6B7385"/>
            </a:solidFill>
            <a:prstDash val="solid"/>
            <a:tailEnd type="triangle"/>
          </a:ln>
        </p:spPr>
      </p:sp>
      <p:sp>
        <p:nvSpPr>
          <p:cNvPr id="21" name="Shape 19"/>
          <p:cNvSpPr/>
          <p:nvPr/>
        </p:nvSpPr>
        <p:spPr>
          <a:xfrm>
            <a:off x="2608262" y="1723327"/>
            <a:ext cx="146304" cy="146304"/>
          </a:xfrm>
          <a:prstGeom prst="ellipse">
            <a:avLst/>
          </a:prstGeom>
          <a:solidFill>
            <a:srgbClr val="E0884A"/>
          </a:solidFill>
          <a:ln w="9525">
            <a:solidFill>
              <a:srgbClr val="9A5320"/>
            </a:solidFill>
            <a:prstDash val="solid"/>
          </a:ln>
        </p:spPr>
      </p:sp>
      <p:sp>
        <p:nvSpPr>
          <p:cNvPr id="22" name="Shape 20"/>
          <p:cNvSpPr/>
          <p:nvPr/>
        </p:nvSpPr>
        <p:spPr>
          <a:xfrm>
            <a:off x="2702020" y="1878041"/>
            <a:ext cx="49383" cy="195477"/>
          </a:xfrm>
          <a:prstGeom prst="line">
            <a:avLst/>
          </a:prstGeom>
          <a:noFill/>
          <a:ln w="12700">
            <a:solidFill>
              <a:srgbClr val="6B7385"/>
            </a:solidFill>
            <a:prstDash val="solid"/>
            <a:tailEnd type="triangle"/>
          </a:ln>
        </p:spPr>
      </p:sp>
      <p:sp>
        <p:nvSpPr>
          <p:cNvPr id="23" name="Shape 21"/>
          <p:cNvSpPr/>
          <p:nvPr/>
        </p:nvSpPr>
        <p:spPr>
          <a:xfrm>
            <a:off x="1002854" y="3089301"/>
            <a:ext cx="146304" cy="146304"/>
          </a:xfrm>
          <a:prstGeom prst="ellipse">
            <a:avLst/>
          </a:prstGeom>
          <a:solidFill>
            <a:srgbClr val="E0884A"/>
          </a:solidFill>
          <a:ln w="9525">
            <a:solidFill>
              <a:srgbClr val="9A5320"/>
            </a:solidFill>
            <a:prstDash val="solid"/>
          </a:ln>
        </p:spPr>
      </p:sp>
      <p:sp>
        <p:nvSpPr>
          <p:cNvPr id="24" name="Shape 22"/>
          <p:cNvSpPr/>
          <p:nvPr/>
        </p:nvSpPr>
        <p:spPr>
          <a:xfrm flipV="1">
            <a:off x="1076992" y="2784452"/>
            <a:ext cx="3446" cy="293882"/>
          </a:xfrm>
          <a:prstGeom prst="line">
            <a:avLst/>
          </a:prstGeom>
          <a:noFill/>
          <a:ln w="12700">
            <a:solidFill>
              <a:srgbClr val="6B7385"/>
            </a:solidFill>
            <a:prstDash val="solid"/>
            <a:tailEnd type="triangle"/>
          </a:ln>
        </p:spPr>
      </p:sp>
      <p:sp>
        <p:nvSpPr>
          <p:cNvPr id="25" name="Shape 23"/>
          <p:cNvSpPr/>
          <p:nvPr/>
        </p:nvSpPr>
        <p:spPr>
          <a:xfrm>
            <a:off x="2566689" y="3597240"/>
            <a:ext cx="146304" cy="146304"/>
          </a:xfrm>
          <a:prstGeom prst="ellipse">
            <a:avLst/>
          </a:prstGeom>
          <a:solidFill>
            <a:srgbClr val="E0884A"/>
          </a:solidFill>
          <a:ln w="9525">
            <a:solidFill>
              <a:srgbClr val="9A5320"/>
            </a:solidFill>
            <a:prstDash val="solid"/>
          </a:ln>
        </p:spPr>
      </p:sp>
      <p:sp>
        <p:nvSpPr>
          <p:cNvPr id="26" name="Shape 24"/>
          <p:cNvSpPr/>
          <p:nvPr/>
        </p:nvSpPr>
        <p:spPr>
          <a:xfrm flipV="1">
            <a:off x="2722547" y="3612810"/>
            <a:ext cx="226842" cy="42197"/>
          </a:xfrm>
          <a:prstGeom prst="line">
            <a:avLst/>
          </a:prstGeom>
          <a:noFill/>
          <a:ln w="12700">
            <a:solidFill>
              <a:srgbClr val="6B7385"/>
            </a:solidFill>
            <a:prstDash val="solid"/>
            <a:tailEnd type="triangle"/>
          </a:ln>
        </p:spPr>
      </p:sp>
      <p:sp>
        <p:nvSpPr>
          <p:cNvPr id="27" name="Shape 25"/>
          <p:cNvSpPr/>
          <p:nvPr/>
        </p:nvSpPr>
        <p:spPr>
          <a:xfrm>
            <a:off x="2222173" y="2912920"/>
            <a:ext cx="146304" cy="146304"/>
          </a:xfrm>
          <a:prstGeom prst="ellipse">
            <a:avLst/>
          </a:prstGeom>
          <a:solidFill>
            <a:srgbClr val="E0884A"/>
          </a:solidFill>
          <a:ln w="9525">
            <a:solidFill>
              <a:srgbClr val="9A5320"/>
            </a:solidFill>
            <a:prstDash val="solid"/>
          </a:ln>
        </p:spPr>
      </p:sp>
      <p:sp>
        <p:nvSpPr>
          <p:cNvPr id="28" name="Shape 26"/>
          <p:cNvSpPr/>
          <p:nvPr/>
        </p:nvSpPr>
        <p:spPr>
          <a:xfrm flipV="1">
            <a:off x="2363753" y="2809472"/>
            <a:ext cx="178519" cy="127665"/>
          </a:xfrm>
          <a:prstGeom prst="line">
            <a:avLst/>
          </a:prstGeom>
          <a:noFill/>
          <a:ln w="12700">
            <a:solidFill>
              <a:srgbClr val="6B7385"/>
            </a:solidFill>
            <a:prstDash val="solid"/>
            <a:tailEnd type="triangle"/>
          </a:ln>
        </p:spPr>
      </p:sp>
      <p:sp>
        <p:nvSpPr>
          <p:cNvPr id="29" name="Shape 27"/>
          <p:cNvSpPr/>
          <p:nvPr/>
        </p:nvSpPr>
        <p:spPr>
          <a:xfrm>
            <a:off x="1829569" y="1741309"/>
            <a:ext cx="146304" cy="146304"/>
          </a:xfrm>
          <a:prstGeom prst="ellipse">
            <a:avLst/>
          </a:prstGeom>
          <a:solidFill>
            <a:srgbClr val="E0884A"/>
          </a:solidFill>
          <a:ln w="9525">
            <a:solidFill>
              <a:srgbClr val="9A5320"/>
            </a:solidFill>
            <a:prstDash val="solid"/>
          </a:ln>
        </p:spPr>
      </p:sp>
      <p:sp>
        <p:nvSpPr>
          <p:cNvPr id="30" name="Shape 28"/>
          <p:cNvSpPr/>
          <p:nvPr/>
        </p:nvSpPr>
        <p:spPr>
          <a:xfrm flipH="1">
            <a:off x="1887315" y="1898536"/>
            <a:ext cx="12519" cy="364567"/>
          </a:xfrm>
          <a:prstGeom prst="line">
            <a:avLst/>
          </a:prstGeom>
          <a:noFill/>
          <a:ln w="12700">
            <a:solidFill>
              <a:srgbClr val="6B7385"/>
            </a:solidFill>
            <a:prstDash val="solid"/>
            <a:tailEnd type="triangle"/>
          </a:ln>
        </p:spPr>
      </p:sp>
      <p:sp>
        <p:nvSpPr>
          <p:cNvPr id="31" name="Text 29"/>
          <p:cNvSpPr/>
          <p:nvPr/>
        </p:nvSpPr>
        <p:spPr>
          <a:xfrm>
            <a:off x="731520" y="1298448"/>
            <a:ext cx="24688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gas in a closed container</a:t>
            </a:r>
            <a:endParaRPr lang="en-US" sz="1050" dirty="0"/>
          </a:p>
        </p:txBody>
      </p:sp>
      <p:sp>
        <p:nvSpPr>
          <p:cNvPr id="32" name="Shape 30"/>
          <p:cNvSpPr/>
          <p:nvPr/>
        </p:nvSpPr>
        <p:spPr>
          <a:xfrm flipV="1">
            <a:off x="3200400" y="1783080"/>
            <a:ext cx="685800" cy="594360"/>
          </a:xfrm>
          <a:prstGeom prst="line">
            <a:avLst/>
          </a:prstGeom>
          <a:noFill/>
          <a:ln w="12700">
            <a:solidFill>
              <a:srgbClr val="6B7385"/>
            </a:solidFill>
            <a:prstDash val="dash"/>
          </a:ln>
        </p:spPr>
      </p:sp>
      <p:sp>
        <p:nvSpPr>
          <p:cNvPr id="33" name="Shape 31"/>
          <p:cNvSpPr/>
          <p:nvPr/>
        </p:nvSpPr>
        <p:spPr>
          <a:xfrm>
            <a:off x="3200400" y="2926080"/>
            <a:ext cx="685800" cy="822960"/>
          </a:xfrm>
          <a:prstGeom prst="line">
            <a:avLst/>
          </a:prstGeom>
          <a:noFill/>
          <a:ln w="12700">
            <a:solidFill>
              <a:srgbClr val="6B7385"/>
            </a:solidFill>
            <a:prstDash val="dash"/>
          </a:ln>
        </p:spPr>
      </p:sp>
      <p:sp>
        <p:nvSpPr>
          <p:cNvPr id="34" name="Shape 32"/>
          <p:cNvSpPr/>
          <p:nvPr/>
        </p:nvSpPr>
        <p:spPr>
          <a:xfrm>
            <a:off x="3886200" y="1600200"/>
            <a:ext cx="1874520" cy="2377440"/>
          </a:xfrm>
          <a:prstGeom prst="roundRect">
            <a:avLst>
              <a:gd name="adj" fmla="val 2439"/>
            </a:avLst>
          </a:prstGeom>
          <a:solidFill>
            <a:srgbClr val="FAFBFE"/>
          </a:solidFill>
          <a:ln w="12700">
            <a:solidFill>
              <a:srgbClr val="D5DCEB"/>
            </a:solidFill>
            <a:prstDash val="solid"/>
          </a:ln>
        </p:spPr>
      </p:sp>
      <p:sp>
        <p:nvSpPr>
          <p:cNvPr id="35" name="Shape 33"/>
          <p:cNvSpPr/>
          <p:nvPr/>
        </p:nvSpPr>
        <p:spPr>
          <a:xfrm>
            <a:off x="5120640" y="1691640"/>
            <a:ext cx="164592" cy="2194560"/>
          </a:xfrm>
          <a:prstGeom prst="rect">
            <a:avLst/>
          </a:prstGeom>
          <a:solidFill>
            <a:srgbClr val="8C96A8"/>
          </a:solidFill>
          <a:ln w="12700">
            <a:solidFill>
              <a:srgbClr val="4A5262"/>
            </a:solidFill>
            <a:prstDash val="solid"/>
          </a:ln>
        </p:spPr>
      </p:sp>
      <p:sp>
        <p:nvSpPr>
          <p:cNvPr id="36" name="Text 34"/>
          <p:cNvSpPr/>
          <p:nvPr/>
        </p:nvSpPr>
        <p:spPr>
          <a:xfrm>
            <a:off x="4800600" y="4023360"/>
            <a:ext cx="9144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wall</a:t>
            </a:r>
            <a:endParaRPr lang="en-US" sz="1050" dirty="0"/>
          </a:p>
        </p:txBody>
      </p:sp>
      <p:sp>
        <p:nvSpPr>
          <p:cNvPr id="37" name="Shape 35"/>
          <p:cNvSpPr/>
          <p:nvPr/>
        </p:nvSpPr>
        <p:spPr>
          <a:xfrm>
            <a:off x="4069080" y="1874520"/>
            <a:ext cx="850392" cy="822960"/>
          </a:xfrm>
          <a:prstGeom prst="line">
            <a:avLst/>
          </a:prstGeom>
          <a:noFill/>
          <a:ln w="19050">
            <a:solidFill>
              <a:srgbClr val="6B7385"/>
            </a:solidFill>
            <a:prstDash val="solid"/>
            <a:tailEnd type="triangle"/>
          </a:ln>
        </p:spPr>
      </p:sp>
      <p:sp>
        <p:nvSpPr>
          <p:cNvPr id="38" name="Shape 36"/>
          <p:cNvSpPr/>
          <p:nvPr/>
        </p:nvSpPr>
        <p:spPr>
          <a:xfrm>
            <a:off x="4919472" y="2697480"/>
            <a:ext cx="182880" cy="182880"/>
          </a:xfrm>
          <a:prstGeom prst="ellipse">
            <a:avLst/>
          </a:prstGeom>
          <a:solidFill>
            <a:srgbClr val="E0884A"/>
          </a:solidFill>
          <a:ln w="9525">
            <a:solidFill>
              <a:srgbClr val="9A5320"/>
            </a:solidFill>
            <a:prstDash val="solid"/>
          </a:ln>
        </p:spPr>
      </p:sp>
      <p:sp>
        <p:nvSpPr>
          <p:cNvPr id="39" name="Shape 37"/>
          <p:cNvSpPr/>
          <p:nvPr/>
        </p:nvSpPr>
        <p:spPr>
          <a:xfrm flipH="1">
            <a:off x="4069080" y="2880360"/>
            <a:ext cx="850392" cy="822960"/>
          </a:xfrm>
          <a:prstGeom prst="line">
            <a:avLst/>
          </a:prstGeom>
          <a:noFill/>
          <a:ln w="19050">
            <a:solidFill>
              <a:srgbClr val="6B7385"/>
            </a:solidFill>
            <a:prstDash val="solid"/>
            <a:tailEnd type="triangle"/>
          </a:ln>
        </p:spPr>
      </p:sp>
      <p:sp>
        <p:nvSpPr>
          <p:cNvPr id="40" name="Text 38"/>
          <p:cNvSpPr/>
          <p:nvPr/>
        </p:nvSpPr>
        <p:spPr>
          <a:xfrm>
            <a:off x="3931920" y="1645920"/>
            <a:ext cx="914400" cy="256032"/>
          </a:xfrm>
          <a:prstGeom prst="rect">
            <a:avLst/>
          </a:prstGeom>
          <a:noFill/>
          <a:ln/>
        </p:spPr>
        <p:txBody>
          <a:bodyPr wrap="square" lIns="0" tIns="0" rIns="0" bIns="0" rtlCol="0" anchor="ctr"/>
          <a:lstStyle/>
          <a:p>
            <a:pPr algn="l" indent="0" marL="0">
              <a:buNone/>
            </a:pPr>
            <a:r>
              <a:rPr lang="en-US" sz="1000" i="1" dirty="0">
                <a:solidFill>
                  <a:srgbClr val="262B3A"/>
                </a:solidFill>
                <a:latin typeface="Calibri" pitchFamily="34" charset="0"/>
                <a:ea typeface="Calibri" pitchFamily="34" charset="-122"/>
                <a:cs typeface="Calibri" pitchFamily="34" charset="-120"/>
              </a:rPr>
              <a:t>in</a:t>
            </a:r>
            <a:endParaRPr lang="en-US" sz="1000" dirty="0"/>
          </a:p>
        </p:txBody>
      </p:sp>
      <p:sp>
        <p:nvSpPr>
          <p:cNvPr id="41" name="Text 39"/>
          <p:cNvSpPr/>
          <p:nvPr/>
        </p:nvSpPr>
        <p:spPr>
          <a:xfrm>
            <a:off x="3931920" y="3611880"/>
            <a:ext cx="914400" cy="256032"/>
          </a:xfrm>
          <a:prstGeom prst="rect">
            <a:avLst/>
          </a:prstGeom>
          <a:noFill/>
          <a:ln/>
        </p:spPr>
        <p:txBody>
          <a:bodyPr wrap="square" lIns="0" tIns="0" rIns="0" bIns="0" rtlCol="0" anchor="ctr"/>
          <a:lstStyle/>
          <a:p>
            <a:pPr algn="l" indent="0" marL="0">
              <a:buNone/>
            </a:pPr>
            <a:r>
              <a:rPr lang="en-US" sz="1000" i="1" dirty="0">
                <a:solidFill>
                  <a:srgbClr val="262B3A"/>
                </a:solidFill>
                <a:latin typeface="Calibri" pitchFamily="34" charset="0"/>
                <a:ea typeface="Calibri" pitchFamily="34" charset="-122"/>
                <a:cs typeface="Calibri" pitchFamily="34" charset="-120"/>
              </a:rPr>
              <a:t>out</a:t>
            </a:r>
            <a:endParaRPr lang="en-US" sz="1000" dirty="0"/>
          </a:p>
        </p:txBody>
      </p:sp>
      <p:sp>
        <p:nvSpPr>
          <p:cNvPr id="42" name="Shape 40"/>
          <p:cNvSpPr/>
          <p:nvPr/>
        </p:nvSpPr>
        <p:spPr>
          <a:xfrm>
            <a:off x="5285232" y="2788920"/>
            <a:ext cx="429768" cy="91"/>
          </a:xfrm>
          <a:prstGeom prst="line">
            <a:avLst/>
          </a:prstGeom>
          <a:noFill/>
          <a:ln w="38100">
            <a:solidFill>
              <a:srgbClr val="C8414C"/>
            </a:solidFill>
            <a:prstDash val="solid"/>
            <a:tailEnd type="triangle"/>
          </a:ln>
        </p:spPr>
      </p:sp>
      <p:sp>
        <p:nvSpPr>
          <p:cNvPr id="43" name="Text 41"/>
          <p:cNvSpPr/>
          <p:nvPr/>
        </p:nvSpPr>
        <p:spPr>
          <a:xfrm>
            <a:off x="5303520" y="2331720"/>
            <a:ext cx="457200" cy="402336"/>
          </a:xfrm>
          <a:prstGeom prst="rect">
            <a:avLst/>
          </a:prstGeom>
          <a:noFill/>
          <a:ln/>
        </p:spPr>
        <p:txBody>
          <a:bodyPr wrap="square" lIns="0" tIns="0" rIns="0" bIns="0" rtlCol="0" anchor="b"/>
          <a:lstStyle/>
          <a:p>
            <a:pPr algn="l" indent="0" marL="0">
              <a:buNone/>
            </a:pPr>
            <a:r>
              <a:rPr lang="en-US" sz="1000" b="1" dirty="0">
                <a:solidFill>
                  <a:srgbClr val="C8414C"/>
                </a:solidFill>
                <a:latin typeface="Calibri" pitchFamily="34" charset="0"/>
                <a:ea typeface="Calibri" pitchFamily="34" charset="-122"/>
                <a:cs typeface="Calibri" pitchFamily="34" charset="-120"/>
              </a:rPr>
              <a:t>force on wall</a:t>
            </a:r>
            <a:endParaRPr lang="en-US" sz="1000" dirty="0"/>
          </a:p>
        </p:txBody>
      </p:sp>
      <p:sp>
        <p:nvSpPr>
          <p:cNvPr id="44" name="Shape 42"/>
          <p:cNvSpPr/>
          <p:nvPr/>
        </p:nvSpPr>
        <p:spPr>
          <a:xfrm flipH="1">
            <a:off x="4434840" y="2788920"/>
            <a:ext cx="484632" cy="91"/>
          </a:xfrm>
          <a:prstGeom prst="line">
            <a:avLst/>
          </a:prstGeom>
          <a:noFill/>
          <a:ln w="38100">
            <a:solidFill>
              <a:srgbClr val="2E5BD8"/>
            </a:solidFill>
            <a:prstDash val="solid"/>
            <a:tailEnd type="triangle"/>
          </a:ln>
        </p:spPr>
      </p:sp>
      <p:sp>
        <p:nvSpPr>
          <p:cNvPr id="45" name="Text 43"/>
          <p:cNvSpPr/>
          <p:nvPr/>
        </p:nvSpPr>
        <p:spPr>
          <a:xfrm>
            <a:off x="3931920" y="2514600"/>
            <a:ext cx="822960" cy="365760"/>
          </a:xfrm>
          <a:prstGeom prst="rect">
            <a:avLst/>
          </a:prstGeom>
          <a:noFill/>
          <a:ln/>
        </p:spPr>
        <p:txBody>
          <a:bodyPr wrap="square" lIns="0" tIns="0" rIns="0" bIns="0" rtlCol="0" anchor="b"/>
          <a:lstStyle/>
          <a:p>
            <a:pPr algn="l" indent="0" marL="0">
              <a:buNone/>
            </a:pPr>
            <a:r>
              <a:rPr lang="en-US" sz="1000" b="1" dirty="0">
                <a:solidFill>
                  <a:srgbClr val="2E5BD8"/>
                </a:solidFill>
                <a:latin typeface="Calibri" pitchFamily="34" charset="0"/>
                <a:ea typeface="Calibri" pitchFamily="34" charset="-122"/>
                <a:cs typeface="Calibri" pitchFamily="34" charset="-120"/>
              </a:rPr>
              <a:t>wall pushes particle</a:t>
            </a:r>
            <a:endParaRPr lang="en-US" sz="1000" dirty="0"/>
          </a:p>
        </p:txBody>
      </p:sp>
      <p:sp>
        <p:nvSpPr>
          <p:cNvPr id="46" name="Shape 44"/>
          <p:cNvSpPr/>
          <p:nvPr/>
        </p:nvSpPr>
        <p:spPr>
          <a:xfrm>
            <a:off x="731520" y="4297680"/>
            <a:ext cx="5029200" cy="960120"/>
          </a:xfrm>
          <a:prstGeom prst="roundRect">
            <a:avLst>
              <a:gd name="adj" fmla="val 4762"/>
            </a:avLst>
          </a:prstGeom>
          <a:solidFill>
            <a:srgbClr val="FFFFFF"/>
          </a:solidFill>
          <a:ln w="12700">
            <a:solidFill>
              <a:srgbClr val="D5DCEB"/>
            </a:solidFill>
            <a:prstDash val="solid"/>
          </a:ln>
        </p:spPr>
      </p:sp>
      <p:sp>
        <p:nvSpPr>
          <p:cNvPr id="47" name="Text 45"/>
          <p:cNvSpPr/>
          <p:nvPr/>
        </p:nvSpPr>
        <p:spPr>
          <a:xfrm>
            <a:off x="868680" y="4343400"/>
            <a:ext cx="4754880" cy="868680"/>
          </a:xfrm>
          <a:prstGeom prst="rect">
            <a:avLst/>
          </a:prstGeom>
          <a:noFill/>
          <a:ln/>
        </p:spPr>
        <p:txBody>
          <a:bodyPr wrap="square" lIns="0" tIns="0" rIns="0" bIns="0" rtlCol="0" anchor="ctr"/>
          <a:lstStyle/>
          <a:p>
            <a:pPr indent="0" marL="0">
              <a:buNone/>
            </a:pPr>
            <a:r>
              <a:rPr lang="en-US" sz="1100" b="1" dirty="0">
                <a:solidFill>
                  <a:srgbClr val="262B3A"/>
                </a:solidFill>
                <a:latin typeface="Calibri" pitchFamily="34" charset="0"/>
                <a:ea typeface="Calibri" pitchFamily="34" charset="-122"/>
                <a:cs typeface="Calibri" pitchFamily="34" charset="-120"/>
              </a:rPr>
              <a:t>Pressure</a:t>
            </a:r>
            <a:r>
              <a:rPr lang="en-US" sz="1100" dirty="0">
                <a:solidFill>
                  <a:srgbClr val="262B3A"/>
                </a:solidFill>
                <a:latin typeface="Calibri" pitchFamily="34" charset="0"/>
                <a:ea typeface="Calibri" pitchFamily="34" charset="-122"/>
                <a:cs typeface="Calibri" pitchFamily="34" charset="-120"/>
              </a:rPr>
              <a:t> = the force on each square metre of surface, acting </a:t>
            </a:r>
            <a:r>
              <a:rPr lang="en-US" sz="1100" b="1" dirty="0">
                <a:solidFill>
                  <a:srgbClr val="262B3A"/>
                </a:solidFill>
                <a:latin typeface="Calibri" pitchFamily="34" charset="0"/>
                <a:ea typeface="Calibri" pitchFamily="34" charset="-122"/>
                <a:cs typeface="Calibri" pitchFamily="34" charset="-120"/>
              </a:rPr>
              <a:t>at right angles</a:t>
            </a:r>
            <a:r>
              <a:rPr lang="en-US" sz="1100" dirty="0">
                <a:solidFill>
                  <a:srgbClr val="262B3A"/>
                </a:solidFill>
                <a:latin typeface="Calibri" pitchFamily="34" charset="0"/>
                <a:ea typeface="Calibri" pitchFamily="34" charset="-122"/>
                <a:cs typeface="Calibri" pitchFamily="34" charset="-120"/>
              </a:rPr>
              <a:t> to it.</a:t>
            </a:r>
            <a:endParaRPr lang="en-US" sz="1100" dirty="0"/>
          </a:p>
          <a:p>
            <a:pPr indent="0" marL="0">
              <a:buNone/>
            </a:pPr>
            <a:r>
              <a:rPr lang="en-US" sz="1100" dirty="0">
                <a:solidFill>
                  <a:srgbClr val="262B3A"/>
                </a:solidFill>
                <a:latin typeface="Calibri" pitchFamily="34" charset="0"/>
                <a:ea typeface="Calibri" pitchFamily="34" charset="-122"/>
                <a:cs typeface="Calibri" pitchFamily="34" charset="-120"/>
              </a:rPr>
              <a:t>Unit: </a:t>
            </a:r>
            <a:r>
              <a:rPr lang="en-US" sz="1100" b="1" dirty="0">
                <a:solidFill>
                  <a:srgbClr val="262B3A"/>
                </a:solidFill>
                <a:latin typeface="Calibri" pitchFamily="34" charset="0"/>
                <a:ea typeface="Calibri" pitchFamily="34" charset="-122"/>
                <a:cs typeface="Calibri" pitchFamily="34" charset="-120"/>
              </a:rPr>
              <a:t>pascal (Pa)</a:t>
            </a:r>
            <a:r>
              <a:rPr lang="en-US" sz="1100" dirty="0">
                <a:solidFill>
                  <a:srgbClr val="262B3A"/>
                </a:solidFill>
                <a:latin typeface="Calibri" pitchFamily="34" charset="0"/>
                <a:ea typeface="Calibri" pitchFamily="34" charset="-122"/>
                <a:cs typeface="Calibri" pitchFamily="34" charset="-120"/>
              </a:rPr>
              <a:t>. 1 Pa = 1 N/m². Air pressure at sea level ≈ 100 kPa = 1.0 × 10</a:t>
            </a:r>
            <a:r>
              <a:rPr lang="en-US" sz="1100" baseline="30000" dirty="0">
                <a:solidFill>
                  <a:srgbClr val="262B3A"/>
                </a:solidFill>
                <a:latin typeface="Calibri" pitchFamily="34" charset="0"/>
                <a:ea typeface="Calibri" pitchFamily="34" charset="-122"/>
                <a:cs typeface="Calibri" pitchFamily="34" charset="-120"/>
              </a:rPr>
              <a:t>5</a:t>
            </a:r>
            <a:r>
              <a:rPr lang="en-US" sz="1100" dirty="0">
                <a:solidFill>
                  <a:srgbClr val="262B3A"/>
                </a:solidFill>
                <a:latin typeface="Calibri" pitchFamily="34" charset="0"/>
                <a:ea typeface="Calibri" pitchFamily="34" charset="-122"/>
                <a:cs typeface="Calibri" pitchFamily="34" charset="-120"/>
              </a:rPr>
              <a:t> Pa.</a:t>
            </a:r>
            <a:endParaRPr lang="en-US" sz="1100" dirty="0"/>
          </a:p>
        </p:txBody>
      </p:sp>
      <p:sp>
        <p:nvSpPr>
          <p:cNvPr id="48" name="Shape 46"/>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9" name="Text 4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The particle model of a gas</a:t>
            </a:r>
            <a:endParaRPr lang="en-US" sz="1300" dirty="0"/>
          </a:p>
        </p:txBody>
      </p:sp>
      <p:sp>
        <p:nvSpPr>
          <p:cNvPr id="50" name="Text 4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Gas particles move </a:t>
            </a:r>
            <a:r>
              <a:rPr lang="en-US" sz="1150" b="1" dirty="0">
                <a:solidFill>
                  <a:srgbClr val="262B3A"/>
                </a:solidFill>
                <a:latin typeface="Calibri" pitchFamily="34" charset="0"/>
                <a:ea typeface="Calibri" pitchFamily="34" charset="-122"/>
                <a:cs typeface="Calibri" pitchFamily="34" charset="-120"/>
              </a:rPr>
              <a:t>quickly</a:t>
            </a:r>
            <a:r>
              <a:rPr lang="en-US" sz="1150" dirty="0">
                <a:solidFill>
                  <a:srgbClr val="262B3A"/>
                </a:solidFill>
                <a:latin typeface="Calibri" pitchFamily="34" charset="0"/>
                <a:ea typeface="Calibri" pitchFamily="34" charset="-122"/>
                <a:cs typeface="Calibri" pitchFamily="34" charset="-120"/>
              </a:rPr>
              <a:t> in </a:t>
            </a:r>
            <a:r>
              <a:rPr lang="en-US" sz="1150" b="1" dirty="0">
                <a:solidFill>
                  <a:srgbClr val="262B3A"/>
                </a:solidFill>
                <a:latin typeface="Calibri" pitchFamily="34" charset="0"/>
                <a:ea typeface="Calibri" pitchFamily="34" charset="-122"/>
                <a:cs typeface="Calibri" pitchFamily="34" charset="-120"/>
              </a:rPr>
              <a:t>random directions</a:t>
            </a:r>
            <a:r>
              <a:rPr lang="en-US" sz="1150" dirty="0">
                <a:solidFill>
                  <a:srgbClr val="262B3A"/>
                </a:solidFill>
                <a:latin typeface="Calibri" pitchFamily="34" charset="0"/>
                <a:ea typeface="Calibri" pitchFamily="34" charset="-122"/>
                <a:cs typeface="Calibri" pitchFamily="34" charset="-120"/>
              </a:rPr>
              <a:t>, in straight lines between collisions.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When a particle hits a wall it </a:t>
            </a:r>
            <a:r>
              <a:rPr lang="en-US" sz="1150" b="1" dirty="0">
                <a:solidFill>
                  <a:srgbClr val="262B3A"/>
                </a:solidFill>
                <a:latin typeface="Calibri" pitchFamily="34" charset="0"/>
                <a:ea typeface="Calibri" pitchFamily="34" charset="-122"/>
                <a:cs typeface="Calibri" pitchFamily="34" charset="-120"/>
              </a:rPr>
              <a:t>changes direction</a:t>
            </a:r>
            <a:r>
              <a:rPr lang="en-US" sz="1150" dirty="0">
                <a:solidFill>
                  <a:srgbClr val="262B3A"/>
                </a:solidFill>
                <a:latin typeface="Calibri" pitchFamily="34" charset="0"/>
                <a:ea typeface="Calibri" pitchFamily="34" charset="-122"/>
                <a:cs typeface="Calibri" pitchFamily="34" charset="-120"/>
              </a:rPr>
              <a:t> (its momentum changes). The wall pushes on the particle, so the particle pushes on the wall.</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Billions of collisions every second add up to a </a:t>
            </a:r>
            <a:r>
              <a:rPr lang="en-US" sz="1150" b="1" dirty="0">
                <a:solidFill>
                  <a:srgbClr val="262B3A"/>
                </a:solidFill>
                <a:latin typeface="Calibri" pitchFamily="34" charset="0"/>
                <a:ea typeface="Calibri" pitchFamily="34" charset="-122"/>
                <a:cs typeface="Calibri" pitchFamily="34" charset="-120"/>
              </a:rPr>
              <a:t>steady force</a:t>
            </a:r>
            <a:r>
              <a:rPr lang="en-US" sz="1150" dirty="0">
                <a:solidFill>
                  <a:srgbClr val="262B3A"/>
                </a:solidFill>
                <a:latin typeface="Calibri" pitchFamily="34" charset="0"/>
                <a:ea typeface="Calibri" pitchFamily="34" charset="-122"/>
                <a:cs typeface="Calibri" pitchFamily="34" charset="-120"/>
              </a:rPr>
              <a:t> on every part of the wall.</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This force on each m² is the </a:t>
            </a:r>
            <a:r>
              <a:rPr lang="en-US" sz="1150" b="1" dirty="0">
                <a:solidFill>
                  <a:srgbClr val="262B3A"/>
                </a:solidFill>
                <a:latin typeface="Calibri" pitchFamily="34" charset="0"/>
                <a:ea typeface="Calibri" pitchFamily="34" charset="-122"/>
                <a:cs typeface="Calibri" pitchFamily="34" charset="-120"/>
              </a:rPr>
              <a:t>gas pressure</a:t>
            </a:r>
            <a:r>
              <a:rPr lang="en-US" sz="1150" dirty="0">
                <a:solidFill>
                  <a:srgbClr val="262B3A"/>
                </a:solidFill>
                <a:latin typeface="Calibri" pitchFamily="34" charset="0"/>
                <a:ea typeface="Calibri" pitchFamily="34" charset="-122"/>
                <a:cs typeface="Calibri" pitchFamily="34" charset="-120"/>
              </a:rPr>
              <a:t>. It acts </a:t>
            </a:r>
            <a:r>
              <a:rPr lang="en-US" sz="1150" b="1" dirty="0">
                <a:solidFill>
                  <a:srgbClr val="262B3A"/>
                </a:solidFill>
                <a:latin typeface="Calibri" pitchFamily="34" charset="0"/>
                <a:ea typeface="Calibri" pitchFamily="34" charset="-122"/>
                <a:cs typeface="Calibri" pitchFamily="34" charset="-120"/>
              </a:rPr>
              <a:t>at right angles</a:t>
            </a:r>
            <a:r>
              <a:rPr lang="en-US" sz="1150" dirty="0">
                <a:solidFill>
                  <a:srgbClr val="262B3A"/>
                </a:solidFill>
                <a:latin typeface="Calibri" pitchFamily="34" charset="0"/>
                <a:ea typeface="Calibri" pitchFamily="34" charset="-122"/>
                <a:cs typeface="Calibri" pitchFamily="34" charset="-120"/>
              </a:rPr>
              <a:t> to the walls.</a:t>
            </a:r>
            <a:endParaRPr lang="en-US" sz="1150" dirty="0"/>
          </a:p>
        </p:txBody>
      </p:sp>
      <p:sp>
        <p:nvSpPr>
          <p:cNvPr id="51" name="Shape 4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2" name="Text 5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Explain it in steps</a:t>
            </a:r>
            <a:endParaRPr lang="en-US" sz="1300" dirty="0"/>
          </a:p>
        </p:txBody>
      </p:sp>
      <p:sp>
        <p:nvSpPr>
          <p:cNvPr id="53" name="Text 51"/>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Explain how a gas exerts a pressure on its container.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Motion   </a:t>
            </a:r>
            <a:r>
              <a:rPr lang="en-US" sz="1050" dirty="0">
                <a:solidFill>
                  <a:srgbClr val="262B3A"/>
                </a:solidFill>
                <a:latin typeface="Calibri" pitchFamily="34" charset="0"/>
                <a:ea typeface="Calibri" pitchFamily="34" charset="-122"/>
                <a:cs typeface="Calibri" pitchFamily="34" charset="-120"/>
              </a:rPr>
              <a:t>particles move randomly and collide with the walls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Collision   </a:t>
            </a:r>
            <a:r>
              <a:rPr lang="en-US" sz="1050" dirty="0">
                <a:solidFill>
                  <a:srgbClr val="262B3A"/>
                </a:solidFill>
                <a:latin typeface="Calibri" pitchFamily="34" charset="0"/>
                <a:ea typeface="Calibri" pitchFamily="34" charset="-122"/>
                <a:cs typeface="Calibri" pitchFamily="34" charset="-120"/>
              </a:rPr>
              <a:t>each collision exerts a force on the wall</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Many   </a:t>
            </a:r>
            <a:r>
              <a:rPr lang="en-US" sz="1050" dirty="0">
                <a:solidFill>
                  <a:srgbClr val="262B3A"/>
                </a:solidFill>
                <a:latin typeface="Calibri" pitchFamily="34" charset="0"/>
                <a:ea typeface="Calibri" pitchFamily="34" charset="-122"/>
                <a:cs typeface="Calibri" pitchFamily="34" charset="-120"/>
              </a:rPr>
              <a:t>lots of collisions give a total force over the area</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pressure = force ÷ area, at right angles to the wall</a:t>
            </a:r>
            <a:endParaRPr lang="en-US" sz="1050" dirty="0"/>
          </a:p>
        </p:txBody>
      </p:sp>
      <p:sp>
        <p:nvSpPr>
          <p:cNvPr id="54" name="Shape 52"/>
          <p:cNvSpPr/>
          <p:nvPr/>
        </p:nvSpPr>
        <p:spPr>
          <a:xfrm>
            <a:off x="411480" y="5833872"/>
            <a:ext cx="11368735" cy="530352"/>
          </a:xfrm>
          <a:prstGeom prst="rect">
            <a:avLst/>
          </a:prstGeom>
          <a:solidFill>
            <a:srgbClr val="FFF4E0"/>
          </a:solidFill>
          <a:ln w="6350">
            <a:solidFill>
              <a:srgbClr val="F1D9A8"/>
            </a:solidFill>
            <a:prstDash val="solid"/>
          </a:ln>
        </p:spPr>
      </p:sp>
      <p:sp>
        <p:nvSpPr>
          <p:cNvPr id="55" name="Shape 53"/>
          <p:cNvSpPr/>
          <p:nvPr/>
        </p:nvSpPr>
        <p:spPr>
          <a:xfrm>
            <a:off x="411480" y="5833872"/>
            <a:ext cx="82296" cy="530352"/>
          </a:xfrm>
          <a:prstGeom prst="rect">
            <a:avLst/>
          </a:prstGeom>
          <a:solidFill>
            <a:srgbClr val="E39A2F"/>
          </a:solidFill>
          <a:ln w="12700">
            <a:solidFill>
              <a:srgbClr val="E39A2F"/>
            </a:solidFill>
            <a:prstDash val="solid"/>
          </a:ln>
        </p:spPr>
      </p:sp>
      <p:sp>
        <p:nvSpPr>
          <p:cNvPr id="56" name="Text 5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balloon is blown up. Use the particle model to explain why it stays inflated and is round in every direction.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Temperature and particle motion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P6.2.4 • the hotter the gas, the faster its particles move on average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P6.2.4  |  7</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same gas at two temperatures: arrow length shows speed</a:t>
            </a:r>
            <a:endParaRPr lang="en-US" sz="1000" dirty="0"/>
          </a:p>
        </p:txBody>
      </p:sp>
      <p:sp>
        <p:nvSpPr>
          <p:cNvPr id="10" name="Text 8"/>
          <p:cNvSpPr/>
          <p:nvPr/>
        </p:nvSpPr>
        <p:spPr>
          <a:xfrm>
            <a:off x="731520" y="1344168"/>
            <a:ext cx="2240280" cy="256032"/>
          </a:xfrm>
          <a:prstGeom prst="rect">
            <a:avLst/>
          </a:prstGeom>
          <a:noFill/>
          <a:ln/>
        </p:spPr>
        <p:txBody>
          <a:bodyPr wrap="square" lIns="0" tIns="0" rIns="0" bIns="0" rtlCol="0" anchor="ctr"/>
          <a:lstStyle/>
          <a:p>
            <a:pPr algn="ctr" indent="0" marL="0">
              <a:buNone/>
            </a:pPr>
            <a:r>
              <a:rPr lang="en-US" sz="1150" b="1" dirty="0">
                <a:solidFill>
                  <a:srgbClr val="2E5B8A"/>
                </a:solidFill>
                <a:latin typeface="Calibri" pitchFamily="34" charset="0"/>
                <a:ea typeface="Calibri" pitchFamily="34" charset="-122"/>
                <a:cs typeface="Calibri" pitchFamily="34" charset="-120"/>
              </a:rPr>
              <a:t>cold gas: 20 °C</a:t>
            </a:r>
            <a:endParaRPr lang="en-US" sz="1150" dirty="0"/>
          </a:p>
        </p:txBody>
      </p:sp>
      <p:sp>
        <p:nvSpPr>
          <p:cNvPr id="11" name="Shape 9"/>
          <p:cNvSpPr/>
          <p:nvPr/>
        </p:nvSpPr>
        <p:spPr>
          <a:xfrm>
            <a:off x="731520" y="1691640"/>
            <a:ext cx="2240280" cy="2057400"/>
          </a:xfrm>
          <a:prstGeom prst="rect">
            <a:avLst/>
          </a:prstGeom>
          <a:solidFill>
            <a:srgbClr val="FFFFFF"/>
          </a:solidFill>
          <a:ln w="19050">
            <a:solidFill>
              <a:srgbClr val="1A2340"/>
            </a:solidFill>
            <a:prstDash val="solid"/>
          </a:ln>
        </p:spPr>
      </p:sp>
      <p:sp>
        <p:nvSpPr>
          <p:cNvPr id="12" name="Shape 10"/>
          <p:cNvSpPr/>
          <p:nvPr/>
        </p:nvSpPr>
        <p:spPr>
          <a:xfrm>
            <a:off x="2120307" y="3252350"/>
            <a:ext cx="146304" cy="146304"/>
          </a:xfrm>
          <a:prstGeom prst="ellipse">
            <a:avLst/>
          </a:prstGeom>
          <a:solidFill>
            <a:srgbClr val="5B9BD5"/>
          </a:solidFill>
          <a:ln w="9525">
            <a:solidFill>
              <a:srgbClr val="2E5B8A"/>
            </a:solidFill>
            <a:prstDash val="solid"/>
          </a:ln>
        </p:spPr>
      </p:sp>
      <p:sp>
        <p:nvSpPr>
          <p:cNvPr id="13" name="Shape 11"/>
          <p:cNvSpPr/>
          <p:nvPr/>
        </p:nvSpPr>
        <p:spPr>
          <a:xfrm flipH="1">
            <a:off x="2045830" y="3385363"/>
            <a:ext cx="88521" cy="89648"/>
          </a:xfrm>
          <a:prstGeom prst="line">
            <a:avLst/>
          </a:prstGeom>
          <a:noFill/>
          <a:ln w="12700">
            <a:solidFill>
              <a:srgbClr val="6B7385"/>
            </a:solidFill>
            <a:prstDash val="solid"/>
            <a:tailEnd type="triangle"/>
          </a:ln>
        </p:spPr>
      </p:sp>
      <p:sp>
        <p:nvSpPr>
          <p:cNvPr id="14" name="Shape 12"/>
          <p:cNvSpPr/>
          <p:nvPr/>
        </p:nvSpPr>
        <p:spPr>
          <a:xfrm>
            <a:off x="2273896" y="1834622"/>
            <a:ext cx="146304" cy="146304"/>
          </a:xfrm>
          <a:prstGeom prst="ellipse">
            <a:avLst/>
          </a:prstGeom>
          <a:solidFill>
            <a:srgbClr val="5B9BD5"/>
          </a:solidFill>
          <a:ln w="9525">
            <a:solidFill>
              <a:srgbClr val="2E5B8A"/>
            </a:solidFill>
            <a:prstDash val="solid"/>
          </a:ln>
        </p:spPr>
      </p:sp>
      <p:sp>
        <p:nvSpPr>
          <p:cNvPr id="15" name="Shape 13"/>
          <p:cNvSpPr/>
          <p:nvPr/>
        </p:nvSpPr>
        <p:spPr>
          <a:xfrm flipV="1">
            <a:off x="2389909" y="1753038"/>
            <a:ext cx="48758" cy="82348"/>
          </a:xfrm>
          <a:prstGeom prst="line">
            <a:avLst/>
          </a:prstGeom>
          <a:noFill/>
          <a:ln w="12700">
            <a:solidFill>
              <a:srgbClr val="6B7385"/>
            </a:solidFill>
            <a:prstDash val="solid"/>
            <a:tailEnd type="triangle"/>
          </a:ln>
        </p:spPr>
      </p:sp>
      <p:sp>
        <p:nvSpPr>
          <p:cNvPr id="16" name="Shape 14"/>
          <p:cNvSpPr/>
          <p:nvPr/>
        </p:nvSpPr>
        <p:spPr>
          <a:xfrm>
            <a:off x="1613298" y="2369107"/>
            <a:ext cx="146304" cy="146304"/>
          </a:xfrm>
          <a:prstGeom prst="ellipse">
            <a:avLst/>
          </a:prstGeom>
          <a:solidFill>
            <a:srgbClr val="5B9BD5"/>
          </a:solidFill>
          <a:ln w="9525">
            <a:solidFill>
              <a:srgbClr val="2E5B8A"/>
            </a:solidFill>
            <a:prstDash val="solid"/>
          </a:ln>
        </p:spPr>
      </p:sp>
      <p:sp>
        <p:nvSpPr>
          <p:cNvPr id="17" name="Shape 15"/>
          <p:cNvSpPr/>
          <p:nvPr/>
        </p:nvSpPr>
        <p:spPr>
          <a:xfrm flipH="1">
            <a:off x="1541671" y="2488951"/>
            <a:ext cx="74802" cy="49911"/>
          </a:xfrm>
          <a:prstGeom prst="line">
            <a:avLst/>
          </a:prstGeom>
          <a:noFill/>
          <a:ln w="12700">
            <a:solidFill>
              <a:srgbClr val="6B7385"/>
            </a:solidFill>
            <a:prstDash val="solid"/>
            <a:tailEnd type="triangle"/>
          </a:ln>
        </p:spPr>
      </p:sp>
      <p:sp>
        <p:nvSpPr>
          <p:cNvPr id="18" name="Shape 16"/>
          <p:cNvSpPr/>
          <p:nvPr/>
        </p:nvSpPr>
        <p:spPr>
          <a:xfrm>
            <a:off x="935702" y="3424551"/>
            <a:ext cx="146304" cy="146304"/>
          </a:xfrm>
          <a:prstGeom prst="ellipse">
            <a:avLst/>
          </a:prstGeom>
          <a:solidFill>
            <a:srgbClr val="5B9BD5"/>
          </a:solidFill>
          <a:ln w="9525">
            <a:solidFill>
              <a:srgbClr val="2E5B8A"/>
            </a:solidFill>
            <a:prstDash val="solid"/>
          </a:ln>
        </p:spPr>
      </p:sp>
      <p:sp>
        <p:nvSpPr>
          <p:cNvPr id="19" name="Shape 17"/>
          <p:cNvSpPr/>
          <p:nvPr/>
        </p:nvSpPr>
        <p:spPr>
          <a:xfrm flipH="1">
            <a:off x="840089" y="3523947"/>
            <a:ext cx="88839" cy="29170"/>
          </a:xfrm>
          <a:prstGeom prst="line">
            <a:avLst/>
          </a:prstGeom>
          <a:noFill/>
          <a:ln w="12700">
            <a:solidFill>
              <a:srgbClr val="6B7385"/>
            </a:solidFill>
            <a:prstDash val="solid"/>
            <a:tailEnd type="triangle"/>
          </a:ln>
        </p:spPr>
      </p:sp>
      <p:sp>
        <p:nvSpPr>
          <p:cNvPr id="20" name="Shape 18"/>
          <p:cNvSpPr/>
          <p:nvPr/>
        </p:nvSpPr>
        <p:spPr>
          <a:xfrm>
            <a:off x="1422185" y="3061932"/>
            <a:ext cx="146304" cy="146304"/>
          </a:xfrm>
          <a:prstGeom prst="ellipse">
            <a:avLst/>
          </a:prstGeom>
          <a:solidFill>
            <a:srgbClr val="5B9BD5"/>
          </a:solidFill>
          <a:ln w="9525">
            <a:solidFill>
              <a:srgbClr val="2E5B8A"/>
            </a:solidFill>
            <a:prstDash val="solid"/>
          </a:ln>
        </p:spPr>
      </p:sp>
      <p:sp>
        <p:nvSpPr>
          <p:cNvPr id="21" name="Shape 19"/>
          <p:cNvSpPr/>
          <p:nvPr/>
        </p:nvSpPr>
        <p:spPr>
          <a:xfrm flipV="1">
            <a:off x="1578347" y="3093166"/>
            <a:ext cx="172016" cy="28274"/>
          </a:xfrm>
          <a:prstGeom prst="line">
            <a:avLst/>
          </a:prstGeom>
          <a:noFill/>
          <a:ln w="12700">
            <a:solidFill>
              <a:srgbClr val="6B7385"/>
            </a:solidFill>
            <a:prstDash val="solid"/>
            <a:tailEnd type="triangle"/>
          </a:ln>
        </p:spPr>
      </p:sp>
      <p:sp>
        <p:nvSpPr>
          <p:cNvPr id="22" name="Shape 20"/>
          <p:cNvSpPr/>
          <p:nvPr/>
        </p:nvSpPr>
        <p:spPr>
          <a:xfrm>
            <a:off x="2685288" y="2926416"/>
            <a:ext cx="146304" cy="146304"/>
          </a:xfrm>
          <a:prstGeom prst="ellipse">
            <a:avLst/>
          </a:prstGeom>
          <a:solidFill>
            <a:srgbClr val="5B9BD5"/>
          </a:solidFill>
          <a:ln w="9525">
            <a:solidFill>
              <a:srgbClr val="2E5B8A"/>
            </a:solidFill>
            <a:prstDash val="solid"/>
          </a:ln>
        </p:spPr>
      </p:sp>
      <p:sp>
        <p:nvSpPr>
          <p:cNvPr id="23" name="Shape 21"/>
          <p:cNvSpPr/>
          <p:nvPr/>
        </p:nvSpPr>
        <p:spPr>
          <a:xfrm flipV="1">
            <a:off x="2792907" y="2784092"/>
            <a:ext cx="62311" cy="138736"/>
          </a:xfrm>
          <a:prstGeom prst="line">
            <a:avLst/>
          </a:prstGeom>
          <a:noFill/>
          <a:ln w="12700">
            <a:solidFill>
              <a:srgbClr val="6B7385"/>
            </a:solidFill>
            <a:prstDash val="solid"/>
            <a:tailEnd type="triangle"/>
          </a:ln>
        </p:spPr>
      </p:sp>
      <p:sp>
        <p:nvSpPr>
          <p:cNvPr id="24" name="Shape 22"/>
          <p:cNvSpPr/>
          <p:nvPr/>
        </p:nvSpPr>
        <p:spPr>
          <a:xfrm>
            <a:off x="1129613" y="2069805"/>
            <a:ext cx="146304" cy="146304"/>
          </a:xfrm>
          <a:prstGeom prst="ellipse">
            <a:avLst/>
          </a:prstGeom>
          <a:solidFill>
            <a:srgbClr val="5B9BD5"/>
          </a:solidFill>
          <a:ln w="9525">
            <a:solidFill>
              <a:srgbClr val="2E5B8A"/>
            </a:solidFill>
            <a:prstDash val="solid"/>
          </a:ln>
        </p:spPr>
      </p:sp>
      <p:sp>
        <p:nvSpPr>
          <p:cNvPr id="25" name="Shape 23"/>
          <p:cNvSpPr/>
          <p:nvPr/>
        </p:nvSpPr>
        <p:spPr>
          <a:xfrm flipH="1">
            <a:off x="1033356" y="2198302"/>
            <a:ext cx="106053" cy="92645"/>
          </a:xfrm>
          <a:prstGeom prst="line">
            <a:avLst/>
          </a:prstGeom>
          <a:noFill/>
          <a:ln w="12700">
            <a:solidFill>
              <a:srgbClr val="6B7385"/>
            </a:solidFill>
            <a:prstDash val="solid"/>
            <a:tailEnd type="triangle"/>
          </a:ln>
        </p:spPr>
      </p:sp>
      <p:sp>
        <p:nvSpPr>
          <p:cNvPr id="26" name="Shape 24"/>
          <p:cNvSpPr/>
          <p:nvPr/>
        </p:nvSpPr>
        <p:spPr>
          <a:xfrm>
            <a:off x="2539707" y="2342830"/>
            <a:ext cx="146304" cy="146304"/>
          </a:xfrm>
          <a:prstGeom prst="ellipse">
            <a:avLst/>
          </a:prstGeom>
          <a:solidFill>
            <a:srgbClr val="5B9BD5"/>
          </a:solidFill>
          <a:ln w="9525">
            <a:solidFill>
              <a:srgbClr val="2E5B8A"/>
            </a:solidFill>
            <a:prstDash val="solid"/>
          </a:ln>
        </p:spPr>
      </p:sp>
      <p:sp>
        <p:nvSpPr>
          <p:cNvPr id="27" name="Shape 25"/>
          <p:cNvSpPr/>
          <p:nvPr/>
        </p:nvSpPr>
        <p:spPr>
          <a:xfrm flipV="1">
            <a:off x="2693909" y="2365713"/>
            <a:ext cx="99760" cy="27735"/>
          </a:xfrm>
          <a:prstGeom prst="line">
            <a:avLst/>
          </a:prstGeom>
          <a:noFill/>
          <a:ln w="12700">
            <a:solidFill>
              <a:srgbClr val="6B7385"/>
            </a:solidFill>
            <a:prstDash val="solid"/>
            <a:tailEnd type="triangle"/>
          </a:ln>
        </p:spPr>
      </p:sp>
      <p:sp>
        <p:nvSpPr>
          <p:cNvPr id="28" name="Text 26"/>
          <p:cNvSpPr/>
          <p:nvPr/>
        </p:nvSpPr>
        <p:spPr>
          <a:xfrm>
            <a:off x="3429000" y="1344168"/>
            <a:ext cx="2240280" cy="256032"/>
          </a:xfrm>
          <a:prstGeom prst="rect">
            <a:avLst/>
          </a:prstGeom>
          <a:noFill/>
          <a:ln/>
        </p:spPr>
        <p:txBody>
          <a:bodyPr wrap="square" lIns="0" tIns="0" rIns="0" bIns="0" rtlCol="0" anchor="ctr"/>
          <a:lstStyle/>
          <a:p>
            <a:pPr algn="ctr" indent="0" marL="0">
              <a:buNone/>
            </a:pPr>
            <a:r>
              <a:rPr lang="en-US" sz="1150" b="1" dirty="0">
                <a:solidFill>
                  <a:srgbClr val="9A2E20"/>
                </a:solidFill>
                <a:latin typeface="Calibri" pitchFamily="34" charset="0"/>
                <a:ea typeface="Calibri" pitchFamily="34" charset="-122"/>
                <a:cs typeface="Calibri" pitchFamily="34" charset="-120"/>
              </a:rPr>
              <a:t>hot gas: 80 °C</a:t>
            </a:r>
            <a:endParaRPr lang="en-US" sz="1150" dirty="0"/>
          </a:p>
        </p:txBody>
      </p:sp>
      <p:sp>
        <p:nvSpPr>
          <p:cNvPr id="29" name="Shape 27"/>
          <p:cNvSpPr/>
          <p:nvPr/>
        </p:nvSpPr>
        <p:spPr>
          <a:xfrm>
            <a:off x="3429000" y="1691640"/>
            <a:ext cx="2240280" cy="2057400"/>
          </a:xfrm>
          <a:prstGeom prst="rect">
            <a:avLst/>
          </a:prstGeom>
          <a:solidFill>
            <a:srgbClr val="FFFFFF"/>
          </a:solidFill>
          <a:ln w="19050">
            <a:solidFill>
              <a:srgbClr val="1A2340"/>
            </a:solidFill>
            <a:prstDash val="solid"/>
          </a:ln>
        </p:spPr>
      </p:sp>
      <p:sp>
        <p:nvSpPr>
          <p:cNvPr id="30" name="Shape 28"/>
          <p:cNvSpPr/>
          <p:nvPr/>
        </p:nvSpPr>
        <p:spPr>
          <a:xfrm>
            <a:off x="4817787" y="3252350"/>
            <a:ext cx="146304" cy="146304"/>
          </a:xfrm>
          <a:prstGeom prst="ellipse">
            <a:avLst/>
          </a:prstGeom>
          <a:solidFill>
            <a:srgbClr val="E0604A"/>
          </a:solidFill>
          <a:ln w="9525">
            <a:solidFill>
              <a:srgbClr val="9A2E20"/>
            </a:solidFill>
            <a:prstDash val="solid"/>
          </a:ln>
        </p:spPr>
      </p:sp>
      <p:sp>
        <p:nvSpPr>
          <p:cNvPr id="31" name="Shape 29"/>
          <p:cNvSpPr/>
          <p:nvPr/>
        </p:nvSpPr>
        <p:spPr>
          <a:xfrm flipH="1">
            <a:off x="4607578" y="3385363"/>
            <a:ext cx="224254" cy="227109"/>
          </a:xfrm>
          <a:prstGeom prst="line">
            <a:avLst/>
          </a:prstGeom>
          <a:noFill/>
          <a:ln w="12700">
            <a:solidFill>
              <a:srgbClr val="6B7385"/>
            </a:solidFill>
            <a:prstDash val="solid"/>
            <a:tailEnd type="triangle"/>
          </a:ln>
        </p:spPr>
      </p:sp>
      <p:sp>
        <p:nvSpPr>
          <p:cNvPr id="32" name="Shape 30"/>
          <p:cNvSpPr/>
          <p:nvPr/>
        </p:nvSpPr>
        <p:spPr>
          <a:xfrm>
            <a:off x="4971376" y="1834622"/>
            <a:ext cx="146304" cy="146304"/>
          </a:xfrm>
          <a:prstGeom prst="ellipse">
            <a:avLst/>
          </a:prstGeom>
          <a:solidFill>
            <a:srgbClr val="E0604A"/>
          </a:solidFill>
          <a:ln w="9525">
            <a:solidFill>
              <a:srgbClr val="9A2E20"/>
            </a:solidFill>
            <a:prstDash val="solid"/>
          </a:ln>
        </p:spPr>
      </p:sp>
      <p:sp>
        <p:nvSpPr>
          <p:cNvPr id="33" name="Shape 31"/>
          <p:cNvSpPr/>
          <p:nvPr/>
        </p:nvSpPr>
        <p:spPr>
          <a:xfrm>
            <a:off x="5128546" y="1912013"/>
            <a:ext cx="242132" cy="12218"/>
          </a:xfrm>
          <a:prstGeom prst="line">
            <a:avLst/>
          </a:prstGeom>
          <a:noFill/>
          <a:ln w="12700">
            <a:solidFill>
              <a:srgbClr val="6B7385"/>
            </a:solidFill>
            <a:prstDash val="solid"/>
            <a:tailEnd type="triangle"/>
          </a:ln>
        </p:spPr>
      </p:sp>
      <p:sp>
        <p:nvSpPr>
          <p:cNvPr id="34" name="Shape 32"/>
          <p:cNvSpPr/>
          <p:nvPr/>
        </p:nvSpPr>
        <p:spPr>
          <a:xfrm>
            <a:off x="4310778" y="2369107"/>
            <a:ext cx="146304" cy="146304"/>
          </a:xfrm>
          <a:prstGeom prst="ellipse">
            <a:avLst/>
          </a:prstGeom>
          <a:solidFill>
            <a:srgbClr val="E0604A"/>
          </a:solidFill>
          <a:ln w="9525">
            <a:solidFill>
              <a:srgbClr val="9A2E20"/>
            </a:solidFill>
            <a:prstDash val="solid"/>
          </a:ln>
        </p:spPr>
      </p:sp>
      <p:sp>
        <p:nvSpPr>
          <p:cNvPr id="35" name="Shape 33"/>
          <p:cNvSpPr/>
          <p:nvPr/>
        </p:nvSpPr>
        <p:spPr>
          <a:xfrm>
            <a:off x="4464667" y="2465892"/>
            <a:ext cx="311618" cy="91217"/>
          </a:xfrm>
          <a:prstGeom prst="line">
            <a:avLst/>
          </a:prstGeom>
          <a:noFill/>
          <a:ln w="12700">
            <a:solidFill>
              <a:srgbClr val="6B7385"/>
            </a:solidFill>
            <a:prstDash val="solid"/>
            <a:tailEnd type="triangle"/>
          </a:ln>
        </p:spPr>
      </p:sp>
      <p:sp>
        <p:nvSpPr>
          <p:cNvPr id="36" name="Shape 34"/>
          <p:cNvSpPr/>
          <p:nvPr/>
        </p:nvSpPr>
        <p:spPr>
          <a:xfrm>
            <a:off x="3633182" y="3424551"/>
            <a:ext cx="146304" cy="146304"/>
          </a:xfrm>
          <a:prstGeom prst="ellipse">
            <a:avLst/>
          </a:prstGeom>
          <a:solidFill>
            <a:srgbClr val="E0604A"/>
          </a:solidFill>
          <a:ln w="9525">
            <a:solidFill>
              <a:srgbClr val="9A2E20"/>
            </a:solidFill>
            <a:prstDash val="solid"/>
          </a:ln>
        </p:spPr>
      </p:sp>
      <p:sp>
        <p:nvSpPr>
          <p:cNvPr id="37" name="Shape 35"/>
          <p:cNvSpPr/>
          <p:nvPr/>
        </p:nvSpPr>
        <p:spPr>
          <a:xfrm flipV="1">
            <a:off x="3770157" y="3224530"/>
            <a:ext cx="254299" cy="218368"/>
          </a:xfrm>
          <a:prstGeom prst="line">
            <a:avLst/>
          </a:prstGeom>
          <a:noFill/>
          <a:ln w="12700">
            <a:solidFill>
              <a:srgbClr val="6B7385"/>
            </a:solidFill>
            <a:prstDash val="solid"/>
            <a:tailEnd type="triangle"/>
          </a:ln>
        </p:spPr>
      </p:sp>
      <p:sp>
        <p:nvSpPr>
          <p:cNvPr id="38" name="Shape 36"/>
          <p:cNvSpPr/>
          <p:nvPr/>
        </p:nvSpPr>
        <p:spPr>
          <a:xfrm>
            <a:off x="4119665" y="3061932"/>
            <a:ext cx="146304" cy="146304"/>
          </a:xfrm>
          <a:prstGeom prst="ellipse">
            <a:avLst/>
          </a:prstGeom>
          <a:solidFill>
            <a:srgbClr val="E0604A"/>
          </a:solidFill>
          <a:ln w="9525">
            <a:solidFill>
              <a:srgbClr val="9A2E20"/>
            </a:solidFill>
            <a:prstDash val="solid"/>
          </a:ln>
        </p:spPr>
      </p:sp>
      <p:sp>
        <p:nvSpPr>
          <p:cNvPr id="39" name="Shape 37"/>
          <p:cNvSpPr/>
          <p:nvPr/>
        </p:nvSpPr>
        <p:spPr>
          <a:xfrm flipH="1" flipV="1">
            <a:off x="3886738" y="2681850"/>
            <a:ext cx="258998" cy="383518"/>
          </a:xfrm>
          <a:prstGeom prst="line">
            <a:avLst/>
          </a:prstGeom>
          <a:noFill/>
          <a:ln w="12700">
            <a:solidFill>
              <a:srgbClr val="6B7385"/>
            </a:solidFill>
            <a:prstDash val="solid"/>
            <a:tailEnd type="triangle"/>
          </a:ln>
        </p:spPr>
      </p:sp>
      <p:sp>
        <p:nvSpPr>
          <p:cNvPr id="40" name="Shape 38"/>
          <p:cNvSpPr/>
          <p:nvPr/>
        </p:nvSpPr>
        <p:spPr>
          <a:xfrm>
            <a:off x="5382768" y="2926416"/>
            <a:ext cx="146304" cy="146304"/>
          </a:xfrm>
          <a:prstGeom prst="ellipse">
            <a:avLst/>
          </a:prstGeom>
          <a:solidFill>
            <a:srgbClr val="E0604A"/>
          </a:solidFill>
          <a:ln w="9525">
            <a:solidFill>
              <a:srgbClr val="9A2E20"/>
            </a:solidFill>
            <a:prstDash val="solid"/>
          </a:ln>
        </p:spPr>
      </p:sp>
      <p:sp>
        <p:nvSpPr>
          <p:cNvPr id="41" name="Shape 39"/>
          <p:cNvSpPr/>
          <p:nvPr/>
        </p:nvSpPr>
        <p:spPr>
          <a:xfrm flipH="1" flipV="1">
            <a:off x="4961702" y="2878860"/>
            <a:ext cx="412496" cy="100748"/>
          </a:xfrm>
          <a:prstGeom prst="line">
            <a:avLst/>
          </a:prstGeom>
          <a:noFill/>
          <a:ln w="12700">
            <a:solidFill>
              <a:srgbClr val="6B7385"/>
            </a:solidFill>
            <a:prstDash val="solid"/>
            <a:tailEnd type="triangle"/>
          </a:ln>
        </p:spPr>
      </p:sp>
      <p:sp>
        <p:nvSpPr>
          <p:cNvPr id="42" name="Shape 40"/>
          <p:cNvSpPr/>
          <p:nvPr/>
        </p:nvSpPr>
        <p:spPr>
          <a:xfrm>
            <a:off x="3827093" y="2069805"/>
            <a:ext cx="146304" cy="146304"/>
          </a:xfrm>
          <a:prstGeom prst="ellipse">
            <a:avLst/>
          </a:prstGeom>
          <a:solidFill>
            <a:srgbClr val="E0604A"/>
          </a:solidFill>
          <a:ln w="9525">
            <a:solidFill>
              <a:srgbClr val="9A2E20"/>
            </a:solidFill>
            <a:prstDash val="solid"/>
          </a:ln>
        </p:spPr>
      </p:sp>
      <p:sp>
        <p:nvSpPr>
          <p:cNvPr id="43" name="Shape 41"/>
          <p:cNvSpPr/>
          <p:nvPr/>
        </p:nvSpPr>
        <p:spPr>
          <a:xfrm>
            <a:off x="3949746" y="2210976"/>
            <a:ext cx="188105" cy="258475"/>
          </a:xfrm>
          <a:prstGeom prst="line">
            <a:avLst/>
          </a:prstGeom>
          <a:noFill/>
          <a:ln w="12700">
            <a:solidFill>
              <a:srgbClr val="6B7385"/>
            </a:solidFill>
            <a:prstDash val="solid"/>
            <a:tailEnd type="triangle"/>
          </a:ln>
        </p:spPr>
      </p:sp>
      <p:sp>
        <p:nvSpPr>
          <p:cNvPr id="44" name="Shape 42"/>
          <p:cNvSpPr/>
          <p:nvPr/>
        </p:nvSpPr>
        <p:spPr>
          <a:xfrm>
            <a:off x="5237187" y="2342830"/>
            <a:ext cx="146304" cy="146304"/>
          </a:xfrm>
          <a:prstGeom prst="ellipse">
            <a:avLst/>
          </a:prstGeom>
          <a:solidFill>
            <a:srgbClr val="E0604A"/>
          </a:solidFill>
          <a:ln w="9525">
            <a:solidFill>
              <a:srgbClr val="9A2E20"/>
            </a:solidFill>
            <a:prstDash val="solid"/>
          </a:ln>
        </p:spPr>
      </p:sp>
      <p:sp>
        <p:nvSpPr>
          <p:cNvPr id="45" name="Shape 43"/>
          <p:cNvSpPr/>
          <p:nvPr/>
        </p:nvSpPr>
        <p:spPr>
          <a:xfrm flipH="1" flipV="1">
            <a:off x="5225413" y="1879954"/>
            <a:ext cx="71762" cy="452940"/>
          </a:xfrm>
          <a:prstGeom prst="line">
            <a:avLst/>
          </a:prstGeom>
          <a:noFill/>
          <a:ln w="12700">
            <a:solidFill>
              <a:srgbClr val="6B7385"/>
            </a:solidFill>
            <a:prstDash val="solid"/>
            <a:tailEnd type="triangle"/>
          </a:ln>
        </p:spPr>
      </p:sp>
      <p:sp>
        <p:nvSpPr>
          <p:cNvPr id="46" name="Shape 44"/>
          <p:cNvSpPr/>
          <p:nvPr/>
        </p:nvSpPr>
        <p:spPr>
          <a:xfrm>
            <a:off x="3017520" y="2720340"/>
            <a:ext cx="365760" cy="91"/>
          </a:xfrm>
          <a:prstGeom prst="line">
            <a:avLst/>
          </a:prstGeom>
          <a:noFill/>
          <a:ln w="31750">
            <a:solidFill>
              <a:srgbClr val="C8414C"/>
            </a:solidFill>
            <a:prstDash val="solid"/>
            <a:tailEnd type="triangle"/>
          </a:ln>
        </p:spPr>
      </p:sp>
      <p:sp>
        <p:nvSpPr>
          <p:cNvPr id="47" name="Text 45"/>
          <p:cNvSpPr/>
          <p:nvPr/>
        </p:nvSpPr>
        <p:spPr>
          <a:xfrm>
            <a:off x="2907792" y="2391156"/>
            <a:ext cx="59436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heat</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4023360"/>
          <a:ext cx="4937760" cy="914400"/>
        </p:xfrm>
        <a:graphic>
          <a:graphicData uri="http://schemas.openxmlformats.org/drawingml/2006/table">
            <a:tbl>
              <a:tblPr/>
              <a:tblGrid>
                <a:gridCol w="1737360"/>
                <a:gridCol w="1600200"/>
                <a:gridCol w="1600200"/>
              </a:tblGrid>
              <a:tr h="274320">
                <a:tc>
                  <a:txBody>
                    <a:bodyPr/>
                    <a:lstStyle/>
                    <a:p>
                      <a:pPr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Cold gas</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Hot gas</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27432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Average speed</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lower</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higher</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7432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Average kinetic energy</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lower</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higher</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Collisions with walls</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fewer, gentler</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more often, harder</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49" name="Shape 46"/>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50" name="Text 4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What temperature tells us</a:t>
            </a:r>
            <a:endParaRPr lang="en-US" sz="1300" dirty="0"/>
          </a:p>
        </p:txBody>
      </p:sp>
      <p:sp>
        <p:nvSpPr>
          <p:cNvPr id="51" name="Text 4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particles in a gas move at a </a:t>
            </a:r>
            <a:r>
              <a:rPr lang="en-US" sz="1150" b="1" dirty="0">
                <a:solidFill>
                  <a:srgbClr val="262B3A"/>
                </a:solidFill>
                <a:latin typeface="Calibri" pitchFamily="34" charset="0"/>
                <a:ea typeface="Calibri" pitchFamily="34" charset="-122"/>
                <a:cs typeface="Calibri" pitchFamily="34" charset="-120"/>
              </a:rPr>
              <a:t>range of speeds</a:t>
            </a:r>
            <a:r>
              <a:rPr lang="en-US" sz="1150" dirty="0">
                <a:solidFill>
                  <a:srgbClr val="262B3A"/>
                </a:solidFill>
                <a:latin typeface="Calibri" pitchFamily="34" charset="0"/>
                <a:ea typeface="Calibri" pitchFamily="34" charset="-122"/>
                <a:cs typeface="Calibri" pitchFamily="34" charset="-120"/>
              </a:rPr>
              <a:t>; some fast, some slow.</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temperature</a:t>
            </a:r>
            <a:r>
              <a:rPr lang="en-US" sz="1150" dirty="0">
                <a:solidFill>
                  <a:srgbClr val="262B3A"/>
                </a:solidFill>
                <a:latin typeface="Calibri" pitchFamily="34" charset="0"/>
                <a:ea typeface="Calibri" pitchFamily="34" charset="-122"/>
                <a:cs typeface="Calibri" pitchFamily="34" charset="-120"/>
              </a:rPr>
              <a:t> of a gas is related to the </a:t>
            </a:r>
            <a:r>
              <a:rPr lang="en-US" sz="1150" b="1" dirty="0">
                <a:solidFill>
                  <a:srgbClr val="262B3A"/>
                </a:solidFill>
                <a:latin typeface="Calibri" pitchFamily="34" charset="0"/>
                <a:ea typeface="Calibri" pitchFamily="34" charset="-122"/>
                <a:cs typeface="Calibri" pitchFamily="34" charset="-120"/>
              </a:rPr>
              <a:t>average kinetic energy</a:t>
            </a:r>
            <a:r>
              <a:rPr lang="en-US" sz="1150" dirty="0">
                <a:solidFill>
                  <a:srgbClr val="262B3A"/>
                </a:solidFill>
                <a:latin typeface="Calibri" pitchFamily="34" charset="0"/>
                <a:ea typeface="Calibri" pitchFamily="34" charset="-122"/>
                <a:cs typeface="Calibri" pitchFamily="34" charset="-120"/>
              </a:rPr>
              <a:t> of its particles.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Heating a gas makes its particles move </a:t>
            </a:r>
            <a:r>
              <a:rPr lang="en-US" sz="1150" b="1" dirty="0">
                <a:solidFill>
                  <a:srgbClr val="262B3A"/>
                </a:solidFill>
                <a:latin typeface="Calibri" pitchFamily="34" charset="0"/>
                <a:ea typeface="Calibri" pitchFamily="34" charset="-122"/>
                <a:cs typeface="Calibri" pitchFamily="34" charset="-120"/>
              </a:rPr>
              <a:t>faster on average</a:t>
            </a:r>
            <a:r>
              <a:rPr lang="en-US" sz="1150" dirty="0">
                <a:solidFill>
                  <a:srgbClr val="262B3A"/>
                </a:solidFill>
                <a:latin typeface="Calibri" pitchFamily="34" charset="0"/>
                <a:ea typeface="Calibri" pitchFamily="34" charset="-122"/>
                <a:cs typeface="Calibri" pitchFamily="34" charset="-120"/>
              </a:rPr>
              <a:t>: their average kinetic energy increases, so the temperature rises.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Cooling a gas slows the particles down on average.</a:t>
            </a:r>
            <a:endParaRPr lang="en-US" sz="1150" dirty="0"/>
          </a:p>
        </p:txBody>
      </p:sp>
      <p:sp>
        <p:nvSpPr>
          <p:cNvPr id="52" name="Shape 4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3" name="Text 5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54" name="Text 51"/>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Oxygen at 20 °C and oxygen at 80 °C. Compare the particles.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Same gas   </a:t>
            </a:r>
            <a:r>
              <a:rPr lang="en-US" sz="1050" dirty="0">
                <a:solidFill>
                  <a:srgbClr val="262B3A"/>
                </a:solidFill>
                <a:latin typeface="Calibri" pitchFamily="34" charset="0"/>
                <a:ea typeface="Calibri" pitchFamily="34" charset="-122"/>
                <a:cs typeface="Calibri" pitchFamily="34" charset="-120"/>
              </a:rPr>
              <a:t>same particles, same mass of each particle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Hotter   </a:t>
            </a:r>
            <a:r>
              <a:rPr lang="en-US" sz="1050" dirty="0">
                <a:solidFill>
                  <a:srgbClr val="262B3A"/>
                </a:solidFill>
                <a:latin typeface="Calibri" pitchFamily="34" charset="0"/>
                <a:ea typeface="Calibri" pitchFamily="34" charset="-122"/>
                <a:cs typeface="Calibri" pitchFamily="34" charset="-120"/>
              </a:rPr>
              <a:t>80 °C gas has the higher average kinetic energy</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So   </a:t>
            </a:r>
            <a:r>
              <a:rPr lang="en-US" sz="1050" dirty="0">
                <a:solidFill>
                  <a:srgbClr val="262B3A"/>
                </a:solidFill>
                <a:latin typeface="Calibri" pitchFamily="34" charset="0"/>
                <a:ea typeface="Calibri" pitchFamily="34" charset="-122"/>
                <a:cs typeface="Calibri" pitchFamily="34" charset="-120"/>
              </a:rPr>
              <a:t>its particles move faster on average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higher temperature → faster particles</a:t>
            </a:r>
            <a:endParaRPr lang="en-US" sz="1050" dirty="0"/>
          </a:p>
        </p:txBody>
      </p:sp>
      <p:sp>
        <p:nvSpPr>
          <p:cNvPr id="55" name="Shape 52"/>
          <p:cNvSpPr/>
          <p:nvPr/>
        </p:nvSpPr>
        <p:spPr>
          <a:xfrm>
            <a:off x="411480" y="5833872"/>
            <a:ext cx="11368735" cy="530352"/>
          </a:xfrm>
          <a:prstGeom prst="rect">
            <a:avLst/>
          </a:prstGeom>
          <a:solidFill>
            <a:srgbClr val="FFF4E0"/>
          </a:solidFill>
          <a:ln w="6350">
            <a:solidFill>
              <a:srgbClr val="F1D9A8"/>
            </a:solidFill>
            <a:prstDash val="solid"/>
          </a:ln>
        </p:spPr>
      </p:sp>
      <p:sp>
        <p:nvSpPr>
          <p:cNvPr id="56" name="Shape 53"/>
          <p:cNvSpPr/>
          <p:nvPr/>
        </p:nvSpPr>
        <p:spPr>
          <a:xfrm>
            <a:off x="411480" y="5833872"/>
            <a:ext cx="82296" cy="530352"/>
          </a:xfrm>
          <a:prstGeom prst="rect">
            <a:avLst/>
          </a:prstGeom>
          <a:solidFill>
            <a:srgbClr val="E39A2F"/>
          </a:solidFill>
          <a:ln w="12700">
            <a:solidFill>
              <a:srgbClr val="E39A2F"/>
            </a:solidFill>
            <a:prstDash val="solid"/>
          </a:ln>
        </p:spPr>
      </p:sp>
      <p:sp>
        <p:nvSpPr>
          <p:cNvPr id="57" name="Text 5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gas cools from 50 °C to 10 °C. What happens to the average speed of its particles? Does every particle slow down by the same amount?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P6.2.1–P6.2.4 • the particle model and gas pressure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8</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the particle model to explain why steam has a much </a:t>
            </a:r>
            <a:r>
              <a:rPr lang="en-US" sz="1250" b="1" dirty="0">
                <a:solidFill>
                  <a:srgbClr val="262B3A"/>
                </a:solidFill>
                <a:latin typeface="Calibri" pitchFamily="34" charset="0"/>
                <a:ea typeface="Calibri" pitchFamily="34" charset="-122"/>
                <a:cs typeface="Calibri" pitchFamily="34" charset="-120"/>
              </a:rPr>
              <a:t>lower density</a:t>
            </a:r>
            <a:r>
              <a:rPr lang="en-US" sz="1250" dirty="0">
                <a:solidFill>
                  <a:srgbClr val="262B3A"/>
                </a:solidFill>
                <a:latin typeface="Calibri" pitchFamily="34" charset="0"/>
                <a:ea typeface="Calibri" pitchFamily="34" charset="-122"/>
                <a:cs typeface="Calibri" pitchFamily="34" charset="-120"/>
              </a:rPr>
              <a:t> than liquid water.</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5DCEB"/>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a:t>
            </a:r>
            <a:r>
              <a:rPr lang="en-US" sz="1250" b="1" dirty="0">
                <a:solidFill>
                  <a:srgbClr val="262B3A"/>
                </a:solidFill>
                <a:latin typeface="Calibri" pitchFamily="34" charset="0"/>
                <a:ea typeface="Calibri" pitchFamily="34" charset="-122"/>
                <a:cs typeface="Calibri" pitchFamily="34" charset="-120"/>
              </a:rPr>
              <a:t>motion</a:t>
            </a:r>
            <a:r>
              <a:rPr lang="en-US" sz="1250" dirty="0">
                <a:solidFill>
                  <a:srgbClr val="262B3A"/>
                </a:solidFill>
                <a:latin typeface="Calibri" pitchFamily="34" charset="0"/>
                <a:ea typeface="Calibri" pitchFamily="34" charset="-122"/>
                <a:cs typeface="Calibri" pitchFamily="34" charset="-120"/>
              </a:rPr>
              <a:t> of the particles in a gas.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5DCEB"/>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the particles of a gas exert a </a:t>
            </a:r>
            <a:r>
              <a:rPr lang="en-US" sz="1250" b="1" dirty="0">
                <a:solidFill>
                  <a:srgbClr val="262B3A"/>
                </a:solidFill>
                <a:latin typeface="Calibri" pitchFamily="34" charset="0"/>
                <a:ea typeface="Calibri" pitchFamily="34" charset="-122"/>
                <a:cs typeface="Calibri" pitchFamily="34" charset="-120"/>
              </a:rPr>
              <a:t>pressure</a:t>
            </a:r>
            <a:r>
              <a:rPr lang="en-US" sz="1250" dirty="0">
                <a:solidFill>
                  <a:srgbClr val="262B3A"/>
                </a:solidFill>
                <a:latin typeface="Calibri" pitchFamily="34" charset="0"/>
                <a:ea typeface="Calibri" pitchFamily="34" charset="-122"/>
                <a:cs typeface="Calibri" pitchFamily="34" charset="-120"/>
              </a:rPr>
              <a:t> on the walls of their container.</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5DCEB"/>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The temperature of a gas increases. What happens to the </a:t>
            </a:r>
            <a:r>
              <a:rPr lang="en-US" sz="1250" b="1" dirty="0">
                <a:solidFill>
                  <a:srgbClr val="262B3A"/>
                </a:solidFill>
                <a:latin typeface="Calibri" pitchFamily="34" charset="0"/>
                <a:ea typeface="Calibri" pitchFamily="34" charset="-122"/>
                <a:cs typeface="Calibri" pitchFamily="34" charset="-120"/>
              </a:rPr>
              <a:t>average kinetic energy</a:t>
            </a:r>
            <a:r>
              <a:rPr lang="en-US" sz="1250" dirty="0">
                <a:solidFill>
                  <a:srgbClr val="262B3A"/>
                </a:solidFill>
                <a:latin typeface="Calibri" pitchFamily="34" charset="0"/>
                <a:ea typeface="Calibri" pitchFamily="34" charset="-122"/>
                <a:cs typeface="Calibri" pitchFamily="34" charset="-120"/>
              </a:rPr>
              <a:t> of its particles?</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Heating a gas at constant volume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P6.2.4 • in a sealed, rigid container, a hotter gas has a higher pressure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P6.2.4  |  9</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sealed steel can: same particles, same volume; gauge range 0–300 kPa</a:t>
            </a:r>
            <a:endParaRPr lang="en-US" sz="1000" dirty="0"/>
          </a:p>
        </p:txBody>
      </p:sp>
      <p:sp>
        <p:nvSpPr>
          <p:cNvPr id="10" name="Shape 8"/>
          <p:cNvSpPr/>
          <p:nvPr/>
        </p:nvSpPr>
        <p:spPr>
          <a:xfrm flipV="1">
            <a:off x="1600200" y="2057400"/>
            <a:ext cx="91" cy="320040"/>
          </a:xfrm>
          <a:prstGeom prst="line">
            <a:avLst/>
          </a:prstGeom>
          <a:noFill/>
          <a:ln w="31750">
            <a:solidFill>
              <a:srgbClr val="1A2340"/>
            </a:solidFill>
            <a:prstDash val="solid"/>
          </a:ln>
        </p:spPr>
      </p:sp>
      <p:sp>
        <p:nvSpPr>
          <p:cNvPr id="11" name="Shape 9"/>
          <p:cNvSpPr/>
          <p:nvPr/>
        </p:nvSpPr>
        <p:spPr>
          <a:xfrm>
            <a:off x="1271016" y="1389888"/>
            <a:ext cx="658368" cy="658368"/>
          </a:xfrm>
          <a:prstGeom prst="ellipse">
            <a:avLst/>
          </a:prstGeom>
          <a:solidFill>
            <a:srgbClr val="FFFFFF"/>
          </a:solidFill>
          <a:ln w="22225">
            <a:solidFill>
              <a:srgbClr val="1A2340"/>
            </a:solidFill>
            <a:prstDash val="solid"/>
          </a:ln>
        </p:spPr>
      </p:sp>
      <p:sp>
        <p:nvSpPr>
          <p:cNvPr id="12" name="Shape 10"/>
          <p:cNvSpPr/>
          <p:nvPr/>
        </p:nvSpPr>
        <p:spPr>
          <a:xfrm flipH="1">
            <a:off x="1386053" y="1882010"/>
            <a:ext cx="51209" cy="51209"/>
          </a:xfrm>
          <a:prstGeom prst="line">
            <a:avLst/>
          </a:prstGeom>
          <a:noFill/>
          <a:ln w="9525">
            <a:solidFill>
              <a:srgbClr val="1A2340"/>
            </a:solidFill>
            <a:prstDash val="solid"/>
          </a:ln>
        </p:spPr>
      </p:sp>
      <p:sp>
        <p:nvSpPr>
          <p:cNvPr id="13" name="Shape 11"/>
          <p:cNvSpPr/>
          <p:nvPr/>
        </p:nvSpPr>
        <p:spPr>
          <a:xfrm flipH="1">
            <a:off x="1312173" y="1800451"/>
            <a:ext cx="37569" cy="12207"/>
          </a:xfrm>
          <a:prstGeom prst="line">
            <a:avLst/>
          </a:prstGeom>
          <a:noFill/>
          <a:ln w="9525">
            <a:solidFill>
              <a:srgbClr val="1A2340"/>
            </a:solidFill>
            <a:prstDash val="solid"/>
          </a:ln>
        </p:spPr>
      </p:sp>
      <p:sp>
        <p:nvSpPr>
          <p:cNvPr id="14" name="Shape 12"/>
          <p:cNvSpPr/>
          <p:nvPr/>
        </p:nvSpPr>
        <p:spPr>
          <a:xfrm flipH="1" flipV="1">
            <a:off x="1301079" y="1671696"/>
            <a:ext cx="39016" cy="6179"/>
          </a:xfrm>
          <a:prstGeom prst="line">
            <a:avLst/>
          </a:prstGeom>
          <a:noFill/>
          <a:ln w="9525">
            <a:solidFill>
              <a:srgbClr val="1A2340"/>
            </a:solidFill>
            <a:prstDash val="solid"/>
          </a:ln>
        </p:spPr>
      </p:sp>
      <p:sp>
        <p:nvSpPr>
          <p:cNvPr id="15" name="Shape 13"/>
          <p:cNvSpPr/>
          <p:nvPr/>
        </p:nvSpPr>
        <p:spPr>
          <a:xfrm flipH="1" flipV="1">
            <a:off x="1355190" y="1541062"/>
            <a:ext cx="31958" cy="23219"/>
          </a:xfrm>
          <a:prstGeom prst="line">
            <a:avLst/>
          </a:prstGeom>
          <a:noFill/>
          <a:ln w="9525">
            <a:solidFill>
              <a:srgbClr val="1A2340"/>
            </a:solidFill>
            <a:prstDash val="solid"/>
          </a:ln>
        </p:spPr>
      </p:sp>
      <p:sp>
        <p:nvSpPr>
          <p:cNvPr id="16" name="Shape 14"/>
          <p:cNvSpPr/>
          <p:nvPr/>
        </p:nvSpPr>
        <p:spPr>
          <a:xfrm flipH="1" flipV="1">
            <a:off x="1462709" y="1449231"/>
            <a:ext cx="17934" cy="35197"/>
          </a:xfrm>
          <a:prstGeom prst="line">
            <a:avLst/>
          </a:prstGeom>
          <a:noFill/>
          <a:ln w="9525">
            <a:solidFill>
              <a:srgbClr val="1A2340"/>
            </a:solidFill>
            <a:prstDash val="solid"/>
          </a:ln>
        </p:spPr>
      </p:sp>
      <p:sp>
        <p:nvSpPr>
          <p:cNvPr id="17" name="Shape 15"/>
          <p:cNvSpPr/>
          <p:nvPr/>
        </p:nvSpPr>
        <p:spPr>
          <a:xfrm flipV="1">
            <a:off x="1600200" y="1416223"/>
            <a:ext cx="91" cy="72420"/>
          </a:xfrm>
          <a:prstGeom prst="line">
            <a:avLst/>
          </a:prstGeom>
          <a:noFill/>
          <a:ln w="9525">
            <a:solidFill>
              <a:srgbClr val="1A2340"/>
            </a:solidFill>
            <a:prstDash val="solid"/>
          </a:ln>
        </p:spPr>
      </p:sp>
      <p:sp>
        <p:nvSpPr>
          <p:cNvPr id="18" name="Shape 16"/>
          <p:cNvSpPr/>
          <p:nvPr/>
        </p:nvSpPr>
        <p:spPr>
          <a:xfrm flipV="1">
            <a:off x="1719757" y="1449231"/>
            <a:ext cx="17934" cy="35197"/>
          </a:xfrm>
          <a:prstGeom prst="line">
            <a:avLst/>
          </a:prstGeom>
          <a:noFill/>
          <a:ln w="9525">
            <a:solidFill>
              <a:srgbClr val="1A2340"/>
            </a:solidFill>
            <a:prstDash val="solid"/>
          </a:ln>
        </p:spPr>
      </p:sp>
      <p:sp>
        <p:nvSpPr>
          <p:cNvPr id="19" name="Shape 17"/>
          <p:cNvSpPr/>
          <p:nvPr/>
        </p:nvSpPr>
        <p:spPr>
          <a:xfrm flipV="1">
            <a:off x="1813252" y="1541062"/>
            <a:ext cx="31958" cy="23219"/>
          </a:xfrm>
          <a:prstGeom prst="line">
            <a:avLst/>
          </a:prstGeom>
          <a:noFill/>
          <a:ln w="9525">
            <a:solidFill>
              <a:srgbClr val="1A2340"/>
            </a:solidFill>
            <a:prstDash val="solid"/>
          </a:ln>
        </p:spPr>
      </p:sp>
      <p:sp>
        <p:nvSpPr>
          <p:cNvPr id="20" name="Shape 18"/>
          <p:cNvSpPr/>
          <p:nvPr/>
        </p:nvSpPr>
        <p:spPr>
          <a:xfrm flipV="1">
            <a:off x="1860305" y="1671696"/>
            <a:ext cx="39016" cy="6179"/>
          </a:xfrm>
          <a:prstGeom prst="line">
            <a:avLst/>
          </a:prstGeom>
          <a:noFill/>
          <a:ln w="9525">
            <a:solidFill>
              <a:srgbClr val="1A2340"/>
            </a:solidFill>
            <a:prstDash val="solid"/>
          </a:ln>
        </p:spPr>
      </p:sp>
      <p:sp>
        <p:nvSpPr>
          <p:cNvPr id="21" name="Shape 19"/>
          <p:cNvSpPr/>
          <p:nvPr/>
        </p:nvSpPr>
        <p:spPr>
          <a:xfrm>
            <a:off x="1850658" y="1800451"/>
            <a:ext cx="37569" cy="12207"/>
          </a:xfrm>
          <a:prstGeom prst="line">
            <a:avLst/>
          </a:prstGeom>
          <a:noFill/>
          <a:ln w="9525">
            <a:solidFill>
              <a:srgbClr val="1A2340"/>
            </a:solidFill>
            <a:prstDash val="solid"/>
          </a:ln>
        </p:spPr>
      </p:sp>
      <p:sp>
        <p:nvSpPr>
          <p:cNvPr id="22" name="Shape 20"/>
          <p:cNvSpPr/>
          <p:nvPr/>
        </p:nvSpPr>
        <p:spPr>
          <a:xfrm>
            <a:off x="1763138" y="1882010"/>
            <a:ext cx="51209" cy="51209"/>
          </a:xfrm>
          <a:prstGeom prst="line">
            <a:avLst/>
          </a:prstGeom>
          <a:noFill/>
          <a:ln w="9525">
            <a:solidFill>
              <a:srgbClr val="1A2340"/>
            </a:solidFill>
            <a:prstDash val="solid"/>
          </a:ln>
        </p:spPr>
      </p:sp>
      <p:sp>
        <p:nvSpPr>
          <p:cNvPr id="23" name="Shape 21"/>
          <p:cNvSpPr/>
          <p:nvPr/>
        </p:nvSpPr>
        <p:spPr>
          <a:xfrm flipH="1" flipV="1">
            <a:off x="1432607" y="1551479"/>
            <a:ext cx="167593" cy="167593"/>
          </a:xfrm>
          <a:prstGeom prst="line">
            <a:avLst/>
          </a:prstGeom>
          <a:noFill/>
          <a:ln w="25400">
            <a:solidFill>
              <a:srgbClr val="C8414C"/>
            </a:solidFill>
            <a:prstDash val="solid"/>
          </a:ln>
        </p:spPr>
      </p:sp>
      <p:sp>
        <p:nvSpPr>
          <p:cNvPr id="24" name="Shape 22"/>
          <p:cNvSpPr/>
          <p:nvPr/>
        </p:nvSpPr>
        <p:spPr>
          <a:xfrm>
            <a:off x="1568196" y="1687068"/>
            <a:ext cx="64008" cy="64008"/>
          </a:xfrm>
          <a:prstGeom prst="ellipse">
            <a:avLst/>
          </a:prstGeom>
          <a:solidFill>
            <a:srgbClr val="1A2340"/>
          </a:solidFill>
          <a:ln w="9525">
            <a:solidFill>
              <a:srgbClr val="1A2340"/>
            </a:solidFill>
            <a:prstDash val="solid"/>
          </a:ln>
        </p:spPr>
      </p:sp>
      <p:sp>
        <p:nvSpPr>
          <p:cNvPr id="25" name="Text 23"/>
          <p:cNvSpPr/>
          <p:nvPr/>
        </p:nvSpPr>
        <p:spPr>
          <a:xfrm>
            <a:off x="1965960" y="1508760"/>
            <a:ext cx="91440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100 kPa</a:t>
            </a:r>
            <a:endParaRPr lang="en-US" sz="1050" dirty="0"/>
          </a:p>
        </p:txBody>
      </p:sp>
      <p:sp>
        <p:nvSpPr>
          <p:cNvPr id="26" name="Shape 24"/>
          <p:cNvSpPr/>
          <p:nvPr/>
        </p:nvSpPr>
        <p:spPr>
          <a:xfrm>
            <a:off x="777240" y="2377440"/>
            <a:ext cx="1645920" cy="1920240"/>
          </a:xfrm>
          <a:prstGeom prst="roundRect">
            <a:avLst>
              <a:gd name="adj" fmla="val 4444"/>
            </a:avLst>
          </a:prstGeom>
          <a:solidFill>
            <a:srgbClr val="F1F3F7"/>
          </a:solidFill>
          <a:ln w="31750">
            <a:solidFill>
              <a:srgbClr val="4A5262"/>
            </a:solidFill>
            <a:prstDash val="solid"/>
          </a:ln>
        </p:spPr>
      </p:sp>
      <p:sp>
        <p:nvSpPr>
          <p:cNvPr id="27" name="Shape 25"/>
          <p:cNvSpPr/>
          <p:nvPr/>
        </p:nvSpPr>
        <p:spPr>
          <a:xfrm>
            <a:off x="1747349" y="2797891"/>
            <a:ext cx="146304" cy="146304"/>
          </a:xfrm>
          <a:prstGeom prst="ellipse">
            <a:avLst/>
          </a:prstGeom>
          <a:solidFill>
            <a:srgbClr val="5B9BD5"/>
          </a:solidFill>
          <a:ln w="9525">
            <a:solidFill>
              <a:srgbClr val="2E5B8A"/>
            </a:solidFill>
            <a:prstDash val="solid"/>
          </a:ln>
        </p:spPr>
      </p:sp>
      <p:sp>
        <p:nvSpPr>
          <p:cNvPr id="28" name="Shape 26"/>
          <p:cNvSpPr/>
          <p:nvPr/>
        </p:nvSpPr>
        <p:spPr>
          <a:xfrm>
            <a:off x="1884035" y="2926183"/>
            <a:ext cx="66450" cy="57672"/>
          </a:xfrm>
          <a:prstGeom prst="line">
            <a:avLst/>
          </a:prstGeom>
          <a:noFill/>
          <a:ln w="12700">
            <a:solidFill>
              <a:srgbClr val="6B7385"/>
            </a:solidFill>
            <a:prstDash val="solid"/>
            <a:tailEnd type="triangle"/>
          </a:ln>
        </p:spPr>
      </p:sp>
      <p:sp>
        <p:nvSpPr>
          <p:cNvPr id="29" name="Shape 27"/>
          <p:cNvSpPr/>
          <p:nvPr/>
        </p:nvSpPr>
        <p:spPr>
          <a:xfrm>
            <a:off x="1014424" y="3660312"/>
            <a:ext cx="146304" cy="146304"/>
          </a:xfrm>
          <a:prstGeom prst="ellipse">
            <a:avLst/>
          </a:prstGeom>
          <a:solidFill>
            <a:srgbClr val="5B9BD5"/>
          </a:solidFill>
          <a:ln w="9525">
            <a:solidFill>
              <a:srgbClr val="2E5B8A"/>
            </a:solidFill>
            <a:prstDash val="solid"/>
          </a:ln>
        </p:spPr>
      </p:sp>
      <p:sp>
        <p:nvSpPr>
          <p:cNvPr id="30" name="Shape 28"/>
          <p:cNvSpPr/>
          <p:nvPr/>
        </p:nvSpPr>
        <p:spPr>
          <a:xfrm flipH="1" flipV="1">
            <a:off x="986161" y="3572605"/>
            <a:ext cx="56550" cy="89696"/>
          </a:xfrm>
          <a:prstGeom prst="line">
            <a:avLst/>
          </a:prstGeom>
          <a:noFill/>
          <a:ln w="12700">
            <a:solidFill>
              <a:srgbClr val="6B7385"/>
            </a:solidFill>
            <a:prstDash val="solid"/>
            <a:tailEnd type="triangle"/>
          </a:ln>
        </p:spPr>
      </p:sp>
      <p:sp>
        <p:nvSpPr>
          <p:cNvPr id="31" name="Shape 29"/>
          <p:cNvSpPr/>
          <p:nvPr/>
        </p:nvSpPr>
        <p:spPr>
          <a:xfrm>
            <a:off x="1198702" y="2806835"/>
            <a:ext cx="146304" cy="146304"/>
          </a:xfrm>
          <a:prstGeom prst="ellipse">
            <a:avLst/>
          </a:prstGeom>
          <a:solidFill>
            <a:srgbClr val="5B9BD5"/>
          </a:solidFill>
          <a:ln w="9525">
            <a:solidFill>
              <a:srgbClr val="2E5B8A"/>
            </a:solidFill>
            <a:prstDash val="solid"/>
          </a:ln>
        </p:spPr>
      </p:sp>
      <p:sp>
        <p:nvSpPr>
          <p:cNvPr id="32" name="Shape 30"/>
          <p:cNvSpPr/>
          <p:nvPr/>
        </p:nvSpPr>
        <p:spPr>
          <a:xfrm flipH="1" flipV="1">
            <a:off x="1244016" y="2694258"/>
            <a:ext cx="15368" cy="102534"/>
          </a:xfrm>
          <a:prstGeom prst="line">
            <a:avLst/>
          </a:prstGeom>
          <a:noFill/>
          <a:ln w="12700">
            <a:solidFill>
              <a:srgbClr val="6B7385"/>
            </a:solidFill>
            <a:prstDash val="solid"/>
            <a:tailEnd type="triangle"/>
          </a:ln>
        </p:spPr>
      </p:sp>
      <p:sp>
        <p:nvSpPr>
          <p:cNvPr id="33" name="Shape 31"/>
          <p:cNvSpPr/>
          <p:nvPr/>
        </p:nvSpPr>
        <p:spPr>
          <a:xfrm>
            <a:off x="1689471" y="3626998"/>
            <a:ext cx="146304" cy="146304"/>
          </a:xfrm>
          <a:prstGeom prst="ellipse">
            <a:avLst/>
          </a:prstGeom>
          <a:solidFill>
            <a:srgbClr val="5B9BD5"/>
          </a:solidFill>
          <a:ln w="9525">
            <a:solidFill>
              <a:srgbClr val="2E5B8A"/>
            </a:solidFill>
            <a:prstDash val="solid"/>
          </a:ln>
        </p:spPr>
      </p:sp>
      <p:sp>
        <p:nvSpPr>
          <p:cNvPr id="34" name="Shape 32"/>
          <p:cNvSpPr/>
          <p:nvPr/>
        </p:nvSpPr>
        <p:spPr>
          <a:xfrm flipH="1">
            <a:off x="1592257" y="3720814"/>
            <a:ext cx="88820" cy="22507"/>
          </a:xfrm>
          <a:prstGeom prst="line">
            <a:avLst/>
          </a:prstGeom>
          <a:noFill/>
          <a:ln w="12700">
            <a:solidFill>
              <a:srgbClr val="6B7385"/>
            </a:solidFill>
            <a:prstDash val="solid"/>
            <a:tailEnd type="triangle"/>
          </a:ln>
        </p:spPr>
      </p:sp>
      <p:sp>
        <p:nvSpPr>
          <p:cNvPr id="35" name="Shape 33"/>
          <p:cNvSpPr/>
          <p:nvPr/>
        </p:nvSpPr>
        <p:spPr>
          <a:xfrm>
            <a:off x="1270333" y="3239575"/>
            <a:ext cx="146304" cy="146304"/>
          </a:xfrm>
          <a:prstGeom prst="ellipse">
            <a:avLst/>
          </a:prstGeom>
          <a:solidFill>
            <a:srgbClr val="5B9BD5"/>
          </a:solidFill>
          <a:ln w="9525">
            <a:solidFill>
              <a:srgbClr val="2E5B8A"/>
            </a:solidFill>
            <a:prstDash val="solid"/>
          </a:ln>
        </p:spPr>
      </p:sp>
      <p:sp>
        <p:nvSpPr>
          <p:cNvPr id="36" name="Shape 34"/>
          <p:cNvSpPr/>
          <p:nvPr/>
        </p:nvSpPr>
        <p:spPr>
          <a:xfrm flipH="1" flipV="1">
            <a:off x="1341939" y="3136167"/>
            <a:ext cx="809" cy="92439"/>
          </a:xfrm>
          <a:prstGeom prst="line">
            <a:avLst/>
          </a:prstGeom>
          <a:noFill/>
          <a:ln w="12700">
            <a:solidFill>
              <a:srgbClr val="6B7385"/>
            </a:solidFill>
            <a:prstDash val="solid"/>
            <a:tailEnd type="triangle"/>
          </a:ln>
        </p:spPr>
      </p:sp>
      <p:sp>
        <p:nvSpPr>
          <p:cNvPr id="37" name="Shape 35"/>
          <p:cNvSpPr/>
          <p:nvPr/>
        </p:nvSpPr>
        <p:spPr>
          <a:xfrm>
            <a:off x="2060230" y="3127192"/>
            <a:ext cx="146304" cy="146304"/>
          </a:xfrm>
          <a:prstGeom prst="ellipse">
            <a:avLst/>
          </a:prstGeom>
          <a:solidFill>
            <a:srgbClr val="5B9BD5"/>
          </a:solidFill>
          <a:ln w="9525">
            <a:solidFill>
              <a:srgbClr val="2E5B8A"/>
            </a:solidFill>
            <a:prstDash val="solid"/>
          </a:ln>
        </p:spPr>
      </p:sp>
      <p:sp>
        <p:nvSpPr>
          <p:cNvPr id="38" name="Shape 36"/>
          <p:cNvSpPr/>
          <p:nvPr/>
        </p:nvSpPr>
        <p:spPr>
          <a:xfrm>
            <a:off x="2176347" y="3272670"/>
            <a:ext cx="78148" cy="131552"/>
          </a:xfrm>
          <a:prstGeom prst="line">
            <a:avLst/>
          </a:prstGeom>
          <a:noFill/>
          <a:ln w="12700">
            <a:solidFill>
              <a:srgbClr val="6B7385"/>
            </a:solidFill>
            <a:prstDash val="solid"/>
            <a:tailEnd type="triangle"/>
          </a:ln>
        </p:spPr>
      </p:sp>
      <p:sp>
        <p:nvSpPr>
          <p:cNvPr id="39" name="Shape 37"/>
          <p:cNvSpPr/>
          <p:nvPr/>
        </p:nvSpPr>
        <p:spPr>
          <a:xfrm>
            <a:off x="2146413" y="3900808"/>
            <a:ext cx="146304" cy="146304"/>
          </a:xfrm>
          <a:prstGeom prst="ellipse">
            <a:avLst/>
          </a:prstGeom>
          <a:solidFill>
            <a:srgbClr val="5B9BD5"/>
          </a:solidFill>
          <a:ln w="9525">
            <a:solidFill>
              <a:srgbClr val="2E5B8A"/>
            </a:solidFill>
            <a:prstDash val="solid"/>
          </a:ln>
        </p:spPr>
      </p:sp>
      <p:sp>
        <p:nvSpPr>
          <p:cNvPr id="40" name="Shape 38"/>
          <p:cNvSpPr/>
          <p:nvPr/>
        </p:nvSpPr>
        <p:spPr>
          <a:xfrm flipH="1">
            <a:off x="2146549" y="4050206"/>
            <a:ext cx="37470" cy="80374"/>
          </a:xfrm>
          <a:prstGeom prst="line">
            <a:avLst/>
          </a:prstGeom>
          <a:noFill/>
          <a:ln w="12700">
            <a:solidFill>
              <a:srgbClr val="6B7385"/>
            </a:solidFill>
            <a:prstDash val="solid"/>
            <a:tailEnd type="triangle"/>
          </a:ln>
        </p:spPr>
      </p:sp>
      <p:sp>
        <p:nvSpPr>
          <p:cNvPr id="41" name="Shape 39"/>
          <p:cNvSpPr/>
          <p:nvPr/>
        </p:nvSpPr>
        <p:spPr>
          <a:xfrm>
            <a:off x="1354981" y="3917136"/>
            <a:ext cx="146304" cy="146304"/>
          </a:xfrm>
          <a:prstGeom prst="ellipse">
            <a:avLst/>
          </a:prstGeom>
          <a:solidFill>
            <a:srgbClr val="5B9BD5"/>
          </a:solidFill>
          <a:ln w="9525">
            <a:solidFill>
              <a:srgbClr val="2E5B8A"/>
            </a:solidFill>
            <a:prstDash val="solid"/>
          </a:ln>
        </p:spPr>
      </p:sp>
      <p:sp>
        <p:nvSpPr>
          <p:cNvPr id="42" name="Shape 40"/>
          <p:cNvSpPr/>
          <p:nvPr/>
        </p:nvSpPr>
        <p:spPr>
          <a:xfrm flipH="1" flipV="1">
            <a:off x="1263562" y="3845205"/>
            <a:ext cx="101467" cy="89452"/>
          </a:xfrm>
          <a:prstGeom prst="line">
            <a:avLst/>
          </a:prstGeom>
          <a:noFill/>
          <a:ln w="12700">
            <a:solidFill>
              <a:srgbClr val="6B7385"/>
            </a:solidFill>
            <a:prstDash val="solid"/>
            <a:tailEnd type="triangle"/>
          </a:ln>
        </p:spPr>
      </p:sp>
      <p:sp>
        <p:nvSpPr>
          <p:cNvPr id="43" name="Text 41"/>
          <p:cNvSpPr/>
          <p:nvPr/>
        </p:nvSpPr>
        <p:spPr>
          <a:xfrm>
            <a:off x="777240" y="4343400"/>
            <a:ext cx="1645920" cy="256032"/>
          </a:xfrm>
          <a:prstGeom prst="rect">
            <a:avLst/>
          </a:prstGeom>
          <a:noFill/>
          <a:ln/>
        </p:spPr>
        <p:txBody>
          <a:bodyPr wrap="square" lIns="0" tIns="0" rIns="0" bIns="0" rtlCol="0" anchor="ctr"/>
          <a:lstStyle/>
          <a:p>
            <a:pPr algn="ctr" indent="0" marL="0">
              <a:buNone/>
            </a:pPr>
            <a:r>
              <a:rPr lang="en-US" sz="1150" b="1" dirty="0">
                <a:solidFill>
                  <a:srgbClr val="2E5B8A"/>
                </a:solidFill>
                <a:latin typeface="Calibri" pitchFamily="34" charset="0"/>
                <a:ea typeface="Calibri" pitchFamily="34" charset="-122"/>
                <a:cs typeface="Calibri" pitchFamily="34" charset="-120"/>
              </a:rPr>
              <a:t>20 °C</a:t>
            </a:r>
            <a:endParaRPr lang="en-US" sz="1150" dirty="0"/>
          </a:p>
        </p:txBody>
      </p:sp>
      <p:sp>
        <p:nvSpPr>
          <p:cNvPr id="44" name="Shape 42"/>
          <p:cNvSpPr/>
          <p:nvPr/>
        </p:nvSpPr>
        <p:spPr>
          <a:xfrm flipV="1">
            <a:off x="4434840" y="2057400"/>
            <a:ext cx="91" cy="320040"/>
          </a:xfrm>
          <a:prstGeom prst="line">
            <a:avLst/>
          </a:prstGeom>
          <a:noFill/>
          <a:ln w="31750">
            <a:solidFill>
              <a:srgbClr val="1A2340"/>
            </a:solidFill>
            <a:prstDash val="solid"/>
          </a:ln>
        </p:spPr>
      </p:sp>
      <p:sp>
        <p:nvSpPr>
          <p:cNvPr id="45" name="Shape 43"/>
          <p:cNvSpPr/>
          <p:nvPr/>
        </p:nvSpPr>
        <p:spPr>
          <a:xfrm>
            <a:off x="4105656" y="1389888"/>
            <a:ext cx="658368" cy="658368"/>
          </a:xfrm>
          <a:prstGeom prst="ellipse">
            <a:avLst/>
          </a:prstGeom>
          <a:solidFill>
            <a:srgbClr val="FFFFFF"/>
          </a:solidFill>
          <a:ln w="22225">
            <a:solidFill>
              <a:srgbClr val="1A2340"/>
            </a:solidFill>
            <a:prstDash val="solid"/>
          </a:ln>
        </p:spPr>
      </p:sp>
      <p:sp>
        <p:nvSpPr>
          <p:cNvPr id="46" name="Shape 44"/>
          <p:cNvSpPr/>
          <p:nvPr/>
        </p:nvSpPr>
        <p:spPr>
          <a:xfrm flipH="1">
            <a:off x="4220693" y="1882010"/>
            <a:ext cx="51209" cy="51209"/>
          </a:xfrm>
          <a:prstGeom prst="line">
            <a:avLst/>
          </a:prstGeom>
          <a:noFill/>
          <a:ln w="9525">
            <a:solidFill>
              <a:srgbClr val="1A2340"/>
            </a:solidFill>
            <a:prstDash val="solid"/>
          </a:ln>
        </p:spPr>
      </p:sp>
      <p:sp>
        <p:nvSpPr>
          <p:cNvPr id="47" name="Shape 45"/>
          <p:cNvSpPr/>
          <p:nvPr/>
        </p:nvSpPr>
        <p:spPr>
          <a:xfrm flipH="1">
            <a:off x="4146813" y="1800451"/>
            <a:ext cx="37569" cy="12207"/>
          </a:xfrm>
          <a:prstGeom prst="line">
            <a:avLst/>
          </a:prstGeom>
          <a:noFill/>
          <a:ln w="9525">
            <a:solidFill>
              <a:srgbClr val="1A2340"/>
            </a:solidFill>
            <a:prstDash val="solid"/>
          </a:ln>
        </p:spPr>
      </p:sp>
      <p:sp>
        <p:nvSpPr>
          <p:cNvPr id="48" name="Shape 46"/>
          <p:cNvSpPr/>
          <p:nvPr/>
        </p:nvSpPr>
        <p:spPr>
          <a:xfrm flipH="1" flipV="1">
            <a:off x="4135719" y="1671696"/>
            <a:ext cx="39016" cy="6179"/>
          </a:xfrm>
          <a:prstGeom prst="line">
            <a:avLst/>
          </a:prstGeom>
          <a:noFill/>
          <a:ln w="9525">
            <a:solidFill>
              <a:srgbClr val="1A2340"/>
            </a:solidFill>
            <a:prstDash val="solid"/>
          </a:ln>
        </p:spPr>
      </p:sp>
      <p:sp>
        <p:nvSpPr>
          <p:cNvPr id="49" name="Shape 47"/>
          <p:cNvSpPr/>
          <p:nvPr/>
        </p:nvSpPr>
        <p:spPr>
          <a:xfrm flipH="1" flipV="1">
            <a:off x="4189830" y="1541062"/>
            <a:ext cx="31958" cy="23219"/>
          </a:xfrm>
          <a:prstGeom prst="line">
            <a:avLst/>
          </a:prstGeom>
          <a:noFill/>
          <a:ln w="9525">
            <a:solidFill>
              <a:srgbClr val="1A2340"/>
            </a:solidFill>
            <a:prstDash val="solid"/>
          </a:ln>
        </p:spPr>
      </p:sp>
      <p:sp>
        <p:nvSpPr>
          <p:cNvPr id="50" name="Shape 48"/>
          <p:cNvSpPr/>
          <p:nvPr/>
        </p:nvSpPr>
        <p:spPr>
          <a:xfrm flipH="1" flipV="1">
            <a:off x="4297349" y="1449231"/>
            <a:ext cx="17934" cy="35197"/>
          </a:xfrm>
          <a:prstGeom prst="line">
            <a:avLst/>
          </a:prstGeom>
          <a:noFill/>
          <a:ln w="9525">
            <a:solidFill>
              <a:srgbClr val="1A2340"/>
            </a:solidFill>
            <a:prstDash val="solid"/>
          </a:ln>
        </p:spPr>
      </p:sp>
      <p:sp>
        <p:nvSpPr>
          <p:cNvPr id="51" name="Shape 49"/>
          <p:cNvSpPr/>
          <p:nvPr/>
        </p:nvSpPr>
        <p:spPr>
          <a:xfrm flipV="1">
            <a:off x="4434840" y="1416223"/>
            <a:ext cx="91" cy="72420"/>
          </a:xfrm>
          <a:prstGeom prst="line">
            <a:avLst/>
          </a:prstGeom>
          <a:noFill/>
          <a:ln w="9525">
            <a:solidFill>
              <a:srgbClr val="1A2340"/>
            </a:solidFill>
            <a:prstDash val="solid"/>
          </a:ln>
        </p:spPr>
      </p:sp>
      <p:sp>
        <p:nvSpPr>
          <p:cNvPr id="52" name="Shape 50"/>
          <p:cNvSpPr/>
          <p:nvPr/>
        </p:nvSpPr>
        <p:spPr>
          <a:xfrm flipV="1">
            <a:off x="4554397" y="1449231"/>
            <a:ext cx="17934" cy="35197"/>
          </a:xfrm>
          <a:prstGeom prst="line">
            <a:avLst/>
          </a:prstGeom>
          <a:noFill/>
          <a:ln w="9525">
            <a:solidFill>
              <a:srgbClr val="1A2340"/>
            </a:solidFill>
            <a:prstDash val="solid"/>
          </a:ln>
        </p:spPr>
      </p:sp>
      <p:sp>
        <p:nvSpPr>
          <p:cNvPr id="53" name="Shape 51"/>
          <p:cNvSpPr/>
          <p:nvPr/>
        </p:nvSpPr>
        <p:spPr>
          <a:xfrm flipV="1">
            <a:off x="4647892" y="1541062"/>
            <a:ext cx="31958" cy="23219"/>
          </a:xfrm>
          <a:prstGeom prst="line">
            <a:avLst/>
          </a:prstGeom>
          <a:noFill/>
          <a:ln w="9525">
            <a:solidFill>
              <a:srgbClr val="1A2340"/>
            </a:solidFill>
            <a:prstDash val="solid"/>
          </a:ln>
        </p:spPr>
      </p:sp>
      <p:sp>
        <p:nvSpPr>
          <p:cNvPr id="54" name="Shape 52"/>
          <p:cNvSpPr/>
          <p:nvPr/>
        </p:nvSpPr>
        <p:spPr>
          <a:xfrm flipV="1">
            <a:off x="4694945" y="1671696"/>
            <a:ext cx="39016" cy="6179"/>
          </a:xfrm>
          <a:prstGeom prst="line">
            <a:avLst/>
          </a:prstGeom>
          <a:noFill/>
          <a:ln w="9525">
            <a:solidFill>
              <a:srgbClr val="1A2340"/>
            </a:solidFill>
            <a:prstDash val="solid"/>
          </a:ln>
        </p:spPr>
      </p:sp>
      <p:sp>
        <p:nvSpPr>
          <p:cNvPr id="55" name="Shape 53"/>
          <p:cNvSpPr/>
          <p:nvPr/>
        </p:nvSpPr>
        <p:spPr>
          <a:xfrm>
            <a:off x="4685298" y="1800451"/>
            <a:ext cx="37569" cy="12207"/>
          </a:xfrm>
          <a:prstGeom prst="line">
            <a:avLst/>
          </a:prstGeom>
          <a:noFill/>
          <a:ln w="9525">
            <a:solidFill>
              <a:srgbClr val="1A2340"/>
            </a:solidFill>
            <a:prstDash val="solid"/>
          </a:ln>
        </p:spPr>
      </p:sp>
      <p:sp>
        <p:nvSpPr>
          <p:cNvPr id="56" name="Shape 54"/>
          <p:cNvSpPr/>
          <p:nvPr/>
        </p:nvSpPr>
        <p:spPr>
          <a:xfrm>
            <a:off x="4597778" y="1882010"/>
            <a:ext cx="51209" cy="51209"/>
          </a:xfrm>
          <a:prstGeom prst="line">
            <a:avLst/>
          </a:prstGeom>
          <a:noFill/>
          <a:ln w="9525">
            <a:solidFill>
              <a:srgbClr val="1A2340"/>
            </a:solidFill>
            <a:prstDash val="solid"/>
          </a:ln>
        </p:spPr>
      </p:sp>
      <p:sp>
        <p:nvSpPr>
          <p:cNvPr id="57" name="Shape 55"/>
          <p:cNvSpPr/>
          <p:nvPr/>
        </p:nvSpPr>
        <p:spPr>
          <a:xfrm flipH="1" flipV="1">
            <a:off x="4327239" y="1507892"/>
            <a:ext cx="107601" cy="211180"/>
          </a:xfrm>
          <a:prstGeom prst="line">
            <a:avLst/>
          </a:prstGeom>
          <a:noFill/>
          <a:ln w="25400">
            <a:solidFill>
              <a:srgbClr val="C8414C"/>
            </a:solidFill>
            <a:prstDash val="solid"/>
          </a:ln>
        </p:spPr>
      </p:sp>
      <p:sp>
        <p:nvSpPr>
          <p:cNvPr id="58" name="Shape 56"/>
          <p:cNvSpPr/>
          <p:nvPr/>
        </p:nvSpPr>
        <p:spPr>
          <a:xfrm>
            <a:off x="4402836" y="1687068"/>
            <a:ext cx="64008" cy="64008"/>
          </a:xfrm>
          <a:prstGeom prst="ellipse">
            <a:avLst/>
          </a:prstGeom>
          <a:solidFill>
            <a:srgbClr val="1A2340"/>
          </a:solidFill>
          <a:ln w="9525">
            <a:solidFill>
              <a:srgbClr val="1A2340"/>
            </a:solidFill>
            <a:prstDash val="solid"/>
          </a:ln>
        </p:spPr>
      </p:sp>
      <p:sp>
        <p:nvSpPr>
          <p:cNvPr id="59" name="Text 57"/>
          <p:cNvSpPr/>
          <p:nvPr/>
        </p:nvSpPr>
        <p:spPr>
          <a:xfrm>
            <a:off x="4800600" y="1508760"/>
            <a:ext cx="91440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120 kPa</a:t>
            </a:r>
            <a:endParaRPr lang="en-US" sz="1050" dirty="0"/>
          </a:p>
        </p:txBody>
      </p:sp>
      <p:sp>
        <p:nvSpPr>
          <p:cNvPr id="60" name="Shape 58"/>
          <p:cNvSpPr/>
          <p:nvPr/>
        </p:nvSpPr>
        <p:spPr>
          <a:xfrm>
            <a:off x="3611880" y="2377440"/>
            <a:ext cx="1645920" cy="1920240"/>
          </a:xfrm>
          <a:prstGeom prst="roundRect">
            <a:avLst>
              <a:gd name="adj" fmla="val 4444"/>
            </a:avLst>
          </a:prstGeom>
          <a:solidFill>
            <a:srgbClr val="F1F3F7"/>
          </a:solidFill>
          <a:ln w="31750">
            <a:solidFill>
              <a:srgbClr val="4A5262"/>
            </a:solidFill>
            <a:prstDash val="solid"/>
          </a:ln>
        </p:spPr>
      </p:sp>
      <p:sp>
        <p:nvSpPr>
          <p:cNvPr id="61" name="Shape 59"/>
          <p:cNvSpPr/>
          <p:nvPr/>
        </p:nvSpPr>
        <p:spPr>
          <a:xfrm>
            <a:off x="4581989" y="2797891"/>
            <a:ext cx="146304" cy="146304"/>
          </a:xfrm>
          <a:prstGeom prst="ellipse">
            <a:avLst/>
          </a:prstGeom>
          <a:solidFill>
            <a:srgbClr val="E0604A"/>
          </a:solidFill>
          <a:ln w="9525">
            <a:solidFill>
              <a:srgbClr val="9A2E20"/>
            </a:solidFill>
            <a:prstDash val="solid"/>
          </a:ln>
        </p:spPr>
      </p:sp>
      <p:sp>
        <p:nvSpPr>
          <p:cNvPr id="62" name="Shape 60"/>
          <p:cNvSpPr/>
          <p:nvPr/>
        </p:nvSpPr>
        <p:spPr>
          <a:xfrm>
            <a:off x="4718675" y="2926183"/>
            <a:ext cx="153346" cy="133089"/>
          </a:xfrm>
          <a:prstGeom prst="line">
            <a:avLst/>
          </a:prstGeom>
          <a:noFill/>
          <a:ln w="12700">
            <a:solidFill>
              <a:srgbClr val="6B7385"/>
            </a:solidFill>
            <a:prstDash val="solid"/>
            <a:tailEnd type="triangle"/>
          </a:ln>
        </p:spPr>
      </p:sp>
      <p:sp>
        <p:nvSpPr>
          <p:cNvPr id="63" name="Shape 61"/>
          <p:cNvSpPr/>
          <p:nvPr/>
        </p:nvSpPr>
        <p:spPr>
          <a:xfrm>
            <a:off x="3849064" y="3660312"/>
            <a:ext cx="146304" cy="146304"/>
          </a:xfrm>
          <a:prstGeom prst="ellipse">
            <a:avLst/>
          </a:prstGeom>
          <a:solidFill>
            <a:srgbClr val="E0604A"/>
          </a:solidFill>
          <a:ln w="9525">
            <a:solidFill>
              <a:srgbClr val="9A2E20"/>
            </a:solidFill>
            <a:prstDash val="solid"/>
          </a:ln>
        </p:spPr>
      </p:sp>
      <p:sp>
        <p:nvSpPr>
          <p:cNvPr id="64" name="Shape 62"/>
          <p:cNvSpPr/>
          <p:nvPr/>
        </p:nvSpPr>
        <p:spPr>
          <a:xfrm flipH="1" flipV="1">
            <a:off x="3746852" y="3455310"/>
            <a:ext cx="130500" cy="206991"/>
          </a:xfrm>
          <a:prstGeom prst="line">
            <a:avLst/>
          </a:prstGeom>
          <a:noFill/>
          <a:ln w="12700">
            <a:solidFill>
              <a:srgbClr val="6B7385"/>
            </a:solidFill>
            <a:prstDash val="solid"/>
            <a:tailEnd type="triangle"/>
          </a:ln>
        </p:spPr>
      </p:sp>
      <p:sp>
        <p:nvSpPr>
          <p:cNvPr id="65" name="Shape 63"/>
          <p:cNvSpPr/>
          <p:nvPr/>
        </p:nvSpPr>
        <p:spPr>
          <a:xfrm>
            <a:off x="4033342" y="2806835"/>
            <a:ext cx="146304" cy="146304"/>
          </a:xfrm>
          <a:prstGeom prst="ellipse">
            <a:avLst/>
          </a:prstGeom>
          <a:solidFill>
            <a:srgbClr val="E0604A"/>
          </a:solidFill>
          <a:ln w="9525">
            <a:solidFill>
              <a:srgbClr val="9A2E20"/>
            </a:solidFill>
            <a:prstDash val="solid"/>
          </a:ln>
        </p:spPr>
      </p:sp>
      <p:sp>
        <p:nvSpPr>
          <p:cNvPr id="66" name="Shape 64"/>
          <p:cNvSpPr/>
          <p:nvPr/>
        </p:nvSpPr>
        <p:spPr>
          <a:xfrm flipH="1" flipV="1">
            <a:off x="4058559" y="2560175"/>
            <a:ext cx="35465" cy="236616"/>
          </a:xfrm>
          <a:prstGeom prst="line">
            <a:avLst/>
          </a:prstGeom>
          <a:noFill/>
          <a:ln w="12700">
            <a:solidFill>
              <a:srgbClr val="6B7385"/>
            </a:solidFill>
            <a:prstDash val="solid"/>
            <a:tailEnd type="triangle"/>
          </a:ln>
        </p:spPr>
      </p:sp>
      <p:sp>
        <p:nvSpPr>
          <p:cNvPr id="67" name="Shape 65"/>
          <p:cNvSpPr/>
          <p:nvPr/>
        </p:nvSpPr>
        <p:spPr>
          <a:xfrm>
            <a:off x="4524111" y="3626998"/>
            <a:ext cx="146304" cy="146304"/>
          </a:xfrm>
          <a:prstGeom prst="ellipse">
            <a:avLst/>
          </a:prstGeom>
          <a:solidFill>
            <a:srgbClr val="E0604A"/>
          </a:solidFill>
          <a:ln w="9525">
            <a:solidFill>
              <a:srgbClr val="9A2E20"/>
            </a:solidFill>
            <a:prstDash val="solid"/>
          </a:ln>
        </p:spPr>
      </p:sp>
      <p:sp>
        <p:nvSpPr>
          <p:cNvPr id="68" name="Shape 66"/>
          <p:cNvSpPr/>
          <p:nvPr/>
        </p:nvSpPr>
        <p:spPr>
          <a:xfrm flipH="1">
            <a:off x="4310748" y="3720814"/>
            <a:ext cx="204968" cy="51940"/>
          </a:xfrm>
          <a:prstGeom prst="line">
            <a:avLst/>
          </a:prstGeom>
          <a:noFill/>
          <a:ln w="12700">
            <a:solidFill>
              <a:srgbClr val="6B7385"/>
            </a:solidFill>
            <a:prstDash val="solid"/>
            <a:tailEnd type="triangle"/>
          </a:ln>
        </p:spPr>
      </p:sp>
      <p:sp>
        <p:nvSpPr>
          <p:cNvPr id="69" name="Shape 67"/>
          <p:cNvSpPr/>
          <p:nvPr/>
        </p:nvSpPr>
        <p:spPr>
          <a:xfrm>
            <a:off x="4104973" y="3239575"/>
            <a:ext cx="146304" cy="146304"/>
          </a:xfrm>
          <a:prstGeom prst="ellipse">
            <a:avLst/>
          </a:prstGeom>
          <a:solidFill>
            <a:srgbClr val="E0604A"/>
          </a:solidFill>
          <a:ln w="9525">
            <a:solidFill>
              <a:srgbClr val="9A2E20"/>
            </a:solidFill>
            <a:prstDash val="solid"/>
          </a:ln>
        </p:spPr>
      </p:sp>
      <p:sp>
        <p:nvSpPr>
          <p:cNvPr id="70" name="Shape 68"/>
          <p:cNvSpPr/>
          <p:nvPr/>
        </p:nvSpPr>
        <p:spPr>
          <a:xfrm flipH="1" flipV="1">
            <a:off x="4175520" y="3015286"/>
            <a:ext cx="1868" cy="213320"/>
          </a:xfrm>
          <a:prstGeom prst="line">
            <a:avLst/>
          </a:prstGeom>
          <a:noFill/>
          <a:ln w="12700">
            <a:solidFill>
              <a:srgbClr val="6B7385"/>
            </a:solidFill>
            <a:prstDash val="solid"/>
            <a:tailEnd type="triangle"/>
          </a:ln>
        </p:spPr>
      </p:sp>
      <p:sp>
        <p:nvSpPr>
          <p:cNvPr id="71" name="Shape 69"/>
          <p:cNvSpPr/>
          <p:nvPr/>
        </p:nvSpPr>
        <p:spPr>
          <a:xfrm>
            <a:off x="4894870" y="3127192"/>
            <a:ext cx="146304" cy="146304"/>
          </a:xfrm>
          <a:prstGeom prst="ellipse">
            <a:avLst/>
          </a:prstGeom>
          <a:solidFill>
            <a:srgbClr val="E0604A"/>
          </a:solidFill>
          <a:ln w="9525">
            <a:solidFill>
              <a:srgbClr val="9A2E20"/>
            </a:solidFill>
            <a:prstDash val="solid"/>
          </a:ln>
        </p:spPr>
      </p:sp>
      <p:sp>
        <p:nvSpPr>
          <p:cNvPr id="72" name="Shape 70"/>
          <p:cNvSpPr/>
          <p:nvPr/>
        </p:nvSpPr>
        <p:spPr>
          <a:xfrm flipH="1">
            <a:off x="4783275" y="3276590"/>
            <a:ext cx="149201" cy="320037"/>
          </a:xfrm>
          <a:prstGeom prst="line">
            <a:avLst/>
          </a:prstGeom>
          <a:noFill/>
          <a:ln w="12700">
            <a:solidFill>
              <a:srgbClr val="6B7385"/>
            </a:solidFill>
            <a:prstDash val="solid"/>
            <a:tailEnd type="triangle"/>
          </a:ln>
        </p:spPr>
      </p:sp>
      <p:sp>
        <p:nvSpPr>
          <p:cNvPr id="73" name="Shape 71"/>
          <p:cNvSpPr/>
          <p:nvPr/>
        </p:nvSpPr>
        <p:spPr>
          <a:xfrm>
            <a:off x="4981053" y="3900808"/>
            <a:ext cx="146304" cy="146304"/>
          </a:xfrm>
          <a:prstGeom prst="ellipse">
            <a:avLst/>
          </a:prstGeom>
          <a:solidFill>
            <a:srgbClr val="E0604A"/>
          </a:solidFill>
          <a:ln w="9525">
            <a:solidFill>
              <a:srgbClr val="9A2E20"/>
            </a:solidFill>
            <a:prstDash val="solid"/>
          </a:ln>
        </p:spPr>
      </p:sp>
      <p:sp>
        <p:nvSpPr>
          <p:cNvPr id="74" name="Shape 72"/>
          <p:cNvSpPr/>
          <p:nvPr/>
        </p:nvSpPr>
        <p:spPr>
          <a:xfrm flipH="1" flipV="1">
            <a:off x="4756946" y="3711901"/>
            <a:ext cx="234155" cy="206427"/>
          </a:xfrm>
          <a:prstGeom prst="line">
            <a:avLst/>
          </a:prstGeom>
          <a:noFill/>
          <a:ln w="12700">
            <a:solidFill>
              <a:srgbClr val="6B7385"/>
            </a:solidFill>
            <a:prstDash val="solid"/>
            <a:tailEnd type="triangle"/>
          </a:ln>
        </p:spPr>
      </p:sp>
      <p:sp>
        <p:nvSpPr>
          <p:cNvPr id="75" name="Shape 73"/>
          <p:cNvSpPr/>
          <p:nvPr/>
        </p:nvSpPr>
        <p:spPr>
          <a:xfrm>
            <a:off x="4189621" y="3917136"/>
            <a:ext cx="146304" cy="146304"/>
          </a:xfrm>
          <a:prstGeom prst="ellipse">
            <a:avLst/>
          </a:prstGeom>
          <a:solidFill>
            <a:srgbClr val="E0604A"/>
          </a:solidFill>
          <a:ln w="9525">
            <a:solidFill>
              <a:srgbClr val="9A2E20"/>
            </a:solidFill>
            <a:prstDash val="solid"/>
          </a:ln>
        </p:spPr>
      </p:sp>
      <p:sp>
        <p:nvSpPr>
          <p:cNvPr id="76" name="Shape 74"/>
          <p:cNvSpPr/>
          <p:nvPr/>
        </p:nvSpPr>
        <p:spPr>
          <a:xfrm flipV="1">
            <a:off x="4323476" y="3681501"/>
            <a:ext cx="261134" cy="250545"/>
          </a:xfrm>
          <a:prstGeom prst="line">
            <a:avLst/>
          </a:prstGeom>
          <a:noFill/>
          <a:ln w="12700">
            <a:solidFill>
              <a:srgbClr val="6B7385"/>
            </a:solidFill>
            <a:prstDash val="solid"/>
            <a:tailEnd type="triangle"/>
          </a:ln>
        </p:spPr>
      </p:sp>
      <p:sp>
        <p:nvSpPr>
          <p:cNvPr id="77" name="Text 75"/>
          <p:cNvSpPr/>
          <p:nvPr/>
        </p:nvSpPr>
        <p:spPr>
          <a:xfrm>
            <a:off x="3611880" y="4343400"/>
            <a:ext cx="1645920" cy="256032"/>
          </a:xfrm>
          <a:prstGeom prst="rect">
            <a:avLst/>
          </a:prstGeom>
          <a:noFill/>
          <a:ln/>
        </p:spPr>
        <p:txBody>
          <a:bodyPr wrap="square" lIns="0" tIns="0" rIns="0" bIns="0" rtlCol="0" anchor="ctr"/>
          <a:lstStyle/>
          <a:p>
            <a:pPr algn="ctr" indent="0" marL="0">
              <a:buNone/>
            </a:pPr>
            <a:r>
              <a:rPr lang="en-US" sz="1150" b="1" dirty="0">
                <a:solidFill>
                  <a:srgbClr val="9A2E20"/>
                </a:solidFill>
                <a:latin typeface="Calibri" pitchFamily="34" charset="0"/>
                <a:ea typeface="Calibri" pitchFamily="34" charset="-122"/>
                <a:cs typeface="Calibri" pitchFamily="34" charset="-120"/>
              </a:rPr>
              <a:t>80 °C</a:t>
            </a:r>
            <a:endParaRPr lang="en-US" sz="1150" dirty="0"/>
          </a:p>
        </p:txBody>
      </p:sp>
      <p:sp>
        <p:nvSpPr>
          <p:cNvPr id="78" name="Shape 76"/>
          <p:cNvSpPr/>
          <p:nvPr/>
        </p:nvSpPr>
        <p:spPr>
          <a:xfrm>
            <a:off x="2606040" y="3337560"/>
            <a:ext cx="868680" cy="91"/>
          </a:xfrm>
          <a:prstGeom prst="line">
            <a:avLst/>
          </a:prstGeom>
          <a:noFill/>
          <a:ln w="38100">
            <a:solidFill>
              <a:srgbClr val="C8414C"/>
            </a:solidFill>
            <a:prstDash val="solid"/>
            <a:tailEnd type="triangle"/>
          </a:ln>
        </p:spPr>
      </p:sp>
      <p:sp>
        <p:nvSpPr>
          <p:cNvPr id="79" name="Text 77"/>
          <p:cNvSpPr/>
          <p:nvPr/>
        </p:nvSpPr>
        <p:spPr>
          <a:xfrm>
            <a:off x="2468880" y="2880360"/>
            <a:ext cx="1143000" cy="256032"/>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heat</a:t>
            </a:r>
            <a:endParaRPr lang="en-US" sz="1100" dirty="0"/>
          </a:p>
        </p:txBody>
      </p:sp>
      <p:sp>
        <p:nvSpPr>
          <p:cNvPr id="80" name="Shape 78"/>
          <p:cNvSpPr/>
          <p:nvPr/>
        </p:nvSpPr>
        <p:spPr>
          <a:xfrm>
            <a:off x="3611880" y="4645152"/>
            <a:ext cx="1645920" cy="201168"/>
          </a:xfrm>
          <a:prstGeom prst="roundRect">
            <a:avLst>
              <a:gd name="adj" fmla="val 22727"/>
            </a:avLst>
          </a:prstGeom>
          <a:solidFill>
            <a:srgbClr val="C8414C"/>
          </a:solidFill>
          <a:ln/>
        </p:spPr>
      </p:sp>
      <p:sp>
        <p:nvSpPr>
          <p:cNvPr id="81" name="Text 79"/>
          <p:cNvSpPr/>
          <p:nvPr/>
        </p:nvSpPr>
        <p:spPr>
          <a:xfrm>
            <a:off x="3611880" y="4846320"/>
            <a:ext cx="164592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hot plate</a:t>
            </a:r>
            <a:endParaRPr lang="en-US" sz="1000" dirty="0"/>
          </a:p>
        </p:txBody>
      </p:sp>
      <p:sp>
        <p:nvSpPr>
          <p:cNvPr id="82" name="Text 80"/>
          <p:cNvSpPr/>
          <p:nvPr/>
        </p:nvSpPr>
        <p:spPr>
          <a:xfrm>
            <a:off x="640080" y="4873752"/>
            <a:ext cx="2743200" cy="219456"/>
          </a:xfrm>
          <a:prstGeom prst="rect">
            <a:avLst/>
          </a:prstGeom>
          <a:noFill/>
          <a:ln/>
        </p:spPr>
        <p:txBody>
          <a:bodyPr wrap="square" lIns="0" tIns="0" rIns="0" bIns="0" rtlCol="0" anchor="ctr"/>
          <a:lstStyle/>
          <a:p>
            <a:pPr algn="l" indent="0" marL="0">
              <a:buNone/>
            </a:pPr>
            <a:r>
              <a:rPr lang="en-US" sz="1050" i="1" dirty="0">
                <a:solidFill>
                  <a:srgbClr val="6B7385"/>
                </a:solidFill>
                <a:latin typeface="Calibri" pitchFamily="34" charset="0"/>
                <a:ea typeface="Calibri" pitchFamily="34" charset="-122"/>
                <a:cs typeface="Calibri" pitchFamily="34" charset="-120"/>
              </a:rPr>
              <a:t>volume fixed: the can cannot expand</a:t>
            </a:r>
            <a:endParaRPr lang="en-US" sz="1050" dirty="0"/>
          </a:p>
        </p:txBody>
      </p:sp>
      <p:sp>
        <p:nvSpPr>
          <p:cNvPr id="83" name="Shape 81"/>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84" name="Text 8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Why the pressure rises</a:t>
            </a:r>
            <a:endParaRPr lang="en-US" sz="1300" dirty="0"/>
          </a:p>
        </p:txBody>
      </p:sp>
      <p:sp>
        <p:nvSpPr>
          <p:cNvPr id="85" name="Text 83"/>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Heat the gas: its particles gain kinetic energy and move </a:t>
            </a:r>
            <a:r>
              <a:rPr lang="en-US" sz="1100" b="1" dirty="0">
                <a:solidFill>
                  <a:srgbClr val="262B3A"/>
                </a:solidFill>
                <a:latin typeface="Calibri" pitchFamily="34" charset="0"/>
                <a:ea typeface="Calibri" pitchFamily="34" charset="-122"/>
                <a:cs typeface="Calibri" pitchFamily="34" charset="-120"/>
              </a:rPr>
              <a:t>faster</a:t>
            </a:r>
            <a:r>
              <a:rPr lang="en-US" sz="1100" dirty="0">
                <a:solidFill>
                  <a:srgbClr val="262B3A"/>
                </a:solidFill>
                <a:latin typeface="Calibri" pitchFamily="34" charset="0"/>
                <a:ea typeface="Calibri" pitchFamily="34" charset="-122"/>
                <a:cs typeface="Calibri" pitchFamily="34" charset="-120"/>
              </a:rPr>
              <a:t> on average.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They hit the walls </a:t>
            </a:r>
            <a:r>
              <a:rPr lang="en-US" sz="1100" b="1" dirty="0">
                <a:solidFill>
                  <a:srgbClr val="262B3A"/>
                </a:solidFill>
                <a:latin typeface="Calibri" pitchFamily="34" charset="0"/>
                <a:ea typeface="Calibri" pitchFamily="34" charset="-122"/>
                <a:cs typeface="Calibri" pitchFamily="34" charset="-120"/>
              </a:rPr>
              <a:t>more often</a:t>
            </a:r>
            <a:r>
              <a:rPr lang="en-US" sz="1100" dirty="0">
                <a:solidFill>
                  <a:srgbClr val="262B3A"/>
                </a:solidFill>
                <a:latin typeface="Calibri" pitchFamily="34" charset="0"/>
                <a:ea typeface="Calibri" pitchFamily="34" charset="-122"/>
                <a:cs typeface="Calibri" pitchFamily="34" charset="-120"/>
              </a:rPr>
              <a:t> (more collisions each second) …</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harder</a:t>
            </a:r>
            <a:r>
              <a:rPr lang="en-US" sz="1100" dirty="0">
                <a:solidFill>
                  <a:srgbClr val="262B3A"/>
                </a:solidFill>
                <a:latin typeface="Calibri" pitchFamily="34" charset="0"/>
                <a:ea typeface="Calibri" pitchFamily="34" charset="-122"/>
                <a:cs typeface="Calibri" pitchFamily="34" charset="-120"/>
              </a:rPr>
              <a:t> (a bigger force in each collision).</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So the total force on the walls increases: the </a:t>
            </a:r>
            <a:r>
              <a:rPr lang="en-US" sz="1100" b="1" dirty="0">
                <a:solidFill>
                  <a:srgbClr val="262B3A"/>
                </a:solidFill>
                <a:latin typeface="Calibri" pitchFamily="34" charset="0"/>
                <a:ea typeface="Calibri" pitchFamily="34" charset="-122"/>
                <a:cs typeface="Calibri" pitchFamily="34" charset="-120"/>
              </a:rPr>
              <a:t>pressure increases</a:t>
            </a:r>
            <a:r>
              <a:rPr lang="en-US" sz="1100" dirty="0">
                <a:solidFill>
                  <a:srgbClr val="262B3A"/>
                </a:solidFill>
                <a:latin typeface="Calibri" pitchFamily="34" charset="0"/>
                <a:ea typeface="Calibri" pitchFamily="34" charset="-122"/>
                <a:cs typeface="Calibri" pitchFamily="34" charset="-120"/>
              </a:rPr>
              <a:t>. The volume stays the same.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Cooling the gas does the opposite: the pressure falls.</a:t>
            </a:r>
            <a:endParaRPr lang="en-US" sz="1100" dirty="0"/>
          </a:p>
        </p:txBody>
      </p:sp>
      <p:sp>
        <p:nvSpPr>
          <p:cNvPr id="86" name="Shape 84"/>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87" name="Text 85"/>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Exam-style chain (3 marks)</a:t>
            </a:r>
            <a:endParaRPr lang="en-US" sz="1300" dirty="0"/>
          </a:p>
        </p:txBody>
      </p:sp>
      <p:sp>
        <p:nvSpPr>
          <p:cNvPr id="88" name="Text 86"/>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Explain why the pressure in a sealed can rises when it is heated.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Particles   </a:t>
            </a:r>
            <a:r>
              <a:rPr lang="en-US" sz="1050" dirty="0">
                <a:solidFill>
                  <a:srgbClr val="262B3A"/>
                </a:solidFill>
                <a:latin typeface="Calibri" pitchFamily="34" charset="0"/>
                <a:ea typeface="Calibri" pitchFamily="34" charset="-122"/>
                <a:cs typeface="Calibri" pitchFamily="34" charset="-120"/>
              </a:rPr>
              <a:t>gain kinetic energy / move faster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Collisions   </a:t>
            </a:r>
            <a:r>
              <a:rPr lang="en-US" sz="1050" dirty="0">
                <a:solidFill>
                  <a:srgbClr val="262B3A"/>
                </a:solidFill>
                <a:latin typeface="Calibri" pitchFamily="34" charset="0"/>
                <a:ea typeface="Calibri" pitchFamily="34" charset="-122"/>
                <a:cs typeface="Calibri" pitchFamily="34" charset="-120"/>
              </a:rPr>
              <a:t>with the walls more often and with more force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Force   </a:t>
            </a:r>
            <a:r>
              <a:rPr lang="en-US" sz="1050" dirty="0">
                <a:solidFill>
                  <a:srgbClr val="262B3A"/>
                </a:solidFill>
                <a:latin typeface="Calibri" pitchFamily="34" charset="0"/>
                <a:ea typeface="Calibri" pitchFamily="34" charset="-122"/>
                <a:cs typeface="Calibri" pitchFamily="34" charset="-120"/>
              </a:rPr>
              <a:t>greater force on the walls (per area)</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so the pressure increases</a:t>
            </a:r>
            <a:endParaRPr lang="en-US" sz="1050" dirty="0"/>
          </a:p>
        </p:txBody>
      </p:sp>
      <p:sp>
        <p:nvSpPr>
          <p:cNvPr id="89" name="Shape 87"/>
          <p:cNvSpPr/>
          <p:nvPr/>
        </p:nvSpPr>
        <p:spPr>
          <a:xfrm>
            <a:off x="411480" y="5833872"/>
            <a:ext cx="11368735" cy="530352"/>
          </a:xfrm>
          <a:prstGeom prst="rect">
            <a:avLst/>
          </a:prstGeom>
          <a:solidFill>
            <a:srgbClr val="FFF4E0"/>
          </a:solidFill>
          <a:ln w="6350">
            <a:solidFill>
              <a:srgbClr val="F1D9A8"/>
            </a:solidFill>
            <a:prstDash val="solid"/>
          </a:ln>
        </p:spPr>
      </p:sp>
      <p:sp>
        <p:nvSpPr>
          <p:cNvPr id="90" name="Shape 88"/>
          <p:cNvSpPr/>
          <p:nvPr/>
        </p:nvSpPr>
        <p:spPr>
          <a:xfrm>
            <a:off x="411480" y="5833872"/>
            <a:ext cx="82296" cy="530352"/>
          </a:xfrm>
          <a:prstGeom prst="rect">
            <a:avLst/>
          </a:prstGeom>
          <a:solidFill>
            <a:srgbClr val="E39A2F"/>
          </a:solidFill>
          <a:ln w="12700">
            <a:solidFill>
              <a:srgbClr val="E39A2F"/>
            </a:solidFill>
            <a:prstDash val="solid"/>
          </a:ln>
        </p:spPr>
      </p:sp>
      <p:sp>
        <p:nvSpPr>
          <p:cNvPr id="91" name="Text 8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An aerosol can says "Do not heat or store above 50 °C." Use the particle model to explain the danger.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Absolute zero and the kelvin scale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P6.2.4 • the coldest possible temperature is −273 °C, which is 0 K</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P6.2.4  |  10</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to scale: flask data from the practical, extrapolated (dashed) to p = 0</a:t>
            </a:r>
            <a:endParaRPr lang="en-US" sz="1000" dirty="0"/>
          </a:p>
        </p:txBody>
      </p:sp>
      <p:sp>
        <p:nvSpPr>
          <p:cNvPr id="10" name="Shape 8"/>
          <p:cNvSpPr/>
          <p:nvPr/>
        </p:nvSpPr>
        <p:spPr>
          <a:xfrm>
            <a:off x="1234440" y="1463040"/>
            <a:ext cx="4480560" cy="2971800"/>
          </a:xfrm>
          <a:prstGeom prst="rect">
            <a:avLst/>
          </a:prstGeom>
          <a:solidFill>
            <a:srgbClr val="FFFFFF"/>
          </a:solidFill>
          <a:ln/>
        </p:spPr>
      </p:sp>
      <p:sp>
        <p:nvSpPr>
          <p:cNvPr id="11" name="Shape 9"/>
          <p:cNvSpPr/>
          <p:nvPr/>
        </p:nvSpPr>
        <p:spPr>
          <a:xfrm>
            <a:off x="1234440" y="1463040"/>
            <a:ext cx="91" cy="2971800"/>
          </a:xfrm>
          <a:prstGeom prst="line">
            <a:avLst/>
          </a:prstGeom>
          <a:noFill/>
          <a:ln w="6350">
            <a:solidFill>
              <a:srgbClr val="C9D3E6"/>
            </a:solidFill>
            <a:prstDash val="solid"/>
          </a:ln>
        </p:spPr>
      </p:sp>
      <p:sp>
        <p:nvSpPr>
          <p:cNvPr id="12" name="Shape 10"/>
          <p:cNvSpPr/>
          <p:nvPr/>
        </p:nvSpPr>
        <p:spPr>
          <a:xfrm>
            <a:off x="1514475" y="1463040"/>
            <a:ext cx="91" cy="2971800"/>
          </a:xfrm>
          <a:prstGeom prst="line">
            <a:avLst/>
          </a:prstGeom>
          <a:noFill/>
          <a:ln w="6350">
            <a:solidFill>
              <a:srgbClr val="E6EBF4"/>
            </a:solidFill>
            <a:prstDash val="solid"/>
          </a:ln>
        </p:spPr>
      </p:sp>
      <p:sp>
        <p:nvSpPr>
          <p:cNvPr id="13" name="Shape 11"/>
          <p:cNvSpPr/>
          <p:nvPr/>
        </p:nvSpPr>
        <p:spPr>
          <a:xfrm>
            <a:off x="1794510" y="1463040"/>
            <a:ext cx="91" cy="2971800"/>
          </a:xfrm>
          <a:prstGeom prst="line">
            <a:avLst/>
          </a:prstGeom>
          <a:noFill/>
          <a:ln w="6350">
            <a:solidFill>
              <a:srgbClr val="C9D3E6"/>
            </a:solidFill>
            <a:prstDash val="solid"/>
          </a:ln>
        </p:spPr>
      </p:sp>
      <p:sp>
        <p:nvSpPr>
          <p:cNvPr id="14" name="Shape 12"/>
          <p:cNvSpPr/>
          <p:nvPr/>
        </p:nvSpPr>
        <p:spPr>
          <a:xfrm>
            <a:off x="2074545" y="1463040"/>
            <a:ext cx="91" cy="2971800"/>
          </a:xfrm>
          <a:prstGeom prst="line">
            <a:avLst/>
          </a:prstGeom>
          <a:noFill/>
          <a:ln w="6350">
            <a:solidFill>
              <a:srgbClr val="E6EBF4"/>
            </a:solidFill>
            <a:prstDash val="solid"/>
          </a:ln>
        </p:spPr>
      </p:sp>
      <p:sp>
        <p:nvSpPr>
          <p:cNvPr id="15" name="Shape 13"/>
          <p:cNvSpPr/>
          <p:nvPr/>
        </p:nvSpPr>
        <p:spPr>
          <a:xfrm>
            <a:off x="2354580" y="1463040"/>
            <a:ext cx="91" cy="2971800"/>
          </a:xfrm>
          <a:prstGeom prst="line">
            <a:avLst/>
          </a:prstGeom>
          <a:noFill/>
          <a:ln w="6350">
            <a:solidFill>
              <a:srgbClr val="C9D3E6"/>
            </a:solidFill>
            <a:prstDash val="solid"/>
          </a:ln>
        </p:spPr>
      </p:sp>
      <p:sp>
        <p:nvSpPr>
          <p:cNvPr id="16" name="Shape 14"/>
          <p:cNvSpPr/>
          <p:nvPr/>
        </p:nvSpPr>
        <p:spPr>
          <a:xfrm>
            <a:off x="2634615" y="1463040"/>
            <a:ext cx="91" cy="2971800"/>
          </a:xfrm>
          <a:prstGeom prst="line">
            <a:avLst/>
          </a:prstGeom>
          <a:noFill/>
          <a:ln w="6350">
            <a:solidFill>
              <a:srgbClr val="E6EBF4"/>
            </a:solidFill>
            <a:prstDash val="solid"/>
          </a:ln>
        </p:spPr>
      </p:sp>
      <p:sp>
        <p:nvSpPr>
          <p:cNvPr id="17" name="Shape 15"/>
          <p:cNvSpPr/>
          <p:nvPr/>
        </p:nvSpPr>
        <p:spPr>
          <a:xfrm>
            <a:off x="2914650" y="1463040"/>
            <a:ext cx="91" cy="2971800"/>
          </a:xfrm>
          <a:prstGeom prst="line">
            <a:avLst/>
          </a:prstGeom>
          <a:noFill/>
          <a:ln w="6350">
            <a:solidFill>
              <a:srgbClr val="C9D3E6"/>
            </a:solidFill>
            <a:prstDash val="solid"/>
          </a:ln>
        </p:spPr>
      </p:sp>
      <p:sp>
        <p:nvSpPr>
          <p:cNvPr id="18" name="Shape 16"/>
          <p:cNvSpPr/>
          <p:nvPr/>
        </p:nvSpPr>
        <p:spPr>
          <a:xfrm>
            <a:off x="3194685" y="1463040"/>
            <a:ext cx="91" cy="2971800"/>
          </a:xfrm>
          <a:prstGeom prst="line">
            <a:avLst/>
          </a:prstGeom>
          <a:noFill/>
          <a:ln w="6350">
            <a:solidFill>
              <a:srgbClr val="E6EBF4"/>
            </a:solidFill>
            <a:prstDash val="solid"/>
          </a:ln>
        </p:spPr>
      </p:sp>
      <p:sp>
        <p:nvSpPr>
          <p:cNvPr id="19" name="Shape 17"/>
          <p:cNvSpPr/>
          <p:nvPr/>
        </p:nvSpPr>
        <p:spPr>
          <a:xfrm>
            <a:off x="3474720" y="1463040"/>
            <a:ext cx="91" cy="2971800"/>
          </a:xfrm>
          <a:prstGeom prst="line">
            <a:avLst/>
          </a:prstGeom>
          <a:noFill/>
          <a:ln w="6350">
            <a:solidFill>
              <a:srgbClr val="C9D3E6"/>
            </a:solidFill>
            <a:prstDash val="solid"/>
          </a:ln>
        </p:spPr>
      </p:sp>
      <p:sp>
        <p:nvSpPr>
          <p:cNvPr id="20" name="Shape 18"/>
          <p:cNvSpPr/>
          <p:nvPr/>
        </p:nvSpPr>
        <p:spPr>
          <a:xfrm>
            <a:off x="3754755" y="1463040"/>
            <a:ext cx="91" cy="2971800"/>
          </a:xfrm>
          <a:prstGeom prst="line">
            <a:avLst/>
          </a:prstGeom>
          <a:noFill/>
          <a:ln w="6350">
            <a:solidFill>
              <a:srgbClr val="E6EBF4"/>
            </a:solidFill>
            <a:prstDash val="solid"/>
          </a:ln>
        </p:spPr>
      </p:sp>
      <p:sp>
        <p:nvSpPr>
          <p:cNvPr id="21" name="Shape 19"/>
          <p:cNvSpPr/>
          <p:nvPr/>
        </p:nvSpPr>
        <p:spPr>
          <a:xfrm>
            <a:off x="4034790" y="1463040"/>
            <a:ext cx="91" cy="2971800"/>
          </a:xfrm>
          <a:prstGeom prst="line">
            <a:avLst/>
          </a:prstGeom>
          <a:noFill/>
          <a:ln w="6350">
            <a:solidFill>
              <a:srgbClr val="C9D3E6"/>
            </a:solidFill>
            <a:prstDash val="solid"/>
          </a:ln>
        </p:spPr>
      </p:sp>
      <p:sp>
        <p:nvSpPr>
          <p:cNvPr id="22" name="Shape 20"/>
          <p:cNvSpPr/>
          <p:nvPr/>
        </p:nvSpPr>
        <p:spPr>
          <a:xfrm>
            <a:off x="4314825" y="1463040"/>
            <a:ext cx="91" cy="2971800"/>
          </a:xfrm>
          <a:prstGeom prst="line">
            <a:avLst/>
          </a:prstGeom>
          <a:noFill/>
          <a:ln w="6350">
            <a:solidFill>
              <a:srgbClr val="E6EBF4"/>
            </a:solidFill>
            <a:prstDash val="solid"/>
          </a:ln>
        </p:spPr>
      </p:sp>
      <p:sp>
        <p:nvSpPr>
          <p:cNvPr id="23" name="Shape 21"/>
          <p:cNvSpPr/>
          <p:nvPr/>
        </p:nvSpPr>
        <p:spPr>
          <a:xfrm>
            <a:off x="4594860" y="1463040"/>
            <a:ext cx="91" cy="2971800"/>
          </a:xfrm>
          <a:prstGeom prst="line">
            <a:avLst/>
          </a:prstGeom>
          <a:noFill/>
          <a:ln w="6350">
            <a:solidFill>
              <a:srgbClr val="C9D3E6"/>
            </a:solidFill>
            <a:prstDash val="solid"/>
          </a:ln>
        </p:spPr>
      </p:sp>
      <p:sp>
        <p:nvSpPr>
          <p:cNvPr id="24" name="Shape 22"/>
          <p:cNvSpPr/>
          <p:nvPr/>
        </p:nvSpPr>
        <p:spPr>
          <a:xfrm>
            <a:off x="4874895" y="1463040"/>
            <a:ext cx="91" cy="2971800"/>
          </a:xfrm>
          <a:prstGeom prst="line">
            <a:avLst/>
          </a:prstGeom>
          <a:noFill/>
          <a:ln w="6350">
            <a:solidFill>
              <a:srgbClr val="E6EBF4"/>
            </a:solidFill>
            <a:prstDash val="solid"/>
          </a:ln>
        </p:spPr>
      </p:sp>
      <p:sp>
        <p:nvSpPr>
          <p:cNvPr id="25" name="Shape 23"/>
          <p:cNvSpPr/>
          <p:nvPr/>
        </p:nvSpPr>
        <p:spPr>
          <a:xfrm>
            <a:off x="5154930" y="1463040"/>
            <a:ext cx="91" cy="2971800"/>
          </a:xfrm>
          <a:prstGeom prst="line">
            <a:avLst/>
          </a:prstGeom>
          <a:noFill/>
          <a:ln w="6350">
            <a:solidFill>
              <a:srgbClr val="C9D3E6"/>
            </a:solidFill>
            <a:prstDash val="solid"/>
          </a:ln>
        </p:spPr>
      </p:sp>
      <p:sp>
        <p:nvSpPr>
          <p:cNvPr id="26" name="Shape 24"/>
          <p:cNvSpPr/>
          <p:nvPr/>
        </p:nvSpPr>
        <p:spPr>
          <a:xfrm>
            <a:off x="5434965" y="1463040"/>
            <a:ext cx="91" cy="2971800"/>
          </a:xfrm>
          <a:prstGeom prst="line">
            <a:avLst/>
          </a:prstGeom>
          <a:noFill/>
          <a:ln w="6350">
            <a:solidFill>
              <a:srgbClr val="E6EBF4"/>
            </a:solidFill>
            <a:prstDash val="solid"/>
          </a:ln>
        </p:spPr>
      </p:sp>
      <p:sp>
        <p:nvSpPr>
          <p:cNvPr id="27" name="Shape 25"/>
          <p:cNvSpPr/>
          <p:nvPr/>
        </p:nvSpPr>
        <p:spPr>
          <a:xfrm>
            <a:off x="5715000" y="1463040"/>
            <a:ext cx="91" cy="2971800"/>
          </a:xfrm>
          <a:prstGeom prst="line">
            <a:avLst/>
          </a:prstGeom>
          <a:noFill/>
          <a:ln w="6350">
            <a:solidFill>
              <a:srgbClr val="C9D3E6"/>
            </a:solidFill>
            <a:prstDash val="solid"/>
          </a:ln>
        </p:spPr>
      </p:sp>
      <p:sp>
        <p:nvSpPr>
          <p:cNvPr id="28" name="Shape 26"/>
          <p:cNvSpPr/>
          <p:nvPr/>
        </p:nvSpPr>
        <p:spPr>
          <a:xfrm>
            <a:off x="1234440" y="4434840"/>
            <a:ext cx="4480560" cy="91"/>
          </a:xfrm>
          <a:prstGeom prst="line">
            <a:avLst/>
          </a:prstGeom>
          <a:noFill/>
          <a:ln w="6350">
            <a:solidFill>
              <a:srgbClr val="C9D3E6"/>
            </a:solidFill>
            <a:prstDash val="solid"/>
          </a:ln>
        </p:spPr>
      </p:sp>
      <p:sp>
        <p:nvSpPr>
          <p:cNvPr id="29" name="Shape 27"/>
          <p:cNvSpPr/>
          <p:nvPr/>
        </p:nvSpPr>
        <p:spPr>
          <a:xfrm>
            <a:off x="1234440" y="4222569"/>
            <a:ext cx="4480560" cy="91"/>
          </a:xfrm>
          <a:prstGeom prst="line">
            <a:avLst/>
          </a:prstGeom>
          <a:noFill/>
          <a:ln w="6350">
            <a:solidFill>
              <a:srgbClr val="E6EBF4"/>
            </a:solidFill>
            <a:prstDash val="solid"/>
          </a:ln>
        </p:spPr>
      </p:sp>
      <p:sp>
        <p:nvSpPr>
          <p:cNvPr id="30" name="Shape 28"/>
          <p:cNvSpPr/>
          <p:nvPr/>
        </p:nvSpPr>
        <p:spPr>
          <a:xfrm>
            <a:off x="1234440" y="4010297"/>
            <a:ext cx="4480560" cy="91"/>
          </a:xfrm>
          <a:prstGeom prst="line">
            <a:avLst/>
          </a:prstGeom>
          <a:noFill/>
          <a:ln w="6350">
            <a:solidFill>
              <a:srgbClr val="C9D3E6"/>
            </a:solidFill>
            <a:prstDash val="solid"/>
          </a:ln>
        </p:spPr>
      </p:sp>
      <p:sp>
        <p:nvSpPr>
          <p:cNvPr id="31" name="Shape 29"/>
          <p:cNvSpPr/>
          <p:nvPr/>
        </p:nvSpPr>
        <p:spPr>
          <a:xfrm>
            <a:off x="1234440" y="3798026"/>
            <a:ext cx="4480560" cy="91"/>
          </a:xfrm>
          <a:prstGeom prst="line">
            <a:avLst/>
          </a:prstGeom>
          <a:noFill/>
          <a:ln w="6350">
            <a:solidFill>
              <a:srgbClr val="E6EBF4"/>
            </a:solidFill>
            <a:prstDash val="solid"/>
          </a:ln>
        </p:spPr>
      </p:sp>
      <p:sp>
        <p:nvSpPr>
          <p:cNvPr id="32" name="Shape 30"/>
          <p:cNvSpPr/>
          <p:nvPr/>
        </p:nvSpPr>
        <p:spPr>
          <a:xfrm>
            <a:off x="1234440" y="3585754"/>
            <a:ext cx="4480560" cy="91"/>
          </a:xfrm>
          <a:prstGeom prst="line">
            <a:avLst/>
          </a:prstGeom>
          <a:noFill/>
          <a:ln w="6350">
            <a:solidFill>
              <a:srgbClr val="C9D3E6"/>
            </a:solidFill>
            <a:prstDash val="solid"/>
          </a:ln>
        </p:spPr>
      </p:sp>
      <p:sp>
        <p:nvSpPr>
          <p:cNvPr id="33" name="Shape 31"/>
          <p:cNvSpPr/>
          <p:nvPr/>
        </p:nvSpPr>
        <p:spPr>
          <a:xfrm>
            <a:off x="1234440" y="3373483"/>
            <a:ext cx="4480560" cy="91"/>
          </a:xfrm>
          <a:prstGeom prst="line">
            <a:avLst/>
          </a:prstGeom>
          <a:noFill/>
          <a:ln w="6350">
            <a:solidFill>
              <a:srgbClr val="E6EBF4"/>
            </a:solidFill>
            <a:prstDash val="solid"/>
          </a:ln>
        </p:spPr>
      </p:sp>
      <p:sp>
        <p:nvSpPr>
          <p:cNvPr id="34" name="Shape 32"/>
          <p:cNvSpPr/>
          <p:nvPr/>
        </p:nvSpPr>
        <p:spPr>
          <a:xfrm>
            <a:off x="1234440" y="3161211"/>
            <a:ext cx="4480560" cy="91"/>
          </a:xfrm>
          <a:prstGeom prst="line">
            <a:avLst/>
          </a:prstGeom>
          <a:noFill/>
          <a:ln w="6350">
            <a:solidFill>
              <a:srgbClr val="C9D3E6"/>
            </a:solidFill>
            <a:prstDash val="solid"/>
          </a:ln>
        </p:spPr>
      </p:sp>
      <p:sp>
        <p:nvSpPr>
          <p:cNvPr id="35" name="Shape 33"/>
          <p:cNvSpPr/>
          <p:nvPr/>
        </p:nvSpPr>
        <p:spPr>
          <a:xfrm>
            <a:off x="1234440" y="2948940"/>
            <a:ext cx="4480560" cy="91"/>
          </a:xfrm>
          <a:prstGeom prst="line">
            <a:avLst/>
          </a:prstGeom>
          <a:noFill/>
          <a:ln w="6350">
            <a:solidFill>
              <a:srgbClr val="E6EBF4"/>
            </a:solidFill>
            <a:prstDash val="solid"/>
          </a:ln>
        </p:spPr>
      </p:sp>
      <p:sp>
        <p:nvSpPr>
          <p:cNvPr id="36" name="Shape 34"/>
          <p:cNvSpPr/>
          <p:nvPr/>
        </p:nvSpPr>
        <p:spPr>
          <a:xfrm>
            <a:off x="1234440" y="2736669"/>
            <a:ext cx="4480560" cy="91"/>
          </a:xfrm>
          <a:prstGeom prst="line">
            <a:avLst/>
          </a:prstGeom>
          <a:noFill/>
          <a:ln w="6350">
            <a:solidFill>
              <a:srgbClr val="C9D3E6"/>
            </a:solidFill>
            <a:prstDash val="solid"/>
          </a:ln>
        </p:spPr>
      </p:sp>
      <p:sp>
        <p:nvSpPr>
          <p:cNvPr id="37" name="Shape 35"/>
          <p:cNvSpPr/>
          <p:nvPr/>
        </p:nvSpPr>
        <p:spPr>
          <a:xfrm>
            <a:off x="1234440" y="2524397"/>
            <a:ext cx="4480560" cy="91"/>
          </a:xfrm>
          <a:prstGeom prst="line">
            <a:avLst/>
          </a:prstGeom>
          <a:noFill/>
          <a:ln w="6350">
            <a:solidFill>
              <a:srgbClr val="E6EBF4"/>
            </a:solidFill>
            <a:prstDash val="solid"/>
          </a:ln>
        </p:spPr>
      </p:sp>
      <p:sp>
        <p:nvSpPr>
          <p:cNvPr id="38" name="Shape 36"/>
          <p:cNvSpPr/>
          <p:nvPr/>
        </p:nvSpPr>
        <p:spPr>
          <a:xfrm>
            <a:off x="1234440" y="2312126"/>
            <a:ext cx="4480560" cy="91"/>
          </a:xfrm>
          <a:prstGeom prst="line">
            <a:avLst/>
          </a:prstGeom>
          <a:noFill/>
          <a:ln w="6350">
            <a:solidFill>
              <a:srgbClr val="C9D3E6"/>
            </a:solidFill>
            <a:prstDash val="solid"/>
          </a:ln>
        </p:spPr>
      </p:sp>
      <p:sp>
        <p:nvSpPr>
          <p:cNvPr id="39" name="Shape 37"/>
          <p:cNvSpPr/>
          <p:nvPr/>
        </p:nvSpPr>
        <p:spPr>
          <a:xfrm>
            <a:off x="1234440" y="2099854"/>
            <a:ext cx="4480560" cy="91"/>
          </a:xfrm>
          <a:prstGeom prst="line">
            <a:avLst/>
          </a:prstGeom>
          <a:noFill/>
          <a:ln w="6350">
            <a:solidFill>
              <a:srgbClr val="E6EBF4"/>
            </a:solidFill>
            <a:prstDash val="solid"/>
          </a:ln>
        </p:spPr>
      </p:sp>
      <p:sp>
        <p:nvSpPr>
          <p:cNvPr id="40" name="Shape 38"/>
          <p:cNvSpPr/>
          <p:nvPr/>
        </p:nvSpPr>
        <p:spPr>
          <a:xfrm>
            <a:off x="1234440" y="1887583"/>
            <a:ext cx="4480560" cy="91"/>
          </a:xfrm>
          <a:prstGeom prst="line">
            <a:avLst/>
          </a:prstGeom>
          <a:noFill/>
          <a:ln w="6350">
            <a:solidFill>
              <a:srgbClr val="C9D3E6"/>
            </a:solidFill>
            <a:prstDash val="solid"/>
          </a:ln>
        </p:spPr>
      </p:sp>
      <p:sp>
        <p:nvSpPr>
          <p:cNvPr id="41" name="Shape 39"/>
          <p:cNvSpPr/>
          <p:nvPr/>
        </p:nvSpPr>
        <p:spPr>
          <a:xfrm>
            <a:off x="1234440" y="1675311"/>
            <a:ext cx="4480560" cy="91"/>
          </a:xfrm>
          <a:prstGeom prst="line">
            <a:avLst/>
          </a:prstGeom>
          <a:noFill/>
          <a:ln w="6350">
            <a:solidFill>
              <a:srgbClr val="E6EBF4"/>
            </a:solidFill>
            <a:prstDash val="solid"/>
          </a:ln>
        </p:spPr>
      </p:sp>
      <p:sp>
        <p:nvSpPr>
          <p:cNvPr id="42" name="Shape 40"/>
          <p:cNvSpPr/>
          <p:nvPr/>
        </p:nvSpPr>
        <p:spPr>
          <a:xfrm>
            <a:off x="1234440" y="1463040"/>
            <a:ext cx="4480560" cy="91"/>
          </a:xfrm>
          <a:prstGeom prst="line">
            <a:avLst/>
          </a:prstGeom>
          <a:noFill/>
          <a:ln w="6350">
            <a:solidFill>
              <a:srgbClr val="C9D3E6"/>
            </a:solidFill>
            <a:prstDash val="solid"/>
          </a:ln>
        </p:spPr>
      </p:sp>
      <p:sp>
        <p:nvSpPr>
          <p:cNvPr id="43" name="Shape 41"/>
          <p:cNvSpPr/>
          <p:nvPr/>
        </p:nvSpPr>
        <p:spPr>
          <a:xfrm>
            <a:off x="1234440" y="4434840"/>
            <a:ext cx="4480560" cy="91"/>
          </a:xfrm>
          <a:prstGeom prst="line">
            <a:avLst/>
          </a:prstGeom>
          <a:noFill/>
          <a:ln w="19050">
            <a:solidFill>
              <a:srgbClr val="1A2340"/>
            </a:solidFill>
            <a:prstDash val="solid"/>
          </a:ln>
        </p:spPr>
      </p:sp>
      <p:sp>
        <p:nvSpPr>
          <p:cNvPr id="44" name="Shape 42"/>
          <p:cNvSpPr/>
          <p:nvPr/>
        </p:nvSpPr>
        <p:spPr>
          <a:xfrm flipV="1">
            <a:off x="1234440" y="1463040"/>
            <a:ext cx="91" cy="2971800"/>
          </a:xfrm>
          <a:prstGeom prst="line">
            <a:avLst/>
          </a:prstGeom>
          <a:noFill/>
          <a:ln w="19050">
            <a:solidFill>
              <a:srgbClr val="1A2340"/>
            </a:solidFill>
            <a:prstDash val="solid"/>
          </a:ln>
        </p:spPr>
      </p:sp>
      <p:sp>
        <p:nvSpPr>
          <p:cNvPr id="45" name="Shape 43"/>
          <p:cNvSpPr/>
          <p:nvPr/>
        </p:nvSpPr>
        <p:spPr>
          <a:xfrm>
            <a:off x="1234440" y="4434840"/>
            <a:ext cx="91" cy="54864"/>
          </a:xfrm>
          <a:prstGeom prst="line">
            <a:avLst/>
          </a:prstGeom>
          <a:noFill/>
          <a:ln w="12700">
            <a:solidFill>
              <a:srgbClr val="1A2340"/>
            </a:solidFill>
            <a:prstDash val="solid"/>
          </a:ln>
        </p:spPr>
      </p:sp>
      <p:sp>
        <p:nvSpPr>
          <p:cNvPr id="46" name="Text 44"/>
          <p:cNvSpPr/>
          <p:nvPr/>
        </p:nvSpPr>
        <p:spPr>
          <a:xfrm>
            <a:off x="96012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−300</a:t>
            </a:r>
            <a:endParaRPr lang="en-US" sz="1000" dirty="0"/>
          </a:p>
        </p:txBody>
      </p:sp>
      <p:sp>
        <p:nvSpPr>
          <p:cNvPr id="47" name="Shape 45"/>
          <p:cNvSpPr/>
          <p:nvPr/>
        </p:nvSpPr>
        <p:spPr>
          <a:xfrm>
            <a:off x="1794510" y="4434840"/>
            <a:ext cx="91" cy="54864"/>
          </a:xfrm>
          <a:prstGeom prst="line">
            <a:avLst/>
          </a:prstGeom>
          <a:noFill/>
          <a:ln w="12700">
            <a:solidFill>
              <a:srgbClr val="1A2340"/>
            </a:solidFill>
            <a:prstDash val="solid"/>
          </a:ln>
        </p:spPr>
      </p:sp>
      <p:sp>
        <p:nvSpPr>
          <p:cNvPr id="48" name="Text 46"/>
          <p:cNvSpPr/>
          <p:nvPr/>
        </p:nvSpPr>
        <p:spPr>
          <a:xfrm>
            <a:off x="152019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−250</a:t>
            </a:r>
            <a:endParaRPr lang="en-US" sz="1000" dirty="0"/>
          </a:p>
        </p:txBody>
      </p:sp>
      <p:sp>
        <p:nvSpPr>
          <p:cNvPr id="49" name="Shape 47"/>
          <p:cNvSpPr/>
          <p:nvPr/>
        </p:nvSpPr>
        <p:spPr>
          <a:xfrm>
            <a:off x="2354580" y="4434840"/>
            <a:ext cx="91" cy="54864"/>
          </a:xfrm>
          <a:prstGeom prst="line">
            <a:avLst/>
          </a:prstGeom>
          <a:noFill/>
          <a:ln w="12700">
            <a:solidFill>
              <a:srgbClr val="1A2340"/>
            </a:solidFill>
            <a:prstDash val="solid"/>
          </a:ln>
        </p:spPr>
      </p:sp>
      <p:sp>
        <p:nvSpPr>
          <p:cNvPr id="50" name="Text 48"/>
          <p:cNvSpPr/>
          <p:nvPr/>
        </p:nvSpPr>
        <p:spPr>
          <a:xfrm>
            <a:off x="208026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51" name="Shape 49"/>
          <p:cNvSpPr/>
          <p:nvPr/>
        </p:nvSpPr>
        <p:spPr>
          <a:xfrm>
            <a:off x="2914650" y="4434840"/>
            <a:ext cx="91" cy="54864"/>
          </a:xfrm>
          <a:prstGeom prst="line">
            <a:avLst/>
          </a:prstGeom>
          <a:noFill/>
          <a:ln w="12700">
            <a:solidFill>
              <a:srgbClr val="1A2340"/>
            </a:solidFill>
            <a:prstDash val="solid"/>
          </a:ln>
        </p:spPr>
      </p:sp>
      <p:sp>
        <p:nvSpPr>
          <p:cNvPr id="52" name="Text 50"/>
          <p:cNvSpPr/>
          <p:nvPr/>
        </p:nvSpPr>
        <p:spPr>
          <a:xfrm>
            <a:off x="264033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−150</a:t>
            </a:r>
            <a:endParaRPr lang="en-US" sz="1000" dirty="0"/>
          </a:p>
        </p:txBody>
      </p:sp>
      <p:sp>
        <p:nvSpPr>
          <p:cNvPr id="53" name="Shape 51"/>
          <p:cNvSpPr/>
          <p:nvPr/>
        </p:nvSpPr>
        <p:spPr>
          <a:xfrm>
            <a:off x="3474720" y="4434840"/>
            <a:ext cx="91" cy="54864"/>
          </a:xfrm>
          <a:prstGeom prst="line">
            <a:avLst/>
          </a:prstGeom>
          <a:noFill/>
          <a:ln w="12700">
            <a:solidFill>
              <a:srgbClr val="1A2340"/>
            </a:solidFill>
            <a:prstDash val="solid"/>
          </a:ln>
        </p:spPr>
      </p:sp>
      <p:sp>
        <p:nvSpPr>
          <p:cNvPr id="54" name="Text 52"/>
          <p:cNvSpPr/>
          <p:nvPr/>
        </p:nvSpPr>
        <p:spPr>
          <a:xfrm>
            <a:off x="320040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55" name="Shape 53"/>
          <p:cNvSpPr/>
          <p:nvPr/>
        </p:nvSpPr>
        <p:spPr>
          <a:xfrm>
            <a:off x="4034790" y="4434840"/>
            <a:ext cx="91" cy="54864"/>
          </a:xfrm>
          <a:prstGeom prst="line">
            <a:avLst/>
          </a:prstGeom>
          <a:noFill/>
          <a:ln w="12700">
            <a:solidFill>
              <a:srgbClr val="1A2340"/>
            </a:solidFill>
            <a:prstDash val="solid"/>
          </a:ln>
        </p:spPr>
      </p:sp>
      <p:sp>
        <p:nvSpPr>
          <p:cNvPr id="56" name="Text 54"/>
          <p:cNvSpPr/>
          <p:nvPr/>
        </p:nvSpPr>
        <p:spPr>
          <a:xfrm>
            <a:off x="376047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57" name="Shape 55"/>
          <p:cNvSpPr/>
          <p:nvPr/>
        </p:nvSpPr>
        <p:spPr>
          <a:xfrm>
            <a:off x="4594860" y="4434840"/>
            <a:ext cx="91" cy="54864"/>
          </a:xfrm>
          <a:prstGeom prst="line">
            <a:avLst/>
          </a:prstGeom>
          <a:noFill/>
          <a:ln w="12700">
            <a:solidFill>
              <a:srgbClr val="1A2340"/>
            </a:solidFill>
            <a:prstDash val="solid"/>
          </a:ln>
        </p:spPr>
      </p:sp>
      <p:sp>
        <p:nvSpPr>
          <p:cNvPr id="58" name="Text 56"/>
          <p:cNvSpPr/>
          <p:nvPr/>
        </p:nvSpPr>
        <p:spPr>
          <a:xfrm>
            <a:off x="432054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9" name="Shape 57"/>
          <p:cNvSpPr/>
          <p:nvPr/>
        </p:nvSpPr>
        <p:spPr>
          <a:xfrm>
            <a:off x="5154930" y="4434840"/>
            <a:ext cx="91" cy="54864"/>
          </a:xfrm>
          <a:prstGeom prst="line">
            <a:avLst/>
          </a:prstGeom>
          <a:noFill/>
          <a:ln w="12700">
            <a:solidFill>
              <a:srgbClr val="1A2340"/>
            </a:solidFill>
            <a:prstDash val="solid"/>
          </a:ln>
        </p:spPr>
      </p:sp>
      <p:sp>
        <p:nvSpPr>
          <p:cNvPr id="60" name="Text 58"/>
          <p:cNvSpPr/>
          <p:nvPr/>
        </p:nvSpPr>
        <p:spPr>
          <a:xfrm>
            <a:off x="488061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61" name="Shape 59"/>
          <p:cNvSpPr/>
          <p:nvPr/>
        </p:nvSpPr>
        <p:spPr>
          <a:xfrm>
            <a:off x="5715000" y="4434840"/>
            <a:ext cx="91" cy="54864"/>
          </a:xfrm>
          <a:prstGeom prst="line">
            <a:avLst/>
          </a:prstGeom>
          <a:noFill/>
          <a:ln w="12700">
            <a:solidFill>
              <a:srgbClr val="1A2340"/>
            </a:solidFill>
            <a:prstDash val="solid"/>
          </a:ln>
        </p:spPr>
      </p:sp>
      <p:sp>
        <p:nvSpPr>
          <p:cNvPr id="62" name="Text 60"/>
          <p:cNvSpPr/>
          <p:nvPr/>
        </p:nvSpPr>
        <p:spPr>
          <a:xfrm>
            <a:off x="544068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63" name="Shape 61"/>
          <p:cNvSpPr/>
          <p:nvPr/>
        </p:nvSpPr>
        <p:spPr>
          <a:xfrm>
            <a:off x="1179576" y="4434840"/>
            <a:ext cx="54864" cy="91"/>
          </a:xfrm>
          <a:prstGeom prst="line">
            <a:avLst/>
          </a:prstGeom>
          <a:noFill/>
          <a:ln w="12700">
            <a:solidFill>
              <a:srgbClr val="1A2340"/>
            </a:solidFill>
            <a:prstDash val="solid"/>
          </a:ln>
        </p:spPr>
      </p:sp>
      <p:sp>
        <p:nvSpPr>
          <p:cNvPr id="64" name="Text 62"/>
          <p:cNvSpPr/>
          <p:nvPr/>
        </p:nvSpPr>
        <p:spPr>
          <a:xfrm>
            <a:off x="795528" y="43434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65" name="Shape 63"/>
          <p:cNvSpPr/>
          <p:nvPr/>
        </p:nvSpPr>
        <p:spPr>
          <a:xfrm>
            <a:off x="1179576" y="4010297"/>
            <a:ext cx="54864" cy="91"/>
          </a:xfrm>
          <a:prstGeom prst="line">
            <a:avLst/>
          </a:prstGeom>
          <a:noFill/>
          <a:ln w="12700">
            <a:solidFill>
              <a:srgbClr val="1A2340"/>
            </a:solidFill>
            <a:prstDash val="solid"/>
          </a:ln>
        </p:spPr>
      </p:sp>
      <p:sp>
        <p:nvSpPr>
          <p:cNvPr id="66" name="Text 64"/>
          <p:cNvSpPr/>
          <p:nvPr/>
        </p:nvSpPr>
        <p:spPr>
          <a:xfrm>
            <a:off x="795528" y="3918857"/>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67" name="Shape 65"/>
          <p:cNvSpPr/>
          <p:nvPr/>
        </p:nvSpPr>
        <p:spPr>
          <a:xfrm>
            <a:off x="1179576" y="3585754"/>
            <a:ext cx="54864" cy="91"/>
          </a:xfrm>
          <a:prstGeom prst="line">
            <a:avLst/>
          </a:prstGeom>
          <a:noFill/>
          <a:ln w="12700">
            <a:solidFill>
              <a:srgbClr val="1A2340"/>
            </a:solidFill>
            <a:prstDash val="solid"/>
          </a:ln>
        </p:spPr>
      </p:sp>
      <p:sp>
        <p:nvSpPr>
          <p:cNvPr id="68" name="Text 66"/>
          <p:cNvSpPr/>
          <p:nvPr/>
        </p:nvSpPr>
        <p:spPr>
          <a:xfrm>
            <a:off x="795528" y="349431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69" name="Shape 67"/>
          <p:cNvSpPr/>
          <p:nvPr/>
        </p:nvSpPr>
        <p:spPr>
          <a:xfrm>
            <a:off x="1179576" y="3161211"/>
            <a:ext cx="54864" cy="91"/>
          </a:xfrm>
          <a:prstGeom prst="line">
            <a:avLst/>
          </a:prstGeom>
          <a:noFill/>
          <a:ln w="12700">
            <a:solidFill>
              <a:srgbClr val="1A2340"/>
            </a:solidFill>
            <a:prstDash val="solid"/>
          </a:ln>
        </p:spPr>
      </p:sp>
      <p:sp>
        <p:nvSpPr>
          <p:cNvPr id="70" name="Text 68"/>
          <p:cNvSpPr/>
          <p:nvPr/>
        </p:nvSpPr>
        <p:spPr>
          <a:xfrm>
            <a:off x="795528" y="3069771"/>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71" name="Shape 69"/>
          <p:cNvSpPr/>
          <p:nvPr/>
        </p:nvSpPr>
        <p:spPr>
          <a:xfrm>
            <a:off x="1179576" y="2736669"/>
            <a:ext cx="54864" cy="91"/>
          </a:xfrm>
          <a:prstGeom prst="line">
            <a:avLst/>
          </a:prstGeom>
          <a:noFill/>
          <a:ln w="12700">
            <a:solidFill>
              <a:srgbClr val="1A2340"/>
            </a:solidFill>
            <a:prstDash val="solid"/>
          </a:ln>
        </p:spPr>
      </p:sp>
      <p:sp>
        <p:nvSpPr>
          <p:cNvPr id="72" name="Text 70"/>
          <p:cNvSpPr/>
          <p:nvPr/>
        </p:nvSpPr>
        <p:spPr>
          <a:xfrm>
            <a:off x="795528" y="2645229"/>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73" name="Shape 71"/>
          <p:cNvSpPr/>
          <p:nvPr/>
        </p:nvSpPr>
        <p:spPr>
          <a:xfrm>
            <a:off x="1179576" y="2312126"/>
            <a:ext cx="54864" cy="91"/>
          </a:xfrm>
          <a:prstGeom prst="line">
            <a:avLst/>
          </a:prstGeom>
          <a:noFill/>
          <a:ln w="12700">
            <a:solidFill>
              <a:srgbClr val="1A2340"/>
            </a:solidFill>
            <a:prstDash val="solid"/>
          </a:ln>
        </p:spPr>
      </p:sp>
      <p:sp>
        <p:nvSpPr>
          <p:cNvPr id="74" name="Text 72"/>
          <p:cNvSpPr/>
          <p:nvPr/>
        </p:nvSpPr>
        <p:spPr>
          <a:xfrm>
            <a:off x="795528" y="222068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75" name="Shape 73"/>
          <p:cNvSpPr/>
          <p:nvPr/>
        </p:nvSpPr>
        <p:spPr>
          <a:xfrm>
            <a:off x="1179576" y="1887583"/>
            <a:ext cx="54864" cy="91"/>
          </a:xfrm>
          <a:prstGeom prst="line">
            <a:avLst/>
          </a:prstGeom>
          <a:noFill/>
          <a:ln w="12700">
            <a:solidFill>
              <a:srgbClr val="1A2340"/>
            </a:solidFill>
            <a:prstDash val="solid"/>
          </a:ln>
        </p:spPr>
      </p:sp>
      <p:sp>
        <p:nvSpPr>
          <p:cNvPr id="76" name="Text 74"/>
          <p:cNvSpPr/>
          <p:nvPr/>
        </p:nvSpPr>
        <p:spPr>
          <a:xfrm>
            <a:off x="795528" y="1796143"/>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120</a:t>
            </a:r>
            <a:endParaRPr lang="en-US" sz="1000" dirty="0"/>
          </a:p>
        </p:txBody>
      </p:sp>
      <p:sp>
        <p:nvSpPr>
          <p:cNvPr id="77" name="Shape 75"/>
          <p:cNvSpPr/>
          <p:nvPr/>
        </p:nvSpPr>
        <p:spPr>
          <a:xfrm>
            <a:off x="1179576" y="1463040"/>
            <a:ext cx="54864" cy="91"/>
          </a:xfrm>
          <a:prstGeom prst="line">
            <a:avLst/>
          </a:prstGeom>
          <a:noFill/>
          <a:ln w="12700">
            <a:solidFill>
              <a:srgbClr val="1A2340"/>
            </a:solidFill>
            <a:prstDash val="solid"/>
          </a:ln>
        </p:spPr>
      </p:sp>
      <p:sp>
        <p:nvSpPr>
          <p:cNvPr id="78" name="Text 76"/>
          <p:cNvSpPr/>
          <p:nvPr/>
        </p:nvSpPr>
        <p:spPr>
          <a:xfrm>
            <a:off x="795528" y="1371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140</a:t>
            </a:r>
            <a:endParaRPr lang="en-US" sz="1000" dirty="0"/>
          </a:p>
        </p:txBody>
      </p:sp>
      <p:sp>
        <p:nvSpPr>
          <p:cNvPr id="79" name="Text 77"/>
          <p:cNvSpPr/>
          <p:nvPr/>
        </p:nvSpPr>
        <p:spPr>
          <a:xfrm>
            <a:off x="1234440" y="4681728"/>
            <a:ext cx="44805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temperature / °C</a:t>
            </a:r>
            <a:endParaRPr lang="en-US" sz="1050" dirty="0"/>
          </a:p>
        </p:txBody>
      </p:sp>
      <p:sp>
        <p:nvSpPr>
          <p:cNvPr id="80" name="Text 78"/>
          <p:cNvSpPr/>
          <p:nvPr/>
        </p:nvSpPr>
        <p:spPr>
          <a:xfrm rot="16200000">
            <a:off x="-818388" y="2820924"/>
            <a:ext cx="29718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pressure / kPa</a:t>
            </a:r>
            <a:endParaRPr lang="en-US" sz="1050" dirty="0"/>
          </a:p>
        </p:txBody>
      </p:sp>
      <p:sp>
        <p:nvSpPr>
          <p:cNvPr id="81" name="Shape 79"/>
          <p:cNvSpPr/>
          <p:nvPr/>
        </p:nvSpPr>
        <p:spPr>
          <a:xfrm flipV="1">
            <a:off x="1536878" y="2312157"/>
            <a:ext cx="3282010" cy="2122683"/>
          </a:xfrm>
          <a:prstGeom prst="line">
            <a:avLst/>
          </a:prstGeom>
          <a:noFill/>
          <a:ln w="22225">
            <a:solidFill>
              <a:srgbClr val="2E5BD8"/>
            </a:solidFill>
            <a:prstDash val="dash"/>
          </a:ln>
        </p:spPr>
      </p:sp>
      <p:sp>
        <p:nvSpPr>
          <p:cNvPr id="82" name="Shape 80"/>
          <p:cNvSpPr/>
          <p:nvPr/>
        </p:nvSpPr>
        <p:spPr>
          <a:xfrm flipV="1">
            <a:off x="4818888" y="1732585"/>
            <a:ext cx="896112" cy="579572"/>
          </a:xfrm>
          <a:prstGeom prst="line">
            <a:avLst/>
          </a:prstGeom>
          <a:noFill/>
          <a:ln w="28575">
            <a:solidFill>
              <a:srgbClr val="2E5BD8"/>
            </a:solidFill>
            <a:prstDash val="solid"/>
          </a:ln>
        </p:spPr>
      </p:sp>
      <p:sp>
        <p:nvSpPr>
          <p:cNvPr id="83" name="Shape 81"/>
          <p:cNvSpPr/>
          <p:nvPr/>
        </p:nvSpPr>
        <p:spPr>
          <a:xfrm>
            <a:off x="4773168" y="2266406"/>
            <a:ext cx="91440" cy="91440"/>
          </a:xfrm>
          <a:prstGeom prst="line">
            <a:avLst/>
          </a:prstGeom>
          <a:noFill/>
          <a:ln w="15875">
            <a:solidFill>
              <a:srgbClr val="1A2340"/>
            </a:solidFill>
            <a:prstDash val="solid"/>
          </a:ln>
        </p:spPr>
      </p:sp>
      <p:sp>
        <p:nvSpPr>
          <p:cNvPr id="84" name="Shape 82"/>
          <p:cNvSpPr/>
          <p:nvPr/>
        </p:nvSpPr>
        <p:spPr>
          <a:xfrm flipV="1">
            <a:off x="4773168" y="2266406"/>
            <a:ext cx="91440" cy="91440"/>
          </a:xfrm>
          <a:prstGeom prst="line">
            <a:avLst/>
          </a:prstGeom>
          <a:noFill/>
          <a:ln w="15875">
            <a:solidFill>
              <a:srgbClr val="1A2340"/>
            </a:solidFill>
            <a:prstDash val="solid"/>
          </a:ln>
        </p:spPr>
      </p:sp>
      <p:sp>
        <p:nvSpPr>
          <p:cNvPr id="85" name="Shape 83"/>
          <p:cNvSpPr/>
          <p:nvPr/>
        </p:nvSpPr>
        <p:spPr>
          <a:xfrm>
            <a:off x="4941189" y="2153902"/>
            <a:ext cx="91440" cy="91440"/>
          </a:xfrm>
          <a:prstGeom prst="line">
            <a:avLst/>
          </a:prstGeom>
          <a:noFill/>
          <a:ln w="15875">
            <a:solidFill>
              <a:srgbClr val="1A2340"/>
            </a:solidFill>
            <a:prstDash val="solid"/>
          </a:ln>
        </p:spPr>
      </p:sp>
      <p:sp>
        <p:nvSpPr>
          <p:cNvPr id="86" name="Shape 84"/>
          <p:cNvSpPr/>
          <p:nvPr/>
        </p:nvSpPr>
        <p:spPr>
          <a:xfrm flipV="1">
            <a:off x="4941189" y="2153902"/>
            <a:ext cx="91440" cy="91440"/>
          </a:xfrm>
          <a:prstGeom prst="line">
            <a:avLst/>
          </a:prstGeom>
          <a:noFill/>
          <a:ln w="15875">
            <a:solidFill>
              <a:srgbClr val="1A2340"/>
            </a:solidFill>
            <a:prstDash val="solid"/>
          </a:ln>
        </p:spPr>
      </p:sp>
      <p:sp>
        <p:nvSpPr>
          <p:cNvPr id="87" name="Shape 85"/>
          <p:cNvSpPr/>
          <p:nvPr/>
        </p:nvSpPr>
        <p:spPr>
          <a:xfrm>
            <a:off x="5109210" y="2054134"/>
            <a:ext cx="91440" cy="91440"/>
          </a:xfrm>
          <a:prstGeom prst="line">
            <a:avLst/>
          </a:prstGeom>
          <a:noFill/>
          <a:ln w="15875">
            <a:solidFill>
              <a:srgbClr val="1A2340"/>
            </a:solidFill>
            <a:prstDash val="solid"/>
          </a:ln>
        </p:spPr>
      </p:sp>
      <p:sp>
        <p:nvSpPr>
          <p:cNvPr id="88" name="Shape 86"/>
          <p:cNvSpPr/>
          <p:nvPr/>
        </p:nvSpPr>
        <p:spPr>
          <a:xfrm flipV="1">
            <a:off x="5109210" y="2054134"/>
            <a:ext cx="91440" cy="91440"/>
          </a:xfrm>
          <a:prstGeom prst="line">
            <a:avLst/>
          </a:prstGeom>
          <a:noFill/>
          <a:ln w="15875">
            <a:solidFill>
              <a:srgbClr val="1A2340"/>
            </a:solidFill>
            <a:prstDash val="solid"/>
          </a:ln>
        </p:spPr>
      </p:sp>
      <p:sp>
        <p:nvSpPr>
          <p:cNvPr id="89" name="Shape 87"/>
          <p:cNvSpPr/>
          <p:nvPr/>
        </p:nvSpPr>
        <p:spPr>
          <a:xfrm>
            <a:off x="5277231" y="1935262"/>
            <a:ext cx="91440" cy="91440"/>
          </a:xfrm>
          <a:prstGeom prst="line">
            <a:avLst/>
          </a:prstGeom>
          <a:noFill/>
          <a:ln w="15875">
            <a:solidFill>
              <a:srgbClr val="1A2340"/>
            </a:solidFill>
            <a:prstDash val="solid"/>
          </a:ln>
        </p:spPr>
      </p:sp>
      <p:sp>
        <p:nvSpPr>
          <p:cNvPr id="90" name="Shape 88"/>
          <p:cNvSpPr/>
          <p:nvPr/>
        </p:nvSpPr>
        <p:spPr>
          <a:xfrm flipV="1">
            <a:off x="5277231" y="1935262"/>
            <a:ext cx="91440" cy="91440"/>
          </a:xfrm>
          <a:prstGeom prst="line">
            <a:avLst/>
          </a:prstGeom>
          <a:noFill/>
          <a:ln w="15875">
            <a:solidFill>
              <a:srgbClr val="1A2340"/>
            </a:solidFill>
            <a:prstDash val="solid"/>
          </a:ln>
        </p:spPr>
      </p:sp>
      <p:sp>
        <p:nvSpPr>
          <p:cNvPr id="91" name="Shape 89"/>
          <p:cNvSpPr/>
          <p:nvPr/>
        </p:nvSpPr>
        <p:spPr>
          <a:xfrm>
            <a:off x="5445252" y="1835495"/>
            <a:ext cx="91440" cy="91440"/>
          </a:xfrm>
          <a:prstGeom prst="line">
            <a:avLst/>
          </a:prstGeom>
          <a:noFill/>
          <a:ln w="15875">
            <a:solidFill>
              <a:srgbClr val="1A2340"/>
            </a:solidFill>
            <a:prstDash val="solid"/>
          </a:ln>
        </p:spPr>
      </p:sp>
      <p:sp>
        <p:nvSpPr>
          <p:cNvPr id="92" name="Shape 90"/>
          <p:cNvSpPr/>
          <p:nvPr/>
        </p:nvSpPr>
        <p:spPr>
          <a:xfrm flipV="1">
            <a:off x="5445252" y="1835495"/>
            <a:ext cx="91440" cy="91440"/>
          </a:xfrm>
          <a:prstGeom prst="line">
            <a:avLst/>
          </a:prstGeom>
          <a:noFill/>
          <a:ln w="15875">
            <a:solidFill>
              <a:srgbClr val="1A2340"/>
            </a:solidFill>
            <a:prstDash val="solid"/>
          </a:ln>
        </p:spPr>
      </p:sp>
      <p:sp>
        <p:nvSpPr>
          <p:cNvPr id="93" name="Shape 91"/>
          <p:cNvSpPr/>
          <p:nvPr/>
        </p:nvSpPr>
        <p:spPr>
          <a:xfrm>
            <a:off x="1482014" y="4379976"/>
            <a:ext cx="109728" cy="109728"/>
          </a:xfrm>
          <a:prstGeom prst="ellipse">
            <a:avLst/>
          </a:prstGeom>
          <a:solidFill>
            <a:srgbClr val="C8414C"/>
          </a:solidFill>
          <a:ln w="6350">
            <a:solidFill>
              <a:srgbClr val="C8414C"/>
            </a:solidFill>
            <a:prstDash val="solid"/>
          </a:ln>
        </p:spPr>
      </p:sp>
      <p:sp>
        <p:nvSpPr>
          <p:cNvPr id="94" name="Shape 92"/>
          <p:cNvSpPr/>
          <p:nvPr/>
        </p:nvSpPr>
        <p:spPr>
          <a:xfrm flipH="1">
            <a:off x="1592885" y="3628209"/>
            <a:ext cx="593674" cy="721723"/>
          </a:xfrm>
          <a:prstGeom prst="line">
            <a:avLst/>
          </a:prstGeom>
          <a:noFill/>
          <a:ln w="19050">
            <a:solidFill>
              <a:srgbClr val="C8414C"/>
            </a:solidFill>
            <a:prstDash val="solid"/>
            <a:tailEnd type="triangle"/>
          </a:ln>
        </p:spPr>
      </p:sp>
      <p:sp>
        <p:nvSpPr>
          <p:cNvPr id="95" name="Text 93"/>
          <p:cNvSpPr/>
          <p:nvPr/>
        </p:nvSpPr>
        <p:spPr>
          <a:xfrm>
            <a:off x="2074545" y="3203666"/>
            <a:ext cx="1645920" cy="411480"/>
          </a:xfrm>
          <a:prstGeom prst="rect">
            <a:avLst/>
          </a:prstGeom>
          <a:noFill/>
          <a:ln/>
        </p:spPr>
        <p:txBody>
          <a:bodyPr wrap="square" lIns="0" tIns="0" rIns="0" bIns="0" rtlCol="0" anchor="t"/>
          <a:lstStyle/>
          <a:p>
            <a:pPr algn="l" indent="0" marL="0">
              <a:buNone/>
            </a:pPr>
            <a:r>
              <a:rPr lang="en-US" sz="1050" dirty="0">
                <a:solidFill>
                  <a:srgbClr val="C8414C"/>
                </a:solidFill>
                <a:latin typeface="Calibri" pitchFamily="34" charset="0"/>
                <a:ea typeface="Calibri" pitchFamily="34" charset="-122"/>
                <a:cs typeface="Calibri" pitchFamily="34" charset="-120"/>
              </a:rPr>
              <a:t>−273 °C: p = 0
</a:t>
            </a:r>
            <a:r>
              <a:rPr lang="en-US" sz="1050" b="1" dirty="0">
                <a:solidFill>
                  <a:srgbClr val="C8414C"/>
                </a:solidFill>
                <a:latin typeface="Calibri" pitchFamily="34" charset="0"/>
                <a:ea typeface="Calibri" pitchFamily="34" charset="-122"/>
                <a:cs typeface="Calibri" pitchFamily="34" charset="-120"/>
              </a:rPr>
              <a:t>absolute zero</a:t>
            </a:r>
            <a:endParaRPr lang="en-US" sz="1050" dirty="0"/>
          </a:p>
        </p:txBody>
      </p:sp>
      <p:sp>
        <p:nvSpPr>
          <p:cNvPr id="96" name="Text 94"/>
          <p:cNvSpPr/>
          <p:nvPr/>
        </p:nvSpPr>
        <p:spPr>
          <a:xfrm>
            <a:off x="2914650" y="1781447"/>
            <a:ext cx="237744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measured points: 20–80 °C</a:t>
            </a:r>
            <a:endParaRPr lang="en-US" sz="1050" dirty="0"/>
          </a:p>
        </p:txBody>
      </p:sp>
      <p:sp>
        <p:nvSpPr>
          <p:cNvPr id="97" name="Text 95"/>
          <p:cNvSpPr/>
          <p:nvPr/>
        </p:nvSpPr>
        <p:spPr>
          <a:xfrm>
            <a:off x="548640" y="5010912"/>
            <a:ext cx="640080" cy="182880"/>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°C</a:t>
            </a:r>
            <a:endParaRPr lang="en-US" sz="1050" dirty="0"/>
          </a:p>
        </p:txBody>
      </p:sp>
      <p:sp>
        <p:nvSpPr>
          <p:cNvPr id="98" name="Text 96"/>
          <p:cNvSpPr/>
          <p:nvPr/>
        </p:nvSpPr>
        <p:spPr>
          <a:xfrm>
            <a:off x="548640" y="5212080"/>
            <a:ext cx="640080" cy="182880"/>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K</a:t>
            </a:r>
            <a:endParaRPr lang="en-US" sz="1050" dirty="0"/>
          </a:p>
        </p:txBody>
      </p:sp>
      <p:sp>
        <p:nvSpPr>
          <p:cNvPr id="99" name="Text 97"/>
          <p:cNvSpPr/>
          <p:nvPr/>
        </p:nvSpPr>
        <p:spPr>
          <a:xfrm>
            <a:off x="1262558" y="5010912"/>
            <a:ext cx="548640" cy="182880"/>
          </a:xfrm>
          <a:prstGeom prst="rect">
            <a:avLst/>
          </a:prstGeom>
          <a:noFill/>
          <a:ln/>
        </p:spPr>
        <p:txBody>
          <a:bodyPr wrap="square" lIns="0" tIns="0" rIns="0" bIns="0" rtlCol="0" anchor="ctr"/>
          <a:lstStyle/>
          <a:p>
            <a:pPr algn="ctr" indent="0" marL="0">
              <a:buNone/>
            </a:pPr>
            <a:r>
              <a:rPr lang="en-US" sz="1050" b="1" dirty="0">
                <a:solidFill>
                  <a:srgbClr val="2E5BD8"/>
                </a:solidFill>
                <a:latin typeface="Calibri" pitchFamily="34" charset="0"/>
                <a:ea typeface="Calibri" pitchFamily="34" charset="-122"/>
                <a:cs typeface="Calibri" pitchFamily="34" charset="-120"/>
              </a:rPr>
              <a:t>−273</a:t>
            </a:r>
            <a:endParaRPr lang="en-US" sz="1050" dirty="0"/>
          </a:p>
        </p:txBody>
      </p:sp>
      <p:sp>
        <p:nvSpPr>
          <p:cNvPr id="100" name="Text 98"/>
          <p:cNvSpPr/>
          <p:nvPr/>
        </p:nvSpPr>
        <p:spPr>
          <a:xfrm>
            <a:off x="1262558" y="5212080"/>
            <a:ext cx="548640" cy="182880"/>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0</a:t>
            </a:r>
            <a:endParaRPr lang="en-US" sz="1050" dirty="0"/>
          </a:p>
        </p:txBody>
      </p:sp>
      <p:sp>
        <p:nvSpPr>
          <p:cNvPr id="101" name="Text 99"/>
          <p:cNvSpPr/>
          <p:nvPr/>
        </p:nvSpPr>
        <p:spPr>
          <a:xfrm>
            <a:off x="4210812" y="5010912"/>
            <a:ext cx="548640" cy="182880"/>
          </a:xfrm>
          <a:prstGeom prst="rect">
            <a:avLst/>
          </a:prstGeom>
          <a:noFill/>
          <a:ln/>
        </p:spPr>
        <p:txBody>
          <a:bodyPr wrap="square" lIns="0" tIns="0" rIns="0" bIns="0" rtlCol="0" anchor="ctr"/>
          <a:lstStyle/>
          <a:p>
            <a:pPr algn="ctr" indent="0" marL="0">
              <a:buNone/>
            </a:pPr>
            <a:r>
              <a:rPr lang="en-US" sz="1050" b="1" dirty="0">
                <a:solidFill>
                  <a:srgbClr val="2E5BD8"/>
                </a:solidFill>
                <a:latin typeface="Calibri" pitchFamily="34" charset="0"/>
                <a:ea typeface="Calibri" pitchFamily="34" charset="-122"/>
                <a:cs typeface="Calibri" pitchFamily="34" charset="-120"/>
              </a:rPr>
              <a:t>0</a:t>
            </a:r>
            <a:endParaRPr lang="en-US" sz="1050" dirty="0"/>
          </a:p>
        </p:txBody>
      </p:sp>
      <p:sp>
        <p:nvSpPr>
          <p:cNvPr id="102" name="Text 100"/>
          <p:cNvSpPr/>
          <p:nvPr/>
        </p:nvSpPr>
        <p:spPr>
          <a:xfrm>
            <a:off x="4210812" y="5212080"/>
            <a:ext cx="548640" cy="182880"/>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273</a:t>
            </a:r>
            <a:endParaRPr lang="en-US" sz="1050" dirty="0"/>
          </a:p>
        </p:txBody>
      </p:sp>
      <p:sp>
        <p:nvSpPr>
          <p:cNvPr id="103" name="Text 101"/>
          <p:cNvSpPr/>
          <p:nvPr/>
        </p:nvSpPr>
        <p:spPr>
          <a:xfrm>
            <a:off x="4654296" y="5010912"/>
            <a:ext cx="548640" cy="182880"/>
          </a:xfrm>
          <a:prstGeom prst="rect">
            <a:avLst/>
          </a:prstGeom>
          <a:noFill/>
          <a:ln/>
        </p:spPr>
        <p:txBody>
          <a:bodyPr wrap="square" lIns="0" tIns="0" rIns="0" bIns="0" rtlCol="0" anchor="ctr"/>
          <a:lstStyle/>
          <a:p>
            <a:pPr algn="ctr" indent="0" marL="0">
              <a:buNone/>
            </a:pPr>
            <a:r>
              <a:rPr lang="en-US" sz="1050" b="1" dirty="0">
                <a:solidFill>
                  <a:srgbClr val="2E5BD8"/>
                </a:solidFill>
                <a:latin typeface="Calibri" pitchFamily="34" charset="0"/>
                <a:ea typeface="Calibri" pitchFamily="34" charset="-122"/>
                <a:cs typeface="Calibri" pitchFamily="34" charset="-120"/>
              </a:rPr>
              <a:t>20</a:t>
            </a:r>
            <a:endParaRPr lang="en-US" sz="1050" dirty="0"/>
          </a:p>
        </p:txBody>
      </p:sp>
      <p:sp>
        <p:nvSpPr>
          <p:cNvPr id="104" name="Text 102"/>
          <p:cNvSpPr/>
          <p:nvPr/>
        </p:nvSpPr>
        <p:spPr>
          <a:xfrm>
            <a:off x="4654296" y="5212080"/>
            <a:ext cx="548640" cy="182880"/>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293</a:t>
            </a:r>
            <a:endParaRPr lang="en-US" sz="1050" dirty="0"/>
          </a:p>
        </p:txBody>
      </p:sp>
      <p:sp>
        <p:nvSpPr>
          <p:cNvPr id="105" name="Text 103"/>
          <p:cNvSpPr/>
          <p:nvPr/>
        </p:nvSpPr>
        <p:spPr>
          <a:xfrm>
            <a:off x="5440680" y="5010912"/>
            <a:ext cx="548640" cy="182880"/>
          </a:xfrm>
          <a:prstGeom prst="rect">
            <a:avLst/>
          </a:prstGeom>
          <a:noFill/>
          <a:ln/>
        </p:spPr>
        <p:txBody>
          <a:bodyPr wrap="square" lIns="0" tIns="0" rIns="0" bIns="0" rtlCol="0" anchor="ctr"/>
          <a:lstStyle/>
          <a:p>
            <a:pPr algn="ctr" indent="0" marL="0">
              <a:buNone/>
            </a:pPr>
            <a:r>
              <a:rPr lang="en-US" sz="1050" b="1" dirty="0">
                <a:solidFill>
                  <a:srgbClr val="2E5BD8"/>
                </a:solidFill>
                <a:latin typeface="Calibri" pitchFamily="34" charset="0"/>
                <a:ea typeface="Calibri" pitchFamily="34" charset="-122"/>
                <a:cs typeface="Calibri" pitchFamily="34" charset="-120"/>
              </a:rPr>
              <a:t>100</a:t>
            </a:r>
            <a:endParaRPr lang="en-US" sz="1050" dirty="0"/>
          </a:p>
        </p:txBody>
      </p:sp>
      <p:sp>
        <p:nvSpPr>
          <p:cNvPr id="106" name="Text 104"/>
          <p:cNvSpPr/>
          <p:nvPr/>
        </p:nvSpPr>
        <p:spPr>
          <a:xfrm>
            <a:off x="5440680" y="5212080"/>
            <a:ext cx="548640" cy="182880"/>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373</a:t>
            </a:r>
            <a:endParaRPr lang="en-US" sz="1050" dirty="0"/>
          </a:p>
        </p:txBody>
      </p:sp>
      <p:sp>
        <p:nvSpPr>
          <p:cNvPr id="107" name="Shape 105"/>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08" name="Text 10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Absolute zero</a:t>
            </a:r>
            <a:endParaRPr lang="en-US" sz="1300" dirty="0"/>
          </a:p>
        </p:txBody>
      </p:sp>
      <p:sp>
        <p:nvSpPr>
          <p:cNvPr id="109" name="Text 107"/>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Cool a gas and its pressure falls. Extend the line: it reaches </a:t>
            </a:r>
            <a:r>
              <a:rPr lang="en-US" sz="1100" b="1" dirty="0">
                <a:solidFill>
                  <a:srgbClr val="262B3A"/>
                </a:solidFill>
                <a:latin typeface="Calibri" pitchFamily="34" charset="0"/>
                <a:ea typeface="Calibri" pitchFamily="34" charset="-122"/>
                <a:cs typeface="Calibri" pitchFamily="34" charset="-120"/>
              </a:rPr>
              <a:t>p = 0 at −273 °C</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At </a:t>
            </a:r>
            <a:r>
              <a:rPr lang="en-US" sz="1100" b="1" dirty="0">
                <a:solidFill>
                  <a:srgbClr val="262B3A"/>
                </a:solidFill>
                <a:latin typeface="Calibri" pitchFamily="34" charset="0"/>
                <a:ea typeface="Calibri" pitchFamily="34" charset="-122"/>
                <a:cs typeface="Calibri" pitchFamily="34" charset="-120"/>
              </a:rPr>
              <a:t>absolute zero</a:t>
            </a:r>
            <a:r>
              <a:rPr lang="en-US" sz="1100" dirty="0">
                <a:solidFill>
                  <a:srgbClr val="262B3A"/>
                </a:solidFill>
                <a:latin typeface="Calibri" pitchFamily="34" charset="0"/>
                <a:ea typeface="Calibri" pitchFamily="34" charset="-122"/>
                <a:cs typeface="Calibri" pitchFamily="34" charset="-120"/>
              </a:rPr>
              <a:t> the particles have the </a:t>
            </a:r>
            <a:r>
              <a:rPr lang="en-US" sz="1100" b="1" dirty="0">
                <a:solidFill>
                  <a:srgbClr val="262B3A"/>
                </a:solidFill>
                <a:latin typeface="Calibri" pitchFamily="34" charset="0"/>
                <a:ea typeface="Calibri" pitchFamily="34" charset="-122"/>
                <a:cs typeface="Calibri" pitchFamily="34" charset="-120"/>
              </a:rPr>
              <a:t>least possible kinetic energy</a:t>
            </a:r>
            <a:r>
              <a:rPr lang="en-US" sz="1100" dirty="0">
                <a:solidFill>
                  <a:srgbClr val="262B3A"/>
                </a:solidFill>
                <a:latin typeface="Calibri" pitchFamily="34" charset="0"/>
                <a:ea typeface="Calibri" pitchFamily="34" charset="-122"/>
                <a:cs typeface="Calibri" pitchFamily="34" charset="-120"/>
              </a:rPr>
              <a:t> (they almost stop), so nothing can be colder.</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Kelvin scale:</a:t>
            </a:r>
            <a:r>
              <a:rPr lang="en-US" sz="1100" dirty="0">
                <a:solidFill>
                  <a:srgbClr val="262B3A"/>
                </a:solidFill>
                <a:latin typeface="Calibri" pitchFamily="34" charset="0"/>
                <a:ea typeface="Calibri" pitchFamily="34" charset="-122"/>
                <a:cs typeface="Calibri" pitchFamily="34" charset="-120"/>
              </a:rPr>
              <a:t> starts at absolute zero. </a:t>
            </a:r>
            <a:r>
              <a:rPr lang="en-US" sz="1100" b="1" dirty="0">
                <a:solidFill>
                  <a:srgbClr val="262B3A"/>
                </a:solidFill>
                <a:latin typeface="Calibri" pitchFamily="34" charset="0"/>
                <a:ea typeface="Calibri" pitchFamily="34" charset="-122"/>
                <a:cs typeface="Calibri" pitchFamily="34" charset="-120"/>
              </a:rPr>
              <a:t>T (K) = θ (°C) + 273</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C8414C"/>
                </a:solidFill>
                <a:latin typeface="Calibri" pitchFamily="34" charset="0"/>
                <a:ea typeface="Calibri" pitchFamily="34" charset="-122"/>
                <a:cs typeface="Calibri" pitchFamily="34" charset="-120"/>
              </a:rPr>
              <a:t>RECALL</a:t>
            </a:r>
            <a:r>
              <a:rPr lang="en-US" sz="1100" dirty="0">
                <a:solidFill>
                  <a:srgbClr val="262B3A"/>
                </a:solidFill>
                <a:latin typeface="Calibri" pitchFamily="34" charset="0"/>
                <a:ea typeface="Calibri" pitchFamily="34" charset="-122"/>
                <a:cs typeface="Calibri" pitchFamily="34" charset="-120"/>
              </a:rPr>
              <a:t>). A change of 1 K = a change of 1 °C.</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In kelvin, gas </a:t>
            </a:r>
            <a:r>
              <a:rPr lang="en-US" sz="1100" b="1" dirty="0">
                <a:solidFill>
                  <a:srgbClr val="262B3A"/>
                </a:solidFill>
                <a:latin typeface="Calibri" pitchFamily="34" charset="0"/>
                <a:ea typeface="Calibri" pitchFamily="34" charset="-122"/>
                <a:cs typeface="Calibri" pitchFamily="34" charset="-120"/>
              </a:rPr>
              <a:t>pressure ∝ temperature</a:t>
            </a:r>
            <a:r>
              <a:rPr lang="en-US" sz="1100" dirty="0">
                <a:solidFill>
                  <a:srgbClr val="262B3A"/>
                </a:solidFill>
                <a:latin typeface="Calibri" pitchFamily="34" charset="0"/>
                <a:ea typeface="Calibri" pitchFamily="34" charset="-122"/>
                <a:cs typeface="Calibri" pitchFamily="34" charset="-120"/>
              </a:rPr>
              <a:t> at constant volume (a straight line through 0 K).</a:t>
            </a:r>
            <a:endParaRPr lang="en-US" sz="1100" dirty="0"/>
          </a:p>
        </p:txBody>
      </p:sp>
      <p:sp>
        <p:nvSpPr>
          <p:cNvPr id="110" name="Shape 108"/>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11" name="Text 109"/>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examples</a:t>
            </a:r>
            <a:endParaRPr lang="en-US" sz="1300" dirty="0"/>
          </a:p>
        </p:txBody>
      </p:sp>
      <p:sp>
        <p:nvSpPr>
          <p:cNvPr id="112" name="Text 110"/>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20 °C → K   </a:t>
            </a:r>
            <a:r>
              <a:rPr lang="en-US" sz="1050" dirty="0">
                <a:solidFill>
                  <a:srgbClr val="262B3A"/>
                </a:solidFill>
                <a:latin typeface="Calibri" pitchFamily="34" charset="0"/>
                <a:ea typeface="Calibri" pitchFamily="34" charset="-122"/>
                <a:cs typeface="Calibri" pitchFamily="34" charset="-120"/>
              </a:rPr>
              <a:t>T = 20 + 273 = 293 K</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2 100 °C → K   </a:t>
            </a:r>
            <a:r>
              <a:rPr lang="en-US" sz="1050" dirty="0">
                <a:solidFill>
                  <a:srgbClr val="262B3A"/>
                </a:solidFill>
                <a:latin typeface="Calibri" pitchFamily="34" charset="0"/>
                <a:ea typeface="Calibri" pitchFamily="34" charset="-122"/>
                <a:cs typeface="Calibri" pitchFamily="34" charset="-120"/>
              </a:rPr>
              <a:t>T = 100 + 273 = 373 K</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77 K → °C   </a:t>
            </a:r>
            <a:r>
              <a:rPr lang="en-US" sz="1050" dirty="0">
                <a:solidFill>
                  <a:srgbClr val="262B3A"/>
                </a:solidFill>
                <a:latin typeface="Calibri" pitchFamily="34" charset="0"/>
                <a:ea typeface="Calibri" pitchFamily="34" charset="-122"/>
                <a:cs typeface="Calibri" pitchFamily="34" charset="-120"/>
              </a:rPr>
              <a:t>θ = 77 − 273 = −196 °C (liquid nitrogen)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add 273 to get kelvin; subtract 273 to get °C</a:t>
            </a:r>
            <a:endParaRPr lang="en-US" sz="1050" dirty="0"/>
          </a:p>
        </p:txBody>
      </p:sp>
      <p:sp>
        <p:nvSpPr>
          <p:cNvPr id="113" name="Shape 111"/>
          <p:cNvSpPr/>
          <p:nvPr/>
        </p:nvSpPr>
        <p:spPr>
          <a:xfrm>
            <a:off x="411480" y="5833872"/>
            <a:ext cx="11368735" cy="530352"/>
          </a:xfrm>
          <a:prstGeom prst="rect">
            <a:avLst/>
          </a:prstGeom>
          <a:solidFill>
            <a:srgbClr val="FFF4E0"/>
          </a:solidFill>
          <a:ln w="6350">
            <a:solidFill>
              <a:srgbClr val="F1D9A8"/>
            </a:solidFill>
            <a:prstDash val="solid"/>
          </a:ln>
        </p:spPr>
      </p:sp>
      <p:sp>
        <p:nvSpPr>
          <p:cNvPr id="114" name="Shape 112"/>
          <p:cNvSpPr/>
          <p:nvPr/>
        </p:nvSpPr>
        <p:spPr>
          <a:xfrm>
            <a:off x="411480" y="5833872"/>
            <a:ext cx="82296" cy="530352"/>
          </a:xfrm>
          <a:prstGeom prst="rect">
            <a:avLst/>
          </a:prstGeom>
          <a:solidFill>
            <a:srgbClr val="E39A2F"/>
          </a:solidFill>
          <a:ln w="12700">
            <a:solidFill>
              <a:srgbClr val="E39A2F"/>
            </a:solidFill>
            <a:prstDash val="solid"/>
          </a:ln>
        </p:spPr>
      </p:sp>
      <p:sp>
        <p:nvSpPr>
          <p:cNvPr id="115" name="Text 11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Convert −40 °C into kelvin. Convert 300 K into °C. Can a temperature of −300 °C exist? Explain.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P6.2.4 • constant-volume heating, absolute zero and kelvin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11</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sealed metal can of gas is heated. Explain, using the particle model, why the pressure of the gas increases.</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Convert </a:t>
            </a:r>
            <a:r>
              <a:rPr lang="en-US" sz="1250" b="1" dirty="0">
                <a:solidFill>
                  <a:srgbClr val="262B3A"/>
                </a:solidFill>
                <a:latin typeface="Calibri" pitchFamily="34" charset="0"/>
                <a:ea typeface="Calibri" pitchFamily="34" charset="-122"/>
                <a:cs typeface="Calibri" pitchFamily="34" charset="-120"/>
              </a:rPr>
              <a:t>37 °C</a:t>
            </a:r>
            <a:r>
              <a:rPr lang="en-US" sz="1250" dirty="0">
                <a:solidFill>
                  <a:srgbClr val="262B3A"/>
                </a:solidFill>
                <a:latin typeface="Calibri" pitchFamily="34" charset="0"/>
                <a:ea typeface="Calibri" pitchFamily="34" charset="-122"/>
                <a:cs typeface="Calibri" pitchFamily="34" charset="-120"/>
              </a:rPr>
              <a:t> into kelvin. Convert </a:t>
            </a:r>
            <a:r>
              <a:rPr lang="en-US" sz="1250" b="1" dirty="0">
                <a:solidFill>
                  <a:srgbClr val="262B3A"/>
                </a:solidFill>
                <a:latin typeface="Calibri" pitchFamily="34" charset="0"/>
                <a:ea typeface="Calibri" pitchFamily="34" charset="-122"/>
                <a:cs typeface="Calibri" pitchFamily="34" charset="-120"/>
              </a:rPr>
              <a:t>250 K</a:t>
            </a:r>
            <a:r>
              <a:rPr lang="en-US" sz="1250" dirty="0">
                <a:solidFill>
                  <a:srgbClr val="262B3A"/>
                </a:solidFill>
                <a:latin typeface="Calibri" pitchFamily="34" charset="0"/>
                <a:ea typeface="Calibri" pitchFamily="34" charset="-122"/>
                <a:cs typeface="Calibri" pitchFamily="34" charset="-120"/>
              </a:rPr>
              <a:t> into °C.</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meant by </a:t>
            </a:r>
            <a:r>
              <a:rPr lang="en-US" sz="1250" b="1" dirty="0">
                <a:solidFill>
                  <a:srgbClr val="262B3A"/>
                </a:solidFill>
                <a:latin typeface="Calibri" pitchFamily="34" charset="0"/>
                <a:ea typeface="Calibri" pitchFamily="34" charset="-122"/>
                <a:cs typeface="Calibri" pitchFamily="34" charset="-120"/>
              </a:rPr>
              <a:t>absolute zero</a:t>
            </a:r>
            <a:r>
              <a:rPr lang="en-US" sz="1250" dirty="0">
                <a:solidFill>
                  <a:srgbClr val="262B3A"/>
                </a:solidFill>
                <a:latin typeface="Calibri" pitchFamily="34" charset="0"/>
                <a:ea typeface="Calibri" pitchFamily="34" charset="-122"/>
                <a:cs typeface="Calibri" pitchFamily="34" charset="-120"/>
              </a:rPr>
              <a:t>? Give its value in °C.</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Practical: pressure and temperature of a gas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P6.2.4 • a fixed volume of air in a flask, warmed in a water bath</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12</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flask of air in a water bath, joined by a short tube to a pressure gauge</a:t>
            </a:r>
            <a:endParaRPr lang="en-US" sz="1000" dirty="0"/>
          </a:p>
        </p:txBody>
      </p:sp>
      <p:sp>
        <p:nvSpPr>
          <p:cNvPr id="12" name="Shape 10"/>
          <p:cNvSpPr/>
          <p:nvPr/>
        </p:nvSpPr>
        <p:spPr>
          <a:xfrm>
            <a:off x="777240" y="2719426"/>
            <a:ext cx="2514600" cy="2035454"/>
          </a:xfrm>
          <a:prstGeom prst="rect">
            <a:avLst/>
          </a:prstGeom>
          <a:solidFill>
            <a:srgbClr val="BFD9F2"/>
          </a:solidFill>
          <a:ln/>
        </p:spPr>
      </p:sp>
      <p:sp>
        <p:nvSpPr>
          <p:cNvPr id="13" name="Shape 11"/>
          <p:cNvSpPr/>
          <p:nvPr/>
        </p:nvSpPr>
        <p:spPr>
          <a:xfrm>
            <a:off x="777240" y="2331720"/>
            <a:ext cx="91" cy="2423160"/>
          </a:xfrm>
          <a:prstGeom prst="line">
            <a:avLst/>
          </a:prstGeom>
          <a:noFill/>
          <a:ln w="25400">
            <a:solidFill>
              <a:srgbClr val="1A2340"/>
            </a:solidFill>
            <a:prstDash val="solid"/>
          </a:ln>
        </p:spPr>
      </p:sp>
      <p:sp>
        <p:nvSpPr>
          <p:cNvPr id="14" name="Shape 12"/>
          <p:cNvSpPr/>
          <p:nvPr/>
        </p:nvSpPr>
        <p:spPr>
          <a:xfrm>
            <a:off x="3291840" y="2331720"/>
            <a:ext cx="91" cy="2423160"/>
          </a:xfrm>
          <a:prstGeom prst="line">
            <a:avLst/>
          </a:prstGeom>
          <a:noFill/>
          <a:ln w="25400">
            <a:solidFill>
              <a:srgbClr val="1A2340"/>
            </a:solidFill>
            <a:prstDash val="solid"/>
          </a:ln>
        </p:spPr>
      </p:sp>
      <p:sp>
        <p:nvSpPr>
          <p:cNvPr id="15" name="Shape 13"/>
          <p:cNvSpPr/>
          <p:nvPr/>
        </p:nvSpPr>
        <p:spPr>
          <a:xfrm>
            <a:off x="777240" y="4754880"/>
            <a:ext cx="2514600" cy="91"/>
          </a:xfrm>
          <a:prstGeom prst="line">
            <a:avLst/>
          </a:prstGeom>
          <a:noFill/>
          <a:ln w="25400">
            <a:solidFill>
              <a:srgbClr val="1A2340"/>
            </a:solidFill>
            <a:prstDash val="solid"/>
          </a:ln>
        </p:spPr>
      </p:sp>
      <p:sp>
        <p:nvSpPr>
          <p:cNvPr id="16" name="Shape 14"/>
          <p:cNvSpPr/>
          <p:nvPr/>
        </p:nvSpPr>
        <p:spPr>
          <a:xfrm>
            <a:off x="777240" y="2719426"/>
            <a:ext cx="2514600" cy="91"/>
          </a:xfrm>
          <a:prstGeom prst="line">
            <a:avLst/>
          </a:prstGeom>
          <a:noFill/>
          <a:ln w="15875">
            <a:solidFill>
              <a:srgbClr val="5B9BD5"/>
            </a:solidFill>
            <a:prstDash val="solid"/>
          </a:ln>
        </p:spPr>
      </p:sp>
      <p:sp>
        <p:nvSpPr>
          <p:cNvPr id="17" name="Shape 15"/>
          <p:cNvSpPr/>
          <p:nvPr/>
        </p:nvSpPr>
        <p:spPr>
          <a:xfrm>
            <a:off x="1417320" y="3429000"/>
            <a:ext cx="1097280" cy="1097280"/>
          </a:xfrm>
          <a:prstGeom prst="ellipse">
            <a:avLst/>
          </a:prstGeom>
          <a:solidFill>
            <a:srgbClr val="FBFCFE"/>
          </a:solidFill>
          <a:ln w="19050">
            <a:solidFill>
              <a:srgbClr val="1A2340"/>
            </a:solidFill>
            <a:prstDash val="solid"/>
          </a:ln>
        </p:spPr>
      </p:sp>
      <p:sp>
        <p:nvSpPr>
          <p:cNvPr id="18" name="Shape 16"/>
          <p:cNvSpPr/>
          <p:nvPr/>
        </p:nvSpPr>
        <p:spPr>
          <a:xfrm>
            <a:off x="1856232" y="2057400"/>
            <a:ext cx="219456" cy="1417320"/>
          </a:xfrm>
          <a:prstGeom prst="rect">
            <a:avLst/>
          </a:prstGeom>
          <a:solidFill>
            <a:srgbClr val="FBFCFE"/>
          </a:solidFill>
          <a:ln/>
        </p:spPr>
      </p:sp>
      <p:sp>
        <p:nvSpPr>
          <p:cNvPr id="19" name="Shape 17"/>
          <p:cNvSpPr/>
          <p:nvPr/>
        </p:nvSpPr>
        <p:spPr>
          <a:xfrm>
            <a:off x="1856232" y="2057400"/>
            <a:ext cx="91" cy="1435608"/>
          </a:xfrm>
          <a:prstGeom prst="line">
            <a:avLst/>
          </a:prstGeom>
          <a:noFill/>
          <a:ln w="19050">
            <a:solidFill>
              <a:srgbClr val="1A2340"/>
            </a:solidFill>
            <a:prstDash val="solid"/>
          </a:ln>
        </p:spPr>
      </p:sp>
      <p:sp>
        <p:nvSpPr>
          <p:cNvPr id="20" name="Shape 18"/>
          <p:cNvSpPr/>
          <p:nvPr/>
        </p:nvSpPr>
        <p:spPr>
          <a:xfrm>
            <a:off x="2075688" y="2057400"/>
            <a:ext cx="91" cy="1435608"/>
          </a:xfrm>
          <a:prstGeom prst="line">
            <a:avLst/>
          </a:prstGeom>
          <a:noFill/>
          <a:ln w="19050">
            <a:solidFill>
              <a:srgbClr val="1A2340"/>
            </a:solidFill>
            <a:prstDash val="solid"/>
          </a:ln>
        </p:spPr>
      </p:sp>
      <p:sp>
        <p:nvSpPr>
          <p:cNvPr id="21" name="Shape 19"/>
          <p:cNvSpPr/>
          <p:nvPr/>
        </p:nvSpPr>
        <p:spPr>
          <a:xfrm>
            <a:off x="1706527" y="4009764"/>
            <a:ext cx="91440" cy="91440"/>
          </a:xfrm>
          <a:prstGeom prst="ellipse">
            <a:avLst/>
          </a:prstGeom>
          <a:solidFill>
            <a:srgbClr val="E0884A"/>
          </a:solidFill>
          <a:ln w="9525">
            <a:solidFill>
              <a:srgbClr val="9A5320"/>
            </a:solidFill>
            <a:prstDash val="solid"/>
          </a:ln>
        </p:spPr>
      </p:sp>
      <p:sp>
        <p:nvSpPr>
          <p:cNvPr id="22" name="Shape 20"/>
          <p:cNvSpPr/>
          <p:nvPr/>
        </p:nvSpPr>
        <p:spPr>
          <a:xfrm flipH="1" flipV="1">
            <a:off x="1704602" y="3947666"/>
            <a:ext cx="26393" cy="59726"/>
          </a:xfrm>
          <a:prstGeom prst="line">
            <a:avLst/>
          </a:prstGeom>
          <a:noFill/>
          <a:ln w="12700">
            <a:solidFill>
              <a:srgbClr val="6B7385"/>
            </a:solidFill>
            <a:prstDash val="solid"/>
            <a:tailEnd type="triangle"/>
          </a:ln>
        </p:spPr>
      </p:sp>
      <p:sp>
        <p:nvSpPr>
          <p:cNvPr id="23" name="Shape 21"/>
          <p:cNvSpPr/>
          <p:nvPr/>
        </p:nvSpPr>
        <p:spPr>
          <a:xfrm>
            <a:off x="1973098" y="3900457"/>
            <a:ext cx="91440" cy="91440"/>
          </a:xfrm>
          <a:prstGeom prst="ellipse">
            <a:avLst/>
          </a:prstGeom>
          <a:solidFill>
            <a:srgbClr val="E0884A"/>
          </a:solidFill>
          <a:ln w="9525">
            <a:solidFill>
              <a:srgbClr val="9A5320"/>
            </a:solidFill>
            <a:prstDash val="solid"/>
          </a:ln>
        </p:spPr>
      </p:sp>
      <p:sp>
        <p:nvSpPr>
          <p:cNvPr id="24" name="Shape 22"/>
          <p:cNvSpPr/>
          <p:nvPr/>
        </p:nvSpPr>
        <p:spPr>
          <a:xfrm flipV="1">
            <a:off x="2067272" y="3894810"/>
            <a:ext cx="73478" cy="30954"/>
          </a:xfrm>
          <a:prstGeom prst="line">
            <a:avLst/>
          </a:prstGeom>
          <a:noFill/>
          <a:ln w="12700">
            <a:solidFill>
              <a:srgbClr val="6B7385"/>
            </a:solidFill>
            <a:prstDash val="solid"/>
            <a:tailEnd type="triangle"/>
          </a:ln>
        </p:spPr>
      </p:sp>
      <p:sp>
        <p:nvSpPr>
          <p:cNvPr id="25" name="Shape 23"/>
          <p:cNvSpPr/>
          <p:nvPr/>
        </p:nvSpPr>
        <p:spPr>
          <a:xfrm>
            <a:off x="1688813" y="3645513"/>
            <a:ext cx="91440" cy="91440"/>
          </a:xfrm>
          <a:prstGeom prst="ellipse">
            <a:avLst/>
          </a:prstGeom>
          <a:solidFill>
            <a:srgbClr val="E0884A"/>
          </a:solidFill>
          <a:ln w="9525">
            <a:solidFill>
              <a:srgbClr val="9A5320"/>
            </a:solidFill>
            <a:prstDash val="solid"/>
          </a:ln>
        </p:spPr>
      </p:sp>
      <p:sp>
        <p:nvSpPr>
          <p:cNvPr id="26" name="Shape 24"/>
          <p:cNvSpPr/>
          <p:nvPr/>
        </p:nvSpPr>
        <p:spPr>
          <a:xfrm flipH="1">
            <a:off x="1662318" y="3731915"/>
            <a:ext cx="38908" cy="47522"/>
          </a:xfrm>
          <a:prstGeom prst="line">
            <a:avLst/>
          </a:prstGeom>
          <a:noFill/>
          <a:ln w="12700">
            <a:solidFill>
              <a:srgbClr val="6B7385"/>
            </a:solidFill>
            <a:prstDash val="solid"/>
            <a:tailEnd type="triangle"/>
          </a:ln>
        </p:spPr>
      </p:sp>
      <p:sp>
        <p:nvSpPr>
          <p:cNvPr id="27" name="Shape 25"/>
          <p:cNvSpPr/>
          <p:nvPr/>
        </p:nvSpPr>
        <p:spPr>
          <a:xfrm>
            <a:off x="2100066" y="4241464"/>
            <a:ext cx="91440" cy="91440"/>
          </a:xfrm>
          <a:prstGeom prst="ellipse">
            <a:avLst/>
          </a:prstGeom>
          <a:solidFill>
            <a:srgbClr val="E0884A"/>
          </a:solidFill>
          <a:ln w="9525">
            <a:solidFill>
              <a:srgbClr val="9A5320"/>
            </a:solidFill>
            <a:prstDash val="solid"/>
          </a:ln>
        </p:spPr>
      </p:sp>
      <p:sp>
        <p:nvSpPr>
          <p:cNvPr id="28" name="Shape 26"/>
          <p:cNvSpPr/>
          <p:nvPr/>
        </p:nvSpPr>
        <p:spPr>
          <a:xfrm flipV="1">
            <a:off x="2147254" y="4131495"/>
            <a:ext cx="2879" cy="103131"/>
          </a:xfrm>
          <a:prstGeom prst="line">
            <a:avLst/>
          </a:prstGeom>
          <a:noFill/>
          <a:ln w="12700">
            <a:solidFill>
              <a:srgbClr val="6B7385"/>
            </a:solidFill>
            <a:prstDash val="solid"/>
            <a:tailEnd type="triangle"/>
          </a:ln>
        </p:spPr>
      </p:sp>
      <p:sp>
        <p:nvSpPr>
          <p:cNvPr id="29" name="Shape 27"/>
          <p:cNvSpPr/>
          <p:nvPr/>
        </p:nvSpPr>
        <p:spPr>
          <a:xfrm>
            <a:off x="2217380" y="3657818"/>
            <a:ext cx="91440" cy="91440"/>
          </a:xfrm>
          <a:prstGeom prst="ellipse">
            <a:avLst/>
          </a:prstGeom>
          <a:solidFill>
            <a:srgbClr val="E0884A"/>
          </a:solidFill>
          <a:ln w="9525">
            <a:solidFill>
              <a:srgbClr val="9A5320"/>
            </a:solidFill>
            <a:prstDash val="solid"/>
          </a:ln>
        </p:spPr>
      </p:sp>
      <p:sp>
        <p:nvSpPr>
          <p:cNvPr id="30" name="Shape 28"/>
          <p:cNvSpPr/>
          <p:nvPr/>
        </p:nvSpPr>
        <p:spPr>
          <a:xfrm flipH="1" flipV="1">
            <a:off x="2106554" y="3669596"/>
            <a:ext cx="105162" cy="22801"/>
          </a:xfrm>
          <a:prstGeom prst="line">
            <a:avLst/>
          </a:prstGeom>
          <a:noFill/>
          <a:ln w="12700">
            <a:solidFill>
              <a:srgbClr val="6B7385"/>
            </a:solidFill>
            <a:prstDash val="solid"/>
            <a:tailEnd type="triangle"/>
          </a:ln>
        </p:spPr>
      </p:sp>
      <p:sp>
        <p:nvSpPr>
          <p:cNvPr id="31" name="Shape 29"/>
          <p:cNvSpPr/>
          <p:nvPr/>
        </p:nvSpPr>
        <p:spPr>
          <a:xfrm>
            <a:off x="1810512" y="1901952"/>
            <a:ext cx="310896" cy="182880"/>
          </a:xfrm>
          <a:prstGeom prst="rect">
            <a:avLst/>
          </a:prstGeom>
          <a:solidFill>
            <a:srgbClr val="8C6A3A"/>
          </a:solidFill>
          <a:ln w="12700">
            <a:solidFill>
              <a:srgbClr val="5A4020"/>
            </a:solidFill>
            <a:prstDash val="solid"/>
          </a:ln>
        </p:spPr>
      </p:sp>
      <p:sp>
        <p:nvSpPr>
          <p:cNvPr id="32" name="Shape 30"/>
          <p:cNvSpPr/>
          <p:nvPr/>
        </p:nvSpPr>
        <p:spPr>
          <a:xfrm flipV="1">
            <a:off x="1965960" y="1572768"/>
            <a:ext cx="91" cy="329184"/>
          </a:xfrm>
          <a:prstGeom prst="line">
            <a:avLst/>
          </a:prstGeom>
          <a:noFill/>
          <a:ln w="38100">
            <a:solidFill>
              <a:srgbClr val="4A5262"/>
            </a:solidFill>
            <a:prstDash val="solid"/>
          </a:ln>
        </p:spPr>
      </p:sp>
      <p:sp>
        <p:nvSpPr>
          <p:cNvPr id="33" name="Shape 31"/>
          <p:cNvSpPr/>
          <p:nvPr/>
        </p:nvSpPr>
        <p:spPr>
          <a:xfrm>
            <a:off x="1965960" y="1572768"/>
            <a:ext cx="2331720" cy="91"/>
          </a:xfrm>
          <a:prstGeom prst="line">
            <a:avLst/>
          </a:prstGeom>
          <a:noFill/>
          <a:ln w="38100">
            <a:solidFill>
              <a:srgbClr val="4A5262"/>
            </a:solidFill>
            <a:prstDash val="solid"/>
          </a:ln>
        </p:spPr>
      </p:sp>
      <p:sp>
        <p:nvSpPr>
          <p:cNvPr id="34" name="Shape 32"/>
          <p:cNvSpPr/>
          <p:nvPr/>
        </p:nvSpPr>
        <p:spPr>
          <a:xfrm>
            <a:off x="4297680" y="1572768"/>
            <a:ext cx="91" cy="210312"/>
          </a:xfrm>
          <a:prstGeom prst="line">
            <a:avLst/>
          </a:prstGeom>
          <a:noFill/>
          <a:ln w="38100">
            <a:solidFill>
              <a:srgbClr val="4A5262"/>
            </a:solidFill>
            <a:prstDash val="solid"/>
          </a:ln>
        </p:spPr>
      </p:sp>
      <p:sp>
        <p:nvSpPr>
          <p:cNvPr id="35" name="Shape 33"/>
          <p:cNvSpPr/>
          <p:nvPr/>
        </p:nvSpPr>
        <p:spPr>
          <a:xfrm>
            <a:off x="3886200" y="1801368"/>
            <a:ext cx="822960" cy="822960"/>
          </a:xfrm>
          <a:prstGeom prst="ellipse">
            <a:avLst/>
          </a:prstGeom>
          <a:solidFill>
            <a:srgbClr val="FFFFFF"/>
          </a:solidFill>
          <a:ln w="22225">
            <a:solidFill>
              <a:srgbClr val="1A2340"/>
            </a:solidFill>
            <a:prstDash val="solid"/>
          </a:ln>
        </p:spPr>
      </p:sp>
      <p:sp>
        <p:nvSpPr>
          <p:cNvPr id="36" name="Shape 34"/>
          <p:cNvSpPr/>
          <p:nvPr/>
        </p:nvSpPr>
        <p:spPr>
          <a:xfrm flipH="1">
            <a:off x="4029997" y="2416520"/>
            <a:ext cx="64011" cy="64011"/>
          </a:xfrm>
          <a:prstGeom prst="line">
            <a:avLst/>
          </a:prstGeom>
          <a:noFill/>
          <a:ln w="9525">
            <a:solidFill>
              <a:srgbClr val="1A2340"/>
            </a:solidFill>
            <a:prstDash val="solid"/>
          </a:ln>
        </p:spPr>
      </p:sp>
      <p:sp>
        <p:nvSpPr>
          <p:cNvPr id="37" name="Shape 35"/>
          <p:cNvSpPr/>
          <p:nvPr/>
        </p:nvSpPr>
        <p:spPr>
          <a:xfrm flipH="1">
            <a:off x="3937647" y="2314571"/>
            <a:ext cx="46961" cy="15259"/>
          </a:xfrm>
          <a:prstGeom prst="line">
            <a:avLst/>
          </a:prstGeom>
          <a:noFill/>
          <a:ln w="9525">
            <a:solidFill>
              <a:srgbClr val="1A2340"/>
            </a:solidFill>
            <a:prstDash val="solid"/>
          </a:ln>
        </p:spPr>
      </p:sp>
      <p:sp>
        <p:nvSpPr>
          <p:cNvPr id="38" name="Shape 36"/>
          <p:cNvSpPr/>
          <p:nvPr/>
        </p:nvSpPr>
        <p:spPr>
          <a:xfrm flipH="1" flipV="1">
            <a:off x="3923779" y="2153628"/>
            <a:ext cx="48770" cy="7724"/>
          </a:xfrm>
          <a:prstGeom prst="line">
            <a:avLst/>
          </a:prstGeom>
          <a:noFill/>
          <a:ln w="9525">
            <a:solidFill>
              <a:srgbClr val="1A2340"/>
            </a:solidFill>
            <a:prstDash val="solid"/>
          </a:ln>
        </p:spPr>
      </p:sp>
      <p:sp>
        <p:nvSpPr>
          <p:cNvPr id="39" name="Shape 37"/>
          <p:cNvSpPr/>
          <p:nvPr/>
        </p:nvSpPr>
        <p:spPr>
          <a:xfrm flipH="1" flipV="1">
            <a:off x="3991417" y="1990335"/>
            <a:ext cx="39947" cy="29023"/>
          </a:xfrm>
          <a:prstGeom prst="line">
            <a:avLst/>
          </a:prstGeom>
          <a:noFill/>
          <a:ln w="9525">
            <a:solidFill>
              <a:srgbClr val="1A2340"/>
            </a:solidFill>
            <a:prstDash val="solid"/>
          </a:ln>
        </p:spPr>
      </p:sp>
      <p:sp>
        <p:nvSpPr>
          <p:cNvPr id="40" name="Shape 38"/>
          <p:cNvSpPr/>
          <p:nvPr/>
        </p:nvSpPr>
        <p:spPr>
          <a:xfrm flipH="1" flipV="1">
            <a:off x="4125817" y="1875547"/>
            <a:ext cx="22417" cy="43996"/>
          </a:xfrm>
          <a:prstGeom prst="line">
            <a:avLst/>
          </a:prstGeom>
          <a:noFill/>
          <a:ln w="9525">
            <a:solidFill>
              <a:srgbClr val="1A2340"/>
            </a:solidFill>
            <a:prstDash val="solid"/>
          </a:ln>
        </p:spPr>
      </p:sp>
      <p:sp>
        <p:nvSpPr>
          <p:cNvPr id="41" name="Shape 39"/>
          <p:cNvSpPr/>
          <p:nvPr/>
        </p:nvSpPr>
        <p:spPr>
          <a:xfrm flipV="1">
            <a:off x="4297680" y="1834286"/>
            <a:ext cx="91" cy="90526"/>
          </a:xfrm>
          <a:prstGeom prst="line">
            <a:avLst/>
          </a:prstGeom>
          <a:noFill/>
          <a:ln w="9525">
            <a:solidFill>
              <a:srgbClr val="1A2340"/>
            </a:solidFill>
            <a:prstDash val="solid"/>
          </a:ln>
        </p:spPr>
      </p:sp>
      <p:sp>
        <p:nvSpPr>
          <p:cNvPr id="42" name="Shape 40"/>
          <p:cNvSpPr/>
          <p:nvPr/>
        </p:nvSpPr>
        <p:spPr>
          <a:xfrm flipV="1">
            <a:off x="4447126" y="1875547"/>
            <a:ext cx="22417" cy="43996"/>
          </a:xfrm>
          <a:prstGeom prst="line">
            <a:avLst/>
          </a:prstGeom>
          <a:noFill/>
          <a:ln w="9525">
            <a:solidFill>
              <a:srgbClr val="1A2340"/>
            </a:solidFill>
            <a:prstDash val="solid"/>
          </a:ln>
        </p:spPr>
      </p:sp>
      <p:sp>
        <p:nvSpPr>
          <p:cNvPr id="43" name="Shape 41"/>
          <p:cNvSpPr/>
          <p:nvPr/>
        </p:nvSpPr>
        <p:spPr>
          <a:xfrm flipV="1">
            <a:off x="4563995" y="1990335"/>
            <a:ext cx="39947" cy="29023"/>
          </a:xfrm>
          <a:prstGeom prst="line">
            <a:avLst/>
          </a:prstGeom>
          <a:noFill/>
          <a:ln w="9525">
            <a:solidFill>
              <a:srgbClr val="1A2340"/>
            </a:solidFill>
            <a:prstDash val="solid"/>
          </a:ln>
        </p:spPr>
      </p:sp>
      <p:sp>
        <p:nvSpPr>
          <p:cNvPr id="44" name="Shape 42"/>
          <p:cNvSpPr/>
          <p:nvPr/>
        </p:nvSpPr>
        <p:spPr>
          <a:xfrm flipV="1">
            <a:off x="4622811" y="2153628"/>
            <a:ext cx="48770" cy="7724"/>
          </a:xfrm>
          <a:prstGeom prst="line">
            <a:avLst/>
          </a:prstGeom>
          <a:noFill/>
          <a:ln w="9525">
            <a:solidFill>
              <a:srgbClr val="1A2340"/>
            </a:solidFill>
            <a:prstDash val="solid"/>
          </a:ln>
        </p:spPr>
      </p:sp>
      <p:sp>
        <p:nvSpPr>
          <p:cNvPr id="45" name="Shape 43"/>
          <p:cNvSpPr/>
          <p:nvPr/>
        </p:nvSpPr>
        <p:spPr>
          <a:xfrm>
            <a:off x="4610753" y="2314571"/>
            <a:ext cx="46961" cy="15259"/>
          </a:xfrm>
          <a:prstGeom prst="line">
            <a:avLst/>
          </a:prstGeom>
          <a:noFill/>
          <a:ln w="9525">
            <a:solidFill>
              <a:srgbClr val="1A2340"/>
            </a:solidFill>
            <a:prstDash val="solid"/>
          </a:ln>
        </p:spPr>
      </p:sp>
      <p:sp>
        <p:nvSpPr>
          <p:cNvPr id="46" name="Shape 44"/>
          <p:cNvSpPr/>
          <p:nvPr/>
        </p:nvSpPr>
        <p:spPr>
          <a:xfrm>
            <a:off x="4501352" y="2416520"/>
            <a:ext cx="64011" cy="64011"/>
          </a:xfrm>
          <a:prstGeom prst="line">
            <a:avLst/>
          </a:prstGeom>
          <a:noFill/>
          <a:ln w="9525">
            <a:solidFill>
              <a:srgbClr val="1A2340"/>
            </a:solidFill>
            <a:prstDash val="solid"/>
          </a:ln>
        </p:spPr>
      </p:sp>
      <p:sp>
        <p:nvSpPr>
          <p:cNvPr id="47" name="Shape 45"/>
          <p:cNvSpPr/>
          <p:nvPr/>
        </p:nvSpPr>
        <p:spPr>
          <a:xfrm flipH="1" flipV="1">
            <a:off x="4123539" y="1973164"/>
            <a:ext cx="174141" cy="239684"/>
          </a:xfrm>
          <a:prstGeom prst="line">
            <a:avLst/>
          </a:prstGeom>
          <a:noFill/>
          <a:ln w="25400">
            <a:solidFill>
              <a:srgbClr val="C8414C"/>
            </a:solidFill>
            <a:prstDash val="solid"/>
          </a:ln>
        </p:spPr>
      </p:sp>
      <p:sp>
        <p:nvSpPr>
          <p:cNvPr id="48" name="Shape 46"/>
          <p:cNvSpPr/>
          <p:nvPr/>
        </p:nvSpPr>
        <p:spPr>
          <a:xfrm>
            <a:off x="4265676" y="2180844"/>
            <a:ext cx="64008" cy="64008"/>
          </a:xfrm>
          <a:prstGeom prst="ellipse">
            <a:avLst/>
          </a:prstGeom>
          <a:solidFill>
            <a:srgbClr val="1A2340"/>
          </a:solidFill>
          <a:ln w="9525">
            <a:solidFill>
              <a:srgbClr val="1A2340"/>
            </a:solidFill>
            <a:prstDash val="solid"/>
          </a:ln>
        </p:spPr>
      </p:sp>
      <p:sp>
        <p:nvSpPr>
          <p:cNvPr id="49" name="Text 47"/>
          <p:cNvSpPr/>
          <p:nvPr/>
        </p:nvSpPr>
        <p:spPr>
          <a:xfrm>
            <a:off x="3566160" y="2651760"/>
            <a:ext cx="1463040" cy="219456"/>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pressure gauge</a:t>
            </a:r>
            <a:endParaRPr lang="en-US" sz="1050" dirty="0"/>
          </a:p>
        </p:txBody>
      </p:sp>
      <p:sp>
        <p:nvSpPr>
          <p:cNvPr id="50" name="Shape 48"/>
          <p:cNvSpPr/>
          <p:nvPr/>
        </p:nvSpPr>
        <p:spPr>
          <a:xfrm>
            <a:off x="2839212" y="1783080"/>
            <a:ext cx="82296" cy="2743200"/>
          </a:xfrm>
          <a:prstGeom prst="roundRect">
            <a:avLst>
              <a:gd name="adj" fmla="val 44444"/>
            </a:avLst>
          </a:prstGeom>
          <a:solidFill>
            <a:srgbClr val="FFFFFF"/>
          </a:solidFill>
          <a:ln w="9525">
            <a:solidFill>
              <a:srgbClr val="6B7385"/>
            </a:solidFill>
            <a:prstDash val="solid"/>
          </a:ln>
        </p:spPr>
      </p:sp>
      <p:sp>
        <p:nvSpPr>
          <p:cNvPr id="51" name="Shape 49"/>
          <p:cNvSpPr/>
          <p:nvPr/>
        </p:nvSpPr>
        <p:spPr>
          <a:xfrm>
            <a:off x="2811780" y="4457700"/>
            <a:ext cx="137160" cy="137160"/>
          </a:xfrm>
          <a:prstGeom prst="ellipse">
            <a:avLst/>
          </a:prstGeom>
          <a:solidFill>
            <a:srgbClr val="C8414C"/>
          </a:solidFill>
          <a:ln w="9525">
            <a:solidFill>
              <a:srgbClr val="8E2A33"/>
            </a:solidFill>
            <a:prstDash val="solid"/>
          </a:ln>
        </p:spPr>
      </p:sp>
      <p:sp>
        <p:nvSpPr>
          <p:cNvPr id="52" name="Shape 50"/>
          <p:cNvSpPr/>
          <p:nvPr/>
        </p:nvSpPr>
        <p:spPr>
          <a:xfrm>
            <a:off x="2866644" y="3429000"/>
            <a:ext cx="27432" cy="1097280"/>
          </a:xfrm>
          <a:prstGeom prst="rect">
            <a:avLst/>
          </a:prstGeom>
          <a:solidFill>
            <a:srgbClr val="C8414C"/>
          </a:solidFill>
          <a:ln/>
        </p:spPr>
      </p:sp>
      <p:sp>
        <p:nvSpPr>
          <p:cNvPr id="53" name="Shape 51"/>
          <p:cNvSpPr/>
          <p:nvPr/>
        </p:nvSpPr>
        <p:spPr>
          <a:xfrm>
            <a:off x="2889504" y="2194560"/>
            <a:ext cx="32004" cy="91"/>
          </a:xfrm>
          <a:prstGeom prst="line">
            <a:avLst/>
          </a:prstGeom>
          <a:noFill/>
          <a:ln w="6350">
            <a:solidFill>
              <a:srgbClr val="6B7385"/>
            </a:solidFill>
            <a:prstDash val="solid"/>
          </a:ln>
        </p:spPr>
      </p:sp>
      <p:sp>
        <p:nvSpPr>
          <p:cNvPr id="54" name="Shape 52"/>
          <p:cNvSpPr/>
          <p:nvPr/>
        </p:nvSpPr>
        <p:spPr>
          <a:xfrm>
            <a:off x="2889504" y="2514600"/>
            <a:ext cx="32004" cy="91"/>
          </a:xfrm>
          <a:prstGeom prst="line">
            <a:avLst/>
          </a:prstGeom>
          <a:noFill/>
          <a:ln w="6350">
            <a:solidFill>
              <a:srgbClr val="6B7385"/>
            </a:solidFill>
            <a:prstDash val="solid"/>
          </a:ln>
        </p:spPr>
      </p:sp>
      <p:sp>
        <p:nvSpPr>
          <p:cNvPr id="55" name="Shape 53"/>
          <p:cNvSpPr/>
          <p:nvPr/>
        </p:nvSpPr>
        <p:spPr>
          <a:xfrm>
            <a:off x="2889504" y="2834640"/>
            <a:ext cx="32004" cy="91"/>
          </a:xfrm>
          <a:prstGeom prst="line">
            <a:avLst/>
          </a:prstGeom>
          <a:noFill/>
          <a:ln w="6350">
            <a:solidFill>
              <a:srgbClr val="6B7385"/>
            </a:solidFill>
            <a:prstDash val="solid"/>
          </a:ln>
        </p:spPr>
      </p:sp>
      <p:sp>
        <p:nvSpPr>
          <p:cNvPr id="56" name="Shape 54"/>
          <p:cNvSpPr/>
          <p:nvPr/>
        </p:nvSpPr>
        <p:spPr>
          <a:xfrm>
            <a:off x="2889504" y="3154680"/>
            <a:ext cx="32004" cy="91"/>
          </a:xfrm>
          <a:prstGeom prst="line">
            <a:avLst/>
          </a:prstGeom>
          <a:noFill/>
          <a:ln w="6350">
            <a:solidFill>
              <a:srgbClr val="6B7385"/>
            </a:solidFill>
            <a:prstDash val="solid"/>
          </a:ln>
        </p:spPr>
      </p:sp>
      <p:sp>
        <p:nvSpPr>
          <p:cNvPr id="57" name="Shape 55"/>
          <p:cNvSpPr/>
          <p:nvPr/>
        </p:nvSpPr>
        <p:spPr>
          <a:xfrm>
            <a:off x="2889504" y="3474720"/>
            <a:ext cx="32004" cy="91"/>
          </a:xfrm>
          <a:prstGeom prst="line">
            <a:avLst/>
          </a:prstGeom>
          <a:noFill/>
          <a:ln w="6350">
            <a:solidFill>
              <a:srgbClr val="6B7385"/>
            </a:solidFill>
            <a:prstDash val="solid"/>
          </a:ln>
        </p:spPr>
      </p:sp>
      <p:sp>
        <p:nvSpPr>
          <p:cNvPr id="58" name="Shape 56"/>
          <p:cNvSpPr/>
          <p:nvPr/>
        </p:nvSpPr>
        <p:spPr>
          <a:xfrm>
            <a:off x="2889504" y="3794760"/>
            <a:ext cx="32004" cy="91"/>
          </a:xfrm>
          <a:prstGeom prst="line">
            <a:avLst/>
          </a:prstGeom>
          <a:noFill/>
          <a:ln w="6350">
            <a:solidFill>
              <a:srgbClr val="6B7385"/>
            </a:solidFill>
            <a:prstDash val="solid"/>
          </a:ln>
        </p:spPr>
      </p:sp>
      <p:sp>
        <p:nvSpPr>
          <p:cNvPr id="59" name="Shape 57"/>
          <p:cNvSpPr/>
          <p:nvPr/>
        </p:nvSpPr>
        <p:spPr>
          <a:xfrm>
            <a:off x="2889504" y="4114800"/>
            <a:ext cx="32004" cy="91"/>
          </a:xfrm>
          <a:prstGeom prst="line">
            <a:avLst/>
          </a:prstGeom>
          <a:noFill/>
          <a:ln w="6350">
            <a:solidFill>
              <a:srgbClr val="6B7385"/>
            </a:solidFill>
            <a:prstDash val="solid"/>
          </a:ln>
        </p:spPr>
      </p:sp>
      <p:sp>
        <p:nvSpPr>
          <p:cNvPr id="60" name="Shape 58"/>
          <p:cNvSpPr/>
          <p:nvPr/>
        </p:nvSpPr>
        <p:spPr>
          <a:xfrm>
            <a:off x="1051560" y="2011680"/>
            <a:ext cx="91" cy="2514600"/>
          </a:xfrm>
          <a:prstGeom prst="line">
            <a:avLst/>
          </a:prstGeom>
          <a:noFill/>
          <a:ln w="25400">
            <a:solidFill>
              <a:srgbClr val="6B7385"/>
            </a:solidFill>
            <a:prstDash val="solid"/>
          </a:ln>
        </p:spPr>
      </p:sp>
      <p:sp>
        <p:nvSpPr>
          <p:cNvPr id="61" name="Shape 59"/>
          <p:cNvSpPr/>
          <p:nvPr/>
        </p:nvSpPr>
        <p:spPr>
          <a:xfrm>
            <a:off x="914400" y="4526280"/>
            <a:ext cx="274320" cy="91"/>
          </a:xfrm>
          <a:prstGeom prst="line">
            <a:avLst/>
          </a:prstGeom>
          <a:noFill/>
          <a:ln w="25400">
            <a:solidFill>
              <a:srgbClr val="6B7385"/>
            </a:solidFill>
            <a:prstDash val="solid"/>
          </a:ln>
        </p:spPr>
      </p:sp>
      <p:sp>
        <p:nvSpPr>
          <p:cNvPr id="62" name="Shape 60"/>
          <p:cNvSpPr/>
          <p:nvPr/>
        </p:nvSpPr>
        <p:spPr>
          <a:xfrm>
            <a:off x="640080" y="4773168"/>
            <a:ext cx="2788920" cy="228600"/>
          </a:xfrm>
          <a:prstGeom prst="roundRect">
            <a:avLst>
              <a:gd name="adj" fmla="val 20000"/>
            </a:avLst>
          </a:prstGeom>
          <a:solidFill>
            <a:srgbClr val="C8414C"/>
          </a:solidFill>
          <a:ln w="12700">
            <a:solidFill>
              <a:srgbClr val="8E2A33"/>
            </a:solidFill>
            <a:prstDash val="solid"/>
          </a:ln>
        </p:spPr>
      </p:sp>
      <p:sp>
        <p:nvSpPr>
          <p:cNvPr id="63" name="Text 61"/>
          <p:cNvSpPr/>
          <p:nvPr/>
        </p:nvSpPr>
        <p:spPr>
          <a:xfrm>
            <a:off x="640080" y="4773168"/>
            <a:ext cx="278892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electric heater / hot plate</a:t>
            </a:r>
            <a:endParaRPr lang="en-US" sz="1000" dirty="0"/>
          </a:p>
        </p:txBody>
      </p:sp>
      <p:sp>
        <p:nvSpPr>
          <p:cNvPr id="64" name="Text 62"/>
          <p:cNvSpPr/>
          <p:nvPr/>
        </p:nvSpPr>
        <p:spPr>
          <a:xfrm>
            <a:off x="3429000" y="2926080"/>
            <a:ext cx="118872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thermometer</a:t>
            </a:r>
            <a:endParaRPr lang="en-US" sz="1050" dirty="0"/>
          </a:p>
        </p:txBody>
      </p:sp>
      <p:sp>
        <p:nvSpPr>
          <p:cNvPr id="65" name="Shape 63"/>
          <p:cNvSpPr/>
          <p:nvPr/>
        </p:nvSpPr>
        <p:spPr>
          <a:xfrm flipH="1">
            <a:off x="2962656" y="3054096"/>
            <a:ext cx="448056" cy="146304"/>
          </a:xfrm>
          <a:prstGeom prst="line">
            <a:avLst/>
          </a:prstGeom>
          <a:noFill/>
          <a:ln w="12700">
            <a:solidFill>
              <a:srgbClr val="6B7385"/>
            </a:solidFill>
            <a:prstDash val="solid"/>
            <a:tailEnd type="triangle"/>
          </a:ln>
        </p:spPr>
      </p:sp>
      <p:sp>
        <p:nvSpPr>
          <p:cNvPr id="66" name="Text 64"/>
          <p:cNvSpPr/>
          <p:nvPr/>
        </p:nvSpPr>
        <p:spPr>
          <a:xfrm>
            <a:off x="502920" y="1783080"/>
            <a:ext cx="548640" cy="256032"/>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stirrer</a:t>
            </a:r>
            <a:endParaRPr lang="en-US" sz="1000" dirty="0"/>
          </a:p>
        </p:txBody>
      </p:sp>
      <p:sp>
        <p:nvSpPr>
          <p:cNvPr id="67" name="Text 65"/>
          <p:cNvSpPr/>
          <p:nvPr/>
        </p:nvSpPr>
        <p:spPr>
          <a:xfrm>
            <a:off x="3429000" y="3520440"/>
            <a:ext cx="2377440" cy="45720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flask of air: </a:t>
            </a:r>
            <a:r>
              <a:rPr lang="en-US" sz="1050" b="1" dirty="0">
                <a:solidFill>
                  <a:srgbClr val="262B3A"/>
                </a:solidFill>
                <a:latin typeface="Calibri" pitchFamily="34" charset="0"/>
                <a:ea typeface="Calibri" pitchFamily="34" charset="-122"/>
                <a:cs typeface="Calibri" pitchFamily="34" charset="-120"/>
              </a:rPr>
              <a:t>fixed volume</a:t>
            </a:r>
            <a:r>
              <a:rPr lang="en-US" sz="1050" dirty="0">
                <a:solidFill>
                  <a:srgbClr val="262B3A"/>
                </a:solidFill>
                <a:latin typeface="Calibri" pitchFamily="34" charset="0"/>
                <a:ea typeface="Calibri" pitchFamily="34" charset="-122"/>
                <a:cs typeface="Calibri" pitchFamily="34" charset="-120"/>
              </a:rPr>
              <a:t> (fixed mass of gas)</a:t>
            </a:r>
            <a:endParaRPr lang="en-US" sz="1050" dirty="0"/>
          </a:p>
        </p:txBody>
      </p:sp>
      <p:sp>
        <p:nvSpPr>
          <p:cNvPr id="68" name="Shape 66"/>
          <p:cNvSpPr/>
          <p:nvPr/>
        </p:nvSpPr>
        <p:spPr>
          <a:xfrm flipH="1">
            <a:off x="2560320" y="3703320"/>
            <a:ext cx="868680" cy="182880"/>
          </a:xfrm>
          <a:prstGeom prst="line">
            <a:avLst/>
          </a:prstGeom>
          <a:noFill/>
          <a:ln w="12700">
            <a:solidFill>
              <a:srgbClr val="6B7385"/>
            </a:solidFill>
            <a:prstDash val="solid"/>
            <a:tailEnd type="triangle"/>
          </a:ln>
        </p:spPr>
      </p:sp>
      <p:sp>
        <p:nvSpPr>
          <p:cNvPr id="69" name="Text 67"/>
          <p:cNvSpPr/>
          <p:nvPr/>
        </p:nvSpPr>
        <p:spPr>
          <a:xfrm>
            <a:off x="3429000" y="4206240"/>
            <a:ext cx="2377440" cy="41148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water bath: keep the flask under water</a:t>
            </a:r>
            <a:endParaRPr lang="en-US" sz="1050" dirty="0"/>
          </a:p>
        </p:txBody>
      </p:sp>
      <p:sp>
        <p:nvSpPr>
          <p:cNvPr id="70" name="Text 68"/>
          <p:cNvSpPr/>
          <p:nvPr/>
        </p:nvSpPr>
        <p:spPr>
          <a:xfrm>
            <a:off x="2194560" y="1298448"/>
            <a:ext cx="1828800" cy="219456"/>
          </a:xfrm>
          <a:prstGeom prst="rect">
            <a:avLst/>
          </a:prstGeom>
          <a:noFill/>
          <a:ln/>
        </p:spPr>
        <p:txBody>
          <a:bodyPr wrap="square" lIns="0" tIns="0" rIns="0" bIns="0" rtlCol="0" anchor="ctr"/>
          <a:lstStyle/>
          <a:p>
            <a:pPr algn="l" indent="0" marL="0">
              <a:buNone/>
            </a:pPr>
            <a:r>
              <a:rPr lang="en-US" sz="1000" i="1" dirty="0">
                <a:solidFill>
                  <a:srgbClr val="262B3A"/>
                </a:solidFill>
                <a:latin typeface="Calibri" pitchFamily="34" charset="0"/>
                <a:ea typeface="Calibri" pitchFamily="34" charset="-122"/>
                <a:cs typeface="Calibri" pitchFamily="34" charset="-120"/>
              </a:rPr>
              <a:t>short tube</a:t>
            </a:r>
            <a:endParaRPr lang="en-US" sz="1000" dirty="0"/>
          </a:p>
        </p:txBody>
      </p:sp>
      <p:sp>
        <p:nvSpPr>
          <p:cNvPr id="71" name="Shape 69"/>
          <p:cNvSpPr/>
          <p:nvPr/>
        </p:nvSpPr>
        <p:spPr>
          <a:xfrm>
            <a:off x="6217920" y="1188720"/>
            <a:ext cx="5562295" cy="2514600"/>
          </a:xfrm>
          <a:prstGeom prst="roundRect">
            <a:avLst>
              <a:gd name="adj" fmla="val 2182"/>
            </a:avLst>
          </a:prstGeom>
          <a:solidFill>
            <a:srgbClr val="F5F8FE"/>
          </a:solidFill>
          <a:ln w="9525">
            <a:solidFill>
              <a:srgbClr val="D5DCEB"/>
            </a:solidFill>
            <a:prstDash val="solid"/>
          </a:ln>
        </p:spPr>
      </p:sp>
      <p:sp>
        <p:nvSpPr>
          <p:cNvPr id="72" name="Text 7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Method</a:t>
            </a:r>
            <a:endParaRPr lang="en-US" sz="1300" dirty="0"/>
          </a:p>
        </p:txBody>
      </p:sp>
      <p:sp>
        <p:nvSpPr>
          <p:cNvPr id="73" name="Text 71"/>
          <p:cNvSpPr/>
          <p:nvPr/>
        </p:nvSpPr>
        <p:spPr>
          <a:xfrm>
            <a:off x="6382512" y="1609344"/>
            <a:ext cx="5233111" cy="20208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Put a flask of air in a beaker of cold water, completely under the water. Connect it to a </a:t>
            </a:r>
            <a:r>
              <a:rPr lang="en-US" sz="1100" b="1" dirty="0">
                <a:solidFill>
                  <a:srgbClr val="262B3A"/>
                </a:solidFill>
                <a:latin typeface="Calibri" pitchFamily="34" charset="0"/>
                <a:ea typeface="Calibri" pitchFamily="34" charset="-122"/>
                <a:cs typeface="Calibri" pitchFamily="34" charset="-120"/>
              </a:rPr>
              <a:t>pressure gauge</a:t>
            </a:r>
            <a:r>
              <a:rPr lang="en-US" sz="1100" dirty="0">
                <a:solidFill>
                  <a:srgbClr val="262B3A"/>
                </a:solidFill>
                <a:latin typeface="Calibri" pitchFamily="34" charset="0"/>
                <a:ea typeface="Calibri" pitchFamily="34" charset="-122"/>
                <a:cs typeface="Calibri" pitchFamily="34" charset="-120"/>
              </a:rPr>
              <a:t> with a </a:t>
            </a:r>
            <a:r>
              <a:rPr lang="en-US" sz="1100" b="1" dirty="0">
                <a:solidFill>
                  <a:srgbClr val="262B3A"/>
                </a:solidFill>
                <a:latin typeface="Calibri" pitchFamily="34" charset="0"/>
                <a:ea typeface="Calibri" pitchFamily="34" charset="-122"/>
                <a:cs typeface="Calibri" pitchFamily="34" charset="-120"/>
              </a:rPr>
              <a:t>short</a:t>
            </a:r>
            <a:r>
              <a:rPr lang="en-US" sz="1100" dirty="0">
                <a:solidFill>
                  <a:srgbClr val="262B3A"/>
                </a:solidFill>
                <a:latin typeface="Calibri" pitchFamily="34" charset="0"/>
                <a:ea typeface="Calibri" pitchFamily="34" charset="-122"/>
                <a:cs typeface="Calibri" pitchFamily="34" charset="-120"/>
              </a:rPr>
              <a:t> tube.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Record the water temperature (thermometer) and the pressure.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Heat the water. Turn the heater off, </a:t>
            </a:r>
            <a:r>
              <a:rPr lang="en-US" sz="1100" b="1" dirty="0">
                <a:solidFill>
                  <a:srgbClr val="262B3A"/>
                </a:solidFill>
                <a:latin typeface="Calibri" pitchFamily="34" charset="0"/>
                <a:ea typeface="Calibri" pitchFamily="34" charset="-122"/>
                <a:cs typeface="Calibri" pitchFamily="34" charset="-120"/>
              </a:rPr>
              <a:t>stir</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wait</a:t>
            </a:r>
            <a:r>
              <a:rPr lang="en-US" sz="1100" dirty="0">
                <a:solidFill>
                  <a:srgbClr val="262B3A"/>
                </a:solidFill>
                <a:latin typeface="Calibri" pitchFamily="34" charset="0"/>
                <a:ea typeface="Calibri" pitchFamily="34" charset="-122"/>
                <a:cs typeface="Calibri" pitchFamily="34" charset="-120"/>
              </a:rPr>
              <a:t> a few minutes so the air reaches the water's temperature.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Record θ and p every 15 °C up to about 80 °C. Convert θ to kelvin. Plot </a:t>
            </a:r>
            <a:r>
              <a:rPr lang="en-US" sz="1100" b="1" dirty="0">
                <a:solidFill>
                  <a:srgbClr val="262B3A"/>
                </a:solidFill>
                <a:latin typeface="Calibri" pitchFamily="34" charset="0"/>
                <a:ea typeface="Calibri" pitchFamily="34" charset="-122"/>
                <a:cs typeface="Calibri" pitchFamily="34" charset="-120"/>
              </a:rPr>
              <a:t>p against T</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74" name="Shape 72"/>
          <p:cNvSpPr/>
          <p:nvPr/>
        </p:nvSpPr>
        <p:spPr>
          <a:xfrm>
            <a:off x="6217920" y="3840480"/>
            <a:ext cx="5562295" cy="1874520"/>
          </a:xfrm>
          <a:prstGeom prst="roundRect">
            <a:avLst>
              <a:gd name="adj" fmla="val 2927"/>
            </a:avLst>
          </a:prstGeom>
          <a:solidFill>
            <a:srgbClr val="FFF4E0"/>
          </a:solidFill>
          <a:ln w="9525">
            <a:solidFill>
              <a:srgbClr val="F1D9A8"/>
            </a:solidFill>
            <a:prstDash val="solid"/>
          </a:ln>
        </p:spPr>
      </p:sp>
      <p:sp>
        <p:nvSpPr>
          <p:cNvPr id="75" name="Text 73"/>
          <p:cNvSpPr/>
          <p:nvPr/>
        </p:nvSpPr>
        <p:spPr>
          <a:xfrm>
            <a:off x="6382512" y="39136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Variables and safety</a:t>
            </a:r>
            <a:endParaRPr lang="en-US" sz="1300" dirty="0"/>
          </a:p>
        </p:txBody>
      </p:sp>
      <p:sp>
        <p:nvSpPr>
          <p:cNvPr id="76" name="Text 74"/>
          <p:cNvSpPr/>
          <p:nvPr/>
        </p:nvSpPr>
        <p:spPr>
          <a:xfrm>
            <a:off x="6382512" y="4224528"/>
            <a:ext cx="5233111" cy="141732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Independent   </a:t>
            </a:r>
            <a:r>
              <a:rPr lang="en-US" sz="1050" dirty="0">
                <a:solidFill>
                  <a:srgbClr val="262B3A"/>
                </a:solidFill>
                <a:latin typeface="Calibri" pitchFamily="34" charset="0"/>
                <a:ea typeface="Calibri" pitchFamily="34" charset="-122"/>
                <a:cs typeface="Calibri" pitchFamily="34" charset="-120"/>
              </a:rPr>
              <a:t>temperature of the gas (°C, then K)</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Dependent   </a:t>
            </a:r>
            <a:r>
              <a:rPr lang="en-US" sz="1050" dirty="0">
                <a:solidFill>
                  <a:srgbClr val="262B3A"/>
                </a:solidFill>
                <a:latin typeface="Calibri" pitchFamily="34" charset="0"/>
                <a:ea typeface="Calibri" pitchFamily="34" charset="-122"/>
                <a:cs typeface="Calibri" pitchFamily="34" charset="-120"/>
              </a:rPr>
              <a:t>pressure of the gas (kPa)</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Control   </a:t>
            </a:r>
            <a:r>
              <a:rPr lang="en-US" sz="1050" dirty="0">
                <a:solidFill>
                  <a:srgbClr val="262B3A"/>
                </a:solidFill>
                <a:latin typeface="Calibri" pitchFamily="34" charset="0"/>
                <a:ea typeface="Calibri" pitchFamily="34" charset="-122"/>
                <a:cs typeface="Calibri" pitchFamily="34" charset="-120"/>
              </a:rPr>
              <a:t>volume and mass of gas: sealed flask, no leaks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Safety   </a:t>
            </a:r>
            <a:r>
              <a:rPr lang="en-US" sz="1050" b="1" dirty="0">
                <a:solidFill>
                  <a:srgbClr val="C8414C"/>
                </a:solidFill>
                <a:latin typeface="Calibri" pitchFamily="34" charset="0"/>
                <a:ea typeface="Calibri" pitchFamily="34" charset="-122"/>
                <a:cs typeface="Calibri" pitchFamily="34" charset="-120"/>
              </a:rPr>
              <a:t>hot water: stand up, mop spills, eye protection; clamp the flask</a:t>
            </a:r>
            <a:endParaRPr lang="en-US" sz="1050" dirty="0"/>
          </a:p>
        </p:txBody>
      </p:sp>
      <p:sp>
        <p:nvSpPr>
          <p:cNvPr id="77" name="Shape 75"/>
          <p:cNvSpPr/>
          <p:nvPr/>
        </p:nvSpPr>
        <p:spPr>
          <a:xfrm>
            <a:off x="411480" y="5833872"/>
            <a:ext cx="11368735" cy="530352"/>
          </a:xfrm>
          <a:prstGeom prst="rect">
            <a:avLst/>
          </a:prstGeom>
          <a:solidFill>
            <a:srgbClr val="FFF4E0"/>
          </a:solidFill>
          <a:ln w="6350">
            <a:solidFill>
              <a:srgbClr val="F1D9A8"/>
            </a:solidFill>
            <a:prstDash val="solid"/>
          </a:ln>
        </p:spPr>
      </p:sp>
      <p:sp>
        <p:nvSpPr>
          <p:cNvPr id="78" name="Shape 76"/>
          <p:cNvSpPr/>
          <p:nvPr/>
        </p:nvSpPr>
        <p:spPr>
          <a:xfrm>
            <a:off x="411480" y="5833872"/>
            <a:ext cx="82296" cy="530352"/>
          </a:xfrm>
          <a:prstGeom prst="rect">
            <a:avLst/>
          </a:prstGeom>
          <a:solidFill>
            <a:srgbClr val="E39A2F"/>
          </a:solidFill>
          <a:ln w="12700">
            <a:solidFill>
              <a:srgbClr val="E39A2F"/>
            </a:solidFill>
            <a:prstDash val="solid"/>
          </a:ln>
        </p:spPr>
      </p:sp>
      <p:sp>
        <p:nvSpPr>
          <p:cNvPr id="79" name="Text 7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should the tube to the pressure gauge be as short as possible?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Practical: results and evaluation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P6.2.4 • sample results for a fixed volume of air</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13</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results plotted to scale on a kelvin axis: a straight line through 0 K</a:t>
            </a:r>
            <a:endParaRPr lang="en-US" sz="1000" dirty="0"/>
          </a:p>
        </p:txBody>
      </p:sp>
      <p:sp>
        <p:nvSpPr>
          <p:cNvPr id="12" name="Shape 10"/>
          <p:cNvSpPr/>
          <p:nvPr/>
        </p:nvSpPr>
        <p:spPr>
          <a:xfrm>
            <a:off x="1234440" y="1463040"/>
            <a:ext cx="4480560" cy="3246120"/>
          </a:xfrm>
          <a:prstGeom prst="rect">
            <a:avLst/>
          </a:prstGeom>
          <a:solidFill>
            <a:srgbClr val="FFFFFF"/>
          </a:solidFill>
          <a:ln/>
        </p:spPr>
      </p:sp>
      <p:sp>
        <p:nvSpPr>
          <p:cNvPr id="13" name="Shape 11"/>
          <p:cNvSpPr/>
          <p:nvPr/>
        </p:nvSpPr>
        <p:spPr>
          <a:xfrm>
            <a:off x="1234440" y="1463040"/>
            <a:ext cx="91" cy="3246120"/>
          </a:xfrm>
          <a:prstGeom prst="line">
            <a:avLst/>
          </a:prstGeom>
          <a:noFill/>
          <a:ln w="6350">
            <a:solidFill>
              <a:srgbClr val="C9D3E6"/>
            </a:solidFill>
            <a:prstDash val="solid"/>
          </a:ln>
        </p:spPr>
      </p:sp>
      <p:sp>
        <p:nvSpPr>
          <p:cNvPr id="14" name="Shape 12"/>
          <p:cNvSpPr/>
          <p:nvPr/>
        </p:nvSpPr>
        <p:spPr>
          <a:xfrm>
            <a:off x="1514475" y="1463040"/>
            <a:ext cx="91" cy="3246120"/>
          </a:xfrm>
          <a:prstGeom prst="line">
            <a:avLst/>
          </a:prstGeom>
          <a:noFill/>
          <a:ln w="6350">
            <a:solidFill>
              <a:srgbClr val="E6EBF4"/>
            </a:solidFill>
            <a:prstDash val="solid"/>
          </a:ln>
        </p:spPr>
      </p:sp>
      <p:sp>
        <p:nvSpPr>
          <p:cNvPr id="15" name="Shape 13"/>
          <p:cNvSpPr/>
          <p:nvPr/>
        </p:nvSpPr>
        <p:spPr>
          <a:xfrm>
            <a:off x="1794510" y="1463040"/>
            <a:ext cx="91" cy="3246120"/>
          </a:xfrm>
          <a:prstGeom prst="line">
            <a:avLst/>
          </a:prstGeom>
          <a:noFill/>
          <a:ln w="6350">
            <a:solidFill>
              <a:srgbClr val="C9D3E6"/>
            </a:solidFill>
            <a:prstDash val="solid"/>
          </a:ln>
        </p:spPr>
      </p:sp>
      <p:sp>
        <p:nvSpPr>
          <p:cNvPr id="16" name="Shape 14"/>
          <p:cNvSpPr/>
          <p:nvPr/>
        </p:nvSpPr>
        <p:spPr>
          <a:xfrm>
            <a:off x="2074545" y="1463040"/>
            <a:ext cx="91" cy="3246120"/>
          </a:xfrm>
          <a:prstGeom prst="line">
            <a:avLst/>
          </a:prstGeom>
          <a:noFill/>
          <a:ln w="6350">
            <a:solidFill>
              <a:srgbClr val="E6EBF4"/>
            </a:solidFill>
            <a:prstDash val="solid"/>
          </a:ln>
        </p:spPr>
      </p:sp>
      <p:sp>
        <p:nvSpPr>
          <p:cNvPr id="17" name="Shape 15"/>
          <p:cNvSpPr/>
          <p:nvPr/>
        </p:nvSpPr>
        <p:spPr>
          <a:xfrm>
            <a:off x="2354580" y="1463040"/>
            <a:ext cx="91" cy="3246120"/>
          </a:xfrm>
          <a:prstGeom prst="line">
            <a:avLst/>
          </a:prstGeom>
          <a:noFill/>
          <a:ln w="6350">
            <a:solidFill>
              <a:srgbClr val="C9D3E6"/>
            </a:solidFill>
            <a:prstDash val="solid"/>
          </a:ln>
        </p:spPr>
      </p:sp>
      <p:sp>
        <p:nvSpPr>
          <p:cNvPr id="18" name="Shape 16"/>
          <p:cNvSpPr/>
          <p:nvPr/>
        </p:nvSpPr>
        <p:spPr>
          <a:xfrm>
            <a:off x="2634615" y="1463040"/>
            <a:ext cx="91" cy="3246120"/>
          </a:xfrm>
          <a:prstGeom prst="line">
            <a:avLst/>
          </a:prstGeom>
          <a:noFill/>
          <a:ln w="6350">
            <a:solidFill>
              <a:srgbClr val="E6EBF4"/>
            </a:solidFill>
            <a:prstDash val="solid"/>
          </a:ln>
        </p:spPr>
      </p:sp>
      <p:sp>
        <p:nvSpPr>
          <p:cNvPr id="19" name="Shape 17"/>
          <p:cNvSpPr/>
          <p:nvPr/>
        </p:nvSpPr>
        <p:spPr>
          <a:xfrm>
            <a:off x="2914650" y="1463040"/>
            <a:ext cx="91" cy="3246120"/>
          </a:xfrm>
          <a:prstGeom prst="line">
            <a:avLst/>
          </a:prstGeom>
          <a:noFill/>
          <a:ln w="6350">
            <a:solidFill>
              <a:srgbClr val="C9D3E6"/>
            </a:solidFill>
            <a:prstDash val="solid"/>
          </a:ln>
        </p:spPr>
      </p:sp>
      <p:sp>
        <p:nvSpPr>
          <p:cNvPr id="20" name="Shape 18"/>
          <p:cNvSpPr/>
          <p:nvPr/>
        </p:nvSpPr>
        <p:spPr>
          <a:xfrm>
            <a:off x="3194685" y="1463040"/>
            <a:ext cx="91" cy="3246120"/>
          </a:xfrm>
          <a:prstGeom prst="line">
            <a:avLst/>
          </a:prstGeom>
          <a:noFill/>
          <a:ln w="6350">
            <a:solidFill>
              <a:srgbClr val="E6EBF4"/>
            </a:solidFill>
            <a:prstDash val="solid"/>
          </a:ln>
        </p:spPr>
      </p:sp>
      <p:sp>
        <p:nvSpPr>
          <p:cNvPr id="21" name="Shape 19"/>
          <p:cNvSpPr/>
          <p:nvPr/>
        </p:nvSpPr>
        <p:spPr>
          <a:xfrm>
            <a:off x="3474720" y="1463040"/>
            <a:ext cx="91" cy="3246120"/>
          </a:xfrm>
          <a:prstGeom prst="line">
            <a:avLst/>
          </a:prstGeom>
          <a:noFill/>
          <a:ln w="6350">
            <a:solidFill>
              <a:srgbClr val="C9D3E6"/>
            </a:solidFill>
            <a:prstDash val="solid"/>
          </a:ln>
        </p:spPr>
      </p:sp>
      <p:sp>
        <p:nvSpPr>
          <p:cNvPr id="22" name="Shape 20"/>
          <p:cNvSpPr/>
          <p:nvPr/>
        </p:nvSpPr>
        <p:spPr>
          <a:xfrm>
            <a:off x="3754755" y="1463040"/>
            <a:ext cx="91" cy="3246120"/>
          </a:xfrm>
          <a:prstGeom prst="line">
            <a:avLst/>
          </a:prstGeom>
          <a:noFill/>
          <a:ln w="6350">
            <a:solidFill>
              <a:srgbClr val="E6EBF4"/>
            </a:solidFill>
            <a:prstDash val="solid"/>
          </a:ln>
        </p:spPr>
      </p:sp>
      <p:sp>
        <p:nvSpPr>
          <p:cNvPr id="23" name="Shape 21"/>
          <p:cNvSpPr/>
          <p:nvPr/>
        </p:nvSpPr>
        <p:spPr>
          <a:xfrm>
            <a:off x="4034790" y="1463040"/>
            <a:ext cx="91" cy="3246120"/>
          </a:xfrm>
          <a:prstGeom prst="line">
            <a:avLst/>
          </a:prstGeom>
          <a:noFill/>
          <a:ln w="6350">
            <a:solidFill>
              <a:srgbClr val="C9D3E6"/>
            </a:solidFill>
            <a:prstDash val="solid"/>
          </a:ln>
        </p:spPr>
      </p:sp>
      <p:sp>
        <p:nvSpPr>
          <p:cNvPr id="24" name="Shape 22"/>
          <p:cNvSpPr/>
          <p:nvPr/>
        </p:nvSpPr>
        <p:spPr>
          <a:xfrm>
            <a:off x="4314825" y="1463040"/>
            <a:ext cx="91" cy="3246120"/>
          </a:xfrm>
          <a:prstGeom prst="line">
            <a:avLst/>
          </a:prstGeom>
          <a:noFill/>
          <a:ln w="6350">
            <a:solidFill>
              <a:srgbClr val="E6EBF4"/>
            </a:solidFill>
            <a:prstDash val="solid"/>
          </a:ln>
        </p:spPr>
      </p:sp>
      <p:sp>
        <p:nvSpPr>
          <p:cNvPr id="25" name="Shape 23"/>
          <p:cNvSpPr/>
          <p:nvPr/>
        </p:nvSpPr>
        <p:spPr>
          <a:xfrm>
            <a:off x="4594860" y="1463040"/>
            <a:ext cx="91" cy="3246120"/>
          </a:xfrm>
          <a:prstGeom prst="line">
            <a:avLst/>
          </a:prstGeom>
          <a:noFill/>
          <a:ln w="6350">
            <a:solidFill>
              <a:srgbClr val="C9D3E6"/>
            </a:solidFill>
            <a:prstDash val="solid"/>
          </a:ln>
        </p:spPr>
      </p:sp>
      <p:sp>
        <p:nvSpPr>
          <p:cNvPr id="26" name="Shape 24"/>
          <p:cNvSpPr/>
          <p:nvPr/>
        </p:nvSpPr>
        <p:spPr>
          <a:xfrm>
            <a:off x="4874895" y="1463040"/>
            <a:ext cx="91" cy="3246120"/>
          </a:xfrm>
          <a:prstGeom prst="line">
            <a:avLst/>
          </a:prstGeom>
          <a:noFill/>
          <a:ln w="6350">
            <a:solidFill>
              <a:srgbClr val="E6EBF4"/>
            </a:solidFill>
            <a:prstDash val="solid"/>
          </a:ln>
        </p:spPr>
      </p:sp>
      <p:sp>
        <p:nvSpPr>
          <p:cNvPr id="27" name="Shape 25"/>
          <p:cNvSpPr/>
          <p:nvPr/>
        </p:nvSpPr>
        <p:spPr>
          <a:xfrm>
            <a:off x="5154930" y="1463040"/>
            <a:ext cx="91" cy="3246120"/>
          </a:xfrm>
          <a:prstGeom prst="line">
            <a:avLst/>
          </a:prstGeom>
          <a:noFill/>
          <a:ln w="6350">
            <a:solidFill>
              <a:srgbClr val="C9D3E6"/>
            </a:solidFill>
            <a:prstDash val="solid"/>
          </a:ln>
        </p:spPr>
      </p:sp>
      <p:sp>
        <p:nvSpPr>
          <p:cNvPr id="28" name="Shape 26"/>
          <p:cNvSpPr/>
          <p:nvPr/>
        </p:nvSpPr>
        <p:spPr>
          <a:xfrm>
            <a:off x="5434965" y="1463040"/>
            <a:ext cx="91" cy="3246120"/>
          </a:xfrm>
          <a:prstGeom prst="line">
            <a:avLst/>
          </a:prstGeom>
          <a:noFill/>
          <a:ln w="6350">
            <a:solidFill>
              <a:srgbClr val="E6EBF4"/>
            </a:solidFill>
            <a:prstDash val="solid"/>
          </a:ln>
        </p:spPr>
      </p:sp>
      <p:sp>
        <p:nvSpPr>
          <p:cNvPr id="29" name="Shape 27"/>
          <p:cNvSpPr/>
          <p:nvPr/>
        </p:nvSpPr>
        <p:spPr>
          <a:xfrm>
            <a:off x="5715000" y="1463040"/>
            <a:ext cx="91" cy="3246120"/>
          </a:xfrm>
          <a:prstGeom prst="line">
            <a:avLst/>
          </a:prstGeom>
          <a:noFill/>
          <a:ln w="6350">
            <a:solidFill>
              <a:srgbClr val="C9D3E6"/>
            </a:solidFill>
            <a:prstDash val="solid"/>
          </a:ln>
        </p:spPr>
      </p:sp>
      <p:sp>
        <p:nvSpPr>
          <p:cNvPr id="30" name="Shape 28"/>
          <p:cNvSpPr/>
          <p:nvPr/>
        </p:nvSpPr>
        <p:spPr>
          <a:xfrm>
            <a:off x="1234440" y="4709160"/>
            <a:ext cx="4480560" cy="91"/>
          </a:xfrm>
          <a:prstGeom prst="line">
            <a:avLst/>
          </a:prstGeom>
          <a:noFill/>
          <a:ln w="6350">
            <a:solidFill>
              <a:srgbClr val="C9D3E6"/>
            </a:solidFill>
            <a:prstDash val="solid"/>
          </a:ln>
        </p:spPr>
      </p:sp>
      <p:sp>
        <p:nvSpPr>
          <p:cNvPr id="31" name="Shape 29"/>
          <p:cNvSpPr/>
          <p:nvPr/>
        </p:nvSpPr>
        <p:spPr>
          <a:xfrm>
            <a:off x="1234440" y="4477294"/>
            <a:ext cx="4480560" cy="91"/>
          </a:xfrm>
          <a:prstGeom prst="line">
            <a:avLst/>
          </a:prstGeom>
          <a:noFill/>
          <a:ln w="6350">
            <a:solidFill>
              <a:srgbClr val="E6EBF4"/>
            </a:solidFill>
            <a:prstDash val="solid"/>
          </a:ln>
        </p:spPr>
      </p:sp>
      <p:sp>
        <p:nvSpPr>
          <p:cNvPr id="32" name="Shape 30"/>
          <p:cNvSpPr/>
          <p:nvPr/>
        </p:nvSpPr>
        <p:spPr>
          <a:xfrm>
            <a:off x="1234440" y="4245429"/>
            <a:ext cx="4480560" cy="91"/>
          </a:xfrm>
          <a:prstGeom prst="line">
            <a:avLst/>
          </a:prstGeom>
          <a:noFill/>
          <a:ln w="6350">
            <a:solidFill>
              <a:srgbClr val="C9D3E6"/>
            </a:solidFill>
            <a:prstDash val="solid"/>
          </a:ln>
        </p:spPr>
      </p:sp>
      <p:sp>
        <p:nvSpPr>
          <p:cNvPr id="33" name="Shape 31"/>
          <p:cNvSpPr/>
          <p:nvPr/>
        </p:nvSpPr>
        <p:spPr>
          <a:xfrm>
            <a:off x="1234440" y="4013563"/>
            <a:ext cx="4480560" cy="91"/>
          </a:xfrm>
          <a:prstGeom prst="line">
            <a:avLst/>
          </a:prstGeom>
          <a:noFill/>
          <a:ln w="6350">
            <a:solidFill>
              <a:srgbClr val="E6EBF4"/>
            </a:solidFill>
            <a:prstDash val="solid"/>
          </a:ln>
        </p:spPr>
      </p:sp>
      <p:sp>
        <p:nvSpPr>
          <p:cNvPr id="34" name="Shape 32"/>
          <p:cNvSpPr/>
          <p:nvPr/>
        </p:nvSpPr>
        <p:spPr>
          <a:xfrm>
            <a:off x="1234440" y="3781697"/>
            <a:ext cx="4480560" cy="91"/>
          </a:xfrm>
          <a:prstGeom prst="line">
            <a:avLst/>
          </a:prstGeom>
          <a:noFill/>
          <a:ln w="6350">
            <a:solidFill>
              <a:srgbClr val="C9D3E6"/>
            </a:solidFill>
            <a:prstDash val="solid"/>
          </a:ln>
        </p:spPr>
      </p:sp>
      <p:sp>
        <p:nvSpPr>
          <p:cNvPr id="35" name="Shape 33"/>
          <p:cNvSpPr/>
          <p:nvPr/>
        </p:nvSpPr>
        <p:spPr>
          <a:xfrm>
            <a:off x="1234440" y="3549831"/>
            <a:ext cx="4480560" cy="91"/>
          </a:xfrm>
          <a:prstGeom prst="line">
            <a:avLst/>
          </a:prstGeom>
          <a:noFill/>
          <a:ln w="6350">
            <a:solidFill>
              <a:srgbClr val="E6EBF4"/>
            </a:solidFill>
            <a:prstDash val="solid"/>
          </a:ln>
        </p:spPr>
      </p:sp>
      <p:sp>
        <p:nvSpPr>
          <p:cNvPr id="36" name="Shape 34"/>
          <p:cNvSpPr/>
          <p:nvPr/>
        </p:nvSpPr>
        <p:spPr>
          <a:xfrm>
            <a:off x="1234440" y="3317966"/>
            <a:ext cx="4480560" cy="91"/>
          </a:xfrm>
          <a:prstGeom prst="line">
            <a:avLst/>
          </a:prstGeom>
          <a:noFill/>
          <a:ln w="6350">
            <a:solidFill>
              <a:srgbClr val="C9D3E6"/>
            </a:solidFill>
            <a:prstDash val="solid"/>
          </a:ln>
        </p:spPr>
      </p:sp>
      <p:sp>
        <p:nvSpPr>
          <p:cNvPr id="37" name="Shape 35"/>
          <p:cNvSpPr/>
          <p:nvPr/>
        </p:nvSpPr>
        <p:spPr>
          <a:xfrm>
            <a:off x="1234440" y="3086100"/>
            <a:ext cx="4480560" cy="91"/>
          </a:xfrm>
          <a:prstGeom prst="line">
            <a:avLst/>
          </a:prstGeom>
          <a:noFill/>
          <a:ln w="6350">
            <a:solidFill>
              <a:srgbClr val="E6EBF4"/>
            </a:solidFill>
            <a:prstDash val="solid"/>
          </a:ln>
        </p:spPr>
      </p:sp>
      <p:sp>
        <p:nvSpPr>
          <p:cNvPr id="38" name="Shape 36"/>
          <p:cNvSpPr/>
          <p:nvPr/>
        </p:nvSpPr>
        <p:spPr>
          <a:xfrm>
            <a:off x="1234440" y="2854234"/>
            <a:ext cx="4480560" cy="91"/>
          </a:xfrm>
          <a:prstGeom prst="line">
            <a:avLst/>
          </a:prstGeom>
          <a:noFill/>
          <a:ln w="6350">
            <a:solidFill>
              <a:srgbClr val="C9D3E6"/>
            </a:solidFill>
            <a:prstDash val="solid"/>
          </a:ln>
        </p:spPr>
      </p:sp>
      <p:sp>
        <p:nvSpPr>
          <p:cNvPr id="39" name="Shape 37"/>
          <p:cNvSpPr/>
          <p:nvPr/>
        </p:nvSpPr>
        <p:spPr>
          <a:xfrm>
            <a:off x="1234440" y="2622369"/>
            <a:ext cx="4480560" cy="91"/>
          </a:xfrm>
          <a:prstGeom prst="line">
            <a:avLst/>
          </a:prstGeom>
          <a:noFill/>
          <a:ln w="6350">
            <a:solidFill>
              <a:srgbClr val="E6EBF4"/>
            </a:solidFill>
            <a:prstDash val="solid"/>
          </a:ln>
        </p:spPr>
      </p:sp>
      <p:sp>
        <p:nvSpPr>
          <p:cNvPr id="40" name="Shape 38"/>
          <p:cNvSpPr/>
          <p:nvPr/>
        </p:nvSpPr>
        <p:spPr>
          <a:xfrm>
            <a:off x="1234440" y="2390503"/>
            <a:ext cx="4480560" cy="91"/>
          </a:xfrm>
          <a:prstGeom prst="line">
            <a:avLst/>
          </a:prstGeom>
          <a:noFill/>
          <a:ln w="6350">
            <a:solidFill>
              <a:srgbClr val="C9D3E6"/>
            </a:solidFill>
            <a:prstDash val="solid"/>
          </a:ln>
        </p:spPr>
      </p:sp>
      <p:sp>
        <p:nvSpPr>
          <p:cNvPr id="41" name="Shape 39"/>
          <p:cNvSpPr/>
          <p:nvPr/>
        </p:nvSpPr>
        <p:spPr>
          <a:xfrm>
            <a:off x="1234440" y="2158637"/>
            <a:ext cx="4480560" cy="91"/>
          </a:xfrm>
          <a:prstGeom prst="line">
            <a:avLst/>
          </a:prstGeom>
          <a:noFill/>
          <a:ln w="6350">
            <a:solidFill>
              <a:srgbClr val="E6EBF4"/>
            </a:solidFill>
            <a:prstDash val="solid"/>
          </a:ln>
        </p:spPr>
      </p:sp>
      <p:sp>
        <p:nvSpPr>
          <p:cNvPr id="42" name="Shape 40"/>
          <p:cNvSpPr/>
          <p:nvPr/>
        </p:nvSpPr>
        <p:spPr>
          <a:xfrm>
            <a:off x="1234440" y="1926771"/>
            <a:ext cx="4480560" cy="91"/>
          </a:xfrm>
          <a:prstGeom prst="line">
            <a:avLst/>
          </a:prstGeom>
          <a:noFill/>
          <a:ln w="6350">
            <a:solidFill>
              <a:srgbClr val="C9D3E6"/>
            </a:solidFill>
            <a:prstDash val="solid"/>
          </a:ln>
        </p:spPr>
      </p:sp>
      <p:sp>
        <p:nvSpPr>
          <p:cNvPr id="43" name="Shape 41"/>
          <p:cNvSpPr/>
          <p:nvPr/>
        </p:nvSpPr>
        <p:spPr>
          <a:xfrm>
            <a:off x="1234440" y="1694906"/>
            <a:ext cx="4480560" cy="91"/>
          </a:xfrm>
          <a:prstGeom prst="line">
            <a:avLst/>
          </a:prstGeom>
          <a:noFill/>
          <a:ln w="6350">
            <a:solidFill>
              <a:srgbClr val="E6EBF4"/>
            </a:solidFill>
            <a:prstDash val="solid"/>
          </a:ln>
        </p:spPr>
      </p:sp>
      <p:sp>
        <p:nvSpPr>
          <p:cNvPr id="44" name="Shape 42"/>
          <p:cNvSpPr/>
          <p:nvPr/>
        </p:nvSpPr>
        <p:spPr>
          <a:xfrm>
            <a:off x="1234440" y="1463040"/>
            <a:ext cx="4480560" cy="91"/>
          </a:xfrm>
          <a:prstGeom prst="line">
            <a:avLst/>
          </a:prstGeom>
          <a:noFill/>
          <a:ln w="6350">
            <a:solidFill>
              <a:srgbClr val="C9D3E6"/>
            </a:solidFill>
            <a:prstDash val="solid"/>
          </a:ln>
        </p:spPr>
      </p:sp>
      <p:sp>
        <p:nvSpPr>
          <p:cNvPr id="45" name="Shape 43"/>
          <p:cNvSpPr/>
          <p:nvPr/>
        </p:nvSpPr>
        <p:spPr>
          <a:xfrm>
            <a:off x="1234440" y="4709160"/>
            <a:ext cx="4480560" cy="91"/>
          </a:xfrm>
          <a:prstGeom prst="line">
            <a:avLst/>
          </a:prstGeom>
          <a:noFill/>
          <a:ln w="19050">
            <a:solidFill>
              <a:srgbClr val="1A2340"/>
            </a:solidFill>
            <a:prstDash val="solid"/>
          </a:ln>
        </p:spPr>
      </p:sp>
      <p:sp>
        <p:nvSpPr>
          <p:cNvPr id="46" name="Shape 44"/>
          <p:cNvSpPr/>
          <p:nvPr/>
        </p:nvSpPr>
        <p:spPr>
          <a:xfrm flipV="1">
            <a:off x="1234440" y="1463040"/>
            <a:ext cx="91" cy="3246120"/>
          </a:xfrm>
          <a:prstGeom prst="line">
            <a:avLst/>
          </a:prstGeom>
          <a:noFill/>
          <a:ln w="19050">
            <a:solidFill>
              <a:srgbClr val="1A2340"/>
            </a:solidFill>
            <a:prstDash val="solid"/>
          </a:ln>
        </p:spPr>
      </p:sp>
      <p:sp>
        <p:nvSpPr>
          <p:cNvPr id="47" name="Shape 45"/>
          <p:cNvSpPr/>
          <p:nvPr/>
        </p:nvSpPr>
        <p:spPr>
          <a:xfrm>
            <a:off x="1234440" y="4709160"/>
            <a:ext cx="91" cy="54864"/>
          </a:xfrm>
          <a:prstGeom prst="line">
            <a:avLst/>
          </a:prstGeom>
          <a:noFill/>
          <a:ln w="12700">
            <a:solidFill>
              <a:srgbClr val="1A2340"/>
            </a:solidFill>
            <a:prstDash val="solid"/>
          </a:ln>
        </p:spPr>
      </p:sp>
      <p:sp>
        <p:nvSpPr>
          <p:cNvPr id="48" name="Text 46"/>
          <p:cNvSpPr/>
          <p:nvPr/>
        </p:nvSpPr>
        <p:spPr>
          <a:xfrm>
            <a:off x="96012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9" name="Shape 47"/>
          <p:cNvSpPr/>
          <p:nvPr/>
        </p:nvSpPr>
        <p:spPr>
          <a:xfrm>
            <a:off x="1794510" y="4709160"/>
            <a:ext cx="91" cy="54864"/>
          </a:xfrm>
          <a:prstGeom prst="line">
            <a:avLst/>
          </a:prstGeom>
          <a:noFill/>
          <a:ln w="12700">
            <a:solidFill>
              <a:srgbClr val="1A2340"/>
            </a:solidFill>
            <a:prstDash val="solid"/>
          </a:ln>
        </p:spPr>
      </p:sp>
      <p:sp>
        <p:nvSpPr>
          <p:cNvPr id="50" name="Text 48"/>
          <p:cNvSpPr/>
          <p:nvPr/>
        </p:nvSpPr>
        <p:spPr>
          <a:xfrm>
            <a:off x="152019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51" name="Shape 49"/>
          <p:cNvSpPr/>
          <p:nvPr/>
        </p:nvSpPr>
        <p:spPr>
          <a:xfrm>
            <a:off x="2354580" y="4709160"/>
            <a:ext cx="91" cy="54864"/>
          </a:xfrm>
          <a:prstGeom prst="line">
            <a:avLst/>
          </a:prstGeom>
          <a:noFill/>
          <a:ln w="12700">
            <a:solidFill>
              <a:srgbClr val="1A2340"/>
            </a:solidFill>
            <a:prstDash val="solid"/>
          </a:ln>
        </p:spPr>
      </p:sp>
      <p:sp>
        <p:nvSpPr>
          <p:cNvPr id="52" name="Text 50"/>
          <p:cNvSpPr/>
          <p:nvPr/>
        </p:nvSpPr>
        <p:spPr>
          <a:xfrm>
            <a:off x="20802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53" name="Shape 51"/>
          <p:cNvSpPr/>
          <p:nvPr/>
        </p:nvSpPr>
        <p:spPr>
          <a:xfrm>
            <a:off x="2914650" y="4709160"/>
            <a:ext cx="91" cy="54864"/>
          </a:xfrm>
          <a:prstGeom prst="line">
            <a:avLst/>
          </a:prstGeom>
          <a:noFill/>
          <a:ln w="12700">
            <a:solidFill>
              <a:srgbClr val="1A2340"/>
            </a:solidFill>
            <a:prstDash val="solid"/>
          </a:ln>
        </p:spPr>
      </p:sp>
      <p:sp>
        <p:nvSpPr>
          <p:cNvPr id="54" name="Text 52"/>
          <p:cNvSpPr/>
          <p:nvPr/>
        </p:nvSpPr>
        <p:spPr>
          <a:xfrm>
            <a:off x="264033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150</a:t>
            </a:r>
            <a:endParaRPr lang="en-US" sz="1000" dirty="0"/>
          </a:p>
        </p:txBody>
      </p:sp>
      <p:sp>
        <p:nvSpPr>
          <p:cNvPr id="55" name="Shape 53"/>
          <p:cNvSpPr/>
          <p:nvPr/>
        </p:nvSpPr>
        <p:spPr>
          <a:xfrm>
            <a:off x="3474720" y="4709160"/>
            <a:ext cx="91" cy="54864"/>
          </a:xfrm>
          <a:prstGeom prst="line">
            <a:avLst/>
          </a:prstGeom>
          <a:noFill/>
          <a:ln w="12700">
            <a:solidFill>
              <a:srgbClr val="1A2340"/>
            </a:solidFill>
            <a:prstDash val="solid"/>
          </a:ln>
        </p:spPr>
      </p:sp>
      <p:sp>
        <p:nvSpPr>
          <p:cNvPr id="56" name="Text 54"/>
          <p:cNvSpPr/>
          <p:nvPr/>
        </p:nvSpPr>
        <p:spPr>
          <a:xfrm>
            <a:off x="320040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57" name="Shape 55"/>
          <p:cNvSpPr/>
          <p:nvPr/>
        </p:nvSpPr>
        <p:spPr>
          <a:xfrm>
            <a:off x="4034790" y="4709160"/>
            <a:ext cx="91" cy="54864"/>
          </a:xfrm>
          <a:prstGeom prst="line">
            <a:avLst/>
          </a:prstGeom>
          <a:noFill/>
          <a:ln w="12700">
            <a:solidFill>
              <a:srgbClr val="1A2340"/>
            </a:solidFill>
            <a:prstDash val="solid"/>
          </a:ln>
        </p:spPr>
      </p:sp>
      <p:sp>
        <p:nvSpPr>
          <p:cNvPr id="58" name="Text 56"/>
          <p:cNvSpPr/>
          <p:nvPr/>
        </p:nvSpPr>
        <p:spPr>
          <a:xfrm>
            <a:off x="376047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250</a:t>
            </a:r>
            <a:endParaRPr lang="en-US" sz="1000" dirty="0"/>
          </a:p>
        </p:txBody>
      </p:sp>
      <p:sp>
        <p:nvSpPr>
          <p:cNvPr id="59" name="Shape 57"/>
          <p:cNvSpPr/>
          <p:nvPr/>
        </p:nvSpPr>
        <p:spPr>
          <a:xfrm>
            <a:off x="4594860" y="4709160"/>
            <a:ext cx="91" cy="54864"/>
          </a:xfrm>
          <a:prstGeom prst="line">
            <a:avLst/>
          </a:prstGeom>
          <a:noFill/>
          <a:ln w="12700">
            <a:solidFill>
              <a:srgbClr val="1A2340"/>
            </a:solidFill>
            <a:prstDash val="solid"/>
          </a:ln>
        </p:spPr>
      </p:sp>
      <p:sp>
        <p:nvSpPr>
          <p:cNvPr id="60" name="Text 58"/>
          <p:cNvSpPr/>
          <p:nvPr/>
        </p:nvSpPr>
        <p:spPr>
          <a:xfrm>
            <a:off x="43205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300</a:t>
            </a:r>
            <a:endParaRPr lang="en-US" sz="1000" dirty="0"/>
          </a:p>
        </p:txBody>
      </p:sp>
      <p:sp>
        <p:nvSpPr>
          <p:cNvPr id="61" name="Shape 59"/>
          <p:cNvSpPr/>
          <p:nvPr/>
        </p:nvSpPr>
        <p:spPr>
          <a:xfrm>
            <a:off x="5154930" y="4709160"/>
            <a:ext cx="91" cy="54864"/>
          </a:xfrm>
          <a:prstGeom prst="line">
            <a:avLst/>
          </a:prstGeom>
          <a:noFill/>
          <a:ln w="12700">
            <a:solidFill>
              <a:srgbClr val="1A2340"/>
            </a:solidFill>
            <a:prstDash val="solid"/>
          </a:ln>
        </p:spPr>
      </p:sp>
      <p:sp>
        <p:nvSpPr>
          <p:cNvPr id="62" name="Text 60"/>
          <p:cNvSpPr/>
          <p:nvPr/>
        </p:nvSpPr>
        <p:spPr>
          <a:xfrm>
            <a:off x="488061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350</a:t>
            </a:r>
            <a:endParaRPr lang="en-US" sz="1000" dirty="0"/>
          </a:p>
        </p:txBody>
      </p:sp>
      <p:sp>
        <p:nvSpPr>
          <p:cNvPr id="63" name="Shape 61"/>
          <p:cNvSpPr/>
          <p:nvPr/>
        </p:nvSpPr>
        <p:spPr>
          <a:xfrm>
            <a:off x="5715000" y="4709160"/>
            <a:ext cx="91" cy="54864"/>
          </a:xfrm>
          <a:prstGeom prst="line">
            <a:avLst/>
          </a:prstGeom>
          <a:noFill/>
          <a:ln w="12700">
            <a:solidFill>
              <a:srgbClr val="1A2340"/>
            </a:solidFill>
            <a:prstDash val="solid"/>
          </a:ln>
        </p:spPr>
      </p:sp>
      <p:sp>
        <p:nvSpPr>
          <p:cNvPr id="64" name="Text 62"/>
          <p:cNvSpPr/>
          <p:nvPr/>
        </p:nvSpPr>
        <p:spPr>
          <a:xfrm>
            <a:off x="54406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400</a:t>
            </a:r>
            <a:endParaRPr lang="en-US" sz="1000" dirty="0"/>
          </a:p>
        </p:txBody>
      </p:sp>
      <p:sp>
        <p:nvSpPr>
          <p:cNvPr id="65" name="Shape 63"/>
          <p:cNvSpPr/>
          <p:nvPr/>
        </p:nvSpPr>
        <p:spPr>
          <a:xfrm>
            <a:off x="1179576" y="4709160"/>
            <a:ext cx="54864" cy="91"/>
          </a:xfrm>
          <a:prstGeom prst="line">
            <a:avLst/>
          </a:prstGeom>
          <a:noFill/>
          <a:ln w="12700">
            <a:solidFill>
              <a:srgbClr val="1A2340"/>
            </a:solidFill>
            <a:prstDash val="solid"/>
          </a:ln>
        </p:spPr>
      </p:sp>
      <p:sp>
        <p:nvSpPr>
          <p:cNvPr id="66" name="Text 64"/>
          <p:cNvSpPr/>
          <p:nvPr/>
        </p:nvSpPr>
        <p:spPr>
          <a:xfrm>
            <a:off x="79552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67" name="Shape 65"/>
          <p:cNvSpPr/>
          <p:nvPr/>
        </p:nvSpPr>
        <p:spPr>
          <a:xfrm>
            <a:off x="1179576" y="4245429"/>
            <a:ext cx="54864" cy="91"/>
          </a:xfrm>
          <a:prstGeom prst="line">
            <a:avLst/>
          </a:prstGeom>
          <a:noFill/>
          <a:ln w="12700">
            <a:solidFill>
              <a:srgbClr val="1A2340"/>
            </a:solidFill>
            <a:prstDash val="solid"/>
          </a:ln>
        </p:spPr>
      </p:sp>
      <p:sp>
        <p:nvSpPr>
          <p:cNvPr id="68" name="Text 66"/>
          <p:cNvSpPr/>
          <p:nvPr/>
        </p:nvSpPr>
        <p:spPr>
          <a:xfrm>
            <a:off x="795528" y="4153989"/>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69" name="Shape 67"/>
          <p:cNvSpPr/>
          <p:nvPr/>
        </p:nvSpPr>
        <p:spPr>
          <a:xfrm>
            <a:off x="1179576" y="3781697"/>
            <a:ext cx="54864" cy="91"/>
          </a:xfrm>
          <a:prstGeom prst="line">
            <a:avLst/>
          </a:prstGeom>
          <a:noFill/>
          <a:ln w="12700">
            <a:solidFill>
              <a:srgbClr val="1A2340"/>
            </a:solidFill>
            <a:prstDash val="solid"/>
          </a:ln>
        </p:spPr>
      </p:sp>
      <p:sp>
        <p:nvSpPr>
          <p:cNvPr id="70" name="Text 68"/>
          <p:cNvSpPr/>
          <p:nvPr/>
        </p:nvSpPr>
        <p:spPr>
          <a:xfrm>
            <a:off x="795528" y="3690257"/>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71" name="Shape 69"/>
          <p:cNvSpPr/>
          <p:nvPr/>
        </p:nvSpPr>
        <p:spPr>
          <a:xfrm>
            <a:off x="1179576" y="3317966"/>
            <a:ext cx="54864" cy="91"/>
          </a:xfrm>
          <a:prstGeom prst="line">
            <a:avLst/>
          </a:prstGeom>
          <a:noFill/>
          <a:ln w="12700">
            <a:solidFill>
              <a:srgbClr val="1A2340"/>
            </a:solidFill>
            <a:prstDash val="solid"/>
          </a:ln>
        </p:spPr>
      </p:sp>
      <p:sp>
        <p:nvSpPr>
          <p:cNvPr id="72" name="Text 70"/>
          <p:cNvSpPr/>
          <p:nvPr/>
        </p:nvSpPr>
        <p:spPr>
          <a:xfrm>
            <a:off x="795528" y="322652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73" name="Shape 71"/>
          <p:cNvSpPr/>
          <p:nvPr/>
        </p:nvSpPr>
        <p:spPr>
          <a:xfrm>
            <a:off x="1179576" y="2854234"/>
            <a:ext cx="54864" cy="91"/>
          </a:xfrm>
          <a:prstGeom prst="line">
            <a:avLst/>
          </a:prstGeom>
          <a:noFill/>
          <a:ln w="12700">
            <a:solidFill>
              <a:srgbClr val="1A2340"/>
            </a:solidFill>
            <a:prstDash val="solid"/>
          </a:ln>
        </p:spPr>
      </p:sp>
      <p:sp>
        <p:nvSpPr>
          <p:cNvPr id="74" name="Text 72"/>
          <p:cNvSpPr/>
          <p:nvPr/>
        </p:nvSpPr>
        <p:spPr>
          <a:xfrm>
            <a:off x="795528" y="276279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75" name="Shape 73"/>
          <p:cNvSpPr/>
          <p:nvPr/>
        </p:nvSpPr>
        <p:spPr>
          <a:xfrm>
            <a:off x="1179576" y="2390503"/>
            <a:ext cx="54864" cy="91"/>
          </a:xfrm>
          <a:prstGeom prst="line">
            <a:avLst/>
          </a:prstGeom>
          <a:noFill/>
          <a:ln w="12700">
            <a:solidFill>
              <a:srgbClr val="1A2340"/>
            </a:solidFill>
            <a:prstDash val="solid"/>
          </a:ln>
        </p:spPr>
      </p:sp>
      <p:sp>
        <p:nvSpPr>
          <p:cNvPr id="76" name="Text 74"/>
          <p:cNvSpPr/>
          <p:nvPr/>
        </p:nvSpPr>
        <p:spPr>
          <a:xfrm>
            <a:off x="795528" y="2299063"/>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77" name="Shape 75"/>
          <p:cNvSpPr/>
          <p:nvPr/>
        </p:nvSpPr>
        <p:spPr>
          <a:xfrm>
            <a:off x="1179576" y="1926771"/>
            <a:ext cx="54864" cy="91"/>
          </a:xfrm>
          <a:prstGeom prst="line">
            <a:avLst/>
          </a:prstGeom>
          <a:noFill/>
          <a:ln w="12700">
            <a:solidFill>
              <a:srgbClr val="1A2340"/>
            </a:solidFill>
            <a:prstDash val="solid"/>
          </a:ln>
        </p:spPr>
      </p:sp>
      <p:sp>
        <p:nvSpPr>
          <p:cNvPr id="78" name="Text 76"/>
          <p:cNvSpPr/>
          <p:nvPr/>
        </p:nvSpPr>
        <p:spPr>
          <a:xfrm>
            <a:off x="795528" y="1835331"/>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120</a:t>
            </a:r>
            <a:endParaRPr lang="en-US" sz="1000" dirty="0"/>
          </a:p>
        </p:txBody>
      </p:sp>
      <p:sp>
        <p:nvSpPr>
          <p:cNvPr id="79" name="Shape 77"/>
          <p:cNvSpPr/>
          <p:nvPr/>
        </p:nvSpPr>
        <p:spPr>
          <a:xfrm>
            <a:off x="1179576" y="1463040"/>
            <a:ext cx="54864" cy="91"/>
          </a:xfrm>
          <a:prstGeom prst="line">
            <a:avLst/>
          </a:prstGeom>
          <a:noFill/>
          <a:ln w="12700">
            <a:solidFill>
              <a:srgbClr val="1A2340"/>
            </a:solidFill>
            <a:prstDash val="solid"/>
          </a:ln>
        </p:spPr>
      </p:sp>
      <p:sp>
        <p:nvSpPr>
          <p:cNvPr id="80" name="Text 78"/>
          <p:cNvSpPr/>
          <p:nvPr/>
        </p:nvSpPr>
        <p:spPr>
          <a:xfrm>
            <a:off x="795528" y="1371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140</a:t>
            </a:r>
            <a:endParaRPr lang="en-US" sz="1000" dirty="0"/>
          </a:p>
        </p:txBody>
      </p:sp>
      <p:sp>
        <p:nvSpPr>
          <p:cNvPr id="81" name="Text 79"/>
          <p:cNvSpPr/>
          <p:nvPr/>
        </p:nvSpPr>
        <p:spPr>
          <a:xfrm>
            <a:off x="1234440" y="4956048"/>
            <a:ext cx="44805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temperature / K</a:t>
            </a:r>
            <a:endParaRPr lang="en-US" sz="1050" dirty="0"/>
          </a:p>
        </p:txBody>
      </p:sp>
      <p:sp>
        <p:nvSpPr>
          <p:cNvPr id="82" name="Text 80"/>
          <p:cNvSpPr/>
          <p:nvPr/>
        </p:nvSpPr>
        <p:spPr>
          <a:xfrm rot="16200000">
            <a:off x="-955548" y="2958084"/>
            <a:ext cx="3246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pressure / kPa</a:t>
            </a:r>
            <a:endParaRPr lang="en-US" sz="1050" dirty="0"/>
          </a:p>
        </p:txBody>
      </p:sp>
      <p:sp>
        <p:nvSpPr>
          <p:cNvPr id="83" name="Shape 81"/>
          <p:cNvSpPr/>
          <p:nvPr/>
        </p:nvSpPr>
        <p:spPr>
          <a:xfrm flipV="1">
            <a:off x="1234440" y="1702073"/>
            <a:ext cx="4256532" cy="3007087"/>
          </a:xfrm>
          <a:prstGeom prst="line">
            <a:avLst/>
          </a:prstGeom>
          <a:noFill/>
          <a:ln w="25400">
            <a:solidFill>
              <a:srgbClr val="2E5BD8"/>
            </a:solidFill>
            <a:prstDash val="solid"/>
          </a:ln>
        </p:spPr>
      </p:sp>
      <p:sp>
        <p:nvSpPr>
          <p:cNvPr id="84" name="Shape 82"/>
          <p:cNvSpPr/>
          <p:nvPr/>
        </p:nvSpPr>
        <p:spPr>
          <a:xfrm>
            <a:off x="4470730" y="2344783"/>
            <a:ext cx="91440" cy="91440"/>
          </a:xfrm>
          <a:prstGeom prst="line">
            <a:avLst/>
          </a:prstGeom>
          <a:noFill/>
          <a:ln w="15875">
            <a:solidFill>
              <a:srgbClr val="1A2340"/>
            </a:solidFill>
            <a:prstDash val="solid"/>
          </a:ln>
        </p:spPr>
      </p:sp>
      <p:sp>
        <p:nvSpPr>
          <p:cNvPr id="85" name="Shape 83"/>
          <p:cNvSpPr/>
          <p:nvPr/>
        </p:nvSpPr>
        <p:spPr>
          <a:xfrm flipV="1">
            <a:off x="4470730" y="2344783"/>
            <a:ext cx="91440" cy="91440"/>
          </a:xfrm>
          <a:prstGeom prst="line">
            <a:avLst/>
          </a:prstGeom>
          <a:noFill/>
          <a:ln w="15875">
            <a:solidFill>
              <a:srgbClr val="1A2340"/>
            </a:solidFill>
            <a:prstDash val="solid"/>
          </a:ln>
        </p:spPr>
      </p:sp>
      <p:sp>
        <p:nvSpPr>
          <p:cNvPr id="86" name="Shape 84"/>
          <p:cNvSpPr/>
          <p:nvPr/>
        </p:nvSpPr>
        <p:spPr>
          <a:xfrm>
            <a:off x="4638751" y="2221894"/>
            <a:ext cx="91440" cy="91440"/>
          </a:xfrm>
          <a:prstGeom prst="line">
            <a:avLst/>
          </a:prstGeom>
          <a:noFill/>
          <a:ln w="15875">
            <a:solidFill>
              <a:srgbClr val="1A2340"/>
            </a:solidFill>
            <a:prstDash val="solid"/>
          </a:ln>
        </p:spPr>
      </p:sp>
      <p:sp>
        <p:nvSpPr>
          <p:cNvPr id="87" name="Shape 85"/>
          <p:cNvSpPr/>
          <p:nvPr/>
        </p:nvSpPr>
        <p:spPr>
          <a:xfrm flipV="1">
            <a:off x="4638751" y="2221894"/>
            <a:ext cx="91440" cy="91440"/>
          </a:xfrm>
          <a:prstGeom prst="line">
            <a:avLst/>
          </a:prstGeom>
          <a:noFill/>
          <a:ln w="15875">
            <a:solidFill>
              <a:srgbClr val="1A2340"/>
            </a:solidFill>
            <a:prstDash val="solid"/>
          </a:ln>
        </p:spPr>
      </p:sp>
      <p:sp>
        <p:nvSpPr>
          <p:cNvPr id="88" name="Shape 86"/>
          <p:cNvSpPr/>
          <p:nvPr/>
        </p:nvSpPr>
        <p:spPr>
          <a:xfrm>
            <a:off x="4806772" y="2112917"/>
            <a:ext cx="91440" cy="91440"/>
          </a:xfrm>
          <a:prstGeom prst="line">
            <a:avLst/>
          </a:prstGeom>
          <a:noFill/>
          <a:ln w="15875">
            <a:solidFill>
              <a:srgbClr val="1A2340"/>
            </a:solidFill>
            <a:prstDash val="solid"/>
          </a:ln>
        </p:spPr>
      </p:sp>
      <p:sp>
        <p:nvSpPr>
          <p:cNvPr id="89" name="Shape 87"/>
          <p:cNvSpPr/>
          <p:nvPr/>
        </p:nvSpPr>
        <p:spPr>
          <a:xfrm flipV="1">
            <a:off x="4806772" y="2112917"/>
            <a:ext cx="91440" cy="91440"/>
          </a:xfrm>
          <a:prstGeom prst="line">
            <a:avLst/>
          </a:prstGeom>
          <a:noFill/>
          <a:ln w="15875">
            <a:solidFill>
              <a:srgbClr val="1A2340"/>
            </a:solidFill>
            <a:prstDash val="solid"/>
          </a:ln>
        </p:spPr>
      </p:sp>
      <p:sp>
        <p:nvSpPr>
          <p:cNvPr id="90" name="Shape 88"/>
          <p:cNvSpPr/>
          <p:nvPr/>
        </p:nvSpPr>
        <p:spPr>
          <a:xfrm>
            <a:off x="4974793" y="1983072"/>
            <a:ext cx="91440" cy="91440"/>
          </a:xfrm>
          <a:prstGeom prst="line">
            <a:avLst/>
          </a:prstGeom>
          <a:noFill/>
          <a:ln w="15875">
            <a:solidFill>
              <a:srgbClr val="1A2340"/>
            </a:solidFill>
            <a:prstDash val="solid"/>
          </a:ln>
        </p:spPr>
      </p:sp>
      <p:sp>
        <p:nvSpPr>
          <p:cNvPr id="91" name="Shape 89"/>
          <p:cNvSpPr/>
          <p:nvPr/>
        </p:nvSpPr>
        <p:spPr>
          <a:xfrm flipV="1">
            <a:off x="4974793" y="1983072"/>
            <a:ext cx="91440" cy="91440"/>
          </a:xfrm>
          <a:prstGeom prst="line">
            <a:avLst/>
          </a:prstGeom>
          <a:noFill/>
          <a:ln w="15875">
            <a:solidFill>
              <a:srgbClr val="1A2340"/>
            </a:solidFill>
            <a:prstDash val="solid"/>
          </a:ln>
        </p:spPr>
      </p:sp>
      <p:sp>
        <p:nvSpPr>
          <p:cNvPr id="92" name="Shape 90"/>
          <p:cNvSpPr/>
          <p:nvPr/>
        </p:nvSpPr>
        <p:spPr>
          <a:xfrm>
            <a:off x="5142814" y="1874095"/>
            <a:ext cx="91440" cy="91440"/>
          </a:xfrm>
          <a:prstGeom prst="line">
            <a:avLst/>
          </a:prstGeom>
          <a:noFill/>
          <a:ln w="15875">
            <a:solidFill>
              <a:srgbClr val="1A2340"/>
            </a:solidFill>
            <a:prstDash val="solid"/>
          </a:ln>
        </p:spPr>
      </p:sp>
      <p:sp>
        <p:nvSpPr>
          <p:cNvPr id="93" name="Shape 91"/>
          <p:cNvSpPr/>
          <p:nvPr/>
        </p:nvSpPr>
        <p:spPr>
          <a:xfrm flipV="1">
            <a:off x="5142814" y="1874095"/>
            <a:ext cx="91440" cy="91440"/>
          </a:xfrm>
          <a:prstGeom prst="line">
            <a:avLst/>
          </a:prstGeom>
          <a:noFill/>
          <a:ln w="15875">
            <a:solidFill>
              <a:srgbClr val="1A2340"/>
            </a:solidFill>
            <a:prstDash val="solid"/>
          </a:ln>
        </p:spPr>
      </p:sp>
      <p:sp>
        <p:nvSpPr>
          <p:cNvPr id="94" name="Shape 92"/>
          <p:cNvSpPr/>
          <p:nvPr/>
        </p:nvSpPr>
        <p:spPr>
          <a:xfrm>
            <a:off x="1179576" y="4654296"/>
            <a:ext cx="109728" cy="109728"/>
          </a:xfrm>
          <a:prstGeom prst="ellipse">
            <a:avLst/>
          </a:prstGeom>
          <a:solidFill>
            <a:srgbClr val="C8414C"/>
          </a:solidFill>
          <a:ln w="6350">
            <a:solidFill>
              <a:srgbClr val="C8414C"/>
            </a:solidFill>
            <a:prstDash val="solid"/>
          </a:ln>
        </p:spPr>
      </p:sp>
      <p:sp>
        <p:nvSpPr>
          <p:cNvPr id="95" name="Text 93"/>
          <p:cNvSpPr/>
          <p:nvPr/>
        </p:nvSpPr>
        <p:spPr>
          <a:xfrm>
            <a:off x="2074545" y="4434840"/>
            <a:ext cx="164592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0 K: p = 0</a:t>
            </a:r>
            <a:endParaRPr lang="en-US" sz="1050" dirty="0"/>
          </a:p>
        </p:txBody>
      </p:sp>
      <p:sp>
        <p:nvSpPr>
          <p:cNvPr id="96" name="Text 94"/>
          <p:cNvSpPr/>
          <p:nvPr/>
        </p:nvSpPr>
        <p:spPr>
          <a:xfrm>
            <a:off x="1514475" y="1741279"/>
            <a:ext cx="237744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gradient = 0.34 kPa/K: p ∝ T</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987552"/>
                <a:gridCol w="914400"/>
                <a:gridCol w="914400"/>
                <a:gridCol w="914400"/>
                <a:gridCol w="914400"/>
                <a:gridCol w="914400"/>
              </a:tblGrid>
              <a:tr h="27432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θ / °C</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65</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80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27432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T / K</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293</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308</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323</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338</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353</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7432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p / kPa</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105.3</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110.0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115.6</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120.3</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bl>
          </a:graphicData>
        </a:graphic>
      </p:graphicFrame>
      <p:sp>
        <p:nvSpPr>
          <p:cNvPr id="98" name="Shape 95"/>
          <p:cNvSpPr/>
          <p:nvPr/>
        </p:nvSpPr>
        <p:spPr>
          <a:xfrm>
            <a:off x="6217920" y="2157984"/>
            <a:ext cx="5559552" cy="1572768"/>
          </a:xfrm>
          <a:prstGeom prst="roundRect">
            <a:avLst>
              <a:gd name="adj" fmla="val 3488"/>
            </a:avLst>
          </a:prstGeom>
          <a:solidFill>
            <a:srgbClr val="F5F8FE"/>
          </a:solidFill>
          <a:ln w="9525">
            <a:solidFill>
              <a:srgbClr val="D5DCEB"/>
            </a:solidFill>
            <a:prstDash val="solid"/>
          </a:ln>
        </p:spPr>
      </p:sp>
      <p:sp>
        <p:nvSpPr>
          <p:cNvPr id="99" name="Text 96"/>
          <p:cNvSpPr/>
          <p:nvPr/>
        </p:nvSpPr>
        <p:spPr>
          <a:xfrm>
            <a:off x="6382512" y="2249424"/>
            <a:ext cx="523036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What the results show</a:t>
            </a:r>
            <a:endParaRPr lang="en-US" sz="1300" dirty="0"/>
          </a:p>
        </p:txBody>
      </p:sp>
      <p:sp>
        <p:nvSpPr>
          <p:cNvPr id="100" name="Text 97"/>
          <p:cNvSpPr/>
          <p:nvPr/>
        </p:nvSpPr>
        <p:spPr>
          <a:xfrm>
            <a:off x="6382512" y="2578608"/>
            <a:ext cx="5230368" cy="1078992"/>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As the temperature rises, the pressure rises (the qualitative result you must explain).</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On a </a:t>
            </a:r>
            <a:r>
              <a:rPr lang="en-US" sz="1050" b="1" dirty="0">
                <a:solidFill>
                  <a:srgbClr val="262B3A"/>
                </a:solidFill>
                <a:latin typeface="Calibri" pitchFamily="34" charset="0"/>
                <a:ea typeface="Calibri" pitchFamily="34" charset="-122"/>
                <a:cs typeface="Calibri" pitchFamily="34" charset="-120"/>
              </a:rPr>
              <a:t>kelvin</a:t>
            </a:r>
            <a:r>
              <a:rPr lang="en-US" sz="1050" dirty="0">
                <a:solidFill>
                  <a:srgbClr val="262B3A"/>
                </a:solidFill>
                <a:latin typeface="Calibri" pitchFamily="34" charset="0"/>
                <a:ea typeface="Calibri" pitchFamily="34" charset="-122"/>
                <a:cs typeface="Calibri" pitchFamily="34" charset="-120"/>
              </a:rPr>
              <a:t> axis the best-fit line is straight and passes through </a:t>
            </a:r>
            <a:r>
              <a:rPr lang="en-US" sz="1050" b="1" dirty="0">
                <a:solidFill>
                  <a:srgbClr val="262B3A"/>
                </a:solidFill>
                <a:latin typeface="Calibri" pitchFamily="34" charset="0"/>
                <a:ea typeface="Calibri" pitchFamily="34" charset="-122"/>
                <a:cs typeface="Calibri" pitchFamily="34" charset="-120"/>
              </a:rPr>
              <a:t>0 K</a:t>
            </a:r>
            <a:r>
              <a:rPr lang="en-US" sz="1050" dirty="0">
                <a:solidFill>
                  <a:srgbClr val="262B3A"/>
                </a:solidFill>
                <a:latin typeface="Calibri" pitchFamily="34" charset="0"/>
                <a:ea typeface="Calibri" pitchFamily="34" charset="-122"/>
                <a:cs typeface="Calibri" pitchFamily="34" charset="-120"/>
              </a:rPr>
              <a:t>: pressure is proportional to the kelvin temperature.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Check: p ÷ T = 100.0 ÷ 293 = 0.341 and 120.3 ÷ 353 = 0.341 kPa/K: the same.</a:t>
            </a:r>
            <a:endParaRPr lang="en-US" sz="1050" dirty="0"/>
          </a:p>
        </p:txBody>
      </p:sp>
      <p:sp>
        <p:nvSpPr>
          <p:cNvPr id="101" name="Shape 98"/>
          <p:cNvSpPr/>
          <p:nvPr/>
        </p:nvSpPr>
        <p:spPr>
          <a:xfrm>
            <a:off x="6217920" y="3840480"/>
            <a:ext cx="5559552" cy="1874520"/>
          </a:xfrm>
          <a:prstGeom prst="roundRect">
            <a:avLst>
              <a:gd name="adj" fmla="val 2927"/>
            </a:avLst>
          </a:prstGeom>
          <a:solidFill>
            <a:srgbClr val="FFF4E0"/>
          </a:solidFill>
          <a:ln w="9525">
            <a:solidFill>
              <a:srgbClr val="F1D9A8"/>
            </a:solidFill>
            <a:prstDash val="solid"/>
          </a:ln>
        </p:spPr>
      </p:sp>
      <p:sp>
        <p:nvSpPr>
          <p:cNvPr id="102" name="Text 99"/>
          <p:cNvSpPr/>
          <p:nvPr/>
        </p:nvSpPr>
        <p:spPr>
          <a:xfrm>
            <a:off x="6382512" y="391363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Sources of error and improvements</a:t>
            </a:r>
            <a:endParaRPr lang="en-US" sz="1300" dirty="0"/>
          </a:p>
        </p:txBody>
      </p:sp>
      <p:sp>
        <p:nvSpPr>
          <p:cNvPr id="103" name="Text 100"/>
          <p:cNvSpPr/>
          <p:nvPr/>
        </p:nvSpPr>
        <p:spPr>
          <a:xfrm>
            <a:off x="6382512" y="4224528"/>
            <a:ext cx="5230368" cy="141732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Tube   </a:t>
            </a:r>
            <a:r>
              <a:rPr lang="en-US" sz="1050" dirty="0">
                <a:solidFill>
                  <a:srgbClr val="262B3A"/>
                </a:solidFill>
                <a:latin typeface="Calibri" pitchFamily="34" charset="0"/>
                <a:ea typeface="Calibri" pitchFamily="34" charset="-122"/>
                <a:cs typeface="Calibri" pitchFamily="34" charset="-120"/>
              </a:rPr>
              <a:t>air in the tube is cooler than the bath → use a short, narrow tube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Waiting   </a:t>
            </a:r>
            <a:r>
              <a:rPr lang="en-US" sz="1050" dirty="0">
                <a:solidFill>
                  <a:srgbClr val="262B3A"/>
                </a:solidFill>
                <a:latin typeface="Calibri" pitchFamily="34" charset="0"/>
                <a:ea typeface="Calibri" pitchFamily="34" charset="-122"/>
                <a:cs typeface="Calibri" pitchFamily="34" charset="-120"/>
              </a:rPr>
              <a:t>flask air lags behind the water → stir, wait, then read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Leaks   </a:t>
            </a:r>
            <a:r>
              <a:rPr lang="en-US" sz="1050" dirty="0">
                <a:solidFill>
                  <a:srgbClr val="262B3A"/>
                </a:solidFill>
                <a:latin typeface="Calibri" pitchFamily="34" charset="0"/>
                <a:ea typeface="Calibri" pitchFamily="34" charset="-122"/>
                <a:cs typeface="Calibri" pitchFamily="34" charset="-120"/>
              </a:rPr>
              <a:t>pressure falls as gas escapes → check seals; repeat readings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repeat the run while cooling and average the two sets</a:t>
            </a:r>
            <a:endParaRPr lang="en-US" sz="1050" dirty="0"/>
          </a:p>
        </p:txBody>
      </p:sp>
      <p:sp>
        <p:nvSpPr>
          <p:cNvPr id="104" name="Shape 101"/>
          <p:cNvSpPr/>
          <p:nvPr/>
        </p:nvSpPr>
        <p:spPr>
          <a:xfrm>
            <a:off x="411480" y="5833872"/>
            <a:ext cx="11368735" cy="530352"/>
          </a:xfrm>
          <a:prstGeom prst="rect">
            <a:avLst/>
          </a:prstGeom>
          <a:solidFill>
            <a:srgbClr val="FFF4E0"/>
          </a:solidFill>
          <a:ln w="6350">
            <a:solidFill>
              <a:srgbClr val="F1D9A8"/>
            </a:solidFill>
            <a:prstDash val="solid"/>
          </a:ln>
        </p:spPr>
      </p:sp>
      <p:sp>
        <p:nvSpPr>
          <p:cNvPr id="105" name="Shape 102"/>
          <p:cNvSpPr/>
          <p:nvPr/>
        </p:nvSpPr>
        <p:spPr>
          <a:xfrm>
            <a:off x="411480" y="5833872"/>
            <a:ext cx="82296" cy="530352"/>
          </a:xfrm>
          <a:prstGeom prst="rect">
            <a:avLst/>
          </a:prstGeom>
          <a:solidFill>
            <a:srgbClr val="E39A2F"/>
          </a:solidFill>
          <a:ln w="12700">
            <a:solidFill>
              <a:srgbClr val="E39A2F"/>
            </a:solidFill>
            <a:prstDash val="solid"/>
          </a:ln>
        </p:spPr>
      </p:sp>
      <p:sp>
        <p:nvSpPr>
          <p:cNvPr id="106" name="Text 10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Stretch: use p ∝ T (kelvin) to predict the pressure of this air at 100 °C.</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P6.2.4 • the pressure–temperature practical</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14</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the flask-and-water-bath experiment, name the </a:t>
            </a:r>
            <a:r>
              <a:rPr lang="en-US" sz="1250" b="1" dirty="0">
                <a:solidFill>
                  <a:srgbClr val="262B3A"/>
                </a:solidFill>
                <a:latin typeface="Calibri" pitchFamily="34" charset="0"/>
                <a:ea typeface="Calibri" pitchFamily="34" charset="-122"/>
                <a:cs typeface="Calibri" pitchFamily="34" charset="-120"/>
              </a:rPr>
              <a:t>independent</a:t>
            </a:r>
            <a:r>
              <a:rPr lang="en-US" sz="1250" dirty="0">
                <a:solidFill>
                  <a:srgbClr val="262B3A"/>
                </a:solidFill>
                <a:latin typeface="Calibri" pitchFamily="34" charset="0"/>
                <a:ea typeface="Calibri" pitchFamily="34" charset="-122"/>
                <a:cs typeface="Calibri" pitchFamily="34" charset="-120"/>
              </a:rPr>
              <a:t> variable, the </a:t>
            </a:r>
            <a:r>
              <a:rPr lang="en-US" sz="1250" b="1" dirty="0">
                <a:solidFill>
                  <a:srgbClr val="262B3A"/>
                </a:solidFill>
                <a:latin typeface="Calibri" pitchFamily="34" charset="0"/>
                <a:ea typeface="Calibri" pitchFamily="34" charset="-122"/>
                <a:cs typeface="Calibri" pitchFamily="34" charset="-120"/>
              </a:rPr>
              <a:t>dependent</a:t>
            </a:r>
            <a:r>
              <a:rPr lang="en-US" sz="1250" dirty="0">
                <a:solidFill>
                  <a:srgbClr val="262B3A"/>
                </a:solidFill>
                <a:latin typeface="Calibri" pitchFamily="34" charset="0"/>
                <a:ea typeface="Calibri" pitchFamily="34" charset="-122"/>
                <a:cs typeface="Calibri" pitchFamily="34" charset="-120"/>
              </a:rPr>
              <a:t> variable and </a:t>
            </a:r>
            <a:r>
              <a:rPr lang="en-US" sz="1250" b="1" dirty="0">
                <a:solidFill>
                  <a:srgbClr val="262B3A"/>
                </a:solidFill>
                <a:latin typeface="Calibri" pitchFamily="34" charset="0"/>
                <a:ea typeface="Calibri" pitchFamily="34" charset="-122"/>
                <a:cs typeface="Calibri" pitchFamily="34" charset="-120"/>
              </a:rPr>
              <a:t>one control</a:t>
            </a:r>
            <a:r>
              <a:rPr lang="en-US" sz="1250" dirty="0">
                <a:solidFill>
                  <a:srgbClr val="262B3A"/>
                </a:solidFill>
                <a:latin typeface="Calibri" pitchFamily="34" charset="0"/>
                <a:ea typeface="Calibri" pitchFamily="34" charset="-122"/>
                <a:cs typeface="Calibri" pitchFamily="34" charset="-120"/>
              </a:rPr>
              <a:t> variable.</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5DCEB"/>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Why must the student stir the water and wait before taking each pressure reading?</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5DCEB"/>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Pressure is plotted against temperature </a:t>
            </a:r>
            <a:r>
              <a:rPr lang="en-US" sz="1250" b="1" dirty="0">
                <a:solidFill>
                  <a:srgbClr val="262B3A"/>
                </a:solidFill>
                <a:latin typeface="Calibri" pitchFamily="34" charset="0"/>
                <a:ea typeface="Calibri" pitchFamily="34" charset="-122"/>
                <a:cs typeface="Calibri" pitchFamily="34" charset="-120"/>
              </a:rPr>
              <a:t>in kelvin</a:t>
            </a:r>
            <a:r>
              <a:rPr lang="en-US" sz="1250" dirty="0">
                <a:solidFill>
                  <a:srgbClr val="262B3A"/>
                </a:solidFill>
                <a:latin typeface="Calibri" pitchFamily="34" charset="0"/>
                <a:ea typeface="Calibri" pitchFamily="34" charset="-122"/>
                <a:cs typeface="Calibri" pitchFamily="34" charset="-120"/>
              </a:rPr>
              <a:t>. Describe the shape of the graph and what it shows.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5DCEB"/>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safety precaution for this experiment.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Pressure and volume: p × V = constant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P6.2.5 • squash a fixed mass of gas at constant temperature and its pressure rises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P6.2.5  |  15</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sealed syringe and gauge (0–300 kPa); same 8 particles, half the volume</a:t>
            </a:r>
            <a:endParaRPr lang="en-US" sz="1000" dirty="0"/>
          </a:p>
        </p:txBody>
      </p:sp>
      <p:sp>
        <p:nvSpPr>
          <p:cNvPr id="12" name="Shape 10"/>
          <p:cNvSpPr/>
          <p:nvPr/>
        </p:nvSpPr>
        <p:spPr>
          <a:xfrm>
            <a:off x="731520" y="1325880"/>
            <a:ext cx="4937760" cy="457200"/>
          </a:xfrm>
          <a:prstGeom prst="roundRect">
            <a:avLst>
              <a:gd name="adj" fmla="val 12000"/>
            </a:avLst>
          </a:prstGeom>
          <a:solidFill>
            <a:srgbClr val="FFFFFF"/>
          </a:solidFill>
          <a:ln w="19050">
            <a:solidFill>
              <a:srgbClr val="2E8B57"/>
            </a:solidFill>
            <a:prstDash val="solid"/>
          </a:ln>
        </p:spPr>
      </p:sp>
      <p:sp>
        <p:nvSpPr>
          <p:cNvPr id="13" name="Text 11"/>
          <p:cNvSpPr/>
          <p:nvPr/>
        </p:nvSpPr>
        <p:spPr>
          <a:xfrm>
            <a:off x="822960" y="1325880"/>
            <a:ext cx="3657600" cy="457200"/>
          </a:xfrm>
          <a:prstGeom prst="rect">
            <a:avLst/>
          </a:prstGeom>
          <a:noFill/>
          <a:ln/>
        </p:spPr>
        <p:txBody>
          <a:bodyPr wrap="square" lIns="0" tIns="0" rIns="0" bIns="0" rtlCol="0" anchor="ctr"/>
          <a:lstStyle/>
          <a:p>
            <a:pPr algn="l" indent="0" marL="0">
              <a:buNone/>
            </a:pPr>
            <a:r>
              <a:rPr lang="en-US" sz="1600" b="1" dirty="0">
                <a:solidFill>
                  <a:srgbClr val="1A2340"/>
                </a:solidFill>
                <a:latin typeface="Calibri" pitchFamily="34" charset="0"/>
                <a:ea typeface="Calibri" pitchFamily="34" charset="-122"/>
                <a:cs typeface="Calibri" pitchFamily="34" charset="-120"/>
              </a:rPr>
              <a:t>p × V = constant</a:t>
            </a:r>
            <a:endParaRPr lang="en-US" sz="1600" dirty="0"/>
          </a:p>
        </p:txBody>
      </p:sp>
      <p:sp>
        <p:nvSpPr>
          <p:cNvPr id="14" name="Shape 12"/>
          <p:cNvSpPr/>
          <p:nvPr/>
        </p:nvSpPr>
        <p:spPr>
          <a:xfrm>
            <a:off x="4526280" y="1417320"/>
            <a:ext cx="1005840" cy="274320"/>
          </a:xfrm>
          <a:prstGeom prst="roundRect">
            <a:avLst>
              <a:gd name="adj" fmla="val 50000"/>
            </a:avLst>
          </a:prstGeom>
          <a:solidFill>
            <a:srgbClr val="2E8B57"/>
          </a:solidFill>
          <a:ln w="12700">
            <a:solidFill>
              <a:srgbClr val="2E8B57"/>
            </a:solidFill>
            <a:prstDash val="solid"/>
          </a:ln>
        </p:spPr>
      </p:sp>
      <p:sp>
        <p:nvSpPr>
          <p:cNvPr id="15" name="Text 13"/>
          <p:cNvSpPr/>
          <p:nvPr/>
        </p:nvSpPr>
        <p:spPr>
          <a:xfrm>
            <a:off x="4526280" y="1417320"/>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GIVEN</a:t>
            </a:r>
            <a:endParaRPr lang="en-US" sz="1000" dirty="0"/>
          </a:p>
        </p:txBody>
      </p:sp>
      <p:sp>
        <p:nvSpPr>
          <p:cNvPr id="16" name="Shape 14"/>
          <p:cNvSpPr/>
          <p:nvPr/>
        </p:nvSpPr>
        <p:spPr>
          <a:xfrm>
            <a:off x="1508760" y="2212848"/>
            <a:ext cx="2468880" cy="603504"/>
          </a:xfrm>
          <a:prstGeom prst="rect">
            <a:avLst/>
          </a:prstGeom>
          <a:solidFill>
            <a:srgbClr val="FFF4E8"/>
          </a:solidFill>
          <a:ln/>
        </p:spPr>
      </p:sp>
      <p:sp>
        <p:nvSpPr>
          <p:cNvPr id="17" name="Shape 15"/>
          <p:cNvSpPr/>
          <p:nvPr/>
        </p:nvSpPr>
        <p:spPr>
          <a:xfrm>
            <a:off x="3497174" y="2463619"/>
            <a:ext cx="109728" cy="109728"/>
          </a:xfrm>
          <a:prstGeom prst="ellipse">
            <a:avLst/>
          </a:prstGeom>
          <a:solidFill>
            <a:srgbClr val="E0884A"/>
          </a:solidFill>
          <a:ln w="9525">
            <a:solidFill>
              <a:srgbClr val="9A5320"/>
            </a:solidFill>
            <a:prstDash val="solid"/>
          </a:ln>
        </p:spPr>
      </p:sp>
      <p:sp>
        <p:nvSpPr>
          <p:cNvPr id="18" name="Shape 16"/>
          <p:cNvSpPr/>
          <p:nvPr/>
        </p:nvSpPr>
        <p:spPr>
          <a:xfrm flipH="1" flipV="1">
            <a:off x="3519736" y="2365553"/>
            <a:ext cx="19263" cy="91198"/>
          </a:xfrm>
          <a:prstGeom prst="line">
            <a:avLst/>
          </a:prstGeom>
          <a:noFill/>
          <a:ln w="12700">
            <a:solidFill>
              <a:srgbClr val="6B7385"/>
            </a:solidFill>
            <a:prstDash val="solid"/>
            <a:tailEnd type="triangle"/>
          </a:ln>
        </p:spPr>
      </p:sp>
      <p:sp>
        <p:nvSpPr>
          <p:cNvPr id="19" name="Shape 17"/>
          <p:cNvSpPr/>
          <p:nvPr/>
        </p:nvSpPr>
        <p:spPr>
          <a:xfrm>
            <a:off x="2998059" y="2477814"/>
            <a:ext cx="109728" cy="109728"/>
          </a:xfrm>
          <a:prstGeom prst="ellipse">
            <a:avLst/>
          </a:prstGeom>
          <a:solidFill>
            <a:srgbClr val="E0884A"/>
          </a:solidFill>
          <a:ln w="9525">
            <a:solidFill>
              <a:srgbClr val="9A5320"/>
            </a:solidFill>
            <a:prstDash val="solid"/>
          </a:ln>
        </p:spPr>
      </p:sp>
      <p:sp>
        <p:nvSpPr>
          <p:cNvPr id="20" name="Shape 18"/>
          <p:cNvSpPr/>
          <p:nvPr/>
        </p:nvSpPr>
        <p:spPr>
          <a:xfrm flipH="1">
            <a:off x="3036257" y="2595516"/>
            <a:ext cx="10998" cy="121925"/>
          </a:xfrm>
          <a:prstGeom prst="line">
            <a:avLst/>
          </a:prstGeom>
          <a:noFill/>
          <a:ln w="12700">
            <a:solidFill>
              <a:srgbClr val="6B7385"/>
            </a:solidFill>
            <a:prstDash val="solid"/>
            <a:tailEnd type="triangle"/>
          </a:ln>
        </p:spPr>
      </p:sp>
      <p:sp>
        <p:nvSpPr>
          <p:cNvPr id="21" name="Shape 19"/>
          <p:cNvSpPr/>
          <p:nvPr/>
        </p:nvSpPr>
        <p:spPr>
          <a:xfrm>
            <a:off x="1668893" y="2551686"/>
            <a:ext cx="109728" cy="109728"/>
          </a:xfrm>
          <a:prstGeom prst="ellipse">
            <a:avLst/>
          </a:prstGeom>
          <a:solidFill>
            <a:srgbClr val="E0884A"/>
          </a:solidFill>
          <a:ln w="9525">
            <a:solidFill>
              <a:srgbClr val="9A5320"/>
            </a:solidFill>
            <a:prstDash val="solid"/>
          </a:ln>
        </p:spPr>
      </p:sp>
      <p:sp>
        <p:nvSpPr>
          <p:cNvPr id="22" name="Shape 20"/>
          <p:cNvSpPr/>
          <p:nvPr/>
        </p:nvSpPr>
        <p:spPr>
          <a:xfrm flipH="1" flipV="1">
            <a:off x="1674917" y="2398857"/>
            <a:ext cx="34398" cy="146275"/>
          </a:xfrm>
          <a:prstGeom prst="line">
            <a:avLst/>
          </a:prstGeom>
          <a:noFill/>
          <a:ln w="12700">
            <a:solidFill>
              <a:srgbClr val="6B7385"/>
            </a:solidFill>
            <a:prstDash val="solid"/>
            <a:tailEnd type="triangle"/>
          </a:ln>
        </p:spPr>
      </p:sp>
      <p:sp>
        <p:nvSpPr>
          <p:cNvPr id="23" name="Shape 21"/>
          <p:cNvSpPr/>
          <p:nvPr/>
        </p:nvSpPr>
        <p:spPr>
          <a:xfrm>
            <a:off x="2323152" y="2660176"/>
            <a:ext cx="109728" cy="109728"/>
          </a:xfrm>
          <a:prstGeom prst="ellipse">
            <a:avLst/>
          </a:prstGeom>
          <a:solidFill>
            <a:srgbClr val="E0884A"/>
          </a:solidFill>
          <a:ln w="9525">
            <a:solidFill>
              <a:srgbClr val="9A5320"/>
            </a:solidFill>
            <a:prstDash val="solid"/>
          </a:ln>
        </p:spPr>
      </p:sp>
      <p:sp>
        <p:nvSpPr>
          <p:cNvPr id="24" name="Shape 22"/>
          <p:cNvSpPr/>
          <p:nvPr/>
        </p:nvSpPr>
        <p:spPr>
          <a:xfrm>
            <a:off x="2439336" y="2729893"/>
            <a:ext cx="93872" cy="22738"/>
          </a:xfrm>
          <a:prstGeom prst="line">
            <a:avLst/>
          </a:prstGeom>
          <a:noFill/>
          <a:ln w="12700">
            <a:solidFill>
              <a:srgbClr val="6B7385"/>
            </a:solidFill>
            <a:prstDash val="solid"/>
            <a:tailEnd type="triangle"/>
          </a:ln>
        </p:spPr>
      </p:sp>
      <p:sp>
        <p:nvSpPr>
          <p:cNvPr id="25" name="Shape 23"/>
          <p:cNvSpPr/>
          <p:nvPr/>
        </p:nvSpPr>
        <p:spPr>
          <a:xfrm>
            <a:off x="2472508" y="2333619"/>
            <a:ext cx="109728" cy="109728"/>
          </a:xfrm>
          <a:prstGeom prst="ellipse">
            <a:avLst/>
          </a:prstGeom>
          <a:solidFill>
            <a:srgbClr val="E0884A"/>
          </a:solidFill>
          <a:ln w="9525">
            <a:solidFill>
              <a:srgbClr val="9A5320"/>
            </a:solidFill>
            <a:prstDash val="solid"/>
          </a:ln>
        </p:spPr>
      </p:sp>
      <p:sp>
        <p:nvSpPr>
          <p:cNvPr id="26" name="Shape 24"/>
          <p:cNvSpPr/>
          <p:nvPr/>
        </p:nvSpPr>
        <p:spPr>
          <a:xfrm>
            <a:off x="2590464" y="2388911"/>
            <a:ext cx="96760" cy="657"/>
          </a:xfrm>
          <a:prstGeom prst="line">
            <a:avLst/>
          </a:prstGeom>
          <a:noFill/>
          <a:ln w="12700">
            <a:solidFill>
              <a:srgbClr val="6B7385"/>
            </a:solidFill>
            <a:prstDash val="solid"/>
            <a:tailEnd type="triangle"/>
          </a:ln>
        </p:spPr>
      </p:sp>
      <p:sp>
        <p:nvSpPr>
          <p:cNvPr id="27" name="Shape 25"/>
          <p:cNvSpPr/>
          <p:nvPr/>
        </p:nvSpPr>
        <p:spPr>
          <a:xfrm>
            <a:off x="2148961" y="2477513"/>
            <a:ext cx="109728" cy="109728"/>
          </a:xfrm>
          <a:prstGeom prst="ellipse">
            <a:avLst/>
          </a:prstGeom>
          <a:solidFill>
            <a:srgbClr val="E0884A"/>
          </a:solidFill>
          <a:ln w="9525">
            <a:solidFill>
              <a:srgbClr val="9A5320"/>
            </a:solidFill>
            <a:prstDash val="solid"/>
          </a:ln>
        </p:spPr>
      </p:sp>
      <p:sp>
        <p:nvSpPr>
          <p:cNvPr id="28" name="Shape 26"/>
          <p:cNvSpPr/>
          <p:nvPr/>
        </p:nvSpPr>
        <p:spPr>
          <a:xfrm>
            <a:off x="2229459" y="2590029"/>
            <a:ext cx="47627" cy="107115"/>
          </a:xfrm>
          <a:prstGeom prst="line">
            <a:avLst/>
          </a:prstGeom>
          <a:noFill/>
          <a:ln w="12700">
            <a:solidFill>
              <a:srgbClr val="6B7385"/>
            </a:solidFill>
            <a:prstDash val="solid"/>
            <a:tailEnd type="triangle"/>
          </a:ln>
        </p:spPr>
      </p:sp>
      <p:sp>
        <p:nvSpPr>
          <p:cNvPr id="29" name="Shape 27"/>
          <p:cNvSpPr/>
          <p:nvPr/>
        </p:nvSpPr>
        <p:spPr>
          <a:xfrm>
            <a:off x="3280140" y="2335594"/>
            <a:ext cx="109728" cy="109728"/>
          </a:xfrm>
          <a:prstGeom prst="ellipse">
            <a:avLst/>
          </a:prstGeom>
          <a:solidFill>
            <a:srgbClr val="E0884A"/>
          </a:solidFill>
          <a:ln w="9525">
            <a:solidFill>
              <a:srgbClr val="9A5320"/>
            </a:solidFill>
            <a:prstDash val="solid"/>
          </a:ln>
        </p:spPr>
      </p:sp>
      <p:sp>
        <p:nvSpPr>
          <p:cNvPr id="30" name="Shape 28"/>
          <p:cNvSpPr/>
          <p:nvPr/>
        </p:nvSpPr>
        <p:spPr>
          <a:xfrm>
            <a:off x="3379245" y="2435443"/>
            <a:ext cx="87016" cy="88478"/>
          </a:xfrm>
          <a:prstGeom prst="line">
            <a:avLst/>
          </a:prstGeom>
          <a:noFill/>
          <a:ln w="12700">
            <a:solidFill>
              <a:srgbClr val="6B7385"/>
            </a:solidFill>
            <a:prstDash val="solid"/>
            <a:tailEnd type="triangle"/>
          </a:ln>
        </p:spPr>
      </p:sp>
      <p:sp>
        <p:nvSpPr>
          <p:cNvPr id="31" name="Shape 29"/>
          <p:cNvSpPr/>
          <p:nvPr/>
        </p:nvSpPr>
        <p:spPr>
          <a:xfrm>
            <a:off x="2813096" y="2318873"/>
            <a:ext cx="109728" cy="109728"/>
          </a:xfrm>
          <a:prstGeom prst="ellipse">
            <a:avLst/>
          </a:prstGeom>
          <a:solidFill>
            <a:srgbClr val="E0884A"/>
          </a:solidFill>
          <a:ln w="9525">
            <a:solidFill>
              <a:srgbClr val="9A5320"/>
            </a:solidFill>
            <a:prstDash val="solid"/>
          </a:ln>
        </p:spPr>
      </p:sp>
      <p:sp>
        <p:nvSpPr>
          <p:cNvPr id="32" name="Shape 30"/>
          <p:cNvSpPr/>
          <p:nvPr/>
        </p:nvSpPr>
        <p:spPr>
          <a:xfrm flipV="1">
            <a:off x="2912929" y="2252226"/>
            <a:ext cx="78501" cy="77255"/>
          </a:xfrm>
          <a:prstGeom prst="line">
            <a:avLst/>
          </a:prstGeom>
          <a:noFill/>
          <a:ln w="12700">
            <a:solidFill>
              <a:srgbClr val="6B7385"/>
            </a:solidFill>
            <a:prstDash val="solid"/>
            <a:tailEnd type="triangle"/>
          </a:ln>
        </p:spPr>
      </p:sp>
      <p:sp>
        <p:nvSpPr>
          <p:cNvPr id="33" name="Shape 31"/>
          <p:cNvSpPr/>
          <p:nvPr/>
        </p:nvSpPr>
        <p:spPr>
          <a:xfrm>
            <a:off x="1508760" y="2212848"/>
            <a:ext cx="2743200" cy="91"/>
          </a:xfrm>
          <a:prstGeom prst="line">
            <a:avLst/>
          </a:prstGeom>
          <a:noFill/>
          <a:ln w="22225">
            <a:solidFill>
              <a:srgbClr val="1A2340"/>
            </a:solidFill>
            <a:prstDash val="solid"/>
          </a:ln>
        </p:spPr>
      </p:sp>
      <p:sp>
        <p:nvSpPr>
          <p:cNvPr id="34" name="Shape 32"/>
          <p:cNvSpPr/>
          <p:nvPr/>
        </p:nvSpPr>
        <p:spPr>
          <a:xfrm>
            <a:off x="1508760" y="2816352"/>
            <a:ext cx="2743200" cy="91"/>
          </a:xfrm>
          <a:prstGeom prst="line">
            <a:avLst/>
          </a:prstGeom>
          <a:noFill/>
          <a:ln w="22225">
            <a:solidFill>
              <a:srgbClr val="1A2340"/>
            </a:solidFill>
            <a:prstDash val="solid"/>
          </a:ln>
        </p:spPr>
      </p:sp>
      <p:sp>
        <p:nvSpPr>
          <p:cNvPr id="35" name="Shape 33"/>
          <p:cNvSpPr/>
          <p:nvPr/>
        </p:nvSpPr>
        <p:spPr>
          <a:xfrm>
            <a:off x="1508760" y="2212848"/>
            <a:ext cx="91" cy="246888"/>
          </a:xfrm>
          <a:prstGeom prst="line">
            <a:avLst/>
          </a:prstGeom>
          <a:noFill/>
          <a:ln w="22225">
            <a:solidFill>
              <a:srgbClr val="1A2340"/>
            </a:solidFill>
            <a:prstDash val="solid"/>
          </a:ln>
        </p:spPr>
      </p:sp>
      <p:sp>
        <p:nvSpPr>
          <p:cNvPr id="36" name="Shape 34"/>
          <p:cNvSpPr/>
          <p:nvPr/>
        </p:nvSpPr>
        <p:spPr>
          <a:xfrm>
            <a:off x="1508760" y="2569464"/>
            <a:ext cx="91" cy="246888"/>
          </a:xfrm>
          <a:prstGeom prst="line">
            <a:avLst/>
          </a:prstGeom>
          <a:noFill/>
          <a:ln w="22225">
            <a:solidFill>
              <a:srgbClr val="1A2340"/>
            </a:solidFill>
            <a:prstDash val="solid"/>
          </a:ln>
        </p:spPr>
      </p:sp>
      <p:sp>
        <p:nvSpPr>
          <p:cNvPr id="37" name="Shape 35"/>
          <p:cNvSpPr/>
          <p:nvPr/>
        </p:nvSpPr>
        <p:spPr>
          <a:xfrm>
            <a:off x="1920240" y="2212848"/>
            <a:ext cx="91" cy="73152"/>
          </a:xfrm>
          <a:prstGeom prst="line">
            <a:avLst/>
          </a:prstGeom>
          <a:noFill/>
          <a:ln w="9525">
            <a:solidFill>
              <a:srgbClr val="1A2340"/>
            </a:solidFill>
            <a:prstDash val="solid"/>
          </a:ln>
        </p:spPr>
      </p:sp>
      <p:sp>
        <p:nvSpPr>
          <p:cNvPr id="38" name="Shape 36"/>
          <p:cNvSpPr/>
          <p:nvPr/>
        </p:nvSpPr>
        <p:spPr>
          <a:xfrm>
            <a:off x="2331720" y="2212848"/>
            <a:ext cx="91" cy="128016"/>
          </a:xfrm>
          <a:prstGeom prst="line">
            <a:avLst/>
          </a:prstGeom>
          <a:noFill/>
          <a:ln w="9525">
            <a:solidFill>
              <a:srgbClr val="1A2340"/>
            </a:solidFill>
            <a:prstDash val="solid"/>
          </a:ln>
        </p:spPr>
      </p:sp>
      <p:sp>
        <p:nvSpPr>
          <p:cNvPr id="39" name="Shape 37"/>
          <p:cNvSpPr/>
          <p:nvPr/>
        </p:nvSpPr>
        <p:spPr>
          <a:xfrm>
            <a:off x="2743200" y="2212848"/>
            <a:ext cx="91" cy="73152"/>
          </a:xfrm>
          <a:prstGeom prst="line">
            <a:avLst/>
          </a:prstGeom>
          <a:noFill/>
          <a:ln w="9525">
            <a:solidFill>
              <a:srgbClr val="1A2340"/>
            </a:solidFill>
            <a:prstDash val="solid"/>
          </a:ln>
        </p:spPr>
      </p:sp>
      <p:sp>
        <p:nvSpPr>
          <p:cNvPr id="40" name="Shape 38"/>
          <p:cNvSpPr/>
          <p:nvPr/>
        </p:nvSpPr>
        <p:spPr>
          <a:xfrm>
            <a:off x="3154680" y="2212848"/>
            <a:ext cx="91" cy="128016"/>
          </a:xfrm>
          <a:prstGeom prst="line">
            <a:avLst/>
          </a:prstGeom>
          <a:noFill/>
          <a:ln w="9525">
            <a:solidFill>
              <a:srgbClr val="1A2340"/>
            </a:solidFill>
            <a:prstDash val="solid"/>
          </a:ln>
        </p:spPr>
      </p:sp>
      <p:sp>
        <p:nvSpPr>
          <p:cNvPr id="41" name="Shape 39"/>
          <p:cNvSpPr/>
          <p:nvPr/>
        </p:nvSpPr>
        <p:spPr>
          <a:xfrm>
            <a:off x="3566160" y="2212848"/>
            <a:ext cx="91" cy="73152"/>
          </a:xfrm>
          <a:prstGeom prst="line">
            <a:avLst/>
          </a:prstGeom>
          <a:noFill/>
          <a:ln w="9525">
            <a:solidFill>
              <a:srgbClr val="1A2340"/>
            </a:solidFill>
            <a:prstDash val="solid"/>
          </a:ln>
        </p:spPr>
      </p:sp>
      <p:sp>
        <p:nvSpPr>
          <p:cNvPr id="42" name="Shape 40"/>
          <p:cNvSpPr/>
          <p:nvPr/>
        </p:nvSpPr>
        <p:spPr>
          <a:xfrm>
            <a:off x="3977640" y="2212848"/>
            <a:ext cx="91" cy="128016"/>
          </a:xfrm>
          <a:prstGeom prst="line">
            <a:avLst/>
          </a:prstGeom>
          <a:noFill/>
          <a:ln w="9525">
            <a:solidFill>
              <a:srgbClr val="1A2340"/>
            </a:solidFill>
            <a:prstDash val="solid"/>
          </a:ln>
        </p:spPr>
      </p:sp>
      <p:sp>
        <p:nvSpPr>
          <p:cNvPr id="43" name="Shape 41"/>
          <p:cNvSpPr/>
          <p:nvPr/>
        </p:nvSpPr>
        <p:spPr>
          <a:xfrm>
            <a:off x="3977640" y="2231136"/>
            <a:ext cx="109728" cy="566928"/>
          </a:xfrm>
          <a:prstGeom prst="rect">
            <a:avLst/>
          </a:prstGeom>
          <a:solidFill>
            <a:srgbClr val="8C96A8"/>
          </a:solidFill>
          <a:ln w="12700">
            <a:solidFill>
              <a:srgbClr val="4A5262"/>
            </a:solidFill>
            <a:prstDash val="solid"/>
          </a:ln>
        </p:spPr>
      </p:sp>
      <p:sp>
        <p:nvSpPr>
          <p:cNvPr id="44" name="Shape 42"/>
          <p:cNvSpPr/>
          <p:nvPr/>
        </p:nvSpPr>
        <p:spPr>
          <a:xfrm>
            <a:off x="4087368" y="2468880"/>
            <a:ext cx="1325880" cy="91440"/>
          </a:xfrm>
          <a:prstGeom prst="rect">
            <a:avLst/>
          </a:prstGeom>
          <a:solidFill>
            <a:srgbClr val="B7BECC"/>
          </a:solidFill>
          <a:ln w="9525">
            <a:solidFill>
              <a:srgbClr val="6B7385"/>
            </a:solidFill>
            <a:prstDash val="solid"/>
          </a:ln>
        </p:spPr>
      </p:sp>
      <p:sp>
        <p:nvSpPr>
          <p:cNvPr id="45" name="Shape 43"/>
          <p:cNvSpPr/>
          <p:nvPr/>
        </p:nvSpPr>
        <p:spPr>
          <a:xfrm>
            <a:off x="5413248" y="2240280"/>
            <a:ext cx="91440" cy="548640"/>
          </a:xfrm>
          <a:prstGeom prst="rect">
            <a:avLst/>
          </a:prstGeom>
          <a:solidFill>
            <a:srgbClr val="8C96A8"/>
          </a:solidFill>
          <a:ln w="9525">
            <a:solidFill>
              <a:srgbClr val="4A5262"/>
            </a:solidFill>
            <a:prstDash val="solid"/>
          </a:ln>
        </p:spPr>
      </p:sp>
      <p:sp>
        <p:nvSpPr>
          <p:cNvPr id="46" name="Shape 44"/>
          <p:cNvSpPr/>
          <p:nvPr/>
        </p:nvSpPr>
        <p:spPr>
          <a:xfrm>
            <a:off x="1307592" y="2459736"/>
            <a:ext cx="201168" cy="109728"/>
          </a:xfrm>
          <a:prstGeom prst="rect">
            <a:avLst/>
          </a:prstGeom>
          <a:solidFill>
            <a:srgbClr val="D5DCEB"/>
          </a:solidFill>
          <a:ln w="12700">
            <a:solidFill>
              <a:srgbClr val="1A2340"/>
            </a:solidFill>
            <a:prstDash val="solid"/>
          </a:ln>
        </p:spPr>
      </p:sp>
      <p:sp>
        <p:nvSpPr>
          <p:cNvPr id="47" name="Shape 45"/>
          <p:cNvSpPr/>
          <p:nvPr/>
        </p:nvSpPr>
        <p:spPr>
          <a:xfrm>
            <a:off x="630936" y="2185416"/>
            <a:ext cx="658368" cy="658368"/>
          </a:xfrm>
          <a:prstGeom prst="ellipse">
            <a:avLst/>
          </a:prstGeom>
          <a:solidFill>
            <a:srgbClr val="FFFFFF"/>
          </a:solidFill>
          <a:ln w="22225">
            <a:solidFill>
              <a:srgbClr val="1A2340"/>
            </a:solidFill>
            <a:prstDash val="solid"/>
          </a:ln>
        </p:spPr>
      </p:sp>
      <p:sp>
        <p:nvSpPr>
          <p:cNvPr id="48" name="Shape 46"/>
          <p:cNvSpPr/>
          <p:nvPr/>
        </p:nvSpPr>
        <p:spPr>
          <a:xfrm flipH="1">
            <a:off x="745973" y="2677538"/>
            <a:ext cx="51209" cy="51209"/>
          </a:xfrm>
          <a:prstGeom prst="line">
            <a:avLst/>
          </a:prstGeom>
          <a:noFill/>
          <a:ln w="9525">
            <a:solidFill>
              <a:srgbClr val="1A2340"/>
            </a:solidFill>
            <a:prstDash val="solid"/>
          </a:ln>
        </p:spPr>
      </p:sp>
      <p:sp>
        <p:nvSpPr>
          <p:cNvPr id="49" name="Shape 47"/>
          <p:cNvSpPr/>
          <p:nvPr/>
        </p:nvSpPr>
        <p:spPr>
          <a:xfrm flipH="1">
            <a:off x="672093" y="2595979"/>
            <a:ext cx="37569" cy="12207"/>
          </a:xfrm>
          <a:prstGeom prst="line">
            <a:avLst/>
          </a:prstGeom>
          <a:noFill/>
          <a:ln w="9525">
            <a:solidFill>
              <a:srgbClr val="1A2340"/>
            </a:solidFill>
            <a:prstDash val="solid"/>
          </a:ln>
        </p:spPr>
      </p:sp>
      <p:sp>
        <p:nvSpPr>
          <p:cNvPr id="50" name="Shape 48"/>
          <p:cNvSpPr/>
          <p:nvPr/>
        </p:nvSpPr>
        <p:spPr>
          <a:xfrm flipH="1" flipV="1">
            <a:off x="660999" y="2467224"/>
            <a:ext cx="39016" cy="6179"/>
          </a:xfrm>
          <a:prstGeom prst="line">
            <a:avLst/>
          </a:prstGeom>
          <a:noFill/>
          <a:ln w="9525">
            <a:solidFill>
              <a:srgbClr val="1A2340"/>
            </a:solidFill>
            <a:prstDash val="solid"/>
          </a:ln>
        </p:spPr>
      </p:sp>
      <p:sp>
        <p:nvSpPr>
          <p:cNvPr id="51" name="Shape 49"/>
          <p:cNvSpPr/>
          <p:nvPr/>
        </p:nvSpPr>
        <p:spPr>
          <a:xfrm flipH="1" flipV="1">
            <a:off x="715110" y="2336590"/>
            <a:ext cx="31958" cy="23219"/>
          </a:xfrm>
          <a:prstGeom prst="line">
            <a:avLst/>
          </a:prstGeom>
          <a:noFill/>
          <a:ln w="9525">
            <a:solidFill>
              <a:srgbClr val="1A2340"/>
            </a:solidFill>
            <a:prstDash val="solid"/>
          </a:ln>
        </p:spPr>
      </p:sp>
      <p:sp>
        <p:nvSpPr>
          <p:cNvPr id="52" name="Shape 50"/>
          <p:cNvSpPr/>
          <p:nvPr/>
        </p:nvSpPr>
        <p:spPr>
          <a:xfrm flipH="1" flipV="1">
            <a:off x="822629" y="2244759"/>
            <a:ext cx="17934" cy="35197"/>
          </a:xfrm>
          <a:prstGeom prst="line">
            <a:avLst/>
          </a:prstGeom>
          <a:noFill/>
          <a:ln w="9525">
            <a:solidFill>
              <a:srgbClr val="1A2340"/>
            </a:solidFill>
            <a:prstDash val="solid"/>
          </a:ln>
        </p:spPr>
      </p:sp>
      <p:sp>
        <p:nvSpPr>
          <p:cNvPr id="53" name="Shape 51"/>
          <p:cNvSpPr/>
          <p:nvPr/>
        </p:nvSpPr>
        <p:spPr>
          <a:xfrm flipV="1">
            <a:off x="960120" y="2211751"/>
            <a:ext cx="91" cy="72420"/>
          </a:xfrm>
          <a:prstGeom prst="line">
            <a:avLst/>
          </a:prstGeom>
          <a:noFill/>
          <a:ln w="9525">
            <a:solidFill>
              <a:srgbClr val="1A2340"/>
            </a:solidFill>
            <a:prstDash val="solid"/>
          </a:ln>
        </p:spPr>
      </p:sp>
      <p:sp>
        <p:nvSpPr>
          <p:cNvPr id="54" name="Shape 52"/>
          <p:cNvSpPr/>
          <p:nvPr/>
        </p:nvSpPr>
        <p:spPr>
          <a:xfrm flipV="1">
            <a:off x="1079677" y="2244759"/>
            <a:ext cx="17934" cy="35197"/>
          </a:xfrm>
          <a:prstGeom prst="line">
            <a:avLst/>
          </a:prstGeom>
          <a:noFill/>
          <a:ln w="9525">
            <a:solidFill>
              <a:srgbClr val="1A2340"/>
            </a:solidFill>
            <a:prstDash val="solid"/>
          </a:ln>
        </p:spPr>
      </p:sp>
      <p:sp>
        <p:nvSpPr>
          <p:cNvPr id="55" name="Shape 53"/>
          <p:cNvSpPr/>
          <p:nvPr/>
        </p:nvSpPr>
        <p:spPr>
          <a:xfrm flipV="1">
            <a:off x="1173172" y="2336590"/>
            <a:ext cx="31958" cy="23219"/>
          </a:xfrm>
          <a:prstGeom prst="line">
            <a:avLst/>
          </a:prstGeom>
          <a:noFill/>
          <a:ln w="9525">
            <a:solidFill>
              <a:srgbClr val="1A2340"/>
            </a:solidFill>
            <a:prstDash val="solid"/>
          </a:ln>
        </p:spPr>
      </p:sp>
      <p:sp>
        <p:nvSpPr>
          <p:cNvPr id="56" name="Shape 54"/>
          <p:cNvSpPr/>
          <p:nvPr/>
        </p:nvSpPr>
        <p:spPr>
          <a:xfrm flipV="1">
            <a:off x="1220225" y="2467224"/>
            <a:ext cx="39016" cy="6179"/>
          </a:xfrm>
          <a:prstGeom prst="line">
            <a:avLst/>
          </a:prstGeom>
          <a:noFill/>
          <a:ln w="9525">
            <a:solidFill>
              <a:srgbClr val="1A2340"/>
            </a:solidFill>
            <a:prstDash val="solid"/>
          </a:ln>
        </p:spPr>
      </p:sp>
      <p:sp>
        <p:nvSpPr>
          <p:cNvPr id="57" name="Shape 55"/>
          <p:cNvSpPr/>
          <p:nvPr/>
        </p:nvSpPr>
        <p:spPr>
          <a:xfrm>
            <a:off x="1210578" y="2595979"/>
            <a:ext cx="37569" cy="12207"/>
          </a:xfrm>
          <a:prstGeom prst="line">
            <a:avLst/>
          </a:prstGeom>
          <a:noFill/>
          <a:ln w="9525">
            <a:solidFill>
              <a:srgbClr val="1A2340"/>
            </a:solidFill>
            <a:prstDash val="solid"/>
          </a:ln>
        </p:spPr>
      </p:sp>
      <p:sp>
        <p:nvSpPr>
          <p:cNvPr id="58" name="Shape 56"/>
          <p:cNvSpPr/>
          <p:nvPr/>
        </p:nvSpPr>
        <p:spPr>
          <a:xfrm>
            <a:off x="1123058" y="2677538"/>
            <a:ext cx="51209" cy="51209"/>
          </a:xfrm>
          <a:prstGeom prst="line">
            <a:avLst/>
          </a:prstGeom>
          <a:noFill/>
          <a:ln w="9525">
            <a:solidFill>
              <a:srgbClr val="1A2340"/>
            </a:solidFill>
            <a:prstDash val="solid"/>
          </a:ln>
        </p:spPr>
      </p:sp>
      <p:sp>
        <p:nvSpPr>
          <p:cNvPr id="59" name="Shape 57"/>
          <p:cNvSpPr/>
          <p:nvPr/>
        </p:nvSpPr>
        <p:spPr>
          <a:xfrm flipH="1" flipV="1">
            <a:off x="792527" y="2347007"/>
            <a:ext cx="167593" cy="167593"/>
          </a:xfrm>
          <a:prstGeom prst="line">
            <a:avLst/>
          </a:prstGeom>
          <a:noFill/>
          <a:ln w="25400">
            <a:solidFill>
              <a:srgbClr val="C8414C"/>
            </a:solidFill>
            <a:prstDash val="solid"/>
          </a:ln>
        </p:spPr>
      </p:sp>
      <p:sp>
        <p:nvSpPr>
          <p:cNvPr id="60" name="Shape 58"/>
          <p:cNvSpPr/>
          <p:nvPr/>
        </p:nvSpPr>
        <p:spPr>
          <a:xfrm>
            <a:off x="928116" y="2482596"/>
            <a:ext cx="64008" cy="64008"/>
          </a:xfrm>
          <a:prstGeom prst="ellipse">
            <a:avLst/>
          </a:prstGeom>
          <a:solidFill>
            <a:srgbClr val="1A2340"/>
          </a:solidFill>
          <a:ln w="9525">
            <a:solidFill>
              <a:srgbClr val="1A2340"/>
            </a:solidFill>
            <a:prstDash val="solid"/>
          </a:ln>
        </p:spPr>
      </p:sp>
      <p:sp>
        <p:nvSpPr>
          <p:cNvPr id="61" name="Text 59"/>
          <p:cNvSpPr/>
          <p:nvPr/>
        </p:nvSpPr>
        <p:spPr>
          <a:xfrm>
            <a:off x="548640" y="2880360"/>
            <a:ext cx="521208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 = 60 cm³   p = 100 kPa   p × V = 6000 kPa cm³</a:t>
            </a:r>
            <a:endParaRPr lang="en-US" sz="1050" dirty="0"/>
          </a:p>
        </p:txBody>
      </p:sp>
      <p:sp>
        <p:nvSpPr>
          <p:cNvPr id="62" name="Shape 60"/>
          <p:cNvSpPr/>
          <p:nvPr/>
        </p:nvSpPr>
        <p:spPr>
          <a:xfrm>
            <a:off x="1508760" y="3675888"/>
            <a:ext cx="1234440" cy="603504"/>
          </a:xfrm>
          <a:prstGeom prst="rect">
            <a:avLst/>
          </a:prstGeom>
          <a:solidFill>
            <a:srgbClr val="FFF4E8"/>
          </a:solidFill>
          <a:ln/>
        </p:spPr>
      </p:sp>
      <p:sp>
        <p:nvSpPr>
          <p:cNvPr id="63" name="Shape 61"/>
          <p:cNvSpPr/>
          <p:nvPr/>
        </p:nvSpPr>
        <p:spPr>
          <a:xfrm>
            <a:off x="2605838" y="3824636"/>
            <a:ext cx="109728" cy="109728"/>
          </a:xfrm>
          <a:prstGeom prst="ellipse">
            <a:avLst/>
          </a:prstGeom>
          <a:solidFill>
            <a:srgbClr val="E0884A"/>
          </a:solidFill>
          <a:ln w="9525">
            <a:solidFill>
              <a:srgbClr val="9A5320"/>
            </a:solidFill>
            <a:prstDash val="solid"/>
          </a:ln>
        </p:spPr>
      </p:sp>
      <p:sp>
        <p:nvSpPr>
          <p:cNvPr id="64" name="Shape 62"/>
          <p:cNvSpPr/>
          <p:nvPr/>
        </p:nvSpPr>
        <p:spPr>
          <a:xfrm flipH="1" flipV="1">
            <a:off x="2510328" y="3735036"/>
            <a:ext cx="104875" cy="100754"/>
          </a:xfrm>
          <a:prstGeom prst="line">
            <a:avLst/>
          </a:prstGeom>
          <a:noFill/>
          <a:ln w="12700">
            <a:solidFill>
              <a:srgbClr val="6B7385"/>
            </a:solidFill>
            <a:prstDash val="solid"/>
            <a:tailEnd type="triangle"/>
          </a:ln>
        </p:spPr>
      </p:sp>
      <p:sp>
        <p:nvSpPr>
          <p:cNvPr id="65" name="Shape 63"/>
          <p:cNvSpPr/>
          <p:nvPr/>
        </p:nvSpPr>
        <p:spPr>
          <a:xfrm>
            <a:off x="2102586" y="3729265"/>
            <a:ext cx="109728" cy="109728"/>
          </a:xfrm>
          <a:prstGeom prst="ellipse">
            <a:avLst/>
          </a:prstGeom>
          <a:solidFill>
            <a:srgbClr val="E0884A"/>
          </a:solidFill>
          <a:ln w="9525">
            <a:solidFill>
              <a:srgbClr val="9A5320"/>
            </a:solidFill>
            <a:prstDash val="solid"/>
          </a:ln>
        </p:spPr>
      </p:sp>
      <p:sp>
        <p:nvSpPr>
          <p:cNvPr id="66" name="Shape 64"/>
          <p:cNvSpPr/>
          <p:nvPr/>
        </p:nvSpPr>
        <p:spPr>
          <a:xfrm flipH="1">
            <a:off x="2156267" y="3847222"/>
            <a:ext cx="848" cy="159868"/>
          </a:xfrm>
          <a:prstGeom prst="line">
            <a:avLst/>
          </a:prstGeom>
          <a:noFill/>
          <a:ln w="12700">
            <a:solidFill>
              <a:srgbClr val="6B7385"/>
            </a:solidFill>
            <a:prstDash val="solid"/>
            <a:tailEnd type="triangle"/>
          </a:ln>
        </p:spPr>
      </p:sp>
      <p:sp>
        <p:nvSpPr>
          <p:cNvPr id="67" name="Shape 65"/>
          <p:cNvSpPr/>
          <p:nvPr/>
        </p:nvSpPr>
        <p:spPr>
          <a:xfrm>
            <a:off x="1603969" y="4030053"/>
            <a:ext cx="109728" cy="109728"/>
          </a:xfrm>
          <a:prstGeom prst="ellipse">
            <a:avLst/>
          </a:prstGeom>
          <a:solidFill>
            <a:srgbClr val="E0884A"/>
          </a:solidFill>
          <a:ln w="9525">
            <a:solidFill>
              <a:srgbClr val="9A5320"/>
            </a:solidFill>
            <a:prstDash val="solid"/>
          </a:ln>
        </p:spPr>
      </p:sp>
      <p:sp>
        <p:nvSpPr>
          <p:cNvPr id="68" name="Shape 66"/>
          <p:cNvSpPr/>
          <p:nvPr/>
        </p:nvSpPr>
        <p:spPr>
          <a:xfrm>
            <a:off x="1721709" y="4090154"/>
            <a:ext cx="125821" cy="10479"/>
          </a:xfrm>
          <a:prstGeom prst="line">
            <a:avLst/>
          </a:prstGeom>
          <a:noFill/>
          <a:ln w="12700">
            <a:solidFill>
              <a:srgbClr val="6B7385"/>
            </a:solidFill>
            <a:prstDash val="solid"/>
            <a:tailEnd type="triangle"/>
          </a:ln>
        </p:spPr>
      </p:sp>
      <p:sp>
        <p:nvSpPr>
          <p:cNvPr id="69" name="Shape 67"/>
          <p:cNvSpPr/>
          <p:nvPr/>
        </p:nvSpPr>
        <p:spPr>
          <a:xfrm>
            <a:off x="1582807" y="3730545"/>
            <a:ext cx="109728" cy="109728"/>
          </a:xfrm>
          <a:prstGeom prst="ellipse">
            <a:avLst/>
          </a:prstGeom>
          <a:solidFill>
            <a:srgbClr val="E0884A"/>
          </a:solidFill>
          <a:ln w="9525">
            <a:solidFill>
              <a:srgbClr val="9A5320"/>
            </a:solidFill>
            <a:prstDash val="solid"/>
          </a:ln>
        </p:spPr>
      </p:sp>
      <p:sp>
        <p:nvSpPr>
          <p:cNvPr id="70" name="Shape 68"/>
          <p:cNvSpPr/>
          <p:nvPr/>
        </p:nvSpPr>
        <p:spPr>
          <a:xfrm flipV="1">
            <a:off x="1700764" y="3784341"/>
            <a:ext cx="145987" cy="746"/>
          </a:xfrm>
          <a:prstGeom prst="line">
            <a:avLst/>
          </a:prstGeom>
          <a:noFill/>
          <a:ln w="12700">
            <a:solidFill>
              <a:srgbClr val="6B7385"/>
            </a:solidFill>
            <a:prstDash val="solid"/>
            <a:tailEnd type="triangle"/>
          </a:ln>
        </p:spPr>
      </p:sp>
      <p:sp>
        <p:nvSpPr>
          <p:cNvPr id="71" name="Shape 69"/>
          <p:cNvSpPr/>
          <p:nvPr/>
        </p:nvSpPr>
        <p:spPr>
          <a:xfrm>
            <a:off x="1813867" y="4077766"/>
            <a:ext cx="109728" cy="109728"/>
          </a:xfrm>
          <a:prstGeom prst="ellipse">
            <a:avLst/>
          </a:prstGeom>
          <a:solidFill>
            <a:srgbClr val="E0884A"/>
          </a:solidFill>
          <a:ln w="9525">
            <a:solidFill>
              <a:srgbClr val="9A5320"/>
            </a:solidFill>
            <a:prstDash val="solid"/>
          </a:ln>
        </p:spPr>
      </p:sp>
      <p:sp>
        <p:nvSpPr>
          <p:cNvPr id="72" name="Shape 70"/>
          <p:cNvSpPr/>
          <p:nvPr/>
        </p:nvSpPr>
        <p:spPr>
          <a:xfrm flipH="1" flipV="1">
            <a:off x="1828210" y="3951236"/>
            <a:ext cx="26766" cy="119818"/>
          </a:xfrm>
          <a:prstGeom prst="line">
            <a:avLst/>
          </a:prstGeom>
          <a:noFill/>
          <a:ln w="12700">
            <a:solidFill>
              <a:srgbClr val="6B7385"/>
            </a:solidFill>
            <a:prstDash val="solid"/>
            <a:tailEnd type="triangle"/>
          </a:ln>
        </p:spPr>
      </p:sp>
      <p:sp>
        <p:nvSpPr>
          <p:cNvPr id="73" name="Shape 71"/>
          <p:cNvSpPr/>
          <p:nvPr/>
        </p:nvSpPr>
        <p:spPr>
          <a:xfrm>
            <a:off x="2284890" y="4113907"/>
            <a:ext cx="109728" cy="109728"/>
          </a:xfrm>
          <a:prstGeom prst="ellipse">
            <a:avLst/>
          </a:prstGeom>
          <a:solidFill>
            <a:srgbClr val="E0884A"/>
          </a:solidFill>
          <a:ln w="9525">
            <a:solidFill>
              <a:srgbClr val="9A5320"/>
            </a:solidFill>
            <a:prstDash val="solid"/>
          </a:ln>
        </p:spPr>
      </p:sp>
      <p:sp>
        <p:nvSpPr>
          <p:cNvPr id="74" name="Shape 72"/>
          <p:cNvSpPr/>
          <p:nvPr/>
        </p:nvSpPr>
        <p:spPr>
          <a:xfrm flipV="1">
            <a:off x="2357998" y="4010594"/>
            <a:ext cx="29535" cy="97779"/>
          </a:xfrm>
          <a:prstGeom prst="line">
            <a:avLst/>
          </a:prstGeom>
          <a:noFill/>
          <a:ln w="12700">
            <a:solidFill>
              <a:srgbClr val="6B7385"/>
            </a:solidFill>
            <a:prstDash val="solid"/>
            <a:tailEnd type="triangle"/>
          </a:ln>
        </p:spPr>
      </p:sp>
      <p:sp>
        <p:nvSpPr>
          <p:cNvPr id="75" name="Shape 73"/>
          <p:cNvSpPr/>
          <p:nvPr/>
        </p:nvSpPr>
        <p:spPr>
          <a:xfrm>
            <a:off x="1791490" y="3728555"/>
            <a:ext cx="109728" cy="109728"/>
          </a:xfrm>
          <a:prstGeom prst="ellipse">
            <a:avLst/>
          </a:prstGeom>
          <a:solidFill>
            <a:srgbClr val="E0884A"/>
          </a:solidFill>
          <a:ln w="9525">
            <a:solidFill>
              <a:srgbClr val="9A5320"/>
            </a:solidFill>
            <a:prstDash val="solid"/>
          </a:ln>
        </p:spPr>
      </p:sp>
      <p:sp>
        <p:nvSpPr>
          <p:cNvPr id="76" name="Shape 74"/>
          <p:cNvSpPr/>
          <p:nvPr/>
        </p:nvSpPr>
        <p:spPr>
          <a:xfrm flipH="1">
            <a:off x="1782539" y="3840081"/>
            <a:ext cx="36062" cy="73624"/>
          </a:xfrm>
          <a:prstGeom prst="line">
            <a:avLst/>
          </a:prstGeom>
          <a:noFill/>
          <a:ln w="12700">
            <a:solidFill>
              <a:srgbClr val="6B7385"/>
            </a:solidFill>
            <a:prstDash val="solid"/>
            <a:tailEnd type="triangle"/>
          </a:ln>
        </p:spPr>
      </p:sp>
      <p:sp>
        <p:nvSpPr>
          <p:cNvPr id="77" name="Shape 75"/>
          <p:cNvSpPr/>
          <p:nvPr/>
        </p:nvSpPr>
        <p:spPr>
          <a:xfrm>
            <a:off x="2210012" y="3889450"/>
            <a:ext cx="109728" cy="109728"/>
          </a:xfrm>
          <a:prstGeom prst="ellipse">
            <a:avLst/>
          </a:prstGeom>
          <a:solidFill>
            <a:srgbClr val="E0884A"/>
          </a:solidFill>
          <a:ln w="9525">
            <a:solidFill>
              <a:srgbClr val="9A5320"/>
            </a:solidFill>
            <a:prstDash val="solid"/>
          </a:ln>
        </p:spPr>
      </p:sp>
      <p:sp>
        <p:nvSpPr>
          <p:cNvPr id="78" name="Shape 76"/>
          <p:cNvSpPr/>
          <p:nvPr/>
        </p:nvSpPr>
        <p:spPr>
          <a:xfrm flipH="1" flipV="1">
            <a:off x="2262708" y="3761346"/>
            <a:ext cx="1421" cy="119880"/>
          </a:xfrm>
          <a:prstGeom prst="line">
            <a:avLst/>
          </a:prstGeom>
          <a:noFill/>
          <a:ln w="12700">
            <a:solidFill>
              <a:srgbClr val="6B7385"/>
            </a:solidFill>
            <a:prstDash val="solid"/>
            <a:tailEnd type="triangle"/>
          </a:ln>
        </p:spPr>
      </p:sp>
      <p:sp>
        <p:nvSpPr>
          <p:cNvPr id="79" name="Shape 77"/>
          <p:cNvSpPr/>
          <p:nvPr/>
        </p:nvSpPr>
        <p:spPr>
          <a:xfrm>
            <a:off x="1508760" y="3675888"/>
            <a:ext cx="2743200" cy="91"/>
          </a:xfrm>
          <a:prstGeom prst="line">
            <a:avLst/>
          </a:prstGeom>
          <a:noFill/>
          <a:ln w="22225">
            <a:solidFill>
              <a:srgbClr val="1A2340"/>
            </a:solidFill>
            <a:prstDash val="solid"/>
          </a:ln>
        </p:spPr>
      </p:sp>
      <p:sp>
        <p:nvSpPr>
          <p:cNvPr id="80" name="Shape 78"/>
          <p:cNvSpPr/>
          <p:nvPr/>
        </p:nvSpPr>
        <p:spPr>
          <a:xfrm>
            <a:off x="1508760" y="4279392"/>
            <a:ext cx="2743200" cy="91"/>
          </a:xfrm>
          <a:prstGeom prst="line">
            <a:avLst/>
          </a:prstGeom>
          <a:noFill/>
          <a:ln w="22225">
            <a:solidFill>
              <a:srgbClr val="1A2340"/>
            </a:solidFill>
            <a:prstDash val="solid"/>
          </a:ln>
        </p:spPr>
      </p:sp>
      <p:sp>
        <p:nvSpPr>
          <p:cNvPr id="81" name="Shape 79"/>
          <p:cNvSpPr/>
          <p:nvPr/>
        </p:nvSpPr>
        <p:spPr>
          <a:xfrm>
            <a:off x="1508760" y="3675888"/>
            <a:ext cx="91" cy="246888"/>
          </a:xfrm>
          <a:prstGeom prst="line">
            <a:avLst/>
          </a:prstGeom>
          <a:noFill/>
          <a:ln w="22225">
            <a:solidFill>
              <a:srgbClr val="1A2340"/>
            </a:solidFill>
            <a:prstDash val="solid"/>
          </a:ln>
        </p:spPr>
      </p:sp>
      <p:sp>
        <p:nvSpPr>
          <p:cNvPr id="82" name="Shape 80"/>
          <p:cNvSpPr/>
          <p:nvPr/>
        </p:nvSpPr>
        <p:spPr>
          <a:xfrm>
            <a:off x="1508760" y="4032504"/>
            <a:ext cx="91" cy="246888"/>
          </a:xfrm>
          <a:prstGeom prst="line">
            <a:avLst/>
          </a:prstGeom>
          <a:noFill/>
          <a:ln w="22225">
            <a:solidFill>
              <a:srgbClr val="1A2340"/>
            </a:solidFill>
            <a:prstDash val="solid"/>
          </a:ln>
        </p:spPr>
      </p:sp>
      <p:sp>
        <p:nvSpPr>
          <p:cNvPr id="83" name="Shape 81"/>
          <p:cNvSpPr/>
          <p:nvPr/>
        </p:nvSpPr>
        <p:spPr>
          <a:xfrm>
            <a:off x="1920240" y="3675888"/>
            <a:ext cx="91" cy="73152"/>
          </a:xfrm>
          <a:prstGeom prst="line">
            <a:avLst/>
          </a:prstGeom>
          <a:noFill/>
          <a:ln w="9525">
            <a:solidFill>
              <a:srgbClr val="1A2340"/>
            </a:solidFill>
            <a:prstDash val="solid"/>
          </a:ln>
        </p:spPr>
      </p:sp>
      <p:sp>
        <p:nvSpPr>
          <p:cNvPr id="84" name="Shape 82"/>
          <p:cNvSpPr/>
          <p:nvPr/>
        </p:nvSpPr>
        <p:spPr>
          <a:xfrm>
            <a:off x="2331720" y="3675888"/>
            <a:ext cx="91" cy="128016"/>
          </a:xfrm>
          <a:prstGeom prst="line">
            <a:avLst/>
          </a:prstGeom>
          <a:noFill/>
          <a:ln w="9525">
            <a:solidFill>
              <a:srgbClr val="1A2340"/>
            </a:solidFill>
            <a:prstDash val="solid"/>
          </a:ln>
        </p:spPr>
      </p:sp>
      <p:sp>
        <p:nvSpPr>
          <p:cNvPr id="85" name="Shape 83"/>
          <p:cNvSpPr/>
          <p:nvPr/>
        </p:nvSpPr>
        <p:spPr>
          <a:xfrm>
            <a:off x="2743200" y="3675888"/>
            <a:ext cx="91" cy="73152"/>
          </a:xfrm>
          <a:prstGeom prst="line">
            <a:avLst/>
          </a:prstGeom>
          <a:noFill/>
          <a:ln w="9525">
            <a:solidFill>
              <a:srgbClr val="1A2340"/>
            </a:solidFill>
            <a:prstDash val="solid"/>
          </a:ln>
        </p:spPr>
      </p:sp>
      <p:sp>
        <p:nvSpPr>
          <p:cNvPr id="86" name="Shape 84"/>
          <p:cNvSpPr/>
          <p:nvPr/>
        </p:nvSpPr>
        <p:spPr>
          <a:xfrm>
            <a:off x="3154680" y="3675888"/>
            <a:ext cx="91" cy="128016"/>
          </a:xfrm>
          <a:prstGeom prst="line">
            <a:avLst/>
          </a:prstGeom>
          <a:noFill/>
          <a:ln w="9525">
            <a:solidFill>
              <a:srgbClr val="1A2340"/>
            </a:solidFill>
            <a:prstDash val="solid"/>
          </a:ln>
        </p:spPr>
      </p:sp>
      <p:sp>
        <p:nvSpPr>
          <p:cNvPr id="87" name="Shape 85"/>
          <p:cNvSpPr/>
          <p:nvPr/>
        </p:nvSpPr>
        <p:spPr>
          <a:xfrm>
            <a:off x="3566160" y="3675888"/>
            <a:ext cx="91" cy="73152"/>
          </a:xfrm>
          <a:prstGeom prst="line">
            <a:avLst/>
          </a:prstGeom>
          <a:noFill/>
          <a:ln w="9525">
            <a:solidFill>
              <a:srgbClr val="1A2340"/>
            </a:solidFill>
            <a:prstDash val="solid"/>
          </a:ln>
        </p:spPr>
      </p:sp>
      <p:sp>
        <p:nvSpPr>
          <p:cNvPr id="88" name="Shape 86"/>
          <p:cNvSpPr/>
          <p:nvPr/>
        </p:nvSpPr>
        <p:spPr>
          <a:xfrm>
            <a:off x="3977640" y="3675888"/>
            <a:ext cx="91" cy="128016"/>
          </a:xfrm>
          <a:prstGeom prst="line">
            <a:avLst/>
          </a:prstGeom>
          <a:noFill/>
          <a:ln w="9525">
            <a:solidFill>
              <a:srgbClr val="1A2340"/>
            </a:solidFill>
            <a:prstDash val="solid"/>
          </a:ln>
        </p:spPr>
      </p:sp>
      <p:sp>
        <p:nvSpPr>
          <p:cNvPr id="89" name="Shape 87"/>
          <p:cNvSpPr/>
          <p:nvPr/>
        </p:nvSpPr>
        <p:spPr>
          <a:xfrm>
            <a:off x="2743200" y="3694176"/>
            <a:ext cx="109728" cy="566928"/>
          </a:xfrm>
          <a:prstGeom prst="rect">
            <a:avLst/>
          </a:prstGeom>
          <a:solidFill>
            <a:srgbClr val="8C96A8"/>
          </a:solidFill>
          <a:ln w="12700">
            <a:solidFill>
              <a:srgbClr val="4A5262"/>
            </a:solidFill>
            <a:prstDash val="solid"/>
          </a:ln>
        </p:spPr>
      </p:sp>
      <p:sp>
        <p:nvSpPr>
          <p:cNvPr id="90" name="Shape 88"/>
          <p:cNvSpPr/>
          <p:nvPr/>
        </p:nvSpPr>
        <p:spPr>
          <a:xfrm>
            <a:off x="2852928" y="3931920"/>
            <a:ext cx="1325880" cy="91440"/>
          </a:xfrm>
          <a:prstGeom prst="rect">
            <a:avLst/>
          </a:prstGeom>
          <a:solidFill>
            <a:srgbClr val="B7BECC"/>
          </a:solidFill>
          <a:ln w="9525">
            <a:solidFill>
              <a:srgbClr val="6B7385"/>
            </a:solidFill>
            <a:prstDash val="solid"/>
          </a:ln>
        </p:spPr>
      </p:sp>
      <p:sp>
        <p:nvSpPr>
          <p:cNvPr id="91" name="Shape 89"/>
          <p:cNvSpPr/>
          <p:nvPr/>
        </p:nvSpPr>
        <p:spPr>
          <a:xfrm>
            <a:off x="4178808" y="3703320"/>
            <a:ext cx="91440" cy="548640"/>
          </a:xfrm>
          <a:prstGeom prst="rect">
            <a:avLst/>
          </a:prstGeom>
          <a:solidFill>
            <a:srgbClr val="8C96A8"/>
          </a:solidFill>
          <a:ln w="9525">
            <a:solidFill>
              <a:srgbClr val="4A5262"/>
            </a:solidFill>
            <a:prstDash val="solid"/>
          </a:ln>
        </p:spPr>
      </p:sp>
      <p:sp>
        <p:nvSpPr>
          <p:cNvPr id="92" name="Shape 90"/>
          <p:cNvSpPr/>
          <p:nvPr/>
        </p:nvSpPr>
        <p:spPr>
          <a:xfrm>
            <a:off x="1307592" y="3922776"/>
            <a:ext cx="201168" cy="109728"/>
          </a:xfrm>
          <a:prstGeom prst="rect">
            <a:avLst/>
          </a:prstGeom>
          <a:solidFill>
            <a:srgbClr val="D5DCEB"/>
          </a:solidFill>
          <a:ln w="12700">
            <a:solidFill>
              <a:srgbClr val="1A2340"/>
            </a:solidFill>
            <a:prstDash val="solid"/>
          </a:ln>
        </p:spPr>
      </p:sp>
      <p:sp>
        <p:nvSpPr>
          <p:cNvPr id="93" name="Shape 91"/>
          <p:cNvSpPr/>
          <p:nvPr/>
        </p:nvSpPr>
        <p:spPr>
          <a:xfrm>
            <a:off x="630936" y="3648456"/>
            <a:ext cx="658368" cy="658368"/>
          </a:xfrm>
          <a:prstGeom prst="ellipse">
            <a:avLst/>
          </a:prstGeom>
          <a:solidFill>
            <a:srgbClr val="FFFFFF"/>
          </a:solidFill>
          <a:ln w="22225">
            <a:solidFill>
              <a:srgbClr val="1A2340"/>
            </a:solidFill>
            <a:prstDash val="solid"/>
          </a:ln>
        </p:spPr>
      </p:sp>
      <p:sp>
        <p:nvSpPr>
          <p:cNvPr id="94" name="Shape 92"/>
          <p:cNvSpPr/>
          <p:nvPr/>
        </p:nvSpPr>
        <p:spPr>
          <a:xfrm flipH="1">
            <a:off x="745973" y="4140578"/>
            <a:ext cx="51209" cy="51209"/>
          </a:xfrm>
          <a:prstGeom prst="line">
            <a:avLst/>
          </a:prstGeom>
          <a:noFill/>
          <a:ln w="9525">
            <a:solidFill>
              <a:srgbClr val="1A2340"/>
            </a:solidFill>
            <a:prstDash val="solid"/>
          </a:ln>
        </p:spPr>
      </p:sp>
      <p:sp>
        <p:nvSpPr>
          <p:cNvPr id="95" name="Shape 93"/>
          <p:cNvSpPr/>
          <p:nvPr/>
        </p:nvSpPr>
        <p:spPr>
          <a:xfrm flipH="1">
            <a:off x="672093" y="4059019"/>
            <a:ext cx="37569" cy="12207"/>
          </a:xfrm>
          <a:prstGeom prst="line">
            <a:avLst/>
          </a:prstGeom>
          <a:noFill/>
          <a:ln w="9525">
            <a:solidFill>
              <a:srgbClr val="1A2340"/>
            </a:solidFill>
            <a:prstDash val="solid"/>
          </a:ln>
        </p:spPr>
      </p:sp>
      <p:sp>
        <p:nvSpPr>
          <p:cNvPr id="96" name="Shape 94"/>
          <p:cNvSpPr/>
          <p:nvPr/>
        </p:nvSpPr>
        <p:spPr>
          <a:xfrm flipH="1" flipV="1">
            <a:off x="660999" y="3930264"/>
            <a:ext cx="39016" cy="6179"/>
          </a:xfrm>
          <a:prstGeom prst="line">
            <a:avLst/>
          </a:prstGeom>
          <a:noFill/>
          <a:ln w="9525">
            <a:solidFill>
              <a:srgbClr val="1A2340"/>
            </a:solidFill>
            <a:prstDash val="solid"/>
          </a:ln>
        </p:spPr>
      </p:sp>
      <p:sp>
        <p:nvSpPr>
          <p:cNvPr id="97" name="Shape 95"/>
          <p:cNvSpPr/>
          <p:nvPr/>
        </p:nvSpPr>
        <p:spPr>
          <a:xfrm flipH="1" flipV="1">
            <a:off x="715110" y="3799630"/>
            <a:ext cx="31958" cy="23219"/>
          </a:xfrm>
          <a:prstGeom prst="line">
            <a:avLst/>
          </a:prstGeom>
          <a:noFill/>
          <a:ln w="9525">
            <a:solidFill>
              <a:srgbClr val="1A2340"/>
            </a:solidFill>
            <a:prstDash val="solid"/>
          </a:ln>
        </p:spPr>
      </p:sp>
      <p:sp>
        <p:nvSpPr>
          <p:cNvPr id="98" name="Shape 96"/>
          <p:cNvSpPr/>
          <p:nvPr/>
        </p:nvSpPr>
        <p:spPr>
          <a:xfrm flipH="1" flipV="1">
            <a:off x="822629" y="3707799"/>
            <a:ext cx="17934" cy="35197"/>
          </a:xfrm>
          <a:prstGeom prst="line">
            <a:avLst/>
          </a:prstGeom>
          <a:noFill/>
          <a:ln w="9525">
            <a:solidFill>
              <a:srgbClr val="1A2340"/>
            </a:solidFill>
            <a:prstDash val="solid"/>
          </a:ln>
        </p:spPr>
      </p:sp>
      <p:sp>
        <p:nvSpPr>
          <p:cNvPr id="99" name="Shape 97"/>
          <p:cNvSpPr/>
          <p:nvPr/>
        </p:nvSpPr>
        <p:spPr>
          <a:xfrm flipV="1">
            <a:off x="960120" y="3674791"/>
            <a:ext cx="91" cy="72420"/>
          </a:xfrm>
          <a:prstGeom prst="line">
            <a:avLst/>
          </a:prstGeom>
          <a:noFill/>
          <a:ln w="9525">
            <a:solidFill>
              <a:srgbClr val="1A2340"/>
            </a:solidFill>
            <a:prstDash val="solid"/>
          </a:ln>
        </p:spPr>
      </p:sp>
      <p:sp>
        <p:nvSpPr>
          <p:cNvPr id="100" name="Shape 98"/>
          <p:cNvSpPr/>
          <p:nvPr/>
        </p:nvSpPr>
        <p:spPr>
          <a:xfrm flipV="1">
            <a:off x="1079677" y="3707799"/>
            <a:ext cx="17934" cy="35197"/>
          </a:xfrm>
          <a:prstGeom prst="line">
            <a:avLst/>
          </a:prstGeom>
          <a:noFill/>
          <a:ln w="9525">
            <a:solidFill>
              <a:srgbClr val="1A2340"/>
            </a:solidFill>
            <a:prstDash val="solid"/>
          </a:ln>
        </p:spPr>
      </p:sp>
      <p:sp>
        <p:nvSpPr>
          <p:cNvPr id="101" name="Shape 99"/>
          <p:cNvSpPr/>
          <p:nvPr/>
        </p:nvSpPr>
        <p:spPr>
          <a:xfrm flipV="1">
            <a:off x="1173172" y="3799630"/>
            <a:ext cx="31958" cy="23219"/>
          </a:xfrm>
          <a:prstGeom prst="line">
            <a:avLst/>
          </a:prstGeom>
          <a:noFill/>
          <a:ln w="9525">
            <a:solidFill>
              <a:srgbClr val="1A2340"/>
            </a:solidFill>
            <a:prstDash val="solid"/>
          </a:ln>
        </p:spPr>
      </p:sp>
      <p:sp>
        <p:nvSpPr>
          <p:cNvPr id="102" name="Shape 100"/>
          <p:cNvSpPr/>
          <p:nvPr/>
        </p:nvSpPr>
        <p:spPr>
          <a:xfrm flipV="1">
            <a:off x="1220225" y="3930264"/>
            <a:ext cx="39016" cy="6179"/>
          </a:xfrm>
          <a:prstGeom prst="line">
            <a:avLst/>
          </a:prstGeom>
          <a:noFill/>
          <a:ln w="9525">
            <a:solidFill>
              <a:srgbClr val="1A2340"/>
            </a:solidFill>
            <a:prstDash val="solid"/>
          </a:ln>
        </p:spPr>
      </p:sp>
      <p:sp>
        <p:nvSpPr>
          <p:cNvPr id="103" name="Shape 101"/>
          <p:cNvSpPr/>
          <p:nvPr/>
        </p:nvSpPr>
        <p:spPr>
          <a:xfrm>
            <a:off x="1210578" y="4059019"/>
            <a:ext cx="37569" cy="12207"/>
          </a:xfrm>
          <a:prstGeom prst="line">
            <a:avLst/>
          </a:prstGeom>
          <a:noFill/>
          <a:ln w="9525">
            <a:solidFill>
              <a:srgbClr val="1A2340"/>
            </a:solidFill>
            <a:prstDash val="solid"/>
          </a:ln>
        </p:spPr>
      </p:sp>
      <p:sp>
        <p:nvSpPr>
          <p:cNvPr id="104" name="Shape 102"/>
          <p:cNvSpPr/>
          <p:nvPr/>
        </p:nvSpPr>
        <p:spPr>
          <a:xfrm>
            <a:off x="1123058" y="4140578"/>
            <a:ext cx="51209" cy="51209"/>
          </a:xfrm>
          <a:prstGeom prst="line">
            <a:avLst/>
          </a:prstGeom>
          <a:noFill/>
          <a:ln w="9525">
            <a:solidFill>
              <a:srgbClr val="1A2340"/>
            </a:solidFill>
            <a:prstDash val="solid"/>
          </a:ln>
        </p:spPr>
      </p:sp>
      <p:sp>
        <p:nvSpPr>
          <p:cNvPr id="105" name="Shape 103"/>
          <p:cNvSpPr/>
          <p:nvPr/>
        </p:nvSpPr>
        <p:spPr>
          <a:xfrm flipV="1">
            <a:off x="960120" y="3810047"/>
            <a:ext cx="167593" cy="167593"/>
          </a:xfrm>
          <a:prstGeom prst="line">
            <a:avLst/>
          </a:prstGeom>
          <a:noFill/>
          <a:ln w="25400">
            <a:solidFill>
              <a:srgbClr val="C8414C"/>
            </a:solidFill>
            <a:prstDash val="solid"/>
          </a:ln>
        </p:spPr>
      </p:sp>
      <p:sp>
        <p:nvSpPr>
          <p:cNvPr id="106" name="Shape 104"/>
          <p:cNvSpPr/>
          <p:nvPr/>
        </p:nvSpPr>
        <p:spPr>
          <a:xfrm>
            <a:off x="928116" y="3945636"/>
            <a:ext cx="64008" cy="64008"/>
          </a:xfrm>
          <a:prstGeom prst="ellipse">
            <a:avLst/>
          </a:prstGeom>
          <a:solidFill>
            <a:srgbClr val="1A2340"/>
          </a:solidFill>
          <a:ln w="9525">
            <a:solidFill>
              <a:srgbClr val="1A2340"/>
            </a:solidFill>
            <a:prstDash val="solid"/>
          </a:ln>
        </p:spPr>
      </p:sp>
      <p:sp>
        <p:nvSpPr>
          <p:cNvPr id="107" name="Text 105"/>
          <p:cNvSpPr/>
          <p:nvPr/>
        </p:nvSpPr>
        <p:spPr>
          <a:xfrm>
            <a:off x="548640" y="4343400"/>
            <a:ext cx="521208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 = 30 cm³   p = 200 kPa   p × V = 6000 kPa cm³</a:t>
            </a:r>
            <a:endParaRPr lang="en-US" sz="1050" dirty="0"/>
          </a:p>
        </p:txBody>
      </p:sp>
      <p:sp>
        <p:nvSpPr>
          <p:cNvPr id="108" name="Shape 106"/>
          <p:cNvSpPr/>
          <p:nvPr/>
        </p:nvSpPr>
        <p:spPr>
          <a:xfrm flipH="1">
            <a:off x="4389120" y="3246120"/>
            <a:ext cx="685800" cy="91"/>
          </a:xfrm>
          <a:prstGeom prst="line">
            <a:avLst/>
          </a:prstGeom>
          <a:noFill/>
          <a:ln w="31750">
            <a:solidFill>
              <a:srgbClr val="C8414C"/>
            </a:solidFill>
            <a:prstDash val="solid"/>
            <a:tailEnd type="triangle"/>
          </a:ln>
        </p:spPr>
      </p:sp>
      <p:sp>
        <p:nvSpPr>
          <p:cNvPr id="109" name="Text 107"/>
          <p:cNvSpPr/>
          <p:nvPr/>
        </p:nvSpPr>
        <p:spPr>
          <a:xfrm>
            <a:off x="4206240" y="3291840"/>
            <a:ext cx="1463040" cy="219456"/>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push in slowly</a:t>
            </a:r>
            <a:endParaRPr lang="en-US" sz="1050" dirty="0"/>
          </a:p>
        </p:txBody>
      </p:sp>
      <p:sp>
        <p:nvSpPr>
          <p:cNvPr id="110" name="Text 108"/>
          <p:cNvSpPr/>
          <p:nvPr/>
        </p:nvSpPr>
        <p:spPr>
          <a:xfrm>
            <a:off x="548640" y="4709160"/>
            <a:ext cx="5212080" cy="237744"/>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halve the volume → the pressure doubles</a:t>
            </a:r>
            <a:endParaRPr lang="en-US" sz="1100" dirty="0"/>
          </a:p>
        </p:txBody>
      </p:sp>
      <p:sp>
        <p:nvSpPr>
          <p:cNvPr id="111" name="Shape 109"/>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12" name="Text 11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Boyle's law</a:t>
            </a:r>
            <a:endParaRPr lang="en-US" sz="1300" dirty="0"/>
          </a:p>
        </p:txBody>
      </p:sp>
      <p:sp>
        <p:nvSpPr>
          <p:cNvPr id="113" name="Text 111"/>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For a </a:t>
            </a:r>
            <a:r>
              <a:rPr lang="en-US" sz="1100" b="1" dirty="0">
                <a:solidFill>
                  <a:srgbClr val="262B3A"/>
                </a:solidFill>
                <a:latin typeface="Calibri" pitchFamily="34" charset="0"/>
                <a:ea typeface="Calibri" pitchFamily="34" charset="-122"/>
                <a:cs typeface="Calibri" pitchFamily="34" charset="-120"/>
              </a:rPr>
              <a:t>fixed mass</a:t>
            </a:r>
            <a:r>
              <a:rPr lang="en-US" sz="1100" dirty="0">
                <a:solidFill>
                  <a:srgbClr val="262B3A"/>
                </a:solidFill>
                <a:latin typeface="Calibri" pitchFamily="34" charset="0"/>
                <a:ea typeface="Calibri" pitchFamily="34" charset="-122"/>
                <a:cs typeface="Calibri" pitchFamily="34" charset="-120"/>
              </a:rPr>
              <a:t> of gas at </a:t>
            </a:r>
            <a:r>
              <a:rPr lang="en-US" sz="1100" b="1" dirty="0">
                <a:solidFill>
                  <a:srgbClr val="262B3A"/>
                </a:solidFill>
                <a:latin typeface="Calibri" pitchFamily="34" charset="0"/>
                <a:ea typeface="Calibri" pitchFamily="34" charset="-122"/>
                <a:cs typeface="Calibri" pitchFamily="34" charset="-120"/>
              </a:rPr>
              <a:t>constant temperature</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p × V = constant</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GIVEN</a:t>
            </a:r>
            <a:r>
              <a:rPr lang="en-US" sz="1100" dirty="0">
                <a:solidFill>
                  <a:srgbClr val="262B3A"/>
                </a:solidFill>
                <a:latin typeface="Calibri" pitchFamily="34" charset="0"/>
                <a:ea typeface="Calibri" pitchFamily="34" charset="-122"/>
                <a:cs typeface="Calibri" pitchFamily="34" charset="-120"/>
              </a:rPr>
              <a:t> on the equation sheet).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So </a:t>
            </a:r>
            <a:r>
              <a:rPr lang="en-US" sz="1100" b="1" dirty="0">
                <a:solidFill>
                  <a:srgbClr val="262B3A"/>
                </a:solidFill>
                <a:latin typeface="Calibri" pitchFamily="34" charset="0"/>
                <a:ea typeface="Calibri" pitchFamily="34" charset="-122"/>
                <a:cs typeface="Calibri" pitchFamily="34" charset="-120"/>
              </a:rPr>
              <a:t>p₁ × V₁ = p₂ × V₂</a:t>
            </a:r>
            <a:r>
              <a:rPr lang="en-US" sz="1100" dirty="0">
                <a:solidFill>
                  <a:srgbClr val="262B3A"/>
                </a:solidFill>
                <a:latin typeface="Calibri" pitchFamily="34" charset="0"/>
                <a:ea typeface="Calibri" pitchFamily="34" charset="-122"/>
                <a:cs typeface="Calibri" pitchFamily="34" charset="-120"/>
              </a:rPr>
              <a:t>: if the volume halves, the pressure doubles.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Particles:</a:t>
            </a:r>
            <a:r>
              <a:rPr lang="en-US" sz="1100" dirty="0">
                <a:solidFill>
                  <a:srgbClr val="262B3A"/>
                </a:solidFill>
                <a:latin typeface="Calibri" pitchFamily="34" charset="0"/>
                <a:ea typeface="Calibri" pitchFamily="34" charset="-122"/>
                <a:cs typeface="Calibri" pitchFamily="34" charset="-120"/>
              </a:rPr>
              <a:t> in a smaller volume the same particles hit the walls </a:t>
            </a:r>
            <a:r>
              <a:rPr lang="en-US" sz="1100" b="1" dirty="0">
                <a:solidFill>
                  <a:srgbClr val="262B3A"/>
                </a:solidFill>
                <a:latin typeface="Calibri" pitchFamily="34" charset="0"/>
                <a:ea typeface="Calibri" pitchFamily="34" charset="-122"/>
                <a:cs typeface="Calibri" pitchFamily="34" charset="-120"/>
              </a:rPr>
              <a:t>more often</a:t>
            </a:r>
            <a:r>
              <a:rPr lang="en-US" sz="1100" dirty="0">
                <a:solidFill>
                  <a:srgbClr val="262B3A"/>
                </a:solidFill>
                <a:latin typeface="Calibri" pitchFamily="34" charset="0"/>
                <a:ea typeface="Calibri" pitchFamily="34" charset="-122"/>
                <a:cs typeface="Calibri" pitchFamily="34" charset="-120"/>
              </a:rPr>
              <a:t> (same speed), so the pressure is bigger.</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Any units work if both sides match (Pa and m³, or kPa and cm³).</a:t>
            </a:r>
            <a:endParaRPr lang="en-US" sz="1100" dirty="0"/>
          </a:p>
        </p:txBody>
      </p:sp>
      <p:sp>
        <p:nvSpPr>
          <p:cNvPr id="114" name="Shape 112"/>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15" name="Text 113"/>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116" name="Text 114"/>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pump holds 150 cm³ of air at 100 kPa. It is squashed slowly to 60 cm³. Calculate the new pressure.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Equation   </a:t>
            </a:r>
            <a:r>
              <a:rPr lang="en-US" sz="1050" dirty="0">
                <a:solidFill>
                  <a:srgbClr val="262B3A"/>
                </a:solidFill>
                <a:latin typeface="Calibri" pitchFamily="34" charset="0"/>
                <a:ea typeface="Calibri" pitchFamily="34" charset="-122"/>
                <a:cs typeface="Calibri" pitchFamily="34" charset="-120"/>
              </a:rPr>
              <a:t>p₁ × V₁ = p₂ × V₂</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Rearrange   </a:t>
            </a:r>
            <a:r>
              <a:rPr lang="en-US" sz="1050" dirty="0">
                <a:solidFill>
                  <a:srgbClr val="262B3A"/>
                </a:solidFill>
                <a:latin typeface="Calibri" pitchFamily="34" charset="0"/>
                <a:ea typeface="Calibri" pitchFamily="34" charset="-122"/>
                <a:cs typeface="Calibri" pitchFamily="34" charset="-120"/>
              </a:rPr>
              <a:t>p₂ = p₁ × V₁ ÷ V₂</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Substitute   </a:t>
            </a:r>
            <a:r>
              <a:rPr lang="en-US" sz="1050" dirty="0">
                <a:solidFill>
                  <a:srgbClr val="262B3A"/>
                </a:solidFill>
                <a:latin typeface="Calibri" pitchFamily="34" charset="0"/>
                <a:ea typeface="Calibri" pitchFamily="34" charset="-122"/>
                <a:cs typeface="Calibri" pitchFamily="34" charset="-120"/>
              </a:rPr>
              <a:t>p₂ = 100 × 150 ÷ 60</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p₂ = 250 kPa</a:t>
            </a:r>
            <a:endParaRPr lang="en-US" sz="1050" dirty="0"/>
          </a:p>
        </p:txBody>
      </p:sp>
      <p:sp>
        <p:nvSpPr>
          <p:cNvPr id="117" name="Shape 115"/>
          <p:cNvSpPr/>
          <p:nvPr/>
        </p:nvSpPr>
        <p:spPr>
          <a:xfrm>
            <a:off x="411480" y="5833872"/>
            <a:ext cx="11368735" cy="530352"/>
          </a:xfrm>
          <a:prstGeom prst="rect">
            <a:avLst/>
          </a:prstGeom>
          <a:solidFill>
            <a:srgbClr val="FFF4E0"/>
          </a:solidFill>
          <a:ln w="6350">
            <a:solidFill>
              <a:srgbClr val="F1D9A8"/>
            </a:solidFill>
            <a:prstDash val="solid"/>
          </a:ln>
        </p:spPr>
      </p:sp>
      <p:sp>
        <p:nvSpPr>
          <p:cNvPr id="118" name="Shape 116"/>
          <p:cNvSpPr/>
          <p:nvPr/>
        </p:nvSpPr>
        <p:spPr>
          <a:xfrm>
            <a:off x="411480" y="5833872"/>
            <a:ext cx="82296" cy="530352"/>
          </a:xfrm>
          <a:prstGeom prst="rect">
            <a:avLst/>
          </a:prstGeom>
          <a:solidFill>
            <a:srgbClr val="E39A2F"/>
          </a:solidFill>
          <a:ln w="12700">
            <a:solidFill>
              <a:srgbClr val="E39A2F"/>
            </a:solidFill>
            <a:prstDash val="solid"/>
          </a:ln>
        </p:spPr>
      </p:sp>
      <p:sp>
        <p:nvSpPr>
          <p:cNvPr id="119" name="Text 11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HT: 2.0 m³ of gas at 1.0 × 10</a:t>
            </a:r>
            <a:r>
              <a:rPr lang="en-US" sz="1150" baseline="30000" dirty="0">
                <a:solidFill>
                  <a:srgbClr val="262B3A"/>
                </a:solidFill>
                <a:latin typeface="Calibri" pitchFamily="34" charset="0"/>
                <a:ea typeface="Calibri" pitchFamily="34" charset="-122"/>
                <a:cs typeface="Calibri" pitchFamily="34" charset="-120"/>
              </a:rPr>
              <a:t>5</a:t>
            </a:r>
            <a:r>
              <a:rPr lang="en-US" sz="1150" dirty="0">
                <a:solidFill>
                  <a:srgbClr val="262B3A"/>
                </a:solidFill>
                <a:latin typeface="Calibri" pitchFamily="34" charset="0"/>
                <a:ea typeface="Calibri" pitchFamily="34" charset="-122"/>
                <a:cs typeface="Calibri" pitchFamily="34" charset="-120"/>
              </a:rPr>
              <a:t> Pa expands to 5.0 m³ at constant temperature. Calculate the new pressure.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p–V graphs: a curve and a straight line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P6.2.5 • sample syringe results, fixed mass of air at room temperature</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P6.2.5  |  16</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both graphs drawn to scale from the table; best-fit p = 6000 ÷ V</a:t>
            </a:r>
            <a:endParaRPr lang="en-US" sz="1000" dirty="0"/>
          </a:p>
        </p:txBody>
      </p:sp>
      <p:sp>
        <p:nvSpPr>
          <p:cNvPr id="12" name="Text 10"/>
          <p:cNvSpPr/>
          <p:nvPr/>
        </p:nvSpPr>
        <p:spPr>
          <a:xfrm>
            <a:off x="548640" y="1280160"/>
            <a:ext cx="265176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p against V: a curve</a:t>
            </a:r>
            <a:endParaRPr lang="en-US" sz="1100" dirty="0"/>
          </a:p>
        </p:txBody>
      </p:sp>
      <p:sp>
        <p:nvSpPr>
          <p:cNvPr id="13" name="Text 11"/>
          <p:cNvSpPr/>
          <p:nvPr/>
        </p:nvSpPr>
        <p:spPr>
          <a:xfrm>
            <a:off x="3246120" y="1280160"/>
            <a:ext cx="265176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p against 1/V: straight line</a:t>
            </a:r>
            <a:endParaRPr lang="en-US" sz="1100" dirty="0"/>
          </a:p>
        </p:txBody>
      </p:sp>
      <p:sp>
        <p:nvSpPr>
          <p:cNvPr id="14" name="Shape 12"/>
          <p:cNvSpPr/>
          <p:nvPr/>
        </p:nvSpPr>
        <p:spPr>
          <a:xfrm>
            <a:off x="1143000" y="1691640"/>
            <a:ext cx="1874520" cy="2926080"/>
          </a:xfrm>
          <a:prstGeom prst="rect">
            <a:avLst/>
          </a:prstGeom>
          <a:solidFill>
            <a:srgbClr val="FFFFFF"/>
          </a:solidFill>
          <a:ln/>
        </p:spPr>
      </p:sp>
      <p:sp>
        <p:nvSpPr>
          <p:cNvPr id="15" name="Shape 13"/>
          <p:cNvSpPr/>
          <p:nvPr/>
        </p:nvSpPr>
        <p:spPr>
          <a:xfrm>
            <a:off x="1143000" y="1691640"/>
            <a:ext cx="91" cy="2926080"/>
          </a:xfrm>
          <a:prstGeom prst="line">
            <a:avLst/>
          </a:prstGeom>
          <a:noFill/>
          <a:ln w="6350">
            <a:solidFill>
              <a:srgbClr val="C9D3E6"/>
            </a:solidFill>
            <a:prstDash val="solid"/>
          </a:ln>
        </p:spPr>
      </p:sp>
      <p:sp>
        <p:nvSpPr>
          <p:cNvPr id="16" name="Shape 14"/>
          <p:cNvSpPr/>
          <p:nvPr/>
        </p:nvSpPr>
        <p:spPr>
          <a:xfrm>
            <a:off x="1455420" y="1691640"/>
            <a:ext cx="91" cy="2926080"/>
          </a:xfrm>
          <a:prstGeom prst="line">
            <a:avLst/>
          </a:prstGeom>
          <a:noFill/>
          <a:ln w="6350">
            <a:solidFill>
              <a:srgbClr val="E6EBF4"/>
            </a:solidFill>
            <a:prstDash val="solid"/>
          </a:ln>
        </p:spPr>
      </p:sp>
      <p:sp>
        <p:nvSpPr>
          <p:cNvPr id="17" name="Shape 15"/>
          <p:cNvSpPr/>
          <p:nvPr/>
        </p:nvSpPr>
        <p:spPr>
          <a:xfrm>
            <a:off x="1767840" y="1691640"/>
            <a:ext cx="91" cy="2926080"/>
          </a:xfrm>
          <a:prstGeom prst="line">
            <a:avLst/>
          </a:prstGeom>
          <a:noFill/>
          <a:ln w="6350">
            <a:solidFill>
              <a:srgbClr val="C9D3E6"/>
            </a:solidFill>
            <a:prstDash val="solid"/>
          </a:ln>
        </p:spPr>
      </p:sp>
      <p:sp>
        <p:nvSpPr>
          <p:cNvPr id="18" name="Shape 16"/>
          <p:cNvSpPr/>
          <p:nvPr/>
        </p:nvSpPr>
        <p:spPr>
          <a:xfrm>
            <a:off x="2080260" y="1691640"/>
            <a:ext cx="91" cy="2926080"/>
          </a:xfrm>
          <a:prstGeom prst="line">
            <a:avLst/>
          </a:prstGeom>
          <a:noFill/>
          <a:ln w="6350">
            <a:solidFill>
              <a:srgbClr val="E6EBF4"/>
            </a:solidFill>
            <a:prstDash val="solid"/>
          </a:ln>
        </p:spPr>
      </p:sp>
      <p:sp>
        <p:nvSpPr>
          <p:cNvPr id="19" name="Shape 17"/>
          <p:cNvSpPr/>
          <p:nvPr/>
        </p:nvSpPr>
        <p:spPr>
          <a:xfrm>
            <a:off x="2392680" y="1691640"/>
            <a:ext cx="91" cy="2926080"/>
          </a:xfrm>
          <a:prstGeom prst="line">
            <a:avLst/>
          </a:prstGeom>
          <a:noFill/>
          <a:ln w="6350">
            <a:solidFill>
              <a:srgbClr val="C9D3E6"/>
            </a:solidFill>
            <a:prstDash val="solid"/>
          </a:ln>
        </p:spPr>
      </p:sp>
      <p:sp>
        <p:nvSpPr>
          <p:cNvPr id="20" name="Shape 18"/>
          <p:cNvSpPr/>
          <p:nvPr/>
        </p:nvSpPr>
        <p:spPr>
          <a:xfrm>
            <a:off x="2705100" y="1691640"/>
            <a:ext cx="91" cy="2926080"/>
          </a:xfrm>
          <a:prstGeom prst="line">
            <a:avLst/>
          </a:prstGeom>
          <a:noFill/>
          <a:ln w="6350">
            <a:solidFill>
              <a:srgbClr val="E6EBF4"/>
            </a:solidFill>
            <a:prstDash val="solid"/>
          </a:ln>
        </p:spPr>
      </p:sp>
      <p:sp>
        <p:nvSpPr>
          <p:cNvPr id="21" name="Shape 19"/>
          <p:cNvSpPr/>
          <p:nvPr/>
        </p:nvSpPr>
        <p:spPr>
          <a:xfrm>
            <a:off x="3017520" y="1691640"/>
            <a:ext cx="91" cy="2926080"/>
          </a:xfrm>
          <a:prstGeom prst="line">
            <a:avLst/>
          </a:prstGeom>
          <a:noFill/>
          <a:ln w="6350">
            <a:solidFill>
              <a:srgbClr val="C9D3E6"/>
            </a:solidFill>
            <a:prstDash val="solid"/>
          </a:ln>
        </p:spPr>
      </p:sp>
      <p:sp>
        <p:nvSpPr>
          <p:cNvPr id="22" name="Shape 20"/>
          <p:cNvSpPr/>
          <p:nvPr/>
        </p:nvSpPr>
        <p:spPr>
          <a:xfrm>
            <a:off x="1143000" y="4617720"/>
            <a:ext cx="1874520" cy="91"/>
          </a:xfrm>
          <a:prstGeom prst="line">
            <a:avLst/>
          </a:prstGeom>
          <a:noFill/>
          <a:ln w="6350">
            <a:solidFill>
              <a:srgbClr val="C9D3E6"/>
            </a:solidFill>
            <a:prstDash val="solid"/>
          </a:ln>
        </p:spPr>
      </p:sp>
      <p:sp>
        <p:nvSpPr>
          <p:cNvPr id="23" name="Shape 21"/>
          <p:cNvSpPr/>
          <p:nvPr/>
        </p:nvSpPr>
        <p:spPr>
          <a:xfrm>
            <a:off x="1143000" y="4408714"/>
            <a:ext cx="1874520" cy="91"/>
          </a:xfrm>
          <a:prstGeom prst="line">
            <a:avLst/>
          </a:prstGeom>
          <a:noFill/>
          <a:ln w="6350">
            <a:solidFill>
              <a:srgbClr val="E6EBF4"/>
            </a:solidFill>
            <a:prstDash val="solid"/>
          </a:ln>
        </p:spPr>
      </p:sp>
      <p:sp>
        <p:nvSpPr>
          <p:cNvPr id="24" name="Shape 22"/>
          <p:cNvSpPr/>
          <p:nvPr/>
        </p:nvSpPr>
        <p:spPr>
          <a:xfrm>
            <a:off x="1143000" y="4199709"/>
            <a:ext cx="1874520" cy="91"/>
          </a:xfrm>
          <a:prstGeom prst="line">
            <a:avLst/>
          </a:prstGeom>
          <a:noFill/>
          <a:ln w="6350">
            <a:solidFill>
              <a:srgbClr val="C9D3E6"/>
            </a:solidFill>
            <a:prstDash val="solid"/>
          </a:ln>
        </p:spPr>
      </p:sp>
      <p:sp>
        <p:nvSpPr>
          <p:cNvPr id="25" name="Shape 23"/>
          <p:cNvSpPr/>
          <p:nvPr/>
        </p:nvSpPr>
        <p:spPr>
          <a:xfrm>
            <a:off x="1143000" y="3990703"/>
            <a:ext cx="1874520" cy="91"/>
          </a:xfrm>
          <a:prstGeom prst="line">
            <a:avLst/>
          </a:prstGeom>
          <a:noFill/>
          <a:ln w="6350">
            <a:solidFill>
              <a:srgbClr val="E6EBF4"/>
            </a:solidFill>
            <a:prstDash val="solid"/>
          </a:ln>
        </p:spPr>
      </p:sp>
      <p:sp>
        <p:nvSpPr>
          <p:cNvPr id="26" name="Shape 24"/>
          <p:cNvSpPr/>
          <p:nvPr/>
        </p:nvSpPr>
        <p:spPr>
          <a:xfrm>
            <a:off x="1143000" y="3781697"/>
            <a:ext cx="1874520" cy="91"/>
          </a:xfrm>
          <a:prstGeom prst="line">
            <a:avLst/>
          </a:prstGeom>
          <a:noFill/>
          <a:ln w="6350">
            <a:solidFill>
              <a:srgbClr val="C9D3E6"/>
            </a:solidFill>
            <a:prstDash val="solid"/>
          </a:ln>
        </p:spPr>
      </p:sp>
      <p:sp>
        <p:nvSpPr>
          <p:cNvPr id="27" name="Shape 25"/>
          <p:cNvSpPr/>
          <p:nvPr/>
        </p:nvSpPr>
        <p:spPr>
          <a:xfrm>
            <a:off x="1143000" y="3572691"/>
            <a:ext cx="1874520" cy="91"/>
          </a:xfrm>
          <a:prstGeom prst="line">
            <a:avLst/>
          </a:prstGeom>
          <a:noFill/>
          <a:ln w="6350">
            <a:solidFill>
              <a:srgbClr val="E6EBF4"/>
            </a:solidFill>
            <a:prstDash val="solid"/>
          </a:ln>
        </p:spPr>
      </p:sp>
      <p:sp>
        <p:nvSpPr>
          <p:cNvPr id="28" name="Shape 26"/>
          <p:cNvSpPr/>
          <p:nvPr/>
        </p:nvSpPr>
        <p:spPr>
          <a:xfrm>
            <a:off x="1143000" y="3363686"/>
            <a:ext cx="1874520" cy="91"/>
          </a:xfrm>
          <a:prstGeom prst="line">
            <a:avLst/>
          </a:prstGeom>
          <a:noFill/>
          <a:ln w="6350">
            <a:solidFill>
              <a:srgbClr val="C9D3E6"/>
            </a:solidFill>
            <a:prstDash val="solid"/>
          </a:ln>
        </p:spPr>
      </p:sp>
      <p:sp>
        <p:nvSpPr>
          <p:cNvPr id="29" name="Shape 27"/>
          <p:cNvSpPr/>
          <p:nvPr/>
        </p:nvSpPr>
        <p:spPr>
          <a:xfrm>
            <a:off x="1143000" y="3154680"/>
            <a:ext cx="1874520" cy="91"/>
          </a:xfrm>
          <a:prstGeom prst="line">
            <a:avLst/>
          </a:prstGeom>
          <a:noFill/>
          <a:ln w="6350">
            <a:solidFill>
              <a:srgbClr val="E6EBF4"/>
            </a:solidFill>
            <a:prstDash val="solid"/>
          </a:ln>
        </p:spPr>
      </p:sp>
      <p:sp>
        <p:nvSpPr>
          <p:cNvPr id="30" name="Shape 28"/>
          <p:cNvSpPr/>
          <p:nvPr/>
        </p:nvSpPr>
        <p:spPr>
          <a:xfrm>
            <a:off x="1143000" y="2945674"/>
            <a:ext cx="1874520" cy="91"/>
          </a:xfrm>
          <a:prstGeom prst="line">
            <a:avLst/>
          </a:prstGeom>
          <a:noFill/>
          <a:ln w="6350">
            <a:solidFill>
              <a:srgbClr val="C9D3E6"/>
            </a:solidFill>
            <a:prstDash val="solid"/>
          </a:ln>
        </p:spPr>
      </p:sp>
      <p:sp>
        <p:nvSpPr>
          <p:cNvPr id="31" name="Shape 29"/>
          <p:cNvSpPr/>
          <p:nvPr/>
        </p:nvSpPr>
        <p:spPr>
          <a:xfrm>
            <a:off x="1143000" y="2736669"/>
            <a:ext cx="1874520" cy="91"/>
          </a:xfrm>
          <a:prstGeom prst="line">
            <a:avLst/>
          </a:prstGeom>
          <a:noFill/>
          <a:ln w="6350">
            <a:solidFill>
              <a:srgbClr val="E6EBF4"/>
            </a:solidFill>
            <a:prstDash val="solid"/>
          </a:ln>
        </p:spPr>
      </p:sp>
      <p:sp>
        <p:nvSpPr>
          <p:cNvPr id="32" name="Shape 30"/>
          <p:cNvSpPr/>
          <p:nvPr/>
        </p:nvSpPr>
        <p:spPr>
          <a:xfrm>
            <a:off x="1143000" y="2527663"/>
            <a:ext cx="1874520" cy="91"/>
          </a:xfrm>
          <a:prstGeom prst="line">
            <a:avLst/>
          </a:prstGeom>
          <a:noFill/>
          <a:ln w="6350">
            <a:solidFill>
              <a:srgbClr val="C9D3E6"/>
            </a:solidFill>
            <a:prstDash val="solid"/>
          </a:ln>
        </p:spPr>
      </p:sp>
      <p:sp>
        <p:nvSpPr>
          <p:cNvPr id="33" name="Shape 31"/>
          <p:cNvSpPr/>
          <p:nvPr/>
        </p:nvSpPr>
        <p:spPr>
          <a:xfrm>
            <a:off x="1143000" y="2318657"/>
            <a:ext cx="1874520" cy="91"/>
          </a:xfrm>
          <a:prstGeom prst="line">
            <a:avLst/>
          </a:prstGeom>
          <a:noFill/>
          <a:ln w="6350">
            <a:solidFill>
              <a:srgbClr val="E6EBF4"/>
            </a:solidFill>
            <a:prstDash val="solid"/>
          </a:ln>
        </p:spPr>
      </p:sp>
      <p:sp>
        <p:nvSpPr>
          <p:cNvPr id="34" name="Shape 32"/>
          <p:cNvSpPr/>
          <p:nvPr/>
        </p:nvSpPr>
        <p:spPr>
          <a:xfrm>
            <a:off x="1143000" y="2109651"/>
            <a:ext cx="1874520" cy="91"/>
          </a:xfrm>
          <a:prstGeom prst="line">
            <a:avLst/>
          </a:prstGeom>
          <a:noFill/>
          <a:ln w="6350">
            <a:solidFill>
              <a:srgbClr val="C9D3E6"/>
            </a:solidFill>
            <a:prstDash val="solid"/>
          </a:ln>
        </p:spPr>
      </p:sp>
      <p:sp>
        <p:nvSpPr>
          <p:cNvPr id="35" name="Shape 33"/>
          <p:cNvSpPr/>
          <p:nvPr/>
        </p:nvSpPr>
        <p:spPr>
          <a:xfrm>
            <a:off x="1143000" y="1900646"/>
            <a:ext cx="1874520" cy="91"/>
          </a:xfrm>
          <a:prstGeom prst="line">
            <a:avLst/>
          </a:prstGeom>
          <a:noFill/>
          <a:ln w="6350">
            <a:solidFill>
              <a:srgbClr val="E6EBF4"/>
            </a:solidFill>
            <a:prstDash val="solid"/>
          </a:ln>
        </p:spPr>
      </p:sp>
      <p:sp>
        <p:nvSpPr>
          <p:cNvPr id="36" name="Shape 34"/>
          <p:cNvSpPr/>
          <p:nvPr/>
        </p:nvSpPr>
        <p:spPr>
          <a:xfrm>
            <a:off x="1143000" y="1691640"/>
            <a:ext cx="1874520" cy="91"/>
          </a:xfrm>
          <a:prstGeom prst="line">
            <a:avLst/>
          </a:prstGeom>
          <a:noFill/>
          <a:ln w="6350">
            <a:solidFill>
              <a:srgbClr val="C9D3E6"/>
            </a:solidFill>
            <a:prstDash val="solid"/>
          </a:ln>
        </p:spPr>
      </p:sp>
      <p:sp>
        <p:nvSpPr>
          <p:cNvPr id="37" name="Shape 35"/>
          <p:cNvSpPr/>
          <p:nvPr/>
        </p:nvSpPr>
        <p:spPr>
          <a:xfrm>
            <a:off x="1143000" y="4617720"/>
            <a:ext cx="1874520" cy="91"/>
          </a:xfrm>
          <a:prstGeom prst="line">
            <a:avLst/>
          </a:prstGeom>
          <a:noFill/>
          <a:ln w="19050">
            <a:solidFill>
              <a:srgbClr val="1A2340"/>
            </a:solidFill>
            <a:prstDash val="solid"/>
          </a:ln>
        </p:spPr>
      </p:sp>
      <p:sp>
        <p:nvSpPr>
          <p:cNvPr id="38" name="Shape 36"/>
          <p:cNvSpPr/>
          <p:nvPr/>
        </p:nvSpPr>
        <p:spPr>
          <a:xfrm flipV="1">
            <a:off x="1143000" y="1691640"/>
            <a:ext cx="91" cy="2926080"/>
          </a:xfrm>
          <a:prstGeom prst="line">
            <a:avLst/>
          </a:prstGeom>
          <a:noFill/>
          <a:ln w="19050">
            <a:solidFill>
              <a:srgbClr val="1A2340"/>
            </a:solidFill>
            <a:prstDash val="solid"/>
          </a:ln>
        </p:spPr>
      </p:sp>
      <p:sp>
        <p:nvSpPr>
          <p:cNvPr id="39" name="Shape 37"/>
          <p:cNvSpPr/>
          <p:nvPr/>
        </p:nvSpPr>
        <p:spPr>
          <a:xfrm>
            <a:off x="1143000" y="4617720"/>
            <a:ext cx="91" cy="54864"/>
          </a:xfrm>
          <a:prstGeom prst="line">
            <a:avLst/>
          </a:prstGeom>
          <a:noFill/>
          <a:ln w="12700">
            <a:solidFill>
              <a:srgbClr val="1A2340"/>
            </a:solidFill>
            <a:prstDash val="solid"/>
          </a:ln>
        </p:spPr>
      </p:sp>
      <p:sp>
        <p:nvSpPr>
          <p:cNvPr id="40" name="Text 38"/>
          <p:cNvSpPr/>
          <p:nvPr/>
        </p:nvSpPr>
        <p:spPr>
          <a:xfrm>
            <a:off x="868680" y="4672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1" name="Shape 39"/>
          <p:cNvSpPr/>
          <p:nvPr/>
        </p:nvSpPr>
        <p:spPr>
          <a:xfrm>
            <a:off x="1767840" y="4617720"/>
            <a:ext cx="91" cy="54864"/>
          </a:xfrm>
          <a:prstGeom prst="line">
            <a:avLst/>
          </a:prstGeom>
          <a:noFill/>
          <a:ln w="12700">
            <a:solidFill>
              <a:srgbClr val="1A2340"/>
            </a:solidFill>
            <a:prstDash val="solid"/>
          </a:ln>
        </p:spPr>
      </p:sp>
      <p:sp>
        <p:nvSpPr>
          <p:cNvPr id="42" name="Text 40"/>
          <p:cNvSpPr/>
          <p:nvPr/>
        </p:nvSpPr>
        <p:spPr>
          <a:xfrm>
            <a:off x="1493520" y="4672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3" name="Shape 41"/>
          <p:cNvSpPr/>
          <p:nvPr/>
        </p:nvSpPr>
        <p:spPr>
          <a:xfrm>
            <a:off x="2392680" y="4617720"/>
            <a:ext cx="91" cy="54864"/>
          </a:xfrm>
          <a:prstGeom prst="line">
            <a:avLst/>
          </a:prstGeom>
          <a:noFill/>
          <a:ln w="12700">
            <a:solidFill>
              <a:srgbClr val="1A2340"/>
            </a:solidFill>
            <a:prstDash val="solid"/>
          </a:ln>
        </p:spPr>
      </p:sp>
      <p:sp>
        <p:nvSpPr>
          <p:cNvPr id="44" name="Text 42"/>
          <p:cNvSpPr/>
          <p:nvPr/>
        </p:nvSpPr>
        <p:spPr>
          <a:xfrm>
            <a:off x="2118360" y="4672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45" name="Shape 43"/>
          <p:cNvSpPr/>
          <p:nvPr/>
        </p:nvSpPr>
        <p:spPr>
          <a:xfrm>
            <a:off x="3017520" y="4617720"/>
            <a:ext cx="91" cy="54864"/>
          </a:xfrm>
          <a:prstGeom prst="line">
            <a:avLst/>
          </a:prstGeom>
          <a:noFill/>
          <a:ln w="12700">
            <a:solidFill>
              <a:srgbClr val="1A2340"/>
            </a:solidFill>
            <a:prstDash val="solid"/>
          </a:ln>
        </p:spPr>
      </p:sp>
      <p:sp>
        <p:nvSpPr>
          <p:cNvPr id="46" name="Text 44"/>
          <p:cNvSpPr/>
          <p:nvPr/>
        </p:nvSpPr>
        <p:spPr>
          <a:xfrm>
            <a:off x="2743200" y="4672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47" name="Shape 45"/>
          <p:cNvSpPr/>
          <p:nvPr/>
        </p:nvSpPr>
        <p:spPr>
          <a:xfrm>
            <a:off x="1088136" y="4617720"/>
            <a:ext cx="54864" cy="91"/>
          </a:xfrm>
          <a:prstGeom prst="line">
            <a:avLst/>
          </a:prstGeom>
          <a:noFill/>
          <a:ln w="12700">
            <a:solidFill>
              <a:srgbClr val="1A2340"/>
            </a:solidFill>
            <a:prstDash val="solid"/>
          </a:ln>
        </p:spPr>
      </p:sp>
      <p:sp>
        <p:nvSpPr>
          <p:cNvPr id="48" name="Text 46"/>
          <p:cNvSpPr/>
          <p:nvPr/>
        </p:nvSpPr>
        <p:spPr>
          <a:xfrm>
            <a:off x="704088" y="45262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9" name="Shape 47"/>
          <p:cNvSpPr/>
          <p:nvPr/>
        </p:nvSpPr>
        <p:spPr>
          <a:xfrm>
            <a:off x="1088136" y="4199709"/>
            <a:ext cx="54864" cy="91"/>
          </a:xfrm>
          <a:prstGeom prst="line">
            <a:avLst/>
          </a:prstGeom>
          <a:noFill/>
          <a:ln w="12700">
            <a:solidFill>
              <a:srgbClr val="1A2340"/>
            </a:solidFill>
            <a:prstDash val="solid"/>
          </a:ln>
        </p:spPr>
      </p:sp>
      <p:sp>
        <p:nvSpPr>
          <p:cNvPr id="50" name="Text 48"/>
          <p:cNvSpPr/>
          <p:nvPr/>
        </p:nvSpPr>
        <p:spPr>
          <a:xfrm>
            <a:off x="704088" y="4108269"/>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51" name="Shape 49"/>
          <p:cNvSpPr/>
          <p:nvPr/>
        </p:nvSpPr>
        <p:spPr>
          <a:xfrm>
            <a:off x="1088136" y="3781697"/>
            <a:ext cx="54864" cy="91"/>
          </a:xfrm>
          <a:prstGeom prst="line">
            <a:avLst/>
          </a:prstGeom>
          <a:noFill/>
          <a:ln w="12700">
            <a:solidFill>
              <a:srgbClr val="1A2340"/>
            </a:solidFill>
            <a:prstDash val="solid"/>
          </a:ln>
        </p:spPr>
      </p:sp>
      <p:sp>
        <p:nvSpPr>
          <p:cNvPr id="52" name="Text 50"/>
          <p:cNvSpPr/>
          <p:nvPr/>
        </p:nvSpPr>
        <p:spPr>
          <a:xfrm>
            <a:off x="704088" y="3690257"/>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53" name="Shape 51"/>
          <p:cNvSpPr/>
          <p:nvPr/>
        </p:nvSpPr>
        <p:spPr>
          <a:xfrm>
            <a:off x="1088136" y="3363686"/>
            <a:ext cx="54864" cy="91"/>
          </a:xfrm>
          <a:prstGeom prst="line">
            <a:avLst/>
          </a:prstGeom>
          <a:noFill/>
          <a:ln w="12700">
            <a:solidFill>
              <a:srgbClr val="1A2340"/>
            </a:solidFill>
            <a:prstDash val="solid"/>
          </a:ln>
        </p:spPr>
      </p:sp>
      <p:sp>
        <p:nvSpPr>
          <p:cNvPr id="54" name="Text 52"/>
          <p:cNvSpPr/>
          <p:nvPr/>
        </p:nvSpPr>
        <p:spPr>
          <a:xfrm>
            <a:off x="704088" y="327224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150</a:t>
            </a:r>
            <a:endParaRPr lang="en-US" sz="1000" dirty="0"/>
          </a:p>
        </p:txBody>
      </p:sp>
      <p:sp>
        <p:nvSpPr>
          <p:cNvPr id="55" name="Shape 53"/>
          <p:cNvSpPr/>
          <p:nvPr/>
        </p:nvSpPr>
        <p:spPr>
          <a:xfrm>
            <a:off x="1088136" y="2945674"/>
            <a:ext cx="54864" cy="91"/>
          </a:xfrm>
          <a:prstGeom prst="line">
            <a:avLst/>
          </a:prstGeom>
          <a:noFill/>
          <a:ln w="12700">
            <a:solidFill>
              <a:srgbClr val="1A2340"/>
            </a:solidFill>
            <a:prstDash val="solid"/>
          </a:ln>
        </p:spPr>
      </p:sp>
      <p:sp>
        <p:nvSpPr>
          <p:cNvPr id="56" name="Text 54"/>
          <p:cNvSpPr/>
          <p:nvPr/>
        </p:nvSpPr>
        <p:spPr>
          <a:xfrm>
            <a:off x="704088" y="285423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57" name="Shape 55"/>
          <p:cNvSpPr/>
          <p:nvPr/>
        </p:nvSpPr>
        <p:spPr>
          <a:xfrm>
            <a:off x="1088136" y="2527663"/>
            <a:ext cx="54864" cy="91"/>
          </a:xfrm>
          <a:prstGeom prst="line">
            <a:avLst/>
          </a:prstGeom>
          <a:noFill/>
          <a:ln w="12700">
            <a:solidFill>
              <a:srgbClr val="1A2340"/>
            </a:solidFill>
            <a:prstDash val="solid"/>
          </a:ln>
        </p:spPr>
      </p:sp>
      <p:sp>
        <p:nvSpPr>
          <p:cNvPr id="58" name="Text 56"/>
          <p:cNvSpPr/>
          <p:nvPr/>
        </p:nvSpPr>
        <p:spPr>
          <a:xfrm>
            <a:off x="704088" y="2436223"/>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250</a:t>
            </a:r>
            <a:endParaRPr lang="en-US" sz="1000" dirty="0"/>
          </a:p>
        </p:txBody>
      </p:sp>
      <p:sp>
        <p:nvSpPr>
          <p:cNvPr id="59" name="Shape 57"/>
          <p:cNvSpPr/>
          <p:nvPr/>
        </p:nvSpPr>
        <p:spPr>
          <a:xfrm>
            <a:off x="1088136" y="2109651"/>
            <a:ext cx="54864" cy="91"/>
          </a:xfrm>
          <a:prstGeom prst="line">
            <a:avLst/>
          </a:prstGeom>
          <a:noFill/>
          <a:ln w="12700">
            <a:solidFill>
              <a:srgbClr val="1A2340"/>
            </a:solidFill>
            <a:prstDash val="solid"/>
          </a:ln>
        </p:spPr>
      </p:sp>
      <p:sp>
        <p:nvSpPr>
          <p:cNvPr id="60" name="Text 58"/>
          <p:cNvSpPr/>
          <p:nvPr/>
        </p:nvSpPr>
        <p:spPr>
          <a:xfrm>
            <a:off x="704088" y="2018211"/>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300</a:t>
            </a:r>
            <a:endParaRPr lang="en-US" sz="1000" dirty="0"/>
          </a:p>
        </p:txBody>
      </p:sp>
      <p:sp>
        <p:nvSpPr>
          <p:cNvPr id="61" name="Shape 59"/>
          <p:cNvSpPr/>
          <p:nvPr/>
        </p:nvSpPr>
        <p:spPr>
          <a:xfrm>
            <a:off x="1088136" y="1691640"/>
            <a:ext cx="54864" cy="91"/>
          </a:xfrm>
          <a:prstGeom prst="line">
            <a:avLst/>
          </a:prstGeom>
          <a:noFill/>
          <a:ln w="12700">
            <a:solidFill>
              <a:srgbClr val="1A2340"/>
            </a:solidFill>
            <a:prstDash val="solid"/>
          </a:ln>
        </p:spPr>
      </p:sp>
      <p:sp>
        <p:nvSpPr>
          <p:cNvPr id="62" name="Text 60"/>
          <p:cNvSpPr/>
          <p:nvPr/>
        </p:nvSpPr>
        <p:spPr>
          <a:xfrm>
            <a:off x="704088" y="16002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350</a:t>
            </a:r>
            <a:endParaRPr lang="en-US" sz="1000" dirty="0"/>
          </a:p>
        </p:txBody>
      </p:sp>
      <p:sp>
        <p:nvSpPr>
          <p:cNvPr id="63" name="Text 61"/>
          <p:cNvSpPr/>
          <p:nvPr/>
        </p:nvSpPr>
        <p:spPr>
          <a:xfrm>
            <a:off x="1143000" y="4864608"/>
            <a:ext cx="18745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 / cm³</a:t>
            </a:r>
            <a:endParaRPr lang="en-US" sz="1050" dirty="0"/>
          </a:p>
        </p:txBody>
      </p:sp>
      <p:sp>
        <p:nvSpPr>
          <p:cNvPr id="64" name="Text 62"/>
          <p:cNvSpPr/>
          <p:nvPr/>
        </p:nvSpPr>
        <p:spPr>
          <a:xfrm rot="16200000">
            <a:off x="-886968" y="3026664"/>
            <a:ext cx="29260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 / kPa</a:t>
            </a:r>
            <a:endParaRPr lang="en-US" sz="1050" dirty="0"/>
          </a:p>
        </p:txBody>
      </p:sp>
      <p:sp>
        <p:nvSpPr>
          <p:cNvPr id="65" name="Shape 63"/>
          <p:cNvSpPr/>
          <p:nvPr/>
        </p:nvSpPr>
        <p:spPr>
          <a:xfrm>
            <a:off x="3840480" y="1691640"/>
            <a:ext cx="1874520" cy="2926080"/>
          </a:xfrm>
          <a:prstGeom prst="rect">
            <a:avLst/>
          </a:prstGeom>
          <a:solidFill>
            <a:srgbClr val="FFFFFF"/>
          </a:solidFill>
          <a:ln/>
        </p:spPr>
      </p:sp>
      <p:sp>
        <p:nvSpPr>
          <p:cNvPr id="66" name="Shape 64"/>
          <p:cNvSpPr/>
          <p:nvPr/>
        </p:nvSpPr>
        <p:spPr>
          <a:xfrm>
            <a:off x="3840480" y="1691640"/>
            <a:ext cx="91" cy="2926080"/>
          </a:xfrm>
          <a:prstGeom prst="line">
            <a:avLst/>
          </a:prstGeom>
          <a:noFill/>
          <a:ln w="6350">
            <a:solidFill>
              <a:srgbClr val="C9D3E6"/>
            </a:solidFill>
            <a:prstDash val="solid"/>
          </a:ln>
        </p:spPr>
      </p:sp>
      <p:sp>
        <p:nvSpPr>
          <p:cNvPr id="67" name="Shape 65"/>
          <p:cNvSpPr/>
          <p:nvPr/>
        </p:nvSpPr>
        <p:spPr>
          <a:xfrm>
            <a:off x="4152900" y="1691640"/>
            <a:ext cx="91" cy="2926080"/>
          </a:xfrm>
          <a:prstGeom prst="line">
            <a:avLst/>
          </a:prstGeom>
          <a:noFill/>
          <a:ln w="6350">
            <a:solidFill>
              <a:srgbClr val="E6EBF4"/>
            </a:solidFill>
            <a:prstDash val="solid"/>
          </a:ln>
        </p:spPr>
      </p:sp>
      <p:sp>
        <p:nvSpPr>
          <p:cNvPr id="68" name="Shape 66"/>
          <p:cNvSpPr/>
          <p:nvPr/>
        </p:nvSpPr>
        <p:spPr>
          <a:xfrm>
            <a:off x="4465320" y="1691640"/>
            <a:ext cx="91" cy="2926080"/>
          </a:xfrm>
          <a:prstGeom prst="line">
            <a:avLst/>
          </a:prstGeom>
          <a:noFill/>
          <a:ln w="6350">
            <a:solidFill>
              <a:srgbClr val="C9D3E6"/>
            </a:solidFill>
            <a:prstDash val="solid"/>
          </a:ln>
        </p:spPr>
      </p:sp>
      <p:sp>
        <p:nvSpPr>
          <p:cNvPr id="69" name="Shape 67"/>
          <p:cNvSpPr/>
          <p:nvPr/>
        </p:nvSpPr>
        <p:spPr>
          <a:xfrm>
            <a:off x="4777740" y="1691640"/>
            <a:ext cx="91" cy="2926080"/>
          </a:xfrm>
          <a:prstGeom prst="line">
            <a:avLst/>
          </a:prstGeom>
          <a:noFill/>
          <a:ln w="6350">
            <a:solidFill>
              <a:srgbClr val="E6EBF4"/>
            </a:solidFill>
            <a:prstDash val="solid"/>
          </a:ln>
        </p:spPr>
      </p:sp>
      <p:sp>
        <p:nvSpPr>
          <p:cNvPr id="70" name="Shape 68"/>
          <p:cNvSpPr/>
          <p:nvPr/>
        </p:nvSpPr>
        <p:spPr>
          <a:xfrm>
            <a:off x="5090160" y="1691640"/>
            <a:ext cx="91" cy="2926080"/>
          </a:xfrm>
          <a:prstGeom prst="line">
            <a:avLst/>
          </a:prstGeom>
          <a:noFill/>
          <a:ln w="6350">
            <a:solidFill>
              <a:srgbClr val="C9D3E6"/>
            </a:solidFill>
            <a:prstDash val="solid"/>
          </a:ln>
        </p:spPr>
      </p:sp>
      <p:sp>
        <p:nvSpPr>
          <p:cNvPr id="71" name="Shape 69"/>
          <p:cNvSpPr/>
          <p:nvPr/>
        </p:nvSpPr>
        <p:spPr>
          <a:xfrm>
            <a:off x="5402580" y="1691640"/>
            <a:ext cx="91" cy="2926080"/>
          </a:xfrm>
          <a:prstGeom prst="line">
            <a:avLst/>
          </a:prstGeom>
          <a:noFill/>
          <a:ln w="6350">
            <a:solidFill>
              <a:srgbClr val="E6EBF4"/>
            </a:solidFill>
            <a:prstDash val="solid"/>
          </a:ln>
        </p:spPr>
      </p:sp>
      <p:sp>
        <p:nvSpPr>
          <p:cNvPr id="72" name="Shape 70"/>
          <p:cNvSpPr/>
          <p:nvPr/>
        </p:nvSpPr>
        <p:spPr>
          <a:xfrm>
            <a:off x="5715000" y="1691640"/>
            <a:ext cx="91" cy="2926080"/>
          </a:xfrm>
          <a:prstGeom prst="line">
            <a:avLst/>
          </a:prstGeom>
          <a:noFill/>
          <a:ln w="6350">
            <a:solidFill>
              <a:srgbClr val="C9D3E6"/>
            </a:solidFill>
            <a:prstDash val="solid"/>
          </a:ln>
        </p:spPr>
      </p:sp>
      <p:sp>
        <p:nvSpPr>
          <p:cNvPr id="73" name="Shape 71"/>
          <p:cNvSpPr/>
          <p:nvPr/>
        </p:nvSpPr>
        <p:spPr>
          <a:xfrm>
            <a:off x="3840480" y="4617720"/>
            <a:ext cx="1874520" cy="91"/>
          </a:xfrm>
          <a:prstGeom prst="line">
            <a:avLst/>
          </a:prstGeom>
          <a:noFill/>
          <a:ln w="6350">
            <a:solidFill>
              <a:srgbClr val="C9D3E6"/>
            </a:solidFill>
            <a:prstDash val="solid"/>
          </a:ln>
        </p:spPr>
      </p:sp>
      <p:sp>
        <p:nvSpPr>
          <p:cNvPr id="74" name="Shape 72"/>
          <p:cNvSpPr/>
          <p:nvPr/>
        </p:nvSpPr>
        <p:spPr>
          <a:xfrm>
            <a:off x="3840480" y="4408714"/>
            <a:ext cx="1874520" cy="91"/>
          </a:xfrm>
          <a:prstGeom prst="line">
            <a:avLst/>
          </a:prstGeom>
          <a:noFill/>
          <a:ln w="6350">
            <a:solidFill>
              <a:srgbClr val="E6EBF4"/>
            </a:solidFill>
            <a:prstDash val="solid"/>
          </a:ln>
        </p:spPr>
      </p:sp>
      <p:sp>
        <p:nvSpPr>
          <p:cNvPr id="75" name="Shape 73"/>
          <p:cNvSpPr/>
          <p:nvPr/>
        </p:nvSpPr>
        <p:spPr>
          <a:xfrm>
            <a:off x="3840480" y="4199709"/>
            <a:ext cx="1874520" cy="91"/>
          </a:xfrm>
          <a:prstGeom prst="line">
            <a:avLst/>
          </a:prstGeom>
          <a:noFill/>
          <a:ln w="6350">
            <a:solidFill>
              <a:srgbClr val="C9D3E6"/>
            </a:solidFill>
            <a:prstDash val="solid"/>
          </a:ln>
        </p:spPr>
      </p:sp>
      <p:sp>
        <p:nvSpPr>
          <p:cNvPr id="76" name="Shape 74"/>
          <p:cNvSpPr/>
          <p:nvPr/>
        </p:nvSpPr>
        <p:spPr>
          <a:xfrm>
            <a:off x="3840480" y="3990703"/>
            <a:ext cx="1874520" cy="91"/>
          </a:xfrm>
          <a:prstGeom prst="line">
            <a:avLst/>
          </a:prstGeom>
          <a:noFill/>
          <a:ln w="6350">
            <a:solidFill>
              <a:srgbClr val="E6EBF4"/>
            </a:solidFill>
            <a:prstDash val="solid"/>
          </a:ln>
        </p:spPr>
      </p:sp>
      <p:sp>
        <p:nvSpPr>
          <p:cNvPr id="77" name="Shape 75"/>
          <p:cNvSpPr/>
          <p:nvPr/>
        </p:nvSpPr>
        <p:spPr>
          <a:xfrm>
            <a:off x="3840480" y="3781697"/>
            <a:ext cx="1874520" cy="91"/>
          </a:xfrm>
          <a:prstGeom prst="line">
            <a:avLst/>
          </a:prstGeom>
          <a:noFill/>
          <a:ln w="6350">
            <a:solidFill>
              <a:srgbClr val="C9D3E6"/>
            </a:solidFill>
            <a:prstDash val="solid"/>
          </a:ln>
        </p:spPr>
      </p:sp>
      <p:sp>
        <p:nvSpPr>
          <p:cNvPr id="78" name="Shape 76"/>
          <p:cNvSpPr/>
          <p:nvPr/>
        </p:nvSpPr>
        <p:spPr>
          <a:xfrm>
            <a:off x="3840480" y="3572691"/>
            <a:ext cx="1874520" cy="91"/>
          </a:xfrm>
          <a:prstGeom prst="line">
            <a:avLst/>
          </a:prstGeom>
          <a:noFill/>
          <a:ln w="6350">
            <a:solidFill>
              <a:srgbClr val="E6EBF4"/>
            </a:solidFill>
            <a:prstDash val="solid"/>
          </a:ln>
        </p:spPr>
      </p:sp>
      <p:sp>
        <p:nvSpPr>
          <p:cNvPr id="79" name="Shape 77"/>
          <p:cNvSpPr/>
          <p:nvPr/>
        </p:nvSpPr>
        <p:spPr>
          <a:xfrm>
            <a:off x="3840480" y="3363686"/>
            <a:ext cx="1874520" cy="91"/>
          </a:xfrm>
          <a:prstGeom prst="line">
            <a:avLst/>
          </a:prstGeom>
          <a:noFill/>
          <a:ln w="6350">
            <a:solidFill>
              <a:srgbClr val="C9D3E6"/>
            </a:solidFill>
            <a:prstDash val="solid"/>
          </a:ln>
        </p:spPr>
      </p:sp>
      <p:sp>
        <p:nvSpPr>
          <p:cNvPr id="80" name="Shape 78"/>
          <p:cNvSpPr/>
          <p:nvPr/>
        </p:nvSpPr>
        <p:spPr>
          <a:xfrm>
            <a:off x="3840480" y="3154680"/>
            <a:ext cx="1874520" cy="91"/>
          </a:xfrm>
          <a:prstGeom prst="line">
            <a:avLst/>
          </a:prstGeom>
          <a:noFill/>
          <a:ln w="6350">
            <a:solidFill>
              <a:srgbClr val="E6EBF4"/>
            </a:solidFill>
            <a:prstDash val="solid"/>
          </a:ln>
        </p:spPr>
      </p:sp>
      <p:sp>
        <p:nvSpPr>
          <p:cNvPr id="81" name="Shape 79"/>
          <p:cNvSpPr/>
          <p:nvPr/>
        </p:nvSpPr>
        <p:spPr>
          <a:xfrm>
            <a:off x="3840480" y="2945674"/>
            <a:ext cx="1874520" cy="91"/>
          </a:xfrm>
          <a:prstGeom prst="line">
            <a:avLst/>
          </a:prstGeom>
          <a:noFill/>
          <a:ln w="6350">
            <a:solidFill>
              <a:srgbClr val="C9D3E6"/>
            </a:solidFill>
            <a:prstDash val="solid"/>
          </a:ln>
        </p:spPr>
      </p:sp>
      <p:sp>
        <p:nvSpPr>
          <p:cNvPr id="82" name="Shape 80"/>
          <p:cNvSpPr/>
          <p:nvPr/>
        </p:nvSpPr>
        <p:spPr>
          <a:xfrm>
            <a:off x="3840480" y="2736669"/>
            <a:ext cx="1874520" cy="91"/>
          </a:xfrm>
          <a:prstGeom prst="line">
            <a:avLst/>
          </a:prstGeom>
          <a:noFill/>
          <a:ln w="6350">
            <a:solidFill>
              <a:srgbClr val="E6EBF4"/>
            </a:solidFill>
            <a:prstDash val="solid"/>
          </a:ln>
        </p:spPr>
      </p:sp>
      <p:sp>
        <p:nvSpPr>
          <p:cNvPr id="83" name="Shape 81"/>
          <p:cNvSpPr/>
          <p:nvPr/>
        </p:nvSpPr>
        <p:spPr>
          <a:xfrm>
            <a:off x="3840480" y="2527663"/>
            <a:ext cx="1874520" cy="91"/>
          </a:xfrm>
          <a:prstGeom prst="line">
            <a:avLst/>
          </a:prstGeom>
          <a:noFill/>
          <a:ln w="6350">
            <a:solidFill>
              <a:srgbClr val="C9D3E6"/>
            </a:solidFill>
            <a:prstDash val="solid"/>
          </a:ln>
        </p:spPr>
      </p:sp>
      <p:sp>
        <p:nvSpPr>
          <p:cNvPr id="84" name="Shape 82"/>
          <p:cNvSpPr/>
          <p:nvPr/>
        </p:nvSpPr>
        <p:spPr>
          <a:xfrm>
            <a:off x="3840480" y="2318657"/>
            <a:ext cx="1874520" cy="91"/>
          </a:xfrm>
          <a:prstGeom prst="line">
            <a:avLst/>
          </a:prstGeom>
          <a:noFill/>
          <a:ln w="6350">
            <a:solidFill>
              <a:srgbClr val="E6EBF4"/>
            </a:solidFill>
            <a:prstDash val="solid"/>
          </a:ln>
        </p:spPr>
      </p:sp>
      <p:sp>
        <p:nvSpPr>
          <p:cNvPr id="85" name="Shape 83"/>
          <p:cNvSpPr/>
          <p:nvPr/>
        </p:nvSpPr>
        <p:spPr>
          <a:xfrm>
            <a:off x="3840480" y="2109651"/>
            <a:ext cx="1874520" cy="91"/>
          </a:xfrm>
          <a:prstGeom prst="line">
            <a:avLst/>
          </a:prstGeom>
          <a:noFill/>
          <a:ln w="6350">
            <a:solidFill>
              <a:srgbClr val="C9D3E6"/>
            </a:solidFill>
            <a:prstDash val="solid"/>
          </a:ln>
        </p:spPr>
      </p:sp>
      <p:sp>
        <p:nvSpPr>
          <p:cNvPr id="86" name="Shape 84"/>
          <p:cNvSpPr/>
          <p:nvPr/>
        </p:nvSpPr>
        <p:spPr>
          <a:xfrm>
            <a:off x="3840480" y="1900646"/>
            <a:ext cx="1874520" cy="91"/>
          </a:xfrm>
          <a:prstGeom prst="line">
            <a:avLst/>
          </a:prstGeom>
          <a:noFill/>
          <a:ln w="6350">
            <a:solidFill>
              <a:srgbClr val="E6EBF4"/>
            </a:solidFill>
            <a:prstDash val="solid"/>
          </a:ln>
        </p:spPr>
      </p:sp>
      <p:sp>
        <p:nvSpPr>
          <p:cNvPr id="87" name="Shape 85"/>
          <p:cNvSpPr/>
          <p:nvPr/>
        </p:nvSpPr>
        <p:spPr>
          <a:xfrm>
            <a:off x="3840480" y="1691640"/>
            <a:ext cx="1874520" cy="91"/>
          </a:xfrm>
          <a:prstGeom prst="line">
            <a:avLst/>
          </a:prstGeom>
          <a:noFill/>
          <a:ln w="6350">
            <a:solidFill>
              <a:srgbClr val="C9D3E6"/>
            </a:solidFill>
            <a:prstDash val="solid"/>
          </a:ln>
        </p:spPr>
      </p:sp>
      <p:sp>
        <p:nvSpPr>
          <p:cNvPr id="88" name="Shape 86"/>
          <p:cNvSpPr/>
          <p:nvPr/>
        </p:nvSpPr>
        <p:spPr>
          <a:xfrm>
            <a:off x="3840480" y="4617720"/>
            <a:ext cx="1874520" cy="91"/>
          </a:xfrm>
          <a:prstGeom prst="line">
            <a:avLst/>
          </a:prstGeom>
          <a:noFill/>
          <a:ln w="19050">
            <a:solidFill>
              <a:srgbClr val="1A2340"/>
            </a:solidFill>
            <a:prstDash val="solid"/>
          </a:ln>
        </p:spPr>
      </p:sp>
      <p:sp>
        <p:nvSpPr>
          <p:cNvPr id="89" name="Shape 87"/>
          <p:cNvSpPr/>
          <p:nvPr/>
        </p:nvSpPr>
        <p:spPr>
          <a:xfrm flipV="1">
            <a:off x="3840480" y="1691640"/>
            <a:ext cx="91" cy="2926080"/>
          </a:xfrm>
          <a:prstGeom prst="line">
            <a:avLst/>
          </a:prstGeom>
          <a:noFill/>
          <a:ln w="19050">
            <a:solidFill>
              <a:srgbClr val="1A2340"/>
            </a:solidFill>
            <a:prstDash val="solid"/>
          </a:ln>
        </p:spPr>
      </p:sp>
      <p:sp>
        <p:nvSpPr>
          <p:cNvPr id="90" name="Shape 88"/>
          <p:cNvSpPr/>
          <p:nvPr/>
        </p:nvSpPr>
        <p:spPr>
          <a:xfrm>
            <a:off x="3840480" y="4617720"/>
            <a:ext cx="91" cy="54864"/>
          </a:xfrm>
          <a:prstGeom prst="line">
            <a:avLst/>
          </a:prstGeom>
          <a:noFill/>
          <a:ln w="12700">
            <a:solidFill>
              <a:srgbClr val="1A2340"/>
            </a:solidFill>
            <a:prstDash val="solid"/>
          </a:ln>
        </p:spPr>
      </p:sp>
      <p:sp>
        <p:nvSpPr>
          <p:cNvPr id="91" name="Text 89"/>
          <p:cNvSpPr/>
          <p:nvPr/>
        </p:nvSpPr>
        <p:spPr>
          <a:xfrm>
            <a:off x="3566160" y="4672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0.00</a:t>
            </a:r>
            <a:endParaRPr lang="en-US" sz="1000" dirty="0"/>
          </a:p>
        </p:txBody>
      </p:sp>
      <p:sp>
        <p:nvSpPr>
          <p:cNvPr id="92" name="Shape 90"/>
          <p:cNvSpPr/>
          <p:nvPr/>
        </p:nvSpPr>
        <p:spPr>
          <a:xfrm>
            <a:off x="4465320" y="4617720"/>
            <a:ext cx="91" cy="54864"/>
          </a:xfrm>
          <a:prstGeom prst="line">
            <a:avLst/>
          </a:prstGeom>
          <a:noFill/>
          <a:ln w="12700">
            <a:solidFill>
              <a:srgbClr val="1A2340"/>
            </a:solidFill>
            <a:prstDash val="solid"/>
          </a:ln>
        </p:spPr>
      </p:sp>
      <p:sp>
        <p:nvSpPr>
          <p:cNvPr id="93" name="Text 91"/>
          <p:cNvSpPr/>
          <p:nvPr/>
        </p:nvSpPr>
        <p:spPr>
          <a:xfrm>
            <a:off x="4191000" y="4672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0.02</a:t>
            </a:r>
            <a:endParaRPr lang="en-US" sz="1000" dirty="0"/>
          </a:p>
        </p:txBody>
      </p:sp>
      <p:sp>
        <p:nvSpPr>
          <p:cNvPr id="94" name="Shape 92"/>
          <p:cNvSpPr/>
          <p:nvPr/>
        </p:nvSpPr>
        <p:spPr>
          <a:xfrm>
            <a:off x="5090160" y="4617720"/>
            <a:ext cx="91" cy="54864"/>
          </a:xfrm>
          <a:prstGeom prst="line">
            <a:avLst/>
          </a:prstGeom>
          <a:noFill/>
          <a:ln w="12700">
            <a:solidFill>
              <a:srgbClr val="1A2340"/>
            </a:solidFill>
            <a:prstDash val="solid"/>
          </a:ln>
        </p:spPr>
      </p:sp>
      <p:sp>
        <p:nvSpPr>
          <p:cNvPr id="95" name="Text 93"/>
          <p:cNvSpPr/>
          <p:nvPr/>
        </p:nvSpPr>
        <p:spPr>
          <a:xfrm>
            <a:off x="4815840" y="4672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0.04</a:t>
            </a:r>
            <a:endParaRPr lang="en-US" sz="1000" dirty="0"/>
          </a:p>
        </p:txBody>
      </p:sp>
      <p:sp>
        <p:nvSpPr>
          <p:cNvPr id="96" name="Shape 94"/>
          <p:cNvSpPr/>
          <p:nvPr/>
        </p:nvSpPr>
        <p:spPr>
          <a:xfrm>
            <a:off x="5715000" y="4617720"/>
            <a:ext cx="91" cy="54864"/>
          </a:xfrm>
          <a:prstGeom prst="line">
            <a:avLst/>
          </a:prstGeom>
          <a:noFill/>
          <a:ln w="12700">
            <a:solidFill>
              <a:srgbClr val="1A2340"/>
            </a:solidFill>
            <a:prstDash val="solid"/>
          </a:ln>
        </p:spPr>
      </p:sp>
      <p:sp>
        <p:nvSpPr>
          <p:cNvPr id="97" name="Text 95"/>
          <p:cNvSpPr/>
          <p:nvPr/>
        </p:nvSpPr>
        <p:spPr>
          <a:xfrm>
            <a:off x="5440680" y="4672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0.06</a:t>
            </a:r>
            <a:endParaRPr lang="en-US" sz="1000" dirty="0"/>
          </a:p>
        </p:txBody>
      </p:sp>
      <p:sp>
        <p:nvSpPr>
          <p:cNvPr id="98" name="Shape 96"/>
          <p:cNvSpPr/>
          <p:nvPr/>
        </p:nvSpPr>
        <p:spPr>
          <a:xfrm>
            <a:off x="3785616" y="4617720"/>
            <a:ext cx="54864" cy="91"/>
          </a:xfrm>
          <a:prstGeom prst="line">
            <a:avLst/>
          </a:prstGeom>
          <a:noFill/>
          <a:ln w="12700">
            <a:solidFill>
              <a:srgbClr val="1A2340"/>
            </a:solidFill>
            <a:prstDash val="solid"/>
          </a:ln>
        </p:spPr>
      </p:sp>
      <p:sp>
        <p:nvSpPr>
          <p:cNvPr id="99" name="Text 97"/>
          <p:cNvSpPr/>
          <p:nvPr/>
        </p:nvSpPr>
        <p:spPr>
          <a:xfrm>
            <a:off x="3401568" y="45262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00" name="Shape 98"/>
          <p:cNvSpPr/>
          <p:nvPr/>
        </p:nvSpPr>
        <p:spPr>
          <a:xfrm>
            <a:off x="3785616" y="4199709"/>
            <a:ext cx="54864" cy="91"/>
          </a:xfrm>
          <a:prstGeom prst="line">
            <a:avLst/>
          </a:prstGeom>
          <a:noFill/>
          <a:ln w="12700">
            <a:solidFill>
              <a:srgbClr val="1A2340"/>
            </a:solidFill>
            <a:prstDash val="solid"/>
          </a:ln>
        </p:spPr>
      </p:sp>
      <p:sp>
        <p:nvSpPr>
          <p:cNvPr id="101" name="Text 99"/>
          <p:cNvSpPr/>
          <p:nvPr/>
        </p:nvSpPr>
        <p:spPr>
          <a:xfrm>
            <a:off x="3401568" y="4108269"/>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102" name="Shape 100"/>
          <p:cNvSpPr/>
          <p:nvPr/>
        </p:nvSpPr>
        <p:spPr>
          <a:xfrm>
            <a:off x="3785616" y="3781697"/>
            <a:ext cx="54864" cy="91"/>
          </a:xfrm>
          <a:prstGeom prst="line">
            <a:avLst/>
          </a:prstGeom>
          <a:noFill/>
          <a:ln w="12700">
            <a:solidFill>
              <a:srgbClr val="1A2340"/>
            </a:solidFill>
            <a:prstDash val="solid"/>
          </a:ln>
        </p:spPr>
      </p:sp>
      <p:sp>
        <p:nvSpPr>
          <p:cNvPr id="103" name="Text 101"/>
          <p:cNvSpPr/>
          <p:nvPr/>
        </p:nvSpPr>
        <p:spPr>
          <a:xfrm>
            <a:off x="3401568" y="3690257"/>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104" name="Shape 102"/>
          <p:cNvSpPr/>
          <p:nvPr/>
        </p:nvSpPr>
        <p:spPr>
          <a:xfrm>
            <a:off x="3785616" y="3363686"/>
            <a:ext cx="54864" cy="91"/>
          </a:xfrm>
          <a:prstGeom prst="line">
            <a:avLst/>
          </a:prstGeom>
          <a:noFill/>
          <a:ln w="12700">
            <a:solidFill>
              <a:srgbClr val="1A2340"/>
            </a:solidFill>
            <a:prstDash val="solid"/>
          </a:ln>
        </p:spPr>
      </p:sp>
      <p:sp>
        <p:nvSpPr>
          <p:cNvPr id="105" name="Text 103"/>
          <p:cNvSpPr/>
          <p:nvPr/>
        </p:nvSpPr>
        <p:spPr>
          <a:xfrm>
            <a:off x="3401568" y="327224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150</a:t>
            </a:r>
            <a:endParaRPr lang="en-US" sz="1000" dirty="0"/>
          </a:p>
        </p:txBody>
      </p:sp>
      <p:sp>
        <p:nvSpPr>
          <p:cNvPr id="106" name="Shape 104"/>
          <p:cNvSpPr/>
          <p:nvPr/>
        </p:nvSpPr>
        <p:spPr>
          <a:xfrm>
            <a:off x="3785616" y="2945674"/>
            <a:ext cx="54864" cy="91"/>
          </a:xfrm>
          <a:prstGeom prst="line">
            <a:avLst/>
          </a:prstGeom>
          <a:noFill/>
          <a:ln w="12700">
            <a:solidFill>
              <a:srgbClr val="1A2340"/>
            </a:solidFill>
            <a:prstDash val="solid"/>
          </a:ln>
        </p:spPr>
      </p:sp>
      <p:sp>
        <p:nvSpPr>
          <p:cNvPr id="107" name="Text 105"/>
          <p:cNvSpPr/>
          <p:nvPr/>
        </p:nvSpPr>
        <p:spPr>
          <a:xfrm>
            <a:off x="3401568" y="285423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108" name="Shape 106"/>
          <p:cNvSpPr/>
          <p:nvPr/>
        </p:nvSpPr>
        <p:spPr>
          <a:xfrm>
            <a:off x="3785616" y="2527663"/>
            <a:ext cx="54864" cy="91"/>
          </a:xfrm>
          <a:prstGeom prst="line">
            <a:avLst/>
          </a:prstGeom>
          <a:noFill/>
          <a:ln w="12700">
            <a:solidFill>
              <a:srgbClr val="1A2340"/>
            </a:solidFill>
            <a:prstDash val="solid"/>
          </a:ln>
        </p:spPr>
      </p:sp>
      <p:sp>
        <p:nvSpPr>
          <p:cNvPr id="109" name="Text 107"/>
          <p:cNvSpPr/>
          <p:nvPr/>
        </p:nvSpPr>
        <p:spPr>
          <a:xfrm>
            <a:off x="3401568" y="2436223"/>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250</a:t>
            </a:r>
            <a:endParaRPr lang="en-US" sz="1000" dirty="0"/>
          </a:p>
        </p:txBody>
      </p:sp>
      <p:sp>
        <p:nvSpPr>
          <p:cNvPr id="110" name="Shape 108"/>
          <p:cNvSpPr/>
          <p:nvPr/>
        </p:nvSpPr>
        <p:spPr>
          <a:xfrm>
            <a:off x="3785616" y="2109651"/>
            <a:ext cx="54864" cy="91"/>
          </a:xfrm>
          <a:prstGeom prst="line">
            <a:avLst/>
          </a:prstGeom>
          <a:noFill/>
          <a:ln w="12700">
            <a:solidFill>
              <a:srgbClr val="1A2340"/>
            </a:solidFill>
            <a:prstDash val="solid"/>
          </a:ln>
        </p:spPr>
      </p:sp>
      <p:sp>
        <p:nvSpPr>
          <p:cNvPr id="111" name="Text 109"/>
          <p:cNvSpPr/>
          <p:nvPr/>
        </p:nvSpPr>
        <p:spPr>
          <a:xfrm>
            <a:off x="3401568" y="2018211"/>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300</a:t>
            </a:r>
            <a:endParaRPr lang="en-US" sz="1000" dirty="0"/>
          </a:p>
        </p:txBody>
      </p:sp>
      <p:sp>
        <p:nvSpPr>
          <p:cNvPr id="112" name="Shape 110"/>
          <p:cNvSpPr/>
          <p:nvPr/>
        </p:nvSpPr>
        <p:spPr>
          <a:xfrm>
            <a:off x="3785616" y="1691640"/>
            <a:ext cx="54864" cy="91"/>
          </a:xfrm>
          <a:prstGeom prst="line">
            <a:avLst/>
          </a:prstGeom>
          <a:noFill/>
          <a:ln w="12700">
            <a:solidFill>
              <a:srgbClr val="1A2340"/>
            </a:solidFill>
            <a:prstDash val="solid"/>
          </a:ln>
        </p:spPr>
      </p:sp>
      <p:sp>
        <p:nvSpPr>
          <p:cNvPr id="113" name="Text 111"/>
          <p:cNvSpPr/>
          <p:nvPr/>
        </p:nvSpPr>
        <p:spPr>
          <a:xfrm>
            <a:off x="3401568" y="16002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350</a:t>
            </a:r>
            <a:endParaRPr lang="en-US" sz="1000" dirty="0"/>
          </a:p>
        </p:txBody>
      </p:sp>
      <p:sp>
        <p:nvSpPr>
          <p:cNvPr id="114" name="Text 112"/>
          <p:cNvSpPr/>
          <p:nvPr/>
        </p:nvSpPr>
        <p:spPr>
          <a:xfrm>
            <a:off x="3840480" y="4864608"/>
            <a:ext cx="18745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1/V / cm⁻³</a:t>
            </a:r>
            <a:endParaRPr lang="en-US" sz="1050" dirty="0"/>
          </a:p>
        </p:txBody>
      </p:sp>
      <p:sp>
        <p:nvSpPr>
          <p:cNvPr id="115" name="Text 113"/>
          <p:cNvSpPr/>
          <p:nvPr/>
        </p:nvSpPr>
        <p:spPr>
          <a:xfrm rot="16200000">
            <a:off x="1810512" y="3026664"/>
            <a:ext cx="29260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 / kPa</a:t>
            </a:r>
            <a:endParaRPr lang="en-US" sz="1050" dirty="0"/>
          </a:p>
        </p:txBody>
      </p:sp>
      <p:sp>
        <p:nvSpPr>
          <p:cNvPr id="116" name="Shape 114"/>
          <p:cNvSpPr/>
          <p:nvPr/>
        </p:nvSpPr>
        <p:spPr>
          <a:xfrm>
            <a:off x="1678577" y="1691640"/>
            <a:ext cx="22316" cy="117043"/>
          </a:xfrm>
          <a:prstGeom prst="line">
            <a:avLst/>
          </a:prstGeom>
          <a:noFill/>
          <a:ln w="25400">
            <a:solidFill>
              <a:srgbClr val="2E5BD8"/>
            </a:solidFill>
            <a:prstDash val="solid"/>
          </a:ln>
        </p:spPr>
      </p:sp>
      <p:sp>
        <p:nvSpPr>
          <p:cNvPr id="117" name="Shape 115"/>
          <p:cNvSpPr/>
          <p:nvPr/>
        </p:nvSpPr>
        <p:spPr>
          <a:xfrm>
            <a:off x="1700893" y="1808683"/>
            <a:ext cx="22316" cy="108040"/>
          </a:xfrm>
          <a:prstGeom prst="line">
            <a:avLst/>
          </a:prstGeom>
          <a:noFill/>
          <a:ln w="25400">
            <a:solidFill>
              <a:srgbClr val="2E5BD8"/>
            </a:solidFill>
            <a:prstDash val="solid"/>
          </a:ln>
        </p:spPr>
      </p:sp>
      <p:sp>
        <p:nvSpPr>
          <p:cNvPr id="118" name="Shape 116"/>
          <p:cNvSpPr/>
          <p:nvPr/>
        </p:nvSpPr>
        <p:spPr>
          <a:xfrm>
            <a:off x="1723209" y="1916723"/>
            <a:ext cx="22316" cy="100037"/>
          </a:xfrm>
          <a:prstGeom prst="line">
            <a:avLst/>
          </a:prstGeom>
          <a:noFill/>
          <a:ln w="25400">
            <a:solidFill>
              <a:srgbClr val="2E5BD8"/>
            </a:solidFill>
            <a:prstDash val="solid"/>
          </a:ln>
        </p:spPr>
      </p:sp>
      <p:sp>
        <p:nvSpPr>
          <p:cNvPr id="119" name="Shape 117"/>
          <p:cNvSpPr/>
          <p:nvPr/>
        </p:nvSpPr>
        <p:spPr>
          <a:xfrm>
            <a:off x="1745524" y="2016760"/>
            <a:ext cx="22316" cy="92891"/>
          </a:xfrm>
          <a:prstGeom prst="line">
            <a:avLst/>
          </a:prstGeom>
          <a:noFill/>
          <a:ln w="25400">
            <a:solidFill>
              <a:srgbClr val="2E5BD8"/>
            </a:solidFill>
            <a:prstDash val="solid"/>
          </a:ln>
        </p:spPr>
      </p:sp>
      <p:sp>
        <p:nvSpPr>
          <p:cNvPr id="120" name="Shape 118"/>
          <p:cNvSpPr/>
          <p:nvPr/>
        </p:nvSpPr>
        <p:spPr>
          <a:xfrm>
            <a:off x="1767840" y="2109651"/>
            <a:ext cx="22316" cy="86485"/>
          </a:xfrm>
          <a:prstGeom prst="line">
            <a:avLst/>
          </a:prstGeom>
          <a:noFill/>
          <a:ln w="25400">
            <a:solidFill>
              <a:srgbClr val="2E5BD8"/>
            </a:solidFill>
            <a:prstDash val="solid"/>
          </a:ln>
        </p:spPr>
      </p:sp>
      <p:sp>
        <p:nvSpPr>
          <p:cNvPr id="121" name="Shape 119"/>
          <p:cNvSpPr/>
          <p:nvPr/>
        </p:nvSpPr>
        <p:spPr>
          <a:xfrm>
            <a:off x="1790156" y="2196137"/>
            <a:ext cx="22316" cy="80719"/>
          </a:xfrm>
          <a:prstGeom prst="line">
            <a:avLst/>
          </a:prstGeom>
          <a:noFill/>
          <a:ln w="25400">
            <a:solidFill>
              <a:srgbClr val="2E5BD8"/>
            </a:solidFill>
            <a:prstDash val="solid"/>
          </a:ln>
        </p:spPr>
      </p:sp>
      <p:sp>
        <p:nvSpPr>
          <p:cNvPr id="122" name="Shape 120"/>
          <p:cNvSpPr/>
          <p:nvPr/>
        </p:nvSpPr>
        <p:spPr>
          <a:xfrm>
            <a:off x="1812471" y="2276856"/>
            <a:ext cx="22316" cy="75512"/>
          </a:xfrm>
          <a:prstGeom prst="line">
            <a:avLst/>
          </a:prstGeom>
          <a:noFill/>
          <a:ln w="25400">
            <a:solidFill>
              <a:srgbClr val="2E5BD8"/>
            </a:solidFill>
            <a:prstDash val="solid"/>
          </a:ln>
        </p:spPr>
      </p:sp>
      <p:sp>
        <p:nvSpPr>
          <p:cNvPr id="123" name="Shape 121"/>
          <p:cNvSpPr/>
          <p:nvPr/>
        </p:nvSpPr>
        <p:spPr>
          <a:xfrm>
            <a:off x="1834787" y="2352368"/>
            <a:ext cx="22316" cy="70792"/>
          </a:xfrm>
          <a:prstGeom prst="line">
            <a:avLst/>
          </a:prstGeom>
          <a:noFill/>
          <a:ln w="25400">
            <a:solidFill>
              <a:srgbClr val="2E5BD8"/>
            </a:solidFill>
            <a:prstDash val="solid"/>
          </a:ln>
        </p:spPr>
      </p:sp>
      <p:sp>
        <p:nvSpPr>
          <p:cNvPr id="124" name="Shape 122"/>
          <p:cNvSpPr/>
          <p:nvPr/>
        </p:nvSpPr>
        <p:spPr>
          <a:xfrm>
            <a:off x="1857103" y="2423160"/>
            <a:ext cx="22316" cy="66502"/>
          </a:xfrm>
          <a:prstGeom prst="line">
            <a:avLst/>
          </a:prstGeom>
          <a:noFill/>
          <a:ln w="25400">
            <a:solidFill>
              <a:srgbClr val="2E5BD8"/>
            </a:solidFill>
            <a:prstDash val="solid"/>
          </a:ln>
        </p:spPr>
      </p:sp>
      <p:sp>
        <p:nvSpPr>
          <p:cNvPr id="125" name="Shape 123"/>
          <p:cNvSpPr/>
          <p:nvPr/>
        </p:nvSpPr>
        <p:spPr>
          <a:xfrm>
            <a:off x="1879419" y="2489662"/>
            <a:ext cx="22316" cy="62590"/>
          </a:xfrm>
          <a:prstGeom prst="line">
            <a:avLst/>
          </a:prstGeom>
          <a:noFill/>
          <a:ln w="25400">
            <a:solidFill>
              <a:srgbClr val="2E5BD8"/>
            </a:solidFill>
            <a:prstDash val="solid"/>
          </a:ln>
        </p:spPr>
      </p:sp>
      <p:sp>
        <p:nvSpPr>
          <p:cNvPr id="126" name="Shape 124"/>
          <p:cNvSpPr/>
          <p:nvPr/>
        </p:nvSpPr>
        <p:spPr>
          <a:xfrm>
            <a:off x="1901734" y="2552252"/>
            <a:ext cx="22316" cy="59013"/>
          </a:xfrm>
          <a:prstGeom prst="line">
            <a:avLst/>
          </a:prstGeom>
          <a:noFill/>
          <a:ln w="25400">
            <a:solidFill>
              <a:srgbClr val="2E5BD8"/>
            </a:solidFill>
            <a:prstDash val="solid"/>
          </a:ln>
        </p:spPr>
      </p:sp>
      <p:sp>
        <p:nvSpPr>
          <p:cNvPr id="127" name="Shape 125"/>
          <p:cNvSpPr/>
          <p:nvPr/>
        </p:nvSpPr>
        <p:spPr>
          <a:xfrm>
            <a:off x="1924050" y="2611265"/>
            <a:ext cx="22316" cy="55735"/>
          </a:xfrm>
          <a:prstGeom prst="line">
            <a:avLst/>
          </a:prstGeom>
          <a:noFill/>
          <a:ln w="25400">
            <a:solidFill>
              <a:srgbClr val="2E5BD8"/>
            </a:solidFill>
            <a:prstDash val="solid"/>
          </a:ln>
        </p:spPr>
      </p:sp>
      <p:sp>
        <p:nvSpPr>
          <p:cNvPr id="128" name="Shape 126"/>
          <p:cNvSpPr/>
          <p:nvPr/>
        </p:nvSpPr>
        <p:spPr>
          <a:xfrm>
            <a:off x="1946366" y="2667000"/>
            <a:ext cx="22316" cy="52722"/>
          </a:xfrm>
          <a:prstGeom prst="line">
            <a:avLst/>
          </a:prstGeom>
          <a:noFill/>
          <a:ln w="25400">
            <a:solidFill>
              <a:srgbClr val="2E5BD8"/>
            </a:solidFill>
            <a:prstDash val="solid"/>
          </a:ln>
        </p:spPr>
      </p:sp>
      <p:sp>
        <p:nvSpPr>
          <p:cNvPr id="129" name="Shape 127"/>
          <p:cNvSpPr/>
          <p:nvPr/>
        </p:nvSpPr>
        <p:spPr>
          <a:xfrm>
            <a:off x="1968681" y="2719722"/>
            <a:ext cx="22316" cy="49947"/>
          </a:xfrm>
          <a:prstGeom prst="line">
            <a:avLst/>
          </a:prstGeom>
          <a:noFill/>
          <a:ln w="25400">
            <a:solidFill>
              <a:srgbClr val="2E5BD8"/>
            </a:solidFill>
            <a:prstDash val="solid"/>
          </a:ln>
        </p:spPr>
      </p:sp>
      <p:sp>
        <p:nvSpPr>
          <p:cNvPr id="130" name="Shape 128"/>
          <p:cNvSpPr/>
          <p:nvPr/>
        </p:nvSpPr>
        <p:spPr>
          <a:xfrm>
            <a:off x="1990997" y="2769669"/>
            <a:ext cx="22316" cy="47386"/>
          </a:xfrm>
          <a:prstGeom prst="line">
            <a:avLst/>
          </a:prstGeom>
          <a:noFill/>
          <a:ln w="25400">
            <a:solidFill>
              <a:srgbClr val="2E5BD8"/>
            </a:solidFill>
            <a:prstDash val="solid"/>
          </a:ln>
        </p:spPr>
      </p:sp>
      <p:sp>
        <p:nvSpPr>
          <p:cNvPr id="131" name="Shape 129"/>
          <p:cNvSpPr/>
          <p:nvPr/>
        </p:nvSpPr>
        <p:spPr>
          <a:xfrm>
            <a:off x="2013313" y="2817055"/>
            <a:ext cx="22316" cy="45017"/>
          </a:xfrm>
          <a:prstGeom prst="line">
            <a:avLst/>
          </a:prstGeom>
          <a:noFill/>
          <a:ln w="25400">
            <a:solidFill>
              <a:srgbClr val="2E5BD8"/>
            </a:solidFill>
            <a:prstDash val="solid"/>
          </a:ln>
        </p:spPr>
      </p:sp>
      <p:sp>
        <p:nvSpPr>
          <p:cNvPr id="132" name="Shape 130"/>
          <p:cNvSpPr/>
          <p:nvPr/>
        </p:nvSpPr>
        <p:spPr>
          <a:xfrm>
            <a:off x="2035629" y="2862072"/>
            <a:ext cx="22316" cy="42821"/>
          </a:xfrm>
          <a:prstGeom prst="line">
            <a:avLst/>
          </a:prstGeom>
          <a:noFill/>
          <a:ln w="25400">
            <a:solidFill>
              <a:srgbClr val="2E5BD8"/>
            </a:solidFill>
            <a:prstDash val="solid"/>
          </a:ln>
        </p:spPr>
      </p:sp>
      <p:sp>
        <p:nvSpPr>
          <p:cNvPr id="133" name="Shape 131"/>
          <p:cNvSpPr/>
          <p:nvPr/>
        </p:nvSpPr>
        <p:spPr>
          <a:xfrm>
            <a:off x="2057944" y="2904893"/>
            <a:ext cx="22316" cy="40782"/>
          </a:xfrm>
          <a:prstGeom prst="line">
            <a:avLst/>
          </a:prstGeom>
          <a:noFill/>
          <a:ln w="25400">
            <a:solidFill>
              <a:srgbClr val="2E5BD8"/>
            </a:solidFill>
            <a:prstDash val="solid"/>
          </a:ln>
        </p:spPr>
      </p:sp>
      <p:sp>
        <p:nvSpPr>
          <p:cNvPr id="134" name="Shape 132"/>
          <p:cNvSpPr/>
          <p:nvPr/>
        </p:nvSpPr>
        <p:spPr>
          <a:xfrm>
            <a:off x="2080260" y="2945674"/>
            <a:ext cx="22316" cy="38885"/>
          </a:xfrm>
          <a:prstGeom prst="line">
            <a:avLst/>
          </a:prstGeom>
          <a:noFill/>
          <a:ln w="25400">
            <a:solidFill>
              <a:srgbClr val="2E5BD8"/>
            </a:solidFill>
            <a:prstDash val="solid"/>
          </a:ln>
        </p:spPr>
      </p:sp>
      <p:sp>
        <p:nvSpPr>
          <p:cNvPr id="135" name="Shape 133"/>
          <p:cNvSpPr/>
          <p:nvPr/>
        </p:nvSpPr>
        <p:spPr>
          <a:xfrm>
            <a:off x="2102576" y="2984559"/>
            <a:ext cx="22316" cy="37117"/>
          </a:xfrm>
          <a:prstGeom prst="line">
            <a:avLst/>
          </a:prstGeom>
          <a:noFill/>
          <a:ln w="25400">
            <a:solidFill>
              <a:srgbClr val="2E5BD8"/>
            </a:solidFill>
            <a:prstDash val="solid"/>
          </a:ln>
        </p:spPr>
      </p:sp>
      <p:sp>
        <p:nvSpPr>
          <p:cNvPr id="136" name="Shape 134"/>
          <p:cNvSpPr/>
          <p:nvPr/>
        </p:nvSpPr>
        <p:spPr>
          <a:xfrm>
            <a:off x="2124891" y="3021676"/>
            <a:ext cx="22316" cy="35468"/>
          </a:xfrm>
          <a:prstGeom prst="line">
            <a:avLst/>
          </a:prstGeom>
          <a:noFill/>
          <a:ln w="25400">
            <a:solidFill>
              <a:srgbClr val="2E5BD8"/>
            </a:solidFill>
            <a:prstDash val="solid"/>
          </a:ln>
        </p:spPr>
      </p:sp>
      <p:sp>
        <p:nvSpPr>
          <p:cNvPr id="137" name="Shape 135"/>
          <p:cNvSpPr/>
          <p:nvPr/>
        </p:nvSpPr>
        <p:spPr>
          <a:xfrm>
            <a:off x="2147207" y="3057144"/>
            <a:ext cx="22316" cy="33926"/>
          </a:xfrm>
          <a:prstGeom prst="line">
            <a:avLst/>
          </a:prstGeom>
          <a:noFill/>
          <a:ln w="25400">
            <a:solidFill>
              <a:srgbClr val="2E5BD8"/>
            </a:solidFill>
            <a:prstDash val="solid"/>
          </a:ln>
        </p:spPr>
      </p:sp>
      <p:sp>
        <p:nvSpPr>
          <p:cNvPr id="138" name="Shape 136"/>
          <p:cNvSpPr/>
          <p:nvPr/>
        </p:nvSpPr>
        <p:spPr>
          <a:xfrm>
            <a:off x="2169523" y="3091070"/>
            <a:ext cx="22316" cy="32482"/>
          </a:xfrm>
          <a:prstGeom prst="line">
            <a:avLst/>
          </a:prstGeom>
          <a:noFill/>
          <a:ln w="25400">
            <a:solidFill>
              <a:srgbClr val="2E5BD8"/>
            </a:solidFill>
            <a:prstDash val="solid"/>
          </a:ln>
        </p:spPr>
      </p:sp>
      <p:sp>
        <p:nvSpPr>
          <p:cNvPr id="139" name="Shape 137"/>
          <p:cNvSpPr/>
          <p:nvPr/>
        </p:nvSpPr>
        <p:spPr>
          <a:xfrm>
            <a:off x="2191839" y="3123551"/>
            <a:ext cx="22316" cy="31129"/>
          </a:xfrm>
          <a:prstGeom prst="line">
            <a:avLst/>
          </a:prstGeom>
          <a:noFill/>
          <a:ln w="25400">
            <a:solidFill>
              <a:srgbClr val="2E5BD8"/>
            </a:solidFill>
            <a:prstDash val="solid"/>
          </a:ln>
        </p:spPr>
      </p:sp>
      <p:sp>
        <p:nvSpPr>
          <p:cNvPr id="140" name="Shape 138"/>
          <p:cNvSpPr/>
          <p:nvPr/>
        </p:nvSpPr>
        <p:spPr>
          <a:xfrm>
            <a:off x="2214154" y="3154680"/>
            <a:ext cx="22316" cy="29858"/>
          </a:xfrm>
          <a:prstGeom prst="line">
            <a:avLst/>
          </a:prstGeom>
          <a:noFill/>
          <a:ln w="25400">
            <a:solidFill>
              <a:srgbClr val="2E5BD8"/>
            </a:solidFill>
            <a:prstDash val="solid"/>
          </a:ln>
        </p:spPr>
      </p:sp>
      <p:sp>
        <p:nvSpPr>
          <p:cNvPr id="141" name="Shape 139"/>
          <p:cNvSpPr/>
          <p:nvPr/>
        </p:nvSpPr>
        <p:spPr>
          <a:xfrm>
            <a:off x="2236470" y="3184538"/>
            <a:ext cx="22316" cy="28664"/>
          </a:xfrm>
          <a:prstGeom prst="line">
            <a:avLst/>
          </a:prstGeom>
          <a:noFill/>
          <a:ln w="25400">
            <a:solidFill>
              <a:srgbClr val="2E5BD8"/>
            </a:solidFill>
            <a:prstDash val="solid"/>
          </a:ln>
        </p:spPr>
      </p:sp>
      <p:sp>
        <p:nvSpPr>
          <p:cNvPr id="142" name="Shape 140"/>
          <p:cNvSpPr/>
          <p:nvPr/>
        </p:nvSpPr>
        <p:spPr>
          <a:xfrm>
            <a:off x="2258786" y="3213202"/>
            <a:ext cx="22316" cy="27540"/>
          </a:xfrm>
          <a:prstGeom prst="line">
            <a:avLst/>
          </a:prstGeom>
          <a:noFill/>
          <a:ln w="25400">
            <a:solidFill>
              <a:srgbClr val="2E5BD8"/>
            </a:solidFill>
            <a:prstDash val="solid"/>
          </a:ln>
        </p:spPr>
      </p:sp>
      <p:sp>
        <p:nvSpPr>
          <p:cNvPr id="143" name="Shape 141"/>
          <p:cNvSpPr/>
          <p:nvPr/>
        </p:nvSpPr>
        <p:spPr>
          <a:xfrm>
            <a:off x="2281101" y="3240741"/>
            <a:ext cx="22316" cy="26480"/>
          </a:xfrm>
          <a:prstGeom prst="line">
            <a:avLst/>
          </a:prstGeom>
          <a:noFill/>
          <a:ln w="25400">
            <a:solidFill>
              <a:srgbClr val="2E5BD8"/>
            </a:solidFill>
            <a:prstDash val="solid"/>
          </a:ln>
        </p:spPr>
      </p:sp>
      <p:sp>
        <p:nvSpPr>
          <p:cNvPr id="144" name="Shape 142"/>
          <p:cNvSpPr/>
          <p:nvPr/>
        </p:nvSpPr>
        <p:spPr>
          <a:xfrm>
            <a:off x="2303417" y="3267222"/>
            <a:ext cx="22316" cy="25481"/>
          </a:xfrm>
          <a:prstGeom prst="line">
            <a:avLst/>
          </a:prstGeom>
          <a:noFill/>
          <a:ln w="25400">
            <a:solidFill>
              <a:srgbClr val="2E5BD8"/>
            </a:solidFill>
            <a:prstDash val="solid"/>
          </a:ln>
        </p:spPr>
      </p:sp>
      <p:sp>
        <p:nvSpPr>
          <p:cNvPr id="145" name="Shape 143"/>
          <p:cNvSpPr/>
          <p:nvPr/>
        </p:nvSpPr>
        <p:spPr>
          <a:xfrm>
            <a:off x="2325733" y="3292703"/>
            <a:ext cx="22316" cy="24537"/>
          </a:xfrm>
          <a:prstGeom prst="line">
            <a:avLst/>
          </a:prstGeom>
          <a:noFill/>
          <a:ln w="25400">
            <a:solidFill>
              <a:srgbClr val="2E5BD8"/>
            </a:solidFill>
            <a:prstDash val="solid"/>
          </a:ln>
        </p:spPr>
      </p:sp>
      <p:sp>
        <p:nvSpPr>
          <p:cNvPr id="146" name="Shape 144"/>
          <p:cNvSpPr/>
          <p:nvPr/>
        </p:nvSpPr>
        <p:spPr>
          <a:xfrm>
            <a:off x="2348049" y="3317240"/>
            <a:ext cx="22316" cy="23645"/>
          </a:xfrm>
          <a:prstGeom prst="line">
            <a:avLst/>
          </a:prstGeom>
          <a:noFill/>
          <a:ln w="25400">
            <a:solidFill>
              <a:srgbClr val="2E5BD8"/>
            </a:solidFill>
            <a:prstDash val="solid"/>
          </a:ln>
        </p:spPr>
      </p:sp>
      <p:sp>
        <p:nvSpPr>
          <p:cNvPr id="147" name="Shape 145"/>
          <p:cNvSpPr/>
          <p:nvPr/>
        </p:nvSpPr>
        <p:spPr>
          <a:xfrm>
            <a:off x="2370364" y="3340885"/>
            <a:ext cx="22316" cy="22801"/>
          </a:xfrm>
          <a:prstGeom prst="line">
            <a:avLst/>
          </a:prstGeom>
          <a:noFill/>
          <a:ln w="25400">
            <a:solidFill>
              <a:srgbClr val="2E5BD8"/>
            </a:solidFill>
            <a:prstDash val="solid"/>
          </a:ln>
        </p:spPr>
      </p:sp>
      <p:sp>
        <p:nvSpPr>
          <p:cNvPr id="148" name="Shape 146"/>
          <p:cNvSpPr/>
          <p:nvPr/>
        </p:nvSpPr>
        <p:spPr>
          <a:xfrm>
            <a:off x="2392680" y="3363686"/>
            <a:ext cx="22316" cy="22001"/>
          </a:xfrm>
          <a:prstGeom prst="line">
            <a:avLst/>
          </a:prstGeom>
          <a:noFill/>
          <a:ln w="25400">
            <a:solidFill>
              <a:srgbClr val="2E5BD8"/>
            </a:solidFill>
            <a:prstDash val="solid"/>
          </a:ln>
        </p:spPr>
      </p:sp>
      <p:sp>
        <p:nvSpPr>
          <p:cNvPr id="149" name="Shape 147"/>
          <p:cNvSpPr/>
          <p:nvPr/>
        </p:nvSpPr>
        <p:spPr>
          <a:xfrm>
            <a:off x="2414996" y="3385686"/>
            <a:ext cx="22316" cy="21242"/>
          </a:xfrm>
          <a:prstGeom prst="line">
            <a:avLst/>
          </a:prstGeom>
          <a:noFill/>
          <a:ln w="25400">
            <a:solidFill>
              <a:srgbClr val="2E5BD8"/>
            </a:solidFill>
            <a:prstDash val="solid"/>
          </a:ln>
        </p:spPr>
      </p:sp>
      <p:sp>
        <p:nvSpPr>
          <p:cNvPr id="150" name="Shape 148"/>
          <p:cNvSpPr/>
          <p:nvPr/>
        </p:nvSpPr>
        <p:spPr>
          <a:xfrm>
            <a:off x="2437311" y="3406928"/>
            <a:ext cx="22316" cy="20522"/>
          </a:xfrm>
          <a:prstGeom prst="line">
            <a:avLst/>
          </a:prstGeom>
          <a:noFill/>
          <a:ln w="25400">
            <a:solidFill>
              <a:srgbClr val="2E5BD8"/>
            </a:solidFill>
            <a:prstDash val="solid"/>
          </a:ln>
        </p:spPr>
      </p:sp>
      <p:sp>
        <p:nvSpPr>
          <p:cNvPr id="151" name="Shape 149"/>
          <p:cNvSpPr/>
          <p:nvPr/>
        </p:nvSpPr>
        <p:spPr>
          <a:xfrm>
            <a:off x="2459627" y="3427450"/>
            <a:ext cx="22316" cy="19838"/>
          </a:xfrm>
          <a:prstGeom prst="line">
            <a:avLst/>
          </a:prstGeom>
          <a:noFill/>
          <a:ln w="25400">
            <a:solidFill>
              <a:srgbClr val="2E5BD8"/>
            </a:solidFill>
            <a:prstDash val="solid"/>
          </a:ln>
        </p:spPr>
      </p:sp>
      <p:sp>
        <p:nvSpPr>
          <p:cNvPr id="152" name="Shape 150"/>
          <p:cNvSpPr/>
          <p:nvPr/>
        </p:nvSpPr>
        <p:spPr>
          <a:xfrm>
            <a:off x="2481943" y="3447288"/>
            <a:ext cx="22316" cy="19187"/>
          </a:xfrm>
          <a:prstGeom prst="line">
            <a:avLst/>
          </a:prstGeom>
          <a:noFill/>
          <a:ln w="25400">
            <a:solidFill>
              <a:srgbClr val="2E5BD8"/>
            </a:solidFill>
            <a:prstDash val="solid"/>
          </a:ln>
        </p:spPr>
      </p:sp>
      <p:sp>
        <p:nvSpPr>
          <p:cNvPr id="153" name="Shape 151"/>
          <p:cNvSpPr/>
          <p:nvPr/>
        </p:nvSpPr>
        <p:spPr>
          <a:xfrm>
            <a:off x="2504259" y="3466475"/>
            <a:ext cx="22316" cy="18568"/>
          </a:xfrm>
          <a:prstGeom prst="line">
            <a:avLst/>
          </a:prstGeom>
          <a:noFill/>
          <a:ln w="25400">
            <a:solidFill>
              <a:srgbClr val="2E5BD8"/>
            </a:solidFill>
            <a:prstDash val="solid"/>
          </a:ln>
        </p:spPr>
      </p:sp>
      <p:sp>
        <p:nvSpPr>
          <p:cNvPr id="154" name="Shape 152"/>
          <p:cNvSpPr/>
          <p:nvPr/>
        </p:nvSpPr>
        <p:spPr>
          <a:xfrm>
            <a:off x="2526574" y="3485044"/>
            <a:ext cx="22316" cy="17979"/>
          </a:xfrm>
          <a:prstGeom prst="line">
            <a:avLst/>
          </a:prstGeom>
          <a:noFill/>
          <a:ln w="25400">
            <a:solidFill>
              <a:srgbClr val="2E5BD8"/>
            </a:solidFill>
            <a:prstDash val="solid"/>
          </a:ln>
        </p:spPr>
      </p:sp>
      <p:sp>
        <p:nvSpPr>
          <p:cNvPr id="155" name="Shape 153"/>
          <p:cNvSpPr/>
          <p:nvPr/>
        </p:nvSpPr>
        <p:spPr>
          <a:xfrm>
            <a:off x="2548890" y="3503023"/>
            <a:ext cx="22316" cy="17417"/>
          </a:xfrm>
          <a:prstGeom prst="line">
            <a:avLst/>
          </a:prstGeom>
          <a:noFill/>
          <a:ln w="25400">
            <a:solidFill>
              <a:srgbClr val="2E5BD8"/>
            </a:solidFill>
            <a:prstDash val="solid"/>
          </a:ln>
        </p:spPr>
      </p:sp>
      <p:sp>
        <p:nvSpPr>
          <p:cNvPr id="156" name="Shape 154"/>
          <p:cNvSpPr/>
          <p:nvPr/>
        </p:nvSpPr>
        <p:spPr>
          <a:xfrm>
            <a:off x="2571206" y="3520440"/>
            <a:ext cx="22316" cy="16881"/>
          </a:xfrm>
          <a:prstGeom prst="line">
            <a:avLst/>
          </a:prstGeom>
          <a:noFill/>
          <a:ln w="25400">
            <a:solidFill>
              <a:srgbClr val="2E5BD8"/>
            </a:solidFill>
            <a:prstDash val="solid"/>
          </a:ln>
        </p:spPr>
      </p:sp>
      <p:sp>
        <p:nvSpPr>
          <p:cNvPr id="157" name="Shape 155"/>
          <p:cNvSpPr/>
          <p:nvPr/>
        </p:nvSpPr>
        <p:spPr>
          <a:xfrm>
            <a:off x="2593521" y="3537321"/>
            <a:ext cx="22316" cy="16370"/>
          </a:xfrm>
          <a:prstGeom prst="line">
            <a:avLst/>
          </a:prstGeom>
          <a:noFill/>
          <a:ln w="25400">
            <a:solidFill>
              <a:srgbClr val="2E5BD8"/>
            </a:solidFill>
            <a:prstDash val="solid"/>
          </a:ln>
        </p:spPr>
      </p:sp>
      <p:sp>
        <p:nvSpPr>
          <p:cNvPr id="158" name="Shape 156"/>
          <p:cNvSpPr/>
          <p:nvPr/>
        </p:nvSpPr>
        <p:spPr>
          <a:xfrm>
            <a:off x="2615837" y="3553691"/>
            <a:ext cx="22316" cy="15881"/>
          </a:xfrm>
          <a:prstGeom prst="line">
            <a:avLst/>
          </a:prstGeom>
          <a:noFill/>
          <a:ln w="25400">
            <a:solidFill>
              <a:srgbClr val="2E5BD8"/>
            </a:solidFill>
            <a:prstDash val="solid"/>
          </a:ln>
        </p:spPr>
      </p:sp>
      <p:sp>
        <p:nvSpPr>
          <p:cNvPr id="159" name="Shape 157"/>
          <p:cNvSpPr/>
          <p:nvPr/>
        </p:nvSpPr>
        <p:spPr>
          <a:xfrm>
            <a:off x="2638153" y="3569572"/>
            <a:ext cx="22316" cy="15414"/>
          </a:xfrm>
          <a:prstGeom prst="line">
            <a:avLst/>
          </a:prstGeom>
          <a:noFill/>
          <a:ln w="25400">
            <a:solidFill>
              <a:srgbClr val="2E5BD8"/>
            </a:solidFill>
            <a:prstDash val="solid"/>
          </a:ln>
        </p:spPr>
      </p:sp>
      <p:sp>
        <p:nvSpPr>
          <p:cNvPr id="160" name="Shape 158"/>
          <p:cNvSpPr/>
          <p:nvPr/>
        </p:nvSpPr>
        <p:spPr>
          <a:xfrm>
            <a:off x="2660469" y="3584986"/>
            <a:ext cx="22316" cy="14967"/>
          </a:xfrm>
          <a:prstGeom prst="line">
            <a:avLst/>
          </a:prstGeom>
          <a:noFill/>
          <a:ln w="25400">
            <a:solidFill>
              <a:srgbClr val="2E5BD8"/>
            </a:solidFill>
            <a:prstDash val="solid"/>
          </a:ln>
        </p:spPr>
      </p:sp>
      <p:sp>
        <p:nvSpPr>
          <p:cNvPr id="161" name="Shape 159"/>
          <p:cNvSpPr/>
          <p:nvPr/>
        </p:nvSpPr>
        <p:spPr>
          <a:xfrm>
            <a:off x="2682784" y="3599953"/>
            <a:ext cx="22316" cy="14540"/>
          </a:xfrm>
          <a:prstGeom prst="line">
            <a:avLst/>
          </a:prstGeom>
          <a:noFill/>
          <a:ln w="25400">
            <a:solidFill>
              <a:srgbClr val="2E5BD8"/>
            </a:solidFill>
            <a:prstDash val="solid"/>
          </a:ln>
        </p:spPr>
      </p:sp>
      <p:sp>
        <p:nvSpPr>
          <p:cNvPr id="162" name="Shape 160"/>
          <p:cNvSpPr/>
          <p:nvPr/>
        </p:nvSpPr>
        <p:spPr>
          <a:xfrm>
            <a:off x="2705100" y="3614493"/>
            <a:ext cx="22316" cy="14130"/>
          </a:xfrm>
          <a:prstGeom prst="line">
            <a:avLst/>
          </a:prstGeom>
          <a:noFill/>
          <a:ln w="25400">
            <a:solidFill>
              <a:srgbClr val="2E5BD8"/>
            </a:solidFill>
            <a:prstDash val="solid"/>
          </a:ln>
        </p:spPr>
      </p:sp>
      <p:sp>
        <p:nvSpPr>
          <p:cNvPr id="163" name="Shape 161"/>
          <p:cNvSpPr/>
          <p:nvPr/>
        </p:nvSpPr>
        <p:spPr>
          <a:xfrm>
            <a:off x="2727416" y="3628623"/>
            <a:ext cx="22316" cy="13737"/>
          </a:xfrm>
          <a:prstGeom prst="line">
            <a:avLst/>
          </a:prstGeom>
          <a:noFill/>
          <a:ln w="25400">
            <a:solidFill>
              <a:srgbClr val="2E5BD8"/>
            </a:solidFill>
            <a:prstDash val="solid"/>
          </a:ln>
        </p:spPr>
      </p:sp>
      <p:sp>
        <p:nvSpPr>
          <p:cNvPr id="164" name="Shape 162"/>
          <p:cNvSpPr/>
          <p:nvPr/>
        </p:nvSpPr>
        <p:spPr>
          <a:xfrm>
            <a:off x="2749731" y="3642360"/>
            <a:ext cx="22316" cy="13361"/>
          </a:xfrm>
          <a:prstGeom prst="line">
            <a:avLst/>
          </a:prstGeom>
          <a:noFill/>
          <a:ln w="25400">
            <a:solidFill>
              <a:srgbClr val="2E5BD8"/>
            </a:solidFill>
            <a:prstDash val="solid"/>
          </a:ln>
        </p:spPr>
      </p:sp>
      <p:sp>
        <p:nvSpPr>
          <p:cNvPr id="165" name="Shape 163"/>
          <p:cNvSpPr/>
          <p:nvPr/>
        </p:nvSpPr>
        <p:spPr>
          <a:xfrm>
            <a:off x="2772047" y="3655721"/>
            <a:ext cx="22316" cy="13000"/>
          </a:xfrm>
          <a:prstGeom prst="line">
            <a:avLst/>
          </a:prstGeom>
          <a:noFill/>
          <a:ln w="25400">
            <a:solidFill>
              <a:srgbClr val="2E5BD8"/>
            </a:solidFill>
            <a:prstDash val="solid"/>
          </a:ln>
        </p:spPr>
      </p:sp>
      <p:sp>
        <p:nvSpPr>
          <p:cNvPr id="166" name="Shape 164"/>
          <p:cNvSpPr/>
          <p:nvPr/>
        </p:nvSpPr>
        <p:spPr>
          <a:xfrm>
            <a:off x="2794363" y="3668721"/>
            <a:ext cx="22316" cy="12653"/>
          </a:xfrm>
          <a:prstGeom prst="line">
            <a:avLst/>
          </a:prstGeom>
          <a:noFill/>
          <a:ln w="25400">
            <a:solidFill>
              <a:srgbClr val="2E5BD8"/>
            </a:solidFill>
            <a:prstDash val="solid"/>
          </a:ln>
        </p:spPr>
      </p:sp>
      <p:sp>
        <p:nvSpPr>
          <p:cNvPr id="167" name="Shape 165"/>
          <p:cNvSpPr/>
          <p:nvPr/>
        </p:nvSpPr>
        <p:spPr>
          <a:xfrm>
            <a:off x="2816679" y="3681374"/>
            <a:ext cx="22316" cy="12320"/>
          </a:xfrm>
          <a:prstGeom prst="line">
            <a:avLst/>
          </a:prstGeom>
          <a:noFill/>
          <a:ln w="25400">
            <a:solidFill>
              <a:srgbClr val="2E5BD8"/>
            </a:solidFill>
            <a:prstDash val="solid"/>
          </a:ln>
        </p:spPr>
      </p:sp>
      <p:sp>
        <p:nvSpPr>
          <p:cNvPr id="168" name="Shape 166"/>
          <p:cNvSpPr/>
          <p:nvPr/>
        </p:nvSpPr>
        <p:spPr>
          <a:xfrm>
            <a:off x="2838994" y="3693695"/>
            <a:ext cx="22316" cy="12000"/>
          </a:xfrm>
          <a:prstGeom prst="line">
            <a:avLst/>
          </a:prstGeom>
          <a:noFill/>
          <a:ln w="25400">
            <a:solidFill>
              <a:srgbClr val="2E5BD8"/>
            </a:solidFill>
            <a:prstDash val="solid"/>
          </a:ln>
        </p:spPr>
      </p:sp>
      <p:sp>
        <p:nvSpPr>
          <p:cNvPr id="169" name="Shape 167"/>
          <p:cNvSpPr/>
          <p:nvPr/>
        </p:nvSpPr>
        <p:spPr>
          <a:xfrm>
            <a:off x="2861310" y="3705695"/>
            <a:ext cx="22316" cy="11693"/>
          </a:xfrm>
          <a:prstGeom prst="line">
            <a:avLst/>
          </a:prstGeom>
          <a:noFill/>
          <a:ln w="25400">
            <a:solidFill>
              <a:srgbClr val="2E5BD8"/>
            </a:solidFill>
            <a:prstDash val="solid"/>
          </a:ln>
        </p:spPr>
      </p:sp>
      <p:sp>
        <p:nvSpPr>
          <p:cNvPr id="170" name="Shape 168"/>
          <p:cNvSpPr/>
          <p:nvPr/>
        </p:nvSpPr>
        <p:spPr>
          <a:xfrm>
            <a:off x="2883626" y="3717388"/>
            <a:ext cx="22316" cy="11397"/>
          </a:xfrm>
          <a:prstGeom prst="line">
            <a:avLst/>
          </a:prstGeom>
          <a:noFill/>
          <a:ln w="25400">
            <a:solidFill>
              <a:srgbClr val="2E5BD8"/>
            </a:solidFill>
            <a:prstDash val="solid"/>
          </a:ln>
        </p:spPr>
      </p:sp>
      <p:sp>
        <p:nvSpPr>
          <p:cNvPr id="171" name="Shape 169"/>
          <p:cNvSpPr/>
          <p:nvPr/>
        </p:nvSpPr>
        <p:spPr>
          <a:xfrm>
            <a:off x="2905941" y="3728784"/>
            <a:ext cx="22316" cy="11112"/>
          </a:xfrm>
          <a:prstGeom prst="line">
            <a:avLst/>
          </a:prstGeom>
          <a:noFill/>
          <a:ln w="25400">
            <a:solidFill>
              <a:srgbClr val="2E5BD8"/>
            </a:solidFill>
            <a:prstDash val="solid"/>
          </a:ln>
        </p:spPr>
      </p:sp>
      <p:sp>
        <p:nvSpPr>
          <p:cNvPr id="172" name="Shape 170"/>
          <p:cNvSpPr/>
          <p:nvPr/>
        </p:nvSpPr>
        <p:spPr>
          <a:xfrm>
            <a:off x="2928257" y="3739896"/>
            <a:ext cx="22316" cy="10837"/>
          </a:xfrm>
          <a:prstGeom prst="line">
            <a:avLst/>
          </a:prstGeom>
          <a:noFill/>
          <a:ln w="25400">
            <a:solidFill>
              <a:srgbClr val="2E5BD8"/>
            </a:solidFill>
            <a:prstDash val="solid"/>
          </a:ln>
        </p:spPr>
      </p:sp>
      <p:sp>
        <p:nvSpPr>
          <p:cNvPr id="173" name="Shape 171"/>
          <p:cNvSpPr/>
          <p:nvPr/>
        </p:nvSpPr>
        <p:spPr>
          <a:xfrm>
            <a:off x="2950573" y="3750733"/>
            <a:ext cx="22316" cy="10573"/>
          </a:xfrm>
          <a:prstGeom prst="line">
            <a:avLst/>
          </a:prstGeom>
          <a:noFill/>
          <a:ln w="25400">
            <a:solidFill>
              <a:srgbClr val="2E5BD8"/>
            </a:solidFill>
            <a:prstDash val="solid"/>
          </a:ln>
        </p:spPr>
      </p:sp>
      <p:sp>
        <p:nvSpPr>
          <p:cNvPr id="174" name="Shape 172"/>
          <p:cNvSpPr/>
          <p:nvPr/>
        </p:nvSpPr>
        <p:spPr>
          <a:xfrm>
            <a:off x="2972889" y="3761306"/>
            <a:ext cx="22316" cy="10318"/>
          </a:xfrm>
          <a:prstGeom prst="line">
            <a:avLst/>
          </a:prstGeom>
          <a:noFill/>
          <a:ln w="25400">
            <a:solidFill>
              <a:srgbClr val="2E5BD8"/>
            </a:solidFill>
            <a:prstDash val="solid"/>
          </a:ln>
        </p:spPr>
      </p:sp>
      <p:sp>
        <p:nvSpPr>
          <p:cNvPr id="175" name="Shape 173"/>
          <p:cNvSpPr/>
          <p:nvPr/>
        </p:nvSpPr>
        <p:spPr>
          <a:xfrm>
            <a:off x="2995204" y="3771625"/>
            <a:ext cx="22316" cy="10073"/>
          </a:xfrm>
          <a:prstGeom prst="line">
            <a:avLst/>
          </a:prstGeom>
          <a:noFill/>
          <a:ln w="25400">
            <a:solidFill>
              <a:srgbClr val="2E5BD8"/>
            </a:solidFill>
            <a:prstDash val="solid"/>
          </a:ln>
        </p:spPr>
      </p:sp>
      <p:sp>
        <p:nvSpPr>
          <p:cNvPr id="176" name="Shape 174"/>
          <p:cNvSpPr/>
          <p:nvPr/>
        </p:nvSpPr>
        <p:spPr>
          <a:xfrm>
            <a:off x="2971800" y="3735977"/>
            <a:ext cx="91440" cy="91440"/>
          </a:xfrm>
          <a:prstGeom prst="line">
            <a:avLst/>
          </a:prstGeom>
          <a:noFill/>
          <a:ln w="15875">
            <a:solidFill>
              <a:srgbClr val="1A2340"/>
            </a:solidFill>
            <a:prstDash val="solid"/>
          </a:ln>
        </p:spPr>
      </p:sp>
      <p:sp>
        <p:nvSpPr>
          <p:cNvPr id="177" name="Shape 175"/>
          <p:cNvSpPr/>
          <p:nvPr/>
        </p:nvSpPr>
        <p:spPr>
          <a:xfrm flipV="1">
            <a:off x="2971800" y="3735977"/>
            <a:ext cx="91440" cy="91440"/>
          </a:xfrm>
          <a:prstGeom prst="line">
            <a:avLst/>
          </a:prstGeom>
          <a:noFill/>
          <a:ln w="15875">
            <a:solidFill>
              <a:srgbClr val="1A2340"/>
            </a:solidFill>
            <a:prstDash val="solid"/>
          </a:ln>
        </p:spPr>
      </p:sp>
      <p:sp>
        <p:nvSpPr>
          <p:cNvPr id="178" name="Shape 176"/>
          <p:cNvSpPr/>
          <p:nvPr/>
        </p:nvSpPr>
        <p:spPr>
          <a:xfrm>
            <a:off x="2659380" y="3560412"/>
            <a:ext cx="91440" cy="91440"/>
          </a:xfrm>
          <a:prstGeom prst="line">
            <a:avLst/>
          </a:prstGeom>
          <a:noFill/>
          <a:ln w="15875">
            <a:solidFill>
              <a:srgbClr val="1A2340"/>
            </a:solidFill>
            <a:prstDash val="solid"/>
          </a:ln>
        </p:spPr>
      </p:sp>
      <p:sp>
        <p:nvSpPr>
          <p:cNvPr id="179" name="Shape 177"/>
          <p:cNvSpPr/>
          <p:nvPr/>
        </p:nvSpPr>
        <p:spPr>
          <a:xfrm flipV="1">
            <a:off x="2659380" y="3560412"/>
            <a:ext cx="91440" cy="91440"/>
          </a:xfrm>
          <a:prstGeom prst="line">
            <a:avLst/>
          </a:prstGeom>
          <a:noFill/>
          <a:ln w="15875">
            <a:solidFill>
              <a:srgbClr val="1A2340"/>
            </a:solidFill>
            <a:prstDash val="solid"/>
          </a:ln>
        </p:spPr>
      </p:sp>
      <p:sp>
        <p:nvSpPr>
          <p:cNvPr id="180" name="Shape 178"/>
          <p:cNvSpPr/>
          <p:nvPr/>
        </p:nvSpPr>
        <p:spPr>
          <a:xfrm>
            <a:off x="2346960" y="3326326"/>
            <a:ext cx="91440" cy="91440"/>
          </a:xfrm>
          <a:prstGeom prst="line">
            <a:avLst/>
          </a:prstGeom>
          <a:noFill/>
          <a:ln w="15875">
            <a:solidFill>
              <a:srgbClr val="1A2340"/>
            </a:solidFill>
            <a:prstDash val="solid"/>
          </a:ln>
        </p:spPr>
      </p:sp>
      <p:sp>
        <p:nvSpPr>
          <p:cNvPr id="181" name="Shape 179"/>
          <p:cNvSpPr/>
          <p:nvPr/>
        </p:nvSpPr>
        <p:spPr>
          <a:xfrm flipV="1">
            <a:off x="2346960" y="3326326"/>
            <a:ext cx="91440" cy="91440"/>
          </a:xfrm>
          <a:prstGeom prst="line">
            <a:avLst/>
          </a:prstGeom>
          <a:noFill/>
          <a:ln w="15875">
            <a:solidFill>
              <a:srgbClr val="1A2340"/>
            </a:solidFill>
            <a:prstDash val="solid"/>
          </a:ln>
        </p:spPr>
      </p:sp>
      <p:sp>
        <p:nvSpPr>
          <p:cNvPr id="182" name="Shape 180"/>
          <p:cNvSpPr/>
          <p:nvPr/>
        </p:nvSpPr>
        <p:spPr>
          <a:xfrm>
            <a:off x="2034540" y="2891594"/>
            <a:ext cx="91440" cy="91440"/>
          </a:xfrm>
          <a:prstGeom prst="line">
            <a:avLst/>
          </a:prstGeom>
          <a:noFill/>
          <a:ln w="15875">
            <a:solidFill>
              <a:srgbClr val="1A2340"/>
            </a:solidFill>
            <a:prstDash val="solid"/>
          </a:ln>
        </p:spPr>
      </p:sp>
      <p:sp>
        <p:nvSpPr>
          <p:cNvPr id="183" name="Shape 181"/>
          <p:cNvSpPr/>
          <p:nvPr/>
        </p:nvSpPr>
        <p:spPr>
          <a:xfrm flipV="1">
            <a:off x="2034540" y="2891594"/>
            <a:ext cx="91440" cy="91440"/>
          </a:xfrm>
          <a:prstGeom prst="line">
            <a:avLst/>
          </a:prstGeom>
          <a:noFill/>
          <a:ln w="15875">
            <a:solidFill>
              <a:srgbClr val="1A2340"/>
            </a:solidFill>
            <a:prstDash val="solid"/>
          </a:ln>
        </p:spPr>
      </p:sp>
      <p:sp>
        <p:nvSpPr>
          <p:cNvPr id="184" name="Shape 182"/>
          <p:cNvSpPr/>
          <p:nvPr/>
        </p:nvSpPr>
        <p:spPr>
          <a:xfrm>
            <a:off x="1722120" y="2080652"/>
            <a:ext cx="91440" cy="91440"/>
          </a:xfrm>
          <a:prstGeom prst="line">
            <a:avLst/>
          </a:prstGeom>
          <a:noFill/>
          <a:ln w="15875">
            <a:solidFill>
              <a:srgbClr val="1A2340"/>
            </a:solidFill>
            <a:prstDash val="solid"/>
          </a:ln>
        </p:spPr>
      </p:sp>
      <p:sp>
        <p:nvSpPr>
          <p:cNvPr id="185" name="Shape 183"/>
          <p:cNvSpPr/>
          <p:nvPr/>
        </p:nvSpPr>
        <p:spPr>
          <a:xfrm flipV="1">
            <a:off x="1722120" y="2080652"/>
            <a:ext cx="91440" cy="91440"/>
          </a:xfrm>
          <a:prstGeom prst="line">
            <a:avLst/>
          </a:prstGeom>
          <a:noFill/>
          <a:ln w="15875">
            <a:solidFill>
              <a:srgbClr val="1A2340"/>
            </a:solidFill>
            <a:prstDash val="solid"/>
          </a:ln>
        </p:spPr>
      </p:sp>
      <p:sp>
        <p:nvSpPr>
          <p:cNvPr id="186" name="Shape 184"/>
          <p:cNvSpPr/>
          <p:nvPr/>
        </p:nvSpPr>
        <p:spPr>
          <a:xfrm flipV="1">
            <a:off x="3840480" y="1715432"/>
            <a:ext cx="1812036" cy="2902288"/>
          </a:xfrm>
          <a:prstGeom prst="line">
            <a:avLst/>
          </a:prstGeom>
          <a:noFill/>
          <a:ln w="25400">
            <a:solidFill>
              <a:srgbClr val="2E5BD8"/>
            </a:solidFill>
            <a:prstDash val="solid"/>
          </a:ln>
        </p:spPr>
      </p:sp>
      <p:sp>
        <p:nvSpPr>
          <p:cNvPr id="187" name="Shape 185"/>
          <p:cNvSpPr/>
          <p:nvPr/>
        </p:nvSpPr>
        <p:spPr>
          <a:xfrm>
            <a:off x="4315460" y="3735977"/>
            <a:ext cx="91440" cy="91440"/>
          </a:xfrm>
          <a:prstGeom prst="line">
            <a:avLst/>
          </a:prstGeom>
          <a:noFill/>
          <a:ln w="15875">
            <a:solidFill>
              <a:srgbClr val="1A2340"/>
            </a:solidFill>
            <a:prstDash val="solid"/>
          </a:ln>
        </p:spPr>
      </p:sp>
      <p:sp>
        <p:nvSpPr>
          <p:cNvPr id="188" name="Shape 186"/>
          <p:cNvSpPr/>
          <p:nvPr/>
        </p:nvSpPr>
        <p:spPr>
          <a:xfrm flipV="1">
            <a:off x="4315460" y="3735977"/>
            <a:ext cx="91440" cy="91440"/>
          </a:xfrm>
          <a:prstGeom prst="line">
            <a:avLst/>
          </a:prstGeom>
          <a:noFill/>
          <a:ln w="15875">
            <a:solidFill>
              <a:srgbClr val="1A2340"/>
            </a:solidFill>
            <a:prstDash val="solid"/>
          </a:ln>
        </p:spPr>
      </p:sp>
      <p:sp>
        <p:nvSpPr>
          <p:cNvPr id="189" name="Shape 187"/>
          <p:cNvSpPr/>
          <p:nvPr/>
        </p:nvSpPr>
        <p:spPr>
          <a:xfrm>
            <a:off x="4419600" y="3560412"/>
            <a:ext cx="91440" cy="91440"/>
          </a:xfrm>
          <a:prstGeom prst="line">
            <a:avLst/>
          </a:prstGeom>
          <a:noFill/>
          <a:ln w="15875">
            <a:solidFill>
              <a:srgbClr val="1A2340"/>
            </a:solidFill>
            <a:prstDash val="solid"/>
          </a:ln>
        </p:spPr>
      </p:sp>
      <p:sp>
        <p:nvSpPr>
          <p:cNvPr id="190" name="Shape 188"/>
          <p:cNvSpPr/>
          <p:nvPr/>
        </p:nvSpPr>
        <p:spPr>
          <a:xfrm flipV="1">
            <a:off x="4419600" y="3560412"/>
            <a:ext cx="91440" cy="91440"/>
          </a:xfrm>
          <a:prstGeom prst="line">
            <a:avLst/>
          </a:prstGeom>
          <a:noFill/>
          <a:ln w="15875">
            <a:solidFill>
              <a:srgbClr val="1A2340"/>
            </a:solidFill>
            <a:prstDash val="solid"/>
          </a:ln>
        </p:spPr>
      </p:sp>
      <p:sp>
        <p:nvSpPr>
          <p:cNvPr id="191" name="Shape 189"/>
          <p:cNvSpPr/>
          <p:nvPr/>
        </p:nvSpPr>
        <p:spPr>
          <a:xfrm>
            <a:off x="4575810" y="3326326"/>
            <a:ext cx="91440" cy="91440"/>
          </a:xfrm>
          <a:prstGeom prst="line">
            <a:avLst/>
          </a:prstGeom>
          <a:noFill/>
          <a:ln w="15875">
            <a:solidFill>
              <a:srgbClr val="1A2340"/>
            </a:solidFill>
            <a:prstDash val="solid"/>
          </a:ln>
        </p:spPr>
      </p:sp>
      <p:sp>
        <p:nvSpPr>
          <p:cNvPr id="192" name="Shape 190"/>
          <p:cNvSpPr/>
          <p:nvPr/>
        </p:nvSpPr>
        <p:spPr>
          <a:xfrm flipV="1">
            <a:off x="4575810" y="3326326"/>
            <a:ext cx="91440" cy="91440"/>
          </a:xfrm>
          <a:prstGeom prst="line">
            <a:avLst/>
          </a:prstGeom>
          <a:noFill/>
          <a:ln w="15875">
            <a:solidFill>
              <a:srgbClr val="1A2340"/>
            </a:solidFill>
            <a:prstDash val="solid"/>
          </a:ln>
        </p:spPr>
      </p:sp>
      <p:sp>
        <p:nvSpPr>
          <p:cNvPr id="193" name="Shape 191"/>
          <p:cNvSpPr/>
          <p:nvPr/>
        </p:nvSpPr>
        <p:spPr>
          <a:xfrm>
            <a:off x="4836160" y="2891594"/>
            <a:ext cx="91440" cy="91440"/>
          </a:xfrm>
          <a:prstGeom prst="line">
            <a:avLst/>
          </a:prstGeom>
          <a:noFill/>
          <a:ln w="15875">
            <a:solidFill>
              <a:srgbClr val="1A2340"/>
            </a:solidFill>
            <a:prstDash val="solid"/>
          </a:ln>
        </p:spPr>
      </p:sp>
      <p:sp>
        <p:nvSpPr>
          <p:cNvPr id="194" name="Shape 192"/>
          <p:cNvSpPr/>
          <p:nvPr/>
        </p:nvSpPr>
        <p:spPr>
          <a:xfrm flipV="1">
            <a:off x="4836160" y="2891594"/>
            <a:ext cx="91440" cy="91440"/>
          </a:xfrm>
          <a:prstGeom prst="line">
            <a:avLst/>
          </a:prstGeom>
          <a:noFill/>
          <a:ln w="15875">
            <a:solidFill>
              <a:srgbClr val="1A2340"/>
            </a:solidFill>
            <a:prstDash val="solid"/>
          </a:ln>
        </p:spPr>
      </p:sp>
      <p:sp>
        <p:nvSpPr>
          <p:cNvPr id="195" name="Shape 193"/>
          <p:cNvSpPr/>
          <p:nvPr/>
        </p:nvSpPr>
        <p:spPr>
          <a:xfrm>
            <a:off x="5356860" y="2080652"/>
            <a:ext cx="91440" cy="91440"/>
          </a:xfrm>
          <a:prstGeom prst="line">
            <a:avLst/>
          </a:prstGeom>
          <a:noFill/>
          <a:ln w="15875">
            <a:solidFill>
              <a:srgbClr val="1A2340"/>
            </a:solidFill>
            <a:prstDash val="solid"/>
          </a:ln>
        </p:spPr>
      </p:sp>
      <p:sp>
        <p:nvSpPr>
          <p:cNvPr id="196" name="Shape 194"/>
          <p:cNvSpPr/>
          <p:nvPr/>
        </p:nvSpPr>
        <p:spPr>
          <a:xfrm flipV="1">
            <a:off x="5356860" y="2080652"/>
            <a:ext cx="91440" cy="91440"/>
          </a:xfrm>
          <a:prstGeom prst="line">
            <a:avLst/>
          </a:prstGeom>
          <a:noFill/>
          <a:ln w="15875">
            <a:solidFill>
              <a:srgbClr val="1A2340"/>
            </a:solidFill>
            <a:prstDash val="solid"/>
          </a:ln>
        </p:spPr>
      </p:sp>
      <p:sp>
        <p:nvSpPr>
          <p:cNvPr id="197" name="Text 195"/>
          <p:cNvSpPr/>
          <p:nvPr/>
        </p:nvSpPr>
        <p:spPr>
          <a:xfrm>
            <a:off x="548640" y="5010912"/>
            <a:ext cx="265176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p halves when V doubles</a:t>
            </a:r>
            <a:endParaRPr lang="en-US" sz="1050" dirty="0"/>
          </a:p>
        </p:txBody>
      </p:sp>
      <p:sp>
        <p:nvSpPr>
          <p:cNvPr id="198" name="Text 196"/>
          <p:cNvSpPr/>
          <p:nvPr/>
        </p:nvSpPr>
        <p:spPr>
          <a:xfrm>
            <a:off x="3246120" y="5010912"/>
            <a:ext cx="265176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through the origin: p ∝ 1/V</a:t>
            </a:r>
            <a:endParaRPr lang="en-US" sz="10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170432"/>
                <a:gridCol w="877824"/>
                <a:gridCol w="877824"/>
                <a:gridCol w="877824"/>
                <a:gridCol w="877824"/>
                <a:gridCol w="877824"/>
              </a:tblGrid>
              <a:tr h="27432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V / cm³</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27432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p / kPa</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121</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149</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201</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298</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7432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p × V</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6000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6050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5960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6030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5960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27432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1/V / cm⁻³</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0.0167</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0.0200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0.0250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0.0333</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0.0500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200" name="Shape 197"/>
          <p:cNvSpPr/>
          <p:nvPr/>
        </p:nvSpPr>
        <p:spPr>
          <a:xfrm>
            <a:off x="6217920" y="2432304"/>
            <a:ext cx="5559552" cy="1417320"/>
          </a:xfrm>
          <a:prstGeom prst="roundRect">
            <a:avLst>
              <a:gd name="adj" fmla="val 3871"/>
            </a:avLst>
          </a:prstGeom>
          <a:solidFill>
            <a:srgbClr val="F5F8FE"/>
          </a:solidFill>
          <a:ln w="9525">
            <a:solidFill>
              <a:srgbClr val="D5DCEB"/>
            </a:solidFill>
            <a:prstDash val="solid"/>
          </a:ln>
        </p:spPr>
      </p:sp>
      <p:sp>
        <p:nvSpPr>
          <p:cNvPr id="201" name="Text 198"/>
          <p:cNvSpPr/>
          <p:nvPr/>
        </p:nvSpPr>
        <p:spPr>
          <a:xfrm>
            <a:off x="6382512" y="2523744"/>
            <a:ext cx="523036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What the results show</a:t>
            </a:r>
            <a:endParaRPr lang="en-US" sz="1300" dirty="0"/>
          </a:p>
        </p:txBody>
      </p:sp>
      <p:sp>
        <p:nvSpPr>
          <p:cNvPr id="202" name="Text 199"/>
          <p:cNvSpPr/>
          <p:nvPr/>
        </p:nvSpPr>
        <p:spPr>
          <a:xfrm>
            <a:off x="6382512" y="2852928"/>
            <a:ext cx="5230368" cy="92354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 × V is about </a:t>
            </a:r>
            <a:r>
              <a:rPr lang="en-US" sz="1050" b="1" dirty="0">
                <a:solidFill>
                  <a:srgbClr val="262B3A"/>
                </a:solidFill>
                <a:latin typeface="Calibri" pitchFamily="34" charset="0"/>
                <a:ea typeface="Calibri" pitchFamily="34" charset="-122"/>
                <a:cs typeface="Calibri" pitchFamily="34" charset="-120"/>
              </a:rPr>
              <a:t>6000</a:t>
            </a:r>
            <a:r>
              <a:rPr lang="en-US" sz="1050" dirty="0">
                <a:solidFill>
                  <a:srgbClr val="262B3A"/>
                </a:solidFill>
                <a:latin typeface="Calibri" pitchFamily="34" charset="0"/>
                <a:ea typeface="Calibri" pitchFamily="34" charset="-122"/>
                <a:cs typeface="Calibri" pitchFamily="34" charset="-120"/>
              </a:rPr>
              <a:t> every time (within 1%): p × V = constant.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 against V is a </a:t>
            </a:r>
            <a:r>
              <a:rPr lang="en-US" sz="1050" b="1" dirty="0">
                <a:solidFill>
                  <a:srgbClr val="262B3A"/>
                </a:solidFill>
                <a:latin typeface="Calibri" pitchFamily="34" charset="0"/>
                <a:ea typeface="Calibri" pitchFamily="34" charset="-122"/>
                <a:cs typeface="Calibri" pitchFamily="34" charset="-120"/>
              </a:rPr>
              <a:t>curve</a:t>
            </a:r>
            <a:r>
              <a:rPr lang="en-US" sz="1050" dirty="0">
                <a:solidFill>
                  <a:srgbClr val="262B3A"/>
                </a:solidFill>
                <a:latin typeface="Calibri" pitchFamily="34" charset="0"/>
                <a:ea typeface="Calibri" pitchFamily="34" charset="-122"/>
                <a:cs typeface="Calibri" pitchFamily="34" charset="-120"/>
              </a:rPr>
              <a:t> (inverse proportion), not a straight line.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 against 1/V is a </a:t>
            </a:r>
            <a:r>
              <a:rPr lang="en-US" sz="1050" b="1" dirty="0">
                <a:solidFill>
                  <a:srgbClr val="262B3A"/>
                </a:solidFill>
                <a:latin typeface="Calibri" pitchFamily="34" charset="0"/>
                <a:ea typeface="Calibri" pitchFamily="34" charset="-122"/>
                <a:cs typeface="Calibri" pitchFamily="34" charset="-120"/>
              </a:rPr>
              <a:t>straight line through the origin</a:t>
            </a:r>
            <a:r>
              <a:rPr lang="en-US" sz="1050" dirty="0">
                <a:solidFill>
                  <a:srgbClr val="262B3A"/>
                </a:solidFill>
                <a:latin typeface="Calibri" pitchFamily="34" charset="0"/>
                <a:ea typeface="Calibri" pitchFamily="34" charset="-122"/>
                <a:cs typeface="Calibri" pitchFamily="34" charset="-120"/>
              </a:rPr>
              <a:t>: p ∝ 1/V. Gradient = p × V ≈ 6000 kPa cm³.</a:t>
            </a:r>
            <a:endParaRPr lang="en-US" sz="1050" dirty="0"/>
          </a:p>
        </p:txBody>
      </p:sp>
      <p:sp>
        <p:nvSpPr>
          <p:cNvPr id="203" name="Shape 200"/>
          <p:cNvSpPr/>
          <p:nvPr/>
        </p:nvSpPr>
        <p:spPr>
          <a:xfrm>
            <a:off x="6217920" y="3959352"/>
            <a:ext cx="5559552" cy="1755648"/>
          </a:xfrm>
          <a:prstGeom prst="roundRect">
            <a:avLst>
              <a:gd name="adj" fmla="val 3125"/>
            </a:avLst>
          </a:prstGeom>
          <a:solidFill>
            <a:srgbClr val="FFF4E0"/>
          </a:solidFill>
          <a:ln w="9525">
            <a:solidFill>
              <a:srgbClr val="F1D9A8"/>
            </a:solidFill>
            <a:prstDash val="solid"/>
          </a:ln>
        </p:spPr>
      </p:sp>
      <p:sp>
        <p:nvSpPr>
          <p:cNvPr id="204" name="Text 201"/>
          <p:cNvSpPr/>
          <p:nvPr/>
        </p:nvSpPr>
        <p:spPr>
          <a:xfrm>
            <a:off x="6382512" y="4032504"/>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predict from the data</a:t>
            </a:r>
            <a:endParaRPr lang="en-US" sz="1300" dirty="0"/>
          </a:p>
        </p:txBody>
      </p:sp>
      <p:sp>
        <p:nvSpPr>
          <p:cNvPr id="205" name="Text 202"/>
          <p:cNvSpPr/>
          <p:nvPr/>
        </p:nvSpPr>
        <p:spPr>
          <a:xfrm>
            <a:off x="6382512" y="4343400"/>
            <a:ext cx="5230368" cy="1298448"/>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What pressure would the gas have at 25 cm³?</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Equation   </a:t>
            </a:r>
            <a:r>
              <a:rPr lang="en-US" sz="1050" dirty="0">
                <a:solidFill>
                  <a:srgbClr val="262B3A"/>
                </a:solidFill>
                <a:latin typeface="Calibri" pitchFamily="34" charset="0"/>
                <a:ea typeface="Calibri" pitchFamily="34" charset="-122"/>
                <a:cs typeface="Calibri" pitchFamily="34" charset="-120"/>
              </a:rPr>
              <a:t>p × V = constant = 6000 kPa cm³</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Rearrange   </a:t>
            </a:r>
            <a:r>
              <a:rPr lang="en-US" sz="1050" dirty="0">
                <a:solidFill>
                  <a:srgbClr val="262B3A"/>
                </a:solidFill>
                <a:latin typeface="Calibri" pitchFamily="34" charset="0"/>
                <a:ea typeface="Calibri" pitchFamily="34" charset="-122"/>
                <a:cs typeface="Calibri" pitchFamily="34" charset="-120"/>
              </a:rPr>
              <a:t>p = 6000 ÷ V</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Substitute   </a:t>
            </a:r>
            <a:r>
              <a:rPr lang="en-US" sz="1050" dirty="0">
                <a:solidFill>
                  <a:srgbClr val="262B3A"/>
                </a:solidFill>
                <a:latin typeface="Calibri" pitchFamily="34" charset="0"/>
                <a:ea typeface="Calibri" pitchFamily="34" charset="-122"/>
                <a:cs typeface="Calibri" pitchFamily="34" charset="-120"/>
              </a:rPr>
              <a:t>p = 6000 ÷ 25</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p = 240 kPa</a:t>
            </a:r>
            <a:endParaRPr lang="en-US" sz="1050" dirty="0"/>
          </a:p>
        </p:txBody>
      </p:sp>
      <p:sp>
        <p:nvSpPr>
          <p:cNvPr id="206" name="Shape 203"/>
          <p:cNvSpPr/>
          <p:nvPr/>
        </p:nvSpPr>
        <p:spPr>
          <a:xfrm>
            <a:off x="411480" y="5833872"/>
            <a:ext cx="11368735" cy="530352"/>
          </a:xfrm>
          <a:prstGeom prst="rect">
            <a:avLst/>
          </a:prstGeom>
          <a:solidFill>
            <a:srgbClr val="FFF4E0"/>
          </a:solidFill>
          <a:ln w="6350">
            <a:solidFill>
              <a:srgbClr val="F1D9A8"/>
            </a:solidFill>
            <a:prstDash val="solid"/>
          </a:ln>
        </p:spPr>
      </p:sp>
      <p:sp>
        <p:nvSpPr>
          <p:cNvPr id="207" name="Shape 204"/>
          <p:cNvSpPr/>
          <p:nvPr/>
        </p:nvSpPr>
        <p:spPr>
          <a:xfrm>
            <a:off x="411480" y="5833872"/>
            <a:ext cx="82296" cy="530352"/>
          </a:xfrm>
          <a:prstGeom prst="rect">
            <a:avLst/>
          </a:prstGeom>
          <a:solidFill>
            <a:srgbClr val="E39A2F"/>
          </a:solidFill>
          <a:ln w="12700">
            <a:solidFill>
              <a:srgbClr val="E39A2F"/>
            </a:solidFill>
            <a:prstDash val="solid"/>
          </a:ln>
        </p:spPr>
      </p:sp>
      <p:sp>
        <p:nvSpPr>
          <p:cNvPr id="208" name="Text 20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HT: why do scientists plot p against 1/V rather than p against V to test Boyle's law?</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P6.2.5 • p × V = constant (Higher tier)</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17</a:t>
            </a:r>
            <a:endParaRPr lang="en-US" sz="1000" dirty="0"/>
          </a:p>
        </p:txBody>
      </p:sp>
      <p:sp>
        <p:nvSpPr>
          <p:cNvPr id="10" name="Shape 8"/>
          <p:cNvSpPr/>
          <p:nvPr/>
        </p:nvSpPr>
        <p:spPr>
          <a:xfrm>
            <a:off x="411480" y="1207008"/>
            <a:ext cx="11368735" cy="1159002"/>
          </a:xfrm>
          <a:prstGeom prst="roundRect">
            <a:avLst>
              <a:gd name="adj" fmla="val 3945"/>
            </a:avLst>
          </a:prstGeom>
          <a:solidFill>
            <a:srgbClr val="FFFFFF"/>
          </a:solidFill>
          <a:ln w="12700">
            <a:solidFill>
              <a:srgbClr val="D5DCEB"/>
            </a:solidFill>
            <a:prstDash val="solid"/>
          </a:ln>
        </p:spPr>
      </p:sp>
      <p:sp>
        <p:nvSpPr>
          <p:cNvPr id="11" name="Shape 9"/>
          <p:cNvSpPr/>
          <p:nvPr/>
        </p:nvSpPr>
        <p:spPr>
          <a:xfrm>
            <a:off x="411480" y="1207008"/>
            <a:ext cx="2103120" cy="292608"/>
          </a:xfrm>
          <a:prstGeom prst="rect">
            <a:avLst/>
          </a:prstGeom>
          <a:solidFill>
            <a:srgbClr val="F5A742"/>
          </a:solidFill>
          <a:ln w="12700">
            <a:solidFill>
              <a:srgbClr val="F5A742"/>
            </a:solidFill>
            <a:prstDash val="solid"/>
          </a:ln>
        </p:spPr>
      </p:sp>
      <p:sp>
        <p:nvSpPr>
          <p:cNvPr id="12" name="Text 10"/>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3" name="Shape 11"/>
          <p:cNvSpPr/>
          <p:nvPr/>
        </p:nvSpPr>
        <p:spPr>
          <a:xfrm>
            <a:off x="2606040" y="1216152"/>
            <a:ext cx="411480" cy="274320"/>
          </a:xfrm>
          <a:prstGeom prst="roundRect">
            <a:avLst>
              <a:gd name="adj" fmla="val 50000"/>
            </a:avLst>
          </a:prstGeom>
          <a:solidFill>
            <a:srgbClr val="C8414C"/>
          </a:solidFill>
          <a:ln w="12700">
            <a:solidFill>
              <a:srgbClr val="C8414C"/>
            </a:solidFill>
            <a:prstDash val="solid"/>
          </a:ln>
        </p:spPr>
      </p:sp>
      <p:sp>
        <p:nvSpPr>
          <p:cNvPr id="14" name="Text 12"/>
          <p:cNvSpPr/>
          <p:nvPr/>
        </p:nvSpPr>
        <p:spPr>
          <a:xfrm>
            <a:off x="2606040" y="1216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5" name="Text 13"/>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State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conditions needed for p × V = constant to apply to a gas.</a:t>
            </a:r>
            <a:endParaRPr lang="en-US" sz="1250" dirty="0"/>
          </a:p>
        </p:txBody>
      </p:sp>
      <p:sp>
        <p:nvSpPr>
          <p:cNvPr id="16" name="Text 14"/>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7" name="Shape 15"/>
          <p:cNvSpPr/>
          <p:nvPr/>
        </p:nvSpPr>
        <p:spPr>
          <a:xfrm>
            <a:off x="411480" y="2512314"/>
            <a:ext cx="11368735" cy="1159002"/>
          </a:xfrm>
          <a:prstGeom prst="roundRect">
            <a:avLst>
              <a:gd name="adj" fmla="val 3945"/>
            </a:avLst>
          </a:prstGeom>
          <a:solidFill>
            <a:srgbClr val="FFFFFF"/>
          </a:solidFill>
          <a:ln w="12700">
            <a:solidFill>
              <a:srgbClr val="D5DCEB"/>
            </a:solidFill>
            <a:prstDash val="solid"/>
          </a:ln>
        </p:spPr>
      </p:sp>
      <p:sp>
        <p:nvSpPr>
          <p:cNvPr id="18" name="Shape 16"/>
          <p:cNvSpPr/>
          <p:nvPr/>
        </p:nvSpPr>
        <p:spPr>
          <a:xfrm>
            <a:off x="411480" y="2512314"/>
            <a:ext cx="2103120" cy="292608"/>
          </a:xfrm>
          <a:prstGeom prst="rect">
            <a:avLst/>
          </a:prstGeom>
          <a:solidFill>
            <a:srgbClr val="F5A742"/>
          </a:solidFill>
          <a:ln w="12700">
            <a:solidFill>
              <a:srgbClr val="F5A742"/>
            </a:solidFill>
            <a:prstDash val="solid"/>
          </a:ln>
        </p:spPr>
      </p:sp>
      <p:sp>
        <p:nvSpPr>
          <p:cNvPr id="19" name="Text 17"/>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0" name="Shape 18"/>
          <p:cNvSpPr/>
          <p:nvPr/>
        </p:nvSpPr>
        <p:spPr>
          <a:xfrm>
            <a:off x="2606040" y="2521458"/>
            <a:ext cx="411480" cy="274320"/>
          </a:xfrm>
          <a:prstGeom prst="roundRect">
            <a:avLst>
              <a:gd name="adj" fmla="val 50000"/>
            </a:avLst>
          </a:prstGeom>
          <a:solidFill>
            <a:srgbClr val="C8414C"/>
          </a:solidFill>
          <a:ln w="12700">
            <a:solidFill>
              <a:srgbClr val="C8414C"/>
            </a:solidFill>
            <a:prstDash val="solid"/>
          </a:ln>
        </p:spPr>
      </p:sp>
      <p:sp>
        <p:nvSpPr>
          <p:cNvPr id="21" name="Text 19"/>
          <p:cNvSpPr/>
          <p:nvPr/>
        </p:nvSpPr>
        <p:spPr>
          <a:xfrm>
            <a:off x="2606040" y="2521458"/>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2" name="Text 20"/>
          <p:cNvSpPr/>
          <p:nvPr/>
        </p:nvSpPr>
        <p:spPr>
          <a:xfrm>
            <a:off x="640080" y="2878074"/>
            <a:ext cx="9539935" cy="720090"/>
          </a:xfrm>
          <a:prstGeom prst="rect">
            <a:avLst/>
          </a:prstGeom>
          <a:noFill/>
          <a:ln/>
        </p:spPr>
        <p:txBody>
          <a:bodyPr wrap="square" lIns="0" tIns="0" rIns="0" bIns="0" rtlCol="0" anchor="t"/>
          <a:lstStyle/>
          <a:p>
            <a:pPr indent="0" marL="0">
              <a:buNone/>
            </a:pPr>
            <a:r>
              <a:rPr lang="en-US" sz="1250" b="1" dirty="0">
                <a:solidFill>
                  <a:srgbClr val="262B3A"/>
                </a:solidFill>
                <a:latin typeface="Calibri" pitchFamily="34" charset="0"/>
                <a:ea typeface="Calibri" pitchFamily="34" charset="-122"/>
                <a:cs typeface="Calibri" pitchFamily="34" charset="-120"/>
              </a:rPr>
              <a:t>300 cm³</a:t>
            </a:r>
            <a:r>
              <a:rPr lang="en-US" sz="1250" dirty="0">
                <a:solidFill>
                  <a:srgbClr val="262B3A"/>
                </a:solidFill>
                <a:latin typeface="Calibri" pitchFamily="34" charset="0"/>
                <a:ea typeface="Calibri" pitchFamily="34" charset="-122"/>
                <a:cs typeface="Calibri" pitchFamily="34" charset="-120"/>
              </a:rPr>
              <a:t> of gas at </a:t>
            </a:r>
            <a:r>
              <a:rPr lang="en-US" sz="1250" b="1" dirty="0">
                <a:solidFill>
                  <a:srgbClr val="262B3A"/>
                </a:solidFill>
                <a:latin typeface="Calibri" pitchFamily="34" charset="0"/>
                <a:ea typeface="Calibri" pitchFamily="34" charset="-122"/>
                <a:cs typeface="Calibri" pitchFamily="34" charset="-120"/>
              </a:rPr>
              <a:t>100 kPa</a:t>
            </a:r>
            <a:r>
              <a:rPr lang="en-US" sz="1250" dirty="0">
                <a:solidFill>
                  <a:srgbClr val="262B3A"/>
                </a:solidFill>
                <a:latin typeface="Calibri" pitchFamily="34" charset="0"/>
                <a:ea typeface="Calibri" pitchFamily="34" charset="-122"/>
                <a:cs typeface="Calibri" pitchFamily="34" charset="-120"/>
              </a:rPr>
              <a:t> is compressed slowly to </a:t>
            </a:r>
            <a:r>
              <a:rPr lang="en-US" sz="1250" b="1" dirty="0">
                <a:solidFill>
                  <a:srgbClr val="262B3A"/>
                </a:solidFill>
                <a:latin typeface="Calibri" pitchFamily="34" charset="0"/>
                <a:ea typeface="Calibri" pitchFamily="34" charset="-122"/>
                <a:cs typeface="Calibri" pitchFamily="34" charset="-120"/>
              </a:rPr>
              <a:t>75 cm³</a:t>
            </a:r>
            <a:r>
              <a:rPr lang="en-US" sz="1250" dirty="0">
                <a:solidFill>
                  <a:srgbClr val="262B3A"/>
                </a:solidFill>
                <a:latin typeface="Calibri" pitchFamily="34" charset="0"/>
                <a:ea typeface="Calibri" pitchFamily="34" charset="-122"/>
                <a:cs typeface="Calibri" pitchFamily="34" charset="-120"/>
              </a:rPr>
              <a:t> at constant temperature. Calculate the new pressure.</a:t>
            </a:r>
            <a:endParaRPr lang="en-US" sz="1250" dirty="0"/>
          </a:p>
        </p:txBody>
      </p:sp>
      <p:sp>
        <p:nvSpPr>
          <p:cNvPr id="23" name="Text 21"/>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4" name="Shape 22"/>
          <p:cNvSpPr/>
          <p:nvPr/>
        </p:nvSpPr>
        <p:spPr>
          <a:xfrm>
            <a:off x="411480" y="3817620"/>
            <a:ext cx="11368735" cy="1159002"/>
          </a:xfrm>
          <a:prstGeom prst="roundRect">
            <a:avLst>
              <a:gd name="adj" fmla="val 3945"/>
            </a:avLst>
          </a:prstGeom>
          <a:solidFill>
            <a:srgbClr val="FFFFFF"/>
          </a:solidFill>
          <a:ln w="12700">
            <a:solidFill>
              <a:srgbClr val="D5DCEB"/>
            </a:solidFill>
            <a:prstDash val="solid"/>
          </a:ln>
        </p:spPr>
      </p:sp>
      <p:sp>
        <p:nvSpPr>
          <p:cNvPr id="25" name="Shape 23"/>
          <p:cNvSpPr/>
          <p:nvPr/>
        </p:nvSpPr>
        <p:spPr>
          <a:xfrm>
            <a:off x="411480" y="3817620"/>
            <a:ext cx="2103120" cy="292608"/>
          </a:xfrm>
          <a:prstGeom prst="rect">
            <a:avLst/>
          </a:prstGeom>
          <a:solidFill>
            <a:srgbClr val="F5A742"/>
          </a:solidFill>
          <a:ln w="12700">
            <a:solidFill>
              <a:srgbClr val="F5A742"/>
            </a:solidFill>
            <a:prstDash val="solid"/>
          </a:ln>
        </p:spPr>
      </p:sp>
      <p:sp>
        <p:nvSpPr>
          <p:cNvPr id="26" name="Text 24"/>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7" name="Shape 25"/>
          <p:cNvSpPr/>
          <p:nvPr/>
        </p:nvSpPr>
        <p:spPr>
          <a:xfrm>
            <a:off x="2606040" y="3826764"/>
            <a:ext cx="411480" cy="274320"/>
          </a:xfrm>
          <a:prstGeom prst="roundRect">
            <a:avLst>
              <a:gd name="adj" fmla="val 50000"/>
            </a:avLst>
          </a:prstGeom>
          <a:solidFill>
            <a:srgbClr val="C8414C"/>
          </a:solidFill>
          <a:ln w="12700">
            <a:solidFill>
              <a:srgbClr val="C8414C"/>
            </a:solidFill>
            <a:prstDash val="solid"/>
          </a:ln>
        </p:spPr>
      </p:sp>
      <p:sp>
        <p:nvSpPr>
          <p:cNvPr id="28" name="Text 26"/>
          <p:cNvSpPr/>
          <p:nvPr/>
        </p:nvSpPr>
        <p:spPr>
          <a:xfrm>
            <a:off x="2606040" y="382676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9" name="Text 27"/>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the particle model to explain why reducing the volume of a gas at constant temperature increases its pressure.</a:t>
            </a:r>
            <a:endParaRPr lang="en-US" sz="1250" dirty="0"/>
          </a:p>
        </p:txBody>
      </p:sp>
      <p:sp>
        <p:nvSpPr>
          <p:cNvPr id="30" name="Text 28"/>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Shape 29"/>
          <p:cNvSpPr/>
          <p:nvPr/>
        </p:nvSpPr>
        <p:spPr>
          <a:xfrm>
            <a:off x="411480" y="5122926"/>
            <a:ext cx="11368735" cy="1159002"/>
          </a:xfrm>
          <a:prstGeom prst="roundRect">
            <a:avLst>
              <a:gd name="adj" fmla="val 3945"/>
            </a:avLst>
          </a:prstGeom>
          <a:solidFill>
            <a:srgbClr val="FFFFFF"/>
          </a:solidFill>
          <a:ln w="12700">
            <a:solidFill>
              <a:srgbClr val="D5DCEB"/>
            </a:solidFill>
            <a:prstDash val="solid"/>
          </a:ln>
        </p:spPr>
      </p:sp>
      <p:sp>
        <p:nvSpPr>
          <p:cNvPr id="32" name="Shape 30"/>
          <p:cNvSpPr/>
          <p:nvPr/>
        </p:nvSpPr>
        <p:spPr>
          <a:xfrm>
            <a:off x="411480" y="5122926"/>
            <a:ext cx="2103120" cy="292608"/>
          </a:xfrm>
          <a:prstGeom prst="rect">
            <a:avLst/>
          </a:prstGeom>
          <a:solidFill>
            <a:srgbClr val="F5A742"/>
          </a:solidFill>
          <a:ln w="12700">
            <a:solidFill>
              <a:srgbClr val="F5A742"/>
            </a:solidFill>
            <a:prstDash val="solid"/>
          </a:ln>
        </p:spPr>
      </p:sp>
      <p:sp>
        <p:nvSpPr>
          <p:cNvPr id="33" name="Text 31"/>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34" name="Shape 32"/>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35" name="Text 33"/>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6" name="Text 3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shapes of the graphs of </a:t>
            </a:r>
            <a:r>
              <a:rPr lang="en-US" sz="1250" b="1" dirty="0">
                <a:solidFill>
                  <a:srgbClr val="262B3A"/>
                </a:solidFill>
                <a:latin typeface="Calibri" pitchFamily="34" charset="0"/>
                <a:ea typeface="Calibri" pitchFamily="34" charset="-122"/>
                <a:cs typeface="Calibri" pitchFamily="34" charset="-120"/>
              </a:rPr>
              <a:t>p against V</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p against 1/V</a:t>
            </a:r>
            <a:r>
              <a:rPr lang="en-US" sz="1250" dirty="0">
                <a:solidFill>
                  <a:srgbClr val="262B3A"/>
                </a:solidFill>
                <a:latin typeface="Calibri" pitchFamily="34" charset="0"/>
                <a:ea typeface="Calibri" pitchFamily="34" charset="-122"/>
                <a:cs typeface="Calibri" pitchFamily="34" charset="-120"/>
              </a:rPr>
              <a:t> for a gas at constant temperature.</a:t>
            </a:r>
            <a:endParaRPr lang="en-US" sz="1250" dirty="0"/>
          </a:p>
        </p:txBody>
      </p:sp>
      <p:sp>
        <p:nvSpPr>
          <p:cNvPr id="37" name="Text 3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Doing work on a gas raises its temperature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P6.2.6 • a bicycle pump gets warm when you pump quickly</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P6.2.6  |  18</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bicycle pump: the piston pushes the air into a smaller volume</a:t>
            </a:r>
            <a:endParaRPr lang="en-US" sz="1000" dirty="0"/>
          </a:p>
        </p:txBody>
      </p:sp>
      <p:sp>
        <p:nvSpPr>
          <p:cNvPr id="12" name="Shape 10"/>
          <p:cNvSpPr/>
          <p:nvPr/>
        </p:nvSpPr>
        <p:spPr>
          <a:xfrm>
            <a:off x="2377440" y="1965960"/>
            <a:ext cx="2468880" cy="914400"/>
          </a:xfrm>
          <a:prstGeom prst="rect">
            <a:avLst/>
          </a:prstGeom>
          <a:solidFill>
            <a:srgbClr val="FFE8DF"/>
          </a:solidFill>
          <a:ln/>
        </p:spPr>
      </p:sp>
      <p:sp>
        <p:nvSpPr>
          <p:cNvPr id="13" name="Shape 11"/>
          <p:cNvSpPr/>
          <p:nvPr/>
        </p:nvSpPr>
        <p:spPr>
          <a:xfrm>
            <a:off x="1005840" y="1965960"/>
            <a:ext cx="3840480" cy="91"/>
          </a:xfrm>
          <a:prstGeom prst="line">
            <a:avLst/>
          </a:prstGeom>
          <a:noFill/>
          <a:ln w="25400">
            <a:solidFill>
              <a:srgbClr val="1A2340"/>
            </a:solidFill>
            <a:prstDash val="solid"/>
          </a:ln>
        </p:spPr>
      </p:sp>
      <p:sp>
        <p:nvSpPr>
          <p:cNvPr id="14" name="Shape 12"/>
          <p:cNvSpPr/>
          <p:nvPr/>
        </p:nvSpPr>
        <p:spPr>
          <a:xfrm>
            <a:off x="1005840" y="2880360"/>
            <a:ext cx="3840480" cy="91"/>
          </a:xfrm>
          <a:prstGeom prst="line">
            <a:avLst/>
          </a:prstGeom>
          <a:noFill/>
          <a:ln w="25400">
            <a:solidFill>
              <a:srgbClr val="1A2340"/>
            </a:solidFill>
            <a:prstDash val="solid"/>
          </a:ln>
        </p:spPr>
      </p:sp>
      <p:sp>
        <p:nvSpPr>
          <p:cNvPr id="15" name="Shape 13"/>
          <p:cNvSpPr/>
          <p:nvPr/>
        </p:nvSpPr>
        <p:spPr>
          <a:xfrm>
            <a:off x="4846320" y="1965960"/>
            <a:ext cx="91" cy="393192"/>
          </a:xfrm>
          <a:prstGeom prst="line">
            <a:avLst/>
          </a:prstGeom>
          <a:noFill/>
          <a:ln w="25400">
            <a:solidFill>
              <a:srgbClr val="1A2340"/>
            </a:solidFill>
            <a:prstDash val="solid"/>
          </a:ln>
        </p:spPr>
      </p:sp>
      <p:sp>
        <p:nvSpPr>
          <p:cNvPr id="16" name="Shape 14"/>
          <p:cNvSpPr/>
          <p:nvPr/>
        </p:nvSpPr>
        <p:spPr>
          <a:xfrm>
            <a:off x="4846320" y="2487168"/>
            <a:ext cx="91" cy="393192"/>
          </a:xfrm>
          <a:prstGeom prst="line">
            <a:avLst/>
          </a:prstGeom>
          <a:noFill/>
          <a:ln w="25400">
            <a:solidFill>
              <a:srgbClr val="1A2340"/>
            </a:solidFill>
            <a:prstDash val="solid"/>
          </a:ln>
        </p:spPr>
      </p:sp>
      <p:sp>
        <p:nvSpPr>
          <p:cNvPr id="17" name="Shape 15"/>
          <p:cNvSpPr/>
          <p:nvPr/>
        </p:nvSpPr>
        <p:spPr>
          <a:xfrm>
            <a:off x="4846320" y="2359152"/>
            <a:ext cx="685800" cy="128016"/>
          </a:xfrm>
          <a:prstGeom prst="rect">
            <a:avLst/>
          </a:prstGeom>
          <a:solidFill>
            <a:srgbClr val="D5DCEB"/>
          </a:solidFill>
          <a:ln w="12700">
            <a:solidFill>
              <a:srgbClr val="1A2340"/>
            </a:solidFill>
            <a:prstDash val="solid"/>
          </a:ln>
        </p:spPr>
      </p:sp>
      <p:sp>
        <p:nvSpPr>
          <p:cNvPr id="18" name="Text 16"/>
          <p:cNvSpPr/>
          <p:nvPr/>
        </p:nvSpPr>
        <p:spPr>
          <a:xfrm>
            <a:off x="4754880" y="2057400"/>
            <a:ext cx="1097280" cy="201168"/>
          </a:xfrm>
          <a:prstGeom prst="rect">
            <a:avLst/>
          </a:prstGeom>
          <a:noFill/>
          <a:ln/>
        </p:spPr>
        <p:txBody>
          <a:bodyPr wrap="square" lIns="0" tIns="0" rIns="0" bIns="0" rtlCol="0" anchor="ctr"/>
          <a:lstStyle/>
          <a:p>
            <a:pPr algn="ctr" indent="0" marL="0">
              <a:buNone/>
            </a:pPr>
            <a:r>
              <a:rPr lang="en-US" sz="1000" i="1" dirty="0">
                <a:solidFill>
                  <a:srgbClr val="262B3A"/>
                </a:solidFill>
                <a:latin typeface="Calibri" pitchFamily="34" charset="0"/>
                <a:ea typeface="Calibri" pitchFamily="34" charset="-122"/>
                <a:cs typeface="Calibri" pitchFamily="34" charset="-120"/>
              </a:rPr>
              <a:t>to tyre</a:t>
            </a:r>
            <a:endParaRPr lang="en-US" sz="1000" dirty="0"/>
          </a:p>
        </p:txBody>
      </p:sp>
      <p:sp>
        <p:nvSpPr>
          <p:cNvPr id="19" name="Shape 17"/>
          <p:cNvSpPr/>
          <p:nvPr/>
        </p:nvSpPr>
        <p:spPr>
          <a:xfrm>
            <a:off x="2567828" y="2593918"/>
            <a:ext cx="128016" cy="128016"/>
          </a:xfrm>
          <a:prstGeom prst="ellipse">
            <a:avLst/>
          </a:prstGeom>
          <a:solidFill>
            <a:srgbClr val="E0604A"/>
          </a:solidFill>
          <a:ln w="9525">
            <a:solidFill>
              <a:srgbClr val="9A2E20"/>
            </a:solidFill>
            <a:prstDash val="solid"/>
          </a:ln>
        </p:spPr>
      </p:sp>
      <p:sp>
        <p:nvSpPr>
          <p:cNvPr id="20" name="Shape 18"/>
          <p:cNvSpPr/>
          <p:nvPr/>
        </p:nvSpPr>
        <p:spPr>
          <a:xfrm flipV="1">
            <a:off x="2678191" y="2428501"/>
            <a:ext cx="139638" cy="172246"/>
          </a:xfrm>
          <a:prstGeom prst="line">
            <a:avLst/>
          </a:prstGeom>
          <a:noFill/>
          <a:ln w="12700">
            <a:solidFill>
              <a:srgbClr val="6B7385"/>
            </a:solidFill>
            <a:prstDash val="solid"/>
            <a:tailEnd type="triangle"/>
          </a:ln>
        </p:spPr>
      </p:sp>
      <p:sp>
        <p:nvSpPr>
          <p:cNvPr id="21" name="Shape 19"/>
          <p:cNvSpPr/>
          <p:nvPr/>
        </p:nvSpPr>
        <p:spPr>
          <a:xfrm>
            <a:off x="3633023" y="2691050"/>
            <a:ext cx="128016" cy="128016"/>
          </a:xfrm>
          <a:prstGeom prst="ellipse">
            <a:avLst/>
          </a:prstGeom>
          <a:solidFill>
            <a:srgbClr val="E0604A"/>
          </a:solidFill>
          <a:ln w="9525">
            <a:solidFill>
              <a:srgbClr val="9A2E20"/>
            </a:solidFill>
            <a:prstDash val="solid"/>
          </a:ln>
        </p:spPr>
      </p:sp>
      <p:sp>
        <p:nvSpPr>
          <p:cNvPr id="22" name="Shape 20"/>
          <p:cNvSpPr/>
          <p:nvPr/>
        </p:nvSpPr>
        <p:spPr>
          <a:xfrm flipV="1">
            <a:off x="3767404" y="2694557"/>
            <a:ext cx="126858" cy="38914"/>
          </a:xfrm>
          <a:prstGeom prst="line">
            <a:avLst/>
          </a:prstGeom>
          <a:noFill/>
          <a:ln w="12700">
            <a:solidFill>
              <a:srgbClr val="6B7385"/>
            </a:solidFill>
            <a:prstDash val="solid"/>
            <a:tailEnd type="triangle"/>
          </a:ln>
        </p:spPr>
      </p:sp>
      <p:sp>
        <p:nvSpPr>
          <p:cNvPr id="23" name="Shape 21"/>
          <p:cNvSpPr/>
          <p:nvPr/>
        </p:nvSpPr>
        <p:spPr>
          <a:xfrm>
            <a:off x="4075619" y="2601327"/>
            <a:ext cx="128016" cy="128016"/>
          </a:xfrm>
          <a:prstGeom prst="ellipse">
            <a:avLst/>
          </a:prstGeom>
          <a:solidFill>
            <a:srgbClr val="E0604A"/>
          </a:solidFill>
          <a:ln w="9525">
            <a:solidFill>
              <a:srgbClr val="9A2E20"/>
            </a:solidFill>
            <a:prstDash val="solid"/>
          </a:ln>
        </p:spPr>
      </p:sp>
      <p:sp>
        <p:nvSpPr>
          <p:cNvPr id="24" name="Shape 22"/>
          <p:cNvSpPr/>
          <p:nvPr/>
        </p:nvSpPr>
        <p:spPr>
          <a:xfrm flipH="1">
            <a:off x="3829241" y="2674140"/>
            <a:ext cx="237306" cy="28592"/>
          </a:xfrm>
          <a:prstGeom prst="line">
            <a:avLst/>
          </a:prstGeom>
          <a:noFill/>
          <a:ln w="12700">
            <a:solidFill>
              <a:srgbClr val="6B7385"/>
            </a:solidFill>
            <a:prstDash val="solid"/>
            <a:tailEnd type="triangle"/>
          </a:ln>
        </p:spPr>
      </p:sp>
      <p:sp>
        <p:nvSpPr>
          <p:cNvPr id="25" name="Shape 23"/>
          <p:cNvSpPr/>
          <p:nvPr/>
        </p:nvSpPr>
        <p:spPr>
          <a:xfrm>
            <a:off x="4628716" y="2417506"/>
            <a:ext cx="128016" cy="128016"/>
          </a:xfrm>
          <a:prstGeom prst="ellipse">
            <a:avLst/>
          </a:prstGeom>
          <a:solidFill>
            <a:srgbClr val="E0604A"/>
          </a:solidFill>
          <a:ln w="9525">
            <a:solidFill>
              <a:srgbClr val="9A2E20"/>
            </a:solidFill>
            <a:prstDash val="solid"/>
          </a:ln>
        </p:spPr>
      </p:sp>
      <p:sp>
        <p:nvSpPr>
          <p:cNvPr id="26" name="Shape 24"/>
          <p:cNvSpPr/>
          <p:nvPr/>
        </p:nvSpPr>
        <p:spPr>
          <a:xfrm>
            <a:off x="4706627" y="2553799"/>
            <a:ext cx="25001" cy="129987"/>
          </a:xfrm>
          <a:prstGeom prst="line">
            <a:avLst/>
          </a:prstGeom>
          <a:noFill/>
          <a:ln w="12700">
            <a:solidFill>
              <a:srgbClr val="6B7385"/>
            </a:solidFill>
            <a:prstDash val="solid"/>
            <a:tailEnd type="triangle"/>
          </a:ln>
        </p:spPr>
      </p:sp>
      <p:sp>
        <p:nvSpPr>
          <p:cNvPr id="27" name="Shape 25"/>
          <p:cNvSpPr/>
          <p:nvPr/>
        </p:nvSpPr>
        <p:spPr>
          <a:xfrm>
            <a:off x="3397472" y="2094348"/>
            <a:ext cx="128016" cy="128016"/>
          </a:xfrm>
          <a:prstGeom prst="ellipse">
            <a:avLst/>
          </a:prstGeom>
          <a:solidFill>
            <a:srgbClr val="E0604A"/>
          </a:solidFill>
          <a:ln w="9525">
            <a:solidFill>
              <a:srgbClr val="9A2E20"/>
            </a:solidFill>
            <a:prstDash val="solid"/>
          </a:ln>
        </p:spPr>
      </p:sp>
      <p:sp>
        <p:nvSpPr>
          <p:cNvPr id="28" name="Shape 26"/>
          <p:cNvSpPr/>
          <p:nvPr/>
        </p:nvSpPr>
        <p:spPr>
          <a:xfrm flipV="1">
            <a:off x="3517573" y="2012561"/>
            <a:ext cx="115489" cy="98132"/>
          </a:xfrm>
          <a:prstGeom prst="line">
            <a:avLst/>
          </a:prstGeom>
          <a:noFill/>
          <a:ln w="12700">
            <a:solidFill>
              <a:srgbClr val="6B7385"/>
            </a:solidFill>
            <a:prstDash val="solid"/>
            <a:tailEnd type="triangle"/>
          </a:ln>
        </p:spPr>
      </p:sp>
      <p:sp>
        <p:nvSpPr>
          <p:cNvPr id="29" name="Shape 27"/>
          <p:cNvSpPr/>
          <p:nvPr/>
        </p:nvSpPr>
        <p:spPr>
          <a:xfrm>
            <a:off x="2818859" y="2095562"/>
            <a:ext cx="128016" cy="128016"/>
          </a:xfrm>
          <a:prstGeom prst="ellipse">
            <a:avLst/>
          </a:prstGeom>
          <a:solidFill>
            <a:srgbClr val="E0604A"/>
          </a:solidFill>
          <a:ln w="9525">
            <a:solidFill>
              <a:srgbClr val="9A2E20"/>
            </a:solidFill>
            <a:prstDash val="solid"/>
          </a:ln>
        </p:spPr>
      </p:sp>
      <p:sp>
        <p:nvSpPr>
          <p:cNvPr id="30" name="Shape 28"/>
          <p:cNvSpPr/>
          <p:nvPr/>
        </p:nvSpPr>
        <p:spPr>
          <a:xfrm flipH="1" flipV="1">
            <a:off x="2690688" y="2100487"/>
            <a:ext cx="121820" cy="37452"/>
          </a:xfrm>
          <a:prstGeom prst="line">
            <a:avLst/>
          </a:prstGeom>
          <a:noFill/>
          <a:ln w="12700">
            <a:solidFill>
              <a:srgbClr val="6B7385"/>
            </a:solidFill>
            <a:prstDash val="solid"/>
            <a:tailEnd type="triangle"/>
          </a:ln>
        </p:spPr>
      </p:sp>
      <p:sp>
        <p:nvSpPr>
          <p:cNvPr id="31" name="Shape 29"/>
          <p:cNvSpPr/>
          <p:nvPr/>
        </p:nvSpPr>
        <p:spPr>
          <a:xfrm>
            <a:off x="4251962" y="2210061"/>
            <a:ext cx="128016" cy="128016"/>
          </a:xfrm>
          <a:prstGeom prst="ellipse">
            <a:avLst/>
          </a:prstGeom>
          <a:solidFill>
            <a:srgbClr val="E0604A"/>
          </a:solidFill>
          <a:ln w="9525">
            <a:solidFill>
              <a:srgbClr val="9A2E20"/>
            </a:solidFill>
            <a:prstDash val="solid"/>
          </a:ln>
        </p:spPr>
      </p:sp>
      <p:sp>
        <p:nvSpPr>
          <p:cNvPr id="32" name="Shape 30"/>
          <p:cNvSpPr/>
          <p:nvPr/>
        </p:nvSpPr>
        <p:spPr>
          <a:xfrm>
            <a:off x="4376468" y="2316001"/>
            <a:ext cx="189134" cy="131094"/>
          </a:xfrm>
          <a:prstGeom prst="line">
            <a:avLst/>
          </a:prstGeom>
          <a:noFill/>
          <a:ln w="12700">
            <a:solidFill>
              <a:srgbClr val="6B7385"/>
            </a:solidFill>
            <a:prstDash val="solid"/>
            <a:tailEnd type="triangle"/>
          </a:ln>
        </p:spPr>
      </p:sp>
      <p:sp>
        <p:nvSpPr>
          <p:cNvPr id="33" name="Shape 31"/>
          <p:cNvSpPr/>
          <p:nvPr/>
        </p:nvSpPr>
        <p:spPr>
          <a:xfrm>
            <a:off x="2240280" y="1993392"/>
            <a:ext cx="137160" cy="859536"/>
          </a:xfrm>
          <a:prstGeom prst="rect">
            <a:avLst/>
          </a:prstGeom>
          <a:solidFill>
            <a:srgbClr val="8C96A8"/>
          </a:solidFill>
          <a:ln w="12700">
            <a:solidFill>
              <a:srgbClr val="4A5262"/>
            </a:solidFill>
            <a:prstDash val="solid"/>
          </a:ln>
        </p:spPr>
      </p:sp>
      <p:sp>
        <p:nvSpPr>
          <p:cNvPr id="34" name="Shape 32"/>
          <p:cNvSpPr/>
          <p:nvPr/>
        </p:nvSpPr>
        <p:spPr>
          <a:xfrm>
            <a:off x="868680" y="2377440"/>
            <a:ext cx="1371600" cy="91440"/>
          </a:xfrm>
          <a:prstGeom prst="rect">
            <a:avLst/>
          </a:prstGeom>
          <a:solidFill>
            <a:srgbClr val="B7BECC"/>
          </a:solidFill>
          <a:ln w="9525">
            <a:solidFill>
              <a:srgbClr val="6B7385"/>
            </a:solidFill>
            <a:prstDash val="solid"/>
          </a:ln>
        </p:spPr>
      </p:sp>
      <p:sp>
        <p:nvSpPr>
          <p:cNvPr id="35" name="Shape 33"/>
          <p:cNvSpPr/>
          <p:nvPr/>
        </p:nvSpPr>
        <p:spPr>
          <a:xfrm>
            <a:off x="685800" y="2011680"/>
            <a:ext cx="182880" cy="822960"/>
          </a:xfrm>
          <a:prstGeom prst="roundRect">
            <a:avLst>
              <a:gd name="adj" fmla="val 20000"/>
            </a:avLst>
          </a:prstGeom>
          <a:solidFill>
            <a:srgbClr val="4A5262"/>
          </a:solidFill>
          <a:ln w="12700">
            <a:solidFill>
              <a:srgbClr val="2E3442"/>
            </a:solidFill>
            <a:prstDash val="solid"/>
          </a:ln>
        </p:spPr>
      </p:sp>
      <p:sp>
        <p:nvSpPr>
          <p:cNvPr id="36" name="Shape 34"/>
          <p:cNvSpPr/>
          <p:nvPr/>
        </p:nvSpPr>
        <p:spPr>
          <a:xfrm>
            <a:off x="960120" y="1755648"/>
            <a:ext cx="1143000" cy="91"/>
          </a:xfrm>
          <a:prstGeom prst="line">
            <a:avLst/>
          </a:prstGeom>
          <a:noFill/>
          <a:ln w="38100">
            <a:solidFill>
              <a:srgbClr val="C8414C"/>
            </a:solidFill>
            <a:prstDash val="solid"/>
            <a:tailEnd type="triangle"/>
          </a:ln>
        </p:spPr>
      </p:sp>
      <p:sp>
        <p:nvSpPr>
          <p:cNvPr id="37" name="Text 35"/>
          <p:cNvSpPr/>
          <p:nvPr/>
        </p:nvSpPr>
        <p:spPr>
          <a:xfrm>
            <a:off x="685800" y="1298448"/>
            <a:ext cx="365760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push the piston in: force × distance = work done on the gas</a:t>
            </a:r>
            <a:endParaRPr lang="en-US" sz="1050" dirty="0"/>
          </a:p>
        </p:txBody>
      </p:sp>
      <p:sp>
        <p:nvSpPr>
          <p:cNvPr id="38" name="Shape 36"/>
          <p:cNvSpPr/>
          <p:nvPr/>
        </p:nvSpPr>
        <p:spPr>
          <a:xfrm>
            <a:off x="685800" y="3154680"/>
            <a:ext cx="5029200" cy="1005840"/>
          </a:xfrm>
          <a:prstGeom prst="roundRect">
            <a:avLst>
              <a:gd name="adj" fmla="val 4545"/>
            </a:avLst>
          </a:prstGeom>
          <a:solidFill>
            <a:srgbClr val="FFFFFF"/>
          </a:solidFill>
          <a:ln w="12700">
            <a:solidFill>
              <a:srgbClr val="D5DCEB"/>
            </a:solidFill>
            <a:prstDash val="solid"/>
          </a:ln>
        </p:spPr>
      </p:sp>
      <p:sp>
        <p:nvSpPr>
          <p:cNvPr id="39" name="Shape 37"/>
          <p:cNvSpPr/>
          <p:nvPr/>
        </p:nvSpPr>
        <p:spPr>
          <a:xfrm>
            <a:off x="1463040" y="3246120"/>
            <a:ext cx="137160" cy="822960"/>
          </a:xfrm>
          <a:prstGeom prst="rect">
            <a:avLst/>
          </a:prstGeom>
          <a:solidFill>
            <a:srgbClr val="8C96A8"/>
          </a:solidFill>
          <a:ln w="12700">
            <a:solidFill>
              <a:srgbClr val="4A5262"/>
            </a:solidFill>
            <a:prstDash val="solid"/>
          </a:ln>
        </p:spPr>
      </p:sp>
      <p:sp>
        <p:nvSpPr>
          <p:cNvPr id="40" name="Shape 38"/>
          <p:cNvSpPr/>
          <p:nvPr/>
        </p:nvSpPr>
        <p:spPr>
          <a:xfrm>
            <a:off x="1664208" y="3657600"/>
            <a:ext cx="393192" cy="91"/>
          </a:xfrm>
          <a:prstGeom prst="line">
            <a:avLst/>
          </a:prstGeom>
          <a:noFill/>
          <a:ln w="25400">
            <a:solidFill>
              <a:srgbClr val="C8414C"/>
            </a:solidFill>
            <a:prstDash val="solid"/>
            <a:tailEnd type="triangle"/>
          </a:ln>
        </p:spPr>
      </p:sp>
      <p:sp>
        <p:nvSpPr>
          <p:cNvPr id="41" name="Text 39"/>
          <p:cNvSpPr/>
          <p:nvPr/>
        </p:nvSpPr>
        <p:spPr>
          <a:xfrm>
            <a:off x="777240" y="3291840"/>
            <a:ext cx="685800" cy="731520"/>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piston moving →</a:t>
            </a:r>
            <a:endParaRPr lang="en-US" sz="1000" dirty="0"/>
          </a:p>
        </p:txBody>
      </p:sp>
      <p:sp>
        <p:nvSpPr>
          <p:cNvPr id="42" name="Shape 40"/>
          <p:cNvSpPr/>
          <p:nvPr/>
        </p:nvSpPr>
        <p:spPr>
          <a:xfrm flipH="1">
            <a:off x="1828800" y="3429000"/>
            <a:ext cx="1097280" cy="182880"/>
          </a:xfrm>
          <a:prstGeom prst="line">
            <a:avLst/>
          </a:prstGeom>
          <a:noFill/>
          <a:ln w="19050">
            <a:solidFill>
              <a:srgbClr val="6B7385"/>
            </a:solidFill>
            <a:prstDash val="solid"/>
            <a:tailEnd type="triangle"/>
          </a:ln>
        </p:spPr>
      </p:sp>
      <p:sp>
        <p:nvSpPr>
          <p:cNvPr id="43" name="Shape 41"/>
          <p:cNvSpPr/>
          <p:nvPr/>
        </p:nvSpPr>
        <p:spPr>
          <a:xfrm>
            <a:off x="1682496" y="3584448"/>
            <a:ext cx="146304" cy="146304"/>
          </a:xfrm>
          <a:prstGeom prst="ellipse">
            <a:avLst/>
          </a:prstGeom>
          <a:solidFill>
            <a:srgbClr val="E0604A"/>
          </a:solidFill>
          <a:ln w="9525">
            <a:solidFill>
              <a:srgbClr val="9A2E20"/>
            </a:solidFill>
            <a:prstDash val="solid"/>
          </a:ln>
        </p:spPr>
      </p:sp>
      <p:sp>
        <p:nvSpPr>
          <p:cNvPr id="44" name="Shape 42"/>
          <p:cNvSpPr/>
          <p:nvPr/>
        </p:nvSpPr>
        <p:spPr>
          <a:xfrm>
            <a:off x="1828800" y="3730752"/>
            <a:ext cx="1828800" cy="274320"/>
          </a:xfrm>
          <a:prstGeom prst="line">
            <a:avLst/>
          </a:prstGeom>
          <a:noFill/>
          <a:ln w="31750">
            <a:solidFill>
              <a:srgbClr val="9A2E20"/>
            </a:solidFill>
            <a:prstDash val="solid"/>
            <a:tailEnd type="triangle"/>
          </a:ln>
        </p:spPr>
      </p:sp>
      <p:sp>
        <p:nvSpPr>
          <p:cNvPr id="45" name="Text 43"/>
          <p:cNvSpPr/>
          <p:nvPr/>
        </p:nvSpPr>
        <p:spPr>
          <a:xfrm>
            <a:off x="3017520" y="3246120"/>
            <a:ext cx="2651760" cy="201168"/>
          </a:xfrm>
          <a:prstGeom prst="rect">
            <a:avLst/>
          </a:prstGeom>
          <a:noFill/>
          <a:ln/>
        </p:spPr>
        <p:txBody>
          <a:bodyPr wrap="square" lIns="0" tIns="0" rIns="0" bIns="0" rtlCol="0" anchor="ctr"/>
          <a:lstStyle/>
          <a:p>
            <a:pPr algn="l" indent="0" marL="0">
              <a:buNone/>
            </a:pPr>
            <a:r>
              <a:rPr lang="en-US" sz="1000" i="1" dirty="0">
                <a:solidFill>
                  <a:srgbClr val="262B3A"/>
                </a:solidFill>
                <a:latin typeface="Calibri" pitchFamily="34" charset="0"/>
                <a:ea typeface="Calibri" pitchFamily="34" charset="-122"/>
                <a:cs typeface="Calibri" pitchFamily="34" charset="-120"/>
              </a:rPr>
              <a:t>slow in …</a:t>
            </a:r>
            <a:endParaRPr lang="en-US" sz="1000" dirty="0"/>
          </a:p>
        </p:txBody>
      </p:sp>
      <p:sp>
        <p:nvSpPr>
          <p:cNvPr id="46" name="Text 44"/>
          <p:cNvSpPr/>
          <p:nvPr/>
        </p:nvSpPr>
        <p:spPr>
          <a:xfrm>
            <a:off x="3703320" y="3803904"/>
            <a:ext cx="1965960" cy="329184"/>
          </a:xfrm>
          <a:prstGeom prst="rect">
            <a:avLst/>
          </a:prstGeom>
          <a:noFill/>
          <a:ln/>
        </p:spPr>
        <p:txBody>
          <a:bodyPr wrap="square" lIns="0" tIns="0" rIns="0" bIns="0" rtlCol="0" anchor="ctr"/>
          <a:lstStyle/>
          <a:p>
            <a:pPr algn="l" indent="0" marL="0">
              <a:buNone/>
            </a:pPr>
            <a:r>
              <a:rPr lang="en-US" sz="1000" b="1" dirty="0">
                <a:solidFill>
                  <a:srgbClr val="9A2E20"/>
                </a:solidFill>
                <a:latin typeface="Calibri" pitchFamily="34" charset="0"/>
                <a:ea typeface="Calibri" pitchFamily="34" charset="-122"/>
                <a:cs typeface="Calibri" pitchFamily="34" charset="-120"/>
              </a:rPr>
              <a:t>… faster out: more kinetic energy</a:t>
            </a:r>
            <a:endParaRPr lang="en-US" sz="1000" dirty="0"/>
          </a:p>
        </p:txBody>
      </p:sp>
      <p:sp>
        <p:nvSpPr>
          <p:cNvPr id="47" name="Shape 45"/>
          <p:cNvSpPr/>
          <p:nvPr/>
        </p:nvSpPr>
        <p:spPr>
          <a:xfrm>
            <a:off x="685800" y="4389120"/>
            <a:ext cx="1493520" cy="640080"/>
          </a:xfrm>
          <a:prstGeom prst="roundRect">
            <a:avLst>
              <a:gd name="adj" fmla="val 7143"/>
            </a:avLst>
          </a:prstGeom>
          <a:solidFill>
            <a:srgbClr val="FFFFFF"/>
          </a:solidFill>
          <a:ln w="15875">
            <a:solidFill>
              <a:srgbClr val="C8414C"/>
            </a:solidFill>
            <a:prstDash val="solid"/>
          </a:ln>
        </p:spPr>
      </p:sp>
      <p:sp>
        <p:nvSpPr>
          <p:cNvPr id="48" name="Text 46"/>
          <p:cNvSpPr/>
          <p:nvPr/>
        </p:nvSpPr>
        <p:spPr>
          <a:xfrm>
            <a:off x="722376" y="4389120"/>
            <a:ext cx="1420368" cy="640080"/>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work done on the gas</a:t>
            </a:r>
            <a:endParaRPr lang="en-US" sz="1050" dirty="0"/>
          </a:p>
        </p:txBody>
      </p:sp>
      <p:sp>
        <p:nvSpPr>
          <p:cNvPr id="49" name="Shape 47"/>
          <p:cNvSpPr/>
          <p:nvPr/>
        </p:nvSpPr>
        <p:spPr>
          <a:xfrm>
            <a:off x="2206752" y="4709160"/>
            <a:ext cx="219456" cy="91"/>
          </a:xfrm>
          <a:prstGeom prst="line">
            <a:avLst/>
          </a:prstGeom>
          <a:noFill/>
          <a:ln w="25400">
            <a:solidFill>
              <a:srgbClr val="C8414C"/>
            </a:solidFill>
            <a:prstDash val="solid"/>
            <a:tailEnd type="triangle"/>
          </a:ln>
        </p:spPr>
      </p:sp>
      <p:sp>
        <p:nvSpPr>
          <p:cNvPr id="50" name="Shape 48"/>
          <p:cNvSpPr/>
          <p:nvPr/>
        </p:nvSpPr>
        <p:spPr>
          <a:xfrm>
            <a:off x="2453640" y="4389120"/>
            <a:ext cx="1493520" cy="640080"/>
          </a:xfrm>
          <a:prstGeom prst="roundRect">
            <a:avLst>
              <a:gd name="adj" fmla="val 7143"/>
            </a:avLst>
          </a:prstGeom>
          <a:solidFill>
            <a:srgbClr val="FFFFFF"/>
          </a:solidFill>
          <a:ln w="15875">
            <a:solidFill>
              <a:srgbClr val="C8414C"/>
            </a:solidFill>
            <a:prstDash val="solid"/>
          </a:ln>
        </p:spPr>
      </p:sp>
      <p:sp>
        <p:nvSpPr>
          <p:cNvPr id="51" name="Text 49"/>
          <p:cNvSpPr/>
          <p:nvPr/>
        </p:nvSpPr>
        <p:spPr>
          <a:xfrm>
            <a:off x="2490216" y="4389120"/>
            <a:ext cx="1420368" cy="640080"/>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internal energy of gas ↑</a:t>
            </a:r>
            <a:endParaRPr lang="en-US" sz="1050" dirty="0"/>
          </a:p>
        </p:txBody>
      </p:sp>
      <p:sp>
        <p:nvSpPr>
          <p:cNvPr id="52" name="Shape 50"/>
          <p:cNvSpPr/>
          <p:nvPr/>
        </p:nvSpPr>
        <p:spPr>
          <a:xfrm>
            <a:off x="3974592" y="4709160"/>
            <a:ext cx="219456" cy="91"/>
          </a:xfrm>
          <a:prstGeom prst="line">
            <a:avLst/>
          </a:prstGeom>
          <a:noFill/>
          <a:ln w="25400">
            <a:solidFill>
              <a:srgbClr val="C8414C"/>
            </a:solidFill>
            <a:prstDash val="solid"/>
            <a:tailEnd type="triangle"/>
          </a:ln>
        </p:spPr>
      </p:sp>
      <p:sp>
        <p:nvSpPr>
          <p:cNvPr id="53" name="Shape 51"/>
          <p:cNvSpPr/>
          <p:nvPr/>
        </p:nvSpPr>
        <p:spPr>
          <a:xfrm>
            <a:off x="4221480" y="4389120"/>
            <a:ext cx="1493520" cy="640080"/>
          </a:xfrm>
          <a:prstGeom prst="roundRect">
            <a:avLst>
              <a:gd name="adj" fmla="val 7143"/>
            </a:avLst>
          </a:prstGeom>
          <a:solidFill>
            <a:srgbClr val="FFFFFF"/>
          </a:solidFill>
          <a:ln w="15875">
            <a:solidFill>
              <a:srgbClr val="C8414C"/>
            </a:solidFill>
            <a:prstDash val="solid"/>
          </a:ln>
        </p:spPr>
      </p:sp>
      <p:sp>
        <p:nvSpPr>
          <p:cNvPr id="54" name="Text 52"/>
          <p:cNvSpPr/>
          <p:nvPr/>
        </p:nvSpPr>
        <p:spPr>
          <a:xfrm>
            <a:off x="4258056" y="4389120"/>
            <a:ext cx="1420368" cy="640080"/>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temperature ↑</a:t>
            </a:r>
            <a:endParaRPr lang="en-US" sz="1050" dirty="0"/>
          </a:p>
        </p:txBody>
      </p:sp>
      <p:sp>
        <p:nvSpPr>
          <p:cNvPr id="55" name="Shape 53"/>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56" name="Text 5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Why the air gets hotter</a:t>
            </a:r>
            <a:endParaRPr lang="en-US" sz="1300" dirty="0"/>
          </a:p>
        </p:txBody>
      </p:sp>
      <p:sp>
        <p:nvSpPr>
          <p:cNvPr id="57" name="Text 55"/>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Pushing the piston in transfers energy to the gas: </a:t>
            </a:r>
            <a:r>
              <a:rPr lang="en-US" sz="1100" b="1" dirty="0">
                <a:solidFill>
                  <a:srgbClr val="262B3A"/>
                </a:solidFill>
                <a:latin typeface="Calibri" pitchFamily="34" charset="0"/>
                <a:ea typeface="Calibri" pitchFamily="34" charset="-122"/>
                <a:cs typeface="Calibri" pitchFamily="34" charset="-120"/>
              </a:rPr>
              <a:t>work is done on the gas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Particles bounce off the </a:t>
            </a:r>
            <a:r>
              <a:rPr lang="en-US" sz="1100" b="1" dirty="0">
                <a:solidFill>
                  <a:srgbClr val="262B3A"/>
                </a:solidFill>
                <a:latin typeface="Calibri" pitchFamily="34" charset="0"/>
                <a:ea typeface="Calibri" pitchFamily="34" charset="-122"/>
                <a:cs typeface="Calibri" pitchFamily="34" charset="-120"/>
              </a:rPr>
              <a:t>moving</a:t>
            </a:r>
            <a:r>
              <a:rPr lang="en-US" sz="1100" dirty="0">
                <a:solidFill>
                  <a:srgbClr val="262B3A"/>
                </a:solidFill>
                <a:latin typeface="Calibri" pitchFamily="34" charset="0"/>
                <a:ea typeface="Calibri" pitchFamily="34" charset="-122"/>
                <a:cs typeface="Calibri" pitchFamily="34" charset="-120"/>
              </a:rPr>
              <a:t> piston </a:t>
            </a:r>
            <a:r>
              <a:rPr lang="en-US" sz="1100" b="1" dirty="0">
                <a:solidFill>
                  <a:srgbClr val="262B3A"/>
                </a:solidFill>
                <a:latin typeface="Calibri" pitchFamily="34" charset="0"/>
                <a:ea typeface="Calibri" pitchFamily="34" charset="-122"/>
                <a:cs typeface="Calibri" pitchFamily="34" charset="-120"/>
              </a:rPr>
              <a:t>faster</a:t>
            </a:r>
            <a:r>
              <a:rPr lang="en-US" sz="1100" dirty="0">
                <a:solidFill>
                  <a:srgbClr val="262B3A"/>
                </a:solidFill>
                <a:latin typeface="Calibri" pitchFamily="34" charset="0"/>
                <a:ea typeface="Calibri" pitchFamily="34" charset="-122"/>
                <a:cs typeface="Calibri" pitchFamily="34" charset="-120"/>
              </a:rPr>
              <a:t> than they hit it, so their kinetic energy increases.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internal energy</a:t>
            </a:r>
            <a:r>
              <a:rPr lang="en-US" sz="1100" dirty="0">
                <a:solidFill>
                  <a:srgbClr val="262B3A"/>
                </a:solidFill>
                <a:latin typeface="Calibri" pitchFamily="34" charset="0"/>
                <a:ea typeface="Calibri" pitchFamily="34" charset="-122"/>
                <a:cs typeface="Calibri" pitchFamily="34" charset="-120"/>
              </a:rPr>
              <a:t> of the gas increases, so its </a:t>
            </a:r>
            <a:r>
              <a:rPr lang="en-US" sz="1100" b="1" dirty="0">
                <a:solidFill>
                  <a:srgbClr val="262B3A"/>
                </a:solidFill>
                <a:latin typeface="Calibri" pitchFamily="34" charset="0"/>
                <a:ea typeface="Calibri" pitchFamily="34" charset="-122"/>
                <a:cs typeface="Calibri" pitchFamily="34" charset="-120"/>
              </a:rPr>
              <a:t>temperature rises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If you pump </a:t>
            </a:r>
            <a:r>
              <a:rPr lang="en-US" sz="1100" b="1" dirty="0">
                <a:solidFill>
                  <a:srgbClr val="262B3A"/>
                </a:solidFill>
                <a:latin typeface="Calibri" pitchFamily="34" charset="0"/>
                <a:ea typeface="Calibri" pitchFamily="34" charset="-122"/>
                <a:cs typeface="Calibri" pitchFamily="34" charset="-120"/>
              </a:rPr>
              <a:t>slowly</a:t>
            </a:r>
            <a:r>
              <a:rPr lang="en-US" sz="1100" dirty="0">
                <a:solidFill>
                  <a:srgbClr val="262B3A"/>
                </a:solidFill>
                <a:latin typeface="Calibri" pitchFamily="34" charset="0"/>
                <a:ea typeface="Calibri" pitchFamily="34" charset="-122"/>
                <a:cs typeface="Calibri" pitchFamily="34" charset="-120"/>
              </a:rPr>
              <a:t>, the energy has time to leave through the walls, so the temperature stays about the same (then p × V = constant applies).</a:t>
            </a:r>
            <a:endParaRPr lang="en-US" sz="1100" dirty="0"/>
          </a:p>
        </p:txBody>
      </p:sp>
      <p:sp>
        <p:nvSpPr>
          <p:cNvPr id="58" name="Shape 56"/>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9" name="Text 57"/>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Explain it in steps</a:t>
            </a:r>
            <a:endParaRPr lang="en-US" sz="1300" dirty="0"/>
          </a:p>
        </p:txBody>
      </p:sp>
      <p:sp>
        <p:nvSpPr>
          <p:cNvPr id="60" name="Text 58"/>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Why does the end of a bicycle pump get hot after fast pumping?</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Work   </a:t>
            </a:r>
            <a:r>
              <a:rPr lang="en-US" sz="1050" dirty="0">
                <a:solidFill>
                  <a:srgbClr val="262B3A"/>
                </a:solidFill>
                <a:latin typeface="Calibri" pitchFamily="34" charset="0"/>
                <a:ea typeface="Calibri" pitchFamily="34" charset="-122"/>
                <a:cs typeface="Calibri" pitchFamily="34" charset="-120"/>
              </a:rPr>
              <a:t>a force moves the piston: work is done on the air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Energy   </a:t>
            </a:r>
            <a:r>
              <a:rPr lang="en-US" sz="1050" dirty="0">
                <a:solidFill>
                  <a:srgbClr val="262B3A"/>
                </a:solidFill>
                <a:latin typeface="Calibri" pitchFamily="34" charset="0"/>
                <a:ea typeface="Calibri" pitchFamily="34" charset="-122"/>
                <a:cs typeface="Calibri" pitchFamily="34" charset="-120"/>
              </a:rPr>
              <a:t>energy is transferred to the air particles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Particles   </a:t>
            </a:r>
            <a:r>
              <a:rPr lang="en-US" sz="1050" dirty="0">
                <a:solidFill>
                  <a:srgbClr val="262B3A"/>
                </a:solidFill>
                <a:latin typeface="Calibri" pitchFamily="34" charset="0"/>
                <a:ea typeface="Calibri" pitchFamily="34" charset="-122"/>
                <a:cs typeface="Calibri" pitchFamily="34" charset="-120"/>
              </a:rPr>
              <a:t>they move faster: internal energy increases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the air temperature rises and warms the pump</a:t>
            </a:r>
            <a:endParaRPr lang="en-US" sz="1050" dirty="0"/>
          </a:p>
        </p:txBody>
      </p:sp>
      <p:sp>
        <p:nvSpPr>
          <p:cNvPr id="61" name="Shape 59"/>
          <p:cNvSpPr/>
          <p:nvPr/>
        </p:nvSpPr>
        <p:spPr>
          <a:xfrm>
            <a:off x="411480" y="5833872"/>
            <a:ext cx="11368735" cy="530352"/>
          </a:xfrm>
          <a:prstGeom prst="rect">
            <a:avLst/>
          </a:prstGeom>
          <a:solidFill>
            <a:srgbClr val="FFF4E0"/>
          </a:solidFill>
          <a:ln w="6350">
            <a:solidFill>
              <a:srgbClr val="F1D9A8"/>
            </a:solidFill>
            <a:prstDash val="solid"/>
          </a:ln>
        </p:spPr>
      </p:sp>
      <p:sp>
        <p:nvSpPr>
          <p:cNvPr id="62" name="Shape 60"/>
          <p:cNvSpPr/>
          <p:nvPr/>
        </p:nvSpPr>
        <p:spPr>
          <a:xfrm>
            <a:off x="411480" y="5833872"/>
            <a:ext cx="82296" cy="530352"/>
          </a:xfrm>
          <a:prstGeom prst="rect">
            <a:avLst/>
          </a:prstGeom>
          <a:solidFill>
            <a:srgbClr val="E39A2F"/>
          </a:solidFill>
          <a:ln w="12700">
            <a:solidFill>
              <a:srgbClr val="E39A2F"/>
            </a:solidFill>
            <a:prstDash val="solid"/>
          </a:ln>
        </p:spPr>
      </p:sp>
      <p:sp>
        <p:nvSpPr>
          <p:cNvPr id="63" name="Text 6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HT: when air is released quickly from a tyre valve, the air coming out feels cold. Suggest why, using the idea of work.</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Limitations of the particle model</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Ideas about science: models • a useful model, but not a perfect picture of a gas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IaS  |  19</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left: the usual drawing; right: size and spacing closer to scale for air</a:t>
            </a:r>
            <a:endParaRPr lang="en-US" sz="1000" dirty="0"/>
          </a:p>
        </p:txBody>
      </p:sp>
      <p:sp>
        <p:nvSpPr>
          <p:cNvPr id="10" name="Text 8"/>
          <p:cNvSpPr/>
          <p:nvPr/>
        </p:nvSpPr>
        <p:spPr>
          <a:xfrm>
            <a:off x="685800" y="1344168"/>
            <a:ext cx="2286000" cy="256032"/>
          </a:xfrm>
          <a:prstGeom prst="rect">
            <a:avLst/>
          </a:prstGeom>
          <a:noFill/>
          <a:ln/>
        </p:spPr>
        <p:txBody>
          <a:bodyPr wrap="square" lIns="0" tIns="0" rIns="0" bIns="0" rtlCol="0" anchor="ctr"/>
          <a:lstStyle/>
          <a:p>
            <a:pPr algn="ctr" indent="0" marL="0">
              <a:buNone/>
            </a:pPr>
            <a:r>
              <a:rPr lang="en-US" sz="1150" b="1" dirty="0">
                <a:solidFill>
                  <a:srgbClr val="2E5BD8"/>
                </a:solidFill>
                <a:latin typeface="Calibri" pitchFamily="34" charset="0"/>
                <a:ea typeface="Calibri" pitchFamily="34" charset="-122"/>
                <a:cs typeface="Calibri" pitchFamily="34" charset="-120"/>
              </a:rPr>
              <a:t>the model we draw</a:t>
            </a:r>
            <a:endParaRPr lang="en-US" sz="1150" dirty="0"/>
          </a:p>
        </p:txBody>
      </p:sp>
      <p:sp>
        <p:nvSpPr>
          <p:cNvPr id="11" name="Shape 9"/>
          <p:cNvSpPr/>
          <p:nvPr/>
        </p:nvSpPr>
        <p:spPr>
          <a:xfrm>
            <a:off x="685800" y="1691640"/>
            <a:ext cx="2286000" cy="2103120"/>
          </a:xfrm>
          <a:prstGeom prst="rect">
            <a:avLst/>
          </a:prstGeom>
          <a:solidFill>
            <a:srgbClr val="FFFFFF"/>
          </a:solidFill>
          <a:ln w="19050">
            <a:solidFill>
              <a:srgbClr val="1A2340"/>
            </a:solidFill>
            <a:prstDash val="solid"/>
          </a:ln>
        </p:spPr>
      </p:sp>
      <p:sp>
        <p:nvSpPr>
          <p:cNvPr id="12" name="Shape 10"/>
          <p:cNvSpPr/>
          <p:nvPr/>
        </p:nvSpPr>
        <p:spPr>
          <a:xfrm>
            <a:off x="1835145" y="3036491"/>
            <a:ext cx="182880" cy="182880"/>
          </a:xfrm>
          <a:prstGeom prst="ellipse">
            <a:avLst/>
          </a:prstGeom>
          <a:solidFill>
            <a:srgbClr val="E0884A"/>
          </a:solidFill>
          <a:ln w="9525">
            <a:solidFill>
              <a:srgbClr val="9A5320"/>
            </a:solidFill>
            <a:prstDash val="solid"/>
          </a:ln>
        </p:spPr>
      </p:sp>
      <p:sp>
        <p:nvSpPr>
          <p:cNvPr id="13" name="Shape 11"/>
          <p:cNvSpPr/>
          <p:nvPr/>
        </p:nvSpPr>
        <p:spPr>
          <a:xfrm flipV="1">
            <a:off x="2001246" y="2913660"/>
            <a:ext cx="141373" cy="140219"/>
          </a:xfrm>
          <a:prstGeom prst="line">
            <a:avLst/>
          </a:prstGeom>
          <a:noFill/>
          <a:ln w="12700">
            <a:solidFill>
              <a:srgbClr val="6B7385"/>
            </a:solidFill>
            <a:prstDash val="solid"/>
            <a:tailEnd type="triangle"/>
          </a:ln>
        </p:spPr>
      </p:sp>
      <p:sp>
        <p:nvSpPr>
          <p:cNvPr id="14" name="Shape 12"/>
          <p:cNvSpPr/>
          <p:nvPr/>
        </p:nvSpPr>
        <p:spPr>
          <a:xfrm>
            <a:off x="2510307" y="3079131"/>
            <a:ext cx="182880" cy="182880"/>
          </a:xfrm>
          <a:prstGeom prst="ellipse">
            <a:avLst/>
          </a:prstGeom>
          <a:solidFill>
            <a:srgbClr val="E0884A"/>
          </a:solidFill>
          <a:ln w="9525">
            <a:solidFill>
              <a:srgbClr val="9A5320"/>
            </a:solidFill>
            <a:prstDash val="solid"/>
          </a:ln>
        </p:spPr>
      </p:sp>
      <p:sp>
        <p:nvSpPr>
          <p:cNvPr id="15" name="Shape 13"/>
          <p:cNvSpPr/>
          <p:nvPr/>
        </p:nvSpPr>
        <p:spPr>
          <a:xfrm flipH="1" flipV="1">
            <a:off x="2558169" y="2864328"/>
            <a:ext cx="28764" cy="202136"/>
          </a:xfrm>
          <a:prstGeom prst="line">
            <a:avLst/>
          </a:prstGeom>
          <a:noFill/>
          <a:ln w="12700">
            <a:solidFill>
              <a:srgbClr val="6B7385"/>
            </a:solidFill>
            <a:prstDash val="solid"/>
            <a:tailEnd type="triangle"/>
          </a:ln>
        </p:spPr>
      </p:sp>
      <p:sp>
        <p:nvSpPr>
          <p:cNvPr id="16" name="Shape 14"/>
          <p:cNvSpPr/>
          <p:nvPr/>
        </p:nvSpPr>
        <p:spPr>
          <a:xfrm>
            <a:off x="811464" y="2098770"/>
            <a:ext cx="182880" cy="182880"/>
          </a:xfrm>
          <a:prstGeom prst="ellipse">
            <a:avLst/>
          </a:prstGeom>
          <a:solidFill>
            <a:srgbClr val="E0884A"/>
          </a:solidFill>
          <a:ln w="9525">
            <a:solidFill>
              <a:srgbClr val="9A5320"/>
            </a:solidFill>
            <a:prstDash val="solid"/>
          </a:ln>
        </p:spPr>
      </p:sp>
      <p:sp>
        <p:nvSpPr>
          <p:cNvPr id="17" name="Shape 15"/>
          <p:cNvSpPr/>
          <p:nvPr/>
        </p:nvSpPr>
        <p:spPr>
          <a:xfrm>
            <a:off x="976330" y="2265485"/>
            <a:ext cx="201177" cy="206242"/>
          </a:xfrm>
          <a:prstGeom prst="line">
            <a:avLst/>
          </a:prstGeom>
          <a:noFill/>
          <a:ln w="12700">
            <a:solidFill>
              <a:srgbClr val="6B7385"/>
            </a:solidFill>
            <a:prstDash val="solid"/>
            <a:tailEnd type="triangle"/>
          </a:ln>
        </p:spPr>
      </p:sp>
      <p:sp>
        <p:nvSpPr>
          <p:cNvPr id="18" name="Shape 16"/>
          <p:cNvSpPr/>
          <p:nvPr/>
        </p:nvSpPr>
        <p:spPr>
          <a:xfrm>
            <a:off x="2210068" y="2464021"/>
            <a:ext cx="182880" cy="182880"/>
          </a:xfrm>
          <a:prstGeom prst="ellipse">
            <a:avLst/>
          </a:prstGeom>
          <a:solidFill>
            <a:srgbClr val="E0884A"/>
          </a:solidFill>
          <a:ln w="9525">
            <a:solidFill>
              <a:srgbClr val="9A5320"/>
            </a:solidFill>
            <a:prstDash val="solid"/>
          </a:ln>
        </p:spPr>
      </p:sp>
      <p:sp>
        <p:nvSpPr>
          <p:cNvPr id="19" name="Shape 17"/>
          <p:cNvSpPr/>
          <p:nvPr/>
        </p:nvSpPr>
        <p:spPr>
          <a:xfrm flipV="1">
            <a:off x="2320567" y="2275881"/>
            <a:ext cx="32467" cy="176165"/>
          </a:xfrm>
          <a:prstGeom prst="line">
            <a:avLst/>
          </a:prstGeom>
          <a:noFill/>
          <a:ln w="12700">
            <a:solidFill>
              <a:srgbClr val="6B7385"/>
            </a:solidFill>
            <a:prstDash val="solid"/>
            <a:tailEnd type="triangle"/>
          </a:ln>
        </p:spPr>
      </p:sp>
      <p:sp>
        <p:nvSpPr>
          <p:cNvPr id="20" name="Shape 18"/>
          <p:cNvSpPr/>
          <p:nvPr/>
        </p:nvSpPr>
        <p:spPr>
          <a:xfrm>
            <a:off x="2685810" y="2101099"/>
            <a:ext cx="182880" cy="182880"/>
          </a:xfrm>
          <a:prstGeom prst="ellipse">
            <a:avLst/>
          </a:prstGeom>
          <a:solidFill>
            <a:srgbClr val="E0884A"/>
          </a:solidFill>
          <a:ln w="9525">
            <a:solidFill>
              <a:srgbClr val="9A5320"/>
            </a:solidFill>
            <a:prstDash val="solid"/>
          </a:ln>
        </p:spPr>
      </p:sp>
      <p:sp>
        <p:nvSpPr>
          <p:cNvPr id="21" name="Shape 19"/>
          <p:cNvSpPr/>
          <p:nvPr/>
        </p:nvSpPr>
        <p:spPr>
          <a:xfrm flipV="1">
            <a:off x="2832736" y="1955186"/>
            <a:ext cx="91948" cy="148027"/>
          </a:xfrm>
          <a:prstGeom prst="line">
            <a:avLst/>
          </a:prstGeom>
          <a:noFill/>
          <a:ln w="12700">
            <a:solidFill>
              <a:srgbClr val="6B7385"/>
            </a:solidFill>
            <a:prstDash val="solid"/>
            <a:tailEnd type="triangle"/>
          </a:ln>
        </p:spPr>
      </p:sp>
      <p:sp>
        <p:nvSpPr>
          <p:cNvPr id="22" name="Shape 20"/>
          <p:cNvSpPr/>
          <p:nvPr/>
        </p:nvSpPr>
        <p:spPr>
          <a:xfrm>
            <a:off x="1735809" y="1922904"/>
            <a:ext cx="182880" cy="182880"/>
          </a:xfrm>
          <a:prstGeom prst="ellipse">
            <a:avLst/>
          </a:prstGeom>
          <a:solidFill>
            <a:srgbClr val="E0884A"/>
          </a:solidFill>
          <a:ln w="9525">
            <a:solidFill>
              <a:srgbClr val="9A5320"/>
            </a:solidFill>
            <a:prstDash val="solid"/>
          </a:ln>
        </p:spPr>
      </p:sp>
      <p:sp>
        <p:nvSpPr>
          <p:cNvPr id="23" name="Shape 21"/>
          <p:cNvSpPr/>
          <p:nvPr/>
        </p:nvSpPr>
        <p:spPr>
          <a:xfrm>
            <a:off x="1835736" y="2119157"/>
            <a:ext cx="14803" cy="182810"/>
          </a:xfrm>
          <a:prstGeom prst="line">
            <a:avLst/>
          </a:prstGeom>
          <a:noFill/>
          <a:ln w="12700">
            <a:solidFill>
              <a:srgbClr val="6B7385"/>
            </a:solidFill>
            <a:prstDash val="solid"/>
            <a:tailEnd type="triangle"/>
          </a:ln>
        </p:spPr>
      </p:sp>
      <p:sp>
        <p:nvSpPr>
          <p:cNvPr id="24" name="Shape 22"/>
          <p:cNvSpPr/>
          <p:nvPr/>
        </p:nvSpPr>
        <p:spPr>
          <a:xfrm>
            <a:off x="1161098" y="3156519"/>
            <a:ext cx="182880" cy="182880"/>
          </a:xfrm>
          <a:prstGeom prst="ellipse">
            <a:avLst/>
          </a:prstGeom>
          <a:solidFill>
            <a:srgbClr val="E0884A"/>
          </a:solidFill>
          <a:ln w="9525">
            <a:solidFill>
              <a:srgbClr val="9A5320"/>
            </a:solidFill>
            <a:prstDash val="solid"/>
          </a:ln>
        </p:spPr>
      </p:sp>
      <p:sp>
        <p:nvSpPr>
          <p:cNvPr id="25" name="Shape 23"/>
          <p:cNvSpPr/>
          <p:nvPr/>
        </p:nvSpPr>
        <p:spPr>
          <a:xfrm>
            <a:off x="1356748" y="3262029"/>
            <a:ext cx="273222" cy="36890"/>
          </a:xfrm>
          <a:prstGeom prst="line">
            <a:avLst/>
          </a:prstGeom>
          <a:noFill/>
          <a:ln w="12700">
            <a:solidFill>
              <a:srgbClr val="6B7385"/>
            </a:solidFill>
            <a:prstDash val="solid"/>
            <a:tailEnd type="triangle"/>
          </a:ln>
        </p:spPr>
      </p:sp>
      <p:sp>
        <p:nvSpPr>
          <p:cNvPr id="26" name="Shape 24"/>
          <p:cNvSpPr/>
          <p:nvPr/>
        </p:nvSpPr>
        <p:spPr>
          <a:xfrm>
            <a:off x="728435" y="2680247"/>
            <a:ext cx="182880" cy="182880"/>
          </a:xfrm>
          <a:prstGeom prst="ellipse">
            <a:avLst/>
          </a:prstGeom>
          <a:solidFill>
            <a:srgbClr val="E0884A"/>
          </a:solidFill>
          <a:ln w="9525">
            <a:solidFill>
              <a:srgbClr val="9A5320"/>
            </a:solidFill>
            <a:prstDash val="solid"/>
          </a:ln>
        </p:spPr>
      </p:sp>
      <p:sp>
        <p:nvSpPr>
          <p:cNvPr id="27" name="Shape 25"/>
          <p:cNvSpPr/>
          <p:nvPr/>
        </p:nvSpPr>
        <p:spPr>
          <a:xfrm flipH="1">
            <a:off x="736468" y="2873365"/>
            <a:ext cx="56588" cy="214534"/>
          </a:xfrm>
          <a:prstGeom prst="line">
            <a:avLst/>
          </a:prstGeom>
          <a:noFill/>
          <a:ln w="12700">
            <a:solidFill>
              <a:srgbClr val="6B7385"/>
            </a:solidFill>
            <a:prstDash val="solid"/>
            <a:tailEnd type="triangle"/>
          </a:ln>
        </p:spPr>
      </p:sp>
      <p:sp>
        <p:nvSpPr>
          <p:cNvPr id="28" name="Shape 26"/>
          <p:cNvSpPr/>
          <p:nvPr/>
        </p:nvSpPr>
        <p:spPr>
          <a:xfrm>
            <a:off x="1298628" y="2395652"/>
            <a:ext cx="182880" cy="182880"/>
          </a:xfrm>
          <a:prstGeom prst="ellipse">
            <a:avLst/>
          </a:prstGeom>
          <a:solidFill>
            <a:srgbClr val="E0884A"/>
          </a:solidFill>
          <a:ln w="9525">
            <a:solidFill>
              <a:srgbClr val="9A5320"/>
            </a:solidFill>
            <a:prstDash val="solid"/>
          </a:ln>
        </p:spPr>
      </p:sp>
      <p:sp>
        <p:nvSpPr>
          <p:cNvPr id="29" name="Shape 27"/>
          <p:cNvSpPr/>
          <p:nvPr/>
        </p:nvSpPr>
        <p:spPr>
          <a:xfrm flipH="1" flipV="1">
            <a:off x="1207778" y="2212805"/>
            <a:ext cx="124086" cy="186708"/>
          </a:xfrm>
          <a:prstGeom prst="line">
            <a:avLst/>
          </a:prstGeom>
          <a:noFill/>
          <a:ln w="12700">
            <a:solidFill>
              <a:srgbClr val="6B7385"/>
            </a:solidFill>
            <a:prstDash val="solid"/>
            <a:tailEnd type="triangle"/>
          </a:ln>
        </p:spPr>
      </p:sp>
      <p:sp>
        <p:nvSpPr>
          <p:cNvPr id="30" name="Text 28"/>
          <p:cNvSpPr/>
          <p:nvPr/>
        </p:nvSpPr>
        <p:spPr>
          <a:xfrm>
            <a:off x="3429000" y="1344168"/>
            <a:ext cx="2286000" cy="256032"/>
          </a:xfrm>
          <a:prstGeom prst="rect">
            <a:avLst/>
          </a:prstGeom>
          <a:noFill/>
          <a:ln/>
        </p:spPr>
        <p:txBody>
          <a:bodyPr wrap="square" lIns="0" tIns="0" rIns="0" bIns="0" rtlCol="0" anchor="ctr"/>
          <a:lstStyle/>
          <a:p>
            <a:pPr algn="ctr" indent="0" marL="0">
              <a:buNone/>
            </a:pPr>
            <a:r>
              <a:rPr lang="en-US" sz="1150" b="1" dirty="0">
                <a:solidFill>
                  <a:srgbClr val="2E5BD8"/>
                </a:solidFill>
                <a:latin typeface="Calibri" pitchFamily="34" charset="0"/>
                <a:ea typeface="Calibri" pitchFamily="34" charset="-122"/>
                <a:cs typeface="Calibri" pitchFamily="34" charset="-120"/>
              </a:rPr>
              <a:t>closer to scale</a:t>
            </a:r>
            <a:endParaRPr lang="en-US" sz="1150" dirty="0"/>
          </a:p>
        </p:txBody>
      </p:sp>
      <p:sp>
        <p:nvSpPr>
          <p:cNvPr id="31" name="Shape 29"/>
          <p:cNvSpPr/>
          <p:nvPr/>
        </p:nvSpPr>
        <p:spPr>
          <a:xfrm>
            <a:off x="3429000" y="1691640"/>
            <a:ext cx="2286000" cy="2103120"/>
          </a:xfrm>
          <a:prstGeom prst="rect">
            <a:avLst/>
          </a:prstGeom>
          <a:solidFill>
            <a:srgbClr val="FFFFFF"/>
          </a:solidFill>
          <a:ln w="19050">
            <a:solidFill>
              <a:srgbClr val="1A2340"/>
            </a:solidFill>
            <a:prstDash val="solid"/>
          </a:ln>
        </p:spPr>
      </p:sp>
      <p:sp>
        <p:nvSpPr>
          <p:cNvPr id="32" name="Shape 30"/>
          <p:cNvSpPr/>
          <p:nvPr/>
        </p:nvSpPr>
        <p:spPr>
          <a:xfrm>
            <a:off x="3603716" y="1851721"/>
            <a:ext cx="36576" cy="36576"/>
          </a:xfrm>
          <a:prstGeom prst="ellipse">
            <a:avLst/>
          </a:prstGeom>
          <a:solidFill>
            <a:srgbClr val="E0884A"/>
          </a:solidFill>
          <a:ln w="9525">
            <a:solidFill>
              <a:srgbClr val="9A5320"/>
            </a:solidFill>
            <a:prstDash val="solid"/>
          </a:ln>
        </p:spPr>
      </p:sp>
      <p:sp>
        <p:nvSpPr>
          <p:cNvPr id="33" name="Shape 31"/>
          <p:cNvSpPr/>
          <p:nvPr/>
        </p:nvSpPr>
        <p:spPr>
          <a:xfrm>
            <a:off x="3633387" y="2311885"/>
            <a:ext cx="36576" cy="36576"/>
          </a:xfrm>
          <a:prstGeom prst="ellipse">
            <a:avLst/>
          </a:prstGeom>
          <a:solidFill>
            <a:srgbClr val="E0884A"/>
          </a:solidFill>
          <a:ln w="9525">
            <a:solidFill>
              <a:srgbClr val="9A5320"/>
            </a:solidFill>
            <a:prstDash val="solid"/>
          </a:ln>
        </p:spPr>
      </p:sp>
      <p:sp>
        <p:nvSpPr>
          <p:cNvPr id="34" name="Shape 32"/>
          <p:cNvSpPr/>
          <p:nvPr/>
        </p:nvSpPr>
        <p:spPr>
          <a:xfrm>
            <a:off x="3569718" y="2760695"/>
            <a:ext cx="36576" cy="36576"/>
          </a:xfrm>
          <a:prstGeom prst="ellipse">
            <a:avLst/>
          </a:prstGeom>
          <a:solidFill>
            <a:srgbClr val="E0884A"/>
          </a:solidFill>
          <a:ln w="9525">
            <a:solidFill>
              <a:srgbClr val="9A5320"/>
            </a:solidFill>
            <a:prstDash val="solid"/>
          </a:ln>
        </p:spPr>
      </p:sp>
      <p:sp>
        <p:nvSpPr>
          <p:cNvPr id="35" name="Shape 33"/>
          <p:cNvSpPr/>
          <p:nvPr/>
        </p:nvSpPr>
        <p:spPr>
          <a:xfrm>
            <a:off x="3653922" y="3167554"/>
            <a:ext cx="36576" cy="36576"/>
          </a:xfrm>
          <a:prstGeom prst="ellipse">
            <a:avLst/>
          </a:prstGeom>
          <a:solidFill>
            <a:srgbClr val="E0884A"/>
          </a:solidFill>
          <a:ln w="9525">
            <a:solidFill>
              <a:srgbClr val="9A5320"/>
            </a:solidFill>
            <a:prstDash val="solid"/>
          </a:ln>
        </p:spPr>
      </p:sp>
      <p:sp>
        <p:nvSpPr>
          <p:cNvPr id="36" name="Shape 34"/>
          <p:cNvSpPr/>
          <p:nvPr/>
        </p:nvSpPr>
        <p:spPr>
          <a:xfrm>
            <a:off x="3563157" y="3512841"/>
            <a:ext cx="36576" cy="36576"/>
          </a:xfrm>
          <a:prstGeom prst="ellipse">
            <a:avLst/>
          </a:prstGeom>
          <a:solidFill>
            <a:srgbClr val="E0884A"/>
          </a:solidFill>
          <a:ln w="9525">
            <a:solidFill>
              <a:srgbClr val="9A5320"/>
            </a:solidFill>
            <a:prstDash val="solid"/>
          </a:ln>
        </p:spPr>
      </p:sp>
      <p:sp>
        <p:nvSpPr>
          <p:cNvPr id="37" name="Shape 35"/>
          <p:cNvSpPr/>
          <p:nvPr/>
        </p:nvSpPr>
        <p:spPr>
          <a:xfrm>
            <a:off x="4031688" y="1911160"/>
            <a:ext cx="36576" cy="36576"/>
          </a:xfrm>
          <a:prstGeom prst="ellipse">
            <a:avLst/>
          </a:prstGeom>
          <a:solidFill>
            <a:srgbClr val="E0884A"/>
          </a:solidFill>
          <a:ln w="9525">
            <a:solidFill>
              <a:srgbClr val="9A5320"/>
            </a:solidFill>
            <a:prstDash val="solid"/>
          </a:ln>
        </p:spPr>
      </p:sp>
      <p:sp>
        <p:nvSpPr>
          <p:cNvPr id="38" name="Shape 36"/>
          <p:cNvSpPr/>
          <p:nvPr/>
        </p:nvSpPr>
        <p:spPr>
          <a:xfrm>
            <a:off x="3986336" y="2334211"/>
            <a:ext cx="36576" cy="36576"/>
          </a:xfrm>
          <a:prstGeom prst="ellipse">
            <a:avLst/>
          </a:prstGeom>
          <a:solidFill>
            <a:srgbClr val="E0884A"/>
          </a:solidFill>
          <a:ln w="9525">
            <a:solidFill>
              <a:srgbClr val="9A5320"/>
            </a:solidFill>
            <a:prstDash val="solid"/>
          </a:ln>
        </p:spPr>
      </p:sp>
      <p:sp>
        <p:nvSpPr>
          <p:cNvPr id="39" name="Shape 37"/>
          <p:cNvSpPr/>
          <p:nvPr/>
        </p:nvSpPr>
        <p:spPr>
          <a:xfrm>
            <a:off x="3978237" y="2675939"/>
            <a:ext cx="36576" cy="36576"/>
          </a:xfrm>
          <a:prstGeom prst="ellipse">
            <a:avLst/>
          </a:prstGeom>
          <a:solidFill>
            <a:srgbClr val="E0884A"/>
          </a:solidFill>
          <a:ln w="9525">
            <a:solidFill>
              <a:srgbClr val="9A5320"/>
            </a:solidFill>
            <a:prstDash val="solid"/>
          </a:ln>
        </p:spPr>
      </p:sp>
      <p:sp>
        <p:nvSpPr>
          <p:cNvPr id="40" name="Shape 38"/>
          <p:cNvSpPr/>
          <p:nvPr/>
        </p:nvSpPr>
        <p:spPr>
          <a:xfrm>
            <a:off x="3946217" y="3089739"/>
            <a:ext cx="36576" cy="36576"/>
          </a:xfrm>
          <a:prstGeom prst="ellipse">
            <a:avLst/>
          </a:prstGeom>
          <a:solidFill>
            <a:srgbClr val="E0884A"/>
          </a:solidFill>
          <a:ln w="9525">
            <a:solidFill>
              <a:srgbClr val="9A5320"/>
            </a:solidFill>
            <a:prstDash val="solid"/>
          </a:ln>
        </p:spPr>
      </p:sp>
      <p:sp>
        <p:nvSpPr>
          <p:cNvPr id="41" name="Shape 39"/>
          <p:cNvSpPr/>
          <p:nvPr/>
        </p:nvSpPr>
        <p:spPr>
          <a:xfrm>
            <a:off x="3977631" y="3548595"/>
            <a:ext cx="36576" cy="36576"/>
          </a:xfrm>
          <a:prstGeom prst="ellipse">
            <a:avLst/>
          </a:prstGeom>
          <a:solidFill>
            <a:srgbClr val="E0884A"/>
          </a:solidFill>
          <a:ln w="9525">
            <a:solidFill>
              <a:srgbClr val="9A5320"/>
            </a:solidFill>
            <a:prstDash val="solid"/>
          </a:ln>
        </p:spPr>
      </p:sp>
      <p:sp>
        <p:nvSpPr>
          <p:cNvPr id="42" name="Shape 40"/>
          <p:cNvSpPr/>
          <p:nvPr/>
        </p:nvSpPr>
        <p:spPr>
          <a:xfrm>
            <a:off x="4413979" y="1853400"/>
            <a:ext cx="36576" cy="36576"/>
          </a:xfrm>
          <a:prstGeom prst="ellipse">
            <a:avLst/>
          </a:prstGeom>
          <a:solidFill>
            <a:srgbClr val="E0884A"/>
          </a:solidFill>
          <a:ln w="9525">
            <a:solidFill>
              <a:srgbClr val="9A5320"/>
            </a:solidFill>
            <a:prstDash val="solid"/>
          </a:ln>
        </p:spPr>
      </p:sp>
      <p:sp>
        <p:nvSpPr>
          <p:cNvPr id="43" name="Shape 41"/>
          <p:cNvSpPr/>
          <p:nvPr/>
        </p:nvSpPr>
        <p:spPr>
          <a:xfrm>
            <a:off x="4338453" y="2285942"/>
            <a:ext cx="36576" cy="36576"/>
          </a:xfrm>
          <a:prstGeom prst="ellipse">
            <a:avLst/>
          </a:prstGeom>
          <a:solidFill>
            <a:srgbClr val="E0884A"/>
          </a:solidFill>
          <a:ln w="9525">
            <a:solidFill>
              <a:srgbClr val="9A5320"/>
            </a:solidFill>
            <a:prstDash val="solid"/>
          </a:ln>
        </p:spPr>
      </p:sp>
      <p:sp>
        <p:nvSpPr>
          <p:cNvPr id="44" name="Shape 42"/>
          <p:cNvSpPr/>
          <p:nvPr/>
        </p:nvSpPr>
        <p:spPr>
          <a:xfrm>
            <a:off x="4321759" y="2692854"/>
            <a:ext cx="36576" cy="36576"/>
          </a:xfrm>
          <a:prstGeom prst="ellipse">
            <a:avLst/>
          </a:prstGeom>
          <a:solidFill>
            <a:srgbClr val="E0884A"/>
          </a:solidFill>
          <a:ln w="9525">
            <a:solidFill>
              <a:srgbClr val="9A5320"/>
            </a:solidFill>
            <a:prstDash val="solid"/>
          </a:ln>
        </p:spPr>
      </p:sp>
      <p:sp>
        <p:nvSpPr>
          <p:cNvPr id="45" name="Shape 43"/>
          <p:cNvSpPr/>
          <p:nvPr/>
        </p:nvSpPr>
        <p:spPr>
          <a:xfrm>
            <a:off x="4330745" y="3082434"/>
            <a:ext cx="36576" cy="36576"/>
          </a:xfrm>
          <a:prstGeom prst="ellipse">
            <a:avLst/>
          </a:prstGeom>
          <a:solidFill>
            <a:srgbClr val="E0884A"/>
          </a:solidFill>
          <a:ln w="9525">
            <a:solidFill>
              <a:srgbClr val="9A5320"/>
            </a:solidFill>
            <a:prstDash val="solid"/>
          </a:ln>
        </p:spPr>
      </p:sp>
      <p:sp>
        <p:nvSpPr>
          <p:cNvPr id="46" name="Shape 44"/>
          <p:cNvSpPr/>
          <p:nvPr/>
        </p:nvSpPr>
        <p:spPr>
          <a:xfrm>
            <a:off x="4396321" y="3550184"/>
            <a:ext cx="36576" cy="36576"/>
          </a:xfrm>
          <a:prstGeom prst="ellipse">
            <a:avLst/>
          </a:prstGeom>
          <a:solidFill>
            <a:srgbClr val="E0884A"/>
          </a:solidFill>
          <a:ln w="9525">
            <a:solidFill>
              <a:srgbClr val="9A5320"/>
            </a:solidFill>
            <a:prstDash val="solid"/>
          </a:ln>
        </p:spPr>
      </p:sp>
      <p:sp>
        <p:nvSpPr>
          <p:cNvPr id="47" name="Shape 45"/>
          <p:cNvSpPr/>
          <p:nvPr/>
        </p:nvSpPr>
        <p:spPr>
          <a:xfrm>
            <a:off x="4733962" y="1913589"/>
            <a:ext cx="36576" cy="36576"/>
          </a:xfrm>
          <a:prstGeom prst="ellipse">
            <a:avLst/>
          </a:prstGeom>
          <a:solidFill>
            <a:srgbClr val="E0884A"/>
          </a:solidFill>
          <a:ln w="9525">
            <a:solidFill>
              <a:srgbClr val="9A5320"/>
            </a:solidFill>
            <a:prstDash val="solid"/>
          </a:ln>
        </p:spPr>
      </p:sp>
      <p:sp>
        <p:nvSpPr>
          <p:cNvPr id="48" name="Shape 46"/>
          <p:cNvSpPr/>
          <p:nvPr/>
        </p:nvSpPr>
        <p:spPr>
          <a:xfrm>
            <a:off x="4715061" y="2286994"/>
            <a:ext cx="36576" cy="36576"/>
          </a:xfrm>
          <a:prstGeom prst="ellipse">
            <a:avLst/>
          </a:prstGeom>
          <a:solidFill>
            <a:srgbClr val="E0884A"/>
          </a:solidFill>
          <a:ln w="9525">
            <a:solidFill>
              <a:srgbClr val="9A5320"/>
            </a:solidFill>
            <a:prstDash val="solid"/>
          </a:ln>
        </p:spPr>
      </p:sp>
      <p:sp>
        <p:nvSpPr>
          <p:cNvPr id="49" name="Shape 47"/>
          <p:cNvSpPr/>
          <p:nvPr/>
        </p:nvSpPr>
        <p:spPr>
          <a:xfrm>
            <a:off x="4747344" y="2700311"/>
            <a:ext cx="36576" cy="36576"/>
          </a:xfrm>
          <a:prstGeom prst="ellipse">
            <a:avLst/>
          </a:prstGeom>
          <a:solidFill>
            <a:srgbClr val="E0884A"/>
          </a:solidFill>
          <a:ln w="9525">
            <a:solidFill>
              <a:srgbClr val="9A5320"/>
            </a:solidFill>
            <a:prstDash val="solid"/>
          </a:ln>
        </p:spPr>
      </p:sp>
      <p:sp>
        <p:nvSpPr>
          <p:cNvPr id="50" name="Shape 48"/>
          <p:cNvSpPr/>
          <p:nvPr/>
        </p:nvSpPr>
        <p:spPr>
          <a:xfrm>
            <a:off x="4759606" y="3130208"/>
            <a:ext cx="36576" cy="36576"/>
          </a:xfrm>
          <a:prstGeom prst="ellipse">
            <a:avLst/>
          </a:prstGeom>
          <a:solidFill>
            <a:srgbClr val="E0884A"/>
          </a:solidFill>
          <a:ln w="9525">
            <a:solidFill>
              <a:srgbClr val="9A5320"/>
            </a:solidFill>
            <a:prstDash val="solid"/>
          </a:ln>
        </p:spPr>
      </p:sp>
      <p:sp>
        <p:nvSpPr>
          <p:cNvPr id="51" name="Shape 49"/>
          <p:cNvSpPr/>
          <p:nvPr/>
        </p:nvSpPr>
        <p:spPr>
          <a:xfrm>
            <a:off x="4750330" y="3557581"/>
            <a:ext cx="36576" cy="36576"/>
          </a:xfrm>
          <a:prstGeom prst="ellipse">
            <a:avLst/>
          </a:prstGeom>
          <a:solidFill>
            <a:srgbClr val="E0884A"/>
          </a:solidFill>
          <a:ln w="9525">
            <a:solidFill>
              <a:srgbClr val="9A5320"/>
            </a:solidFill>
            <a:prstDash val="solid"/>
          </a:ln>
        </p:spPr>
      </p:sp>
      <p:sp>
        <p:nvSpPr>
          <p:cNvPr id="52" name="Shape 50"/>
          <p:cNvSpPr/>
          <p:nvPr/>
        </p:nvSpPr>
        <p:spPr>
          <a:xfrm>
            <a:off x="5100492" y="1859863"/>
            <a:ext cx="36576" cy="36576"/>
          </a:xfrm>
          <a:prstGeom prst="ellipse">
            <a:avLst/>
          </a:prstGeom>
          <a:solidFill>
            <a:srgbClr val="E0884A"/>
          </a:solidFill>
          <a:ln w="9525">
            <a:solidFill>
              <a:srgbClr val="9A5320"/>
            </a:solidFill>
            <a:prstDash val="solid"/>
          </a:ln>
        </p:spPr>
      </p:sp>
      <p:sp>
        <p:nvSpPr>
          <p:cNvPr id="53" name="Shape 51"/>
          <p:cNvSpPr/>
          <p:nvPr/>
        </p:nvSpPr>
        <p:spPr>
          <a:xfrm>
            <a:off x="5090178" y="2320173"/>
            <a:ext cx="36576" cy="36576"/>
          </a:xfrm>
          <a:prstGeom prst="ellipse">
            <a:avLst/>
          </a:prstGeom>
          <a:solidFill>
            <a:srgbClr val="E0884A"/>
          </a:solidFill>
          <a:ln w="9525">
            <a:solidFill>
              <a:srgbClr val="9A5320"/>
            </a:solidFill>
            <a:prstDash val="solid"/>
          </a:ln>
        </p:spPr>
      </p:sp>
      <p:sp>
        <p:nvSpPr>
          <p:cNvPr id="54" name="Shape 52"/>
          <p:cNvSpPr/>
          <p:nvPr/>
        </p:nvSpPr>
        <p:spPr>
          <a:xfrm>
            <a:off x="5057385" y="2772173"/>
            <a:ext cx="36576" cy="36576"/>
          </a:xfrm>
          <a:prstGeom prst="ellipse">
            <a:avLst/>
          </a:prstGeom>
          <a:solidFill>
            <a:srgbClr val="E0884A"/>
          </a:solidFill>
          <a:ln w="9525">
            <a:solidFill>
              <a:srgbClr val="9A5320"/>
            </a:solidFill>
            <a:prstDash val="solid"/>
          </a:ln>
        </p:spPr>
      </p:sp>
      <p:sp>
        <p:nvSpPr>
          <p:cNvPr id="55" name="Shape 53"/>
          <p:cNvSpPr/>
          <p:nvPr/>
        </p:nvSpPr>
        <p:spPr>
          <a:xfrm>
            <a:off x="5070488" y="3181019"/>
            <a:ext cx="36576" cy="36576"/>
          </a:xfrm>
          <a:prstGeom prst="ellipse">
            <a:avLst/>
          </a:prstGeom>
          <a:solidFill>
            <a:srgbClr val="E0884A"/>
          </a:solidFill>
          <a:ln w="9525">
            <a:solidFill>
              <a:srgbClr val="9A5320"/>
            </a:solidFill>
            <a:prstDash val="solid"/>
          </a:ln>
        </p:spPr>
      </p:sp>
      <p:sp>
        <p:nvSpPr>
          <p:cNvPr id="56" name="Shape 54"/>
          <p:cNvSpPr/>
          <p:nvPr/>
        </p:nvSpPr>
        <p:spPr>
          <a:xfrm>
            <a:off x="5110281" y="3582552"/>
            <a:ext cx="36576" cy="36576"/>
          </a:xfrm>
          <a:prstGeom prst="ellipse">
            <a:avLst/>
          </a:prstGeom>
          <a:solidFill>
            <a:srgbClr val="E0884A"/>
          </a:solidFill>
          <a:ln w="9525">
            <a:solidFill>
              <a:srgbClr val="9A5320"/>
            </a:solidFill>
            <a:prstDash val="solid"/>
          </a:ln>
        </p:spPr>
      </p:sp>
      <p:sp>
        <p:nvSpPr>
          <p:cNvPr id="57" name="Shape 55"/>
          <p:cNvSpPr/>
          <p:nvPr/>
        </p:nvSpPr>
        <p:spPr>
          <a:xfrm>
            <a:off x="5466390" y="1888422"/>
            <a:ext cx="36576" cy="36576"/>
          </a:xfrm>
          <a:prstGeom prst="ellipse">
            <a:avLst/>
          </a:prstGeom>
          <a:solidFill>
            <a:srgbClr val="E0884A"/>
          </a:solidFill>
          <a:ln w="9525">
            <a:solidFill>
              <a:srgbClr val="9A5320"/>
            </a:solidFill>
            <a:prstDash val="solid"/>
          </a:ln>
        </p:spPr>
      </p:sp>
      <p:sp>
        <p:nvSpPr>
          <p:cNvPr id="58" name="Shape 56"/>
          <p:cNvSpPr/>
          <p:nvPr/>
        </p:nvSpPr>
        <p:spPr>
          <a:xfrm>
            <a:off x="5461516" y="2329936"/>
            <a:ext cx="36576" cy="36576"/>
          </a:xfrm>
          <a:prstGeom prst="ellipse">
            <a:avLst/>
          </a:prstGeom>
          <a:solidFill>
            <a:srgbClr val="E0884A"/>
          </a:solidFill>
          <a:ln w="9525">
            <a:solidFill>
              <a:srgbClr val="9A5320"/>
            </a:solidFill>
            <a:prstDash val="solid"/>
          </a:ln>
        </p:spPr>
      </p:sp>
      <p:sp>
        <p:nvSpPr>
          <p:cNvPr id="59" name="Shape 57"/>
          <p:cNvSpPr/>
          <p:nvPr/>
        </p:nvSpPr>
        <p:spPr>
          <a:xfrm>
            <a:off x="5524523" y="2715464"/>
            <a:ext cx="36576" cy="36576"/>
          </a:xfrm>
          <a:prstGeom prst="ellipse">
            <a:avLst/>
          </a:prstGeom>
          <a:solidFill>
            <a:srgbClr val="E0884A"/>
          </a:solidFill>
          <a:ln w="9525">
            <a:solidFill>
              <a:srgbClr val="9A5320"/>
            </a:solidFill>
            <a:prstDash val="solid"/>
          </a:ln>
        </p:spPr>
      </p:sp>
      <p:sp>
        <p:nvSpPr>
          <p:cNvPr id="60" name="Shape 58"/>
          <p:cNvSpPr/>
          <p:nvPr/>
        </p:nvSpPr>
        <p:spPr>
          <a:xfrm>
            <a:off x="5474237" y="3143738"/>
            <a:ext cx="36576" cy="36576"/>
          </a:xfrm>
          <a:prstGeom prst="ellipse">
            <a:avLst/>
          </a:prstGeom>
          <a:solidFill>
            <a:srgbClr val="E0884A"/>
          </a:solidFill>
          <a:ln w="9525">
            <a:solidFill>
              <a:srgbClr val="9A5320"/>
            </a:solidFill>
            <a:prstDash val="solid"/>
          </a:ln>
        </p:spPr>
      </p:sp>
      <p:sp>
        <p:nvSpPr>
          <p:cNvPr id="61" name="Shape 59"/>
          <p:cNvSpPr/>
          <p:nvPr/>
        </p:nvSpPr>
        <p:spPr>
          <a:xfrm>
            <a:off x="5464196" y="3576592"/>
            <a:ext cx="36576" cy="36576"/>
          </a:xfrm>
          <a:prstGeom prst="ellipse">
            <a:avLst/>
          </a:prstGeom>
          <a:solidFill>
            <a:srgbClr val="E0884A"/>
          </a:solidFill>
          <a:ln w="9525">
            <a:solidFill>
              <a:srgbClr val="9A5320"/>
            </a:solidFill>
            <a:prstDash val="solid"/>
          </a:ln>
        </p:spPr>
      </p:sp>
      <p:sp>
        <p:nvSpPr>
          <p:cNvPr id="62" name="Text 60"/>
          <p:cNvSpPr/>
          <p:nvPr/>
        </p:nvSpPr>
        <p:spPr>
          <a:xfrm>
            <a:off x="3429000" y="3831336"/>
            <a:ext cx="2286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spacing ≈ 10 × particle diameter</a:t>
            </a:r>
            <a:endParaRPr lang="en-US" sz="1050" dirty="0"/>
          </a:p>
        </p:txBody>
      </p:sp>
      <p:sp>
        <p:nvSpPr>
          <p:cNvPr id="63" name="Text 61"/>
          <p:cNvSpPr/>
          <p:nvPr/>
        </p:nvSpPr>
        <p:spPr>
          <a:xfrm>
            <a:off x="685800" y="3831336"/>
            <a:ext cx="2286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particles drawn far too big</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85800" y="4160520"/>
          <a:ext cx="5029200" cy="914400"/>
        </p:xfrm>
        <a:graphic>
          <a:graphicData uri="http://schemas.openxmlformats.org/drawingml/2006/table">
            <a:tbl>
              <a:tblPr/>
              <a:tblGrid>
                <a:gridCol w="1828800"/>
                <a:gridCol w="3200400"/>
              </a:tblGrid>
              <a:tr h="21945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The model shows…</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In reality…</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219456">
                <a:tc>
                  <a:txBody>
                    <a:bodyPr/>
                    <a:lstStyle/>
                    <a:p>
                      <a:pPr indent="0" marL="0">
                        <a:buNone/>
                      </a:pPr>
                      <a:r>
                        <a:rPr lang="en-US" sz="1000" b="1" dirty="0">
                          <a:solidFill>
                            <a:srgbClr val="262B3A"/>
                          </a:solidFill>
                          <a:latin typeface="Calibri" pitchFamily="34" charset="0"/>
                          <a:ea typeface="Calibri" pitchFamily="34" charset="-122"/>
                          <a:cs typeface="Calibri" pitchFamily="34" charset="-120"/>
                        </a:rPr>
                        <a:t>hard, solid spheres</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atoms and molecules have shapes; not solid balls</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19456">
                <a:tc>
                  <a:txBody>
                    <a:bodyPr/>
                    <a:lstStyle/>
                    <a:p>
                      <a:pPr indent="0" marL="0">
                        <a:buNone/>
                      </a:pPr>
                      <a:r>
                        <a:rPr lang="en-US" sz="1000" b="1" dirty="0">
                          <a:solidFill>
                            <a:srgbClr val="262B3A"/>
                          </a:solidFill>
                          <a:latin typeface="Calibri" pitchFamily="34" charset="0"/>
                          <a:ea typeface="Calibri" pitchFamily="34" charset="-122"/>
                          <a:cs typeface="Calibri" pitchFamily="34" charset="-120"/>
                        </a:rPr>
                        <a:t>no forces between particles</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weak attractions: gases can condense</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219456">
                <a:tc>
                  <a:txBody>
                    <a:bodyPr/>
                    <a:lstStyle/>
                    <a:p>
                      <a:pPr indent="0" marL="0">
                        <a:buNone/>
                      </a:pPr>
                      <a:r>
                        <a:rPr lang="en-US" sz="1000" b="1" dirty="0">
                          <a:solidFill>
                            <a:srgbClr val="262B3A"/>
                          </a:solidFill>
                          <a:latin typeface="Calibri" pitchFamily="34" charset="0"/>
                          <a:ea typeface="Calibri" pitchFamily="34" charset="-122"/>
                          <a:cs typeface="Calibri" pitchFamily="34" charset="-120"/>
                        </a:rPr>
                        <a:t>particles big and close</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tiny particles, mostly empty space</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19456">
                <a:tc>
                  <a:txBody>
                    <a:bodyPr/>
                    <a:lstStyle/>
                    <a:p>
                      <a:pPr indent="0" marL="0">
                        <a:buNone/>
                      </a:pPr>
                      <a:r>
                        <a:rPr lang="en-US" sz="1000" b="1" dirty="0">
                          <a:solidFill>
                            <a:srgbClr val="262B3A"/>
                          </a:solidFill>
                          <a:latin typeface="Calibri" pitchFamily="34" charset="0"/>
                          <a:ea typeface="Calibri" pitchFamily="34" charset="-122"/>
                          <a:cs typeface="Calibri" pitchFamily="34" charset="-120"/>
                        </a:rPr>
                        <a:t>a frozen moment</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constant motion and collisions</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bl>
          </a:graphicData>
        </a:graphic>
      </p:graphicFrame>
      <p:sp>
        <p:nvSpPr>
          <p:cNvPr id="65" name="Shape 62"/>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66" name="Text 6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What the model leaves out</a:t>
            </a:r>
            <a:endParaRPr lang="en-US" sz="1300" dirty="0"/>
          </a:p>
        </p:txBody>
      </p:sp>
      <p:sp>
        <p:nvSpPr>
          <p:cNvPr id="67" name="Text 6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Particle diagrams are </a:t>
            </a:r>
            <a:r>
              <a:rPr lang="en-US" sz="1100" b="1" dirty="0">
                <a:solidFill>
                  <a:srgbClr val="262B3A"/>
                </a:solidFill>
                <a:latin typeface="Calibri" pitchFamily="34" charset="0"/>
                <a:ea typeface="Calibri" pitchFamily="34" charset="-122"/>
                <a:cs typeface="Calibri" pitchFamily="34" charset="-120"/>
              </a:rPr>
              <a:t>not to scale</a:t>
            </a:r>
            <a:r>
              <a:rPr lang="en-US" sz="1100" dirty="0">
                <a:solidFill>
                  <a:srgbClr val="262B3A"/>
                </a:solidFill>
                <a:latin typeface="Calibri" pitchFamily="34" charset="0"/>
                <a:ea typeface="Calibri" pitchFamily="34" charset="-122"/>
                <a:cs typeface="Calibri" pitchFamily="34" charset="-120"/>
              </a:rPr>
              <a:t>: in air the gaps between particles are about </a:t>
            </a:r>
            <a:r>
              <a:rPr lang="en-US" sz="1100" b="1" dirty="0">
                <a:solidFill>
                  <a:srgbClr val="262B3A"/>
                </a:solidFill>
                <a:latin typeface="Calibri" pitchFamily="34" charset="0"/>
                <a:ea typeface="Calibri" pitchFamily="34" charset="-122"/>
                <a:cs typeface="Calibri" pitchFamily="34" charset="-120"/>
              </a:rPr>
              <a:t>10 particle diameters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model treats particles as </a:t>
            </a:r>
            <a:r>
              <a:rPr lang="en-US" sz="1100" b="1" dirty="0">
                <a:solidFill>
                  <a:srgbClr val="262B3A"/>
                </a:solidFill>
                <a:latin typeface="Calibri" pitchFamily="34" charset="0"/>
                <a:ea typeface="Calibri" pitchFamily="34" charset="-122"/>
                <a:cs typeface="Calibri" pitchFamily="34" charset="-120"/>
              </a:rPr>
              <a:t>tiny hard spheres</a:t>
            </a:r>
            <a:r>
              <a:rPr lang="en-US" sz="1100" dirty="0">
                <a:solidFill>
                  <a:srgbClr val="262B3A"/>
                </a:solidFill>
                <a:latin typeface="Calibri" pitchFamily="34" charset="0"/>
                <a:ea typeface="Calibri" pitchFamily="34" charset="-122"/>
                <a:cs typeface="Calibri" pitchFamily="34" charset="-120"/>
              </a:rPr>
              <a:t> with </a:t>
            </a:r>
            <a:r>
              <a:rPr lang="en-US" sz="1100" b="1" dirty="0">
                <a:solidFill>
                  <a:srgbClr val="262B3A"/>
                </a:solidFill>
                <a:latin typeface="Calibri" pitchFamily="34" charset="0"/>
                <a:ea typeface="Calibri" pitchFamily="34" charset="-122"/>
                <a:cs typeface="Calibri" pitchFamily="34" charset="-120"/>
              </a:rPr>
              <a:t>no forces</a:t>
            </a:r>
            <a:r>
              <a:rPr lang="en-US" sz="1100" dirty="0">
                <a:solidFill>
                  <a:srgbClr val="262B3A"/>
                </a:solidFill>
                <a:latin typeface="Calibri" pitchFamily="34" charset="0"/>
                <a:ea typeface="Calibri" pitchFamily="34" charset="-122"/>
                <a:cs typeface="Calibri" pitchFamily="34" charset="-120"/>
              </a:rPr>
              <a:t> between them except in collisions.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It predicts p = 0 at absolute zero, but real gases </a:t>
            </a:r>
            <a:r>
              <a:rPr lang="en-US" sz="1100" b="1" dirty="0">
                <a:solidFill>
                  <a:srgbClr val="262B3A"/>
                </a:solidFill>
                <a:latin typeface="Calibri" pitchFamily="34" charset="0"/>
                <a:ea typeface="Calibri" pitchFamily="34" charset="-122"/>
                <a:cs typeface="Calibri" pitchFamily="34" charset="-120"/>
              </a:rPr>
              <a:t>condense</a:t>
            </a:r>
            <a:r>
              <a:rPr lang="en-US" sz="1100" dirty="0">
                <a:solidFill>
                  <a:srgbClr val="262B3A"/>
                </a:solidFill>
                <a:latin typeface="Calibri" pitchFamily="34" charset="0"/>
                <a:ea typeface="Calibri" pitchFamily="34" charset="-122"/>
                <a:cs typeface="Calibri" pitchFamily="34" charset="-120"/>
              </a:rPr>
              <a:t> into liquids before that.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Still useful: it </a:t>
            </a:r>
            <a:r>
              <a:rPr lang="en-US" sz="1100" b="1" dirty="0">
                <a:solidFill>
                  <a:srgbClr val="262B3A"/>
                </a:solidFill>
                <a:latin typeface="Calibri" pitchFamily="34" charset="0"/>
                <a:ea typeface="Calibri" pitchFamily="34" charset="-122"/>
                <a:cs typeface="Calibri" pitchFamily="34" charset="-120"/>
              </a:rPr>
              <a:t>explains and predicts</a:t>
            </a:r>
            <a:r>
              <a:rPr lang="en-US" sz="1100" dirty="0">
                <a:solidFill>
                  <a:srgbClr val="262B3A"/>
                </a:solidFill>
                <a:latin typeface="Calibri" pitchFamily="34" charset="0"/>
                <a:ea typeface="Calibri" pitchFamily="34" charset="-122"/>
                <a:cs typeface="Calibri" pitchFamily="34" charset="-120"/>
              </a:rPr>
              <a:t> pressure, temperature and volume changes.</a:t>
            </a:r>
            <a:endParaRPr lang="en-US" sz="1100" dirty="0"/>
          </a:p>
        </p:txBody>
      </p:sp>
      <p:sp>
        <p:nvSpPr>
          <p:cNvPr id="68" name="Shape 6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69" name="Text 6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Evaluate the model</a:t>
            </a:r>
            <a:endParaRPr lang="en-US" sz="1300" dirty="0"/>
          </a:p>
        </p:txBody>
      </p:sp>
      <p:sp>
        <p:nvSpPr>
          <p:cNvPr id="70" name="Text 67"/>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student says "the particle model is wrong, so it is useless."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Strength   </a:t>
            </a:r>
            <a:r>
              <a:rPr lang="en-US" sz="1050" dirty="0">
                <a:solidFill>
                  <a:srgbClr val="262B3A"/>
                </a:solidFill>
                <a:latin typeface="Calibri" pitchFamily="34" charset="0"/>
                <a:ea typeface="Calibri" pitchFamily="34" charset="-122"/>
                <a:cs typeface="Calibri" pitchFamily="34" charset="-120"/>
              </a:rPr>
              <a:t>explains why heating raises gas pressure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Strength   </a:t>
            </a:r>
            <a:r>
              <a:rPr lang="en-US" sz="1050" dirty="0">
                <a:solidFill>
                  <a:srgbClr val="262B3A"/>
                </a:solidFill>
                <a:latin typeface="Calibri" pitchFamily="34" charset="0"/>
                <a:ea typeface="Calibri" pitchFamily="34" charset="-122"/>
                <a:cs typeface="Calibri" pitchFamily="34" charset="-120"/>
              </a:rPr>
              <a:t>predicts p ∝ 1/V and absolute zero</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Limitation   </a:t>
            </a:r>
            <a:r>
              <a:rPr lang="en-US" sz="1050" dirty="0">
                <a:solidFill>
                  <a:srgbClr val="262B3A"/>
                </a:solidFill>
                <a:latin typeface="Calibri" pitchFamily="34" charset="0"/>
                <a:ea typeface="Calibri" pitchFamily="34" charset="-122"/>
                <a:cs typeface="Calibri" pitchFamily="34" charset="-120"/>
              </a:rPr>
              <a:t>not to scale; ignores forces and shapes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all models are simplified, but this one is useful</a:t>
            </a:r>
            <a:endParaRPr lang="en-US" sz="1050" dirty="0"/>
          </a:p>
        </p:txBody>
      </p:sp>
      <p:sp>
        <p:nvSpPr>
          <p:cNvPr id="71" name="Shape 68"/>
          <p:cNvSpPr/>
          <p:nvPr/>
        </p:nvSpPr>
        <p:spPr>
          <a:xfrm>
            <a:off x="411480" y="5833872"/>
            <a:ext cx="11368735" cy="530352"/>
          </a:xfrm>
          <a:prstGeom prst="rect">
            <a:avLst/>
          </a:prstGeom>
          <a:solidFill>
            <a:srgbClr val="FFF4E0"/>
          </a:solidFill>
          <a:ln w="6350">
            <a:solidFill>
              <a:srgbClr val="F1D9A8"/>
            </a:solidFill>
            <a:prstDash val="solid"/>
          </a:ln>
        </p:spPr>
      </p:sp>
      <p:sp>
        <p:nvSpPr>
          <p:cNvPr id="72" name="Shape 69"/>
          <p:cNvSpPr/>
          <p:nvPr/>
        </p:nvSpPr>
        <p:spPr>
          <a:xfrm>
            <a:off x="411480" y="5833872"/>
            <a:ext cx="82296" cy="530352"/>
          </a:xfrm>
          <a:prstGeom prst="rect">
            <a:avLst/>
          </a:prstGeom>
          <a:solidFill>
            <a:srgbClr val="E39A2F"/>
          </a:solidFill>
          <a:ln w="12700">
            <a:solidFill>
              <a:srgbClr val="E39A2F"/>
            </a:solidFill>
            <a:prstDash val="solid"/>
          </a:ln>
        </p:spPr>
      </p:sp>
      <p:sp>
        <p:nvSpPr>
          <p:cNvPr id="73" name="Text 7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one way the particle model of a gas is useful and one way it does not match real gases.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P6.2.6 and models • work done on a gas; limitations of the particle model</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20</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Shape 9"/>
          <p:cNvSpPr/>
          <p:nvPr/>
        </p:nvSpPr>
        <p:spPr>
          <a:xfrm>
            <a:off x="2606040" y="1216152"/>
            <a:ext cx="411480" cy="274320"/>
          </a:xfrm>
          <a:prstGeom prst="roundRect">
            <a:avLst>
              <a:gd name="adj" fmla="val 50000"/>
            </a:avLst>
          </a:prstGeom>
          <a:solidFill>
            <a:srgbClr val="C8414C"/>
          </a:solidFill>
          <a:ln w="12700">
            <a:solidFill>
              <a:srgbClr val="C8414C"/>
            </a:solidFill>
            <a:prstDash val="solid"/>
          </a:ln>
        </p:spPr>
      </p:sp>
      <p:sp>
        <p:nvSpPr>
          <p:cNvPr id="12" name="Text 10"/>
          <p:cNvSpPr/>
          <p:nvPr/>
        </p:nvSpPr>
        <p:spPr>
          <a:xfrm>
            <a:off x="2606040" y="1216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3" name="Text 11"/>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bicycle pump is pushed in quickly and the air inside gets hotter. Explain why.</a:t>
            </a:r>
            <a:endParaRPr lang="en-US" sz="1250" dirty="0"/>
          </a:p>
        </p:txBody>
      </p:sp>
      <p:sp>
        <p:nvSpPr>
          <p:cNvPr id="14" name="Text 12"/>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5" name="Shape 13"/>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6" name="Shape 14"/>
          <p:cNvSpPr/>
          <p:nvPr/>
        </p:nvSpPr>
        <p:spPr>
          <a:xfrm>
            <a:off x="411480" y="2947416"/>
            <a:ext cx="2103120" cy="292608"/>
          </a:xfrm>
          <a:prstGeom prst="rect">
            <a:avLst/>
          </a:prstGeom>
          <a:solidFill>
            <a:srgbClr val="F5A742"/>
          </a:solidFill>
          <a:ln w="12700">
            <a:solidFill>
              <a:srgbClr val="F5A742"/>
            </a:solidFill>
            <a:prstDash val="solid"/>
          </a:ln>
        </p:spPr>
      </p:sp>
      <p:sp>
        <p:nvSpPr>
          <p:cNvPr id="17" name="Text 15"/>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8" name="Shape 16"/>
          <p:cNvSpPr/>
          <p:nvPr/>
        </p:nvSpPr>
        <p:spPr>
          <a:xfrm>
            <a:off x="2606040" y="2956560"/>
            <a:ext cx="411480" cy="274320"/>
          </a:xfrm>
          <a:prstGeom prst="roundRect">
            <a:avLst>
              <a:gd name="adj" fmla="val 50000"/>
            </a:avLst>
          </a:prstGeom>
          <a:solidFill>
            <a:srgbClr val="C8414C"/>
          </a:solidFill>
          <a:ln w="12700">
            <a:solidFill>
              <a:srgbClr val="C8414C"/>
            </a:solidFill>
            <a:prstDash val="solid"/>
          </a:ln>
        </p:spPr>
      </p:sp>
      <p:sp>
        <p:nvSpPr>
          <p:cNvPr id="19" name="Text 17"/>
          <p:cNvSpPr/>
          <p:nvPr/>
        </p:nvSpPr>
        <p:spPr>
          <a:xfrm>
            <a:off x="2606040" y="295656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0" name="Text 18"/>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Why does the temperature of the air hardly change if the pump is pushed in </a:t>
            </a:r>
            <a:r>
              <a:rPr lang="en-US" sz="1250" b="1" dirty="0">
                <a:solidFill>
                  <a:srgbClr val="262B3A"/>
                </a:solidFill>
                <a:latin typeface="Calibri" pitchFamily="34" charset="0"/>
                <a:ea typeface="Calibri" pitchFamily="34" charset="-122"/>
                <a:cs typeface="Calibri" pitchFamily="34" charset="-120"/>
              </a:rPr>
              <a:t>very slowly</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1" name="Text 19"/>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2" name="Shape 20"/>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23" name="Shape 21"/>
          <p:cNvSpPr/>
          <p:nvPr/>
        </p:nvSpPr>
        <p:spPr>
          <a:xfrm>
            <a:off x="411480" y="4687824"/>
            <a:ext cx="2103120" cy="292608"/>
          </a:xfrm>
          <a:prstGeom prst="rect">
            <a:avLst/>
          </a:prstGeom>
          <a:solidFill>
            <a:srgbClr val="F5A742"/>
          </a:solidFill>
          <a:ln w="12700">
            <a:solidFill>
              <a:srgbClr val="F5A742"/>
            </a:solidFill>
            <a:prstDash val="solid"/>
          </a:ln>
        </p:spPr>
      </p:sp>
      <p:sp>
        <p:nvSpPr>
          <p:cNvPr id="24" name="Text 22"/>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5" name="Text 23"/>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limitations of the particle model of a gas.</a:t>
            </a:r>
            <a:endParaRPr lang="en-US" sz="1250" dirty="0"/>
          </a:p>
        </p:txBody>
      </p:sp>
      <p:sp>
        <p:nvSpPr>
          <p:cNvPr id="26" name="Text 24"/>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P6.2 How does the particle model explain the effects of heating?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21</a:t>
            </a:r>
            <a:endParaRPr lang="en-US" sz="1000" dirty="0"/>
          </a:p>
        </p:txBody>
      </p:sp>
      <p:sp>
        <p:nvSpPr>
          <p:cNvPr id="8" name="Shape 6"/>
          <p:cNvSpPr/>
          <p:nvPr/>
        </p:nvSpPr>
        <p:spPr>
          <a:xfrm>
            <a:off x="411480" y="1188720"/>
            <a:ext cx="2739314" cy="1143000"/>
          </a:xfrm>
          <a:prstGeom prst="rect">
            <a:avLst/>
          </a:prstGeom>
          <a:solidFill>
            <a:srgbClr val="F5F8FE"/>
          </a:solidFill>
          <a:ln w="9525">
            <a:solidFill>
              <a:srgbClr val="D5DCEB"/>
            </a:solidFill>
            <a:prstDash val="solid"/>
          </a:ln>
        </p:spPr>
      </p:sp>
      <p:sp>
        <p:nvSpPr>
          <p:cNvPr id="9" name="Shape 7"/>
          <p:cNvSpPr/>
          <p:nvPr/>
        </p:nvSpPr>
        <p:spPr>
          <a:xfrm>
            <a:off x="411480" y="1188720"/>
            <a:ext cx="73152" cy="1143000"/>
          </a:xfrm>
          <a:prstGeom prst="rect">
            <a:avLst/>
          </a:prstGeom>
          <a:solidFill>
            <a:srgbClr val="2E5BD8"/>
          </a:solidFill>
          <a:ln w="12700">
            <a:solidFill>
              <a:srgbClr val="2E5BD8"/>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Particle model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Matter is tiny particles; their arrangement and motion explain the states.</a:t>
            </a:r>
            <a:endParaRPr lang="en-US" sz="1200" dirty="0"/>
          </a:p>
        </p:txBody>
      </p:sp>
      <p:sp>
        <p:nvSpPr>
          <p:cNvPr id="11" name="Shape 9"/>
          <p:cNvSpPr/>
          <p:nvPr/>
        </p:nvSpPr>
        <p:spPr>
          <a:xfrm>
            <a:off x="3287954" y="1188720"/>
            <a:ext cx="2739314" cy="1143000"/>
          </a:xfrm>
          <a:prstGeom prst="rect">
            <a:avLst/>
          </a:prstGeom>
          <a:solidFill>
            <a:srgbClr val="F5F8FE"/>
          </a:solidFill>
          <a:ln w="9525">
            <a:solidFill>
              <a:srgbClr val="D5DCEB"/>
            </a:solidFill>
            <a:prstDash val="solid"/>
          </a:ln>
        </p:spPr>
      </p:sp>
      <p:sp>
        <p:nvSpPr>
          <p:cNvPr id="12" name="Shape 10"/>
          <p:cNvSpPr/>
          <p:nvPr/>
        </p:nvSpPr>
        <p:spPr>
          <a:xfrm>
            <a:off x="3287954" y="1188720"/>
            <a:ext cx="73152" cy="1143000"/>
          </a:xfrm>
          <a:prstGeom prst="rect">
            <a:avLst/>
          </a:prstGeom>
          <a:solidFill>
            <a:srgbClr val="2E5BD8"/>
          </a:solidFill>
          <a:ln w="12700">
            <a:solidFill>
              <a:srgbClr val="2E5BD8"/>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Internal energy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Total kinetic and potential energy of the particles (recap P6.1).</a:t>
            </a:r>
            <a:endParaRPr lang="en-US" sz="1200" dirty="0"/>
          </a:p>
        </p:txBody>
      </p:sp>
      <p:sp>
        <p:nvSpPr>
          <p:cNvPr id="14" name="Shape 12"/>
          <p:cNvSpPr/>
          <p:nvPr/>
        </p:nvSpPr>
        <p:spPr>
          <a:xfrm>
            <a:off x="6164428" y="1188720"/>
            <a:ext cx="2739314" cy="1143000"/>
          </a:xfrm>
          <a:prstGeom prst="rect">
            <a:avLst/>
          </a:prstGeom>
          <a:solidFill>
            <a:srgbClr val="F5F8FE"/>
          </a:solidFill>
          <a:ln w="9525">
            <a:solidFill>
              <a:srgbClr val="D5DCEB"/>
            </a:solidFill>
            <a:prstDash val="solid"/>
          </a:ln>
        </p:spPr>
      </p:sp>
      <p:sp>
        <p:nvSpPr>
          <p:cNvPr id="15" name="Shape 13"/>
          <p:cNvSpPr/>
          <p:nvPr/>
        </p:nvSpPr>
        <p:spPr>
          <a:xfrm>
            <a:off x="6164428" y="1188720"/>
            <a:ext cx="73152" cy="1143000"/>
          </a:xfrm>
          <a:prstGeom prst="rect">
            <a:avLst/>
          </a:prstGeom>
          <a:solidFill>
            <a:srgbClr val="2E5BD8"/>
          </a:solidFill>
          <a:ln w="12700">
            <a:solidFill>
              <a:srgbClr val="2E5BD8"/>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Random motion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Gas particles move in all directions at a range of speeds.</a:t>
            </a:r>
            <a:endParaRPr lang="en-US" sz="1200" dirty="0"/>
          </a:p>
        </p:txBody>
      </p:sp>
      <p:sp>
        <p:nvSpPr>
          <p:cNvPr id="17" name="Shape 15"/>
          <p:cNvSpPr/>
          <p:nvPr/>
        </p:nvSpPr>
        <p:spPr>
          <a:xfrm>
            <a:off x="9040901" y="1188720"/>
            <a:ext cx="2739314" cy="1143000"/>
          </a:xfrm>
          <a:prstGeom prst="rect">
            <a:avLst/>
          </a:prstGeom>
          <a:solidFill>
            <a:srgbClr val="F5F8FE"/>
          </a:solidFill>
          <a:ln w="9525">
            <a:solidFill>
              <a:srgbClr val="D5DCEB"/>
            </a:solidFill>
            <a:prstDash val="solid"/>
          </a:ln>
        </p:spPr>
      </p:sp>
      <p:sp>
        <p:nvSpPr>
          <p:cNvPr id="18" name="Shape 16"/>
          <p:cNvSpPr/>
          <p:nvPr/>
        </p:nvSpPr>
        <p:spPr>
          <a:xfrm>
            <a:off x="9040901" y="1188720"/>
            <a:ext cx="73152" cy="1143000"/>
          </a:xfrm>
          <a:prstGeom prst="rect">
            <a:avLst/>
          </a:prstGeom>
          <a:solidFill>
            <a:srgbClr val="2E5BD8"/>
          </a:solidFill>
          <a:ln w="12700">
            <a:solidFill>
              <a:srgbClr val="2E5BD8"/>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Collision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particle hitting a wall changes direction and exerts a force.</a:t>
            </a:r>
            <a:endParaRPr lang="en-US" sz="1200" dirty="0"/>
          </a:p>
        </p:txBody>
      </p:sp>
      <p:sp>
        <p:nvSpPr>
          <p:cNvPr id="20" name="Shape 18"/>
          <p:cNvSpPr/>
          <p:nvPr/>
        </p:nvSpPr>
        <p:spPr>
          <a:xfrm>
            <a:off x="411480" y="2441448"/>
            <a:ext cx="2739314" cy="1143000"/>
          </a:xfrm>
          <a:prstGeom prst="rect">
            <a:avLst/>
          </a:prstGeom>
          <a:solidFill>
            <a:srgbClr val="F5F8FE"/>
          </a:solidFill>
          <a:ln w="9525">
            <a:solidFill>
              <a:srgbClr val="D5DCEB"/>
            </a:solidFill>
            <a:prstDash val="solid"/>
          </a:ln>
        </p:spPr>
      </p:sp>
      <p:sp>
        <p:nvSpPr>
          <p:cNvPr id="21" name="Shape 19"/>
          <p:cNvSpPr/>
          <p:nvPr/>
        </p:nvSpPr>
        <p:spPr>
          <a:xfrm>
            <a:off x="411480" y="2441448"/>
            <a:ext cx="73152" cy="1143000"/>
          </a:xfrm>
          <a:prstGeom prst="rect">
            <a:avLst/>
          </a:prstGeom>
          <a:solidFill>
            <a:srgbClr val="2E5BD8"/>
          </a:solidFill>
          <a:ln w="12700">
            <a:solidFill>
              <a:srgbClr val="2E5BD8"/>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Gas pressure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Force of particle collisions per unit area, at right angles to the surface.</a:t>
            </a:r>
            <a:endParaRPr lang="en-US" sz="1200" dirty="0"/>
          </a:p>
        </p:txBody>
      </p:sp>
      <p:sp>
        <p:nvSpPr>
          <p:cNvPr id="23" name="Shape 21"/>
          <p:cNvSpPr/>
          <p:nvPr/>
        </p:nvSpPr>
        <p:spPr>
          <a:xfrm>
            <a:off x="3287954" y="2441448"/>
            <a:ext cx="2739314" cy="1143000"/>
          </a:xfrm>
          <a:prstGeom prst="rect">
            <a:avLst/>
          </a:prstGeom>
          <a:solidFill>
            <a:srgbClr val="F5F8FE"/>
          </a:solidFill>
          <a:ln w="9525">
            <a:solidFill>
              <a:srgbClr val="D5DCEB"/>
            </a:solidFill>
            <a:prstDash val="solid"/>
          </a:ln>
        </p:spPr>
      </p:sp>
      <p:sp>
        <p:nvSpPr>
          <p:cNvPr id="24" name="Shape 22"/>
          <p:cNvSpPr/>
          <p:nvPr/>
        </p:nvSpPr>
        <p:spPr>
          <a:xfrm>
            <a:off x="3287954" y="2441448"/>
            <a:ext cx="73152" cy="1143000"/>
          </a:xfrm>
          <a:prstGeom prst="rect">
            <a:avLst/>
          </a:prstGeom>
          <a:solidFill>
            <a:srgbClr val="2E5BD8"/>
          </a:solidFill>
          <a:ln w="12700">
            <a:solidFill>
              <a:srgbClr val="2E5BD8"/>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Pascal (Pa)</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Unit of pressure: 1 Pa = 1 N/m². Air ≈ 100 kPa.</a:t>
            </a:r>
            <a:endParaRPr lang="en-US" sz="1200" dirty="0"/>
          </a:p>
        </p:txBody>
      </p:sp>
      <p:sp>
        <p:nvSpPr>
          <p:cNvPr id="26" name="Shape 24"/>
          <p:cNvSpPr/>
          <p:nvPr/>
        </p:nvSpPr>
        <p:spPr>
          <a:xfrm>
            <a:off x="6164428" y="2441448"/>
            <a:ext cx="2739314" cy="1143000"/>
          </a:xfrm>
          <a:prstGeom prst="rect">
            <a:avLst/>
          </a:prstGeom>
          <a:solidFill>
            <a:srgbClr val="F5F8FE"/>
          </a:solidFill>
          <a:ln w="9525">
            <a:solidFill>
              <a:srgbClr val="D5DCEB"/>
            </a:solidFill>
            <a:prstDash val="solid"/>
          </a:ln>
        </p:spPr>
      </p:sp>
      <p:sp>
        <p:nvSpPr>
          <p:cNvPr id="27" name="Shape 25"/>
          <p:cNvSpPr/>
          <p:nvPr/>
        </p:nvSpPr>
        <p:spPr>
          <a:xfrm>
            <a:off x="6164428" y="2441448"/>
            <a:ext cx="73152" cy="1143000"/>
          </a:xfrm>
          <a:prstGeom prst="rect">
            <a:avLst/>
          </a:prstGeom>
          <a:solidFill>
            <a:srgbClr val="2E5BD8"/>
          </a:solidFill>
          <a:ln w="12700">
            <a:solidFill>
              <a:srgbClr val="2E5BD8"/>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Temperature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Related to the average kinetic energy of the particles.</a:t>
            </a:r>
            <a:endParaRPr lang="en-US" sz="1200" dirty="0"/>
          </a:p>
        </p:txBody>
      </p:sp>
      <p:sp>
        <p:nvSpPr>
          <p:cNvPr id="29" name="Shape 27"/>
          <p:cNvSpPr/>
          <p:nvPr/>
        </p:nvSpPr>
        <p:spPr>
          <a:xfrm>
            <a:off x="9040901" y="2441448"/>
            <a:ext cx="2739314" cy="1143000"/>
          </a:xfrm>
          <a:prstGeom prst="rect">
            <a:avLst/>
          </a:prstGeom>
          <a:solidFill>
            <a:srgbClr val="F5F8FE"/>
          </a:solidFill>
          <a:ln w="9525">
            <a:solidFill>
              <a:srgbClr val="D5DCEB"/>
            </a:solidFill>
            <a:prstDash val="solid"/>
          </a:ln>
        </p:spPr>
      </p:sp>
      <p:sp>
        <p:nvSpPr>
          <p:cNvPr id="30" name="Shape 28"/>
          <p:cNvSpPr/>
          <p:nvPr/>
        </p:nvSpPr>
        <p:spPr>
          <a:xfrm>
            <a:off x="9040901" y="2441448"/>
            <a:ext cx="73152" cy="1143000"/>
          </a:xfrm>
          <a:prstGeom prst="rect">
            <a:avLst/>
          </a:prstGeom>
          <a:solidFill>
            <a:srgbClr val="2E5BD8"/>
          </a:solidFill>
          <a:ln w="12700">
            <a:solidFill>
              <a:srgbClr val="2E5BD8"/>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Constant volume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Sealed, rigid container: heating raises the pressure.</a:t>
            </a:r>
            <a:endParaRPr lang="en-US" sz="1200" dirty="0"/>
          </a:p>
        </p:txBody>
      </p:sp>
      <p:sp>
        <p:nvSpPr>
          <p:cNvPr id="32" name="Shape 30"/>
          <p:cNvSpPr/>
          <p:nvPr/>
        </p:nvSpPr>
        <p:spPr>
          <a:xfrm>
            <a:off x="411480" y="3694176"/>
            <a:ext cx="2739314" cy="1143000"/>
          </a:xfrm>
          <a:prstGeom prst="rect">
            <a:avLst/>
          </a:prstGeom>
          <a:solidFill>
            <a:srgbClr val="F5F8FE"/>
          </a:solidFill>
          <a:ln w="9525">
            <a:solidFill>
              <a:srgbClr val="D5DCEB"/>
            </a:solidFill>
            <a:prstDash val="solid"/>
          </a:ln>
        </p:spPr>
      </p:sp>
      <p:sp>
        <p:nvSpPr>
          <p:cNvPr id="33" name="Shape 31"/>
          <p:cNvSpPr/>
          <p:nvPr/>
        </p:nvSpPr>
        <p:spPr>
          <a:xfrm>
            <a:off x="411480" y="3694176"/>
            <a:ext cx="73152" cy="1143000"/>
          </a:xfrm>
          <a:prstGeom prst="rect">
            <a:avLst/>
          </a:prstGeom>
          <a:solidFill>
            <a:srgbClr val="2E5BD8"/>
          </a:solidFill>
          <a:ln w="12700">
            <a:solidFill>
              <a:srgbClr val="2E5BD8"/>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Absolute zero</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−273 °C (0 K): particles have the least possible kinetic energy.</a:t>
            </a:r>
            <a:endParaRPr lang="en-US" sz="1200" dirty="0"/>
          </a:p>
        </p:txBody>
      </p:sp>
      <p:sp>
        <p:nvSpPr>
          <p:cNvPr id="35" name="Shape 33"/>
          <p:cNvSpPr/>
          <p:nvPr/>
        </p:nvSpPr>
        <p:spPr>
          <a:xfrm>
            <a:off x="3287954" y="3694176"/>
            <a:ext cx="2739314" cy="1143000"/>
          </a:xfrm>
          <a:prstGeom prst="rect">
            <a:avLst/>
          </a:prstGeom>
          <a:solidFill>
            <a:srgbClr val="F5F8FE"/>
          </a:solidFill>
          <a:ln w="9525">
            <a:solidFill>
              <a:srgbClr val="D5DCEB"/>
            </a:solidFill>
            <a:prstDash val="solid"/>
          </a:ln>
        </p:spPr>
      </p:sp>
      <p:sp>
        <p:nvSpPr>
          <p:cNvPr id="36" name="Shape 34"/>
          <p:cNvSpPr/>
          <p:nvPr/>
        </p:nvSpPr>
        <p:spPr>
          <a:xfrm>
            <a:off x="3287954" y="3694176"/>
            <a:ext cx="73152" cy="1143000"/>
          </a:xfrm>
          <a:prstGeom prst="rect">
            <a:avLst/>
          </a:prstGeom>
          <a:solidFill>
            <a:srgbClr val="2E5BD8"/>
          </a:solidFill>
          <a:ln w="12700">
            <a:solidFill>
              <a:srgbClr val="2E5BD8"/>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Kelvin (K)</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Temperature scale from absolute zero: T = θ + 273.</a:t>
            </a:r>
            <a:endParaRPr lang="en-US" sz="1200" dirty="0"/>
          </a:p>
        </p:txBody>
      </p:sp>
      <p:sp>
        <p:nvSpPr>
          <p:cNvPr id="38" name="Shape 36"/>
          <p:cNvSpPr/>
          <p:nvPr/>
        </p:nvSpPr>
        <p:spPr>
          <a:xfrm>
            <a:off x="6164428" y="3694176"/>
            <a:ext cx="2739314" cy="1143000"/>
          </a:xfrm>
          <a:prstGeom prst="rect">
            <a:avLst/>
          </a:prstGeom>
          <a:solidFill>
            <a:srgbClr val="F5F8FE"/>
          </a:solidFill>
          <a:ln w="9525">
            <a:solidFill>
              <a:srgbClr val="D5DCEB"/>
            </a:solidFill>
            <a:prstDash val="solid"/>
          </a:ln>
        </p:spPr>
      </p:sp>
      <p:sp>
        <p:nvSpPr>
          <p:cNvPr id="39" name="Shape 37"/>
          <p:cNvSpPr/>
          <p:nvPr/>
        </p:nvSpPr>
        <p:spPr>
          <a:xfrm>
            <a:off x="6164428" y="3694176"/>
            <a:ext cx="73152" cy="1143000"/>
          </a:xfrm>
          <a:prstGeom prst="rect">
            <a:avLst/>
          </a:prstGeom>
          <a:solidFill>
            <a:srgbClr val="2E5BD8"/>
          </a:solidFill>
          <a:ln w="12700">
            <a:solidFill>
              <a:srgbClr val="2E5BD8"/>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Extrapolate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Extend a graph line beyond the measured data.</a:t>
            </a:r>
            <a:endParaRPr lang="en-US" sz="1200" dirty="0"/>
          </a:p>
        </p:txBody>
      </p:sp>
      <p:sp>
        <p:nvSpPr>
          <p:cNvPr id="41" name="Shape 39"/>
          <p:cNvSpPr/>
          <p:nvPr/>
        </p:nvSpPr>
        <p:spPr>
          <a:xfrm>
            <a:off x="9040901" y="3694176"/>
            <a:ext cx="2739314" cy="1143000"/>
          </a:xfrm>
          <a:prstGeom prst="rect">
            <a:avLst/>
          </a:prstGeom>
          <a:solidFill>
            <a:srgbClr val="F5F8FE"/>
          </a:solidFill>
          <a:ln w="9525">
            <a:solidFill>
              <a:srgbClr val="D5DCEB"/>
            </a:solidFill>
            <a:prstDash val="solid"/>
          </a:ln>
        </p:spPr>
      </p:sp>
      <p:sp>
        <p:nvSpPr>
          <p:cNvPr id="42" name="Shape 40"/>
          <p:cNvSpPr/>
          <p:nvPr/>
        </p:nvSpPr>
        <p:spPr>
          <a:xfrm>
            <a:off x="9040901" y="3694176"/>
            <a:ext cx="73152" cy="1143000"/>
          </a:xfrm>
          <a:prstGeom prst="rect">
            <a:avLst/>
          </a:prstGeom>
          <a:solidFill>
            <a:srgbClr val="2E5BD8"/>
          </a:solidFill>
          <a:ln w="12700">
            <a:solidFill>
              <a:srgbClr val="2E5BD8"/>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Fixed mass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amount of gas stays the same: none added or lost.</a:t>
            </a:r>
            <a:endParaRPr lang="en-US" sz="1200" dirty="0"/>
          </a:p>
        </p:txBody>
      </p:sp>
      <p:sp>
        <p:nvSpPr>
          <p:cNvPr id="44" name="Shape 42"/>
          <p:cNvSpPr/>
          <p:nvPr/>
        </p:nvSpPr>
        <p:spPr>
          <a:xfrm>
            <a:off x="411480" y="4946904"/>
            <a:ext cx="2739314" cy="1143000"/>
          </a:xfrm>
          <a:prstGeom prst="rect">
            <a:avLst/>
          </a:prstGeom>
          <a:solidFill>
            <a:srgbClr val="F5F8FE"/>
          </a:solidFill>
          <a:ln w="9525">
            <a:solidFill>
              <a:srgbClr val="D5DCEB"/>
            </a:solidFill>
            <a:prstDash val="solid"/>
          </a:ln>
        </p:spPr>
      </p:sp>
      <p:sp>
        <p:nvSpPr>
          <p:cNvPr id="45" name="Shape 43"/>
          <p:cNvSpPr/>
          <p:nvPr/>
        </p:nvSpPr>
        <p:spPr>
          <a:xfrm>
            <a:off x="411480" y="4946904"/>
            <a:ext cx="73152" cy="1143000"/>
          </a:xfrm>
          <a:prstGeom prst="rect">
            <a:avLst/>
          </a:prstGeom>
          <a:solidFill>
            <a:srgbClr val="2E5BD8"/>
          </a:solidFill>
          <a:ln w="12700">
            <a:solidFill>
              <a:srgbClr val="2E5BD8"/>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p × V = constant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HT: fixed mass at constant temperature (Boyle's law).</a:t>
            </a:r>
            <a:endParaRPr lang="en-US" sz="1200" dirty="0"/>
          </a:p>
        </p:txBody>
      </p:sp>
      <p:sp>
        <p:nvSpPr>
          <p:cNvPr id="47" name="Shape 45"/>
          <p:cNvSpPr/>
          <p:nvPr/>
        </p:nvSpPr>
        <p:spPr>
          <a:xfrm>
            <a:off x="3287954" y="4946904"/>
            <a:ext cx="2739314" cy="1143000"/>
          </a:xfrm>
          <a:prstGeom prst="rect">
            <a:avLst/>
          </a:prstGeom>
          <a:solidFill>
            <a:srgbClr val="F5F8FE"/>
          </a:solidFill>
          <a:ln w="9525">
            <a:solidFill>
              <a:srgbClr val="D5DCEB"/>
            </a:solidFill>
            <a:prstDash val="solid"/>
          </a:ln>
        </p:spPr>
      </p:sp>
      <p:sp>
        <p:nvSpPr>
          <p:cNvPr id="48" name="Shape 46"/>
          <p:cNvSpPr/>
          <p:nvPr/>
        </p:nvSpPr>
        <p:spPr>
          <a:xfrm>
            <a:off x="3287954" y="4946904"/>
            <a:ext cx="73152" cy="1143000"/>
          </a:xfrm>
          <a:prstGeom prst="rect">
            <a:avLst/>
          </a:prstGeom>
          <a:solidFill>
            <a:srgbClr val="2E5BD8"/>
          </a:solidFill>
          <a:ln w="12700">
            <a:solidFill>
              <a:srgbClr val="2E5BD8"/>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Inverse proportion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HT: double V, halve p; p–V is a curve, p–1/V a line.</a:t>
            </a:r>
            <a:endParaRPr lang="en-US" sz="1200" dirty="0"/>
          </a:p>
        </p:txBody>
      </p:sp>
      <p:sp>
        <p:nvSpPr>
          <p:cNvPr id="50" name="Shape 48"/>
          <p:cNvSpPr/>
          <p:nvPr/>
        </p:nvSpPr>
        <p:spPr>
          <a:xfrm>
            <a:off x="6164428" y="4946904"/>
            <a:ext cx="2739314" cy="1143000"/>
          </a:xfrm>
          <a:prstGeom prst="rect">
            <a:avLst/>
          </a:prstGeom>
          <a:solidFill>
            <a:srgbClr val="F5F8FE"/>
          </a:solidFill>
          <a:ln w="9525">
            <a:solidFill>
              <a:srgbClr val="D5DCEB"/>
            </a:solidFill>
            <a:prstDash val="solid"/>
          </a:ln>
        </p:spPr>
      </p:sp>
      <p:sp>
        <p:nvSpPr>
          <p:cNvPr id="51" name="Shape 49"/>
          <p:cNvSpPr/>
          <p:nvPr/>
        </p:nvSpPr>
        <p:spPr>
          <a:xfrm>
            <a:off x="6164428" y="4946904"/>
            <a:ext cx="73152" cy="1143000"/>
          </a:xfrm>
          <a:prstGeom prst="rect">
            <a:avLst/>
          </a:prstGeom>
          <a:solidFill>
            <a:srgbClr val="2E5BD8"/>
          </a:solidFill>
          <a:ln w="12700">
            <a:solidFill>
              <a:srgbClr val="2E5BD8"/>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Work done on a gas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HT: energy transferred by a force; raises internal energy.</a:t>
            </a:r>
            <a:endParaRPr lang="en-US" sz="1200" dirty="0"/>
          </a:p>
        </p:txBody>
      </p:sp>
      <p:sp>
        <p:nvSpPr>
          <p:cNvPr id="53" name="Shape 51"/>
          <p:cNvSpPr/>
          <p:nvPr/>
        </p:nvSpPr>
        <p:spPr>
          <a:xfrm>
            <a:off x="9040901" y="4946904"/>
            <a:ext cx="2739314" cy="1143000"/>
          </a:xfrm>
          <a:prstGeom prst="rect">
            <a:avLst/>
          </a:prstGeom>
          <a:solidFill>
            <a:srgbClr val="F5F8FE"/>
          </a:solidFill>
          <a:ln w="9525">
            <a:solidFill>
              <a:srgbClr val="D5DCEB"/>
            </a:solidFill>
            <a:prstDash val="solid"/>
          </a:ln>
        </p:spPr>
      </p:sp>
      <p:sp>
        <p:nvSpPr>
          <p:cNvPr id="54" name="Shape 52"/>
          <p:cNvSpPr/>
          <p:nvPr/>
        </p:nvSpPr>
        <p:spPr>
          <a:xfrm>
            <a:off x="9040901" y="4946904"/>
            <a:ext cx="73152" cy="1143000"/>
          </a:xfrm>
          <a:prstGeom prst="rect">
            <a:avLst/>
          </a:prstGeom>
          <a:solidFill>
            <a:srgbClr val="2E5BD8"/>
          </a:solidFill>
          <a:ln w="12700">
            <a:solidFill>
              <a:srgbClr val="2E5BD8"/>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Model limitation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Particles not hard spheres; not to scale; forces ignored.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Summary: equations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Recall or given? Check against the J260 equation sheet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Equations  |  22</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11368735" cy="914400"/>
        </p:xfrm>
        <a:graphic>
          <a:graphicData uri="http://schemas.openxmlformats.org/drawingml/2006/table">
            <a:tbl>
              <a:tblPr/>
              <a:tblGrid>
                <a:gridCol w="2377440"/>
                <a:gridCol w="6172200"/>
                <a:gridCol w="1463040"/>
                <a:gridCol w="1356055"/>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Equation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words (units)</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Recall or given?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Spec</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T = θ + 273</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temperature in kelvin (K) = temperature in degrees Celsius (°C) + 273</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P6.2.4</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p × V = constant</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for a fixed mass of gas at constant temperature: pressure (Pa) × volume (m³) = constant  (so p₁V₁ = p₂V₂)  [HT]</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8B57"/>
                          </a:solidFill>
                          <a:latin typeface="Calibri" pitchFamily="34" charset="0"/>
                          <a:ea typeface="Calibri" pitchFamily="34" charset="-122"/>
                          <a:cs typeface="Calibri" pitchFamily="34" charset="-120"/>
                        </a:rPr>
                        <a:t>GIVEN (J260 sheet)</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P6.2.5 (HT)</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ρ = m ÷ V</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density (kg/m³) = mass (kg) ÷ volume (m³)  (recap from P6.1)</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P6.2.1</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9" name="Shape 6"/>
          <p:cNvSpPr/>
          <p:nvPr/>
        </p:nvSpPr>
        <p:spPr>
          <a:xfrm>
            <a:off x="411480" y="5833872"/>
            <a:ext cx="11368735" cy="530352"/>
          </a:xfrm>
          <a:prstGeom prst="rect">
            <a:avLst/>
          </a:prstGeom>
          <a:solidFill>
            <a:srgbClr val="FFF4E0"/>
          </a:solidFill>
          <a:ln w="6350">
            <a:solidFill>
              <a:srgbClr val="F1D9A8"/>
            </a:solidFill>
            <a:prstDash val="solid"/>
          </a:ln>
        </p:spPr>
      </p:sp>
      <p:sp>
        <p:nvSpPr>
          <p:cNvPr id="10" name="Shape 7"/>
          <p:cNvSpPr/>
          <p:nvPr/>
        </p:nvSpPr>
        <p:spPr>
          <a:xfrm>
            <a:off x="411480" y="5833872"/>
            <a:ext cx="82296" cy="530352"/>
          </a:xfrm>
          <a:prstGeom prst="rect">
            <a:avLst/>
          </a:prstGeom>
          <a:solidFill>
            <a:srgbClr val="E39A2F"/>
          </a:solidFill>
          <a:ln w="12700">
            <a:solidFill>
              <a:srgbClr val="E39A2F"/>
            </a:solidFill>
            <a:prstDash val="solid"/>
          </a:ln>
        </p:spPr>
      </p:sp>
      <p:sp>
        <p:nvSpPr>
          <p:cNvPr id="11" name="Text 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HT: a gas at 120 kPa is squashed to one third of its volume at constant temperature. What is its new pressure? Which equation did you use, and is it given?</a:t>
            </a:r>
            <a:endParaRPr lang="en-US" sz="1200" dirty="0"/>
          </a:p>
        </p:txBody>
      </p:sp>
      <p:sp>
        <p:nvSpPr>
          <p:cNvPr id="13" name="Shape 9"/>
          <p:cNvSpPr/>
          <p:nvPr/>
        </p:nvSpPr>
        <p:spPr>
          <a:xfrm>
            <a:off x="411480" y="3703320"/>
            <a:ext cx="3697224" cy="1965960"/>
          </a:xfrm>
          <a:prstGeom prst="roundRect">
            <a:avLst>
              <a:gd name="adj" fmla="val 2326"/>
            </a:avLst>
          </a:prstGeom>
          <a:solidFill>
            <a:srgbClr val="F5F8FE"/>
          </a:solidFill>
          <a:ln w="12700">
            <a:solidFill>
              <a:srgbClr val="D5DCEB"/>
            </a:solidFill>
            <a:prstDash val="solid"/>
          </a:ln>
        </p:spPr>
      </p:sp>
      <p:sp>
        <p:nvSpPr>
          <p:cNvPr id="14" name="Text 10"/>
          <p:cNvSpPr/>
          <p:nvPr/>
        </p:nvSpPr>
        <p:spPr>
          <a:xfrm>
            <a:off x="548640" y="3776472"/>
            <a:ext cx="2965704" cy="274320"/>
          </a:xfrm>
          <a:prstGeom prst="rect">
            <a:avLst/>
          </a:prstGeom>
          <a:noFill/>
          <a:ln/>
        </p:spPr>
        <p:txBody>
          <a:bodyPr wrap="square" lIns="0" tIns="0" rIns="0" bIns="0" rtlCol="0" anchor="ctr"/>
          <a:lstStyle/>
          <a:p>
            <a:pPr algn="l" indent="0" marL="0">
              <a:buNone/>
            </a:pPr>
            <a:r>
              <a:rPr lang="en-US" sz="1200" b="1" dirty="0">
                <a:solidFill>
                  <a:srgbClr val="1A2340"/>
                </a:solidFill>
                <a:latin typeface="Calibri" pitchFamily="34" charset="0"/>
                <a:ea typeface="Calibri" pitchFamily="34" charset="-122"/>
                <a:cs typeface="Calibri" pitchFamily="34" charset="-120"/>
              </a:rPr>
              <a:t>p against T (kelvin), constant V</a:t>
            </a:r>
            <a:endParaRPr lang="en-US" sz="1200" dirty="0"/>
          </a:p>
        </p:txBody>
      </p:sp>
      <p:sp>
        <p:nvSpPr>
          <p:cNvPr id="15" name="Shape 11"/>
          <p:cNvSpPr/>
          <p:nvPr/>
        </p:nvSpPr>
        <p:spPr>
          <a:xfrm>
            <a:off x="822960" y="5394960"/>
            <a:ext cx="1463040" cy="91"/>
          </a:xfrm>
          <a:prstGeom prst="line">
            <a:avLst/>
          </a:prstGeom>
          <a:noFill/>
          <a:ln w="19050">
            <a:solidFill>
              <a:srgbClr val="1A2340"/>
            </a:solidFill>
            <a:prstDash val="solid"/>
          </a:ln>
        </p:spPr>
      </p:sp>
      <p:sp>
        <p:nvSpPr>
          <p:cNvPr id="16" name="Shape 12"/>
          <p:cNvSpPr/>
          <p:nvPr/>
        </p:nvSpPr>
        <p:spPr>
          <a:xfrm flipV="1">
            <a:off x="822960" y="4160520"/>
            <a:ext cx="91" cy="1234440"/>
          </a:xfrm>
          <a:prstGeom prst="line">
            <a:avLst/>
          </a:prstGeom>
          <a:noFill/>
          <a:ln w="19050">
            <a:solidFill>
              <a:srgbClr val="1A2340"/>
            </a:solidFill>
            <a:prstDash val="solid"/>
          </a:ln>
        </p:spPr>
      </p:sp>
      <p:sp>
        <p:nvSpPr>
          <p:cNvPr id="17" name="Text 13"/>
          <p:cNvSpPr/>
          <p:nvPr/>
        </p:nvSpPr>
        <p:spPr>
          <a:xfrm>
            <a:off x="502920" y="4142232"/>
            <a:ext cx="274320" cy="201168"/>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p</a:t>
            </a:r>
            <a:endParaRPr lang="en-US" sz="1100" dirty="0"/>
          </a:p>
        </p:txBody>
      </p:sp>
      <p:sp>
        <p:nvSpPr>
          <p:cNvPr id="18" name="Text 14"/>
          <p:cNvSpPr/>
          <p:nvPr/>
        </p:nvSpPr>
        <p:spPr>
          <a:xfrm>
            <a:off x="1920240" y="5422392"/>
            <a:ext cx="731520" cy="201168"/>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T / K</a:t>
            </a:r>
            <a:endParaRPr lang="en-US" sz="1100" dirty="0"/>
          </a:p>
        </p:txBody>
      </p:sp>
      <p:sp>
        <p:nvSpPr>
          <p:cNvPr id="19" name="Shape 15"/>
          <p:cNvSpPr/>
          <p:nvPr/>
        </p:nvSpPr>
        <p:spPr>
          <a:xfrm flipV="1">
            <a:off x="822960" y="4251960"/>
            <a:ext cx="1389888" cy="1143000"/>
          </a:xfrm>
          <a:prstGeom prst="line">
            <a:avLst/>
          </a:prstGeom>
          <a:noFill/>
          <a:ln w="28575">
            <a:solidFill>
              <a:srgbClr val="2E5BD8"/>
            </a:solidFill>
            <a:prstDash val="solid"/>
          </a:ln>
        </p:spPr>
      </p:sp>
      <p:sp>
        <p:nvSpPr>
          <p:cNvPr id="20" name="Text 16"/>
          <p:cNvSpPr/>
          <p:nvPr/>
        </p:nvSpPr>
        <p:spPr>
          <a:xfrm>
            <a:off x="2468880" y="4434840"/>
            <a:ext cx="1456944" cy="731520"/>
          </a:xfrm>
          <a:prstGeom prst="rect">
            <a:avLst/>
          </a:prstGeom>
          <a:noFill/>
          <a:ln/>
        </p:spPr>
        <p:txBody>
          <a:bodyPr wrap="square" lIns="0" tIns="0" rIns="0" bIns="0" rtlCol="0" anchor="ctr"/>
          <a:lstStyle/>
          <a:p>
            <a:pPr algn="l" indent="0" marL="0">
              <a:buNone/>
            </a:pPr>
            <a:r>
              <a:rPr lang="en-US" sz="1150" b="1" dirty="0">
                <a:solidFill>
                  <a:srgbClr val="2E5BD8"/>
                </a:solidFill>
                <a:latin typeface="Calibri" pitchFamily="34" charset="0"/>
                <a:ea typeface="Calibri" pitchFamily="34" charset="-122"/>
                <a:cs typeface="Calibri" pitchFamily="34" charset="-120"/>
              </a:rPr>
              <a:t>straight line through 0 K</a:t>
            </a:r>
            <a:endParaRPr lang="en-US" sz="1150" dirty="0"/>
          </a:p>
        </p:txBody>
      </p:sp>
      <p:sp>
        <p:nvSpPr>
          <p:cNvPr id="21" name="Shape 17"/>
          <p:cNvSpPr/>
          <p:nvPr/>
        </p:nvSpPr>
        <p:spPr>
          <a:xfrm>
            <a:off x="4245864" y="3703320"/>
            <a:ext cx="3697224" cy="1965960"/>
          </a:xfrm>
          <a:prstGeom prst="roundRect">
            <a:avLst>
              <a:gd name="adj" fmla="val 2326"/>
            </a:avLst>
          </a:prstGeom>
          <a:solidFill>
            <a:srgbClr val="F5F8FE"/>
          </a:solidFill>
          <a:ln w="12700">
            <a:solidFill>
              <a:srgbClr val="D5DCEB"/>
            </a:solidFill>
            <a:prstDash val="solid"/>
          </a:ln>
        </p:spPr>
      </p:sp>
      <p:sp>
        <p:nvSpPr>
          <p:cNvPr id="22" name="Text 18"/>
          <p:cNvSpPr/>
          <p:nvPr/>
        </p:nvSpPr>
        <p:spPr>
          <a:xfrm>
            <a:off x="4383024" y="3776472"/>
            <a:ext cx="2965704" cy="274320"/>
          </a:xfrm>
          <a:prstGeom prst="rect">
            <a:avLst/>
          </a:prstGeom>
          <a:noFill/>
          <a:ln/>
        </p:spPr>
        <p:txBody>
          <a:bodyPr wrap="square" lIns="0" tIns="0" rIns="0" bIns="0" rtlCol="0" anchor="ctr"/>
          <a:lstStyle/>
          <a:p>
            <a:pPr algn="l" indent="0" marL="0">
              <a:buNone/>
            </a:pPr>
            <a:r>
              <a:rPr lang="en-US" sz="1200" b="1" dirty="0">
                <a:solidFill>
                  <a:srgbClr val="1A2340"/>
                </a:solidFill>
                <a:latin typeface="Calibri" pitchFamily="34" charset="0"/>
                <a:ea typeface="Calibri" pitchFamily="34" charset="-122"/>
                <a:cs typeface="Calibri" pitchFamily="34" charset="-120"/>
              </a:rPr>
              <a:t>p against V, constant T</a:t>
            </a:r>
            <a:endParaRPr lang="en-US" sz="1200" dirty="0"/>
          </a:p>
        </p:txBody>
      </p:sp>
      <p:sp>
        <p:nvSpPr>
          <p:cNvPr id="23" name="Shape 19"/>
          <p:cNvSpPr/>
          <p:nvPr/>
        </p:nvSpPr>
        <p:spPr>
          <a:xfrm>
            <a:off x="7394448" y="3776472"/>
            <a:ext cx="411480" cy="274320"/>
          </a:xfrm>
          <a:prstGeom prst="roundRect">
            <a:avLst>
              <a:gd name="adj" fmla="val 50000"/>
            </a:avLst>
          </a:prstGeom>
          <a:solidFill>
            <a:srgbClr val="C8414C"/>
          </a:solidFill>
          <a:ln w="12700">
            <a:solidFill>
              <a:srgbClr val="C8414C"/>
            </a:solidFill>
            <a:prstDash val="solid"/>
          </a:ln>
        </p:spPr>
      </p:sp>
      <p:sp>
        <p:nvSpPr>
          <p:cNvPr id="24" name="Text 20"/>
          <p:cNvSpPr/>
          <p:nvPr/>
        </p:nvSpPr>
        <p:spPr>
          <a:xfrm>
            <a:off x="7394448" y="377647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Shape 21"/>
          <p:cNvSpPr/>
          <p:nvPr/>
        </p:nvSpPr>
        <p:spPr>
          <a:xfrm>
            <a:off x="4657344" y="5394960"/>
            <a:ext cx="1463040" cy="91"/>
          </a:xfrm>
          <a:prstGeom prst="line">
            <a:avLst/>
          </a:prstGeom>
          <a:noFill/>
          <a:ln w="19050">
            <a:solidFill>
              <a:srgbClr val="1A2340"/>
            </a:solidFill>
            <a:prstDash val="solid"/>
          </a:ln>
        </p:spPr>
      </p:sp>
      <p:sp>
        <p:nvSpPr>
          <p:cNvPr id="26" name="Shape 22"/>
          <p:cNvSpPr/>
          <p:nvPr/>
        </p:nvSpPr>
        <p:spPr>
          <a:xfrm flipV="1">
            <a:off x="4657344" y="4160520"/>
            <a:ext cx="91" cy="1234440"/>
          </a:xfrm>
          <a:prstGeom prst="line">
            <a:avLst/>
          </a:prstGeom>
          <a:noFill/>
          <a:ln w="19050">
            <a:solidFill>
              <a:srgbClr val="1A2340"/>
            </a:solidFill>
            <a:prstDash val="solid"/>
          </a:ln>
        </p:spPr>
      </p:sp>
      <p:sp>
        <p:nvSpPr>
          <p:cNvPr id="27" name="Text 23"/>
          <p:cNvSpPr/>
          <p:nvPr/>
        </p:nvSpPr>
        <p:spPr>
          <a:xfrm>
            <a:off x="4337304" y="4142232"/>
            <a:ext cx="274320" cy="201168"/>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p</a:t>
            </a:r>
            <a:endParaRPr lang="en-US" sz="1100" dirty="0"/>
          </a:p>
        </p:txBody>
      </p:sp>
      <p:sp>
        <p:nvSpPr>
          <p:cNvPr id="28" name="Text 24"/>
          <p:cNvSpPr/>
          <p:nvPr/>
        </p:nvSpPr>
        <p:spPr>
          <a:xfrm>
            <a:off x="5754624" y="5422392"/>
            <a:ext cx="731520" cy="201168"/>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V</a:t>
            </a:r>
            <a:endParaRPr lang="en-US" sz="1100" dirty="0"/>
          </a:p>
        </p:txBody>
      </p:sp>
      <p:sp>
        <p:nvSpPr>
          <p:cNvPr id="29" name="Shape 25"/>
          <p:cNvSpPr/>
          <p:nvPr/>
        </p:nvSpPr>
        <p:spPr>
          <a:xfrm>
            <a:off x="5023104" y="4222242"/>
            <a:ext cx="36576" cy="106611"/>
          </a:xfrm>
          <a:prstGeom prst="line">
            <a:avLst/>
          </a:prstGeom>
          <a:noFill/>
          <a:ln w="28575">
            <a:solidFill>
              <a:srgbClr val="2E5BD8"/>
            </a:solidFill>
            <a:prstDash val="solid"/>
          </a:ln>
        </p:spPr>
      </p:sp>
      <p:sp>
        <p:nvSpPr>
          <p:cNvPr id="30" name="Shape 26"/>
          <p:cNvSpPr/>
          <p:nvPr/>
        </p:nvSpPr>
        <p:spPr>
          <a:xfrm>
            <a:off x="5059680" y="4328853"/>
            <a:ext cx="36576" cy="88842"/>
          </a:xfrm>
          <a:prstGeom prst="line">
            <a:avLst/>
          </a:prstGeom>
          <a:noFill/>
          <a:ln w="28575">
            <a:solidFill>
              <a:srgbClr val="2E5BD8"/>
            </a:solidFill>
            <a:prstDash val="solid"/>
          </a:ln>
        </p:spPr>
      </p:sp>
      <p:sp>
        <p:nvSpPr>
          <p:cNvPr id="31" name="Shape 27"/>
          <p:cNvSpPr/>
          <p:nvPr/>
        </p:nvSpPr>
        <p:spPr>
          <a:xfrm>
            <a:off x="5096256" y="4417695"/>
            <a:ext cx="36576" cy="75174"/>
          </a:xfrm>
          <a:prstGeom prst="line">
            <a:avLst/>
          </a:prstGeom>
          <a:noFill/>
          <a:ln w="28575">
            <a:solidFill>
              <a:srgbClr val="2E5BD8"/>
            </a:solidFill>
            <a:prstDash val="solid"/>
          </a:ln>
        </p:spPr>
      </p:sp>
      <p:sp>
        <p:nvSpPr>
          <p:cNvPr id="32" name="Shape 28"/>
          <p:cNvSpPr/>
          <p:nvPr/>
        </p:nvSpPr>
        <p:spPr>
          <a:xfrm>
            <a:off x="5132832" y="4492869"/>
            <a:ext cx="36576" cy="64435"/>
          </a:xfrm>
          <a:prstGeom prst="line">
            <a:avLst/>
          </a:prstGeom>
          <a:noFill/>
          <a:ln w="28575">
            <a:solidFill>
              <a:srgbClr val="2E5BD8"/>
            </a:solidFill>
            <a:prstDash val="solid"/>
          </a:ln>
        </p:spPr>
      </p:sp>
      <p:sp>
        <p:nvSpPr>
          <p:cNvPr id="33" name="Shape 29"/>
          <p:cNvSpPr/>
          <p:nvPr/>
        </p:nvSpPr>
        <p:spPr>
          <a:xfrm>
            <a:off x="5169408" y="4557304"/>
            <a:ext cx="36576" cy="55844"/>
          </a:xfrm>
          <a:prstGeom prst="line">
            <a:avLst/>
          </a:prstGeom>
          <a:noFill/>
          <a:ln w="28575">
            <a:solidFill>
              <a:srgbClr val="2E5BD8"/>
            </a:solidFill>
            <a:prstDash val="solid"/>
          </a:ln>
        </p:spPr>
      </p:sp>
      <p:sp>
        <p:nvSpPr>
          <p:cNvPr id="34" name="Shape 30"/>
          <p:cNvSpPr/>
          <p:nvPr/>
        </p:nvSpPr>
        <p:spPr>
          <a:xfrm>
            <a:off x="5205984" y="4613148"/>
            <a:ext cx="36576" cy="48863"/>
          </a:xfrm>
          <a:prstGeom prst="line">
            <a:avLst/>
          </a:prstGeom>
          <a:noFill/>
          <a:ln w="28575">
            <a:solidFill>
              <a:srgbClr val="2E5BD8"/>
            </a:solidFill>
            <a:prstDash val="solid"/>
          </a:ln>
        </p:spPr>
      </p:sp>
      <p:sp>
        <p:nvSpPr>
          <p:cNvPr id="35" name="Shape 31"/>
          <p:cNvSpPr/>
          <p:nvPr/>
        </p:nvSpPr>
        <p:spPr>
          <a:xfrm>
            <a:off x="5242560" y="4662011"/>
            <a:ext cx="36576" cy="43115"/>
          </a:xfrm>
          <a:prstGeom prst="line">
            <a:avLst/>
          </a:prstGeom>
          <a:noFill/>
          <a:ln w="28575">
            <a:solidFill>
              <a:srgbClr val="2E5BD8"/>
            </a:solidFill>
            <a:prstDash val="solid"/>
          </a:ln>
        </p:spPr>
      </p:sp>
      <p:sp>
        <p:nvSpPr>
          <p:cNvPr id="36" name="Shape 32"/>
          <p:cNvSpPr/>
          <p:nvPr/>
        </p:nvSpPr>
        <p:spPr>
          <a:xfrm>
            <a:off x="5279136" y="4705126"/>
            <a:ext cx="36576" cy="38324"/>
          </a:xfrm>
          <a:prstGeom prst="line">
            <a:avLst/>
          </a:prstGeom>
          <a:noFill/>
          <a:ln w="28575">
            <a:solidFill>
              <a:srgbClr val="2E5BD8"/>
            </a:solidFill>
            <a:prstDash val="solid"/>
          </a:ln>
        </p:spPr>
      </p:sp>
      <p:sp>
        <p:nvSpPr>
          <p:cNvPr id="37" name="Shape 33"/>
          <p:cNvSpPr/>
          <p:nvPr/>
        </p:nvSpPr>
        <p:spPr>
          <a:xfrm>
            <a:off x="5315712" y="4743450"/>
            <a:ext cx="36576" cy="34290"/>
          </a:xfrm>
          <a:prstGeom prst="line">
            <a:avLst/>
          </a:prstGeom>
          <a:noFill/>
          <a:ln w="28575">
            <a:solidFill>
              <a:srgbClr val="2E5BD8"/>
            </a:solidFill>
            <a:prstDash val="solid"/>
          </a:ln>
        </p:spPr>
      </p:sp>
      <p:sp>
        <p:nvSpPr>
          <p:cNvPr id="38" name="Shape 34"/>
          <p:cNvSpPr/>
          <p:nvPr/>
        </p:nvSpPr>
        <p:spPr>
          <a:xfrm>
            <a:off x="5352288" y="4777740"/>
            <a:ext cx="36576" cy="30861"/>
          </a:xfrm>
          <a:prstGeom prst="line">
            <a:avLst/>
          </a:prstGeom>
          <a:noFill/>
          <a:ln w="28575">
            <a:solidFill>
              <a:srgbClr val="2E5BD8"/>
            </a:solidFill>
            <a:prstDash val="solid"/>
          </a:ln>
        </p:spPr>
      </p:sp>
      <p:sp>
        <p:nvSpPr>
          <p:cNvPr id="39" name="Shape 35"/>
          <p:cNvSpPr/>
          <p:nvPr/>
        </p:nvSpPr>
        <p:spPr>
          <a:xfrm>
            <a:off x="5388864" y="4808601"/>
            <a:ext cx="36576" cy="27922"/>
          </a:xfrm>
          <a:prstGeom prst="line">
            <a:avLst/>
          </a:prstGeom>
          <a:noFill/>
          <a:ln w="28575">
            <a:solidFill>
              <a:srgbClr val="2E5BD8"/>
            </a:solidFill>
            <a:prstDash val="solid"/>
          </a:ln>
        </p:spPr>
      </p:sp>
      <p:sp>
        <p:nvSpPr>
          <p:cNvPr id="40" name="Shape 36"/>
          <p:cNvSpPr/>
          <p:nvPr/>
        </p:nvSpPr>
        <p:spPr>
          <a:xfrm>
            <a:off x="5425440" y="4836523"/>
            <a:ext cx="36576" cy="25384"/>
          </a:xfrm>
          <a:prstGeom prst="line">
            <a:avLst/>
          </a:prstGeom>
          <a:noFill/>
          <a:ln w="28575">
            <a:solidFill>
              <a:srgbClr val="2E5BD8"/>
            </a:solidFill>
            <a:prstDash val="solid"/>
          </a:ln>
        </p:spPr>
      </p:sp>
      <p:sp>
        <p:nvSpPr>
          <p:cNvPr id="41" name="Shape 37"/>
          <p:cNvSpPr/>
          <p:nvPr/>
        </p:nvSpPr>
        <p:spPr>
          <a:xfrm>
            <a:off x="5462016" y="4861906"/>
            <a:ext cx="36576" cy="23176"/>
          </a:xfrm>
          <a:prstGeom prst="line">
            <a:avLst/>
          </a:prstGeom>
          <a:noFill/>
          <a:ln w="28575">
            <a:solidFill>
              <a:srgbClr val="2E5BD8"/>
            </a:solidFill>
            <a:prstDash val="solid"/>
          </a:ln>
        </p:spPr>
      </p:sp>
      <p:sp>
        <p:nvSpPr>
          <p:cNvPr id="42" name="Shape 38"/>
          <p:cNvSpPr/>
          <p:nvPr/>
        </p:nvSpPr>
        <p:spPr>
          <a:xfrm>
            <a:off x="5498592" y="4885083"/>
            <a:ext cx="36576" cy="21245"/>
          </a:xfrm>
          <a:prstGeom prst="line">
            <a:avLst/>
          </a:prstGeom>
          <a:noFill/>
          <a:ln w="28575">
            <a:solidFill>
              <a:srgbClr val="2E5BD8"/>
            </a:solidFill>
            <a:prstDash val="solid"/>
          </a:ln>
        </p:spPr>
      </p:sp>
      <p:sp>
        <p:nvSpPr>
          <p:cNvPr id="43" name="Shape 39"/>
          <p:cNvSpPr/>
          <p:nvPr/>
        </p:nvSpPr>
        <p:spPr>
          <a:xfrm>
            <a:off x="5535168" y="4906328"/>
            <a:ext cx="36576" cy="19545"/>
          </a:xfrm>
          <a:prstGeom prst="line">
            <a:avLst/>
          </a:prstGeom>
          <a:noFill/>
          <a:ln w="28575">
            <a:solidFill>
              <a:srgbClr val="2E5BD8"/>
            </a:solidFill>
            <a:prstDash val="solid"/>
          </a:ln>
        </p:spPr>
      </p:sp>
      <p:sp>
        <p:nvSpPr>
          <p:cNvPr id="44" name="Shape 40"/>
          <p:cNvSpPr/>
          <p:nvPr/>
        </p:nvSpPr>
        <p:spPr>
          <a:xfrm>
            <a:off x="5571744" y="4925873"/>
            <a:ext cx="36576" cy="18042"/>
          </a:xfrm>
          <a:prstGeom prst="line">
            <a:avLst/>
          </a:prstGeom>
          <a:noFill/>
          <a:ln w="28575">
            <a:solidFill>
              <a:srgbClr val="2E5BD8"/>
            </a:solidFill>
            <a:prstDash val="solid"/>
          </a:ln>
        </p:spPr>
      </p:sp>
      <p:sp>
        <p:nvSpPr>
          <p:cNvPr id="45" name="Shape 41"/>
          <p:cNvSpPr/>
          <p:nvPr/>
        </p:nvSpPr>
        <p:spPr>
          <a:xfrm>
            <a:off x="5608320" y="4943915"/>
            <a:ext cx="36576" cy="16705"/>
          </a:xfrm>
          <a:prstGeom prst="line">
            <a:avLst/>
          </a:prstGeom>
          <a:noFill/>
          <a:ln w="28575">
            <a:solidFill>
              <a:srgbClr val="2E5BD8"/>
            </a:solidFill>
            <a:prstDash val="solid"/>
          </a:ln>
        </p:spPr>
      </p:sp>
      <p:sp>
        <p:nvSpPr>
          <p:cNvPr id="46" name="Shape 42"/>
          <p:cNvSpPr/>
          <p:nvPr/>
        </p:nvSpPr>
        <p:spPr>
          <a:xfrm>
            <a:off x="5644896" y="4960620"/>
            <a:ext cx="36576" cy="15512"/>
          </a:xfrm>
          <a:prstGeom prst="line">
            <a:avLst/>
          </a:prstGeom>
          <a:noFill/>
          <a:ln w="28575">
            <a:solidFill>
              <a:srgbClr val="2E5BD8"/>
            </a:solidFill>
            <a:prstDash val="solid"/>
          </a:ln>
        </p:spPr>
      </p:sp>
      <p:sp>
        <p:nvSpPr>
          <p:cNvPr id="47" name="Shape 43"/>
          <p:cNvSpPr/>
          <p:nvPr/>
        </p:nvSpPr>
        <p:spPr>
          <a:xfrm>
            <a:off x="5681472" y="4976132"/>
            <a:ext cx="36576" cy="14442"/>
          </a:xfrm>
          <a:prstGeom prst="line">
            <a:avLst/>
          </a:prstGeom>
          <a:noFill/>
          <a:ln w="28575">
            <a:solidFill>
              <a:srgbClr val="2E5BD8"/>
            </a:solidFill>
            <a:prstDash val="solid"/>
          </a:ln>
        </p:spPr>
      </p:sp>
      <p:sp>
        <p:nvSpPr>
          <p:cNvPr id="48" name="Shape 44"/>
          <p:cNvSpPr/>
          <p:nvPr/>
        </p:nvSpPr>
        <p:spPr>
          <a:xfrm>
            <a:off x="5718048" y="4990574"/>
            <a:ext cx="36576" cy="13480"/>
          </a:xfrm>
          <a:prstGeom prst="line">
            <a:avLst/>
          </a:prstGeom>
          <a:noFill/>
          <a:ln w="28575">
            <a:solidFill>
              <a:srgbClr val="2E5BD8"/>
            </a:solidFill>
            <a:prstDash val="solid"/>
          </a:ln>
        </p:spPr>
      </p:sp>
      <p:sp>
        <p:nvSpPr>
          <p:cNvPr id="49" name="Shape 45"/>
          <p:cNvSpPr/>
          <p:nvPr/>
        </p:nvSpPr>
        <p:spPr>
          <a:xfrm>
            <a:off x="5754624" y="5004054"/>
            <a:ext cx="36576" cy="12610"/>
          </a:xfrm>
          <a:prstGeom prst="line">
            <a:avLst/>
          </a:prstGeom>
          <a:noFill/>
          <a:ln w="28575">
            <a:solidFill>
              <a:srgbClr val="2E5BD8"/>
            </a:solidFill>
            <a:prstDash val="solid"/>
          </a:ln>
        </p:spPr>
      </p:sp>
      <p:sp>
        <p:nvSpPr>
          <p:cNvPr id="50" name="Shape 46"/>
          <p:cNvSpPr/>
          <p:nvPr/>
        </p:nvSpPr>
        <p:spPr>
          <a:xfrm>
            <a:off x="5791200" y="5016664"/>
            <a:ext cx="36576" cy="11822"/>
          </a:xfrm>
          <a:prstGeom prst="line">
            <a:avLst/>
          </a:prstGeom>
          <a:noFill/>
          <a:ln w="28575">
            <a:solidFill>
              <a:srgbClr val="2E5BD8"/>
            </a:solidFill>
            <a:prstDash val="solid"/>
          </a:ln>
        </p:spPr>
      </p:sp>
      <p:sp>
        <p:nvSpPr>
          <p:cNvPr id="51" name="Shape 47"/>
          <p:cNvSpPr/>
          <p:nvPr/>
        </p:nvSpPr>
        <p:spPr>
          <a:xfrm>
            <a:off x="5827776" y="5028486"/>
            <a:ext cx="36576" cy="11105"/>
          </a:xfrm>
          <a:prstGeom prst="line">
            <a:avLst/>
          </a:prstGeom>
          <a:noFill/>
          <a:ln w="28575">
            <a:solidFill>
              <a:srgbClr val="2E5BD8"/>
            </a:solidFill>
            <a:prstDash val="solid"/>
          </a:ln>
        </p:spPr>
      </p:sp>
      <p:sp>
        <p:nvSpPr>
          <p:cNvPr id="52" name="Shape 48"/>
          <p:cNvSpPr/>
          <p:nvPr/>
        </p:nvSpPr>
        <p:spPr>
          <a:xfrm>
            <a:off x="5864352" y="5039591"/>
            <a:ext cx="36576" cy="10452"/>
          </a:xfrm>
          <a:prstGeom prst="line">
            <a:avLst/>
          </a:prstGeom>
          <a:noFill/>
          <a:ln w="28575">
            <a:solidFill>
              <a:srgbClr val="2E5BD8"/>
            </a:solidFill>
            <a:prstDash val="solid"/>
          </a:ln>
        </p:spPr>
      </p:sp>
      <p:sp>
        <p:nvSpPr>
          <p:cNvPr id="53" name="Shape 49"/>
          <p:cNvSpPr/>
          <p:nvPr/>
        </p:nvSpPr>
        <p:spPr>
          <a:xfrm>
            <a:off x="5900928" y="5050043"/>
            <a:ext cx="36576" cy="9855"/>
          </a:xfrm>
          <a:prstGeom prst="line">
            <a:avLst/>
          </a:prstGeom>
          <a:noFill/>
          <a:ln w="28575">
            <a:solidFill>
              <a:srgbClr val="2E5BD8"/>
            </a:solidFill>
            <a:prstDash val="solid"/>
          </a:ln>
        </p:spPr>
      </p:sp>
      <p:sp>
        <p:nvSpPr>
          <p:cNvPr id="54" name="Shape 50"/>
          <p:cNvSpPr/>
          <p:nvPr/>
        </p:nvSpPr>
        <p:spPr>
          <a:xfrm>
            <a:off x="5937504" y="5059898"/>
            <a:ext cx="36576" cy="9307"/>
          </a:xfrm>
          <a:prstGeom prst="line">
            <a:avLst/>
          </a:prstGeom>
          <a:noFill/>
          <a:ln w="28575">
            <a:solidFill>
              <a:srgbClr val="2E5BD8"/>
            </a:solidFill>
            <a:prstDash val="solid"/>
          </a:ln>
        </p:spPr>
      </p:sp>
      <p:sp>
        <p:nvSpPr>
          <p:cNvPr id="55" name="Shape 51"/>
          <p:cNvSpPr/>
          <p:nvPr/>
        </p:nvSpPr>
        <p:spPr>
          <a:xfrm>
            <a:off x="5974080" y="5069205"/>
            <a:ext cx="36576" cy="8804"/>
          </a:xfrm>
          <a:prstGeom prst="line">
            <a:avLst/>
          </a:prstGeom>
          <a:noFill/>
          <a:ln w="28575">
            <a:solidFill>
              <a:srgbClr val="2E5BD8"/>
            </a:solidFill>
            <a:prstDash val="solid"/>
          </a:ln>
        </p:spPr>
      </p:sp>
      <p:sp>
        <p:nvSpPr>
          <p:cNvPr id="56" name="Shape 52"/>
          <p:cNvSpPr/>
          <p:nvPr/>
        </p:nvSpPr>
        <p:spPr>
          <a:xfrm>
            <a:off x="6010656" y="5078009"/>
            <a:ext cx="36576" cy="8341"/>
          </a:xfrm>
          <a:prstGeom prst="line">
            <a:avLst/>
          </a:prstGeom>
          <a:noFill/>
          <a:ln w="28575">
            <a:solidFill>
              <a:srgbClr val="2E5BD8"/>
            </a:solidFill>
            <a:prstDash val="solid"/>
          </a:ln>
        </p:spPr>
      </p:sp>
      <p:sp>
        <p:nvSpPr>
          <p:cNvPr id="57" name="Shape 53"/>
          <p:cNvSpPr/>
          <p:nvPr/>
        </p:nvSpPr>
        <p:spPr>
          <a:xfrm>
            <a:off x="6047232" y="5086350"/>
            <a:ext cx="36576" cy="7913"/>
          </a:xfrm>
          <a:prstGeom prst="line">
            <a:avLst/>
          </a:prstGeom>
          <a:noFill/>
          <a:ln w="28575">
            <a:solidFill>
              <a:srgbClr val="2E5BD8"/>
            </a:solidFill>
            <a:prstDash val="solid"/>
          </a:ln>
        </p:spPr>
      </p:sp>
      <p:sp>
        <p:nvSpPr>
          <p:cNvPr id="58" name="Shape 54"/>
          <p:cNvSpPr/>
          <p:nvPr/>
        </p:nvSpPr>
        <p:spPr>
          <a:xfrm>
            <a:off x="6083808" y="5094263"/>
            <a:ext cx="36576" cy="7517"/>
          </a:xfrm>
          <a:prstGeom prst="line">
            <a:avLst/>
          </a:prstGeom>
          <a:noFill/>
          <a:ln w="28575">
            <a:solidFill>
              <a:srgbClr val="2E5BD8"/>
            </a:solidFill>
            <a:prstDash val="solid"/>
          </a:ln>
        </p:spPr>
      </p:sp>
      <p:sp>
        <p:nvSpPr>
          <p:cNvPr id="59" name="Text 55"/>
          <p:cNvSpPr/>
          <p:nvPr/>
        </p:nvSpPr>
        <p:spPr>
          <a:xfrm>
            <a:off x="6303264" y="4434840"/>
            <a:ext cx="1456944" cy="731520"/>
          </a:xfrm>
          <a:prstGeom prst="rect">
            <a:avLst/>
          </a:prstGeom>
          <a:noFill/>
          <a:ln/>
        </p:spPr>
        <p:txBody>
          <a:bodyPr wrap="square" lIns="0" tIns="0" rIns="0" bIns="0" rtlCol="0" anchor="ctr"/>
          <a:lstStyle/>
          <a:p>
            <a:pPr algn="l" indent="0" marL="0">
              <a:buNone/>
            </a:pPr>
            <a:r>
              <a:rPr lang="en-US" sz="1150" b="1" dirty="0">
                <a:solidFill>
                  <a:srgbClr val="2E5BD8"/>
                </a:solidFill>
                <a:latin typeface="Calibri" pitchFamily="34" charset="0"/>
                <a:ea typeface="Calibri" pitchFamily="34" charset="-122"/>
                <a:cs typeface="Calibri" pitchFamily="34" charset="-120"/>
              </a:rPr>
              <a:t>curve: p halves when V doubles</a:t>
            </a:r>
            <a:endParaRPr lang="en-US" sz="1150" dirty="0"/>
          </a:p>
        </p:txBody>
      </p:sp>
      <p:sp>
        <p:nvSpPr>
          <p:cNvPr id="60" name="Shape 56"/>
          <p:cNvSpPr/>
          <p:nvPr/>
        </p:nvSpPr>
        <p:spPr>
          <a:xfrm>
            <a:off x="8080248" y="3703320"/>
            <a:ext cx="3697224" cy="1965960"/>
          </a:xfrm>
          <a:prstGeom prst="roundRect">
            <a:avLst>
              <a:gd name="adj" fmla="val 2326"/>
            </a:avLst>
          </a:prstGeom>
          <a:solidFill>
            <a:srgbClr val="F5F8FE"/>
          </a:solidFill>
          <a:ln w="12700">
            <a:solidFill>
              <a:srgbClr val="D5DCEB"/>
            </a:solidFill>
            <a:prstDash val="solid"/>
          </a:ln>
        </p:spPr>
      </p:sp>
      <p:sp>
        <p:nvSpPr>
          <p:cNvPr id="61" name="Text 57"/>
          <p:cNvSpPr/>
          <p:nvPr/>
        </p:nvSpPr>
        <p:spPr>
          <a:xfrm>
            <a:off x="8217408" y="3776472"/>
            <a:ext cx="2965704" cy="274320"/>
          </a:xfrm>
          <a:prstGeom prst="rect">
            <a:avLst/>
          </a:prstGeom>
          <a:noFill/>
          <a:ln/>
        </p:spPr>
        <p:txBody>
          <a:bodyPr wrap="square" lIns="0" tIns="0" rIns="0" bIns="0" rtlCol="0" anchor="ctr"/>
          <a:lstStyle/>
          <a:p>
            <a:pPr algn="l" indent="0" marL="0">
              <a:buNone/>
            </a:pPr>
            <a:r>
              <a:rPr lang="en-US" sz="1200" b="1" dirty="0">
                <a:solidFill>
                  <a:srgbClr val="1A2340"/>
                </a:solidFill>
                <a:latin typeface="Calibri" pitchFamily="34" charset="0"/>
                <a:ea typeface="Calibri" pitchFamily="34" charset="-122"/>
                <a:cs typeface="Calibri" pitchFamily="34" charset="-120"/>
              </a:rPr>
              <a:t>p against 1/V, constant T</a:t>
            </a:r>
            <a:endParaRPr lang="en-US" sz="1200" dirty="0"/>
          </a:p>
        </p:txBody>
      </p:sp>
      <p:sp>
        <p:nvSpPr>
          <p:cNvPr id="62" name="Shape 58"/>
          <p:cNvSpPr/>
          <p:nvPr/>
        </p:nvSpPr>
        <p:spPr>
          <a:xfrm>
            <a:off x="11228832" y="3776472"/>
            <a:ext cx="411480" cy="274320"/>
          </a:xfrm>
          <a:prstGeom prst="roundRect">
            <a:avLst>
              <a:gd name="adj" fmla="val 50000"/>
            </a:avLst>
          </a:prstGeom>
          <a:solidFill>
            <a:srgbClr val="C8414C"/>
          </a:solidFill>
          <a:ln w="12700">
            <a:solidFill>
              <a:srgbClr val="C8414C"/>
            </a:solidFill>
            <a:prstDash val="solid"/>
          </a:ln>
        </p:spPr>
      </p:sp>
      <p:sp>
        <p:nvSpPr>
          <p:cNvPr id="63" name="Text 59"/>
          <p:cNvSpPr/>
          <p:nvPr/>
        </p:nvSpPr>
        <p:spPr>
          <a:xfrm>
            <a:off x="11228832" y="377647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64" name="Shape 60"/>
          <p:cNvSpPr/>
          <p:nvPr/>
        </p:nvSpPr>
        <p:spPr>
          <a:xfrm>
            <a:off x="8491728" y="5394960"/>
            <a:ext cx="1463040" cy="91"/>
          </a:xfrm>
          <a:prstGeom prst="line">
            <a:avLst/>
          </a:prstGeom>
          <a:noFill/>
          <a:ln w="19050">
            <a:solidFill>
              <a:srgbClr val="1A2340"/>
            </a:solidFill>
            <a:prstDash val="solid"/>
          </a:ln>
        </p:spPr>
      </p:sp>
      <p:sp>
        <p:nvSpPr>
          <p:cNvPr id="65" name="Shape 61"/>
          <p:cNvSpPr/>
          <p:nvPr/>
        </p:nvSpPr>
        <p:spPr>
          <a:xfrm flipV="1">
            <a:off x="8491728" y="4160520"/>
            <a:ext cx="91" cy="1234440"/>
          </a:xfrm>
          <a:prstGeom prst="line">
            <a:avLst/>
          </a:prstGeom>
          <a:noFill/>
          <a:ln w="19050">
            <a:solidFill>
              <a:srgbClr val="1A2340"/>
            </a:solidFill>
            <a:prstDash val="solid"/>
          </a:ln>
        </p:spPr>
      </p:sp>
      <p:sp>
        <p:nvSpPr>
          <p:cNvPr id="66" name="Text 62"/>
          <p:cNvSpPr/>
          <p:nvPr/>
        </p:nvSpPr>
        <p:spPr>
          <a:xfrm>
            <a:off x="8171688" y="4142232"/>
            <a:ext cx="274320" cy="201168"/>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p</a:t>
            </a:r>
            <a:endParaRPr lang="en-US" sz="1100" dirty="0"/>
          </a:p>
        </p:txBody>
      </p:sp>
      <p:sp>
        <p:nvSpPr>
          <p:cNvPr id="67" name="Text 63"/>
          <p:cNvSpPr/>
          <p:nvPr/>
        </p:nvSpPr>
        <p:spPr>
          <a:xfrm>
            <a:off x="9589008" y="5422392"/>
            <a:ext cx="731520" cy="201168"/>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1/V</a:t>
            </a:r>
            <a:endParaRPr lang="en-US" sz="1100" dirty="0"/>
          </a:p>
        </p:txBody>
      </p:sp>
      <p:sp>
        <p:nvSpPr>
          <p:cNvPr id="68" name="Shape 64"/>
          <p:cNvSpPr/>
          <p:nvPr/>
        </p:nvSpPr>
        <p:spPr>
          <a:xfrm flipV="1">
            <a:off x="8491728" y="4251960"/>
            <a:ext cx="1389888" cy="1143000"/>
          </a:xfrm>
          <a:prstGeom prst="line">
            <a:avLst/>
          </a:prstGeom>
          <a:noFill/>
          <a:ln w="28575">
            <a:solidFill>
              <a:srgbClr val="2E5BD8"/>
            </a:solidFill>
            <a:prstDash val="solid"/>
          </a:ln>
        </p:spPr>
      </p:sp>
      <p:sp>
        <p:nvSpPr>
          <p:cNvPr id="69" name="Text 65"/>
          <p:cNvSpPr/>
          <p:nvPr/>
        </p:nvSpPr>
        <p:spPr>
          <a:xfrm>
            <a:off x="10137648" y="4434840"/>
            <a:ext cx="1456944" cy="731520"/>
          </a:xfrm>
          <a:prstGeom prst="rect">
            <a:avLst/>
          </a:prstGeom>
          <a:noFill/>
          <a:ln/>
        </p:spPr>
        <p:txBody>
          <a:bodyPr wrap="square" lIns="0" tIns="0" rIns="0" bIns="0" rtlCol="0" anchor="ctr"/>
          <a:lstStyle/>
          <a:p>
            <a:pPr algn="l" indent="0" marL="0">
              <a:buNone/>
            </a:pPr>
            <a:r>
              <a:rPr lang="en-US" sz="1150" b="1" dirty="0">
                <a:solidFill>
                  <a:srgbClr val="2E5BD8"/>
                </a:solidFill>
                <a:latin typeface="Calibri" pitchFamily="34" charset="0"/>
                <a:ea typeface="Calibri" pitchFamily="34" charset="-122"/>
                <a:cs typeface="Calibri" pitchFamily="34" charset="-120"/>
              </a:rPr>
              <a:t>straight line through the origin</a:t>
            </a:r>
            <a:endParaRPr lang="en-US" sz="1150" dirty="0"/>
          </a:p>
        </p:txBody>
      </p:sp>
      <p:sp>
        <p:nvSpPr>
          <p:cNvPr id="70" name="Text 66"/>
          <p:cNvSpPr/>
          <p:nvPr/>
        </p:nvSpPr>
        <p:spPr>
          <a:xfrm>
            <a:off x="411480" y="5669280"/>
            <a:ext cx="5486400" cy="164592"/>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sketches: shapes only (the scaled versions are on slides 10, 13 and 16)</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P6.2.4–P6.2.6 • (d) and (e) are Higher tier • 13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23</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car tyre contains air. Before a journey the air in the tyre is at </a:t>
            </a:r>
            <a:r>
              <a:rPr lang="en-US" sz="1200" b="1" i="1" dirty="0">
                <a:solidFill>
                  <a:srgbClr val="262B3A"/>
                </a:solidFill>
                <a:latin typeface="Calibri" pitchFamily="34" charset="0"/>
                <a:ea typeface="Calibri" pitchFamily="34" charset="-122"/>
                <a:cs typeface="Calibri" pitchFamily="34" charset="-120"/>
              </a:rPr>
              <a:t>27 °C</a:t>
            </a:r>
            <a:r>
              <a:rPr lang="en-US" sz="1200" i="1" dirty="0">
                <a:solidFill>
                  <a:srgbClr val="262B3A"/>
                </a:solidFill>
                <a:latin typeface="Calibri" pitchFamily="34" charset="0"/>
                <a:ea typeface="Calibri" pitchFamily="34" charset="-122"/>
                <a:cs typeface="Calibri" pitchFamily="34" charset="-120"/>
              </a:rPr>
              <a:t>. During the journey the air warms up. Assume the volume of the tyre does not change.</a:t>
            </a:r>
            <a:endParaRPr lang="en-US" sz="1200" dirty="0"/>
          </a:p>
        </p:txBody>
      </p:sp>
      <p:sp>
        <p:nvSpPr>
          <p:cNvPr id="9" name="Shape 7"/>
          <p:cNvSpPr/>
          <p:nvPr/>
        </p:nvSpPr>
        <p:spPr>
          <a:xfrm>
            <a:off x="411480" y="1719072"/>
            <a:ext cx="5570068" cy="1703832"/>
          </a:xfrm>
          <a:prstGeom prst="roundRect">
            <a:avLst>
              <a:gd name="adj" fmla="val 2683"/>
            </a:avLst>
          </a:prstGeom>
          <a:solidFill>
            <a:srgbClr val="F5F8FE"/>
          </a:solidFill>
          <a:ln w="9525">
            <a:solidFill>
              <a:srgbClr val="D5DCEB"/>
            </a:solidFill>
            <a:prstDash val="solid"/>
          </a:ln>
        </p:spPr>
      </p:sp>
      <p:sp>
        <p:nvSpPr>
          <p:cNvPr id="10" name="Text 8"/>
          <p:cNvSpPr/>
          <p:nvPr/>
        </p:nvSpPr>
        <p:spPr>
          <a:xfrm>
            <a:off x="548640" y="1792224"/>
            <a:ext cx="5295748" cy="1338072"/>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Describe the motion of the air particles in the tyre and explain how they exert a pressure on the inside of the tyre.</a:t>
            </a:r>
            <a:endParaRPr lang="en-US" sz="1200" dirty="0"/>
          </a:p>
        </p:txBody>
      </p:sp>
      <p:sp>
        <p:nvSpPr>
          <p:cNvPr id="11" name="Text 9"/>
          <p:cNvSpPr/>
          <p:nvPr/>
        </p:nvSpPr>
        <p:spPr>
          <a:xfrm>
            <a:off x="4518508" y="3112008"/>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2" name="Shape 10"/>
          <p:cNvSpPr/>
          <p:nvPr/>
        </p:nvSpPr>
        <p:spPr>
          <a:xfrm>
            <a:off x="411480" y="3532632"/>
            <a:ext cx="5570068" cy="917448"/>
          </a:xfrm>
          <a:prstGeom prst="roundRect">
            <a:avLst>
              <a:gd name="adj" fmla="val 4983"/>
            </a:avLst>
          </a:prstGeom>
          <a:solidFill>
            <a:srgbClr val="FFFFFF"/>
          </a:solidFill>
          <a:ln w="9525">
            <a:solidFill>
              <a:srgbClr val="D5DCEB"/>
            </a:solidFill>
            <a:prstDash val="solid"/>
          </a:ln>
        </p:spPr>
      </p:sp>
      <p:sp>
        <p:nvSpPr>
          <p:cNvPr id="13" name="Text 11"/>
          <p:cNvSpPr/>
          <p:nvPr/>
        </p:nvSpPr>
        <p:spPr>
          <a:xfrm>
            <a:off x="548640" y="3605784"/>
            <a:ext cx="5295748" cy="551688"/>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Convert </a:t>
            </a:r>
            <a:r>
              <a:rPr lang="en-US" sz="1200" b="1" dirty="0">
                <a:solidFill>
                  <a:srgbClr val="262B3A"/>
                </a:solidFill>
                <a:latin typeface="Calibri" pitchFamily="34" charset="0"/>
                <a:ea typeface="Calibri" pitchFamily="34" charset="-122"/>
                <a:cs typeface="Calibri" pitchFamily="34" charset="-120"/>
              </a:rPr>
              <a:t>27 °C</a:t>
            </a:r>
            <a:r>
              <a:rPr lang="en-US" sz="1200" dirty="0">
                <a:solidFill>
                  <a:srgbClr val="262B3A"/>
                </a:solidFill>
                <a:latin typeface="Calibri" pitchFamily="34" charset="0"/>
                <a:ea typeface="Calibri" pitchFamily="34" charset="-122"/>
                <a:cs typeface="Calibri" pitchFamily="34" charset="-120"/>
              </a:rPr>
              <a:t> into kelvin.</a:t>
            </a:r>
            <a:endParaRPr lang="en-US" sz="1200" dirty="0"/>
          </a:p>
        </p:txBody>
      </p:sp>
      <p:sp>
        <p:nvSpPr>
          <p:cNvPr id="14" name="Text 12"/>
          <p:cNvSpPr/>
          <p:nvPr/>
        </p:nvSpPr>
        <p:spPr>
          <a:xfrm>
            <a:off x="4518508" y="413918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5" name="Shape 13"/>
          <p:cNvSpPr/>
          <p:nvPr/>
        </p:nvSpPr>
        <p:spPr>
          <a:xfrm>
            <a:off x="411480" y="4559808"/>
            <a:ext cx="5570068" cy="1703832"/>
          </a:xfrm>
          <a:prstGeom prst="roundRect">
            <a:avLst>
              <a:gd name="adj" fmla="val 2683"/>
            </a:avLst>
          </a:prstGeom>
          <a:solidFill>
            <a:srgbClr val="F5F8FE"/>
          </a:solidFill>
          <a:ln w="9525">
            <a:solidFill>
              <a:srgbClr val="D5DCEB"/>
            </a:solidFill>
            <a:prstDash val="solid"/>
          </a:ln>
        </p:spPr>
      </p:sp>
      <p:sp>
        <p:nvSpPr>
          <p:cNvPr id="16" name="Text 14"/>
          <p:cNvSpPr/>
          <p:nvPr/>
        </p:nvSpPr>
        <p:spPr>
          <a:xfrm>
            <a:off x="548640" y="4632960"/>
            <a:ext cx="5295748" cy="1338072"/>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Explain why the pressure of the air in the tyre increases during the journey.</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6210148" y="1719072"/>
            <a:ext cx="5570068" cy="1789702"/>
          </a:xfrm>
          <a:prstGeom prst="roundRect">
            <a:avLst>
              <a:gd name="adj" fmla="val 2555"/>
            </a:avLst>
          </a:prstGeom>
          <a:solidFill>
            <a:srgbClr val="F5F8FE"/>
          </a:solidFill>
          <a:ln w="9525">
            <a:solidFill>
              <a:srgbClr val="D5DCEB"/>
            </a:solidFill>
            <a:prstDash val="solid"/>
          </a:ln>
        </p:spPr>
      </p:sp>
      <p:sp>
        <p:nvSpPr>
          <p:cNvPr id="19" name="Text 17"/>
          <p:cNvSpPr/>
          <p:nvPr/>
        </p:nvSpPr>
        <p:spPr>
          <a:xfrm>
            <a:off x="6347308" y="1792224"/>
            <a:ext cx="4792828" cy="1423942"/>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A pump cylinder holds </a:t>
            </a:r>
            <a:r>
              <a:rPr lang="en-US" sz="1200" b="1" dirty="0">
                <a:solidFill>
                  <a:srgbClr val="262B3A"/>
                </a:solidFill>
                <a:latin typeface="Calibri" pitchFamily="34" charset="0"/>
                <a:ea typeface="Calibri" pitchFamily="34" charset="-122"/>
                <a:cs typeface="Calibri" pitchFamily="34" charset="-120"/>
              </a:rPr>
              <a:t>80 cm³</a:t>
            </a:r>
            <a:r>
              <a:rPr lang="en-US" sz="1200" dirty="0">
                <a:solidFill>
                  <a:srgbClr val="262B3A"/>
                </a:solidFill>
                <a:latin typeface="Calibri" pitchFamily="34" charset="0"/>
                <a:ea typeface="Calibri" pitchFamily="34" charset="-122"/>
                <a:cs typeface="Calibri" pitchFamily="34" charset="-120"/>
              </a:rPr>
              <a:t> of air at </a:t>
            </a:r>
            <a:r>
              <a:rPr lang="en-US" sz="1200" b="1" dirty="0">
                <a:solidFill>
                  <a:srgbClr val="262B3A"/>
                </a:solidFill>
                <a:latin typeface="Calibri" pitchFamily="34" charset="0"/>
                <a:ea typeface="Calibri" pitchFamily="34" charset="-122"/>
                <a:cs typeface="Calibri" pitchFamily="34" charset="-120"/>
              </a:rPr>
              <a:t>100 kPa</a:t>
            </a:r>
            <a:r>
              <a:rPr lang="en-US" sz="1200" dirty="0">
                <a:solidFill>
                  <a:srgbClr val="262B3A"/>
                </a:solidFill>
                <a:latin typeface="Calibri" pitchFamily="34" charset="0"/>
                <a:ea typeface="Calibri" pitchFamily="34" charset="-122"/>
                <a:cs typeface="Calibri" pitchFamily="34" charset="-120"/>
              </a:rPr>
              <a:t>. The air is pushed slowly into a volume of </a:t>
            </a:r>
            <a:r>
              <a:rPr lang="en-US" sz="1200" b="1" dirty="0">
                <a:solidFill>
                  <a:srgbClr val="262B3A"/>
                </a:solidFill>
                <a:latin typeface="Calibri" pitchFamily="34" charset="0"/>
                <a:ea typeface="Calibri" pitchFamily="34" charset="-122"/>
                <a:cs typeface="Calibri" pitchFamily="34" charset="-120"/>
              </a:rPr>
              <a:t>32 cm³</a:t>
            </a:r>
            <a:r>
              <a:rPr lang="en-US" sz="1200" dirty="0">
                <a:solidFill>
                  <a:srgbClr val="262B3A"/>
                </a:solidFill>
                <a:latin typeface="Calibri" pitchFamily="34" charset="0"/>
                <a:ea typeface="Calibri" pitchFamily="34" charset="-122"/>
                <a:cs typeface="Calibri" pitchFamily="34" charset="-120"/>
              </a:rPr>
              <a:t> at constant temperature. Calculate its new pressure.</a:t>
            </a:r>
            <a:endParaRPr lang="en-US" sz="1200" dirty="0"/>
          </a:p>
        </p:txBody>
      </p:sp>
      <p:sp>
        <p:nvSpPr>
          <p:cNvPr id="20" name="Shape 18"/>
          <p:cNvSpPr/>
          <p:nvPr/>
        </p:nvSpPr>
        <p:spPr>
          <a:xfrm>
            <a:off x="11231575" y="1792224"/>
            <a:ext cx="411480" cy="274320"/>
          </a:xfrm>
          <a:prstGeom prst="roundRect">
            <a:avLst>
              <a:gd name="adj" fmla="val 50000"/>
            </a:avLst>
          </a:prstGeom>
          <a:solidFill>
            <a:srgbClr val="C8414C"/>
          </a:solidFill>
          <a:ln w="12700">
            <a:solidFill>
              <a:srgbClr val="C8414C"/>
            </a:solidFill>
            <a:prstDash val="solid"/>
          </a:ln>
        </p:spPr>
      </p:sp>
      <p:sp>
        <p:nvSpPr>
          <p:cNvPr id="21" name="Text 19"/>
          <p:cNvSpPr/>
          <p:nvPr/>
        </p:nvSpPr>
        <p:spPr>
          <a:xfrm>
            <a:off x="11231575" y="179222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2" name="Text 20"/>
          <p:cNvSpPr/>
          <p:nvPr/>
        </p:nvSpPr>
        <p:spPr>
          <a:xfrm>
            <a:off x="10317175" y="3197878"/>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3" name="Shape 21"/>
          <p:cNvSpPr/>
          <p:nvPr/>
        </p:nvSpPr>
        <p:spPr>
          <a:xfrm>
            <a:off x="6210148" y="3618502"/>
            <a:ext cx="5570068" cy="1416847"/>
          </a:xfrm>
          <a:prstGeom prst="roundRect">
            <a:avLst>
              <a:gd name="adj" fmla="val 3227"/>
            </a:avLst>
          </a:prstGeom>
          <a:solidFill>
            <a:srgbClr val="FFFFFF"/>
          </a:solidFill>
          <a:ln w="9525">
            <a:solidFill>
              <a:srgbClr val="D5DCEB"/>
            </a:solidFill>
            <a:prstDash val="solid"/>
          </a:ln>
        </p:spPr>
      </p:sp>
      <p:sp>
        <p:nvSpPr>
          <p:cNvPr id="24" name="Text 22"/>
          <p:cNvSpPr/>
          <p:nvPr/>
        </p:nvSpPr>
        <p:spPr>
          <a:xfrm>
            <a:off x="6347308" y="3691654"/>
            <a:ext cx="4792828" cy="1051087"/>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When the pump is pushed in </a:t>
            </a:r>
            <a:r>
              <a:rPr lang="en-US" sz="1200" b="1" dirty="0">
                <a:solidFill>
                  <a:srgbClr val="262B3A"/>
                </a:solidFill>
                <a:latin typeface="Calibri" pitchFamily="34" charset="0"/>
                <a:ea typeface="Calibri" pitchFamily="34" charset="-122"/>
                <a:cs typeface="Calibri" pitchFamily="34" charset="-120"/>
              </a:rPr>
              <a:t>quickly</a:t>
            </a:r>
            <a:r>
              <a:rPr lang="en-US" sz="1200" dirty="0">
                <a:solidFill>
                  <a:srgbClr val="262B3A"/>
                </a:solidFill>
                <a:latin typeface="Calibri" pitchFamily="34" charset="0"/>
                <a:ea typeface="Calibri" pitchFamily="34" charset="-122"/>
                <a:cs typeface="Calibri" pitchFamily="34" charset="-120"/>
              </a:rPr>
              <a:t>, the air in it gets hotter. Explain why.</a:t>
            </a:r>
            <a:endParaRPr lang="en-US" sz="1200" dirty="0"/>
          </a:p>
        </p:txBody>
      </p:sp>
      <p:sp>
        <p:nvSpPr>
          <p:cNvPr id="25" name="Shape 23"/>
          <p:cNvSpPr/>
          <p:nvPr/>
        </p:nvSpPr>
        <p:spPr>
          <a:xfrm>
            <a:off x="11231575" y="3691654"/>
            <a:ext cx="411480" cy="274320"/>
          </a:xfrm>
          <a:prstGeom prst="roundRect">
            <a:avLst>
              <a:gd name="adj" fmla="val 50000"/>
            </a:avLst>
          </a:prstGeom>
          <a:solidFill>
            <a:srgbClr val="C8414C"/>
          </a:solidFill>
          <a:ln w="12700">
            <a:solidFill>
              <a:srgbClr val="C8414C"/>
            </a:solidFill>
            <a:prstDash val="solid"/>
          </a:ln>
        </p:spPr>
      </p:sp>
      <p:sp>
        <p:nvSpPr>
          <p:cNvPr id="26" name="Text 24"/>
          <p:cNvSpPr/>
          <p:nvPr/>
        </p:nvSpPr>
        <p:spPr>
          <a:xfrm>
            <a:off x="11231575" y="369165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7" name="Text 25"/>
          <p:cNvSpPr/>
          <p:nvPr/>
        </p:nvSpPr>
        <p:spPr>
          <a:xfrm>
            <a:off x="10317175" y="4724453"/>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8" name="Shape 26"/>
          <p:cNvSpPr/>
          <p:nvPr/>
        </p:nvSpPr>
        <p:spPr>
          <a:xfrm>
            <a:off x="6210148" y="5145077"/>
            <a:ext cx="5570068" cy="1118563"/>
          </a:xfrm>
          <a:prstGeom prst="roundRect">
            <a:avLst>
              <a:gd name="adj" fmla="val 4087"/>
            </a:avLst>
          </a:prstGeom>
          <a:solidFill>
            <a:srgbClr val="F5F8FE"/>
          </a:solidFill>
          <a:ln w="9525">
            <a:solidFill>
              <a:srgbClr val="D5DCEB"/>
            </a:solidFill>
            <a:prstDash val="solid"/>
          </a:ln>
        </p:spPr>
      </p:sp>
      <p:sp>
        <p:nvSpPr>
          <p:cNvPr id="29" name="Text 27"/>
          <p:cNvSpPr/>
          <p:nvPr/>
        </p:nvSpPr>
        <p:spPr>
          <a:xfrm>
            <a:off x="6347308" y="5218229"/>
            <a:ext cx="5295748" cy="752803"/>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Give </a:t>
            </a:r>
            <a:r>
              <a:rPr lang="en-US" sz="1200" b="1" dirty="0">
                <a:solidFill>
                  <a:srgbClr val="262B3A"/>
                </a:solidFill>
                <a:latin typeface="Calibri" pitchFamily="34" charset="0"/>
                <a:ea typeface="Calibri" pitchFamily="34" charset="-122"/>
                <a:cs typeface="Calibri" pitchFamily="34" charset="-120"/>
              </a:rPr>
              <a:t>one</a:t>
            </a:r>
            <a:r>
              <a:rPr lang="en-US" sz="1200" dirty="0">
                <a:solidFill>
                  <a:srgbClr val="262B3A"/>
                </a:solidFill>
                <a:latin typeface="Calibri" pitchFamily="34" charset="0"/>
                <a:ea typeface="Calibri" pitchFamily="34" charset="-122"/>
                <a:cs typeface="Calibri" pitchFamily="34" charset="-120"/>
              </a:rPr>
              <a:t> limitation of the particle model used in this question.</a:t>
            </a:r>
            <a:endParaRPr lang="en-US" sz="1200" dirty="0"/>
          </a:p>
        </p:txBody>
      </p:sp>
      <p:sp>
        <p:nvSpPr>
          <p:cNvPr id="30" name="Text 28"/>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31" name="Text 29"/>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3A63C9"/>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2B4C9B"/>
          </a:solidFill>
          <a:ln w="12700">
            <a:solidFill>
              <a:srgbClr val="2B4C9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3A63C9"/>
          </a:solidFill>
          <a:ln w="12700">
            <a:solidFill>
              <a:srgbClr val="3A63C9"/>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E8FA"/>
                </a:solidFill>
                <a:latin typeface="Calibri" pitchFamily="34" charset="0"/>
                <a:ea typeface="Calibri" pitchFamily="34" charset="-122"/>
                <a:cs typeface="Calibri" pitchFamily="34" charset="-120"/>
              </a:rPr>
              <a:t>P6.2 How does the particle model explain the effects of heating?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A9B4CF"/>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A9B4CF"/>
                </a:solidFill>
                <a:latin typeface="Calibri" pitchFamily="34" charset="0"/>
                <a:ea typeface="Calibri" pitchFamily="34" charset="-122"/>
                <a:cs typeface="Calibri" pitchFamily="34" charset="-120"/>
              </a:rPr>
              <a:t>Homework  |  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P6.2 How does the particle model explain the effects of heating?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25</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All students answer all questions. Q5 and Q6 are Higher tier (HT).</a:t>
            </a:r>
            <a:endParaRPr lang="en-US" sz="1150" dirty="0"/>
          </a:p>
        </p:txBody>
      </p:sp>
      <p:sp>
        <p:nvSpPr>
          <p:cNvPr id="9" name="Shape 7"/>
          <p:cNvSpPr/>
          <p:nvPr/>
        </p:nvSpPr>
        <p:spPr>
          <a:xfrm>
            <a:off x="411480" y="1517904"/>
            <a:ext cx="5570068" cy="1120140"/>
          </a:xfrm>
          <a:prstGeom prst="roundRect">
            <a:avLst>
              <a:gd name="adj" fmla="val 4082"/>
            </a:avLst>
          </a:prstGeom>
          <a:solidFill>
            <a:srgbClr val="F5F8FE"/>
          </a:solidFill>
          <a:ln w="9525">
            <a:solidFill>
              <a:srgbClr val="D5DCEB"/>
            </a:solidFill>
            <a:prstDash val="solid"/>
          </a:ln>
        </p:spPr>
      </p:sp>
      <p:sp>
        <p:nvSpPr>
          <p:cNvPr id="10" name="Text 8"/>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What causes the pressure of a gas on the walls of its container?</a:t>
            </a:r>
            <a:endParaRPr lang="en-US" sz="1150" dirty="0"/>
          </a:p>
        </p:txBody>
      </p:sp>
      <p:sp>
        <p:nvSpPr>
          <p:cNvPr id="11" name="Text 9"/>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47772"/>
            <a:ext cx="5570068" cy="1120140"/>
          </a:xfrm>
          <a:prstGeom prst="roundRect">
            <a:avLst>
              <a:gd name="adj" fmla="val 4082"/>
            </a:avLst>
          </a:prstGeom>
          <a:solidFill>
            <a:srgbClr val="F5F8FE"/>
          </a:solidFill>
          <a:ln w="9525">
            <a:solidFill>
              <a:srgbClr val="D5DCEB"/>
            </a:solidFill>
            <a:prstDash val="solid"/>
          </a:ln>
        </p:spPr>
      </p:sp>
      <p:sp>
        <p:nvSpPr>
          <p:cNvPr id="13" name="Text 11"/>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Convert </a:t>
            </a:r>
            <a:r>
              <a:rPr lang="en-US" sz="1150" b="1" dirty="0">
                <a:solidFill>
                  <a:srgbClr val="262B3A"/>
                </a:solidFill>
                <a:latin typeface="Calibri" pitchFamily="34" charset="0"/>
                <a:ea typeface="Calibri" pitchFamily="34" charset="-122"/>
                <a:cs typeface="Calibri" pitchFamily="34" charset="-120"/>
              </a:rPr>
              <a:t>−23 °C</a:t>
            </a:r>
            <a:r>
              <a:rPr lang="en-US" sz="1150" dirty="0">
                <a:solidFill>
                  <a:srgbClr val="262B3A"/>
                </a:solidFill>
                <a:latin typeface="Calibri" pitchFamily="34" charset="0"/>
                <a:ea typeface="Calibri" pitchFamily="34" charset="-122"/>
                <a:cs typeface="Calibri" pitchFamily="34" charset="-120"/>
              </a:rPr>
              <a:t> into kelvin. Convert </a:t>
            </a:r>
            <a:r>
              <a:rPr lang="en-US" sz="1150" b="1" dirty="0">
                <a:solidFill>
                  <a:srgbClr val="262B3A"/>
                </a:solidFill>
                <a:latin typeface="Calibri" pitchFamily="34" charset="0"/>
                <a:ea typeface="Calibri" pitchFamily="34" charset="-122"/>
                <a:cs typeface="Calibri" pitchFamily="34" charset="-120"/>
              </a:rPr>
              <a:t>400 K</a:t>
            </a:r>
            <a:r>
              <a:rPr lang="en-US" sz="1150" dirty="0">
                <a:solidFill>
                  <a:srgbClr val="262B3A"/>
                </a:solidFill>
                <a:latin typeface="Calibri" pitchFamily="34" charset="0"/>
                <a:ea typeface="Calibri" pitchFamily="34" charset="-122"/>
                <a:cs typeface="Calibri" pitchFamily="34" charset="-120"/>
              </a:rPr>
              <a:t> into °C.</a:t>
            </a:r>
            <a:endParaRPr lang="en-US" sz="1150" dirty="0"/>
          </a:p>
        </p:txBody>
      </p:sp>
      <p:sp>
        <p:nvSpPr>
          <p:cNvPr id="14" name="Text 12"/>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977640"/>
            <a:ext cx="5570068" cy="1120140"/>
          </a:xfrm>
          <a:prstGeom prst="roundRect">
            <a:avLst>
              <a:gd name="adj" fmla="val 4082"/>
            </a:avLst>
          </a:prstGeom>
          <a:solidFill>
            <a:srgbClr val="F5F8FE"/>
          </a:solidFill>
          <a:ln w="9525">
            <a:solidFill>
              <a:srgbClr val="D5DCEB"/>
            </a:solidFill>
            <a:prstDash val="solid"/>
          </a:ln>
        </p:spPr>
      </p:sp>
      <p:sp>
        <p:nvSpPr>
          <p:cNvPr id="16" name="Text 14"/>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A sealed bottle of air is put in a fridge. Explain why the air pressure inside falls.</a:t>
            </a:r>
            <a:endParaRPr lang="en-US" sz="1150" dirty="0"/>
          </a:p>
        </p:txBody>
      </p:sp>
      <p:sp>
        <p:nvSpPr>
          <p:cNvPr id="17" name="Text 15"/>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207508"/>
            <a:ext cx="5570068" cy="1120140"/>
          </a:xfrm>
          <a:prstGeom prst="roundRect">
            <a:avLst>
              <a:gd name="adj" fmla="val 4082"/>
            </a:avLst>
          </a:prstGeom>
          <a:solidFill>
            <a:srgbClr val="F5F8FE"/>
          </a:solidFill>
          <a:ln w="9525">
            <a:solidFill>
              <a:srgbClr val="D5DCEB"/>
            </a:solidFill>
            <a:prstDash val="solid"/>
          </a:ln>
        </p:spPr>
      </p:sp>
      <p:sp>
        <p:nvSpPr>
          <p:cNvPr id="19" name="Text 17"/>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What is </a:t>
            </a:r>
            <a:r>
              <a:rPr lang="en-US" sz="1150" b="1" dirty="0">
                <a:solidFill>
                  <a:srgbClr val="262B3A"/>
                </a:solidFill>
                <a:latin typeface="Calibri" pitchFamily="34" charset="0"/>
                <a:ea typeface="Calibri" pitchFamily="34" charset="-122"/>
                <a:cs typeface="Calibri" pitchFamily="34" charset="-120"/>
              </a:rPr>
              <a:t>absolute zero</a:t>
            </a:r>
            <a:r>
              <a:rPr lang="en-US" sz="1150" dirty="0">
                <a:solidFill>
                  <a:srgbClr val="262B3A"/>
                </a:solidFill>
                <a:latin typeface="Calibri" pitchFamily="34" charset="0"/>
                <a:ea typeface="Calibri" pitchFamily="34" charset="-122"/>
                <a:cs typeface="Calibri" pitchFamily="34" charset="-120"/>
              </a:rPr>
              <a:t>? Explain why there cannot be a lower temperature.</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997889"/>
          </a:xfrm>
          <a:prstGeom prst="roundRect">
            <a:avLst>
              <a:gd name="adj" fmla="val 4582"/>
            </a:avLst>
          </a:prstGeom>
          <a:solidFill>
            <a:srgbClr val="F5F8FE"/>
          </a:solidFill>
          <a:ln w="9525">
            <a:solidFill>
              <a:srgbClr val="D5DCEB"/>
            </a:solidFill>
            <a:prstDash val="solid"/>
          </a:ln>
        </p:spPr>
      </p:sp>
      <p:sp>
        <p:nvSpPr>
          <p:cNvPr id="22" name="Text 20"/>
          <p:cNvSpPr/>
          <p:nvPr/>
        </p:nvSpPr>
        <p:spPr>
          <a:xfrm>
            <a:off x="6347308" y="1591056"/>
            <a:ext cx="4792828" cy="650417"/>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A gas at </a:t>
            </a:r>
            <a:r>
              <a:rPr lang="en-US" sz="1150" b="1" dirty="0">
                <a:solidFill>
                  <a:srgbClr val="262B3A"/>
                </a:solidFill>
                <a:latin typeface="Calibri" pitchFamily="34" charset="0"/>
                <a:ea typeface="Calibri" pitchFamily="34" charset="-122"/>
                <a:cs typeface="Calibri" pitchFamily="34" charset="-120"/>
              </a:rPr>
              <a:t>2.0 × 10</a:t>
            </a:r>
            <a:r>
              <a:rPr lang="en-US" sz="1150" baseline="30000" dirty="0">
                <a:solidFill>
                  <a:srgbClr val="262B3A"/>
                </a:solidFill>
                <a:latin typeface="Calibri" pitchFamily="34" charset="0"/>
                <a:ea typeface="Calibri" pitchFamily="34" charset="-122"/>
                <a:cs typeface="Calibri" pitchFamily="34" charset="-120"/>
              </a:rPr>
              <a:t>5</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Pa</a:t>
            </a:r>
            <a:r>
              <a:rPr lang="en-US" sz="1150" dirty="0">
                <a:solidFill>
                  <a:srgbClr val="262B3A"/>
                </a:solidFill>
                <a:latin typeface="Calibri" pitchFamily="34" charset="0"/>
                <a:ea typeface="Calibri" pitchFamily="34" charset="-122"/>
                <a:cs typeface="Calibri" pitchFamily="34" charset="-120"/>
              </a:rPr>
              <a:t> occupies </a:t>
            </a:r>
            <a:r>
              <a:rPr lang="en-US" sz="1150" b="1" dirty="0">
                <a:solidFill>
                  <a:srgbClr val="262B3A"/>
                </a:solidFill>
                <a:latin typeface="Calibri" pitchFamily="34" charset="0"/>
                <a:ea typeface="Calibri" pitchFamily="34" charset="-122"/>
                <a:cs typeface="Calibri" pitchFamily="34" charset="-120"/>
              </a:rPr>
              <a:t>0.030 m³</a:t>
            </a:r>
            <a:r>
              <a:rPr lang="en-US" sz="1150" dirty="0">
                <a:solidFill>
                  <a:srgbClr val="262B3A"/>
                </a:solidFill>
                <a:latin typeface="Calibri" pitchFamily="34" charset="0"/>
                <a:ea typeface="Calibri" pitchFamily="34" charset="-122"/>
                <a:cs typeface="Calibri" pitchFamily="34" charset="-120"/>
              </a:rPr>
              <a:t>. It expands at constant temperature to </a:t>
            </a:r>
            <a:r>
              <a:rPr lang="en-US" sz="1150" b="1" dirty="0">
                <a:solidFill>
                  <a:srgbClr val="262B3A"/>
                </a:solidFill>
                <a:latin typeface="Calibri" pitchFamily="34" charset="0"/>
                <a:ea typeface="Calibri" pitchFamily="34" charset="-122"/>
                <a:cs typeface="Calibri" pitchFamily="34" charset="-120"/>
              </a:rPr>
              <a:t>0.12 m³</a:t>
            </a:r>
            <a:r>
              <a:rPr lang="en-US" sz="1150" dirty="0">
                <a:solidFill>
                  <a:srgbClr val="262B3A"/>
                </a:solidFill>
                <a:latin typeface="Calibri" pitchFamily="34" charset="0"/>
                <a:ea typeface="Calibri" pitchFamily="34" charset="-122"/>
                <a:cs typeface="Calibri" pitchFamily="34" charset="-120"/>
              </a:rPr>
              <a:t>. Calculate the new pressure.</a:t>
            </a:r>
            <a:endParaRPr lang="en-US" sz="1150" dirty="0"/>
          </a:p>
        </p:txBody>
      </p:sp>
      <p:sp>
        <p:nvSpPr>
          <p:cNvPr id="23" name="Shape 21"/>
          <p:cNvSpPr/>
          <p:nvPr/>
        </p:nvSpPr>
        <p:spPr>
          <a:xfrm>
            <a:off x="11231575" y="1591056"/>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231575" y="159105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10317175" y="2223185"/>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6" name="Shape 24"/>
          <p:cNvSpPr/>
          <p:nvPr/>
        </p:nvSpPr>
        <p:spPr>
          <a:xfrm>
            <a:off x="6210148" y="2625521"/>
            <a:ext cx="5570068" cy="997889"/>
          </a:xfrm>
          <a:prstGeom prst="roundRect">
            <a:avLst>
              <a:gd name="adj" fmla="val 4582"/>
            </a:avLst>
          </a:prstGeom>
          <a:solidFill>
            <a:srgbClr val="F5F8FE"/>
          </a:solidFill>
          <a:ln w="9525">
            <a:solidFill>
              <a:srgbClr val="D5DCEB"/>
            </a:solidFill>
            <a:prstDash val="solid"/>
          </a:ln>
        </p:spPr>
      </p:sp>
      <p:sp>
        <p:nvSpPr>
          <p:cNvPr id="27" name="Text 25"/>
          <p:cNvSpPr/>
          <p:nvPr/>
        </p:nvSpPr>
        <p:spPr>
          <a:xfrm>
            <a:off x="6347308" y="2698673"/>
            <a:ext cx="4792828" cy="650417"/>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Sketch the graph of </a:t>
            </a:r>
            <a:r>
              <a:rPr lang="en-US" sz="1150" b="1" dirty="0">
                <a:solidFill>
                  <a:srgbClr val="262B3A"/>
                </a:solidFill>
                <a:latin typeface="Calibri" pitchFamily="34" charset="0"/>
                <a:ea typeface="Calibri" pitchFamily="34" charset="-122"/>
                <a:cs typeface="Calibri" pitchFamily="34" charset="-120"/>
              </a:rPr>
              <a:t>p against 1/V</a:t>
            </a:r>
            <a:r>
              <a:rPr lang="en-US" sz="1150" dirty="0">
                <a:solidFill>
                  <a:srgbClr val="262B3A"/>
                </a:solidFill>
                <a:latin typeface="Calibri" pitchFamily="34" charset="0"/>
                <a:ea typeface="Calibri" pitchFamily="34" charset="-122"/>
                <a:cs typeface="Calibri" pitchFamily="34" charset="-120"/>
              </a:rPr>
              <a:t> for a fixed mass of gas at constant temperature and say what it shows.</a:t>
            </a:r>
            <a:endParaRPr lang="en-US" sz="1150" dirty="0"/>
          </a:p>
        </p:txBody>
      </p:sp>
      <p:sp>
        <p:nvSpPr>
          <p:cNvPr id="28" name="Shape 26"/>
          <p:cNvSpPr/>
          <p:nvPr/>
        </p:nvSpPr>
        <p:spPr>
          <a:xfrm>
            <a:off x="11231575" y="2698673"/>
            <a:ext cx="411480" cy="274320"/>
          </a:xfrm>
          <a:prstGeom prst="roundRect">
            <a:avLst>
              <a:gd name="adj" fmla="val 50000"/>
            </a:avLst>
          </a:prstGeom>
          <a:solidFill>
            <a:srgbClr val="C8414C"/>
          </a:solidFill>
          <a:ln w="12700">
            <a:solidFill>
              <a:srgbClr val="C8414C"/>
            </a:solidFill>
            <a:prstDash val="solid"/>
          </a:ln>
        </p:spPr>
      </p:sp>
      <p:sp>
        <p:nvSpPr>
          <p:cNvPr id="29" name="Text 27"/>
          <p:cNvSpPr/>
          <p:nvPr/>
        </p:nvSpPr>
        <p:spPr>
          <a:xfrm>
            <a:off x="11231575" y="2698673"/>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0" name="Text 28"/>
          <p:cNvSpPr/>
          <p:nvPr/>
        </p:nvSpPr>
        <p:spPr>
          <a:xfrm>
            <a:off x="10317175" y="3330801"/>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Shape 29"/>
          <p:cNvSpPr/>
          <p:nvPr/>
        </p:nvSpPr>
        <p:spPr>
          <a:xfrm>
            <a:off x="6210148" y="3733137"/>
            <a:ext cx="5570068" cy="2594511"/>
          </a:xfrm>
          <a:prstGeom prst="roundRect">
            <a:avLst>
              <a:gd name="adj" fmla="val 1762"/>
            </a:avLst>
          </a:prstGeom>
          <a:solidFill>
            <a:srgbClr val="FFF4E0"/>
          </a:solidFill>
          <a:ln w="9525">
            <a:solidFill>
              <a:srgbClr val="F1D9A8"/>
            </a:solidFill>
            <a:prstDash val="solid"/>
          </a:ln>
        </p:spPr>
      </p:sp>
      <p:sp>
        <p:nvSpPr>
          <p:cNvPr id="32" name="Text 30"/>
          <p:cNvSpPr/>
          <p:nvPr/>
        </p:nvSpPr>
        <p:spPr>
          <a:xfrm>
            <a:off x="6347308" y="3806289"/>
            <a:ext cx="5295748" cy="2247039"/>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Describe how a student could investigate how the </a:t>
            </a:r>
            <a:r>
              <a:rPr lang="en-US" sz="1150" b="1" dirty="0">
                <a:solidFill>
                  <a:srgbClr val="262B3A"/>
                </a:solidFill>
                <a:latin typeface="Calibri" pitchFamily="34" charset="0"/>
                <a:ea typeface="Calibri" pitchFamily="34" charset="-122"/>
                <a:cs typeface="Calibri" pitchFamily="34" charset="-120"/>
              </a:rPr>
              <a:t>pressure</a:t>
            </a:r>
            <a:r>
              <a:rPr lang="en-US" sz="1150" dirty="0">
                <a:solidFill>
                  <a:srgbClr val="262B3A"/>
                </a:solidFill>
                <a:latin typeface="Calibri" pitchFamily="34" charset="0"/>
                <a:ea typeface="Calibri" pitchFamily="34" charset="-122"/>
                <a:cs typeface="Calibri" pitchFamily="34" charset="-120"/>
              </a:rPr>
              <a:t> of a fixed volume of air depends on its </a:t>
            </a:r>
            <a:r>
              <a:rPr lang="en-US" sz="1150" b="1" dirty="0">
                <a:solidFill>
                  <a:srgbClr val="262B3A"/>
                </a:solidFill>
                <a:latin typeface="Calibri" pitchFamily="34" charset="0"/>
                <a:ea typeface="Calibri" pitchFamily="34" charset="-122"/>
                <a:cs typeface="Calibri" pitchFamily="34" charset="-120"/>
              </a:rPr>
              <a:t>temperature</a:t>
            </a:r>
            <a:r>
              <a:rPr lang="en-US" sz="1150" dirty="0">
                <a:solidFill>
                  <a:srgbClr val="262B3A"/>
                </a:solidFill>
                <a:latin typeface="Calibri" pitchFamily="34" charset="0"/>
                <a:ea typeface="Calibri" pitchFamily="34" charset="-122"/>
                <a:cs typeface="Calibri" pitchFamily="34" charset="-120"/>
              </a:rPr>
              <a:t>. Explain the results using the particle model.</a:t>
            </a:r>
            <a:endParaRPr lang="en-US" sz="1150" dirty="0"/>
          </a:p>
        </p:txBody>
      </p:sp>
      <p:sp>
        <p:nvSpPr>
          <p:cNvPr id="33" name="Text 31"/>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P6.2 How does the particle model explain the effects of heating?</dc:title>
  <dc:subject>PptxGenJS Presentation</dc:subject>
  <dc:creator>GCSE Physics</dc:creator>
  <cp:lastModifiedBy>GCSE Physics</cp:lastModifiedBy>
  <cp:revision>1</cp:revision>
  <dcterms:created xsi:type="dcterms:W3CDTF">2026-10-29T18:01:07Z</dcterms:created>
  <dcterms:modified xsi:type="dcterms:W3CDTF">2026-10-29T18:01:07Z</dcterms:modified>
</cp:coreProperties>
</file>